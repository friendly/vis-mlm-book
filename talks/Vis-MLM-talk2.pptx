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6" r:id="rId2"/>
    <p:sldId id="257" r:id="rId3"/>
    <p:sldId id="330" r:id="rId4"/>
    <p:sldId id="325" r:id="rId5"/>
    <p:sldId id="258" r:id="rId6"/>
    <p:sldId id="259" r:id="rId7"/>
    <p:sldId id="260" r:id="rId8"/>
    <p:sldId id="261" r:id="rId9"/>
    <p:sldId id="262" r:id="rId10"/>
    <p:sldId id="263" r:id="rId11"/>
    <p:sldId id="264" r:id="rId12"/>
    <p:sldId id="326"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27" r:id="rId48"/>
    <p:sldId id="328" r:id="rId49"/>
    <p:sldId id="32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1F25454-AF09-4F52-A937-A257E1B908FA}">
          <p14:sldIdLst>
            <p14:sldId id="256"/>
            <p14:sldId id="257"/>
            <p14:sldId id="330"/>
            <p14:sldId id="325"/>
            <p14:sldId id="258"/>
          </p14:sldIdLst>
        </p14:section>
        <p14:section name="1. Why many dimensions?" id="{876B2675-F45D-4EFF-B409-2D2C8B385E5F}">
          <p14:sldIdLst>
            <p14:sldId id="259"/>
            <p14:sldId id="260"/>
            <p14:sldId id="261"/>
            <p14:sldId id="262"/>
            <p14:sldId id="263"/>
          </p14:sldIdLst>
        </p14:section>
        <p14:section name="2. Seeing multivariate data" id="{DAAC9C22-17CA-4F08-9A7C-31EFBBEAB468}">
          <p14:sldIdLst>
            <p14:sldId id="264"/>
            <p14:sldId id="326"/>
            <p14:sldId id="266"/>
            <p14:sldId id="267"/>
            <p14:sldId id="268"/>
            <p14:sldId id="269"/>
            <p14:sldId id="270"/>
            <p14:sldId id="271"/>
            <p14:sldId id="272"/>
          </p14:sldIdLst>
        </p14:section>
        <p14:section name="3. Dimension reduction" id="{6AF13D2C-565B-455A-AA3E-BAED81FB07B6}">
          <p14:sldIdLst>
            <p14:sldId id="273"/>
            <p14:sldId id="274"/>
            <p14:sldId id="275"/>
            <p14:sldId id="276"/>
            <p14:sldId id="277"/>
            <p14:sldId id="278"/>
            <p14:sldId id="279"/>
            <p14:sldId id="280"/>
            <p14:sldId id="281"/>
          </p14:sldIdLst>
        </p14:section>
        <p14:section name="4. Models with one response" id="{EE5C9CB4-97AF-47E6-B0D6-C42AC147369D}">
          <p14:sldIdLst>
            <p14:sldId id="282"/>
            <p14:sldId id="283"/>
            <p14:sldId id="284"/>
            <p14:sldId id="285"/>
            <p14:sldId id="286"/>
            <p14:sldId id="287"/>
            <p14:sldId id="288"/>
            <p14:sldId id="289"/>
            <p14:sldId id="290"/>
          </p14:sldIdLst>
        </p14:section>
        <p14:section name="5. Collinearity and ridge regression (optional)" id="{AC746BA7-75EA-472E-B0B1-790049865982}">
          <p14:sldIdLst>
            <p14:sldId id="291"/>
            <p14:sldId id="292"/>
            <p14:sldId id="293"/>
            <p14:sldId id="294"/>
            <p14:sldId id="295"/>
            <p14:sldId id="296"/>
            <p14:sldId id="297"/>
          </p14:sldIdLst>
        </p14:section>
        <p14:section name="6. The HE plot framework" id="{666A021A-342B-429D-99FC-0CD2BFBCE7AC}">
          <p14:sldIdLst>
            <p14:sldId id="298"/>
            <p14:sldId id="299"/>
            <p14:sldId id="327"/>
            <p14:sldId id="328"/>
            <p14:sldId id="329"/>
            <p14:sldId id="300"/>
            <p14:sldId id="301"/>
            <p14:sldId id="302"/>
            <p14:sldId id="303"/>
            <p14:sldId id="304"/>
            <p14:sldId id="305"/>
            <p14:sldId id="306"/>
            <p14:sldId id="307"/>
            <p14:sldId id="308"/>
            <p14:sldId id="309"/>
          </p14:sldIdLst>
        </p14:section>
        <p14:section name="7. Checking multivariate models" id="{3D84BB46-36E4-4610-8CD0-B2309E1C9017}">
          <p14:sldIdLst>
            <p14:sldId id="310"/>
            <p14:sldId id="311"/>
            <p14:sldId id="312"/>
            <p14:sldId id="313"/>
            <p14:sldId id="314"/>
            <p14:sldId id="315"/>
            <p14:sldId id="316"/>
          </p14:sldIdLst>
        </p14:section>
        <p14:section name="8. Discriminant analysis (optional)" id="{D62E235E-7DE5-44C4-94CC-5C7579CA82DC}">
          <p14:sldIdLst>
            <p14:sldId id="317"/>
            <p14:sldId id="318"/>
            <p14:sldId id="319"/>
            <p14:sldId id="320"/>
            <p14:sldId id="321"/>
          </p14:sldIdLst>
        </p14:section>
        <p14:section name="Closing" id="{8356EBC4-C6F5-4DE2-A8EA-65660F6FD0D1}">
          <p14:sldIdLst>
            <p14:sldId id="322"/>
            <p14:sldId id="323"/>
            <p14:sldId id="32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396" autoAdjust="0"/>
  </p:normalViewPr>
  <p:slideViewPr>
    <p:cSldViewPr snapToGrid="0">
      <p:cViewPr varScale="1">
        <p:scale>
          <a:sx n="87" d="100"/>
          <a:sy n="87" d="100"/>
        </p:scale>
        <p:origin x="96" y="90"/>
      </p:cViewPr>
      <p:guideLst/>
    </p:cSldViewPr>
  </p:slideViewPr>
  <p:notesTextViewPr>
    <p:cViewPr>
      <p:scale>
        <a:sx n="1" d="1"/>
        <a:sy n="1" d="1"/>
      </p:scale>
      <p:origin x="0" y="0"/>
    </p:cViewPr>
  </p:notesTextViewPr>
  <p:sorterViewPr>
    <p:cViewPr>
      <p:scale>
        <a:sx n="100" d="100"/>
        <a:sy n="100" d="100"/>
      </p:scale>
      <p:origin x="0" y="-419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8204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The talk is framed around the book of the same name.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the book is and where to find it. The online version has the animations and all the R code.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From the Features section of the Preface. Three of the book's themes: (1) data visualization as a combination of exposure (plotting the raw data) and summarization (plotting statistical summaries), with visual thinning to balance them; (2) the connections among statistics, geometry and data visualization; (3) dimension reduction methods as 'multivariate juicers'.</a:t>
            </a:r>
          </a:p>
        </p:txBody>
      </p:sp>
    </p:spTree>
    <p:extLst>
      <p:ext uri="{BB962C8B-B14F-4D97-AF65-F5344CB8AC3E}">
        <p14:creationId xmlns:p14="http://schemas.microsoft.com/office/powerpoint/2010/main" val="1063129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Theory to practice: the methods in the book are only useful if people can apply them. These four packages implement most of what follows: heplots (HE plots and related methods), candisc (canonical views), mvinfluence (multivariate influence), genridge (ridge trace plots).</a:t>
            </a:r>
          </a:p>
        </p:txBody>
      </p:sp>
    </p:spTree>
    <p:extLst>
      <p:ext uri="{BB962C8B-B14F-4D97-AF65-F5344CB8AC3E}">
        <p14:creationId xmlns:p14="http://schemas.microsoft.com/office/powerpoint/2010/main" val="2308996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The talk follows the book: plots of data, then models with one response, then models with many responses. The ellipse is the recurring device.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book's subtitle is a nod to Abbott's 'Flatland: A Romance of Many Dimensions'. The Flatlander sees only a slice of the sphere. We are in the same position with p &gt; 2 variables.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The pollen data look like a featureless cloud until you zoom in on the dense center, where the points spell out a word.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example of a scientific discovery that came from looking at data in more than two dimensions. The Diabetes data come back later in the dimension reduction section.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table classifies linear model techniques by the number and type of responses and predictors. The right-hand column, multivariate responses, is where graphical methods have been thin.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Galton's data on the heights of parents and children (from the short course, lecture 2). Data ellipses of 50%, 68% and 95% coverage. The ellipse is the workhorse of the book: the same idea returns as confidence ellipses for coefficients and as H and E ellipses for multivariate tests.</a:t>
            </a:r>
          </a:p>
        </p:txBody>
      </p:sp>
    </p:spTree>
    <p:extLst>
      <p:ext uri="{BB962C8B-B14F-4D97-AF65-F5344CB8AC3E}">
        <p14:creationId xmlns:p14="http://schemas.microsoft.com/office/powerpoint/2010/main" val="3761389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Palmer penguins are the running example. Here: bill length and bill depth with data ellipses and regression lines for each species.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Panels: (a) ignoring species, (b) by species, (c) pooled within species. The data ellipses make the reversal immediate.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Scatterplot matrix of the quantitative penguin variables.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Corrplot of the crime data, with variables reordered. The ordering idea is taken up again under PCA.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Parallel coordinates plot of the penguin size variables, colored by species.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grand tour of the penguin data. Guided tours optimize an index, e.g. separation of groups or the presence of anomalies.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Chi-square QQ plot for the penguin data, and the unusual birds identified in the bill length-bill depth plot. Two of them, nicknamed Cyrano and Hook Nose, come back in the influence and robust sections.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rotation from data space to PCA space, with two added points (101, 102). They are not extreme on either original variable, but stand out on the smallest principal component. Geometry of PCA as a rotation. Tie back to the data ellipse: its major and minor axes are PC1 and PC2.</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The blue points are connected to their projections on the red line by springs perpendicular to that line. A physical intuition for least squares. One of the figures the organizer singled out.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Basic biplot of the crime data. The biplot is the low-D view used again and again: for collinearity, for canonical discriminant analysis, and for ridge regression.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Comparison of the PCA and t-SNE 2D representations of the Diabetes data. Nonlinear methods preserve local neighborhoods at the cost of global geometry.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interpolating between the PCA and t-SNE solutions for the Diabetes data. One of the figures the organizer singled out.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Ordering variables by their angles in the biplot puts similar variables together and makes the pattern visible.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Re-construction of the Mona Lisa from increasing numbers of components (the eigenfaces idea).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An 'elliptical insight': multivariate outliers often show up in the dimensions with the least variance.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standard diagnostic plots, here for Duncan's data on the prestige of occupations predicted from income and education.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Plot of standardized coefficients and their confidence intervals.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Marginal + conditional (added-variable) plots for the coffee data, a contrived example constructed by Georges Monette. Each added-variable plot shows the relation of y to one predictor with the others partialled out; the slope is the coefficient in the full model.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Predictor effect plots for all terms in the model for the Prestige data.</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Influence plot for the Duncan model. Minister and conductor stand out.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The two occupations pull the income and education slopes in opposite directions.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Data space and beta space for the coffee data. Where the predictors have a wide spread, the coefficients are estimated precisely, and vice versa. This sets up collinearity.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Biasing effect of measurement error in one variable on the coefficients, shown in beta space.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Other problems in fitting &amp; understanding linear models are also made simpler with visual, geometric and dimension reduction ideas</a:t>
            </a:r>
          </a:p>
        </p:txBody>
      </p:sp>
    </p:spTree>
    <p:extLst>
      <p:ext uri="{BB962C8B-B14F-4D97-AF65-F5344CB8AC3E}">
        <p14:creationId xmlns:p14="http://schemas.microsoft.com/office/powerpoint/2010/main" val="28639695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95% data ellipses for x1, x2 and the corresponding confidence ellipses for their coefficients, for increasing correlation.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The standard collinearity diagnostics table hides the important information. The tableplot makes it stand out; the collinearity biplot shows which variables are involved.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Geometric interpretation of ridge regression.</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Univariate ridge trace plot for the Longley data.</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One of the figures the organizer singled out. Scatterplot matrix of bivariate ridge trace plots (genridge package). Most of the shrinkage paths are regular; a few are not.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Biplot view of the ridge trace plot for the smallest dimensions.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Hotelling's T-squared as a generalized t-test.</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Mathscore data: two groups, basic math (BM) and word problems (WP). From the data to data ellipses to the HE plot. From the short course, lecture 2.</a:t>
            </a:r>
          </a:p>
        </p:txBody>
      </p:sp>
    </p:spTree>
    <p:extLst>
      <p:ext uri="{BB962C8B-B14F-4D97-AF65-F5344CB8AC3E}">
        <p14:creationId xmlns:p14="http://schemas.microsoft.com/office/powerpoint/2010/main" val="12706028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 H ellipse is the data ellipse of the fitted values; with 1 df it collapses to a line. From the short course, lecture 2.</a:t>
            </a:r>
          </a:p>
        </p:txBody>
      </p:sp>
    </p:spTree>
    <p:extLst>
      <p:ext uri="{BB962C8B-B14F-4D97-AF65-F5344CB8AC3E}">
        <p14:creationId xmlns:p14="http://schemas.microsoft.com/office/powerpoint/2010/main" val="30671182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 E ellipse is the data ellipse of the residuals: the pooled within-group covariance. From the short course, lecture 2.</a:t>
            </a:r>
          </a:p>
        </p:txBody>
      </p:sp>
    </p:spTree>
    <p:extLst>
      <p:ext uri="{BB962C8B-B14F-4D97-AF65-F5344CB8AC3E}">
        <p14:creationId xmlns:p14="http://schemas.microsoft.com/office/powerpoint/2010/main" val="12147426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Above: data ellipses summarized in an HE plot showing the pooled within-group error ellipse (E) and the H 'ellipse' for the group means. Below: observations projected on the line joining the means.</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Breakdown of the total SSP matrix into H and E. The Wilks, Pillai, Hotelling-Lawley and Roy tests are all functions of the eigenvalues of H relative to 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 plots for the iris data. E: within-group variation. H: variation of the group means. The orientation of H shows how the groups differ.</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HE plot for sepal length and width in the iris data, showing contrasts among the species.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pairwise HE plots for the iris data.</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Canonical HE plot for the iris data.</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HE plot for the multivariate regression model for the school data. Each predictor has 1 df, so its H 'ellipse' collapses to a line.</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HE plot for the canonical correlation analysis of the school data.</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HE plot for the two-way MANOVA of the plastic film data.</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Overlaid HE plots for SAT and PPVT for the two SES groups.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Distance plot for the school data model.</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toy example from Barrett (2003): one predictor, two nearly perfectly correlated responses, nine cases. The univariate Cook's D values for case 9 are very small, but the multivariate Cook's D is 3.22, over 10 times the next largest. Multivariate influence is not the sum of univariate influences.</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Influence plot for the penguin MANOVA model.</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heplots::robmlm() applied to the penguin model. Most coefficients change little; the largest changes are for Chinstrap, reflecting the removal of Cyrano.</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All pairwise covariance ellipses for the penguin data.</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Plots of the contributions to Box's M for the penguin and iris data.</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Illustration of the main ideas of linear discriminant analysis.</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Linear discriminant prediction regions for the penguin data.</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The penguin data in discriminant space, with variable vectors.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Quadratic discriminant prediction regions for the penguin data.</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of the themes that recur through the book.</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find the book and the software.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86A3-DB18-D473-3C2C-21A9E94FF9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885EA81-E434-D1B7-C80B-62E4ADD59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C4680C3-BA4B-8E4A-D7F3-32B19F0BCA80}"/>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FEA94193-AC1D-9679-4A87-E42BDF4F874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F6E5A0-F9CF-689C-8D61-E098A3F929DB}"/>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59673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3552C-0BFD-199A-C290-82E0E7DD88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2955B4E-7FFE-4BCA-4057-8E5B63DCE1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00ECAC-6645-C1FA-580D-1382315A14F2}"/>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AE48408E-18C9-AE29-9B14-B3056D00FA5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FE9CE17-62C5-B7EA-54A9-AA954533BA0B}"/>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27754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C1116-2C7D-3653-A739-58A48640D8B9}"/>
              </a:ext>
            </a:extLst>
          </p:cNvPr>
          <p:cNvSpPr>
            <a:spLocks noGrp="1"/>
          </p:cNvSpPr>
          <p:nvPr>
            <p:ph type="title"/>
          </p:nvPr>
        </p:nvSpPr>
        <p:spPr>
          <a:xfrm>
            <a:off x="839788" y="365125"/>
            <a:ext cx="10515600" cy="1143000"/>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C3CF436-57B9-4904-9302-3AE3EF354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B7906C-0394-6DDE-10C3-9764E8C3EF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C81D87C-73DF-EE7D-BA63-DA561306EA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BC3BF-5FEF-C7F5-A648-7AD79E8830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10A4B92-FB68-E7CC-DE9B-0329CFE8DFFE}"/>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8" name="Footer Placeholder 7">
            <a:extLst>
              <a:ext uri="{FF2B5EF4-FFF2-40B4-BE49-F238E27FC236}">
                <a16:creationId xmlns:a16="http://schemas.microsoft.com/office/drawing/2014/main" id="{FCC62FE2-5BA9-8351-CBA5-3F87C81D998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D0DDAA6C-1E0B-34E0-7DFF-FF2D380B8D8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42346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E9229C-D7D2-65B0-65BD-6AFF2B6E6460}"/>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3" name="Footer Placeholder 2">
            <a:extLst>
              <a:ext uri="{FF2B5EF4-FFF2-40B4-BE49-F238E27FC236}">
                <a16:creationId xmlns:a16="http://schemas.microsoft.com/office/drawing/2014/main" id="{222892CD-C6D8-0C0D-C9C0-68452DB5C412}"/>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3430F02E-8D0A-A2EB-DB42-8F87B8DB7077}"/>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953958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15CE4-71A6-692F-C003-94BADEA4D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29278F44-D0EC-1988-26FA-8B8E2FC38E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725C2EF-17DE-9B90-ED6D-D6E91086AA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4E512C-223F-E79F-15ED-0ECA2BE2C312}"/>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6" name="Footer Placeholder 5">
            <a:extLst>
              <a:ext uri="{FF2B5EF4-FFF2-40B4-BE49-F238E27FC236}">
                <a16:creationId xmlns:a16="http://schemas.microsoft.com/office/drawing/2014/main" id="{858AB3E7-2C8E-F043-C0C1-1F8DA5459CD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3F348E1-3AEA-6F6F-23FD-BD544AF1FB8C}"/>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244808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0F1B-959C-540A-AD2E-7D6FEC5E31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D645BF4-A48B-E174-8718-5B35693139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56434C3-A68D-43AB-B28F-F34494BCBD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88CEE8-2C4C-8620-737C-AE8F04CF1D5E}"/>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6" name="Footer Placeholder 5">
            <a:extLst>
              <a:ext uri="{FF2B5EF4-FFF2-40B4-BE49-F238E27FC236}">
                <a16:creationId xmlns:a16="http://schemas.microsoft.com/office/drawing/2014/main" id="{A2C675F7-9A4B-E2CB-776C-2A336043AEE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49A8741-0324-E12F-C095-4E7CC97648EC}"/>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584298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7D17A-4D48-28EE-A810-A3D24288230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BA77A73-0C15-3706-044A-408FF3649E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71D1EA6-4923-146A-49B3-D75AFA21352F}"/>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C10D5968-094E-28D6-8177-E63130DFF92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6FEAFB7-FDF1-A809-AA81-D948CE9A5F8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43929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7B1715-C993-D91F-4787-F8D7CA3A5F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D02B27B-63DC-598F-B6E2-B748A7336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0A44A46-36D5-9B0F-3EB6-9306071F0FAB}"/>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7C43ADB4-0946-1EFA-F8DB-66A4A7E332E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EA21D21-57D3-5D15-389F-E7ADDDD8E105}"/>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269032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CB12B1-0D45-5083-3C07-79A68792FA93}"/>
              </a:ext>
            </a:extLst>
          </p:cNvPr>
          <p:cNvSpPr>
            <a:spLocks noGrp="1"/>
          </p:cNvSpPr>
          <p:nvPr>
            <p:ph type="title"/>
          </p:nvPr>
        </p:nvSpPr>
        <p:spPr>
          <a:xfrm>
            <a:off x="838200" y="365125"/>
            <a:ext cx="10515600" cy="1143000"/>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F559808-3D32-7A37-D584-26815CFBC628}"/>
              </a:ext>
            </a:extLst>
          </p:cNvPr>
          <p:cNvSpPr>
            <a:spLocks noGrp="1"/>
          </p:cNvSpPr>
          <p:nvPr>
            <p:ph type="body" idx="1"/>
          </p:nvPr>
        </p:nvSpPr>
        <p:spPr>
          <a:xfrm>
            <a:off x="838200" y="1643063"/>
            <a:ext cx="10515600" cy="45339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F2819E6-998B-212B-C4AA-B9496436B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5CF8078D-866B-F3B4-630F-FE1A8ED65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691377B5-A28A-9D03-B379-6A7984C147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FB2853-4965-4727-91C4-384EB30D99A4}" type="slidenum">
              <a:rPr lang="en-CA" smtClean="0"/>
              <a:t>‹#›</a:t>
            </a:fld>
            <a:endParaRPr lang="en-CA"/>
          </a:p>
        </p:txBody>
      </p:sp>
    </p:spTree>
    <p:extLst>
      <p:ext uri="{BB962C8B-B14F-4D97-AF65-F5344CB8AC3E}">
        <p14:creationId xmlns:p14="http://schemas.microsoft.com/office/powerpoint/2010/main" val="3957992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riendly.github.io/" TargetMode="Externa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datavis.ca/"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friendly.github.io/Vis-MLM-book/"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57.wmf"/><Relationship Id="rId5" Type="http://schemas.openxmlformats.org/officeDocument/2006/relationships/oleObject" Target="../embeddings/oleObject1.bin"/><Relationship Id="rId4" Type="http://schemas.openxmlformats.org/officeDocument/2006/relationships/image" Target="../media/image56.pn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60.wmf"/><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59.png"/><Relationship Id="rId4" Type="http://schemas.openxmlformats.org/officeDocument/2006/relationships/image" Target="../media/image58.png"/></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6.xml"/><Relationship Id="rId1" Type="http://schemas.openxmlformats.org/officeDocument/2006/relationships/slideLayout" Target="../slideLayouts/slideLayout6.xml"/><Relationship Id="rId4" Type="http://schemas.openxmlformats.org/officeDocument/2006/relationships/image" Target="../media/image72.png"/></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77.jp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friendly.github.io/Vis-MLM-book/" TargetMode="External"/><Relationship Id="rId2" Type="http://schemas.openxmlformats.org/officeDocument/2006/relationships/notesSlide" Target="../notesSlides/notesSlide66.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74.xml.rels><?xml version="1.0" encoding="UTF-8" standalone="yes"?>
<Relationships xmlns="http://schemas.openxmlformats.org/package/2006/relationships"><Relationship Id="rId2" Type="http://schemas.openxmlformats.org/officeDocument/2006/relationships/image" Target="../media/image81.gi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7048" y="2794434"/>
            <a:ext cx="9144000" cy="1828800"/>
          </a:xfrm>
        </p:spPr>
        <p:txBody>
          <a:bodyPr/>
          <a:lstStyle/>
          <a:p>
            <a:r>
              <a:rPr dirty="0"/>
              <a:t>Visualizing Multivariate Data and Models in R</a:t>
            </a:r>
          </a:p>
        </p:txBody>
      </p:sp>
      <p:sp>
        <p:nvSpPr>
          <p:cNvPr id="3" name="Subtitle 2"/>
          <p:cNvSpPr>
            <a:spLocks noGrp="1"/>
          </p:cNvSpPr>
          <p:nvPr>
            <p:ph type="subTitle" idx="1"/>
          </p:nvPr>
        </p:nvSpPr>
        <p:spPr>
          <a:xfrm>
            <a:off x="1527048" y="4626538"/>
            <a:ext cx="9144000" cy="1655064"/>
          </a:xfrm>
        </p:spPr>
        <p:txBody>
          <a:bodyPr>
            <a:normAutofit fontScale="92500" lnSpcReduction="10000"/>
          </a:bodyPr>
          <a:lstStyle/>
          <a:p>
            <a:r>
              <a:rPr sz="3200" dirty="0"/>
              <a:t>A Romance in Many Dimensions</a:t>
            </a:r>
          </a:p>
          <a:p>
            <a:endParaRPr dirty="0"/>
          </a:p>
          <a:p>
            <a:r>
              <a:rPr lang="en-CA" dirty="0"/>
              <a:t>Methodology &amp; Statistics Group, Utrecht, 5 Nov. 2026</a:t>
            </a:r>
          </a:p>
          <a:p>
            <a:r>
              <a:rPr dirty="0"/>
              <a:t>Michael Friendly, York University</a:t>
            </a:r>
            <a:r>
              <a:rPr lang="en-CA" dirty="0"/>
              <a:t>, </a:t>
            </a:r>
            <a:r>
              <a:rPr lang="en-CA" dirty="0">
                <a:hlinkClick r:id="rId3"/>
              </a:rPr>
              <a:t>friendly.github.io </a:t>
            </a:r>
            <a:r>
              <a:rPr lang="en-CA" dirty="0"/>
              <a:t>| </a:t>
            </a:r>
            <a:r>
              <a:rPr lang="en-CA" dirty="0">
                <a:hlinkClick r:id="rId4"/>
              </a:rPr>
              <a:t>datavis.ca</a:t>
            </a:r>
            <a:endParaRPr dirty="0"/>
          </a:p>
        </p:txBody>
      </p:sp>
      <p:pic>
        <p:nvPicPr>
          <p:cNvPr id="4" name="Thumbnail: data ellipses" descr="image.png"/>
          <p:cNvPicPr>
            <a:picLocks noChangeAspect="1"/>
          </p:cNvPicPr>
          <p:nvPr/>
        </p:nvPicPr>
        <p:blipFill>
          <a:blip r:embed="rId5"/>
          <a:stretch>
            <a:fillRect/>
          </a:stretch>
        </p:blipFill>
        <p:spPr>
          <a:xfrm>
            <a:off x="1484330" y="320039"/>
            <a:ext cx="2340000" cy="2340000"/>
          </a:xfrm>
          <a:prstGeom prst="rect">
            <a:avLst/>
          </a:prstGeom>
        </p:spPr>
      </p:pic>
      <p:pic>
        <p:nvPicPr>
          <p:cNvPr id="5" name="Thumbnail: biplot" descr="fig-diabetes-ggbiplot-1.png"/>
          <p:cNvPicPr>
            <a:picLocks noChangeAspect="1"/>
          </p:cNvPicPr>
          <p:nvPr/>
        </p:nvPicPr>
        <p:blipFill>
          <a:blip r:embed="rId6"/>
          <a:stretch>
            <a:fillRect/>
          </a:stretch>
        </p:blipFill>
        <p:spPr>
          <a:xfrm>
            <a:off x="3962245" y="320040"/>
            <a:ext cx="3276000" cy="2340000"/>
          </a:xfrm>
          <a:prstGeom prst="rect">
            <a:avLst/>
          </a:prstGeom>
        </p:spPr>
      </p:pic>
      <p:pic>
        <p:nvPicPr>
          <p:cNvPr id="6" name="Thumbnail: HE plot" descr="image.png"/>
          <p:cNvPicPr>
            <a:picLocks noChangeAspect="1"/>
          </p:cNvPicPr>
          <p:nvPr/>
        </p:nvPicPr>
        <p:blipFill>
          <a:blip r:embed="rId7"/>
          <a:stretch>
            <a:fillRect/>
          </a:stretch>
        </p:blipFill>
        <p:spPr>
          <a:xfrm>
            <a:off x="7376160" y="320040"/>
            <a:ext cx="3276000" cy="234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181600" cy="1143000"/>
          </a:xfrm>
        </p:spPr>
        <p:txBody>
          <a:bodyPr/>
          <a:lstStyle/>
          <a:p>
            <a:r>
              <a:rPr dirty="0"/>
              <a:t>The book</a:t>
            </a:r>
          </a:p>
        </p:txBody>
      </p:sp>
      <p:sp>
        <p:nvSpPr>
          <p:cNvPr id="3" name="Content Placeholder 2"/>
          <p:cNvSpPr>
            <a:spLocks noGrp="1"/>
          </p:cNvSpPr>
          <p:nvPr>
            <p:ph sz="half" idx="1"/>
          </p:nvPr>
        </p:nvSpPr>
        <p:spPr/>
        <p:txBody>
          <a:bodyPr/>
          <a:lstStyle/>
          <a:p>
            <a:r>
              <a:rPr dirty="0"/>
              <a:t>Graphical methods for multivariate data and for multivariate linear models</a:t>
            </a:r>
          </a:p>
          <a:p>
            <a:r>
              <a:rPr dirty="0"/>
              <a:t>15 chapters in four parts, from exploratory plots to MANOVA and discriminant analysis</a:t>
            </a:r>
          </a:p>
          <a:p>
            <a:r>
              <a:rPr dirty="0"/>
              <a:t>To appear CRC Press / Chapman &amp; Hall</a:t>
            </a:r>
            <a:r>
              <a:rPr lang="en-CA" dirty="0"/>
              <a:t>, 2027</a:t>
            </a:r>
            <a:endParaRPr dirty="0"/>
          </a:p>
          <a:p>
            <a:r>
              <a:rPr dirty="0"/>
              <a:t>Online version: </a:t>
            </a:r>
            <a:r>
              <a:rPr dirty="0">
                <a:hlinkClick r:id="rId3"/>
              </a:rPr>
              <a:t>friendly.github.io/Vis-MLM-book</a:t>
            </a:r>
            <a:endParaRPr dirty="0"/>
          </a:p>
        </p:txBody>
      </p:sp>
      <p:pic>
        <p:nvPicPr>
          <p:cNvPr id="4" name="Picture 3" descr="cover-peng.jpg"/>
          <p:cNvPicPr>
            <a:picLocks noChangeAspect="1"/>
          </p:cNvPicPr>
          <p:nvPr/>
        </p:nvPicPr>
        <p:blipFill>
          <a:blip r:embed="rId4"/>
          <a:stretch>
            <a:fillRect/>
          </a:stretch>
        </p:blipFill>
        <p:spPr>
          <a:xfrm>
            <a:off x="6331974" y="630023"/>
            <a:ext cx="4218039" cy="58047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features of the book</a:t>
            </a:r>
          </a:p>
        </p:txBody>
      </p:sp>
      <p:pic>
        <p:nvPicPr>
          <p:cNvPr id="3" name="Picture 2" descr="image.png"/>
          <p:cNvPicPr>
            <a:picLocks noChangeAspect="1"/>
          </p:cNvPicPr>
          <p:nvPr/>
        </p:nvPicPr>
        <p:blipFill>
          <a:blip r:embed="rId3"/>
          <a:stretch>
            <a:fillRect/>
          </a:stretch>
        </p:blipFill>
        <p:spPr>
          <a:xfrm>
            <a:off x="1010412" y="1691640"/>
            <a:ext cx="1856231" cy="1325880"/>
          </a:xfrm>
          <a:prstGeom prst="rect">
            <a:avLst/>
          </a:prstGeom>
        </p:spPr>
      </p:pic>
      <p:sp>
        <p:nvSpPr>
          <p:cNvPr id="4" name="TextBox 3"/>
          <p:cNvSpPr txBox="1"/>
          <p:nvPr/>
        </p:nvSpPr>
        <p:spPr>
          <a:xfrm>
            <a:off x="3291840" y="1737360"/>
            <a:ext cx="8046720" cy="1325880"/>
          </a:xfrm>
          <a:prstGeom prst="rect">
            <a:avLst/>
          </a:prstGeom>
          <a:noFill/>
        </p:spPr>
        <p:txBody>
          <a:bodyPr wrap="square">
            <a:spAutoFit/>
          </a:bodyPr>
          <a:lstStyle/>
          <a:p>
            <a:r>
              <a:rPr sz="2400" b="1"/>
              <a:t>Exposure and summarization</a:t>
            </a:r>
          </a:p>
          <a:p>
            <a:r>
              <a:rPr sz="1800"/>
              <a:t>Plot the raw data, and plot statistical summaries (data ellipses, confidence ellipses) to highlight what should be noticed. Visual thinning balances the two.</a:t>
            </a:r>
          </a:p>
        </p:txBody>
      </p:sp>
      <p:pic>
        <p:nvPicPr>
          <p:cNvPr id="5" name="Picture 4" descr="image.png"/>
          <p:cNvPicPr>
            <a:picLocks noChangeAspect="1"/>
          </p:cNvPicPr>
          <p:nvPr/>
        </p:nvPicPr>
        <p:blipFill>
          <a:blip r:embed="rId4"/>
          <a:stretch>
            <a:fillRect/>
          </a:stretch>
        </p:blipFill>
        <p:spPr>
          <a:xfrm>
            <a:off x="841248" y="3368623"/>
            <a:ext cx="2194560" cy="1044296"/>
          </a:xfrm>
          <a:prstGeom prst="rect">
            <a:avLst/>
          </a:prstGeom>
        </p:spPr>
      </p:pic>
      <p:sp>
        <p:nvSpPr>
          <p:cNvPr id="6" name="TextBox 5"/>
          <p:cNvSpPr txBox="1"/>
          <p:nvPr/>
        </p:nvSpPr>
        <p:spPr>
          <a:xfrm>
            <a:off x="3291840" y="3273552"/>
            <a:ext cx="8046720" cy="1325880"/>
          </a:xfrm>
          <a:prstGeom prst="rect">
            <a:avLst/>
          </a:prstGeom>
          <a:noFill/>
        </p:spPr>
        <p:txBody>
          <a:bodyPr wrap="square">
            <a:spAutoFit/>
          </a:bodyPr>
          <a:lstStyle/>
          <a:p>
            <a:r>
              <a:rPr sz="2400" b="1"/>
              <a:t>Statistics ↔ geometry ↔ data visualization</a:t>
            </a:r>
          </a:p>
          <a:p>
            <a:r>
              <a:rPr sz="1800"/>
              <a:t>Statistical ideas are easier to understand as geometry that can be seen in diagrams and data displays. Ideas from one domain amplify the others.</a:t>
            </a:r>
          </a:p>
        </p:txBody>
      </p:sp>
      <p:pic>
        <p:nvPicPr>
          <p:cNvPr id="7" name="Picture 6" descr="MV-juicer.png"/>
          <p:cNvPicPr>
            <a:picLocks noChangeAspect="1"/>
          </p:cNvPicPr>
          <p:nvPr/>
        </p:nvPicPr>
        <p:blipFill>
          <a:blip r:embed="rId5"/>
          <a:stretch>
            <a:fillRect/>
          </a:stretch>
        </p:blipFill>
        <p:spPr>
          <a:xfrm>
            <a:off x="841248" y="4866511"/>
            <a:ext cx="2194560" cy="1120905"/>
          </a:xfrm>
          <a:prstGeom prst="rect">
            <a:avLst/>
          </a:prstGeom>
        </p:spPr>
      </p:pic>
      <p:sp>
        <p:nvSpPr>
          <p:cNvPr id="8" name="TextBox 7"/>
          <p:cNvSpPr txBox="1"/>
          <p:nvPr/>
        </p:nvSpPr>
        <p:spPr>
          <a:xfrm>
            <a:off x="3291840" y="4809744"/>
            <a:ext cx="8046720" cy="1325880"/>
          </a:xfrm>
          <a:prstGeom prst="rect">
            <a:avLst/>
          </a:prstGeom>
          <a:noFill/>
        </p:spPr>
        <p:txBody>
          <a:bodyPr wrap="square">
            <a:spAutoFit/>
          </a:bodyPr>
          <a:lstStyle/>
          <a:p>
            <a:r>
              <a:rPr sz="2400" b="1"/>
              <a:t>Dimension reduction as “multivariate juicers”</a:t>
            </a:r>
          </a:p>
          <a:p>
            <a:r>
              <a:rPr sz="1800"/>
              <a:t>PCA and discriminant analysis squeeze high-dimensional data into informative 2D views. Sometimes the important information is in the smallest dimensions.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 packages</a:t>
            </a:r>
          </a:p>
        </p:txBody>
      </p:sp>
      <p:sp>
        <p:nvSpPr>
          <p:cNvPr id="3" name="TextBox 2"/>
          <p:cNvSpPr txBox="1"/>
          <p:nvPr/>
        </p:nvSpPr>
        <p:spPr>
          <a:xfrm>
            <a:off x="841248" y="1417320"/>
            <a:ext cx="10515600" cy="502920"/>
          </a:xfrm>
          <a:prstGeom prst="rect">
            <a:avLst/>
          </a:prstGeom>
          <a:noFill/>
        </p:spPr>
        <p:txBody>
          <a:bodyPr wrap="none">
            <a:spAutoFit/>
          </a:bodyPr>
          <a:lstStyle/>
          <a:p>
            <a:r>
              <a:rPr sz="2400" b="1"/>
              <a:t>Theory → Practice: Making tools accessible</a:t>
            </a:r>
          </a:p>
        </p:txBody>
      </p:sp>
      <p:pic>
        <p:nvPicPr>
          <p:cNvPr id="4" name="Picture 3" descr="logo.png"/>
          <p:cNvPicPr>
            <a:picLocks noChangeAspect="1"/>
          </p:cNvPicPr>
          <p:nvPr/>
        </p:nvPicPr>
        <p:blipFill>
          <a:blip r:embed="rId3"/>
          <a:stretch>
            <a:fillRect/>
          </a:stretch>
        </p:blipFill>
        <p:spPr>
          <a:xfrm>
            <a:off x="904552" y="2148840"/>
            <a:ext cx="787790" cy="914400"/>
          </a:xfrm>
          <a:prstGeom prst="rect">
            <a:avLst/>
          </a:prstGeom>
        </p:spPr>
      </p:pic>
      <p:sp>
        <p:nvSpPr>
          <p:cNvPr id="5" name="TextBox 4"/>
          <p:cNvSpPr txBox="1"/>
          <p:nvPr/>
        </p:nvSpPr>
        <p:spPr>
          <a:xfrm>
            <a:off x="2011680" y="2167128"/>
            <a:ext cx="9326880" cy="914400"/>
          </a:xfrm>
          <a:prstGeom prst="rect">
            <a:avLst/>
          </a:prstGeom>
          <a:noFill/>
        </p:spPr>
        <p:txBody>
          <a:bodyPr wrap="square">
            <a:spAutoFit/>
          </a:bodyPr>
          <a:lstStyle/>
          <a:p>
            <a:r>
              <a:rPr sz="2400" b="1" dirty="0" err="1"/>
              <a:t>heplots</a:t>
            </a:r>
            <a:endParaRPr sz="2400" b="1" dirty="0"/>
          </a:p>
          <a:p>
            <a:r>
              <a:rPr sz="1800" dirty="0"/>
              <a:t>Visualizing hypothesis tests in multivariate linear models: HE plots, covariance ellipses, robust MLMs</a:t>
            </a:r>
          </a:p>
        </p:txBody>
      </p:sp>
      <p:pic>
        <p:nvPicPr>
          <p:cNvPr id="6" name="Picture 5" descr="logo.png"/>
          <p:cNvPicPr>
            <a:picLocks noChangeAspect="1"/>
          </p:cNvPicPr>
          <p:nvPr/>
        </p:nvPicPr>
        <p:blipFill>
          <a:blip r:embed="rId4"/>
          <a:stretch>
            <a:fillRect/>
          </a:stretch>
        </p:blipFill>
        <p:spPr>
          <a:xfrm>
            <a:off x="894440" y="3172968"/>
            <a:ext cx="808015" cy="914400"/>
          </a:xfrm>
          <a:prstGeom prst="rect">
            <a:avLst/>
          </a:prstGeom>
        </p:spPr>
      </p:pic>
      <p:sp>
        <p:nvSpPr>
          <p:cNvPr id="7" name="TextBox 6"/>
          <p:cNvSpPr txBox="1"/>
          <p:nvPr/>
        </p:nvSpPr>
        <p:spPr>
          <a:xfrm>
            <a:off x="2011680" y="3191256"/>
            <a:ext cx="9326880" cy="914400"/>
          </a:xfrm>
          <a:prstGeom prst="rect">
            <a:avLst/>
          </a:prstGeom>
          <a:noFill/>
        </p:spPr>
        <p:txBody>
          <a:bodyPr wrap="square">
            <a:spAutoFit/>
          </a:bodyPr>
          <a:lstStyle/>
          <a:p>
            <a:r>
              <a:rPr sz="2400" b="1"/>
              <a:t>candisc</a:t>
            </a:r>
          </a:p>
          <a:p>
            <a:r>
              <a:rPr sz="1800"/>
              <a:t>Canonical discriminant and canonical correlation analysis: low-dimensional views of multivariate effects</a:t>
            </a:r>
          </a:p>
        </p:txBody>
      </p:sp>
      <p:pic>
        <p:nvPicPr>
          <p:cNvPr id="8" name="Picture 7" descr="logo.png"/>
          <p:cNvPicPr>
            <a:picLocks noChangeAspect="1"/>
          </p:cNvPicPr>
          <p:nvPr/>
        </p:nvPicPr>
        <p:blipFill>
          <a:blip r:embed="rId5"/>
          <a:stretch>
            <a:fillRect/>
          </a:stretch>
        </p:blipFill>
        <p:spPr>
          <a:xfrm>
            <a:off x="904358" y="4197096"/>
            <a:ext cx="788179" cy="914400"/>
          </a:xfrm>
          <a:prstGeom prst="rect">
            <a:avLst/>
          </a:prstGeom>
        </p:spPr>
      </p:pic>
      <p:sp>
        <p:nvSpPr>
          <p:cNvPr id="9" name="TextBox 8"/>
          <p:cNvSpPr txBox="1"/>
          <p:nvPr/>
        </p:nvSpPr>
        <p:spPr>
          <a:xfrm>
            <a:off x="2011680" y="4215383"/>
            <a:ext cx="9326880" cy="914400"/>
          </a:xfrm>
          <a:prstGeom prst="rect">
            <a:avLst/>
          </a:prstGeom>
          <a:noFill/>
        </p:spPr>
        <p:txBody>
          <a:bodyPr wrap="square">
            <a:spAutoFit/>
          </a:bodyPr>
          <a:lstStyle/>
          <a:p>
            <a:r>
              <a:rPr sz="2400" b="1"/>
              <a:t>mvinfluence</a:t>
            </a:r>
          </a:p>
          <a:p>
            <a:r>
              <a:rPr sz="1800"/>
              <a:t>Influence measures and diagnostic plots for multivariate linear models</a:t>
            </a:r>
          </a:p>
        </p:txBody>
      </p:sp>
      <p:pic>
        <p:nvPicPr>
          <p:cNvPr id="10" name="Picture 9" descr="logo.png"/>
          <p:cNvPicPr>
            <a:picLocks noChangeAspect="1"/>
          </p:cNvPicPr>
          <p:nvPr/>
        </p:nvPicPr>
        <p:blipFill>
          <a:blip r:embed="rId6"/>
          <a:stretch>
            <a:fillRect/>
          </a:stretch>
        </p:blipFill>
        <p:spPr>
          <a:xfrm>
            <a:off x="905461" y="5221224"/>
            <a:ext cx="785973" cy="914400"/>
          </a:xfrm>
          <a:prstGeom prst="rect">
            <a:avLst/>
          </a:prstGeom>
        </p:spPr>
      </p:pic>
      <p:sp>
        <p:nvSpPr>
          <p:cNvPr id="11" name="TextBox 10"/>
          <p:cNvSpPr txBox="1"/>
          <p:nvPr/>
        </p:nvSpPr>
        <p:spPr>
          <a:xfrm>
            <a:off x="2011680" y="5239512"/>
            <a:ext cx="9326880" cy="914400"/>
          </a:xfrm>
          <a:prstGeom prst="rect">
            <a:avLst/>
          </a:prstGeom>
          <a:noFill/>
        </p:spPr>
        <p:txBody>
          <a:bodyPr wrap="square">
            <a:spAutoFit/>
          </a:bodyPr>
          <a:lstStyle/>
          <a:p>
            <a:r>
              <a:rPr sz="2400" b="1"/>
              <a:t>genridge</a:t>
            </a:r>
          </a:p>
          <a:p>
            <a:r>
              <a:rPr sz="1800"/>
              <a:t>Generalized ridge trace plots: bias and precision in ridge regression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we are going</a:t>
            </a:r>
          </a:p>
        </p:txBody>
      </p:sp>
      <p:sp>
        <p:nvSpPr>
          <p:cNvPr id="3" name="Content Placeholder 2"/>
          <p:cNvSpPr>
            <a:spLocks noGrp="1"/>
          </p:cNvSpPr>
          <p:nvPr>
            <p:ph idx="1"/>
          </p:nvPr>
        </p:nvSpPr>
        <p:spPr>
          <a:xfrm>
            <a:off x="838200" y="1309036"/>
            <a:ext cx="10515600" cy="4867927"/>
          </a:xfrm>
        </p:spPr>
        <p:txBody>
          <a:bodyPr/>
          <a:lstStyle/>
          <a:p>
            <a:r>
              <a:rPr dirty="0"/>
              <a:t>Why many dimensions?</a:t>
            </a:r>
          </a:p>
          <a:p>
            <a:r>
              <a:rPr dirty="0"/>
              <a:t>Seeing multivariate data</a:t>
            </a:r>
          </a:p>
          <a:p>
            <a:r>
              <a:rPr dirty="0"/>
              <a:t>Dimension reduction</a:t>
            </a:r>
          </a:p>
          <a:p>
            <a:r>
              <a:rPr dirty="0"/>
              <a:t>Plots for models with one response</a:t>
            </a:r>
          </a:p>
          <a:p>
            <a:r>
              <a:rPr dirty="0"/>
              <a:t>Collinearity and ridge regression</a:t>
            </a:r>
          </a:p>
          <a:p>
            <a:r>
              <a:rPr dirty="0"/>
              <a:t>The HE plot framework for multivariate models</a:t>
            </a:r>
          </a:p>
          <a:p>
            <a:r>
              <a:rPr dirty="0"/>
              <a:t>Checking multivariate models</a:t>
            </a:r>
            <a:endParaRPr lang="en-CA" dirty="0"/>
          </a:p>
          <a:p>
            <a:r>
              <a:rPr lang="en-CA" dirty="0"/>
              <a:t>Discriminant analysis: Flipped MANOVA</a:t>
            </a:r>
            <a:endParaRPr dirty="0"/>
          </a:p>
        </p:txBody>
      </p:sp>
      <p:pic>
        <p:nvPicPr>
          <p:cNvPr id="4" name="Picture 3" descr="fig-book-parts-1.png"/>
          <p:cNvPicPr>
            <a:picLocks noChangeAspect="1"/>
          </p:cNvPicPr>
          <p:nvPr/>
        </p:nvPicPr>
        <p:blipFill>
          <a:blip r:embed="rId3"/>
          <a:stretch>
            <a:fillRect/>
          </a:stretch>
        </p:blipFill>
        <p:spPr>
          <a:xfrm>
            <a:off x="1771886" y="5212080"/>
            <a:ext cx="8654323" cy="9601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 romance in many dimensions?</a:t>
            </a:r>
          </a:p>
        </p:txBody>
      </p:sp>
      <p:sp>
        <p:nvSpPr>
          <p:cNvPr id="3" name="Text Placeholder 2"/>
          <p:cNvSpPr>
            <a:spLocks noGrp="1"/>
          </p:cNvSpPr>
          <p:nvPr>
            <p:ph type="body" idx="1"/>
          </p:nvPr>
        </p:nvSpPr>
        <p:spPr/>
        <p:txBody>
          <a:bodyPr/>
          <a:lstStyle/>
          <a:p>
            <a:r>
              <a:rPr dirty="0"/>
              <a:t>We live in </a:t>
            </a:r>
            <a:r>
              <a:rPr dirty="0" err="1"/>
              <a:t>Spaceland</a:t>
            </a:r>
            <a:r>
              <a:rPr dirty="0"/>
              <a:t>,</a:t>
            </a:r>
            <a:r>
              <a:rPr lang="en-CA" dirty="0"/>
              <a:t> sometimes high-D,</a:t>
            </a:r>
            <a:r>
              <a:rPr dirty="0"/>
              <a:t> but we plot in Flatland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Flatland: we only ever see </a:t>
            </a:r>
            <a:r>
              <a:rPr lang="en-CA" dirty="0"/>
              <a:t>2D </a:t>
            </a:r>
            <a:r>
              <a:rPr dirty="0"/>
              <a:t>projections</a:t>
            </a:r>
          </a:p>
        </p:txBody>
      </p:sp>
      <p:sp>
        <p:nvSpPr>
          <p:cNvPr id="3" name="Content Placeholder 2"/>
          <p:cNvSpPr>
            <a:spLocks noGrp="1"/>
          </p:cNvSpPr>
          <p:nvPr>
            <p:ph sz="half" idx="1"/>
          </p:nvPr>
        </p:nvSpPr>
        <p:spPr/>
        <p:txBody>
          <a:bodyPr/>
          <a:lstStyle/>
          <a:p>
            <a:r>
              <a:rPr dirty="0"/>
              <a:t>Abbott's Flatland (1884): a sphere passing through a 2D world is seen as a circle that grows and shrinks</a:t>
            </a:r>
          </a:p>
          <a:p>
            <a:r>
              <a:rPr dirty="0"/>
              <a:t>Our </a:t>
            </a:r>
            <a:r>
              <a:rPr lang="en-CA" dirty="0"/>
              <a:t>2D </a:t>
            </a:r>
            <a:r>
              <a:rPr dirty="0"/>
              <a:t>plots are Flatland views of data that live in many dimensions</a:t>
            </a:r>
          </a:p>
          <a:p>
            <a:r>
              <a:rPr dirty="0"/>
              <a:t>Multivariate visualization is the art of </a:t>
            </a:r>
            <a:r>
              <a:rPr b="1" dirty="0"/>
              <a:t>choosing good views</a:t>
            </a:r>
            <a:endParaRPr lang="en-CA" b="1" dirty="0"/>
          </a:p>
          <a:p>
            <a:r>
              <a:rPr lang="en-CA" dirty="0" err="1"/>
              <a:t>Datavis</a:t>
            </a:r>
            <a:r>
              <a:rPr lang="en-CA" dirty="0"/>
              <a:t> is the art of making plots informative</a:t>
            </a:r>
          </a:p>
          <a:p>
            <a:r>
              <a:rPr lang="en-CA" dirty="0"/>
              <a:t>That’s the Romance!</a:t>
            </a:r>
            <a:endParaRPr dirty="0"/>
          </a:p>
        </p:txBody>
      </p:sp>
      <p:pic>
        <p:nvPicPr>
          <p:cNvPr id="4" name="Picture 3" descr="flatland-spheres.jpg"/>
          <p:cNvPicPr>
            <a:picLocks noChangeAspect="1"/>
          </p:cNvPicPr>
          <p:nvPr/>
        </p:nvPicPr>
        <p:blipFill>
          <a:blip r:embed="rId3"/>
          <a:stretch>
            <a:fillRect/>
          </a:stretch>
        </p:blipFill>
        <p:spPr>
          <a:xfrm>
            <a:off x="6169152" y="1752981"/>
            <a:ext cx="5184648" cy="157829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EUREKA! Structure can hide in many dimensions</a:t>
            </a:r>
          </a:p>
        </p:txBody>
      </p:sp>
      <p:pic>
        <p:nvPicPr>
          <p:cNvPr id="3" name="Picture 2" descr="pollen-eureka.gif"/>
          <p:cNvPicPr>
            <a:picLocks noChangeAspect="1"/>
          </p:cNvPicPr>
          <p:nvPr/>
        </p:nvPicPr>
        <p:blipFill>
          <a:blip r:embed="rId3"/>
          <a:stretch>
            <a:fillRect/>
          </a:stretch>
        </p:blipFill>
        <p:spPr>
          <a:xfrm>
            <a:off x="950439" y="1603498"/>
            <a:ext cx="5095308" cy="465965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1.5</a:t>
            </a:r>
          </a:p>
        </p:txBody>
      </p:sp>
      <p:sp>
        <p:nvSpPr>
          <p:cNvPr id="6" name="TextBox 5">
            <a:extLst>
              <a:ext uri="{FF2B5EF4-FFF2-40B4-BE49-F238E27FC236}">
                <a16:creationId xmlns:a16="http://schemas.microsoft.com/office/drawing/2014/main" id="{8C3F38F2-2587-3C51-3889-B647D224D5F9}"/>
              </a:ext>
            </a:extLst>
          </p:cNvPr>
          <p:cNvSpPr txBox="1"/>
          <p:nvPr/>
        </p:nvSpPr>
        <p:spPr>
          <a:xfrm>
            <a:off x="6942025" y="1720645"/>
            <a:ext cx="4679704" cy="1477328"/>
          </a:xfrm>
          <a:prstGeom prst="rect">
            <a:avLst/>
          </a:prstGeom>
          <a:noFill/>
        </p:spPr>
        <p:txBody>
          <a:bodyPr wrap="square" rtlCol="0">
            <a:spAutoFit/>
          </a:bodyPr>
          <a:lstStyle/>
          <a:p>
            <a:r>
              <a:rPr lang="en-CA" dirty="0" err="1"/>
              <a:t>HistData</a:t>
            </a:r>
            <a:r>
              <a:rPr lang="en-CA" dirty="0"/>
              <a:t>::pollen, from the 1986 JSM Data Exposition: “Find something interesting here”</a:t>
            </a:r>
          </a:p>
          <a:p>
            <a:endParaRPr lang="en-CA" dirty="0"/>
          </a:p>
          <a:p>
            <a:r>
              <a:rPr lang="en-CA" dirty="0"/>
              <a:t>Zooming in on the </a:t>
            </a:r>
            <a:r>
              <a:rPr lang="en-CA" b="1" dirty="0"/>
              <a:t>right view </a:t>
            </a:r>
            <a:r>
              <a:rPr lang="en-CA" dirty="0"/>
              <a:t>reveals what no summary statistic could ever 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multivariate discovery: kinds of diabetes</a:t>
            </a:r>
          </a:p>
        </p:txBody>
      </p:sp>
      <p:sp>
        <p:nvSpPr>
          <p:cNvPr id="3" name="Content Placeholder 2"/>
          <p:cNvSpPr>
            <a:spLocks noGrp="1"/>
          </p:cNvSpPr>
          <p:nvPr>
            <p:ph sz="half" idx="1"/>
          </p:nvPr>
        </p:nvSpPr>
        <p:spPr/>
        <p:txBody>
          <a:bodyPr/>
          <a:lstStyle/>
          <a:p>
            <a:r>
              <a:t>Reaven &amp; Miller (1979) viewed glucose and insulin measures in 3D with PRIM-9</a:t>
            </a:r>
          </a:p>
          <a:p>
            <a:r>
              <a:t>The 3D view showed distinct groups that 2D plots had obscured</a:t>
            </a:r>
          </a:p>
          <a:p>
            <a:r>
              <a:t>The picture changed how the disease was classified</a:t>
            </a:r>
          </a:p>
        </p:txBody>
      </p:sp>
      <p:pic>
        <p:nvPicPr>
          <p:cNvPr id="4" name="Picture 3" descr="ReavenMiller-3d-annotated.png"/>
          <p:cNvPicPr>
            <a:picLocks noChangeAspect="1"/>
          </p:cNvPicPr>
          <p:nvPr/>
        </p:nvPicPr>
        <p:blipFill>
          <a:blip r:embed="rId3"/>
          <a:stretch>
            <a:fillRect/>
          </a:stretch>
        </p:blipFill>
        <p:spPr>
          <a:xfrm>
            <a:off x="6172200" y="1915849"/>
            <a:ext cx="5184648" cy="412358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 easy to fit, hard to see</a:t>
            </a:r>
          </a:p>
        </p:txBody>
      </p:sp>
      <p:sp>
        <p:nvSpPr>
          <p:cNvPr id="3" name="Content Placeholder 2"/>
          <p:cNvSpPr>
            <a:spLocks noGrp="1"/>
          </p:cNvSpPr>
          <p:nvPr>
            <p:ph sz="half" idx="1"/>
          </p:nvPr>
        </p:nvSpPr>
        <p:spPr/>
        <p:txBody>
          <a:bodyPr/>
          <a:lstStyle/>
          <a:p>
            <a:r>
              <a:rPr dirty="0"/>
              <a:t>With one response, we have a rich toolkit of plots for linear models</a:t>
            </a:r>
          </a:p>
          <a:p>
            <a:r>
              <a:rPr dirty="0"/>
              <a:t>With several responses, </a:t>
            </a:r>
            <a:r>
              <a:rPr dirty="0" err="1"/>
              <a:t>lm</a:t>
            </a:r>
            <a:r>
              <a:rPr dirty="0"/>
              <a:t>(</a:t>
            </a:r>
            <a:r>
              <a:rPr dirty="0" err="1"/>
              <a:t>cbind</a:t>
            </a:r>
            <a:r>
              <a:rPr dirty="0"/>
              <a:t>(y1, y2, y3) ~ ...) is just as easy to fit</a:t>
            </a:r>
            <a:endParaRPr lang="en-CA" dirty="0"/>
          </a:p>
          <a:p>
            <a:r>
              <a:rPr lang="en-CA" dirty="0"/>
              <a:t>Math is easy too: y </a:t>
            </a:r>
            <a:r>
              <a:rPr lang="en-CA" dirty="0">
                <a:latin typeface="Cambria Math" panose="02040503050406030204" pitchFamily="18" charset="0"/>
                <a:ea typeface="Cambria Math" panose="02040503050406030204" pitchFamily="18" charset="0"/>
              </a:rPr>
              <a:t>⤳ </a:t>
            </a:r>
            <a:r>
              <a:rPr lang="en-CA" b="1" dirty="0">
                <a:latin typeface="Cambria Math" panose="02040503050406030204" pitchFamily="18" charset="0"/>
                <a:ea typeface="Cambria Math" panose="02040503050406030204" pitchFamily="18" charset="0"/>
              </a:rPr>
              <a:t>Y</a:t>
            </a:r>
            <a:endParaRPr b="1" dirty="0"/>
          </a:p>
          <a:p>
            <a:r>
              <a:rPr dirty="0"/>
              <a:t>But the results arrive as tables of multivariate tests</a:t>
            </a:r>
          </a:p>
          <a:p>
            <a:r>
              <a:rPr dirty="0"/>
              <a:t>Goal: plots that show what those tests mean</a:t>
            </a:r>
            <a:r>
              <a:rPr lang="en-CA" dirty="0"/>
              <a:t>, visual inference?</a:t>
            </a:r>
            <a:endParaRPr dirty="0"/>
          </a:p>
        </p:txBody>
      </p:sp>
      <p:pic>
        <p:nvPicPr>
          <p:cNvPr id="4" name="Picture 3" descr="techniques-table.png"/>
          <p:cNvPicPr>
            <a:picLocks noChangeAspect="1"/>
          </p:cNvPicPr>
          <p:nvPr/>
        </p:nvPicPr>
        <p:blipFill>
          <a:blip r:embed="rId3"/>
          <a:stretch>
            <a:fillRect/>
          </a:stretch>
        </p:blipFill>
        <p:spPr>
          <a:xfrm>
            <a:off x="6270522" y="1508125"/>
            <a:ext cx="5184648" cy="3021599"/>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6.1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Penguins walking together">
            <a:extLst>
              <a:ext uri="{FF2B5EF4-FFF2-40B4-BE49-F238E27FC236}">
                <a16:creationId xmlns:a16="http://schemas.microsoft.com/office/drawing/2014/main" id="{3139B4EB-ECB5-A62E-A0B0-F5445F7851A8}"/>
              </a:ext>
            </a:extLst>
          </p:cNvPr>
          <p:cNvPicPr>
            <a:picLocks noChangeAspect="1"/>
          </p:cNvPicPr>
          <p:nvPr/>
        </p:nvPicPr>
        <p:blipFill>
          <a:blip r:embed="rId2"/>
          <a:srcRect t="15094"/>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8000" dirty="0">
                <a:solidFill>
                  <a:srgbClr val="FFFFFF"/>
                </a:solidFill>
              </a:rPr>
              <a:t>Seeing multivariate data</a:t>
            </a:r>
          </a:p>
        </p:txBody>
      </p:sp>
      <p:sp>
        <p:nvSpPr>
          <p:cNvPr id="3" name="Text Placeholder 2"/>
          <p:cNvSpPr>
            <a:spLocks noGrp="1"/>
          </p:cNvSpPr>
          <p:nvPr>
            <p:ph type="body" idx="1"/>
          </p:nvPr>
        </p:nvSpPr>
        <p:spPr>
          <a:xfrm>
            <a:off x="1100051" y="4072043"/>
            <a:ext cx="10058400" cy="1282707"/>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sz="2800" dirty="0">
                <a:solidFill>
                  <a:srgbClr val="FFFFFF"/>
                </a:solidFill>
              </a:rPr>
              <a:t>Data ellipses, penguins, and looking at many variables at once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The data ellipse summarizes means, spread &amp; correlation – a </a:t>
            </a:r>
            <a:r>
              <a:rPr lang="en-CA" b="1" dirty="0"/>
              <a:t>sufficient visual summary </a:t>
            </a:r>
            <a:r>
              <a:rPr lang="en-CA" dirty="0"/>
              <a:t>for </a:t>
            </a:r>
            <a:r>
              <a:rPr lang="en-CA" i="1" dirty="0"/>
              <a:t>N</a:t>
            </a:r>
            <a:r>
              <a:rPr lang="en-CA" dirty="0"/>
              <a:t>(µ, </a:t>
            </a:r>
            <a:r>
              <a:rPr lang="el-GR" dirty="0">
                <a:latin typeface="Cambria Math" panose="02040503050406030204" pitchFamily="18" charset="0"/>
                <a:ea typeface="Cambria Math" panose="02040503050406030204" pitchFamily="18" charset="0"/>
              </a:rPr>
              <a:t>Σ</a:t>
            </a:r>
            <a:r>
              <a:rPr lang="en-CA" dirty="0">
                <a:latin typeface="Cambria Math" panose="02040503050406030204" pitchFamily="18" charset="0"/>
                <a:ea typeface="Cambria Math" panose="02040503050406030204" pitchFamily="18" charset="0"/>
              </a:rPr>
              <a:t>)</a:t>
            </a:r>
            <a:endParaRPr lang="en-US" dirty="0"/>
          </a:p>
        </p:txBody>
      </p:sp>
      <p:sp>
        <p:nvSpPr>
          <p:cNvPr id="3" name="Content Placeholder 2"/>
          <p:cNvSpPr>
            <a:spLocks noGrp="1"/>
          </p:cNvSpPr>
          <p:nvPr>
            <p:ph idx="1"/>
          </p:nvPr>
        </p:nvSpPr>
        <p:spPr>
          <a:xfrm>
            <a:off x="838200" y="1643063"/>
            <a:ext cx="10515600" cy="4533900"/>
          </a:xfrm>
        </p:spPr>
        <p:txBody>
          <a:bodyPr/>
          <a:lstStyle/>
          <a:p>
            <a:r>
              <a:rPr lang="en-US" dirty="0"/>
              <a:t>Ellipsoid boundary: </a:t>
            </a:r>
            <a:r>
              <a:rPr lang="en-US" dirty="0" err="1"/>
              <a:t>Mahalanobis</a:t>
            </a:r>
            <a:r>
              <a:rPr lang="en-US" dirty="0"/>
              <a:t>  D</a:t>
            </a:r>
            <a:r>
              <a:rPr lang="en-US" baseline="-25000" dirty="0"/>
              <a:t>M</a:t>
            </a:r>
            <a:r>
              <a:rPr lang="en-US" baseline="30000" dirty="0"/>
              <a:t>2</a:t>
            </a:r>
            <a:r>
              <a:rPr lang="en-US" dirty="0"/>
              <a:t> (</a:t>
            </a:r>
            <a:r>
              <a:rPr lang="en-US" dirty="0" err="1"/>
              <a:t>y</a:t>
            </a:r>
            <a:r>
              <a:rPr lang="en-US" baseline="-25000" dirty="0" err="1"/>
              <a:t>i</a:t>
            </a:r>
            <a:r>
              <a:rPr lang="en-US" dirty="0"/>
              <a:t>) ~ </a:t>
            </a:r>
            <a:r>
              <a:rPr lang="en-US" dirty="0">
                <a:sym typeface="Symbol"/>
              </a:rPr>
              <a:t></a:t>
            </a:r>
            <a:r>
              <a:rPr lang="en-US" baseline="-25000" dirty="0">
                <a:sym typeface="Symbol"/>
              </a:rPr>
              <a:t>p</a:t>
            </a:r>
            <a:r>
              <a:rPr lang="en-US" baseline="30000" dirty="0">
                <a:sym typeface="Symbol"/>
              </a:rPr>
              <a:t>2</a:t>
            </a:r>
            <a:endParaRPr lang="en-US" baseline="30000" dirty="0"/>
          </a:p>
          <a:p>
            <a:pPr lvl="1"/>
            <a:r>
              <a:rPr lang="en-US" i="1" dirty="0"/>
              <a:t>p</a:t>
            </a:r>
            <a:r>
              <a:rPr lang="en-US" dirty="0"/>
              <a:t>=2: shadows generalize </a:t>
            </a:r>
            <a:r>
              <a:rPr lang="en-US" dirty="0" err="1"/>
              <a:t>univariate</a:t>
            </a:r>
            <a:r>
              <a:rPr lang="en-US" dirty="0"/>
              <a:t> </a:t>
            </a:r>
            <a:r>
              <a:rPr lang="en-US" dirty="0">
                <a:solidFill>
                  <a:srgbClr val="FF0000"/>
                </a:solidFill>
              </a:rPr>
              <a:t>confidence intervals</a:t>
            </a:r>
          </a:p>
          <a:p>
            <a:pPr lvl="1"/>
            <a:r>
              <a:rPr lang="en-US" dirty="0"/>
              <a:t>eccentricity: precision; </a:t>
            </a:r>
            <a:r>
              <a:rPr lang="en-US" dirty="0">
                <a:solidFill>
                  <a:srgbClr val="FF0000"/>
                </a:solidFill>
              </a:rPr>
              <a:t>visual estimate </a:t>
            </a:r>
            <a:r>
              <a:rPr lang="en-US" dirty="0"/>
              <a:t>of correlation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0201" y="2819400"/>
            <a:ext cx="6442667" cy="3669334"/>
          </a:xfrm>
          <a:prstGeom prst="rect">
            <a:avLst/>
          </a:prstGeom>
        </p:spPr>
      </p:pic>
      <p:sp>
        <p:nvSpPr>
          <p:cNvPr id="6" name="TextBox 5"/>
          <p:cNvSpPr txBox="1"/>
          <p:nvPr/>
        </p:nvSpPr>
        <p:spPr>
          <a:xfrm>
            <a:off x="10638696" y="3996098"/>
            <a:ext cx="1143000" cy="307777"/>
          </a:xfrm>
          <a:prstGeom prst="rect">
            <a:avLst/>
          </a:prstGeom>
          <a:noFill/>
        </p:spPr>
        <p:txBody>
          <a:bodyPr wrap="square" rtlCol="0">
            <a:spAutoFit/>
          </a:bodyPr>
          <a:lstStyle/>
          <a:p>
            <a:r>
              <a:rPr lang="en-US" sz="1400" dirty="0"/>
              <a:t>r </a:t>
            </a:r>
            <a:r>
              <a:rPr lang="en-US" sz="1400" dirty="0">
                <a:sym typeface="Symbol"/>
              </a:rPr>
              <a:t> 0.5 here</a:t>
            </a:r>
            <a:endParaRPr lang="en-US" sz="1400" dirty="0"/>
          </a:p>
        </p:txBody>
      </p:sp>
      <p:sp>
        <p:nvSpPr>
          <p:cNvPr id="7" name="Right Brace 6"/>
          <p:cNvSpPr/>
          <p:nvPr/>
        </p:nvSpPr>
        <p:spPr>
          <a:xfrm>
            <a:off x="10287000" y="3902336"/>
            <a:ext cx="274320" cy="495300"/>
          </a:xfrm>
          <a:prstGeom prst="rightBrace">
            <a:avLst>
              <a:gd name="adj1" fmla="val 65000"/>
              <a:gd name="adj2" fmla="val 50000"/>
            </a:avLst>
          </a:prstGeom>
          <a:ln w="31750">
            <a:solidFill>
              <a:srgbClr val="FF0000"/>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9551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par>
                          <p:cTn id="9" fill="hold">
                            <p:stCondLst>
                              <p:cond delay="0"/>
                            </p:stCondLst>
                            <p:childTnLst>
                              <p:par>
                                <p:cTn id="10" presetID="2" presetClass="entr" presetSubtype="2" fill="hold" grpId="0" nodeType="afterEffect">
                                  <p:stCondLst>
                                    <p:cond delay="10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the penguins</a:t>
            </a:r>
          </a:p>
        </p:txBody>
      </p:sp>
      <p:pic>
        <p:nvPicPr>
          <p:cNvPr id="3" name="Picture 2" descr="penguins-horst.png"/>
          <p:cNvPicPr>
            <a:picLocks noChangeAspect="1"/>
          </p:cNvPicPr>
          <p:nvPr/>
        </p:nvPicPr>
        <p:blipFill>
          <a:blip r:embed="rId3"/>
          <a:stretch>
            <a:fillRect/>
          </a:stretch>
        </p:blipFill>
        <p:spPr>
          <a:xfrm>
            <a:off x="841248" y="2129942"/>
            <a:ext cx="5120640" cy="3055315"/>
          </a:xfrm>
          <a:prstGeom prst="rect">
            <a:avLst/>
          </a:prstGeom>
        </p:spPr>
      </p:pic>
      <p:pic>
        <p:nvPicPr>
          <p:cNvPr id="4" name="Picture 3" descr="fig-peng-ggplot1-1.png"/>
          <p:cNvPicPr>
            <a:picLocks noChangeAspect="1"/>
          </p:cNvPicPr>
          <p:nvPr/>
        </p:nvPicPr>
        <p:blipFill>
          <a:blip r:embed="rId4"/>
          <a:stretch>
            <a:fillRect/>
          </a:stretch>
        </p:blipFill>
        <p:spPr>
          <a:xfrm>
            <a:off x="6236208" y="1828800"/>
            <a:ext cx="5120640" cy="365760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Three species, four size measures: bill length, bill depth, flipper length, body mass. Artwork: Allison Horst.</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4.17, 4.19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Simpson's paradox: marginal </a:t>
            </a:r>
            <a:r>
              <a:rPr lang="en-CA" dirty="0"/>
              <a:t>&amp;</a:t>
            </a:r>
            <a:r>
              <a:rPr dirty="0"/>
              <a:t> conditional relations</a:t>
            </a:r>
          </a:p>
        </p:txBody>
      </p:sp>
      <p:pic>
        <p:nvPicPr>
          <p:cNvPr id="6" name="Ignoring species" descr="peng-simpsons-1-ignoring.png"/>
          <p:cNvPicPr>
            <a:picLocks noChangeAspect="1"/>
          </p:cNvPicPr>
          <p:nvPr/>
        </p:nvPicPr>
        <p:blipFill>
          <a:blip r:embed="rId3"/>
          <a:stretch>
            <a:fillRect/>
          </a:stretch>
        </p:blipFill>
        <p:spPr>
          <a:xfrm>
            <a:off x="841248" y="1639531"/>
            <a:ext cx="3505200" cy="3505199"/>
          </a:xfrm>
          <a:prstGeom prst="rect">
            <a:avLst/>
          </a:prstGeom>
        </p:spPr>
      </p:pic>
      <p:pic>
        <p:nvPicPr>
          <p:cNvPr id="7" name="By species" descr="peng-simpsons-2-by.png"/>
          <p:cNvPicPr>
            <a:picLocks noChangeAspect="1"/>
          </p:cNvPicPr>
          <p:nvPr/>
        </p:nvPicPr>
        <p:blipFill>
          <a:blip r:embed="rId4"/>
          <a:stretch>
            <a:fillRect/>
          </a:stretch>
        </p:blipFill>
        <p:spPr>
          <a:xfrm>
            <a:off x="4346448" y="1639531"/>
            <a:ext cx="3505200" cy="3505199"/>
          </a:xfrm>
          <a:prstGeom prst="rect">
            <a:avLst/>
          </a:prstGeom>
        </p:spPr>
      </p:pic>
      <p:pic>
        <p:nvPicPr>
          <p:cNvPr id="8" name="Within species" descr="peng-simpsons-3-within.png"/>
          <p:cNvPicPr>
            <a:picLocks noChangeAspect="1"/>
          </p:cNvPicPr>
          <p:nvPr/>
        </p:nvPicPr>
        <p:blipFill>
          <a:blip r:embed="rId5"/>
          <a:stretch>
            <a:fillRect/>
          </a:stretch>
        </p:blipFill>
        <p:spPr>
          <a:xfrm>
            <a:off x="7851648" y="1639531"/>
            <a:ext cx="3505200" cy="3505199"/>
          </a:xfrm>
          <a:prstGeom prst="rect">
            <a:avLst/>
          </a:prstGeom>
        </p:spPr>
      </p:pic>
      <p:sp>
        <p:nvSpPr>
          <p:cNvPr id="4" name="TextBox 3"/>
          <p:cNvSpPr txBox="1"/>
          <p:nvPr/>
        </p:nvSpPr>
        <p:spPr>
          <a:xfrm>
            <a:off x="1077222" y="5249690"/>
            <a:ext cx="3681591" cy="646331"/>
          </a:xfrm>
          <a:prstGeom prst="rect">
            <a:avLst/>
          </a:prstGeom>
          <a:noFill/>
        </p:spPr>
        <p:txBody>
          <a:bodyPr wrap="square">
            <a:spAutoFit/>
          </a:bodyPr>
          <a:lstStyle/>
          <a:p>
            <a:r>
              <a:rPr sz="1800" dirty="0"/>
              <a:t>Ignoring species, longer bills </a:t>
            </a:r>
            <a:r>
              <a:rPr lang="en-CA" dirty="0"/>
              <a:t>are</a:t>
            </a:r>
            <a:r>
              <a:rPr sz="1800" dirty="0"/>
              <a:t> shallower </a:t>
            </a:r>
            <a:endParaRPr lang="en-CA" sz="1800"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4.23</a:t>
            </a:r>
          </a:p>
        </p:txBody>
      </p:sp>
      <p:sp>
        <p:nvSpPr>
          <p:cNvPr id="3" name="TextBox 2">
            <a:extLst>
              <a:ext uri="{FF2B5EF4-FFF2-40B4-BE49-F238E27FC236}">
                <a16:creationId xmlns:a16="http://schemas.microsoft.com/office/drawing/2014/main" id="{88DD035A-BBF7-B55F-5790-B32F05AA7F39}"/>
              </a:ext>
            </a:extLst>
          </p:cNvPr>
          <p:cNvSpPr txBox="1"/>
          <p:nvPr/>
        </p:nvSpPr>
        <p:spPr>
          <a:xfrm>
            <a:off x="8318091" y="5249690"/>
            <a:ext cx="2920180" cy="646331"/>
          </a:xfrm>
          <a:prstGeom prst="rect">
            <a:avLst/>
          </a:prstGeom>
          <a:noFill/>
        </p:spPr>
        <p:txBody>
          <a:bodyPr wrap="square" rtlCol="0">
            <a:spAutoFit/>
          </a:bodyPr>
          <a:lstStyle/>
          <a:p>
            <a:r>
              <a:rPr lang="en-CA" dirty="0"/>
              <a:t>Within species shows diffs in slopes &amp; covariances</a:t>
            </a:r>
          </a:p>
        </p:txBody>
      </p:sp>
      <p:sp>
        <p:nvSpPr>
          <p:cNvPr id="9" name="TextBox 8">
            <a:extLst>
              <a:ext uri="{FF2B5EF4-FFF2-40B4-BE49-F238E27FC236}">
                <a16:creationId xmlns:a16="http://schemas.microsoft.com/office/drawing/2014/main" id="{84C0DE35-D87E-44B9-F0AB-884345159189}"/>
              </a:ext>
            </a:extLst>
          </p:cNvPr>
          <p:cNvSpPr txBox="1"/>
          <p:nvPr/>
        </p:nvSpPr>
        <p:spPr>
          <a:xfrm>
            <a:off x="4886629" y="5249690"/>
            <a:ext cx="3092835" cy="646331"/>
          </a:xfrm>
          <a:prstGeom prst="rect">
            <a:avLst/>
          </a:prstGeom>
          <a:noFill/>
        </p:spPr>
        <p:txBody>
          <a:bodyPr wrap="square" rtlCol="0">
            <a:spAutoFit/>
          </a:bodyPr>
          <a:lstStyle/>
          <a:p>
            <a:r>
              <a:rPr lang="en-CA" dirty="0"/>
              <a:t>By species, relation is positive for each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anim calcmode="lin" valueType="num">
                                      <p:cBhvr additive="base">
                                        <p:cTn id="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2" presetClass="entr" presetSubtype="4"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How to visualize </a:t>
            </a:r>
            <a:r>
              <a:rPr lang="en-CA" i="1" dirty="0"/>
              <a:t>p</a:t>
            </a:r>
            <a:r>
              <a:rPr lang="en-CA" dirty="0"/>
              <a:t> &gt; 2 variables in Flatland?</a:t>
            </a:r>
            <a:br>
              <a:rPr lang="en-CA" dirty="0"/>
            </a:br>
            <a:r>
              <a:rPr sz="2800" dirty="0"/>
              <a:t>Scatterplot matrices: all pairs at once</a:t>
            </a:r>
          </a:p>
        </p:txBody>
      </p:sp>
      <p:sp>
        <p:nvSpPr>
          <p:cNvPr id="3" name="Content Placeholder 2"/>
          <p:cNvSpPr>
            <a:spLocks noGrp="1"/>
          </p:cNvSpPr>
          <p:nvPr>
            <p:ph sz="half" idx="1"/>
          </p:nvPr>
        </p:nvSpPr>
        <p:spPr>
          <a:xfrm>
            <a:off x="838200" y="1643063"/>
            <a:ext cx="4304071" cy="4533900"/>
          </a:xfrm>
        </p:spPr>
        <p:txBody>
          <a:bodyPr/>
          <a:lstStyle/>
          <a:p>
            <a:r>
              <a:rPr dirty="0"/>
              <a:t>Every pairwise view in one display</a:t>
            </a:r>
          </a:p>
          <a:p>
            <a:r>
              <a:rPr dirty="0"/>
              <a:t>Data ellipses </a:t>
            </a:r>
            <a:r>
              <a:rPr lang="en-CA" dirty="0"/>
              <a:t>&amp;</a:t>
            </a:r>
            <a:r>
              <a:rPr dirty="0"/>
              <a:t> regression lines by species</a:t>
            </a:r>
          </a:p>
          <a:p>
            <a:r>
              <a:rPr dirty="0"/>
              <a:t>Works well up to a moderate number of variables</a:t>
            </a:r>
            <a:endParaRPr lang="en-CA" dirty="0"/>
          </a:p>
          <a:p>
            <a:r>
              <a:rPr lang="en-CA" b="1" dirty="0"/>
              <a:t>Visual thinning</a:t>
            </a:r>
            <a:r>
              <a:rPr lang="en-CA" dirty="0"/>
              <a:t>: data </a:t>
            </a:r>
            <a:r>
              <a:rPr lang="en-CA" dirty="0">
                <a:sym typeface="Symbol" panose="05050102010706020507" pitchFamily="18" charset="2"/>
              </a:rPr>
              <a:t></a:t>
            </a:r>
            <a:r>
              <a:rPr lang="en-CA" dirty="0"/>
              <a:t> ellipses + regression lines</a:t>
            </a:r>
            <a:endParaRPr dirty="0"/>
          </a:p>
        </p:txBody>
      </p:sp>
      <p:pic>
        <p:nvPicPr>
          <p:cNvPr id="4" name="Picture 3" descr="fig-peng-spm-1.png"/>
          <p:cNvPicPr>
            <a:picLocks noChangeAspect="1"/>
          </p:cNvPicPr>
          <p:nvPr/>
        </p:nvPicPr>
        <p:blipFill>
          <a:blip r:embed="rId3"/>
          <a:stretch>
            <a:fillRect/>
          </a:stretch>
        </p:blipFill>
        <p:spPr>
          <a:xfrm>
            <a:off x="5864353" y="1508125"/>
            <a:ext cx="5088194" cy="5088194"/>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4.31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b="1" dirty="0"/>
              <a:t>Visual thinning</a:t>
            </a:r>
            <a:r>
              <a:rPr dirty="0"/>
              <a:t>: show less to see more</a:t>
            </a:r>
            <a:br>
              <a:rPr lang="en-CA" dirty="0"/>
            </a:br>
            <a:r>
              <a:rPr lang="en-CA" b="1" dirty="0"/>
              <a:t>Effect order</a:t>
            </a:r>
            <a:r>
              <a:rPr lang="en-CA" dirty="0"/>
              <a:t>: order variables to see what you want to show </a:t>
            </a:r>
            <a:endParaRPr dirty="0"/>
          </a:p>
        </p:txBody>
      </p:sp>
      <p:sp>
        <p:nvSpPr>
          <p:cNvPr id="3" name="Content Placeholder 2"/>
          <p:cNvSpPr>
            <a:spLocks noGrp="1"/>
          </p:cNvSpPr>
          <p:nvPr>
            <p:ph sz="half" idx="1"/>
          </p:nvPr>
        </p:nvSpPr>
        <p:spPr>
          <a:xfrm>
            <a:off x="838200" y="2046185"/>
            <a:ext cx="5181600" cy="3194408"/>
          </a:xfrm>
        </p:spPr>
        <p:txBody>
          <a:bodyPr/>
          <a:lstStyle/>
          <a:p>
            <a:r>
              <a:rPr dirty="0"/>
              <a:t>With many variables, replace the points by a rendering of each correlation</a:t>
            </a:r>
          </a:p>
          <a:p>
            <a:r>
              <a:rPr dirty="0"/>
              <a:t>Order the variables so that similar ones are adjacent</a:t>
            </a:r>
          </a:p>
          <a:p>
            <a:r>
              <a:rPr dirty="0"/>
              <a:t>Here: ordered by the angles of the variable vectors from a PCA</a:t>
            </a:r>
          </a:p>
        </p:txBody>
      </p:sp>
      <p:pic>
        <p:nvPicPr>
          <p:cNvPr id="4" name="Picture 3" descr="fig-crime-corrplot-AOE-1.png"/>
          <p:cNvPicPr>
            <a:picLocks noChangeAspect="1"/>
          </p:cNvPicPr>
          <p:nvPr/>
        </p:nvPicPr>
        <p:blipFill>
          <a:blip r:embed="rId3"/>
          <a:stretch>
            <a:fillRect/>
          </a:stretch>
        </p:blipFill>
        <p:spPr>
          <a:xfrm>
            <a:off x="6569964" y="1783080"/>
            <a:ext cx="4389120" cy="4389120"/>
          </a:xfrm>
          <a:prstGeom prst="rect">
            <a:avLst/>
          </a:prstGeom>
        </p:spPr>
      </p:pic>
      <p:pic>
        <p:nvPicPr>
          <p:cNvPr id="7" name="Picture 6" descr="fig-mtcars-corrplot-pcaorder-1.png">
            <a:extLst>
              <a:ext uri="{FF2B5EF4-FFF2-40B4-BE49-F238E27FC236}">
                <a16:creationId xmlns:a16="http://schemas.microsoft.com/office/drawing/2014/main" id="{FFC74894-A605-75C8-700C-990AEB2E5F61}"/>
              </a:ext>
            </a:extLst>
          </p:cNvPr>
          <p:cNvPicPr>
            <a:picLocks noChangeAspect="1"/>
          </p:cNvPicPr>
          <p:nvPr/>
        </p:nvPicPr>
        <p:blipFill>
          <a:blip r:embed="rId4"/>
          <a:stretch>
            <a:fillRect/>
          </a:stretch>
        </p:blipFill>
        <p:spPr>
          <a:xfrm>
            <a:off x="6569964" y="1585800"/>
            <a:ext cx="5089320" cy="50893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 coordinates: one line per penguin</a:t>
            </a:r>
          </a:p>
        </p:txBody>
      </p:sp>
      <p:pic>
        <p:nvPicPr>
          <p:cNvPr id="3" name="Picture 2" descr="fig-peng-ggpcp2-1.png"/>
          <p:cNvPicPr>
            <a:picLocks noChangeAspect="1"/>
          </p:cNvPicPr>
          <p:nvPr/>
        </p:nvPicPr>
        <p:blipFill>
          <a:blip r:embed="rId3"/>
          <a:stretch>
            <a:fillRect/>
          </a:stretch>
        </p:blipFill>
        <p:spPr>
          <a:xfrm>
            <a:off x="751037" y="1622742"/>
            <a:ext cx="5897879" cy="39319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4.40</a:t>
            </a:r>
          </a:p>
        </p:txBody>
      </p:sp>
      <p:sp>
        <p:nvSpPr>
          <p:cNvPr id="6" name="TextBox 5">
            <a:extLst>
              <a:ext uri="{FF2B5EF4-FFF2-40B4-BE49-F238E27FC236}">
                <a16:creationId xmlns:a16="http://schemas.microsoft.com/office/drawing/2014/main" id="{99500E15-93E9-6301-71FE-84750F373D4D}"/>
              </a:ext>
            </a:extLst>
          </p:cNvPr>
          <p:cNvSpPr txBox="1"/>
          <p:nvPr/>
        </p:nvSpPr>
        <p:spPr>
          <a:xfrm>
            <a:off x="7197213" y="1691148"/>
            <a:ext cx="4326193" cy="1200329"/>
          </a:xfrm>
          <a:prstGeom prst="rect">
            <a:avLst/>
          </a:prstGeom>
          <a:noFill/>
        </p:spPr>
        <p:txBody>
          <a:bodyPr wrap="square" rtlCol="0">
            <a:spAutoFit/>
          </a:bodyPr>
          <a:lstStyle/>
          <a:p>
            <a:r>
              <a:rPr lang="en-CA" dirty="0"/>
              <a:t>Each observation is a line across the variable axes</a:t>
            </a:r>
          </a:p>
          <a:p>
            <a:pPr marL="285750" indent="-285750">
              <a:buFont typeface="Arial" panose="020B0604020202020204" pitchFamily="34" charset="0"/>
              <a:buChar char="•"/>
            </a:pPr>
            <a:r>
              <a:rPr lang="en-CA" dirty="0"/>
              <a:t>Groups appear as bundles</a:t>
            </a:r>
          </a:p>
          <a:p>
            <a:pPr marL="285750" indent="-285750">
              <a:buFont typeface="Arial" panose="020B0604020202020204" pitchFamily="34" charset="0"/>
              <a:buChar char="•"/>
            </a:pPr>
            <a:r>
              <a:rPr lang="en-CA" dirty="0"/>
              <a:t>Easy to extend to more variables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Animated tours: moving through projections</a:t>
            </a:r>
          </a:p>
        </p:txBody>
      </p:sp>
      <p:pic>
        <p:nvPicPr>
          <p:cNvPr id="3" name="Picture 2" descr="peng-tourr-grand.gif"/>
          <p:cNvPicPr>
            <a:picLocks noChangeAspect="1"/>
          </p:cNvPicPr>
          <p:nvPr/>
        </p:nvPicPr>
        <p:blipFill>
          <a:blip r:embed="rId3"/>
          <a:stretch>
            <a:fillRect/>
          </a:stretch>
        </p:blipFill>
        <p:spPr>
          <a:xfrm>
            <a:off x="838200" y="1645285"/>
            <a:ext cx="4785852" cy="4785852"/>
          </a:xfrm>
          <a:prstGeom prst="rect">
            <a:avLst/>
          </a:prstGeom>
        </p:spPr>
      </p:pic>
      <p:sp>
        <p:nvSpPr>
          <p:cNvPr id="4" name="TextBox 3"/>
          <p:cNvSpPr txBox="1"/>
          <p:nvPr/>
        </p:nvSpPr>
        <p:spPr>
          <a:xfrm>
            <a:off x="5955300" y="1645285"/>
            <a:ext cx="5794248" cy="2308324"/>
          </a:xfrm>
          <a:prstGeom prst="rect">
            <a:avLst/>
          </a:prstGeom>
          <a:noFill/>
        </p:spPr>
        <p:txBody>
          <a:bodyPr wrap="square">
            <a:spAutoFit/>
          </a:bodyPr>
          <a:lstStyle/>
          <a:p>
            <a:r>
              <a:rPr lang="en-CA" sz="1800" dirty="0"/>
              <a:t>Animation adds one more dimension to what we can see</a:t>
            </a:r>
          </a:p>
          <a:p>
            <a:endParaRPr lang="en-CA" sz="1800" dirty="0"/>
          </a:p>
          <a:p>
            <a:r>
              <a:rPr sz="1800" dirty="0"/>
              <a:t>A </a:t>
            </a:r>
            <a:r>
              <a:rPr sz="1800" b="1" dirty="0"/>
              <a:t>grand tour </a:t>
            </a:r>
            <a:r>
              <a:rPr sz="1800" dirty="0"/>
              <a:t>shows a smooth sequence of 2D projections</a:t>
            </a:r>
            <a:endParaRPr lang="en-CA" dirty="0"/>
          </a:p>
          <a:p>
            <a:pPr marL="285750" indent="-285750">
              <a:buFont typeface="Arial" panose="020B0604020202020204" pitchFamily="34" charset="0"/>
              <a:buChar char="•"/>
            </a:pPr>
            <a:r>
              <a:rPr lang="en-CA" dirty="0"/>
              <a:t>As in biplot, variable vectors show where you are</a:t>
            </a:r>
            <a:endParaRPr lang="en-CA" sz="1800" dirty="0"/>
          </a:p>
          <a:p>
            <a:pPr marL="285750" indent="-285750">
              <a:buFont typeface="Arial" panose="020B0604020202020204" pitchFamily="34" charset="0"/>
              <a:buChar char="•"/>
            </a:pPr>
            <a:endParaRPr lang="en-CA" sz="1800" dirty="0"/>
          </a:p>
          <a:p>
            <a:r>
              <a:rPr lang="en-CA" dirty="0"/>
              <a:t>A</a:t>
            </a:r>
            <a:r>
              <a:rPr sz="1800" dirty="0"/>
              <a:t> </a:t>
            </a:r>
            <a:r>
              <a:rPr sz="1800" b="1" dirty="0"/>
              <a:t>guided tour </a:t>
            </a:r>
            <a:r>
              <a:rPr sz="1800" dirty="0"/>
              <a:t>steers toward interesting ones.</a:t>
            </a:r>
            <a:endParaRPr lang="en-CA" sz="1800" dirty="0"/>
          </a:p>
          <a:p>
            <a:pPr marL="285750" indent="-285750">
              <a:buFont typeface="Arial" panose="020B0604020202020204" pitchFamily="34" charset="0"/>
              <a:buChar char="•"/>
            </a:pPr>
            <a:r>
              <a:rPr lang="en-CA" dirty="0"/>
              <a:t>Optimize an index: separation of groups, anomalies</a:t>
            </a:r>
            <a:endParaRPr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Multivariate outliers: which penguins are unusual?</a:t>
            </a:r>
          </a:p>
        </p:txBody>
      </p:sp>
      <p:pic>
        <p:nvPicPr>
          <p:cNvPr id="3" name="Picture 2" descr="fig-peng-cqplot-1.png"/>
          <p:cNvPicPr>
            <a:picLocks noChangeAspect="1"/>
          </p:cNvPicPr>
          <p:nvPr/>
        </p:nvPicPr>
        <p:blipFill>
          <a:blip r:embed="rId3"/>
          <a:stretch>
            <a:fillRect/>
          </a:stretch>
        </p:blipFill>
        <p:spPr>
          <a:xfrm>
            <a:off x="841248" y="1828800"/>
            <a:ext cx="5120640" cy="3657600"/>
          </a:xfrm>
          <a:prstGeom prst="rect">
            <a:avLst/>
          </a:prstGeom>
        </p:spPr>
      </p:pic>
      <p:pic>
        <p:nvPicPr>
          <p:cNvPr id="4" name="Picture 3" descr="fig-peng-ggplot-out-1.png"/>
          <p:cNvPicPr>
            <a:picLocks noChangeAspect="1"/>
          </p:cNvPicPr>
          <p:nvPr/>
        </p:nvPicPr>
        <p:blipFill>
          <a:blip r:embed="rId4"/>
          <a:stretch>
            <a:fillRect/>
          </a:stretch>
        </p:blipFill>
        <p:spPr>
          <a:xfrm>
            <a:off x="6236208" y="1828800"/>
            <a:ext cx="5120640" cy="365760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Squared Mahalanobis distances against chi-square quantiles. We will meet these birds again.</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4.26, 4.27</a:t>
            </a:r>
          </a:p>
        </p:txBody>
      </p:sp>
      <p:sp>
        <p:nvSpPr>
          <p:cNvPr id="7" name="TextBox 6">
            <a:extLst>
              <a:ext uri="{FF2B5EF4-FFF2-40B4-BE49-F238E27FC236}">
                <a16:creationId xmlns:a16="http://schemas.microsoft.com/office/drawing/2014/main" id="{FB358BA3-F292-4081-E9FB-0C466F3C6D1E}"/>
              </a:ext>
            </a:extLst>
          </p:cNvPr>
          <p:cNvSpPr txBox="1"/>
          <p:nvPr/>
        </p:nvSpPr>
        <p:spPr>
          <a:xfrm>
            <a:off x="10610357" y="2713703"/>
            <a:ext cx="740395" cy="307777"/>
          </a:xfrm>
          <a:prstGeom prst="rect">
            <a:avLst/>
          </a:prstGeom>
          <a:noFill/>
        </p:spPr>
        <p:txBody>
          <a:bodyPr wrap="none" rtlCol="0">
            <a:spAutoFit/>
          </a:bodyPr>
          <a:lstStyle/>
          <a:p>
            <a:r>
              <a:rPr lang="en-CA" sz="1400" dirty="0"/>
              <a:t>Cyrano</a:t>
            </a:r>
          </a:p>
        </p:txBody>
      </p:sp>
      <p:sp>
        <p:nvSpPr>
          <p:cNvPr id="9" name="TextBox 8">
            <a:extLst>
              <a:ext uri="{FF2B5EF4-FFF2-40B4-BE49-F238E27FC236}">
                <a16:creationId xmlns:a16="http://schemas.microsoft.com/office/drawing/2014/main" id="{D6554C26-2543-8F04-4FC4-10FCF38BD90E}"/>
              </a:ext>
            </a:extLst>
          </p:cNvPr>
          <p:cNvSpPr txBox="1"/>
          <p:nvPr/>
        </p:nvSpPr>
        <p:spPr>
          <a:xfrm>
            <a:off x="6751196" y="2130740"/>
            <a:ext cx="1042273" cy="307777"/>
          </a:xfrm>
          <a:prstGeom prst="rect">
            <a:avLst/>
          </a:prstGeom>
          <a:noFill/>
        </p:spPr>
        <p:txBody>
          <a:bodyPr wrap="none" rtlCol="0">
            <a:spAutoFit/>
          </a:bodyPr>
          <a:lstStyle/>
          <a:p>
            <a:r>
              <a:rPr lang="en-CA" sz="1400" dirty="0"/>
              <a:t>Hook Nose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Flatland and </a:t>
            </a:r>
            <a:r>
              <a:rPr dirty="0" err="1"/>
              <a:t>Spaceland</a:t>
            </a:r>
            <a:r>
              <a:rPr dirty="0"/>
              <a:t>: dimension reduction</a:t>
            </a:r>
          </a:p>
        </p:txBody>
      </p:sp>
      <p:sp>
        <p:nvSpPr>
          <p:cNvPr id="3" name="Text Placeholder 2"/>
          <p:cNvSpPr>
            <a:spLocks noGrp="1"/>
          </p:cNvSpPr>
          <p:nvPr>
            <p:ph type="body" idx="1"/>
          </p:nvPr>
        </p:nvSpPr>
        <p:spPr/>
        <p:txBody>
          <a:bodyPr/>
          <a:lstStyle/>
          <a:p>
            <a:r>
              <a:t>PCA, biplots, and nonlinear methods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PCA: rotate to the views that show the most</a:t>
            </a:r>
            <a:r>
              <a:rPr lang="en-CA" dirty="0"/>
              <a:t> variance</a:t>
            </a:r>
            <a:endParaRPr dirty="0"/>
          </a:p>
        </p:txBody>
      </p:sp>
      <p:sp>
        <p:nvSpPr>
          <p:cNvPr id="4" name="TextBox 3"/>
          <p:cNvSpPr txBox="1"/>
          <p:nvPr/>
        </p:nvSpPr>
        <p:spPr>
          <a:xfrm>
            <a:off x="5943600" y="2194560"/>
            <a:ext cx="5394960" cy="2926080"/>
          </a:xfrm>
          <a:prstGeom prst="rect">
            <a:avLst/>
          </a:prstGeom>
          <a:noFill/>
        </p:spPr>
        <p:txBody>
          <a:bodyPr wrap="square">
            <a:spAutoFit/>
          </a:bodyPr>
          <a:lstStyle/>
          <a:p>
            <a:r>
              <a:rPr sz="2400"/>
              <a:t>PCA is a rotation of the axes: PC1 lies along the direction of greatest variance, PC2 is orthogonal to it.</a:t>
            </a:r>
          </a:p>
          <a:p>
            <a:pPr>
              <a:spcBef>
                <a:spcPts val="1800"/>
              </a:spcBef>
            </a:pPr>
            <a:r>
              <a:rPr sz="2400" b="0"/>
              <a:t>Outliers typically appear on the </a:t>
            </a:r>
            <a:r>
              <a:rPr sz="2400" b="1"/>
              <a:t>smallest</a:t>
            </a:r>
            <a:r>
              <a:rPr sz="2400" b="0"/>
              <a:t> dimensions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5.35</a:t>
            </a:r>
          </a:p>
        </p:txBody>
      </p:sp>
      <p:pic>
        <p:nvPicPr>
          <p:cNvPr id="6" name="Picture 5" descr="outlier-demo.gif"/>
          <p:cNvPicPr>
            <a:picLocks noChangeAspect="1"/>
          </p:cNvPicPr>
          <p:nvPr/>
        </p:nvPicPr>
        <p:blipFill>
          <a:blip r:embed="rId3"/>
          <a:stretch>
            <a:fillRect/>
          </a:stretch>
        </p:blipFill>
        <p:spPr>
          <a:xfrm>
            <a:off x="841248" y="1600200"/>
            <a:ext cx="4663440" cy="46634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PCA fitted by springs</a:t>
            </a:r>
            <a:r>
              <a:rPr lang="en-CA" dirty="0"/>
              <a:t>: Physical analog</a:t>
            </a:r>
            <a:endParaRPr dirty="0"/>
          </a:p>
        </p:txBody>
      </p:sp>
      <p:pic>
        <p:nvPicPr>
          <p:cNvPr id="3" name="Picture 2" descr="pca-springs-cropped.gif"/>
          <p:cNvPicPr>
            <a:picLocks noChangeAspect="1"/>
          </p:cNvPicPr>
          <p:nvPr/>
        </p:nvPicPr>
        <p:blipFill>
          <a:blip r:embed="rId3"/>
          <a:stretch>
            <a:fillRect/>
          </a:stretch>
        </p:blipFill>
        <p:spPr>
          <a:xfrm>
            <a:off x="641873" y="1522254"/>
            <a:ext cx="5454127" cy="481869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5.5</a:t>
            </a:r>
          </a:p>
        </p:txBody>
      </p:sp>
      <p:sp>
        <p:nvSpPr>
          <p:cNvPr id="6" name="TextBox 5">
            <a:extLst>
              <a:ext uri="{FF2B5EF4-FFF2-40B4-BE49-F238E27FC236}">
                <a16:creationId xmlns:a16="http://schemas.microsoft.com/office/drawing/2014/main" id="{698B2365-5A5E-F011-8658-438DB0B23149}"/>
              </a:ext>
            </a:extLst>
          </p:cNvPr>
          <p:cNvSpPr txBox="1"/>
          <p:nvPr/>
        </p:nvSpPr>
        <p:spPr>
          <a:xfrm>
            <a:off x="6702014" y="1615705"/>
            <a:ext cx="4875713" cy="3139321"/>
          </a:xfrm>
          <a:prstGeom prst="rect">
            <a:avLst/>
          </a:prstGeom>
          <a:noFill/>
        </p:spPr>
        <p:txBody>
          <a:bodyPr wrap="square" rtlCol="0">
            <a:spAutoFit/>
          </a:bodyPr>
          <a:lstStyle/>
          <a:p>
            <a:r>
              <a:rPr lang="en-CA" dirty="0"/>
              <a:t>Least squares </a:t>
            </a:r>
            <a:r>
              <a:rPr lang="en-CA" dirty="0">
                <a:sym typeface="Symbol" panose="05050102010706020507" pitchFamily="18" charset="2"/>
              </a:rPr>
              <a:t> observations connected by springs </a:t>
            </a:r>
          </a:p>
          <a:p>
            <a:endParaRPr lang="en-CA" dirty="0">
              <a:sym typeface="Symbol" panose="05050102010706020507" pitchFamily="18" charset="2"/>
            </a:endParaRPr>
          </a:p>
          <a:p>
            <a:r>
              <a:rPr lang="en-CA" dirty="0">
                <a:sym typeface="Symbol" panose="05050102010706020507" pitchFamily="18" charset="2"/>
              </a:rPr>
              <a:t>For PCA, connect a rigid line to the points by springs</a:t>
            </a:r>
          </a:p>
          <a:p>
            <a:endParaRPr lang="en-CA" dirty="0">
              <a:sym typeface="Symbol" panose="05050102010706020507" pitchFamily="18" charset="2"/>
            </a:endParaRPr>
          </a:p>
          <a:p>
            <a:r>
              <a:rPr lang="en-CA" dirty="0"/>
              <a:t>Springs pull the line in proportion to squared distance</a:t>
            </a:r>
          </a:p>
          <a:p>
            <a:endParaRPr lang="en-CA" dirty="0"/>
          </a:p>
          <a:p>
            <a:r>
              <a:rPr lang="en-CA" dirty="0"/>
              <a:t>It settles on the first principal component</a:t>
            </a:r>
            <a:endParaRPr lang="en-CA" dirty="0">
              <a:sym typeface="Symbol" panose="05050102010706020507" pitchFamily="18" charset="2"/>
            </a:endParaRPr>
          </a:p>
          <a:p>
            <a:endParaRPr lang="en-CA"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Biplots: observations and variables in one view</a:t>
            </a:r>
          </a:p>
        </p:txBody>
      </p:sp>
      <p:sp>
        <p:nvSpPr>
          <p:cNvPr id="3" name="Content Placeholder 2"/>
          <p:cNvSpPr>
            <a:spLocks noGrp="1"/>
          </p:cNvSpPr>
          <p:nvPr>
            <p:ph sz="half" idx="1"/>
          </p:nvPr>
        </p:nvSpPr>
        <p:spPr>
          <a:xfrm>
            <a:off x="838200" y="1643063"/>
            <a:ext cx="4754078" cy="4533900"/>
          </a:xfrm>
        </p:spPr>
        <p:txBody>
          <a:bodyPr/>
          <a:lstStyle/>
          <a:p>
            <a:r>
              <a:rPr b="1" dirty="0"/>
              <a:t>Points</a:t>
            </a:r>
            <a:r>
              <a:rPr dirty="0"/>
              <a:t>: observations (US states) in the PC1-PC2 plane</a:t>
            </a:r>
          </a:p>
          <a:p>
            <a:r>
              <a:rPr b="1" dirty="0"/>
              <a:t>Vectors</a:t>
            </a:r>
            <a:r>
              <a:rPr dirty="0"/>
              <a:t>: variables (crime rates)</a:t>
            </a:r>
          </a:p>
          <a:p>
            <a:pPr lvl="1"/>
            <a:r>
              <a:rPr b="1" dirty="0"/>
              <a:t>Angles</a:t>
            </a:r>
            <a:r>
              <a:rPr dirty="0"/>
              <a:t> between vectors approximate correlations</a:t>
            </a:r>
          </a:p>
          <a:p>
            <a:pPr lvl="1"/>
            <a:r>
              <a:rPr b="1" dirty="0"/>
              <a:t>Projecting</a:t>
            </a:r>
            <a:r>
              <a:rPr dirty="0"/>
              <a:t> a point on a vector approximates its value on that variable</a:t>
            </a:r>
            <a:endParaRPr lang="en-CA" dirty="0"/>
          </a:p>
          <a:p>
            <a:r>
              <a:rPr lang="en-CA" dirty="0"/>
              <a:t>Interpretation:</a:t>
            </a:r>
          </a:p>
          <a:p>
            <a:pPr lvl="1"/>
            <a:r>
              <a:rPr lang="en-CA" dirty="0"/>
              <a:t>PC1: Overall crime rate</a:t>
            </a:r>
          </a:p>
          <a:p>
            <a:pPr lvl="1"/>
            <a:r>
              <a:rPr lang="en-CA" dirty="0"/>
              <a:t>PC2: Personal vs. property crime</a:t>
            </a:r>
          </a:p>
          <a:p>
            <a:pPr lvl="1"/>
            <a:r>
              <a:rPr lang="en-CA" dirty="0"/>
              <a:t>Region: summarizes diffs</a:t>
            </a:r>
            <a:endParaRPr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5.14</a:t>
            </a:r>
          </a:p>
        </p:txBody>
      </p:sp>
      <p:pic>
        <p:nvPicPr>
          <p:cNvPr id="7" name="Picture 6" descr="ggbiplot-logo.png"/>
          <p:cNvPicPr>
            <a:picLocks noChangeAspect="1"/>
          </p:cNvPicPr>
          <p:nvPr/>
        </p:nvPicPr>
        <p:blipFill>
          <a:blip r:embed="rId3"/>
          <a:stretch>
            <a:fillRect/>
          </a:stretch>
        </p:blipFill>
        <p:spPr>
          <a:xfrm>
            <a:off x="10530840" y="460599"/>
            <a:ext cx="822960" cy="952051"/>
          </a:xfrm>
          <a:prstGeom prst="rect">
            <a:avLst/>
          </a:prstGeom>
        </p:spPr>
      </p:pic>
      <p:pic>
        <p:nvPicPr>
          <p:cNvPr id="6" name="Picture 5">
            <a:extLst>
              <a:ext uri="{FF2B5EF4-FFF2-40B4-BE49-F238E27FC236}">
                <a16:creationId xmlns:a16="http://schemas.microsoft.com/office/drawing/2014/main" id="{99D97459-E713-AD46-89DA-B4BCEAF419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1602" y="1487891"/>
            <a:ext cx="4754078" cy="500822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When a linear view is not enough: PCA </a:t>
            </a:r>
            <a:r>
              <a:rPr lang="en-CA" dirty="0"/>
              <a:t>vs</a:t>
            </a:r>
            <a:r>
              <a:rPr dirty="0"/>
              <a:t> t-SNE</a:t>
            </a:r>
          </a:p>
        </p:txBody>
      </p:sp>
      <p:pic>
        <p:nvPicPr>
          <p:cNvPr id="3" name="Picture 2" descr="diabetes-pca-tsne.png"/>
          <p:cNvPicPr>
            <a:picLocks noChangeAspect="1"/>
          </p:cNvPicPr>
          <p:nvPr/>
        </p:nvPicPr>
        <p:blipFill>
          <a:blip r:embed="rId3"/>
          <a:stretch>
            <a:fillRect/>
          </a:stretch>
        </p:blipFill>
        <p:spPr>
          <a:xfrm>
            <a:off x="2167128" y="1691640"/>
            <a:ext cx="7863840"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t-SNE separates the Diabetes groups more cleanly, but distances and axes no longer have a direct meaning.</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PCA to t-SNE, animated</a:t>
            </a:r>
          </a:p>
        </p:txBody>
      </p:sp>
      <p:pic>
        <p:nvPicPr>
          <p:cNvPr id="3" name="Picture 2" descr="diabetes-pca-tsne.gif"/>
          <p:cNvPicPr>
            <a:picLocks noChangeAspect="1"/>
          </p:cNvPicPr>
          <p:nvPr/>
        </p:nvPicPr>
        <p:blipFill>
          <a:blip r:embed="rId3"/>
          <a:stretch>
            <a:fillRect/>
          </a:stretch>
        </p:blipFill>
        <p:spPr>
          <a:xfrm>
            <a:off x="6333424" y="1327485"/>
            <a:ext cx="4861560" cy="486156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5.26</a:t>
            </a:r>
          </a:p>
        </p:txBody>
      </p:sp>
      <p:sp>
        <p:nvSpPr>
          <p:cNvPr id="6" name="TextBox 5">
            <a:extLst>
              <a:ext uri="{FF2B5EF4-FFF2-40B4-BE49-F238E27FC236}">
                <a16:creationId xmlns:a16="http://schemas.microsoft.com/office/drawing/2014/main" id="{309B4190-46A6-9C16-602C-E46B6788A35E}"/>
              </a:ext>
            </a:extLst>
          </p:cNvPr>
          <p:cNvSpPr txBox="1"/>
          <p:nvPr/>
        </p:nvSpPr>
        <p:spPr>
          <a:xfrm>
            <a:off x="838201" y="1665171"/>
            <a:ext cx="5379720" cy="2862322"/>
          </a:xfrm>
          <a:prstGeom prst="rect">
            <a:avLst/>
          </a:prstGeom>
          <a:noFill/>
        </p:spPr>
        <p:txBody>
          <a:bodyPr wrap="square" rtlCol="0">
            <a:spAutoFit/>
          </a:bodyPr>
          <a:lstStyle/>
          <a:p>
            <a:r>
              <a:rPr lang="en-CA" dirty="0"/>
              <a:t>We can better understand algorithms visually by animating a </a:t>
            </a:r>
            <a:r>
              <a:rPr lang="en-CA" b="1" dirty="0"/>
              <a:t>smooth interpolation </a:t>
            </a:r>
            <a:r>
              <a:rPr lang="en-CA" dirty="0"/>
              <a:t>from one to another</a:t>
            </a:r>
          </a:p>
          <a:p>
            <a:endParaRPr lang="en-CA" dirty="0"/>
          </a:p>
          <a:p>
            <a:r>
              <a:rPr lang="en-CA" dirty="0"/>
              <a:t>Here, the PCA configuration morphs into the t-SNE one largely by a rotation.</a:t>
            </a:r>
          </a:p>
          <a:p>
            <a:endParaRPr lang="en-CA" dirty="0"/>
          </a:p>
          <a:p>
            <a:r>
              <a:rPr lang="en-CA" dirty="0"/>
              <a:t>But t-SNE achieves wider separation among groups</a:t>
            </a:r>
          </a:p>
          <a:p>
            <a:r>
              <a:rPr lang="en-CA" dirty="0"/>
              <a:t>The data ellipses here carry the visual message.</a:t>
            </a:r>
          </a:p>
          <a:p>
            <a:endParaRPr lang="en-CA"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Application: </a:t>
            </a:r>
            <a:r>
              <a:rPr lang="en-CA" dirty="0"/>
              <a:t>effect </a:t>
            </a:r>
            <a:r>
              <a:rPr dirty="0"/>
              <a:t>ordering variables in displays</a:t>
            </a:r>
          </a:p>
        </p:txBody>
      </p:sp>
      <p:pic>
        <p:nvPicPr>
          <p:cNvPr id="3" name="Picture 2" descr="fig-mtcars-corrplot-varorder-1.png"/>
          <p:cNvPicPr>
            <a:picLocks noChangeAspect="1"/>
          </p:cNvPicPr>
          <p:nvPr/>
        </p:nvPicPr>
        <p:blipFill>
          <a:blip r:embed="rId3"/>
          <a:stretch>
            <a:fillRect/>
          </a:stretch>
        </p:blipFill>
        <p:spPr>
          <a:xfrm>
            <a:off x="1435607" y="1691640"/>
            <a:ext cx="3931920" cy="3931920"/>
          </a:xfrm>
          <a:prstGeom prst="rect">
            <a:avLst/>
          </a:prstGeom>
        </p:spPr>
      </p:pic>
      <p:pic>
        <p:nvPicPr>
          <p:cNvPr id="4" name="Picture 3" descr="fig-mtcars-corrplot-pcaorder-1.png"/>
          <p:cNvPicPr>
            <a:picLocks noChangeAspect="1"/>
          </p:cNvPicPr>
          <p:nvPr/>
        </p:nvPicPr>
        <p:blipFill>
          <a:blip r:embed="rId4"/>
          <a:stretch>
            <a:fillRect/>
          </a:stretch>
        </p:blipFill>
        <p:spPr>
          <a:xfrm>
            <a:off x="6830568" y="1691640"/>
            <a:ext cx="3931920" cy="393192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The same correlations of the mtcars data: in dataset order (left) and in PCA order (right).</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5.27, 5.29</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 how many dimensions is the Mona Lisa?</a:t>
            </a:r>
          </a:p>
        </p:txBody>
      </p:sp>
      <p:pic>
        <p:nvPicPr>
          <p:cNvPr id="3" name="Picture 2" descr="mona-pca.png"/>
          <p:cNvPicPr>
            <a:picLocks noChangeAspect="1"/>
          </p:cNvPicPr>
          <p:nvPr/>
        </p:nvPicPr>
        <p:blipFill>
          <a:blip r:embed="rId3"/>
          <a:stretch>
            <a:fillRect/>
          </a:stretch>
        </p:blipFill>
        <p:spPr>
          <a:xfrm>
            <a:off x="4740983" y="1691640"/>
            <a:ext cx="2716128"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Reconstructions from a few principal components: image compression as dimension reduction.</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5.33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Outliers hide in the smallest dimensions</a:t>
            </a:r>
          </a:p>
        </p:txBody>
      </p:sp>
      <p:sp>
        <p:nvSpPr>
          <p:cNvPr id="3" name="Content Placeholder 2"/>
          <p:cNvSpPr>
            <a:spLocks noGrp="1"/>
          </p:cNvSpPr>
          <p:nvPr>
            <p:ph sz="half" idx="1"/>
          </p:nvPr>
        </p:nvSpPr>
        <p:spPr>
          <a:xfrm>
            <a:off x="838200" y="1643063"/>
            <a:ext cx="4752902" cy="4533900"/>
          </a:xfrm>
        </p:spPr>
        <p:txBody>
          <a:bodyPr/>
          <a:lstStyle/>
          <a:p>
            <a:r>
              <a:rPr dirty="0"/>
              <a:t>The first two dimensions show what is typical</a:t>
            </a:r>
          </a:p>
          <a:p>
            <a:r>
              <a:rPr dirty="0"/>
              <a:t>The last dimensions show what does not fit the pattern</a:t>
            </a:r>
          </a:p>
          <a:p>
            <a:r>
              <a:rPr dirty="0"/>
              <a:t>Biplot of dimensions 3-4 of the penguin data</a:t>
            </a:r>
            <a:endParaRPr lang="en-CA" dirty="0"/>
          </a:p>
          <a:p>
            <a:pPr lvl="1"/>
            <a:r>
              <a:rPr lang="en-CA" dirty="0"/>
              <a:t>Variable vectors show relations to dimensions</a:t>
            </a:r>
          </a:p>
          <a:p>
            <a:pPr lvl="1"/>
            <a:r>
              <a:rPr lang="en-CA" dirty="0"/>
              <a:t>Ellipses show diffs among groups</a:t>
            </a:r>
            <a:endParaRPr dirty="0"/>
          </a:p>
        </p:txBody>
      </p:sp>
      <p:pic>
        <p:nvPicPr>
          <p:cNvPr id="4" name="Picture 3" descr="peng-out-biplot-34.png"/>
          <p:cNvPicPr>
            <a:picLocks noChangeAspect="1"/>
          </p:cNvPicPr>
          <p:nvPr/>
        </p:nvPicPr>
        <p:blipFill>
          <a:blip r:embed="rId3"/>
          <a:stretch>
            <a:fillRect/>
          </a:stretch>
        </p:blipFill>
        <p:spPr>
          <a:xfrm>
            <a:off x="5881036" y="1314851"/>
            <a:ext cx="5592278" cy="5164251"/>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5.37</a:t>
            </a:r>
          </a:p>
        </p:txBody>
      </p:sp>
      <p:sp>
        <p:nvSpPr>
          <p:cNvPr id="6" name="TextBox 5">
            <a:extLst>
              <a:ext uri="{FF2B5EF4-FFF2-40B4-BE49-F238E27FC236}">
                <a16:creationId xmlns:a16="http://schemas.microsoft.com/office/drawing/2014/main" id="{261F3790-7C81-A423-611E-69850CE3B84D}"/>
              </a:ext>
            </a:extLst>
          </p:cNvPr>
          <p:cNvSpPr txBox="1"/>
          <p:nvPr/>
        </p:nvSpPr>
        <p:spPr>
          <a:xfrm>
            <a:off x="6439301" y="2194560"/>
            <a:ext cx="1155032" cy="338554"/>
          </a:xfrm>
          <a:prstGeom prst="rect">
            <a:avLst/>
          </a:prstGeom>
          <a:noFill/>
        </p:spPr>
        <p:txBody>
          <a:bodyPr wrap="square" rtlCol="0">
            <a:spAutoFit/>
          </a:bodyPr>
          <a:lstStyle/>
          <a:p>
            <a:pPr algn="ctr"/>
            <a:r>
              <a:rPr lang="en-CA" sz="1600" dirty="0">
                <a:solidFill>
                  <a:schemeClr val="accent5">
                    <a:lumMod val="75000"/>
                  </a:schemeClr>
                </a:solidFill>
              </a:rPr>
              <a:t>Cyrano</a:t>
            </a:r>
          </a:p>
        </p:txBody>
      </p:sp>
      <p:sp>
        <p:nvSpPr>
          <p:cNvPr id="8" name="TextBox 7">
            <a:extLst>
              <a:ext uri="{FF2B5EF4-FFF2-40B4-BE49-F238E27FC236}">
                <a16:creationId xmlns:a16="http://schemas.microsoft.com/office/drawing/2014/main" id="{84FE8F6D-06F2-501D-DC84-24957B149041}"/>
              </a:ext>
            </a:extLst>
          </p:cNvPr>
          <p:cNvSpPr txBox="1"/>
          <p:nvPr/>
        </p:nvSpPr>
        <p:spPr>
          <a:xfrm>
            <a:off x="10539476" y="4169593"/>
            <a:ext cx="1155032" cy="338554"/>
          </a:xfrm>
          <a:prstGeom prst="rect">
            <a:avLst/>
          </a:prstGeom>
          <a:noFill/>
        </p:spPr>
        <p:txBody>
          <a:bodyPr wrap="square" rtlCol="0">
            <a:spAutoFit/>
          </a:bodyPr>
          <a:lstStyle/>
          <a:p>
            <a:pPr algn="ctr"/>
            <a:r>
              <a:rPr lang="en-CA" sz="1600" dirty="0">
                <a:solidFill>
                  <a:srgbClr val="FF0000"/>
                </a:solidFill>
              </a:rPr>
              <a:t>Hook Nose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Plots for models with one response</a:t>
            </a:r>
          </a:p>
        </p:txBody>
      </p:sp>
      <p:sp>
        <p:nvSpPr>
          <p:cNvPr id="3" name="Text Placeholder 2"/>
          <p:cNvSpPr>
            <a:spLocks noGrp="1"/>
          </p:cNvSpPr>
          <p:nvPr>
            <p:ph type="body" idx="1"/>
          </p:nvPr>
        </p:nvSpPr>
        <p:spPr/>
        <p:txBody>
          <a:bodyPr/>
          <a:lstStyle/>
          <a:p>
            <a:r>
              <a:t>What we already do well, and want to carry over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regression quartet</a:t>
            </a:r>
          </a:p>
        </p:txBody>
      </p:sp>
      <p:sp>
        <p:nvSpPr>
          <p:cNvPr id="3" name="Content Placeholder 2"/>
          <p:cNvSpPr>
            <a:spLocks noGrp="1"/>
          </p:cNvSpPr>
          <p:nvPr>
            <p:ph sz="half" idx="1"/>
          </p:nvPr>
        </p:nvSpPr>
        <p:spPr/>
        <p:txBody>
          <a:bodyPr/>
          <a:lstStyle/>
          <a:p>
            <a:r>
              <a:rPr dirty="0"/>
              <a:t>Residuals vs. fitted: nonlinearity</a:t>
            </a:r>
          </a:p>
          <a:p>
            <a:r>
              <a:rPr dirty="0"/>
              <a:t>Normal QQ: distribution of residuals</a:t>
            </a:r>
          </a:p>
          <a:p>
            <a:r>
              <a:rPr dirty="0"/>
              <a:t>Scale-location: non-constant variance</a:t>
            </a:r>
          </a:p>
          <a:p>
            <a:r>
              <a:rPr dirty="0"/>
              <a:t>Residuals vs. leverage: influential cases</a:t>
            </a:r>
          </a:p>
        </p:txBody>
      </p:sp>
      <p:pic>
        <p:nvPicPr>
          <p:cNvPr id="4" name="Picture 3" descr="fig-duncan-plot-model-1.png"/>
          <p:cNvPicPr>
            <a:picLocks noChangeAspect="1"/>
          </p:cNvPicPr>
          <p:nvPr/>
        </p:nvPicPr>
        <p:blipFill>
          <a:blip r:embed="rId3"/>
          <a:stretch>
            <a:fillRect/>
          </a:stretch>
        </p:blipFill>
        <p:spPr>
          <a:xfrm>
            <a:off x="6172200" y="1903780"/>
            <a:ext cx="5184648" cy="4147718"/>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Coefficient plots: show the estimates, not a table</a:t>
            </a:r>
          </a:p>
        </p:txBody>
      </p:sp>
      <p:sp>
        <p:nvSpPr>
          <p:cNvPr id="3" name="Content Placeholder 2"/>
          <p:cNvSpPr>
            <a:spLocks noGrp="1"/>
          </p:cNvSpPr>
          <p:nvPr>
            <p:ph sz="half" idx="1"/>
          </p:nvPr>
        </p:nvSpPr>
        <p:spPr/>
        <p:txBody>
          <a:bodyPr/>
          <a:lstStyle/>
          <a:p>
            <a:r>
              <a:t>Estimates with confidence intervals</a:t>
            </a:r>
          </a:p>
          <a:p>
            <a:r>
              <a:t>Standardize, or the scales of the predictors dominate the picture</a:t>
            </a:r>
          </a:p>
          <a:p>
            <a:r>
              <a:t>Easy to compare several models</a:t>
            </a:r>
          </a:p>
        </p:txBody>
      </p:sp>
      <p:pic>
        <p:nvPicPr>
          <p:cNvPr id="4" name="Picture 3" descr="fig-modelplot3-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Added-variable plots show partial relationships</a:t>
            </a:r>
          </a:p>
        </p:txBody>
      </p:sp>
      <p:pic>
        <p:nvPicPr>
          <p:cNvPr id="3" name="Picture 2" descr="fig-coffee-mcplot-1.png"/>
          <p:cNvPicPr>
            <a:picLocks noChangeAspect="1"/>
          </p:cNvPicPr>
          <p:nvPr/>
        </p:nvPicPr>
        <p:blipFill>
          <a:blip r:embed="rId3"/>
          <a:stretch>
            <a:fillRect/>
          </a:stretch>
        </p:blipFill>
        <p:spPr>
          <a:xfrm>
            <a:off x="2728830" y="1691640"/>
            <a:ext cx="6740434"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Coffee, stress and heart damage: the marginal and the partial slope for coffee have opposite signs.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7.12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Effect displays: what the model predicts</a:t>
            </a:r>
          </a:p>
        </p:txBody>
      </p:sp>
      <p:pic>
        <p:nvPicPr>
          <p:cNvPr id="3" name="Picture 2" descr="prestige-allEffects.png"/>
          <p:cNvPicPr>
            <a:picLocks noChangeAspect="1"/>
          </p:cNvPicPr>
          <p:nvPr/>
        </p:nvPicPr>
        <p:blipFill>
          <a:blip r:embed="rId3"/>
          <a:stretch>
            <a:fillRect/>
          </a:stretch>
        </p:blipFill>
        <p:spPr>
          <a:xfrm>
            <a:off x="1058125" y="1691640"/>
            <a:ext cx="10081846"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Fitted values for each predictor, averaging over the others.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7.17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Leverage and influence</a:t>
            </a:r>
          </a:p>
        </p:txBody>
      </p:sp>
      <p:sp>
        <p:nvSpPr>
          <p:cNvPr id="3" name="Content Placeholder 2"/>
          <p:cNvSpPr>
            <a:spLocks noGrp="1"/>
          </p:cNvSpPr>
          <p:nvPr>
            <p:ph sz="half" idx="1"/>
          </p:nvPr>
        </p:nvSpPr>
        <p:spPr/>
        <p:txBody>
          <a:bodyPr/>
          <a:lstStyle/>
          <a:p>
            <a:r>
              <a:t>Leverage: unusual in the predictors</a:t>
            </a:r>
          </a:p>
          <a:p>
            <a:r>
              <a:t>Outlier: a large residual</a:t>
            </a:r>
          </a:p>
          <a:p>
            <a:r>
              <a:t>Influence = leverage x residual</a:t>
            </a:r>
          </a:p>
          <a:p>
            <a:r>
              <a:t>Bubble size: Cook's distance</a:t>
            </a:r>
          </a:p>
        </p:txBody>
      </p:sp>
      <p:pic>
        <p:nvPicPr>
          <p:cNvPr id="4" name="Picture 3" descr="fig-duncan-infl-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7.26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observations drive the fit?</a:t>
            </a:r>
          </a:p>
        </p:txBody>
      </p:sp>
      <p:pic>
        <p:nvPicPr>
          <p:cNvPr id="3" name="Picture 2" descr="duncan-av-influence.png"/>
          <p:cNvPicPr>
            <a:picLocks noChangeAspect="1"/>
          </p:cNvPicPr>
          <p:nvPr/>
        </p:nvPicPr>
        <p:blipFill>
          <a:blip r:embed="rId3"/>
          <a:stretch>
            <a:fillRect/>
          </a:stretch>
        </p:blipFill>
        <p:spPr>
          <a:xfrm>
            <a:off x="2167128" y="1691640"/>
            <a:ext cx="7863840"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Green: the residuals for minister and conductor. Red: the fitted line with those two cases omitted.</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7.27</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space and beta space are dual</a:t>
            </a:r>
          </a:p>
        </p:txBody>
      </p:sp>
      <p:pic>
        <p:nvPicPr>
          <p:cNvPr id="3" name="Picture 2" descr="coffee-data-beta-both.png"/>
          <p:cNvPicPr>
            <a:picLocks noChangeAspect="1"/>
          </p:cNvPicPr>
          <p:nvPr/>
        </p:nvPicPr>
        <p:blipFill>
          <a:blip r:embed="rId3"/>
          <a:stretch>
            <a:fillRect/>
          </a:stretch>
        </p:blipFill>
        <p:spPr>
          <a:xfrm>
            <a:off x="1967636" y="1691640"/>
            <a:ext cx="8262823"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The confidence ellipse for the coefficients is the inverse of the data ellipse of the predictors.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8.3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Measurement error biases more than one coefficient</a:t>
            </a:r>
          </a:p>
        </p:txBody>
      </p:sp>
      <p:pic>
        <p:nvPicPr>
          <p:cNvPr id="3" name="Picture 2" descr="coffee-measerr.png"/>
          <p:cNvPicPr>
            <a:picLocks noChangeAspect="1"/>
          </p:cNvPicPr>
          <p:nvPr/>
        </p:nvPicPr>
        <p:blipFill>
          <a:blip r:embed="rId3"/>
          <a:stretch>
            <a:fillRect/>
          </a:stretch>
        </p:blipFill>
        <p:spPr>
          <a:xfrm>
            <a:off x="4133088" y="1691640"/>
            <a:ext cx="3931920"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Error in one predictor attenuates its own coefficient and distorts those of the others.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8.7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Collinearity and ridge regression</a:t>
            </a:r>
          </a:p>
        </p:txBody>
      </p:sp>
      <p:sp>
        <p:nvSpPr>
          <p:cNvPr id="3" name="Text Placeholder 2"/>
          <p:cNvSpPr>
            <a:spLocks noGrp="1"/>
          </p:cNvSpPr>
          <p:nvPr>
            <p:ph type="body" idx="1"/>
          </p:nvPr>
        </p:nvSpPr>
        <p:spPr/>
        <p:txBody>
          <a:bodyPr/>
          <a:lstStyle/>
          <a:p>
            <a:r>
              <a:t>Seeing the problem, and seeing the remedy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Collinearity: narrow data, inflated uncertainty</a:t>
            </a:r>
          </a:p>
        </p:txBody>
      </p:sp>
      <p:pic>
        <p:nvPicPr>
          <p:cNvPr id="3" name="Picture 2" descr="fig-collin-data-beta-1.png"/>
          <p:cNvPicPr>
            <a:picLocks noChangeAspect="1"/>
          </p:cNvPicPr>
          <p:nvPr/>
        </p:nvPicPr>
        <p:blipFill>
          <a:blip r:embed="rId3"/>
          <a:stretch>
            <a:fillRect/>
          </a:stretch>
        </p:blipFill>
        <p:spPr>
          <a:xfrm>
            <a:off x="3346704" y="1691640"/>
            <a:ext cx="5504688"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As the predictors become more correlated, the data ellipse narrows and the confidence ellipse balloons.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Where's Waldo? Collinearity lives in the smallest dimensions</a:t>
            </a:r>
          </a:p>
        </p:txBody>
      </p:sp>
      <p:pic>
        <p:nvPicPr>
          <p:cNvPr id="3" name="Picture 2" descr="fig-cars-tableplot-1.png"/>
          <p:cNvPicPr>
            <a:picLocks noChangeAspect="1"/>
          </p:cNvPicPr>
          <p:nvPr/>
        </p:nvPicPr>
        <p:blipFill>
          <a:blip r:embed="rId3"/>
          <a:stretch>
            <a:fillRect/>
          </a:stretch>
        </p:blipFill>
        <p:spPr>
          <a:xfrm>
            <a:off x="841248" y="1828800"/>
            <a:ext cx="5120640" cy="3657600"/>
          </a:xfrm>
          <a:prstGeom prst="rect">
            <a:avLst/>
          </a:prstGeom>
        </p:spPr>
      </p:pic>
      <p:pic>
        <p:nvPicPr>
          <p:cNvPr id="4" name="Picture 3" descr="fig-cars-collin-biplot-1.png"/>
          <p:cNvPicPr>
            <a:picLocks noChangeAspect="1"/>
          </p:cNvPicPr>
          <p:nvPr/>
        </p:nvPicPr>
        <p:blipFill>
          <a:blip r:embed="rId4"/>
          <a:stretch>
            <a:fillRect/>
          </a:stretch>
        </p:blipFill>
        <p:spPr>
          <a:xfrm>
            <a:off x="6236208" y="1828800"/>
            <a:ext cx="5120640" cy="365760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Tableplot of condition indices and variance proportions; biplot of the two smallest dimensions (Cars data).</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9.6, 9.7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Ridge regression: shrink to gain precision</a:t>
            </a:r>
          </a:p>
        </p:txBody>
      </p:sp>
      <p:sp>
        <p:nvSpPr>
          <p:cNvPr id="3" name="Content Placeholder 2"/>
          <p:cNvSpPr>
            <a:spLocks noGrp="1"/>
          </p:cNvSpPr>
          <p:nvPr>
            <p:ph sz="half" idx="1"/>
          </p:nvPr>
        </p:nvSpPr>
        <p:spPr/>
        <p:txBody>
          <a:bodyPr/>
          <a:lstStyle/>
          <a:p>
            <a:r>
              <a:t>Constrain the size of the coefficients</a:t>
            </a:r>
          </a:p>
          <a:p>
            <a:r>
              <a:t>The estimate moves from the OLS solution toward the origin</a:t>
            </a:r>
          </a:p>
          <a:p>
            <a:r>
              <a:t>A little bias buys a lot of precision</a:t>
            </a:r>
          </a:p>
        </p:txBody>
      </p:sp>
      <p:pic>
        <p:nvPicPr>
          <p:cNvPr id="4" name="Picture 3" descr="ridge-demo.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9.9</a:t>
            </a:r>
          </a:p>
        </p:txBody>
      </p:sp>
      <p:pic>
        <p:nvPicPr>
          <p:cNvPr id="7" name="Picture 6" descr="logo.png">
            <a:extLst>
              <a:ext uri="{FF2B5EF4-FFF2-40B4-BE49-F238E27FC236}">
                <a16:creationId xmlns:a16="http://schemas.microsoft.com/office/drawing/2014/main" id="{0D4E33D8-FD24-E2AF-1168-8C9676AF6E34}"/>
              </a:ext>
            </a:extLst>
          </p:cNvPr>
          <p:cNvPicPr>
            <a:picLocks noChangeAspect="1"/>
          </p:cNvPicPr>
          <p:nvPr/>
        </p:nvPicPr>
        <p:blipFill>
          <a:blip r:embed="rId4"/>
          <a:stretch>
            <a:fillRect/>
          </a:stretch>
        </p:blipFill>
        <p:spPr>
          <a:xfrm>
            <a:off x="10567827" y="365125"/>
            <a:ext cx="785973" cy="9144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usual ridge trace shows only the estimates</a:t>
            </a:r>
          </a:p>
        </p:txBody>
      </p:sp>
      <p:sp>
        <p:nvSpPr>
          <p:cNvPr id="3" name="Content Placeholder 2"/>
          <p:cNvSpPr>
            <a:spLocks noGrp="1"/>
          </p:cNvSpPr>
          <p:nvPr>
            <p:ph sz="half" idx="1"/>
          </p:nvPr>
        </p:nvSpPr>
        <p:spPr/>
        <p:txBody>
          <a:bodyPr/>
          <a:lstStyle/>
          <a:p>
            <a:r>
              <a:t>Longley data: six highly collinear economic predictors</a:t>
            </a:r>
          </a:p>
          <a:p>
            <a:r>
              <a:t>Coefficients plotted against the shrinkage constant</a:t>
            </a:r>
          </a:p>
          <a:p>
            <a:r>
              <a:t>Shows the bias, but nothing about precision</a:t>
            </a:r>
          </a:p>
        </p:txBody>
      </p:sp>
      <p:pic>
        <p:nvPicPr>
          <p:cNvPr id="4" name="Picture 3" descr="fig-longley-traceplot1-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9.10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Bivariate ridge traces show </a:t>
            </a:r>
            <a:r>
              <a:rPr b="1" dirty="0"/>
              <a:t>bias</a:t>
            </a:r>
            <a:r>
              <a:rPr dirty="0"/>
              <a:t> and </a:t>
            </a:r>
            <a:r>
              <a:rPr b="1" dirty="0"/>
              <a:t>precision</a:t>
            </a:r>
            <a:r>
              <a:rPr dirty="0"/>
              <a:t> together</a:t>
            </a:r>
          </a:p>
        </p:txBody>
      </p:sp>
      <p:pic>
        <p:nvPicPr>
          <p:cNvPr id="3" name="Picture 2" descr="fig-longley-pairs-1.png"/>
          <p:cNvPicPr>
            <a:picLocks noChangeAspect="1"/>
          </p:cNvPicPr>
          <p:nvPr/>
        </p:nvPicPr>
        <p:blipFill>
          <a:blip r:embed="rId3"/>
          <a:stretch>
            <a:fillRect/>
          </a:stretch>
        </p:blipFill>
        <p:spPr>
          <a:xfrm>
            <a:off x="841248" y="1417320"/>
            <a:ext cx="5212080" cy="5212080"/>
          </a:xfrm>
          <a:prstGeom prst="rect">
            <a:avLst/>
          </a:prstGeom>
        </p:spPr>
      </p:pic>
      <p:sp>
        <p:nvSpPr>
          <p:cNvPr id="4" name="TextBox 3"/>
          <p:cNvSpPr txBox="1"/>
          <p:nvPr/>
        </p:nvSpPr>
        <p:spPr>
          <a:xfrm>
            <a:off x="6419088" y="1417320"/>
            <a:ext cx="4937760" cy="5212080"/>
          </a:xfrm>
          <a:prstGeom prst="rect">
            <a:avLst/>
          </a:prstGeom>
          <a:noFill/>
        </p:spPr>
        <p:txBody>
          <a:bodyPr wrap="square" anchor="ctr">
            <a:noAutofit/>
          </a:bodyPr>
          <a:lstStyle/>
          <a:p>
            <a:r>
              <a:rPr sz="2400"/>
              <a:t>Each panel: the confidence ellipse for a pair of coefficients shrinking along the ridge path.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low-rank view of ridge regression</a:t>
            </a:r>
          </a:p>
        </p:txBody>
      </p:sp>
      <p:sp>
        <p:nvSpPr>
          <p:cNvPr id="3" name="Content Placeholder 2"/>
          <p:cNvSpPr>
            <a:spLocks noGrp="1"/>
          </p:cNvSpPr>
          <p:nvPr>
            <p:ph sz="half" idx="1"/>
          </p:nvPr>
        </p:nvSpPr>
        <p:spPr/>
        <p:txBody>
          <a:bodyPr/>
          <a:lstStyle/>
          <a:p>
            <a:r>
              <a:t>Transform to the principal component space of the predictors</a:t>
            </a:r>
          </a:p>
          <a:p>
            <a:r>
              <a:t>Shrinkage happens mostly in the smallest dimensions</a:t>
            </a:r>
          </a:p>
          <a:p>
            <a:r>
              <a:t>A biplot shows how the variables relate to them</a:t>
            </a:r>
          </a:p>
        </p:txBody>
      </p:sp>
      <p:pic>
        <p:nvPicPr>
          <p:cNvPr id="4" name="Picture 3" descr="fig-longley-pca-biplot-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9.18</a:t>
            </a:r>
          </a:p>
        </p:txBody>
      </p:sp>
      <p:pic>
        <p:nvPicPr>
          <p:cNvPr id="7" name="Picture 6" descr="logo.png">
            <a:extLst>
              <a:ext uri="{FF2B5EF4-FFF2-40B4-BE49-F238E27FC236}">
                <a16:creationId xmlns:a16="http://schemas.microsoft.com/office/drawing/2014/main" id="{2962ADBA-4003-3C31-9B29-F4252D9238AA}"/>
              </a:ext>
            </a:extLst>
          </p:cNvPr>
          <p:cNvPicPr>
            <a:picLocks noChangeAspect="1"/>
          </p:cNvPicPr>
          <p:nvPr/>
        </p:nvPicPr>
        <p:blipFill>
          <a:blip r:embed="rId4"/>
          <a:stretch>
            <a:fillRect/>
          </a:stretch>
        </p:blipFill>
        <p:spPr>
          <a:xfrm>
            <a:off x="10567827" y="365125"/>
            <a:ext cx="785973" cy="9144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HE plot framework</a:t>
            </a:r>
          </a:p>
        </p:txBody>
      </p:sp>
      <p:sp>
        <p:nvSpPr>
          <p:cNvPr id="3" name="Text Placeholder 2"/>
          <p:cNvSpPr>
            <a:spLocks noGrp="1"/>
          </p:cNvSpPr>
          <p:nvPr>
            <p:ph type="body" idx="1"/>
          </p:nvPr>
        </p:nvSpPr>
        <p:spPr/>
        <p:txBody>
          <a:bodyPr/>
          <a:lstStyle/>
          <a:p>
            <a:r>
              <a:t>Seeing multivariate tests as ellipses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the t-test to Hotelling's T²</a:t>
            </a:r>
          </a:p>
        </p:txBody>
      </p:sp>
      <p:sp>
        <p:nvSpPr>
          <p:cNvPr id="3" name="Content Placeholder 2"/>
          <p:cNvSpPr>
            <a:spLocks noGrp="1"/>
          </p:cNvSpPr>
          <p:nvPr>
            <p:ph sz="half" idx="1"/>
          </p:nvPr>
        </p:nvSpPr>
        <p:spPr/>
        <p:txBody>
          <a:bodyPr/>
          <a:lstStyle/>
          <a:p>
            <a:r>
              <a:t>Two groups, several responses</a:t>
            </a:r>
          </a:p>
          <a:p>
            <a:r>
              <a:t>T² is the largest squared t over all linear combinations of the responses</a:t>
            </a:r>
          </a:p>
          <a:p>
            <a:r>
              <a:t>That best combination is the discriminant axis</a:t>
            </a:r>
          </a:p>
        </p:txBody>
      </p:sp>
      <p:pic>
        <p:nvPicPr>
          <p:cNvPr id="4" name="Picture 3" descr="T2-diagram.png"/>
          <p:cNvPicPr>
            <a:picLocks noChangeAspect="1"/>
          </p:cNvPicPr>
          <p:nvPr/>
        </p:nvPicPr>
        <p:blipFill>
          <a:blip r:embed="rId3"/>
          <a:stretch>
            <a:fillRect/>
          </a:stretch>
        </p:blipFill>
        <p:spPr>
          <a:xfrm>
            <a:off x="6350508" y="1783080"/>
            <a:ext cx="4828032"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10.1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t>
            </a:r>
            <a:r>
              <a:rPr lang="en-US" dirty="0">
                <a:sym typeface="Symbol"/>
              </a:rPr>
              <a:t> </a:t>
            </a:r>
            <a:r>
              <a:rPr lang="en-US" dirty="0"/>
              <a:t>Data ellipses </a:t>
            </a:r>
            <a:r>
              <a:rPr lang="en-US" dirty="0">
                <a:sym typeface="Symbol"/>
              </a:rPr>
              <a:t></a:t>
            </a:r>
            <a:r>
              <a:rPr lang="en-US" dirty="0"/>
              <a:t> HE plot</a:t>
            </a:r>
          </a:p>
        </p:txBody>
      </p:sp>
      <p:sp>
        <p:nvSpPr>
          <p:cNvPr id="7" name="Content Placeholder 6"/>
          <p:cNvSpPr>
            <a:spLocks noGrp="1"/>
          </p:cNvSpPr>
          <p:nvPr>
            <p:ph idx="1"/>
          </p:nvPr>
        </p:nvSpPr>
        <p:spPr>
          <a:xfrm>
            <a:off x="838200" y="4191000"/>
            <a:ext cx="10515600" cy="2133600"/>
          </a:xfrm>
        </p:spPr>
        <p:txBody>
          <a:bodyPr>
            <a:normAutofit/>
          </a:bodyPr>
          <a:lstStyle/>
          <a:p>
            <a:r>
              <a:rPr lang="en-US" sz="2000" dirty="0"/>
              <a:t>Differences between group means are shown by the </a:t>
            </a:r>
            <a:r>
              <a:rPr lang="en-US" sz="2000" b="1" dirty="0"/>
              <a:t>H</a:t>
            </a:r>
            <a:r>
              <a:rPr lang="en-US" sz="2000" dirty="0"/>
              <a:t> ellipsoid– data ellipsoid of the </a:t>
            </a:r>
            <a:r>
              <a:rPr lang="en-US" sz="2000" dirty="0">
                <a:solidFill>
                  <a:srgbClr val="FF0000"/>
                </a:solidFill>
              </a:rPr>
              <a:t>fitted</a:t>
            </a:r>
            <a:r>
              <a:rPr lang="en-US" sz="2000" dirty="0"/>
              <a:t> values (w/ 1 </a:t>
            </a:r>
            <a:r>
              <a:rPr lang="en-US" sz="2000" dirty="0" err="1"/>
              <a:t>df</a:t>
            </a:r>
            <a:r>
              <a:rPr lang="en-US" sz="2000" dirty="0"/>
              <a:t>, degenerates to a line)</a:t>
            </a:r>
          </a:p>
          <a:p>
            <a:pPr lvl="1"/>
            <a:r>
              <a:rPr lang="en-US" sz="1400" dirty="0"/>
              <a:t>Direction shows relation of groups to response variables</a:t>
            </a:r>
          </a:p>
          <a:p>
            <a:pPr lvl="1"/>
            <a:r>
              <a:rPr lang="en-US" sz="1400" dirty="0"/>
              <a:t>Size shows “how big is H relative to E”</a:t>
            </a:r>
          </a:p>
          <a:p>
            <a:r>
              <a:rPr lang="en-US" sz="2000" dirty="0"/>
              <a:t>Variation within groups is reflected in the </a:t>
            </a:r>
            <a:r>
              <a:rPr lang="en-US" sz="2000" b="1" dirty="0"/>
              <a:t>E</a:t>
            </a:r>
            <a:r>
              <a:rPr lang="en-US" sz="2000" dirty="0"/>
              <a:t> ellipsoid-- data ellipsoid of the </a:t>
            </a:r>
            <a:r>
              <a:rPr lang="en-US" sz="2000" dirty="0">
                <a:solidFill>
                  <a:srgbClr val="FF0000"/>
                </a:solidFill>
              </a:rPr>
              <a:t>residuals</a:t>
            </a:r>
          </a:p>
          <a:p>
            <a:pPr lvl="1"/>
            <a:r>
              <a:rPr lang="en-US" sz="1400" dirty="0"/>
              <a:t>Direction: residual (partial) correlation between BM &amp; WP</a:t>
            </a:r>
          </a:p>
          <a:p>
            <a:pPr lvl="1"/>
            <a:r>
              <a:rPr lang="en-US" sz="1400" dirty="0"/>
              <a:t>Size/shape: residual variance</a:t>
            </a:r>
          </a:p>
          <a:p>
            <a:endParaRPr lang="en-US" sz="1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1371600"/>
            <a:ext cx="2286000" cy="22860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0" y="1371600"/>
            <a:ext cx="2286000" cy="228600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1600" y="1143000"/>
            <a:ext cx="2743200" cy="2743200"/>
          </a:xfrm>
          <a:prstGeom prst="rect">
            <a:avLst/>
          </a:prstGeom>
        </p:spPr>
      </p:pic>
      <p:cxnSp>
        <p:nvCxnSpPr>
          <p:cNvPr id="9" name="Straight Arrow Connector 8"/>
          <p:cNvCxnSpPr/>
          <p:nvPr/>
        </p:nvCxnSpPr>
        <p:spPr>
          <a:xfrm>
            <a:off x="5638800" y="1752600"/>
            <a:ext cx="10668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8305800" y="1899136"/>
            <a:ext cx="12954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72840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H ellipse</a:t>
            </a:r>
          </a:p>
        </p:txBody>
      </p:sp>
      <p:sp>
        <p:nvSpPr>
          <p:cNvPr id="6" name="Content Placeholder 5"/>
          <p:cNvSpPr>
            <a:spLocks noGrp="1"/>
          </p:cNvSpPr>
          <p:nvPr>
            <p:ph idx="1"/>
          </p:nvPr>
        </p:nvSpPr>
        <p:spPr>
          <a:xfrm>
            <a:off x="838200" y="4648200"/>
            <a:ext cx="10515600" cy="1828800"/>
          </a:xfrm>
        </p:spPr>
        <p:txBody>
          <a:bodyPr>
            <a:normAutofit/>
          </a:bodyPr>
          <a:lstStyle/>
          <a:p>
            <a:r>
              <a:rPr lang="en-US" dirty="0"/>
              <a:t>The </a:t>
            </a:r>
            <a:r>
              <a:rPr lang="en-US" b="1" dirty="0"/>
              <a:t>H</a:t>
            </a:r>
            <a:r>
              <a:rPr lang="en-US" dirty="0"/>
              <a:t> ellipse is the data ellipse of the fitted values (group means, here)</a:t>
            </a:r>
          </a:p>
          <a:p>
            <a:pPr lvl="1"/>
            <a:r>
              <a:rPr lang="en-US" dirty="0"/>
              <a:t>The </a:t>
            </a:r>
            <a:r>
              <a:rPr lang="en-US" b="1" dirty="0"/>
              <a:t>H</a:t>
            </a:r>
            <a:r>
              <a:rPr lang="en-US" dirty="0"/>
              <a:t> matrix is the sum of squares and </a:t>
            </a:r>
            <a:r>
              <a:rPr lang="en-US" dirty="0" err="1"/>
              <a:t>crossproducts</a:t>
            </a:r>
            <a:r>
              <a:rPr lang="en-US" dirty="0"/>
              <a:t> of the fitted values, corrected for the grand mean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1143000"/>
            <a:ext cx="3200400" cy="32004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2400" y="1143000"/>
            <a:ext cx="3200400" cy="3200400"/>
          </a:xfrm>
          <a:prstGeom prst="rect">
            <a:avLst/>
          </a:prstGeom>
        </p:spPr>
      </p:pic>
      <p:cxnSp>
        <p:nvCxnSpPr>
          <p:cNvPr id="7" name="Straight Arrow Connector 6"/>
          <p:cNvCxnSpPr/>
          <p:nvPr/>
        </p:nvCxnSpPr>
        <p:spPr>
          <a:xfrm>
            <a:off x="6629400" y="1981200"/>
            <a:ext cx="12954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896600" y="1447801"/>
            <a:ext cx="1066800" cy="646331"/>
          </a:xfrm>
          <a:prstGeom prst="rect">
            <a:avLst/>
          </a:prstGeom>
          <a:noFill/>
        </p:spPr>
        <p:txBody>
          <a:bodyPr wrap="square" rtlCol="0">
            <a:spAutoFit/>
          </a:bodyPr>
          <a:lstStyle/>
          <a:p>
            <a:r>
              <a:rPr lang="en-US" sz="1200" dirty="0"/>
              <a:t>Jittered fitted values</a:t>
            </a:r>
          </a:p>
          <a:p>
            <a:r>
              <a:rPr lang="en-US" sz="1200" dirty="0"/>
              <a:t>(</a:t>
            </a:r>
            <a:r>
              <a:rPr lang="en-US" sz="1200" dirty="0" err="1"/>
              <a:t>gp</a:t>
            </a:r>
            <a:r>
              <a:rPr lang="en-US" sz="1200" dirty="0"/>
              <a:t> means)</a:t>
            </a:r>
          </a:p>
        </p:txBody>
      </p:sp>
      <p:graphicFrame>
        <p:nvGraphicFramePr>
          <p:cNvPr id="9" name="Object 8"/>
          <p:cNvGraphicFramePr>
            <a:graphicFrameLocks noChangeAspect="1"/>
          </p:cNvGraphicFramePr>
          <p:nvPr>
            <p:extLst>
              <p:ext uri="{D42A27DB-BD31-4B8C-83A1-F6EECF244321}">
                <p14:modId xmlns:p14="http://schemas.microsoft.com/office/powerpoint/2010/main" val="2451739529"/>
              </p:ext>
            </p:extLst>
          </p:nvPr>
        </p:nvGraphicFramePr>
        <p:xfrm>
          <a:off x="6267450" y="6096000"/>
          <a:ext cx="1657350" cy="457200"/>
        </p:xfrm>
        <a:graphic>
          <a:graphicData uri="http://schemas.openxmlformats.org/presentationml/2006/ole">
            <mc:AlternateContent xmlns:mc="http://schemas.openxmlformats.org/markup-compatibility/2006">
              <mc:Choice xmlns:v="urn:schemas-microsoft-com:vml" Requires="v">
                <p:oleObj name="Equation" r:id="rId5" imgW="1104840" imgH="304560" progId="Equation.DSMT4">
                  <p:embed/>
                </p:oleObj>
              </mc:Choice>
              <mc:Fallback>
                <p:oleObj name="Equation" r:id="rId5" imgW="1104840" imgH="304560" progId="Equation.DSMT4">
                  <p:embed/>
                  <p:pic>
                    <p:nvPicPr>
                      <p:cNvPr id="9" name="Object 8"/>
                      <p:cNvPicPr/>
                      <p:nvPr/>
                    </p:nvPicPr>
                    <p:blipFill>
                      <a:blip r:embed="rId6"/>
                      <a:stretch>
                        <a:fillRect/>
                      </a:stretch>
                    </p:blipFill>
                    <p:spPr>
                      <a:xfrm>
                        <a:off x="6267450" y="6096000"/>
                        <a:ext cx="1657350" cy="457200"/>
                      </a:xfrm>
                      <a:prstGeom prst="rect">
                        <a:avLst/>
                      </a:prstGeom>
                    </p:spPr>
                  </p:pic>
                </p:oleObj>
              </mc:Fallback>
            </mc:AlternateContent>
          </a:graphicData>
        </a:graphic>
      </p:graphicFrame>
      <p:sp>
        <p:nvSpPr>
          <p:cNvPr id="10" name="Flowchart: Connector 9">
            <a:extLst>
              <a:ext uri="{FF2B5EF4-FFF2-40B4-BE49-F238E27FC236}">
                <a16:creationId xmlns:a16="http://schemas.microsoft.com/office/drawing/2014/main" id="{7784F65C-FE98-460D-BC76-73AC6D915D96}"/>
              </a:ext>
            </a:extLst>
          </p:cNvPr>
          <p:cNvSpPr>
            <a:spLocks noChangeAspect="1"/>
          </p:cNvSpPr>
          <p:nvPr/>
        </p:nvSpPr>
        <p:spPr>
          <a:xfrm>
            <a:off x="8934374" y="1646000"/>
            <a:ext cx="590702" cy="594201"/>
          </a:xfrm>
          <a:prstGeom prst="flowChartConnector">
            <a:avLst/>
          </a:prstGeom>
          <a:solidFill>
            <a:schemeClr val="tx2">
              <a:lumMod val="20000"/>
              <a:lumOff val="80000"/>
              <a:alpha val="20000"/>
            </a:schemeClr>
          </a:solidFill>
          <a:ln>
            <a:solidFill>
              <a:schemeClr val="accent1">
                <a:shade val="50000"/>
                <a:alpha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27054BEF-17C4-42CD-BD3C-F07E37ED3804}"/>
              </a:ext>
            </a:extLst>
          </p:cNvPr>
          <p:cNvSpPr>
            <a:spLocks noChangeAspect="1"/>
          </p:cNvSpPr>
          <p:nvPr/>
        </p:nvSpPr>
        <p:spPr>
          <a:xfrm>
            <a:off x="9601200" y="2982200"/>
            <a:ext cx="590702" cy="594201"/>
          </a:xfrm>
          <a:prstGeom prst="flowChartConnector">
            <a:avLst/>
          </a:prstGeom>
          <a:solidFill>
            <a:srgbClr val="00B050">
              <a:alpha val="20000"/>
            </a:srgbClr>
          </a:solidFill>
          <a:ln>
            <a:solidFill>
              <a:srgbClr val="00B050">
                <a:alpha val="9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80179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 ellipse</a:t>
            </a:r>
          </a:p>
        </p:txBody>
      </p:sp>
      <p:sp>
        <p:nvSpPr>
          <p:cNvPr id="7" name="Content Placeholder 6"/>
          <p:cNvSpPr>
            <a:spLocks noGrp="1"/>
          </p:cNvSpPr>
          <p:nvPr>
            <p:ph idx="1"/>
          </p:nvPr>
        </p:nvSpPr>
        <p:spPr>
          <a:xfrm>
            <a:off x="838200" y="3962400"/>
            <a:ext cx="10515600" cy="1905000"/>
          </a:xfrm>
        </p:spPr>
        <p:txBody>
          <a:bodyPr>
            <a:normAutofit/>
          </a:bodyPr>
          <a:lstStyle/>
          <a:p>
            <a:r>
              <a:rPr lang="en-US" dirty="0"/>
              <a:t>The </a:t>
            </a:r>
            <a:r>
              <a:rPr lang="en-US" b="1" dirty="0"/>
              <a:t>E</a:t>
            </a:r>
            <a:r>
              <a:rPr lang="en-US" dirty="0"/>
              <a:t> ellipse is the data ellipse  of the residuals </a:t>
            </a:r>
          </a:p>
          <a:p>
            <a:pPr lvl="1"/>
            <a:r>
              <a:rPr lang="en-US" dirty="0"/>
              <a:t>What you get when you subtract the group means from all observations, shifting them to the grand means.</a:t>
            </a:r>
          </a:p>
          <a:p>
            <a:pPr lvl="1"/>
            <a:r>
              <a:rPr lang="en-US" b="1" dirty="0"/>
              <a:t>E</a:t>
            </a:r>
            <a:r>
              <a:rPr lang="en-US" dirty="0"/>
              <a:t> matrix called the “within-group </a:t>
            </a:r>
            <a:r>
              <a:rPr lang="en-US" b="1" dirty="0"/>
              <a:t>pooled</a:t>
            </a:r>
            <a:r>
              <a:rPr lang="en-US" dirty="0"/>
              <a:t> covariance matrix”</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0" y="1099038"/>
            <a:ext cx="2286000" cy="22860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200" y="1113692"/>
            <a:ext cx="2286000" cy="2286000"/>
          </a:xfrm>
          <a:prstGeom prst="rect">
            <a:avLst/>
          </a:prstGeom>
        </p:spPr>
      </p:pic>
      <p:cxnSp>
        <p:nvCxnSpPr>
          <p:cNvPr id="8" name="Straight Arrow Connector 7"/>
          <p:cNvCxnSpPr/>
          <p:nvPr/>
        </p:nvCxnSpPr>
        <p:spPr>
          <a:xfrm>
            <a:off x="5867400" y="1667608"/>
            <a:ext cx="762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20200" y="1099038"/>
            <a:ext cx="2286000" cy="2286000"/>
          </a:xfrm>
          <a:prstGeom prst="rect">
            <a:avLst/>
          </a:prstGeom>
        </p:spPr>
      </p:pic>
      <p:cxnSp>
        <p:nvCxnSpPr>
          <p:cNvPr id="11" name="Straight Arrow Connector 10"/>
          <p:cNvCxnSpPr/>
          <p:nvPr/>
        </p:nvCxnSpPr>
        <p:spPr>
          <a:xfrm>
            <a:off x="8610600" y="1676400"/>
            <a:ext cx="762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2" name="Object 11"/>
          <p:cNvGraphicFramePr>
            <a:graphicFrameLocks noChangeAspect="1"/>
          </p:cNvGraphicFramePr>
          <p:nvPr>
            <p:extLst>
              <p:ext uri="{D42A27DB-BD31-4B8C-83A1-F6EECF244321}">
                <p14:modId xmlns:p14="http://schemas.microsoft.com/office/powerpoint/2010/main" val="2074366849"/>
              </p:ext>
            </p:extLst>
          </p:nvPr>
        </p:nvGraphicFramePr>
        <p:xfrm>
          <a:off x="5867400" y="5562600"/>
          <a:ext cx="2514600" cy="457200"/>
        </p:xfrm>
        <a:graphic>
          <a:graphicData uri="http://schemas.openxmlformats.org/presentationml/2006/ole">
            <mc:AlternateContent xmlns:mc="http://schemas.openxmlformats.org/markup-compatibility/2006">
              <mc:Choice xmlns:v="urn:schemas-microsoft-com:vml" Requires="v">
                <p:oleObj name="Equation" r:id="rId6" imgW="1676160" imgH="304560" progId="Equation.DSMT4">
                  <p:embed/>
                </p:oleObj>
              </mc:Choice>
              <mc:Fallback>
                <p:oleObj name="Equation" r:id="rId6" imgW="1676160" imgH="304560" progId="Equation.DSMT4">
                  <p:embed/>
                  <p:pic>
                    <p:nvPicPr>
                      <p:cNvPr id="12" name="Object 11"/>
                      <p:cNvPicPr/>
                      <p:nvPr/>
                    </p:nvPicPr>
                    <p:blipFill>
                      <a:blip r:embed="rId7"/>
                      <a:stretch>
                        <a:fillRect/>
                      </a:stretch>
                    </p:blipFill>
                    <p:spPr>
                      <a:xfrm>
                        <a:off x="5867400" y="5562600"/>
                        <a:ext cx="2514600" cy="457200"/>
                      </a:xfrm>
                      <a:prstGeom prst="rect">
                        <a:avLst/>
                      </a:prstGeom>
                    </p:spPr>
                  </p:pic>
                </p:oleObj>
              </mc:Fallback>
            </mc:AlternateContent>
          </a:graphicData>
        </a:graphic>
      </p:graphicFrame>
    </p:spTree>
    <p:extLst>
      <p:ext uri="{BB962C8B-B14F-4D97-AF65-F5344CB8AC3E}">
        <p14:creationId xmlns:p14="http://schemas.microsoft.com/office/powerpoint/2010/main" val="3796749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Hypothesis-Error plot framework</a:t>
            </a:r>
          </a:p>
        </p:txBody>
      </p:sp>
      <p:pic>
        <p:nvPicPr>
          <p:cNvPr id="3" name="Picture 2" descr="HE-framework.png"/>
          <p:cNvPicPr>
            <a:picLocks noChangeAspect="1"/>
          </p:cNvPicPr>
          <p:nvPr/>
        </p:nvPicPr>
        <p:blipFill>
          <a:blip r:embed="rId3"/>
          <a:stretch>
            <a:fillRect/>
          </a:stretch>
        </p:blipFill>
        <p:spPr>
          <a:xfrm>
            <a:off x="841248" y="1417320"/>
            <a:ext cx="7229900" cy="5212080"/>
          </a:xfrm>
          <a:prstGeom prst="rect">
            <a:avLst/>
          </a:prstGeom>
        </p:spPr>
      </p:pic>
      <p:sp>
        <p:nvSpPr>
          <p:cNvPr id="4" name="TextBox 3"/>
          <p:cNvSpPr txBox="1"/>
          <p:nvPr/>
        </p:nvSpPr>
        <p:spPr>
          <a:xfrm>
            <a:off x="8436908" y="1417320"/>
            <a:ext cx="3192108" cy="5212080"/>
          </a:xfrm>
          <a:prstGeom prst="rect">
            <a:avLst/>
          </a:prstGeom>
          <a:noFill/>
        </p:spPr>
        <p:txBody>
          <a:bodyPr wrap="square" anchor="ctr">
            <a:noAutofit/>
          </a:bodyPr>
          <a:lstStyle/>
          <a:p>
            <a:r>
              <a:rPr sz="2400" dirty="0"/>
              <a:t>Data ellipses </a:t>
            </a:r>
            <a:r>
              <a:rPr lang="en-CA" sz="2400" dirty="0">
                <a:sym typeface="Symbol" panose="05050102010706020507" pitchFamily="18" charset="2"/>
              </a:rPr>
              <a:t></a:t>
            </a:r>
            <a:r>
              <a:rPr sz="2400" dirty="0"/>
              <a:t> </a:t>
            </a:r>
            <a:r>
              <a:rPr sz="2400" b="1" dirty="0"/>
              <a:t>E</a:t>
            </a:r>
            <a:r>
              <a:rPr sz="2400" dirty="0"/>
              <a:t> ellipse </a:t>
            </a:r>
            <a:endParaRPr lang="en-CA" sz="2400" dirty="0"/>
          </a:p>
          <a:p>
            <a:endParaRPr lang="en-CA" sz="2400" dirty="0"/>
          </a:p>
          <a:p>
            <a:r>
              <a:rPr lang="en-CA" sz="2400" dirty="0"/>
              <a:t>G</a:t>
            </a:r>
            <a:r>
              <a:rPr sz="2400" dirty="0" err="1"/>
              <a:t>roup</a:t>
            </a:r>
            <a:r>
              <a:rPr sz="2400" dirty="0"/>
              <a:t> means </a:t>
            </a:r>
            <a:r>
              <a:rPr lang="en-CA" sz="2400" dirty="0">
                <a:sym typeface="Symbol" panose="05050102010706020507" pitchFamily="18" charset="2"/>
              </a:rPr>
              <a:t></a:t>
            </a:r>
            <a:r>
              <a:rPr sz="2400" dirty="0"/>
              <a:t> </a:t>
            </a:r>
            <a:r>
              <a:rPr sz="2400" b="1" dirty="0"/>
              <a:t>H</a:t>
            </a:r>
            <a:endParaRPr lang="en-CA" sz="2400" b="1" dirty="0"/>
          </a:p>
          <a:p>
            <a:r>
              <a:rPr sz="2400" dirty="0"/>
              <a:t> </a:t>
            </a:r>
            <a:endParaRPr lang="en-CA" sz="2400" dirty="0"/>
          </a:p>
          <a:p>
            <a:r>
              <a:rPr lang="en-CA" sz="2400" dirty="0"/>
              <a:t>P</a:t>
            </a:r>
            <a:r>
              <a:rPr sz="2400" dirty="0" err="1"/>
              <a:t>rojection</a:t>
            </a:r>
            <a:r>
              <a:rPr sz="2400" dirty="0"/>
              <a:t> </a:t>
            </a:r>
            <a:r>
              <a:rPr lang="en-CA" sz="2400" dirty="0">
                <a:sym typeface="Symbol" panose="05050102010706020507" pitchFamily="18" charset="2"/>
              </a:rPr>
              <a:t> </a:t>
            </a:r>
            <a:r>
              <a:rPr sz="2400" dirty="0"/>
              <a:t>discriminant view.</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MANOVA: the same sums of squares, now as matrices</a:t>
            </a:r>
          </a:p>
        </p:txBody>
      </p:sp>
      <p:pic>
        <p:nvPicPr>
          <p:cNvPr id="3" name="Picture 2" descr="VisualizingSSP.png"/>
          <p:cNvPicPr>
            <a:picLocks noChangeAspect="1"/>
          </p:cNvPicPr>
          <p:nvPr/>
        </p:nvPicPr>
        <p:blipFill>
          <a:blip r:embed="rId3"/>
          <a:stretch>
            <a:fillRect/>
          </a:stretch>
        </p:blipFill>
        <p:spPr>
          <a:xfrm>
            <a:off x="852273" y="1691640"/>
            <a:ext cx="10493548"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Total = Hypothesis + Error. Each is a matrix, so each can be drawn as an ellipse.</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 plots: is the effect significant, and how?</a:t>
            </a:r>
          </a:p>
        </p:txBody>
      </p:sp>
      <p:pic>
        <p:nvPicPr>
          <p:cNvPr id="3" name="Picture 2" descr="fig-iris-HE1-1.png"/>
          <p:cNvPicPr>
            <a:picLocks noChangeAspect="1"/>
          </p:cNvPicPr>
          <p:nvPr/>
        </p:nvPicPr>
        <p:blipFill>
          <a:blip r:embed="rId3"/>
          <a:stretch>
            <a:fillRect/>
          </a:stretch>
        </p:blipFill>
        <p:spPr>
          <a:xfrm>
            <a:off x="2167128" y="1691640"/>
            <a:ext cx="7863840" cy="3931920"/>
          </a:xfrm>
          <a:prstGeom prst="rect">
            <a:avLst/>
          </a:prstGeom>
        </p:spPr>
      </p:pic>
      <p:sp>
        <p:nvSpPr>
          <p:cNvPr id="4" name="TextBox 3"/>
          <p:cNvSpPr txBox="1"/>
          <p:nvPr/>
        </p:nvSpPr>
        <p:spPr>
          <a:xfrm>
            <a:off x="841248" y="5669280"/>
            <a:ext cx="10515600" cy="369332"/>
          </a:xfrm>
          <a:prstGeom prst="rect">
            <a:avLst/>
          </a:prstGeom>
          <a:noFill/>
        </p:spPr>
        <p:txBody>
          <a:bodyPr wrap="square">
            <a:spAutoFit/>
          </a:bodyPr>
          <a:lstStyle/>
          <a:p>
            <a:r>
              <a:rPr sz="1800" dirty="0"/>
              <a:t>With </a:t>
            </a:r>
            <a:r>
              <a:rPr sz="1800" b="1" dirty="0"/>
              <a:t>significance</a:t>
            </a:r>
            <a:r>
              <a:rPr sz="1800" dirty="0"/>
              <a:t> scaling, an H ellipse that projects outside E signals a significant effect (Roy's test).</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Contrasts and linear hypotheses</a:t>
            </a:r>
          </a:p>
        </p:txBody>
      </p:sp>
      <p:sp>
        <p:nvSpPr>
          <p:cNvPr id="3" name="Content Placeholder 2"/>
          <p:cNvSpPr>
            <a:spLocks noGrp="1"/>
          </p:cNvSpPr>
          <p:nvPr>
            <p:ph sz="half" idx="1"/>
          </p:nvPr>
        </p:nvSpPr>
        <p:spPr/>
        <p:txBody>
          <a:bodyPr/>
          <a:lstStyle/>
          <a:p>
            <a:r>
              <a:t>Any linear hypothesis has its own H</a:t>
            </a:r>
          </a:p>
          <a:p>
            <a:r>
              <a:t>A 1 df hypothesis is a line</a:t>
            </a:r>
          </a:p>
          <a:p>
            <a:r>
              <a:t>Contrasts decompose the overall effect</a:t>
            </a:r>
          </a:p>
        </p:txBody>
      </p:sp>
      <p:pic>
        <p:nvPicPr>
          <p:cNvPr id="4" name="Picture 3" descr="fig-iris-contrasts-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 plot matrices: all pairs of responses</a:t>
            </a:r>
          </a:p>
        </p:txBody>
      </p:sp>
      <p:sp>
        <p:nvSpPr>
          <p:cNvPr id="3" name="Content Placeholder 2"/>
          <p:cNvSpPr>
            <a:spLocks noGrp="1"/>
          </p:cNvSpPr>
          <p:nvPr>
            <p:ph sz="half" idx="1"/>
          </p:nvPr>
        </p:nvSpPr>
        <p:spPr/>
        <p:txBody>
          <a:bodyPr/>
          <a:lstStyle/>
          <a:p>
            <a:r>
              <a:t>The analog of a scatterplot matrix for a multivariate model</a:t>
            </a:r>
          </a:p>
          <a:p>
            <a:r>
              <a:t>One HE plot for each pair of responses</a:t>
            </a:r>
          </a:p>
        </p:txBody>
      </p:sp>
      <p:pic>
        <p:nvPicPr>
          <p:cNvPr id="4" name="Picture 3" descr="fig-iris-pairs-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12.8</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Canonical views: the space where the groups differ most</a:t>
            </a:r>
          </a:p>
        </p:txBody>
      </p:sp>
      <p:sp>
        <p:nvSpPr>
          <p:cNvPr id="3" name="Content Placeholder 2"/>
          <p:cNvSpPr>
            <a:spLocks noGrp="1"/>
          </p:cNvSpPr>
          <p:nvPr>
            <p:ph sz="half" idx="1"/>
          </p:nvPr>
        </p:nvSpPr>
        <p:spPr/>
        <p:txBody>
          <a:bodyPr/>
          <a:lstStyle/>
          <a:p>
            <a:r>
              <a:t>Canonical discriminant analysis: a PCA of H relative to E</a:t>
            </a:r>
          </a:p>
          <a:p>
            <a:r>
              <a:t>E becomes a circle</a:t>
            </a:r>
          </a:p>
          <a:p>
            <a:r>
              <a:t>Variable vectors show what each dimension means</a:t>
            </a:r>
          </a:p>
        </p:txBody>
      </p:sp>
      <p:pic>
        <p:nvPicPr>
          <p:cNvPr id="4" name="Picture 3" descr="fig-iris-HEcan-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12.10</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Quantitative predictors: each effect is a line</a:t>
            </a:r>
          </a:p>
        </p:txBody>
      </p:sp>
      <p:sp>
        <p:nvSpPr>
          <p:cNvPr id="3" name="Content Placeholder 2"/>
          <p:cNvSpPr>
            <a:spLocks noGrp="1"/>
          </p:cNvSpPr>
          <p:nvPr>
            <p:ph sz="half" idx="1"/>
          </p:nvPr>
        </p:nvSpPr>
        <p:spPr/>
        <p:txBody>
          <a:bodyPr/>
          <a:lstStyle/>
          <a:p>
            <a:r>
              <a:t>School data: reading and mathematics scores</a:t>
            </a:r>
          </a:p>
          <a:p>
            <a:r>
              <a:t>Length: the strength of the relationship</a:t>
            </a:r>
          </a:p>
          <a:p>
            <a:r>
              <a:t>Direction: how the predictor relates to the two responses</a:t>
            </a:r>
          </a:p>
          <a:p>
            <a:r>
              <a:t>The overall test is the ellipse for all predictors jointly</a:t>
            </a:r>
          </a:p>
        </p:txBody>
      </p:sp>
      <p:pic>
        <p:nvPicPr>
          <p:cNvPr id="4" name="Picture 3" descr="fig-school-heplot1-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12.17</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Canonical correlation in an HE plot</a:t>
            </a:r>
          </a:p>
        </p:txBody>
      </p:sp>
      <p:sp>
        <p:nvSpPr>
          <p:cNvPr id="3" name="Content Placeholder 2"/>
          <p:cNvSpPr>
            <a:spLocks noGrp="1"/>
          </p:cNvSpPr>
          <p:nvPr>
            <p:ph sz="half" idx="1"/>
          </p:nvPr>
        </p:nvSpPr>
        <p:spPr/>
        <p:txBody>
          <a:bodyPr/>
          <a:lstStyle/>
          <a:p>
            <a:r>
              <a:rPr dirty="0"/>
              <a:t>Canonical correlation: the weighted sums of the </a:t>
            </a:r>
            <a:r>
              <a:rPr lang="en-CA" dirty="0"/>
              <a:t>Y</a:t>
            </a:r>
            <a:r>
              <a:rPr dirty="0"/>
              <a:t> and </a:t>
            </a:r>
            <a:r>
              <a:rPr lang="en-CA" dirty="0"/>
              <a:t>X</a:t>
            </a:r>
            <a:r>
              <a:rPr dirty="0"/>
              <a:t> variables that correlate most highly</a:t>
            </a:r>
          </a:p>
          <a:p>
            <a:r>
              <a:rPr dirty="0"/>
              <a:t>Shown as an HE plot in the canonical space</a:t>
            </a:r>
            <a:r>
              <a:rPr lang="en-CA" dirty="0"/>
              <a:t>, with vectors for X &amp; Y variables</a:t>
            </a:r>
            <a:endParaRPr dirty="0"/>
          </a:p>
        </p:txBody>
      </p:sp>
      <p:pic>
        <p:nvPicPr>
          <p:cNvPr id="4" name="Picture 3" descr="fig-school-hecan-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12.22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Factorial designs: main effects and interactions</a:t>
            </a:r>
          </a:p>
        </p:txBody>
      </p:sp>
      <p:sp>
        <p:nvSpPr>
          <p:cNvPr id="3" name="Content Placeholder 2"/>
          <p:cNvSpPr>
            <a:spLocks noGrp="1"/>
          </p:cNvSpPr>
          <p:nvPr>
            <p:ph sz="half" idx="1"/>
          </p:nvPr>
        </p:nvSpPr>
        <p:spPr/>
        <p:txBody>
          <a:bodyPr/>
          <a:lstStyle/>
          <a:p>
            <a:r>
              <a:t>Plastic film data: tear and gloss by rate of extrusion and amount of additive</a:t>
            </a:r>
          </a:p>
          <a:p>
            <a:r>
              <a:t>One H ellipse for each term in the model</a:t>
            </a:r>
          </a:p>
        </p:txBody>
      </p:sp>
      <p:pic>
        <p:nvPicPr>
          <p:cNvPr id="4" name="Picture 3" descr="fig-plastic-HE1-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12.11</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MANCOVA: are the regressions the same across groups?</a:t>
            </a:r>
          </a:p>
        </p:txBody>
      </p:sp>
      <p:sp>
        <p:nvSpPr>
          <p:cNvPr id="3" name="Content Placeholder 2"/>
          <p:cNvSpPr>
            <a:spLocks noGrp="1"/>
          </p:cNvSpPr>
          <p:nvPr>
            <p:ph sz="half" idx="1"/>
          </p:nvPr>
        </p:nvSpPr>
        <p:spPr/>
        <p:txBody>
          <a:bodyPr/>
          <a:lstStyle/>
          <a:p>
            <a:r>
              <a:t>Rohwer data: aptitude and achievement predicted from paired-associate tasks</a:t>
            </a:r>
          </a:p>
          <a:p>
            <a:r>
              <a:t>Overlaid HE plots for the low and high SES groups</a:t>
            </a:r>
          </a:p>
        </p:txBody>
      </p:sp>
      <p:pic>
        <p:nvPicPr>
          <p:cNvPr id="4" name="Picture 3" descr="fig-rohwer-HE-lohi-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12.25</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Checking multivariate models</a:t>
            </a:r>
          </a:p>
        </p:txBody>
      </p:sp>
      <p:sp>
        <p:nvSpPr>
          <p:cNvPr id="3" name="Text Placeholder 2"/>
          <p:cNvSpPr>
            <a:spLocks noGrp="1"/>
          </p:cNvSpPr>
          <p:nvPr>
            <p:ph type="body" idx="1"/>
          </p:nvPr>
        </p:nvSpPr>
        <p:spPr/>
        <p:txBody>
          <a:bodyPr/>
          <a:lstStyle/>
          <a:p>
            <a:r>
              <a:t>Outliers, influence and robust estimation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distance plot: outliers and leverage, multivariately</a:t>
            </a:r>
          </a:p>
        </p:txBody>
      </p:sp>
      <p:sp>
        <p:nvSpPr>
          <p:cNvPr id="3" name="Content Placeholder 2"/>
          <p:cNvSpPr>
            <a:spLocks noGrp="1"/>
          </p:cNvSpPr>
          <p:nvPr>
            <p:ph sz="half" idx="1"/>
          </p:nvPr>
        </p:nvSpPr>
        <p:spPr/>
        <p:txBody>
          <a:bodyPr/>
          <a:lstStyle/>
          <a:p>
            <a:r>
              <a:t>Vertical: Mahalanobis distance of the residuals</a:t>
            </a:r>
          </a:p>
          <a:p>
            <a:r>
              <a:t>Horizontal: Mahalanobis distance of the predictors</a:t>
            </a:r>
          </a:p>
          <a:p>
            <a:r>
              <a:t>The multivariate analog of residuals vs. leverage</a:t>
            </a:r>
          </a:p>
        </p:txBody>
      </p:sp>
      <p:pic>
        <p:nvPicPr>
          <p:cNvPr id="4" name="Picture 3" descr="fig-school-distplot-1.png"/>
          <p:cNvPicPr>
            <a:picLocks noChangeAspect="1"/>
          </p:cNvPicPr>
          <p:nvPr/>
        </p:nvPicPr>
        <p:blipFill>
          <a:blip r:embed="rId3"/>
          <a:stretch>
            <a:fillRect/>
          </a:stretch>
        </p:blipFill>
        <p:spPr>
          <a:xfrm>
            <a:off x="6172200" y="2033397"/>
            <a:ext cx="5184648" cy="388848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11.18</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Mysterious Case 9</a:t>
            </a:r>
          </a:p>
        </p:txBody>
      </p:sp>
      <p:pic>
        <p:nvPicPr>
          <p:cNvPr id="3" name="Picture 2" descr="fig-toy-inflplots-1.png"/>
          <p:cNvPicPr>
            <a:picLocks noChangeAspect="1"/>
          </p:cNvPicPr>
          <p:nvPr/>
        </p:nvPicPr>
        <p:blipFill>
          <a:blip r:embed="rId3"/>
          <a:stretch>
            <a:fillRect/>
          </a:stretch>
        </p:blipFill>
        <p:spPr>
          <a:xfrm>
            <a:off x="841248" y="2377440"/>
            <a:ext cx="5120640" cy="2560320"/>
          </a:xfrm>
          <a:prstGeom prst="rect">
            <a:avLst/>
          </a:prstGeom>
        </p:spPr>
      </p:pic>
      <p:pic>
        <p:nvPicPr>
          <p:cNvPr id="4" name="Picture 3" descr="fig-toy-inflplot-mlm-stres-1.png"/>
          <p:cNvPicPr>
            <a:picLocks noChangeAspect="1"/>
          </p:cNvPicPr>
          <p:nvPr/>
        </p:nvPicPr>
        <p:blipFill>
          <a:blip r:embed="rId4"/>
          <a:stretch>
            <a:fillRect/>
          </a:stretch>
        </p:blipFill>
        <p:spPr>
          <a:xfrm>
            <a:off x="6236208" y="1828800"/>
            <a:ext cx="5120640" cy="365760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Harmless in each univariate model (left), yet wildly influential in the multivariate model (right).</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14.2, 14.3</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Influence in the penguin model</a:t>
            </a:r>
          </a:p>
        </p:txBody>
      </p:sp>
      <p:sp>
        <p:nvSpPr>
          <p:cNvPr id="3" name="Content Placeholder 2"/>
          <p:cNvSpPr>
            <a:spLocks noGrp="1"/>
          </p:cNvSpPr>
          <p:nvPr>
            <p:ph sz="half" idx="1"/>
          </p:nvPr>
        </p:nvSpPr>
        <p:spPr/>
        <p:txBody>
          <a:bodyPr/>
          <a:lstStyle/>
          <a:p>
            <a:r>
              <a:t>Multivariate influence plot (mvinfluence package)</a:t>
            </a:r>
          </a:p>
          <a:p>
            <a:r>
              <a:t>The most influential case is our Chinstrap friend 'Cyrano'</a:t>
            </a:r>
          </a:p>
          <a:p>
            <a:r>
              <a:t>'Hook Nose', an Adélie, is among the others</a:t>
            </a:r>
          </a:p>
        </p:txBody>
      </p:sp>
      <p:pic>
        <p:nvPicPr>
          <p:cNvPr id="4" name="Picture 3" descr="fig-peng-inflplot1-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14.8</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Robust MLMs: down-weight what does not fit</a:t>
            </a:r>
          </a:p>
        </p:txBody>
      </p:sp>
      <p:sp>
        <p:nvSpPr>
          <p:cNvPr id="3" name="Content Placeholder 2"/>
          <p:cNvSpPr>
            <a:spLocks noGrp="1"/>
          </p:cNvSpPr>
          <p:nvPr>
            <p:ph sz="half" idx="1"/>
          </p:nvPr>
        </p:nvSpPr>
        <p:spPr/>
        <p:txBody>
          <a:bodyPr/>
          <a:lstStyle/>
          <a:p>
            <a:r>
              <a:t>robmlm(): iteratively reweighted least squares for a multivariate model</a:t>
            </a:r>
          </a:p>
          <a:p>
            <a:r>
              <a:t>Index plot of the final observation weights</a:t>
            </a:r>
          </a:p>
          <a:p>
            <a:r>
              <a:t>Cyrano gets weight 0; Hook Nose gets 0.13</a:t>
            </a:r>
          </a:p>
        </p:txBody>
      </p:sp>
      <p:pic>
        <p:nvPicPr>
          <p:cNvPr id="4" name="Picture 3" descr="fig-peng-robmlm-plot-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14.10</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Are the covariance matrices equal?</a:t>
            </a:r>
          </a:p>
        </p:txBody>
      </p:sp>
      <p:sp>
        <p:nvSpPr>
          <p:cNvPr id="3" name="Content Placeholder 2"/>
          <p:cNvSpPr>
            <a:spLocks noGrp="1"/>
          </p:cNvSpPr>
          <p:nvPr>
            <p:ph sz="half" idx="1"/>
          </p:nvPr>
        </p:nvSpPr>
        <p:spPr/>
        <p:txBody>
          <a:bodyPr/>
          <a:lstStyle/>
          <a:p>
            <a:r>
              <a:t>MANOVA assumes equal within-group covariance matrices</a:t>
            </a:r>
          </a:p>
          <a:p>
            <a:r>
              <a:t>Compare the data ellipse of each group with the pooled one</a:t>
            </a:r>
          </a:p>
          <a:p>
            <a:r>
              <a:t>Look for differences in size and shape</a:t>
            </a:r>
          </a:p>
        </p:txBody>
      </p:sp>
      <p:pic>
        <p:nvPicPr>
          <p:cNvPr id="4" name="Picture 3" descr="fig-peng-covEllipse-pairs-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13.4</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Visualizing Box's M test</a:t>
            </a:r>
          </a:p>
        </p:txBody>
      </p:sp>
      <p:pic>
        <p:nvPicPr>
          <p:cNvPr id="3" name="Picture 2" descr="fig-peng-iris-boxm-plots-1.png"/>
          <p:cNvPicPr>
            <a:picLocks noChangeAspect="1"/>
          </p:cNvPicPr>
          <p:nvPr/>
        </p:nvPicPr>
        <p:blipFill>
          <a:blip r:embed="rId3"/>
          <a:stretch>
            <a:fillRect/>
          </a:stretch>
        </p:blipFill>
        <p:spPr>
          <a:xfrm>
            <a:off x="2167128" y="1691640"/>
            <a:ext cx="7863840"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Box's M compares the log determinants of the group covariance matrices with that of the pooled matrix.</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13.6</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Discriminant analysis</a:t>
            </a:r>
          </a:p>
        </p:txBody>
      </p:sp>
      <p:sp>
        <p:nvSpPr>
          <p:cNvPr id="3" name="Text Placeholder 2"/>
          <p:cNvSpPr>
            <a:spLocks noGrp="1"/>
          </p:cNvSpPr>
          <p:nvPr>
            <p:ph type="body" idx="1"/>
          </p:nvPr>
        </p:nvSpPr>
        <p:spPr/>
        <p:txBody>
          <a:bodyPr/>
          <a:lstStyle/>
          <a:p>
            <a:r>
              <a:t>MANOVA turned around: predicting the group</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Linear discriminant analysis: the main ideas</a:t>
            </a:r>
          </a:p>
        </p:txBody>
      </p:sp>
      <p:pic>
        <p:nvPicPr>
          <p:cNvPr id="3" name="Picture 2" descr="discrim-demo-both.jpg"/>
          <p:cNvPicPr>
            <a:picLocks noChangeAspect="1"/>
          </p:cNvPicPr>
          <p:nvPr/>
        </p:nvPicPr>
        <p:blipFill>
          <a:blip r:embed="rId3"/>
          <a:stretch>
            <a:fillRect/>
          </a:stretch>
        </p:blipFill>
        <p:spPr>
          <a:xfrm>
            <a:off x="841248" y="1417320"/>
            <a:ext cx="5157003" cy="5212080"/>
          </a:xfrm>
          <a:prstGeom prst="rect">
            <a:avLst/>
          </a:prstGeom>
        </p:spPr>
      </p:pic>
      <p:sp>
        <p:nvSpPr>
          <p:cNvPr id="4" name="TextBox 3"/>
          <p:cNvSpPr txBox="1"/>
          <p:nvPr/>
        </p:nvSpPr>
        <p:spPr>
          <a:xfrm>
            <a:off x="6364011" y="1417320"/>
            <a:ext cx="4992837" cy="5212080"/>
          </a:xfrm>
          <a:prstGeom prst="rect">
            <a:avLst/>
          </a:prstGeom>
          <a:noFill/>
        </p:spPr>
        <p:txBody>
          <a:bodyPr wrap="square" anchor="ctr">
            <a:noAutofit/>
          </a:bodyPr>
          <a:lstStyle/>
          <a:p>
            <a:r>
              <a:rPr sz="2400"/>
              <a:t>Find the directions that best separate the groups, then classify by distance to the group means.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Prediction regions in data space</a:t>
            </a:r>
          </a:p>
        </p:txBody>
      </p:sp>
      <p:pic>
        <p:nvPicPr>
          <p:cNvPr id="3" name="Picture 2" descr="fig-peng-regions-1.png"/>
          <p:cNvPicPr>
            <a:picLocks noChangeAspect="1"/>
          </p:cNvPicPr>
          <p:nvPr/>
        </p:nvPicPr>
        <p:blipFill>
          <a:blip r:embed="rId3"/>
          <a:stretch>
            <a:fillRect/>
          </a:stretch>
        </p:blipFill>
        <p:spPr>
          <a:xfrm>
            <a:off x="1380744" y="1417320"/>
            <a:ext cx="9436608" cy="4718304"/>
          </a:xfrm>
          <a:prstGeom prst="rect">
            <a:avLst/>
          </a:prstGeom>
        </p:spPr>
      </p:pic>
      <p:sp>
        <p:nvSpPr>
          <p:cNvPr id="4" name="TextBox 3"/>
          <p:cNvSpPr txBox="1"/>
          <p:nvPr/>
        </p:nvSpPr>
        <p:spPr>
          <a:xfrm>
            <a:off x="841248" y="6181344"/>
            <a:ext cx="10515600" cy="548640"/>
          </a:xfrm>
          <a:prstGeom prst="rect">
            <a:avLst/>
          </a:prstGeom>
          <a:noFill/>
        </p:spPr>
        <p:txBody>
          <a:bodyPr wrap="square">
            <a:spAutoFit/>
          </a:bodyPr>
          <a:lstStyle/>
          <a:p>
            <a:r>
              <a:rPr sz="1800"/>
              <a:t>Classify every point in a grid of values: the LDA boundaries are linear.</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Prediction regions in discriminant space</a:t>
            </a:r>
          </a:p>
        </p:txBody>
      </p:sp>
      <p:sp>
        <p:nvSpPr>
          <p:cNvPr id="3" name="Content Placeholder 2"/>
          <p:cNvSpPr>
            <a:spLocks noGrp="1"/>
          </p:cNvSpPr>
          <p:nvPr>
            <p:ph sz="half" idx="1"/>
          </p:nvPr>
        </p:nvSpPr>
        <p:spPr/>
        <p:txBody>
          <a:bodyPr/>
          <a:lstStyle/>
          <a:p>
            <a:r>
              <a:t>With three species, two discriminant dimensions show everything</a:t>
            </a:r>
          </a:p>
          <a:p>
            <a:r>
              <a:t>Variable vectors show which measures separate the species</a:t>
            </a:r>
          </a:p>
        </p:txBody>
      </p:sp>
      <p:pic>
        <p:nvPicPr>
          <p:cNvPr id="4" name="Picture 3" descr="fig-peng-LD-biplot-1.png"/>
          <p:cNvPicPr>
            <a:picLocks noChangeAspect="1"/>
          </p:cNvPicPr>
          <p:nvPr/>
        </p:nvPicPr>
        <p:blipFill>
          <a:blip r:embed="rId3"/>
          <a:stretch>
            <a:fillRect/>
          </a:stretch>
        </p:blipFill>
        <p:spPr>
          <a:xfrm>
            <a:off x="6144768" y="1417320"/>
            <a:ext cx="5212080" cy="521208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Quadratic discriminant analysis</a:t>
            </a:r>
          </a:p>
        </p:txBody>
      </p:sp>
      <p:pic>
        <p:nvPicPr>
          <p:cNvPr id="3" name="Picture 2" descr="fig-peng-qda-regions-1.png"/>
          <p:cNvPicPr>
            <a:picLocks noChangeAspect="1"/>
          </p:cNvPicPr>
          <p:nvPr/>
        </p:nvPicPr>
        <p:blipFill>
          <a:blip r:embed="rId3"/>
          <a:stretch>
            <a:fillRect/>
          </a:stretch>
        </p:blipFill>
        <p:spPr>
          <a:xfrm>
            <a:off x="1380744" y="1417320"/>
            <a:ext cx="9436608" cy="4718304"/>
          </a:xfrm>
          <a:prstGeom prst="rect">
            <a:avLst/>
          </a:prstGeom>
        </p:spPr>
      </p:pic>
      <p:sp>
        <p:nvSpPr>
          <p:cNvPr id="4" name="TextBox 3"/>
          <p:cNvSpPr txBox="1"/>
          <p:nvPr/>
        </p:nvSpPr>
        <p:spPr>
          <a:xfrm>
            <a:off x="841248" y="6181344"/>
            <a:ext cx="10515600" cy="548640"/>
          </a:xfrm>
          <a:prstGeom prst="rect">
            <a:avLst/>
          </a:prstGeom>
          <a:noFill/>
        </p:spPr>
        <p:txBody>
          <a:bodyPr wrap="square">
            <a:spAutoFit/>
          </a:bodyPr>
          <a:lstStyle/>
          <a:p>
            <a:r>
              <a:rPr sz="1800"/>
              <a:t>With a separate covariance matrix for each group, the boundaries become curved.</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few ideas go a long way</a:t>
            </a:r>
          </a:p>
        </p:txBody>
      </p:sp>
      <p:sp>
        <p:nvSpPr>
          <p:cNvPr id="3" name="Content Placeholder 2"/>
          <p:cNvSpPr>
            <a:spLocks noGrp="1"/>
          </p:cNvSpPr>
          <p:nvPr>
            <p:ph idx="1"/>
          </p:nvPr>
        </p:nvSpPr>
        <p:spPr/>
        <p:txBody>
          <a:bodyPr/>
          <a:lstStyle/>
          <a:p>
            <a:r>
              <a:rPr dirty="0"/>
              <a:t>Ellipses: for data, for coefficients, and for hypotheses and error</a:t>
            </a:r>
          </a:p>
          <a:p>
            <a:r>
              <a:rPr dirty="0"/>
              <a:t>Projections: every plot is a view; choose the views that answer the question</a:t>
            </a:r>
          </a:p>
          <a:p>
            <a:r>
              <a:rPr dirty="0"/>
              <a:t>Low-</a:t>
            </a:r>
            <a:r>
              <a:rPr lang="en-CA"/>
              <a:t>D</a:t>
            </a:r>
            <a:r>
              <a:t> views: biplots and canonical plots show many variables in the space that matters</a:t>
            </a:r>
          </a:p>
          <a:p>
            <a:r>
              <a:rPr dirty="0"/>
              <a:t>Visual thinning: summarize, so the message can be seen</a:t>
            </a:r>
          </a:p>
          <a:p>
            <a:r>
              <a:rPr dirty="0"/>
              <a:t>Multivariate models deserve graphs as good as those for a single response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Book, code and packages</a:t>
            </a:r>
          </a:p>
        </p:txBody>
      </p:sp>
      <p:sp>
        <p:nvSpPr>
          <p:cNvPr id="3" name="Content Placeholder 2"/>
          <p:cNvSpPr>
            <a:spLocks noGrp="1"/>
          </p:cNvSpPr>
          <p:nvPr>
            <p:ph sz="half" idx="1"/>
          </p:nvPr>
        </p:nvSpPr>
        <p:spPr/>
        <p:txBody>
          <a:bodyPr/>
          <a:lstStyle/>
          <a:p>
            <a:r>
              <a:rPr dirty="0"/>
              <a:t>Online version: </a:t>
            </a:r>
            <a:r>
              <a:rPr dirty="0">
                <a:hlinkClick r:id="rId3"/>
              </a:rPr>
              <a:t>friendly.github.io/Vis-MLM-book</a:t>
            </a:r>
            <a:endParaRPr dirty="0"/>
          </a:p>
          <a:p>
            <a:r>
              <a:rPr dirty="0"/>
              <a:t>Source and R code: github.com/</a:t>
            </a:r>
            <a:r>
              <a:rPr dirty="0" err="1"/>
              <a:t>friendly/vis-MLM-book</a:t>
            </a:r>
            <a:endParaRPr dirty="0"/>
          </a:p>
          <a:p>
            <a:r>
              <a:rPr dirty="0"/>
              <a:t>R packages: </a:t>
            </a:r>
            <a:r>
              <a:rPr dirty="0" err="1"/>
              <a:t>heplots</a:t>
            </a:r>
            <a:r>
              <a:rPr dirty="0"/>
              <a:t>, </a:t>
            </a:r>
            <a:r>
              <a:rPr dirty="0" err="1"/>
              <a:t>candisc</a:t>
            </a:r>
            <a:r>
              <a:rPr dirty="0"/>
              <a:t>, </a:t>
            </a:r>
            <a:r>
              <a:rPr dirty="0" err="1"/>
              <a:t>mvinfluence</a:t>
            </a:r>
            <a:r>
              <a:rPr dirty="0"/>
              <a:t>, </a:t>
            </a:r>
            <a:r>
              <a:rPr dirty="0" err="1"/>
              <a:t>genridge</a:t>
            </a:r>
            <a:r>
              <a:rPr lang="en-CA" dirty="0"/>
              <a:t>, </a:t>
            </a:r>
            <a:r>
              <a:rPr lang="en-CA" dirty="0" err="1"/>
              <a:t>VisCollin</a:t>
            </a:r>
            <a:endParaRPr dirty="0"/>
          </a:p>
          <a:p>
            <a:r>
              <a:rPr dirty="0"/>
              <a:t>To appear with CRC Press / Chapman &amp; Hall</a:t>
            </a:r>
            <a:r>
              <a:rPr lang="en-CA"/>
              <a:t>, 2027</a:t>
            </a:r>
            <a:endParaRPr dirty="0"/>
          </a:p>
        </p:txBody>
      </p:sp>
      <p:pic>
        <p:nvPicPr>
          <p:cNvPr id="4" name="Picture 3" descr="cover-peng.jpg"/>
          <p:cNvPicPr>
            <a:picLocks noChangeAspect="1"/>
          </p:cNvPicPr>
          <p:nvPr/>
        </p:nvPicPr>
        <p:blipFill>
          <a:blip r:embed="rId4"/>
          <a:stretch>
            <a:fillRect/>
          </a:stretch>
        </p:blipFill>
        <p:spPr>
          <a:xfrm>
            <a:off x="7169844" y="731404"/>
            <a:ext cx="3953563" cy="5440796"/>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0" y="2103120"/>
            <a:ext cx="4754880" cy="2651760"/>
          </a:xfrm>
        </p:spPr>
        <p:txBody>
          <a:bodyPr anchor="ctr"/>
          <a:lstStyle/>
          <a:p>
            <a:r>
              <a:t>Questions?</a:t>
            </a:r>
            <a:br/>
            <a:r>
              <a:t>Discussion?</a:t>
            </a:r>
          </a:p>
        </p:txBody>
      </p:sp>
      <p:pic>
        <p:nvPicPr>
          <p:cNvPr id="4" name="Thank you (animated)" descr="thank-you.gif"/>
          <p:cNvPicPr>
            <a:picLocks noChangeAspect="1"/>
          </p:cNvPicPr>
          <p:nvPr/>
        </p:nvPicPr>
        <p:blipFill>
          <a:blip r:embed="rId2"/>
          <a:stretch>
            <a:fillRect/>
          </a:stretch>
        </p:blipFill>
        <p:spPr>
          <a:xfrm>
            <a:off x="822960" y="731520"/>
            <a:ext cx="5394960" cy="5394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1005</TotalTime>
  <Words>4372</Words>
  <Application>Microsoft Office PowerPoint</Application>
  <PresentationFormat>Widescreen</PresentationFormat>
  <Paragraphs>399</Paragraphs>
  <Slides>74</Slides>
  <Notes>66</Notes>
  <HiddenSlides>1</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74</vt:i4>
      </vt:variant>
    </vt:vector>
  </HeadingPairs>
  <TitlesOfParts>
    <vt:vector size="81" baseType="lpstr">
      <vt:lpstr>Aptos</vt:lpstr>
      <vt:lpstr>Aptos Display</vt:lpstr>
      <vt:lpstr>Arial</vt:lpstr>
      <vt:lpstr>Cambria Math</vt:lpstr>
      <vt:lpstr>Symbol</vt:lpstr>
      <vt:lpstr>Office Theme</vt:lpstr>
      <vt:lpstr>Equation</vt:lpstr>
      <vt:lpstr>Visualizing Multivariate Data and Models in R</vt:lpstr>
      <vt:lpstr>The book</vt:lpstr>
      <vt:lpstr>Key features of the book</vt:lpstr>
      <vt:lpstr>R packages</vt:lpstr>
      <vt:lpstr>Where we are going</vt:lpstr>
      <vt:lpstr>Why a romance in many dimensions?</vt:lpstr>
      <vt:lpstr>Flatland: we only ever see 2D projections</vt:lpstr>
      <vt:lpstr>EUREKA! Structure can hide in many dimensions</vt:lpstr>
      <vt:lpstr>A multivariate discovery: kinds of diabetes</vt:lpstr>
      <vt:lpstr>The problem: easy to fit, hard to see</vt:lpstr>
      <vt:lpstr>Seeing multivariate data</vt:lpstr>
      <vt:lpstr>The data ellipse summarizes means, spread &amp; correlation – a sufficient visual summary for N(µ, Σ)</vt:lpstr>
      <vt:lpstr>Meet the penguins</vt:lpstr>
      <vt:lpstr>Simpson's paradox: marginal &amp; conditional relations</vt:lpstr>
      <vt:lpstr>How to visualize p &gt; 2 variables in Flatland? Scatterplot matrices: all pairs at once</vt:lpstr>
      <vt:lpstr>Visual thinning: show less to see more Effect order: order variables to see what you want to show </vt:lpstr>
      <vt:lpstr>Parallel coordinates: one line per penguin</vt:lpstr>
      <vt:lpstr>Animated tours: moving through projections</vt:lpstr>
      <vt:lpstr>Multivariate outliers: which penguins are unusual?</vt:lpstr>
      <vt:lpstr>Flatland and Spaceland: dimension reduction</vt:lpstr>
      <vt:lpstr>PCA: rotate to the views that show the most variance</vt:lpstr>
      <vt:lpstr>PCA fitted by springs: Physical analog</vt:lpstr>
      <vt:lpstr>Biplots: observations and variables in one view</vt:lpstr>
      <vt:lpstr>When a linear view is not enough: PCA vs t-SNE</vt:lpstr>
      <vt:lpstr>From PCA to t-SNE, animated</vt:lpstr>
      <vt:lpstr>Application: effect ordering variables in displays</vt:lpstr>
      <vt:lpstr>Application: how many dimensions is the Mona Lisa?</vt:lpstr>
      <vt:lpstr>Outliers hide in the smallest dimensions</vt:lpstr>
      <vt:lpstr>Plots for models with one response</vt:lpstr>
      <vt:lpstr>The regression quartet</vt:lpstr>
      <vt:lpstr>Coefficient plots: show the estimates, not a table</vt:lpstr>
      <vt:lpstr>Added-variable plots show partial relationships</vt:lpstr>
      <vt:lpstr>Effect displays: what the model predicts</vt:lpstr>
      <vt:lpstr>Leverage and influence</vt:lpstr>
      <vt:lpstr>Which observations drive the fit?</vt:lpstr>
      <vt:lpstr>Data space and beta space are dual</vt:lpstr>
      <vt:lpstr>Measurement error biases more than one coefficient</vt:lpstr>
      <vt:lpstr>Collinearity and ridge regression</vt:lpstr>
      <vt:lpstr>Collinearity: narrow data, inflated uncertainty</vt:lpstr>
      <vt:lpstr>Where's Waldo? Collinearity lives in the smallest dimensions</vt:lpstr>
      <vt:lpstr>Ridge regression: shrink to gain precision</vt:lpstr>
      <vt:lpstr>The usual ridge trace shows only the estimates</vt:lpstr>
      <vt:lpstr>Bivariate ridge traces show bias and precision together</vt:lpstr>
      <vt:lpstr>A low-rank view of ridge regression</vt:lpstr>
      <vt:lpstr>The HE plot framework</vt:lpstr>
      <vt:lpstr>From the t-test to Hotelling's T²</vt:lpstr>
      <vt:lpstr>Data  Data ellipses  HE plot</vt:lpstr>
      <vt:lpstr>The H ellipse</vt:lpstr>
      <vt:lpstr>The E ellipse</vt:lpstr>
      <vt:lpstr>The Hypothesis-Error plot framework</vt:lpstr>
      <vt:lpstr>MANOVA: the same sums of squares, now as matrices</vt:lpstr>
      <vt:lpstr>HE plots: is the effect significant, and how?</vt:lpstr>
      <vt:lpstr>Contrasts and linear hypotheses</vt:lpstr>
      <vt:lpstr>HE plot matrices: all pairs of responses</vt:lpstr>
      <vt:lpstr>Canonical views: the space where the groups differ most</vt:lpstr>
      <vt:lpstr>Quantitative predictors: each effect is a line</vt:lpstr>
      <vt:lpstr>Canonical correlation in an HE plot</vt:lpstr>
      <vt:lpstr>Factorial designs: main effects and interactions</vt:lpstr>
      <vt:lpstr>MANCOVA: are the regressions the same across groups?</vt:lpstr>
      <vt:lpstr>Checking multivariate models</vt:lpstr>
      <vt:lpstr>The distance plot: outliers and leverage, multivariately</vt:lpstr>
      <vt:lpstr>The Mysterious Case 9</vt:lpstr>
      <vt:lpstr>Influence in the penguin model</vt:lpstr>
      <vt:lpstr>Robust MLMs: down-weight what does not fit</vt:lpstr>
      <vt:lpstr>Are the covariance matrices equal?</vt:lpstr>
      <vt:lpstr>Visualizing Box's M test</vt:lpstr>
      <vt:lpstr>Discriminant analysis</vt:lpstr>
      <vt:lpstr>Linear discriminant analysis: the main ideas</vt:lpstr>
      <vt:lpstr>Prediction regions in data space</vt:lpstr>
      <vt:lpstr>Prediction regions in discriminant space</vt:lpstr>
      <vt:lpstr>Quadratic discriminant analysis</vt:lpstr>
      <vt:lpstr>A few ideas go a long way</vt:lpstr>
      <vt:lpstr>Book, code and packages</vt:lpstr>
      <vt:lpstr>Questions?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L Friendly</dc:creator>
  <cp:lastModifiedBy>Michael L Friendly</cp:lastModifiedBy>
  <cp:revision>20</cp:revision>
  <dcterms:created xsi:type="dcterms:W3CDTF">2026-10-06T18:00:03Z</dcterms:created>
  <dcterms:modified xsi:type="dcterms:W3CDTF">2026-10-10T16:42:02Z</dcterms:modified>
</cp:coreProperties>
</file>