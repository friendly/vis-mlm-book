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8"/>
  </p:notesMasterIdLst>
  <p:sldIdLst>
    <p:sldId id="256" r:id="rId2"/>
    <p:sldId id="257" r:id="rId3"/>
    <p:sldId id="330" r:id="rId4"/>
    <p:sldId id="325" r:id="rId5"/>
    <p:sldId id="258" r:id="rId6"/>
    <p:sldId id="259" r:id="rId7"/>
    <p:sldId id="260" r:id="rId8"/>
    <p:sldId id="261" r:id="rId9"/>
    <p:sldId id="262" r:id="rId10"/>
    <p:sldId id="263" r:id="rId11"/>
    <p:sldId id="264" r:id="rId12"/>
    <p:sldId id="456" r:id="rId13"/>
    <p:sldId id="457" r:id="rId14"/>
    <p:sldId id="458" r:id="rId15"/>
    <p:sldId id="326" r:id="rId16"/>
    <p:sldId id="266" r:id="rId17"/>
    <p:sldId id="470" r:id="rId18"/>
    <p:sldId id="267" r:id="rId19"/>
    <p:sldId id="268" r:id="rId20"/>
    <p:sldId id="269" r:id="rId21"/>
    <p:sldId id="270" r:id="rId22"/>
    <p:sldId id="271" r:id="rId23"/>
    <p:sldId id="282" r:id="rId24"/>
    <p:sldId id="272" r:id="rId25"/>
    <p:sldId id="471" r:id="rId26"/>
    <p:sldId id="472" r:id="rId27"/>
    <p:sldId id="460" r:id="rId28"/>
    <p:sldId id="289" r:id="rId29"/>
    <p:sldId id="461" r:id="rId30"/>
    <p:sldId id="462" r:id="rId31"/>
    <p:sldId id="285" r:id="rId32"/>
    <p:sldId id="287" r:id="rId33"/>
    <p:sldId id="288" r:id="rId34"/>
    <p:sldId id="463" r:id="rId35"/>
    <p:sldId id="292" r:id="rId36"/>
    <p:sldId id="293" r:id="rId37"/>
    <p:sldId id="294" r:id="rId38"/>
    <p:sldId id="295" r:id="rId39"/>
    <p:sldId id="465" r:id="rId40"/>
    <p:sldId id="297" r:id="rId41"/>
    <p:sldId id="298" r:id="rId42"/>
    <p:sldId id="299" r:id="rId43"/>
    <p:sldId id="466" r:id="rId44"/>
    <p:sldId id="327" r:id="rId45"/>
    <p:sldId id="328" r:id="rId46"/>
    <p:sldId id="329" r:id="rId47"/>
    <p:sldId id="300" r:id="rId48"/>
    <p:sldId id="301" r:id="rId49"/>
    <p:sldId id="302" r:id="rId50"/>
    <p:sldId id="303" r:id="rId51"/>
    <p:sldId id="304" r:id="rId52"/>
    <p:sldId id="306" r:id="rId53"/>
    <p:sldId id="273" r:id="rId54"/>
    <p:sldId id="467" r:id="rId55"/>
    <p:sldId id="274" r:id="rId56"/>
    <p:sldId id="275" r:id="rId57"/>
    <p:sldId id="276" r:id="rId58"/>
    <p:sldId id="468" r:id="rId59"/>
    <p:sldId id="469" r:id="rId60"/>
    <p:sldId id="318" r:id="rId61"/>
    <p:sldId id="319" r:id="rId62"/>
    <p:sldId id="320" r:id="rId63"/>
    <p:sldId id="277" r:id="rId64"/>
    <p:sldId id="278" r:id="rId65"/>
    <p:sldId id="279" r:id="rId66"/>
    <p:sldId id="280" r:id="rId67"/>
    <p:sldId id="281" r:id="rId68"/>
    <p:sldId id="310" r:id="rId69"/>
    <p:sldId id="311" r:id="rId70"/>
    <p:sldId id="313" r:id="rId71"/>
    <p:sldId id="314" r:id="rId72"/>
    <p:sldId id="322" r:id="rId73"/>
    <p:sldId id="323" r:id="rId74"/>
    <p:sldId id="324" r:id="rId75"/>
    <p:sldId id="283" r:id="rId76"/>
    <p:sldId id="284" r:id="rId77"/>
    <p:sldId id="286" r:id="rId78"/>
    <p:sldId id="291" r:id="rId79"/>
    <p:sldId id="307" r:id="rId80"/>
    <p:sldId id="308" r:id="rId81"/>
    <p:sldId id="309" r:id="rId82"/>
    <p:sldId id="315" r:id="rId83"/>
    <p:sldId id="316" r:id="rId84"/>
    <p:sldId id="317" r:id="rId85"/>
    <p:sldId id="321" r:id="rId86"/>
    <p:sldId id="312" r:id="rId8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30"/>
            <p14:sldId id="325"/>
            <p14:sldId id="258"/>
          </p14:sldIdLst>
        </p14:section>
        <p14:section name="Why many dimensions?"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267"/>
            <p14:sldId id="268"/>
            <p14:sldId id="269"/>
            <p14:sldId id="270"/>
            <p14:sldId id="271"/>
          </p14:sldIdLst>
        </p14:section>
        <p14:section name="2. Elliptical insights: models with one response" id="{EAA495C8-47F8-453B-93BF-84216DBE3542}">
          <p14:sldIdLst>
            <p14:sldId id="282"/>
            <p14:sldId id="272"/>
            <p14:sldId id="471"/>
            <p14:sldId id="472"/>
            <p14:sldId id="460"/>
            <p14:sldId id="289"/>
            <p14:sldId id="461"/>
            <p14:sldId id="462"/>
            <p14:sldId id="285"/>
            <p14:sldId id="287"/>
            <p14:sldId id="288"/>
            <p14:sldId id="463"/>
            <p14:sldId id="292"/>
            <p14:sldId id="293"/>
            <p14:sldId id="294"/>
            <p14:sldId id="295"/>
            <p14:sldId id="465"/>
            <p14:sldId id="297"/>
          </p14:sldIdLst>
        </p14:section>
        <p14:section name="3. The HE plot framework" id="{19AF699C-459B-4008-BE93-C8454174BFDD}">
          <p14:sldIdLst>
            <p14:sldId id="298"/>
            <p14:sldId id="299"/>
            <p14:sldId id="466"/>
            <p14:sldId id="327"/>
            <p14:sldId id="328"/>
            <p14:sldId id="329"/>
            <p14:sldId id="300"/>
            <p14:sldId id="301"/>
            <p14:sldId id="302"/>
            <p14:sldId id="303"/>
            <p14:sldId id="304"/>
            <p14:sldId id="306"/>
          </p14:sldIdLst>
        </p14:section>
        <p14:section name="4. Multivariate juicers and Waldo space" id="{DA27F9D7-637D-4DEC-ADC4-C5706219A457}">
          <p14:sldIdLst>
            <p14:sldId id="273"/>
            <p14:sldId id="467"/>
            <p14:sldId id="274"/>
            <p14:sldId id="275"/>
            <p14:sldId id="276"/>
            <p14:sldId id="468"/>
            <p14:sldId id="469"/>
            <p14:sldId id="318"/>
            <p14:sldId id="319"/>
            <p14:sldId id="320"/>
            <p14:sldId id="277"/>
            <p14:sldId id="278"/>
            <p14:sldId id="279"/>
            <p14:sldId id="280"/>
            <p14:sldId id="281"/>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307"/>
            <p14:sldId id="308"/>
            <p14:sldId id="309"/>
            <p14:sldId id="315"/>
            <p14:sldId id="316"/>
            <p14:sldId id="317"/>
            <p14:sldId id="321"/>
            <p14:sldId id="31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5396" autoAdjust="0"/>
  </p:normalViewPr>
  <p:slideViewPr>
    <p:cSldViewPr snapToGrid="0">
      <p:cViewPr varScale="1">
        <p:scale>
          <a:sx n="87" d="100"/>
          <a:sy n="87" d="100"/>
        </p:scale>
        <p:origin x="402" y="90"/>
      </p:cViewPr>
      <p:guideLst/>
    </p:cSldViewPr>
  </p:slideViewPr>
  <p:notesTextViewPr>
    <p:cViewPr>
      <p:scale>
        <a:sx n="1" d="1"/>
        <a:sy n="1" d="1"/>
      </p:scale>
      <p:origin x="0" y="0"/>
    </p:cViewPr>
  </p:notesTextViewPr>
  <p:sorterViewPr>
    <p:cViewPr>
      <p:scale>
        <a:sx n="100" d="100"/>
        <a:sy n="100" d="100"/>
      </p:scale>
      <p:origin x="0" y="-1281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notesMaster" Target="notesMasters/notes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The talk is framed around the book of the same name.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the book is and where to find it. The online version has the animations and all the R code.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From the Features section of the Preface. Three of the book's themes: (1) data visualization as a combination of exposure (plotting the raw data) and summarization (plotting statistical summaries), with visual thinning to balance them; (2) the connections among statistics, geometry and data visualization; (3) dimension reduction methods as 'multivariate juicers'.</a:t>
            </a:r>
          </a:p>
        </p:txBody>
      </p:sp>
    </p:spTree>
    <p:extLst>
      <p:ext uri="{BB962C8B-B14F-4D97-AF65-F5344CB8AC3E}">
        <p14:creationId xmlns:p14="http://schemas.microsoft.com/office/powerpoint/2010/main" val="10631299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Roadmap. The talk follows the book: plots of data, then models with one response, then models with many responses. The ellipse is the recurring device.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pollen data look like a featureless cloud until 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CA" dirty="0"/>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12</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13</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14</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Palmer penguins are the running example.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As an example, consider the now popular data on body measurements of Antarctic penguins classified by species.</a:t>
            </a:r>
          </a:p>
          <a:p>
            <a:r>
              <a:rPr lang="en-CA" dirty="0"/>
              <a:t>(The classic iris data seems to have been eclipsed b/c of Fisher’s association with the eugenics movement.)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17</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Chi-square QQ plot for the penguin data, and the unusual birds identified in the bill length-bill depth plot. Two of them, nicknamed Cyrano and Hook Nose, come back in 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26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30</a:t>
            </a:fld>
            <a:endParaRPr lang="en-US"/>
          </a:p>
        </p:txBody>
      </p:sp>
    </p:spTree>
    <p:extLst>
      <p:ext uri="{BB962C8B-B14F-4D97-AF65-F5344CB8AC3E}">
        <p14:creationId xmlns:p14="http://schemas.microsoft.com/office/powerpoint/2010/main" val="347700245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Marginal + conditional (added-variable) plots for the coffee data, a contrived example constructed by Georges Monette. Each added-variable plot shows the relation of y to one predictor with the others partialled out; the slope is the coefficient in the full model.</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34</a:t>
            </a:fld>
            <a:endParaRPr lang="en-US"/>
          </a:p>
        </p:txBody>
      </p:sp>
    </p:spTree>
    <p:extLst>
      <p:ext uri="{BB962C8B-B14F-4D97-AF65-F5344CB8AC3E}">
        <p14:creationId xmlns:p14="http://schemas.microsoft.com/office/powerpoint/2010/main" val="14707265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standard collinearity diagnostics table hides the important information. The tableplot makes it stand out; the collinearity biplot shows which variables are involved.</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Hotelling's T-squared as a generalized t-test.</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Above: data ellipses summarized in an HE plot showing the pooled within-group error ellipse (E) and the H 'ellipse' for the group means. Below: observations projected on the line joining the means.</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 plots for the iris data. E: within-group variation. H: variation of the group means. The orientation of H shows how the groups differ.</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sepal length and width in the iris data, showing contrasts among the species.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pairwise HE plots for the iris data.</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54</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58</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59</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interpolating between the PCA and t-SNE solutions for the Diabetes data.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Re-construction of the Mona Lisa from increasing numbers of components (the eigenfaces idea).</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distance plot is one of the figures the organizer singled out. School data model: reading, mathematics and self-esteem on five predictors, 70 schools. Distance plot (heplots::distancePlot) and influence plot (mvinfluence::influencePlot), re-drawn as a matched pair with the same cases in the same colors (talks/R/school-diagnostics.R). 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toy example from Barrett (2003): one predictor, two nearly perfectly correlated responses, nine cases. The univariate Cook's D values for case 9 are very small, but the multivariate Cook's D is 3.22, over 10 times the next largest. Multivariate influence is not the sum of univariate influences.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2026-10-13</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2026-10-13</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2026-10-13</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2026-10-13</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2026-10-13</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2026-10-13</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2026-10-13</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2026-10-13</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2026-10-13</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2026-10-13</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2026-10-13</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2026-10-13</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4.jp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6.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5.gif"/><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6.xml"/><Relationship Id="rId1" Type="http://schemas.openxmlformats.org/officeDocument/2006/relationships/slideLayout" Target="../slideLayouts/slideLayout6.xml"/><Relationship Id="rId5" Type="http://schemas.openxmlformats.org/officeDocument/2006/relationships/image" Target="../media/image27.png"/><Relationship Id="rId4" Type="http://schemas.openxmlformats.org/officeDocument/2006/relationships/image" Target="../media/image26.png"/></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7.xml"/><Relationship Id="rId1" Type="http://schemas.openxmlformats.org/officeDocument/2006/relationships/slideLayout" Target="../slideLayouts/slideLayout6.xml"/><Relationship Id="rId5" Type="http://schemas.openxmlformats.org/officeDocument/2006/relationships/image" Target="../media/image29.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9.xml"/><Relationship Id="rId1" Type="http://schemas.openxmlformats.org/officeDocument/2006/relationships/slideLayout" Target="../slideLayouts/slideLayout4.xml"/><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34.gif"/><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2.xml"/><Relationship Id="rId1" Type="http://schemas.openxmlformats.org/officeDocument/2006/relationships/slideLayout" Target="../slideLayouts/slideLayout6.xml"/><Relationship Id="rId4" Type="http://schemas.openxmlformats.org/officeDocument/2006/relationships/image" Target="../media/image36.png"/></Relationships>
</file>

<file path=ppt/slides/_rels/slide2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39.emf"/><Relationship Id="rId5" Type="http://schemas.openxmlformats.org/officeDocument/2006/relationships/image" Target="../media/image38.png"/><Relationship Id="rId4" Type="http://schemas.openxmlformats.org/officeDocument/2006/relationships/hyperlink" Target="http://www.datavis.ca/gallery/animation/outlier-demo/"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5.xml"/><Relationship Id="rId1" Type="http://schemas.openxmlformats.org/officeDocument/2006/relationships/slideLayout" Target="../slideLayouts/slideLayout6.xml"/><Relationship Id="rId4" Type="http://schemas.openxmlformats.org/officeDocument/2006/relationships/image" Target="../media/image41.png"/></Relationships>
</file>

<file path=ppt/slides/_rels/slide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42.gif"/><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43.gif"/></Relationships>
</file>

<file path=ppt/slides/_rels/slide30.xml.rels><?xml version="1.0" encoding="UTF-8" standalone="yes"?>
<Relationships xmlns="http://schemas.openxmlformats.org/package/2006/relationships"><Relationship Id="rId3" Type="http://schemas.openxmlformats.org/officeDocument/2006/relationships/image" Target="../media/image44.gif"/><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4.xml"/><Relationship Id="rId1" Type="http://schemas.openxmlformats.org/officeDocument/2006/relationships/slideLayout" Target="../slideLayouts/slideLayout6.xml"/><Relationship Id="rId4" Type="http://schemas.openxmlformats.org/officeDocument/2006/relationships/image" Target="../media/image51.png"/></Relationships>
</file>

<file path=ppt/slides/_rels/slide37.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5.xml"/><Relationship Id="rId1" Type="http://schemas.openxmlformats.org/officeDocument/2006/relationships/slideLayout" Target="../slideLayouts/slideLayout4.xml"/><Relationship Id="rId4" Type="http://schemas.openxmlformats.org/officeDocument/2006/relationships/image" Target="../media/image11.png"/></Relationships>
</file>

<file path=ppt/slides/_rels/slide3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7.xml"/><Relationship Id="rId1" Type="http://schemas.openxmlformats.org/officeDocument/2006/relationships/slideLayout" Target="../slideLayouts/slideLayout6.xml"/><Relationship Id="rId5" Type="http://schemas.openxmlformats.org/officeDocument/2006/relationships/image" Target="../media/image55.png"/><Relationship Id="rId4" Type="http://schemas.openxmlformats.org/officeDocument/2006/relationships/image" Target="../media/image12.png"/></Relationships>
</file>

<file path=ppt/slides/_rels/slide4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image" Target="../media/image1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8" Type="http://schemas.openxmlformats.org/officeDocument/2006/relationships/image" Target="../media/image63.png"/><Relationship Id="rId3" Type="http://schemas.openxmlformats.org/officeDocument/2006/relationships/image" Target="../media/image58.png"/><Relationship Id="rId7" Type="http://schemas.openxmlformats.org/officeDocument/2006/relationships/image" Target="../media/image62.png"/><Relationship Id="rId2" Type="http://schemas.openxmlformats.org/officeDocument/2006/relationships/notesSlide" Target="../notesSlides/notesSlide40.xml"/><Relationship Id="rId1" Type="http://schemas.openxmlformats.org/officeDocument/2006/relationships/slideLayout" Target="../slideLayouts/slideLayout6.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s>
</file>

<file path=ppt/slides/_rels/slide44.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66.png"/><Relationship Id="rId4" Type="http://schemas.openxmlformats.org/officeDocument/2006/relationships/image" Target="../media/image65.png"/></Relationships>
</file>

<file path=ppt/slides/_rels/slide45.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68.wmf"/><Relationship Id="rId5" Type="http://schemas.openxmlformats.org/officeDocument/2006/relationships/oleObject" Target="../embeddings/oleObject1.bin"/><Relationship Id="rId4" Type="http://schemas.openxmlformats.org/officeDocument/2006/relationships/image" Target="../media/image67.png"/></Relationships>
</file>

<file path=ppt/slides/_rels/slide46.xml.rels><?xml version="1.0" encoding="UTF-8" standalone="yes"?>
<Relationships xmlns="http://schemas.openxmlformats.org/package/2006/relationships"><Relationship Id="rId3" Type="http://schemas.openxmlformats.org/officeDocument/2006/relationships/image" Target="../media/image65.png"/><Relationship Id="rId7" Type="http://schemas.openxmlformats.org/officeDocument/2006/relationships/image" Target="../media/image71.wmf"/><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oleObject" Target="../embeddings/oleObject2.bin"/><Relationship Id="rId5" Type="http://schemas.openxmlformats.org/officeDocument/2006/relationships/image" Target="../media/image70.png"/><Relationship Id="rId4" Type="http://schemas.openxmlformats.org/officeDocument/2006/relationships/image" Target="../media/image69.png"/></Relationships>
</file>

<file path=ppt/slides/_rels/slide47.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3" Type="http://schemas.openxmlformats.org/officeDocument/2006/relationships/image" Target="../media/image77.png"/><Relationship Id="rId7" Type="http://schemas.openxmlformats.org/officeDocument/2006/relationships/image" Target="../media/image80.jpg"/><Relationship Id="rId2" Type="http://schemas.openxmlformats.org/officeDocument/2006/relationships/notesSlide" Target="../notesSlides/notesSlide50.xml"/><Relationship Id="rId1" Type="http://schemas.openxmlformats.org/officeDocument/2006/relationships/slideLayout" Target="../slideLayouts/slideLayout7.xml"/><Relationship Id="rId6" Type="http://schemas.openxmlformats.org/officeDocument/2006/relationships/image" Target="../media/image79.png"/><Relationship Id="rId5" Type="http://schemas.microsoft.com/office/2007/relationships/hdphoto" Target="../media/hdphoto1.wdp"/><Relationship Id="rId4" Type="http://schemas.openxmlformats.org/officeDocument/2006/relationships/image" Target="../media/image78.png"/></Relationships>
</file>

<file path=ppt/slides/_rels/slide55.xml.rels><?xml version="1.0" encoding="UTF-8" standalone="yes"?>
<Relationships xmlns="http://schemas.openxmlformats.org/package/2006/relationships"><Relationship Id="rId3" Type="http://schemas.openxmlformats.org/officeDocument/2006/relationships/image" Target="../media/image81.gif"/><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3" Type="http://schemas.openxmlformats.org/officeDocument/2006/relationships/image" Target="../media/image82.gif"/><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53.xml"/><Relationship Id="rId1" Type="http://schemas.openxmlformats.org/officeDocument/2006/relationships/slideLayout" Target="../slideLayouts/slideLayout4.xml"/><Relationship Id="rId4" Type="http://schemas.openxmlformats.org/officeDocument/2006/relationships/image" Target="../media/image84.png"/></Relationships>
</file>

<file path=ppt/slides/_rels/slide58.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54.xml"/><Relationship Id="rId1" Type="http://schemas.openxmlformats.org/officeDocument/2006/relationships/slideLayout" Target="../slideLayouts/slideLayout6.xml"/><Relationship Id="rId5" Type="http://schemas.openxmlformats.org/officeDocument/2006/relationships/image" Target="../media/image86.png"/><Relationship Id="rId4" Type="http://schemas.openxmlformats.org/officeDocument/2006/relationships/image" Target="../media/image85.png"/></Relationships>
</file>

<file path=ppt/slides/_rels/slide5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89.png"/><Relationship Id="rId4" Type="http://schemas.openxmlformats.org/officeDocument/2006/relationships/image" Target="../media/image88.png"/></Relationships>
</file>

<file path=ppt/slides/_rels/slide60.xml.rels><?xml version="1.0" encoding="UTF-8" standalone="yes"?>
<Relationships xmlns="http://schemas.openxmlformats.org/package/2006/relationships"><Relationship Id="rId3" Type="http://schemas.openxmlformats.org/officeDocument/2006/relationships/image" Target="../media/image90.jpg"/><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3" Type="http://schemas.openxmlformats.org/officeDocument/2006/relationships/image" Target="../media/image94.gif"/><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61.xml"/><Relationship Id="rId1" Type="http://schemas.openxmlformats.org/officeDocument/2006/relationships/slideLayout" Target="../slideLayouts/slideLayout6.xml"/><Relationship Id="rId4" Type="http://schemas.openxmlformats.org/officeDocument/2006/relationships/image" Target="../media/image32.png"/></Relationships>
</file>

<file path=ppt/slides/_rels/slide6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62.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64.xml"/><Relationship Id="rId1" Type="http://schemas.openxmlformats.org/officeDocument/2006/relationships/slideLayout" Target="../slideLayouts/slideLayout4.xml"/><Relationship Id="rId4" Type="http://schemas.openxmlformats.org/officeDocument/2006/relationships/image" Target="../media/image99.png"/></Relationships>
</file>

<file path=ppt/slides/_rels/slide70.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8.xml"/><Relationship Id="rId1" Type="http://schemas.openxmlformats.org/officeDocument/2006/relationships/slideLayout" Target="../slideLayouts/slideLayout4.xml"/><Relationship Id="rId4" Type="http://schemas.openxmlformats.org/officeDocument/2006/relationships/image" Target="../media/image4.jpg"/></Relationships>
</file>

<file path=ppt/slides/_rels/slide74.xml.rels><?xml version="1.0" encoding="UTF-8" standalone="yes"?>
<Relationships xmlns="http://schemas.openxmlformats.org/package/2006/relationships"><Relationship Id="rId2" Type="http://schemas.openxmlformats.org/officeDocument/2006/relationships/image" Target="../media/image102.gif"/><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9.xml"/><Relationship Id="rId1" Type="http://schemas.openxmlformats.org/officeDocument/2006/relationships/slideLayout" Target="../slideLayouts/slideLayout6.xml"/><Relationship Id="rId4" Type="http://schemas.openxmlformats.org/officeDocument/2006/relationships/image" Target="../media/image1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279443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626538"/>
            <a:ext cx="9144000" cy="1655064"/>
          </a:xfrm>
        </p:spPr>
        <p:txBody>
          <a:bodyPr>
            <a:normAutofit fontScale="92500" lnSpcReduction="10000"/>
          </a:bodyPr>
          <a:lstStyle/>
          <a:p>
            <a:r>
              <a:rPr sz="3200" dirty="0"/>
              <a:t>A Romance in Many Dimensions</a:t>
            </a:r>
          </a:p>
          <a:p>
            <a:endParaRPr dirty="0"/>
          </a:p>
          <a:p>
            <a:r>
              <a:rPr lang="en-CA" dirty="0"/>
              <a:t>Methodology &amp; Statistics Group, Utrecht, 5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1484330" y="320039"/>
            <a:ext cx="2340000" cy="2340000"/>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40"/>
            <a:ext cx="3276000" cy="2340000"/>
          </a:xfrm>
          <a:prstGeom prst="rect">
            <a:avLst/>
          </a:prstGeom>
        </p:spPr>
      </p:pic>
      <p:pic>
        <p:nvPicPr>
          <p:cNvPr id="6" name="Thumbnail: HE plot" descr="image.png"/>
          <p:cNvPicPr>
            <a:picLocks noChangeAspect="1"/>
          </p:cNvPicPr>
          <p:nvPr/>
        </p:nvPicPr>
        <p:blipFill>
          <a:blip r:embed="rId7"/>
          <a:stretch>
            <a:fillRect/>
          </a:stretch>
        </p:blipFill>
        <p:spPr>
          <a:xfrm>
            <a:off x="7376160" y="320040"/>
            <a:ext cx="3276000" cy="234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Key features of the book</a:t>
            </a:r>
          </a:p>
        </p:txBody>
      </p:sp>
      <p:pic>
        <p:nvPicPr>
          <p:cNvPr id="3" name="Picture 2" descr="image.png"/>
          <p:cNvPicPr>
            <a:picLocks noChangeAspect="1"/>
          </p:cNvPicPr>
          <p:nvPr/>
        </p:nvPicPr>
        <p:blipFill>
          <a:blip r:embed="rId3"/>
          <a:stretch>
            <a:fillRect/>
          </a:stretch>
        </p:blipFill>
        <p:spPr>
          <a:xfrm>
            <a:off x="859684" y="1691640"/>
            <a:ext cx="2042856" cy="1459184"/>
          </a:xfrm>
          <a:prstGeom prst="rect">
            <a:avLst/>
          </a:prstGeom>
        </p:spPr>
      </p:pic>
      <p:sp>
        <p:nvSpPr>
          <p:cNvPr id="4" name="TextBox 3"/>
          <p:cNvSpPr txBox="1"/>
          <p:nvPr/>
        </p:nvSpPr>
        <p:spPr>
          <a:xfrm>
            <a:off x="3291840" y="1737360"/>
            <a:ext cx="8046720" cy="1325880"/>
          </a:xfrm>
          <a:prstGeom prst="rect">
            <a:avLst/>
          </a:prstGeom>
          <a:noFill/>
        </p:spPr>
        <p:txBody>
          <a:bodyPr wrap="square">
            <a:spAutoFit/>
          </a:bodyPr>
          <a:lstStyle/>
          <a:p>
            <a:r>
              <a:rPr sz="2400" b="1" dirty="0"/>
              <a:t>Exposure and summarization</a:t>
            </a:r>
          </a:p>
          <a:p>
            <a:r>
              <a:rPr sz="1800" dirty="0"/>
              <a:t>Plot the raw data, and plot statistical summaries (data ellipses, confidence ellipses) to highlight what should be noticed. Visual thinning balances the two.</a:t>
            </a:r>
          </a:p>
        </p:txBody>
      </p:sp>
      <p:pic>
        <p:nvPicPr>
          <p:cNvPr id="5" name="Picture 4" descr="image.png"/>
          <p:cNvPicPr>
            <a:picLocks noChangeAspect="1"/>
          </p:cNvPicPr>
          <p:nvPr/>
        </p:nvPicPr>
        <p:blipFill>
          <a:blip r:embed="rId4"/>
          <a:stretch>
            <a:fillRect/>
          </a:stretch>
        </p:blipFill>
        <p:spPr>
          <a:xfrm>
            <a:off x="587856" y="3368622"/>
            <a:ext cx="2586512" cy="1230809"/>
          </a:xfrm>
          <a:prstGeom prst="rect">
            <a:avLst/>
          </a:prstGeom>
        </p:spPr>
      </p:pic>
      <p:sp>
        <p:nvSpPr>
          <p:cNvPr id="6" name="TextBox 5"/>
          <p:cNvSpPr txBox="1"/>
          <p:nvPr/>
        </p:nvSpPr>
        <p:spPr>
          <a:xfrm>
            <a:off x="3291840" y="3273552"/>
            <a:ext cx="8046720" cy="1325880"/>
          </a:xfrm>
          <a:prstGeom prst="rect">
            <a:avLst/>
          </a:prstGeom>
          <a:noFill/>
        </p:spPr>
        <p:txBody>
          <a:bodyPr wrap="square">
            <a:spAutoFit/>
          </a:bodyPr>
          <a:lstStyle/>
          <a:p>
            <a:r>
              <a:rPr sz="2400" b="1"/>
              <a:t>Statistics ↔ geometry ↔ data visualization</a:t>
            </a:r>
          </a:p>
          <a:p>
            <a:r>
              <a:rPr sz="1800"/>
              <a:t>Statistical ideas are easier to understand as geometry that can be seen in diagrams and data displays. Ideas from one domain amplify the others.</a:t>
            </a:r>
          </a:p>
        </p:txBody>
      </p:sp>
      <p:pic>
        <p:nvPicPr>
          <p:cNvPr id="7" name="Picture 6" descr="MV-juicer.png"/>
          <p:cNvPicPr>
            <a:picLocks noChangeAspect="1"/>
          </p:cNvPicPr>
          <p:nvPr/>
        </p:nvPicPr>
        <p:blipFill>
          <a:blip r:embed="rId5"/>
          <a:stretch>
            <a:fillRect/>
          </a:stretch>
        </p:blipFill>
        <p:spPr>
          <a:xfrm>
            <a:off x="676245" y="4866511"/>
            <a:ext cx="2409735" cy="1230809"/>
          </a:xfrm>
          <a:prstGeom prst="rect">
            <a:avLst/>
          </a:prstGeom>
        </p:spPr>
      </p:pic>
      <p:sp>
        <p:nvSpPr>
          <p:cNvPr id="8" name="TextBox 7"/>
          <p:cNvSpPr txBox="1"/>
          <p:nvPr/>
        </p:nvSpPr>
        <p:spPr>
          <a:xfrm>
            <a:off x="3291840" y="4809744"/>
            <a:ext cx="8046720" cy="1325880"/>
          </a:xfrm>
          <a:prstGeom prst="rect">
            <a:avLst/>
          </a:prstGeom>
          <a:noFill/>
        </p:spPr>
        <p:txBody>
          <a:bodyPr wrap="square">
            <a:spAutoFit/>
          </a:bodyPr>
          <a:lstStyle/>
          <a:p>
            <a:r>
              <a:rPr sz="2400" b="1"/>
              <a:t>Dimension reduction as “multivariate juicers”</a:t>
            </a:r>
          </a:p>
          <a:p>
            <a:r>
              <a:rPr sz="1800"/>
              <a:t>PCA and discriminant analysis squeeze high-dimensional data into informative 2D views. Sometimes the important information is in the smallest dimensions.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ect">
            <a:avLst/>
          </a:prstGeom>
          <a:noFill/>
        </p:spPr>
        <p:txBody>
          <a:bodyPr wrap="square">
            <a:spAutoFit/>
          </a:bodyPr>
          <a:lstStyle/>
          <a:p>
            <a:r>
              <a:rPr sz="2400" b="1" dirty="0" err="1"/>
              <a:t>heplots</a:t>
            </a:r>
            <a:endParaRPr sz="2400" b="1" dirty="0"/>
          </a:p>
          <a:p>
            <a:r>
              <a:rPr sz="1800" dirty="0"/>
              <a:t>Visualizing hypothesis tests in multivariate linear models: HE plots, covariance ellipses, robust MLMs</a:t>
            </a:r>
          </a:p>
        </p:txBody>
      </p:sp>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ect">
            <a:avLst/>
          </a:prstGeom>
          <a:noFill/>
        </p:spPr>
        <p:txBody>
          <a:bodyPr wrap="square">
            <a:spAutoFit/>
          </a:bodyPr>
          <a:lstStyle/>
          <a:p>
            <a:r>
              <a:rPr sz="2400" b="1"/>
              <a:t>candisc</a:t>
            </a:r>
          </a:p>
          <a:p>
            <a:r>
              <a:rPr sz="1800"/>
              <a:t>Canonical discriminant and canonical correlation analysis: low-dimensional views of multivariate effects</a:t>
            </a:r>
          </a:p>
        </p:txBody>
      </p:sp>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ect">
            <a:avLst/>
          </a:prstGeom>
          <a:noFill/>
        </p:spPr>
        <p:txBody>
          <a:bodyPr wrap="square">
            <a:spAutoFit/>
          </a:bodyPr>
          <a:lstStyle/>
          <a:p>
            <a:r>
              <a:rPr sz="2400" b="1"/>
              <a:t>mvinfluence</a:t>
            </a:r>
          </a:p>
          <a:p>
            <a:r>
              <a:rPr sz="1800"/>
              <a:t>Influence measures and diagnostic plots for multivariate linear models</a:t>
            </a:r>
          </a:p>
        </p:txBody>
      </p:sp>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ect">
            <a:avLst/>
          </a:prstGeom>
          <a:noFill/>
        </p:spPr>
        <p:txBody>
          <a:bodyPr wrap="square">
            <a:spAutoFit/>
          </a:bodyPr>
          <a:lstStyle/>
          <a:p>
            <a:r>
              <a:rPr sz="2400" b="1" dirty="0" err="1"/>
              <a:t>genridge</a:t>
            </a:r>
            <a:endParaRPr sz="2400" b="1" dirty="0"/>
          </a:p>
          <a:p>
            <a:r>
              <a:rPr sz="1800" dirty="0"/>
              <a:t>Generalized ridge trace plots: bias and precision in ridge regression</a:t>
            </a:r>
          </a:p>
        </p:txBody>
      </p:sp>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35470"/>
            <a:ext cx="9326880" cy="738664"/>
          </a:xfrm>
          <a:prstGeom prst="rect">
            <a:avLst/>
          </a:prstGeom>
          <a:noFill/>
        </p:spPr>
        <p:txBody>
          <a:bodyPr wrap="square">
            <a:sp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additive="base">
                                        <p:cTn id="7" dur="500" fill="hold"/>
                                        <p:tgtEl>
                                          <p:spTgt spid="13"/>
                                        </p:tgtEl>
                                        <p:attrNameLst>
                                          <p:attrName>ppt_x</p:attrName>
                                        </p:attrNameLst>
                                      </p:cBhvr>
                                      <p:tavLst>
                                        <p:tav tm="0">
                                          <p:val>
                                            <p:strVal val="#ppt_x"/>
                                          </p:val>
                                        </p:tav>
                                        <p:tav tm="100000">
                                          <p:val>
                                            <p:strVal val="#ppt_x"/>
                                          </p:val>
                                        </p:tav>
                                      </p:tavLst>
                                    </p:anim>
                                    <p:anim calcmode="lin" valueType="num">
                                      <p:cBhvr additive="base">
                                        <p:cTn id="8"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Where we are going</a:t>
            </a:r>
          </a:p>
        </p:txBody>
      </p:sp>
      <p:sp>
        <p:nvSpPr>
          <p:cNvPr id="3" name="Content Placeholder 2"/>
          <p:cNvSpPr>
            <a:spLocks noGrp="1"/>
          </p:cNvSpPr>
          <p:nvPr>
            <p:ph idx="1"/>
          </p:nvPr>
        </p:nvSpPr>
        <p:spPr>
          <a:xfrm>
            <a:off x="838200" y="1309036"/>
            <a:ext cx="10515600" cy="4867927"/>
          </a:xfrm>
        </p:spPr>
        <p:txBody>
          <a:bodyPr/>
          <a:lstStyle/>
          <a:p>
            <a:r>
              <a:rPr dirty="0"/>
              <a:t>Why many dimensions?</a:t>
            </a:r>
          </a:p>
          <a:p>
            <a:r>
              <a:rPr dirty="0"/>
              <a:t>Ellipses everywhere: seeing multivariate data</a:t>
            </a:r>
          </a:p>
          <a:p>
            <a:r>
              <a:rPr dirty="0"/>
              <a:t>Elliptical insights: models with one response</a:t>
            </a:r>
          </a:p>
          <a:p>
            <a:r>
              <a:rPr dirty="0"/>
              <a:t>The HE plot framework for multivariate models</a:t>
            </a:r>
          </a:p>
          <a:p>
            <a:r>
              <a:rPr dirty="0"/>
              <a:t>Multivariate juicers: low-D views, and Waldo space</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dirty="0"/>
              <a:t>We live in </a:t>
            </a:r>
            <a:r>
              <a:rPr dirty="0" err="1"/>
              <a:t>Spaceland</a:t>
            </a:r>
            <a:r>
              <a:rPr dirty="0"/>
              <a:t>,</a:t>
            </a:r>
            <a:r>
              <a:rPr lang="en-CA" dirty="0"/>
              <a:t> sometimes high-D,</a:t>
            </a:r>
            <a:r>
              <a:rPr dirty="0"/>
              <a:t> but we plot in </a:t>
            </a:r>
            <a:r>
              <a:rPr lang="en-CA" dirty="0"/>
              <a:t>Plane</a:t>
            </a:r>
            <a:r>
              <a:rPr dirty="0"/>
              <a:t>land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t>#dataviz is the art of making plots informative (&amp; pretty!)</a:t>
            </a:r>
          </a:p>
          <a:p>
            <a:r>
              <a:rPr lang="en-CA" dirty="0"/>
              <a:t>Truth &amp; Beauty: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3785652"/>
          </a:xfrm>
          <a:prstGeom prst="rect">
            <a:avLst/>
          </a:prstGeom>
          <a:noFill/>
        </p:spPr>
        <p:txBody>
          <a:bodyPr wrap="square" rtlCol="0">
            <a:spAutoFit/>
          </a:bodyPr>
          <a:lstStyle/>
          <a:p>
            <a:r>
              <a:rPr lang="en-CA" sz="2400" dirty="0" err="1"/>
              <a:t>HistData</a:t>
            </a:r>
            <a:r>
              <a:rPr lang="en-CA" sz="2400" dirty="0"/>
              <a:t>::pollen, from the 1986 JSM Data Exposition: “Find something interesting here”</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Eureka moments in history give many examples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multivariate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Penguins walking together">
            <a:extLst>
              <a:ext uri="{FF2B5EF4-FFF2-40B4-BE49-F238E27FC236}">
                <a16:creationId xmlns:a16="http://schemas.microsoft.com/office/drawing/2014/main" id="{3139B4EB-ECB5-A62E-A0B0-F5445F7851A8}"/>
              </a:ext>
            </a:extLst>
          </p:cNvPr>
          <p:cNvPicPr>
            <a:picLocks noChangeAspect="1"/>
          </p:cNvPicPr>
          <p:nvPr/>
        </p:nvPicPr>
        <p:blipFill>
          <a:blip r:embed="rId3"/>
          <a:srcRect t="15094"/>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57477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100051" y="4072043"/>
            <a:ext cx="10058400" cy="1282707"/>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rgbClr val="FFFFFF"/>
                </a:solidFill>
              </a:rPr>
              <a:t>Data ellipses, penguins, and looking at many variables at once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E2F4C87C-FABA-4B28-B0C8-A7D348CBC8A3}" type="slidenum">
              <a:rPr lang="en-US" altLang="en-US"/>
              <a:pPr/>
              <a:t>12</a:t>
            </a:fld>
            <a:endParaRPr lang="en-US" altLang="en-US"/>
          </a:p>
        </p:txBody>
      </p:sp>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39468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C299C230-35BF-4F64-9F70-85E993BA911F}" type="slidenum">
              <a:rPr lang="en-US" altLang="en-US"/>
              <a:pPr/>
              <a:t>13</a:t>
            </a:fld>
            <a:endParaRPr lang="en-US" altLang="en-US"/>
          </a:p>
        </p:txBody>
      </p:sp>
      <p:sp>
        <p:nvSpPr>
          <p:cNvPr id="80898" name="Rectangle 2"/>
          <p:cNvSpPr>
            <a:spLocks noGrp="1" noChangeArrowheads="1"/>
          </p:cNvSpPr>
          <p:nvPr>
            <p:ph type="title"/>
          </p:nvPr>
        </p:nvSpPr>
        <p:spPr>
          <a:xfrm>
            <a:off x="684882" y="327024"/>
            <a:ext cx="8229600" cy="965200"/>
          </a:xfrm>
        </p:spPr>
        <p:txBody>
          <a:bodyPr/>
          <a:lstStyle/>
          <a:p>
            <a:pPr>
              <a:lnSpc>
                <a:spcPct val="85000"/>
              </a:lnSpc>
            </a:pPr>
            <a:r>
              <a:rPr lang="en-US" altLang="en-US" sz="3200" dirty="0"/>
              <a:t>Visual smoothing </a:t>
            </a:r>
            <a:r>
              <a:rPr lang="en-US" altLang="en-US" sz="3200" dirty="0">
                <a:sym typeface="Wingdings" pitchFamily="2"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47906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5"/>
          <p:cNvSpPr>
            <a:spLocks noGrp="1"/>
          </p:cNvSpPr>
          <p:nvPr>
            <p:ph type="sldNum" sz="quarter" idx="12"/>
          </p:nvPr>
        </p:nvSpPr>
        <p:spPr/>
        <p:txBody>
          <a:bodyPr/>
          <a:lstStyle/>
          <a:p>
            <a:fld id="{5CD3ADF0-CAE1-4C97-890E-1ED6688E5639}" type="slidenum">
              <a:rPr lang="en-US" altLang="en-US"/>
              <a:pPr/>
              <a:t>14</a:t>
            </a:fld>
            <a:endParaRPr lang="en-US" altLang="en-US"/>
          </a:p>
        </p:txBody>
      </p:sp>
      <p:sp>
        <p:nvSpPr>
          <p:cNvPr id="82946" name="Rectangle 2"/>
          <p:cNvSpPr>
            <a:spLocks noGrp="1" noChangeArrowheads="1"/>
          </p:cNvSpPr>
          <p:nvPr>
            <p:ph type="title"/>
          </p:nvPr>
        </p:nvSpPr>
        <p:spPr>
          <a:xfrm>
            <a:off x="650082" y="466726"/>
            <a:ext cx="8229600" cy="965200"/>
          </a:xfrm>
        </p:spPr>
        <p:txBody>
          <a:bodyPr/>
          <a:lstStyle/>
          <a:p>
            <a:pPr>
              <a:lnSpc>
                <a:spcPct val="85000"/>
              </a:lnSpc>
            </a:pPr>
            <a:r>
              <a:rPr lang="en-US" altLang="en-US" sz="3200" dirty="0"/>
              <a:t>Visual insight </a:t>
            </a:r>
            <a:r>
              <a:rPr lang="en-US" altLang="en-US" sz="3200" dirty="0">
                <a:sym typeface="Wingdings" pitchFamily="2"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major / minor axes</a:t>
            </a:r>
            <a:endParaRPr lang="en-US" altLang="en-US" sz="2000" b="1" dirty="0">
              <a:solidFill>
                <a:schemeClr val="tx2"/>
              </a:solidFill>
              <a:cs typeface="Arial" charset="0"/>
            </a:endParaRP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186195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43063"/>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Meet the penguins</a:t>
            </a:r>
          </a:p>
        </p:txBody>
      </p:sp>
      <p:pic>
        <p:nvPicPr>
          <p:cNvPr id="3" name="Picture 2" descr="penguins-horst.png"/>
          <p:cNvPicPr>
            <a:picLocks noChangeAspect="1"/>
          </p:cNvPicPr>
          <p:nvPr/>
        </p:nvPicPr>
        <p:blipFill>
          <a:blip r:embed="rId3"/>
          <a:stretch>
            <a:fillRect/>
          </a:stretch>
        </p:blipFill>
        <p:spPr>
          <a:xfrm>
            <a:off x="841248" y="2129942"/>
            <a:ext cx="5120640" cy="3055315"/>
          </a:xfrm>
          <a:prstGeom prst="rect">
            <a:avLst/>
          </a:prstGeom>
        </p:spPr>
      </p:pic>
      <p:pic>
        <p:nvPicPr>
          <p:cNvPr id="4" name="Picture 3" descr="fig-peng-ggplot1-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4" name="Slide Number Placeholder 3">
            <a:extLst>
              <a:ext uri="{FF2B5EF4-FFF2-40B4-BE49-F238E27FC236}">
                <a16:creationId xmlns:a16="http://schemas.microsoft.com/office/drawing/2014/main" id="{A4F088BC-69F5-43CB-028C-42D0CE3E5A71}"/>
              </a:ext>
            </a:extLst>
          </p:cNvPr>
          <p:cNvSpPr>
            <a:spLocks noGrp="1"/>
          </p:cNvSpPr>
          <p:nvPr>
            <p:ph type="sldNum" sz="quarter" idx="12"/>
          </p:nvPr>
        </p:nvSpPr>
        <p:spPr>
          <a:xfrm>
            <a:off x="8001000" y="6356351"/>
            <a:ext cx="2133600" cy="365125"/>
          </a:xfrm>
        </p:spPr>
        <p:txBody>
          <a:bodyPr/>
          <a:lstStyle/>
          <a:p>
            <a:fld id="{621225AB-15B9-4C79-A121-04D1DC7E2307}" type="slidenum">
              <a:rPr lang="en-US" smtClean="0"/>
              <a:t>17</a:t>
            </a:fld>
            <a:endParaRPr lang="en-US"/>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64185"/>
            <a:ext cx="10360007" cy="1631216"/>
          </a:xfrm>
          <a:prstGeom prst="rect">
            <a:avLst/>
          </a:prstGeom>
          <a:noFill/>
        </p:spPr>
        <p:txBody>
          <a:bodyPr wrap="square" rtlCol="0">
            <a:spAutoFit/>
          </a:bodyPr>
          <a:lstStyle/>
          <a:p>
            <a:r>
              <a:rPr lang="en-CA" sz="2000" dirty="0"/>
              <a:t>Palmer penguins data: Measures of bill length &amp; depth, body mass, flipper length for 3 species</a:t>
            </a:r>
          </a:p>
          <a:p>
            <a:pPr marL="285750" indent="-285750">
              <a:buFont typeface="Arial" panose="020B0604020202020204" pitchFamily="34" charset="0"/>
              <a:buChar char="•"/>
            </a:pPr>
            <a:r>
              <a:rPr lang="en-CA" sz="2000" dirty="0"/>
              <a:t>Add data ellipses to show w/in group means &amp; scatter</a:t>
            </a:r>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1000"/>
                                        <p:tgtEl>
                                          <p:spTgt spid="5"/>
                                        </p:tgtEl>
                                      </p:cBhvr>
                                    </p:animEffect>
                                    <p:anim calcmode="lin" valueType="num">
                                      <p:cBhvr>
                                        <p:cTn id="10" dur="1000" fill="hold"/>
                                        <p:tgtEl>
                                          <p:spTgt spid="5"/>
                                        </p:tgtEl>
                                        <p:attrNameLst>
                                          <p:attrName>ppt_x</p:attrName>
                                        </p:attrNameLst>
                                      </p:cBhvr>
                                      <p:tavLst>
                                        <p:tav tm="0">
                                          <p:val>
                                            <p:strVal val="#ppt_x"/>
                                          </p:val>
                                        </p:tav>
                                        <p:tav tm="100000">
                                          <p:val>
                                            <p:strVal val="#ppt_x"/>
                                          </p:val>
                                        </p:tav>
                                      </p:tavLst>
                                    </p:anim>
                                    <p:anim calcmode="lin" valueType="num">
                                      <p:cBhvr>
                                        <p:cTn id="11"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11">
                                            <p:txEl>
                                              <p:pRg st="2" end="2"/>
                                            </p:txEl>
                                          </p:spTgt>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11">
                                            <p:txEl>
                                              <p:pRg st="3" end="3"/>
                                            </p:txEl>
                                          </p:spTgt>
                                        </p:tgtEl>
                                        <p:attrNameLst>
                                          <p:attrName>style.visibility</p:attrName>
                                        </p:attrNameLst>
                                      </p:cBhvr>
                                      <p:to>
                                        <p:strVal val="visible"/>
                                      </p:to>
                                    </p:set>
                                  </p:childTnLst>
                                </p:cTn>
                              </p:par>
                              <p:par>
                                <p:cTn id="18" presetID="42" presetClass="entr" presetSubtype="0" fill="hold"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1000"/>
                                        <p:tgtEl>
                                          <p:spTgt spid="7"/>
                                        </p:tgtEl>
                                      </p:cBhvr>
                                    </p:animEffect>
                                    <p:anim calcmode="lin" valueType="num">
                                      <p:cBhvr>
                                        <p:cTn id="21" dur="1000" fill="hold"/>
                                        <p:tgtEl>
                                          <p:spTgt spid="7"/>
                                        </p:tgtEl>
                                        <p:attrNameLst>
                                          <p:attrName>ppt_x</p:attrName>
                                        </p:attrNameLst>
                                      </p:cBhvr>
                                      <p:tavLst>
                                        <p:tav tm="0">
                                          <p:val>
                                            <p:strVal val="#ppt_x"/>
                                          </p:val>
                                        </p:tav>
                                        <p:tav tm="100000">
                                          <p:val>
                                            <p:strVal val="#ppt_x"/>
                                          </p:val>
                                        </p:tav>
                                      </p:tavLst>
                                    </p:anim>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How to visualize </a:t>
            </a:r>
            <a:r>
              <a:rPr lang="en-CA" i="1" dirty="0"/>
              <a:t>p</a:t>
            </a:r>
            <a:r>
              <a:rPr lang="en-CA" dirty="0"/>
              <a:t> &gt; 2 variables in Flatland?</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variables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751037" y="1622742"/>
            <a:ext cx="5897879"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6844553" y="1691148"/>
            <a:ext cx="4678853" cy="193899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Animated tours: moving through projections</a:t>
            </a:r>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170099"/>
          </a:xfrm>
          <a:prstGeom prst="rect">
            <a:avLst/>
          </a:prstGeom>
          <a:noFill/>
        </p:spPr>
        <p:txBody>
          <a:bodyPr wrap="square">
            <a:spAutoFit/>
          </a:bodyPr>
          <a:lstStyle/>
          <a:p>
            <a:r>
              <a:rPr lang="en-CA" sz="2000" dirty="0"/>
              <a:t>Animation adds one more dimension to what we can see</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As in biplot, variable vectors show where you are</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a:t>
            </a:r>
            <a:endParaRPr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Added-variable plots</a:t>
            </a: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828800"/>
            <a:ext cx="5120640" cy="3657600"/>
          </a:xfrm>
          <a:prstGeom prst="rect">
            <a:avLst/>
          </a:prstGeom>
        </p:spPr>
      </p:pic>
      <p:pic>
        <p:nvPicPr>
          <p:cNvPr id="4" name="Picture 3" descr="fig-peng-ggplot-out-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Squared Mahalanobis distances against chi-square quantiles. We will meet these birds again.</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sp>
        <p:nvSpPr>
          <p:cNvPr id="7" name="TextBox 6">
            <a:extLst>
              <a:ext uri="{FF2B5EF4-FFF2-40B4-BE49-F238E27FC236}">
                <a16:creationId xmlns:a16="http://schemas.microsoft.com/office/drawing/2014/main" id="{FB358BA3-F292-4081-E9FB-0C466F3C6D1E}"/>
              </a:ext>
            </a:extLst>
          </p:cNvPr>
          <p:cNvSpPr txBox="1"/>
          <p:nvPr/>
        </p:nvSpPr>
        <p:spPr>
          <a:xfrm>
            <a:off x="10610357" y="2713703"/>
            <a:ext cx="740395" cy="307777"/>
          </a:xfrm>
          <a:prstGeom prst="rect">
            <a:avLst/>
          </a:prstGeom>
          <a:noFill/>
        </p:spPr>
        <p:txBody>
          <a:bodyPr wrap="none" rtlCol="0">
            <a:spAutoFit/>
          </a:bodyPr>
          <a:lstStyle/>
          <a:p>
            <a:r>
              <a:rPr lang="en-CA" sz="1400" dirty="0"/>
              <a:t>Cyrano</a:t>
            </a:r>
          </a:p>
        </p:txBody>
      </p:sp>
      <p:sp>
        <p:nvSpPr>
          <p:cNvPr id="9" name="TextBox 8">
            <a:extLst>
              <a:ext uri="{FF2B5EF4-FFF2-40B4-BE49-F238E27FC236}">
                <a16:creationId xmlns:a16="http://schemas.microsoft.com/office/drawing/2014/main" id="{D6554C26-2543-8F04-4FC4-10FCF38BD90E}"/>
              </a:ext>
            </a:extLst>
          </p:cNvPr>
          <p:cNvSpPr txBox="1"/>
          <p:nvPr/>
        </p:nvSpPr>
        <p:spPr>
          <a:xfrm>
            <a:off x="6751196" y="2130740"/>
            <a:ext cx="1042273" cy="307777"/>
          </a:xfrm>
          <a:prstGeom prst="rect">
            <a:avLst/>
          </a:prstGeom>
          <a:noFill/>
        </p:spPr>
        <p:txBody>
          <a:bodyPr wrap="none" rtlCol="0">
            <a:spAutoFit/>
          </a:bodyPr>
          <a:lstStyle/>
          <a:p>
            <a:r>
              <a:rPr lang="en-CA" sz="1400" dirty="0"/>
              <a:t>Hook Nose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sp>
        <p:nvSpPr>
          <p:cNvPr id="4" name="Slide Number Placeholder 3"/>
          <p:cNvSpPr>
            <a:spLocks noGrp="1"/>
          </p:cNvSpPr>
          <p:nvPr>
            <p:ph type="sldNum" sz="quarter" idx="12"/>
          </p:nvPr>
        </p:nvSpPr>
        <p:spPr/>
        <p:txBody>
          <a:bodyPr/>
          <a:lstStyle/>
          <a:p>
            <a:fld id="{621225AB-15B9-4C79-A121-04D1DC7E2307}" type="slidenum">
              <a:rPr lang="en-US" smtClean="0"/>
              <a:t>25</a:t>
            </a:fld>
            <a:endParaRPr lang="en-U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05000" y="457200"/>
            <a:ext cx="8229600"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4" name="Slide Number Placeholder 3"/>
          <p:cNvSpPr>
            <a:spLocks noGrp="1"/>
          </p:cNvSpPr>
          <p:nvPr>
            <p:ph type="sldNum" sz="quarter" idx="12"/>
          </p:nvPr>
        </p:nvSpPr>
        <p:spPr/>
        <p:txBody>
          <a:bodyPr/>
          <a:lstStyle/>
          <a:p>
            <a:fld id="{621225AB-15B9-4C79-A121-04D1DC7E2307}" type="slidenum">
              <a:rPr lang="en-US" smtClean="0"/>
              <a:t>26</a:t>
            </a:fld>
            <a:endParaRPr lang="en-US"/>
          </a:p>
        </p:txBody>
      </p:sp>
      <p:sp>
        <p:nvSpPr>
          <p:cNvPr id="5" name="TextBox 4">
            <a:extLst>
              <a:ext uri="{FF2B5EF4-FFF2-40B4-BE49-F238E27FC236}">
                <a16:creationId xmlns:a16="http://schemas.microsoft.com/office/drawing/2014/main" id="{635A9DAD-1188-B676-0CE8-BA39623413C1}"/>
              </a:ext>
            </a:extLst>
          </p:cNvPr>
          <p:cNvSpPr txBox="1"/>
          <p:nvPr/>
        </p:nvSpPr>
        <p:spPr>
          <a:xfrm>
            <a:off x="2286000" y="6096001"/>
            <a:ext cx="7467600"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Tree>
    <p:extLst>
      <p:ext uri="{BB962C8B-B14F-4D97-AF65-F5344CB8AC3E}">
        <p14:creationId xmlns:p14="http://schemas.microsoft.com/office/powerpoint/2010/main" val="21404008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sp>
        <p:nvSpPr>
          <p:cNvPr id="4" name="Slide Number Placeholder 3"/>
          <p:cNvSpPr>
            <a:spLocks noGrp="1"/>
          </p:cNvSpPr>
          <p:nvPr>
            <p:ph type="sldNum" sz="quarter" idx="12"/>
          </p:nvPr>
        </p:nvSpPr>
        <p:spPr/>
        <p:txBody>
          <a:bodyPr/>
          <a:lstStyle/>
          <a:p>
            <a:fld id="{621225AB-15B9-4C79-A121-04D1DC7E2307}" type="slidenum">
              <a:rPr lang="en-US" smtClean="0"/>
              <a:t>27</a:t>
            </a:fld>
            <a:endParaRPr lang="en-US"/>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Tree>
    <p:extLst>
      <p:ext uri="{BB962C8B-B14F-4D97-AF65-F5344CB8AC3E}">
        <p14:creationId xmlns:p14="http://schemas.microsoft.com/office/powerpoint/2010/main" val="196365080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a:bodyPr>
          <a:lstStyle/>
          <a:p>
            <a:r>
              <a:rPr lang="en-US" dirty="0"/>
              <a:t>Adding measurement error</a:t>
            </a:r>
          </a:p>
        </p:txBody>
      </p:sp>
      <p:sp>
        <p:nvSpPr>
          <p:cNvPr id="4" name="Content Placeholder 3"/>
          <p:cNvSpPr>
            <a:spLocks noGrp="1"/>
          </p:cNvSpPr>
          <p:nvPr>
            <p:ph idx="1"/>
          </p:nvPr>
        </p:nvSpPr>
        <p:spPr>
          <a:xfrm>
            <a:off x="838200" y="1196788"/>
            <a:ext cx="10896600" cy="1143000"/>
          </a:xfrm>
        </p:spPr>
        <p:txBody>
          <a:bodyPr>
            <a:normAutofit/>
          </a:bodyPr>
          <a:lstStyle/>
          <a:p>
            <a:r>
              <a:rPr lang="en-US" sz="2000" dirty="0"/>
              <a:t>Measurement error in Heart (y) decreases precision, but does not add bias</a:t>
            </a:r>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 </a:t>
            </a:r>
            <a:r>
              <a:rPr lang="en-US" sz="2000" dirty="0"/>
              <a:t>&amp; </a:t>
            </a:r>
            <a:r>
              <a:rPr lang="en-US" sz="2000" dirty="0">
                <a:solidFill>
                  <a:srgbClr val="FF0000"/>
                </a:solidFill>
              </a:rPr>
              <a:t>decreases</a:t>
            </a:r>
            <a:r>
              <a:rPr lang="en-US" sz="2000" dirty="0"/>
              <a:t> </a:t>
            </a:r>
            <a:r>
              <a:rPr lang="en-US" sz="2000" dirty="0">
                <a:solidFill>
                  <a:srgbClr val="FF0000"/>
                </a:solidFill>
              </a:rPr>
              <a:t>precision</a:t>
            </a:r>
            <a:r>
              <a:rPr lang="en-US" sz="2000" dirty="0"/>
              <a:t> </a:t>
            </a:r>
          </a:p>
        </p:txBody>
      </p:sp>
      <p:sp>
        <p:nvSpPr>
          <p:cNvPr id="3" name="Slide Number Placeholder 2"/>
          <p:cNvSpPr>
            <a:spLocks noGrp="1"/>
          </p:cNvSpPr>
          <p:nvPr>
            <p:ph type="sldNum" sz="quarter" idx="12"/>
          </p:nvPr>
        </p:nvSpPr>
        <p:spPr/>
        <p:txBody>
          <a:bodyPr/>
          <a:lstStyle/>
          <a:p>
            <a:fld id="{621225AB-15B9-4C79-A121-04D1DC7E2307}" type="slidenum">
              <a:rPr lang="en-US" smtClean="0"/>
              <a:t>29</a:t>
            </a:fld>
            <a:endParaRPr lang="en-US"/>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7813" y="2704147"/>
            <a:ext cx="3834765" cy="3834765"/>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99730" y="2657476"/>
            <a:ext cx="3834765" cy="3829050"/>
          </a:xfrm>
          <a:prstGeom prst="rect">
            <a:avLst/>
          </a:prstGeom>
        </p:spPr>
      </p:pic>
    </p:spTree>
    <p:extLst>
      <p:ext uri="{BB962C8B-B14F-4D97-AF65-F5344CB8AC3E}">
        <p14:creationId xmlns:p14="http://schemas.microsoft.com/office/powerpoint/2010/main" val="26152795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463822" y="1643063"/>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in this case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sp>
        <p:nvSpPr>
          <p:cNvPr id="4" name="Slide Number Placeholder 3"/>
          <p:cNvSpPr>
            <a:spLocks noGrp="1"/>
          </p:cNvSpPr>
          <p:nvPr>
            <p:ph type="sldNum" sz="quarter" idx="12"/>
          </p:nvPr>
        </p:nvSpPr>
        <p:spPr/>
        <p:txBody>
          <a:bodyPr/>
          <a:lstStyle/>
          <a:p>
            <a:fld id="{621225AB-15B9-4C79-A121-04D1DC7E2307}" type="slidenum">
              <a:rPr lang="en-US" smtClean="0"/>
              <a:t>30</a:t>
            </a:fld>
            <a:endParaRPr lang="en-US"/>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953911" y="1643063"/>
            <a:ext cx="4038600" cy="4026580"/>
          </a:xfrm>
        </p:spPr>
      </p:pic>
    </p:spTree>
    <p:extLst>
      <p:ext uri="{BB962C8B-B14F-4D97-AF65-F5344CB8AC3E}">
        <p14:creationId xmlns:p14="http://schemas.microsoft.com/office/powerpoint/2010/main" val="33486278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2382816"/>
            <a:ext cx="3778624" cy="2862322"/>
          </a:xfrm>
          <a:prstGeom prst="rect">
            <a:avLst/>
          </a:prstGeom>
          <a:noFill/>
        </p:spPr>
        <p:txBody>
          <a:bodyPr wrap="square" rtlCol="0">
            <a:spAutoFit/>
          </a:bodyPr>
          <a:lstStyle/>
          <a:p>
            <a:r>
              <a:rPr lang="en-CA" dirty="0"/>
              <a:t>Coffee, stress and heart damage:</a:t>
            </a:r>
          </a:p>
          <a:p>
            <a:endParaRPr lang="en-CA" dirty="0"/>
          </a:p>
          <a:p>
            <a:r>
              <a:rPr lang="en-CA" dirty="0"/>
              <a:t>Marginal &amp; partial slopes for coffee have opposite signs.</a:t>
            </a:r>
          </a:p>
          <a:p>
            <a:pPr marL="285750" indent="-285750">
              <a:buFont typeface="Symbol" panose="05050102010706020507" pitchFamily="18" charset="2"/>
              <a:buChar char="®"/>
            </a:pPr>
            <a:r>
              <a:rPr lang="en-CA" dirty="0">
                <a:sym typeface="Symbol" panose="05050102010706020507" pitchFamily="18" charset="2"/>
              </a:rPr>
              <a:t>Coffee is good, but control stress</a:t>
            </a:r>
          </a:p>
          <a:p>
            <a:pPr marL="285750" indent="-285750">
              <a:buFont typeface="Symbol" panose="05050102010706020507" pitchFamily="18" charset="2"/>
              <a:buChar char="®"/>
            </a:pPr>
            <a:endParaRPr lang="en-CA" dirty="0">
              <a:sym typeface="Symbol" panose="05050102010706020507" pitchFamily="18" charset="2"/>
            </a:endParaRPr>
          </a:p>
          <a:p>
            <a:r>
              <a:rPr lang="en-CA" dirty="0">
                <a:sym typeface="Symbol" panose="05050102010706020507" pitchFamily="18" charset="2"/>
              </a:rPr>
              <a:t>Slopes are similar for stress, but steeper when controlled for coffee</a:t>
            </a:r>
          </a:p>
          <a:p>
            <a:r>
              <a:rPr lang="en-CA" dirty="0">
                <a:sym typeface="Symbol" panose="05050102010706020507" pitchFamily="18" charset="2"/>
              </a:rPr>
              <a:t> Practice yoga at Starbucks?</a:t>
            </a:r>
            <a:endParaRPr lang="en-CA"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Leverage and influence</a:t>
            </a:r>
          </a:p>
        </p:txBody>
      </p:sp>
      <p:sp>
        <p:nvSpPr>
          <p:cNvPr id="3" name="Content Placeholder 2"/>
          <p:cNvSpPr>
            <a:spLocks noGrp="1"/>
          </p:cNvSpPr>
          <p:nvPr>
            <p:ph sz="half" idx="1"/>
          </p:nvPr>
        </p:nvSpPr>
        <p:spPr/>
        <p:txBody>
          <a:bodyPr/>
          <a:lstStyle/>
          <a:p>
            <a:r>
              <a:t>Leverage: unusual in the predictors</a:t>
            </a:r>
          </a:p>
          <a:p>
            <a:r>
              <a:t>Outlier: a large residual</a:t>
            </a:r>
          </a:p>
          <a:p>
            <a:r>
              <a:t>Influence = leverage x residual</a:t>
            </a:r>
          </a:p>
          <a:p>
            <a:r>
              <a:t>Bubble size: Cook's distance</a:t>
            </a:r>
          </a:p>
        </p:txBody>
      </p:sp>
      <p:pic>
        <p:nvPicPr>
          <p:cNvPr id="4" name="Picture 3" descr="fig-duncan-infl-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Which observations drive the fit?</a:t>
            </a:r>
          </a:p>
        </p:txBody>
      </p:sp>
      <p:pic>
        <p:nvPicPr>
          <p:cNvPr id="3" name="Picture 2" descr="duncan-av-influenc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Green: the residuals for minister and conductor. Red: the fitted line with those two cases omitted.</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Bias </a:t>
            </a:r>
            <a:r>
              <a:rPr lang="en-US" i="1" dirty="0"/>
              <a:t>vs. </a:t>
            </a:r>
            <a:r>
              <a:rPr lang="en-US" dirty="0"/>
              <a:t>Precision tradeoff</a:t>
            </a:r>
          </a:p>
        </p:txBody>
      </p:sp>
      <p:sp>
        <p:nvSpPr>
          <p:cNvPr id="3" name="Content Placeholder 2"/>
          <p:cNvSpPr>
            <a:spLocks noGrp="1"/>
          </p:cNvSpPr>
          <p:nvPr>
            <p:ph idx="1"/>
          </p:nvPr>
        </p:nvSpPr>
        <p:spPr>
          <a:xfrm>
            <a:off x="3505200" y="1143000"/>
            <a:ext cx="8229600" cy="1981200"/>
          </a:xfrm>
        </p:spPr>
        <p:txBody>
          <a:bodyPr>
            <a:normAutofit/>
          </a:bodyPr>
          <a:lstStyle/>
          <a:p>
            <a:r>
              <a:rPr lang="en-US" dirty="0"/>
              <a:t>Particularly important when the goal is </a:t>
            </a:r>
            <a:r>
              <a:rPr lang="en-US" dirty="0">
                <a:solidFill>
                  <a:srgbClr val="FF0000"/>
                </a:solidFill>
              </a:rPr>
              <a:t>predictive accuracy</a:t>
            </a:r>
          </a:p>
          <a:p>
            <a:pPr lvl="1"/>
            <a:r>
              <a:rPr lang="en-US" dirty="0"/>
              <a:t>Complex models, many predictors, e.g., demand for medical care</a:t>
            </a:r>
          </a:p>
          <a:p>
            <a:pPr lvl="1"/>
            <a:r>
              <a:rPr lang="en-US" dirty="0"/>
              <a:t>In-sample prediction error decreases with model complexity</a:t>
            </a:r>
          </a:p>
          <a:p>
            <a:r>
              <a:rPr lang="en-US" dirty="0"/>
              <a:t>But, in </a:t>
            </a:r>
            <a:r>
              <a:rPr lang="en-US" dirty="0">
                <a:solidFill>
                  <a:srgbClr val="FF0000"/>
                </a:solidFill>
              </a:rPr>
              <a:t>new samples </a:t>
            </a:r>
            <a:r>
              <a:rPr lang="en-US" dirty="0"/>
              <a:t>prediction error suffers from high variance of complex models </a:t>
            </a:r>
          </a:p>
        </p:txBody>
      </p:sp>
      <p:sp>
        <p:nvSpPr>
          <p:cNvPr id="4" name="Slide Number Placeholder 3"/>
          <p:cNvSpPr>
            <a:spLocks noGrp="1"/>
          </p:cNvSpPr>
          <p:nvPr>
            <p:ph type="sldNum" sz="quarter" idx="12"/>
          </p:nvPr>
        </p:nvSpPr>
        <p:spPr/>
        <p:txBody>
          <a:bodyPr/>
          <a:lstStyle/>
          <a:p>
            <a:fld id="{621225AB-15B9-4C79-A121-04D1DC7E2307}" type="slidenum">
              <a:rPr lang="en-US" smtClean="0"/>
              <a:t>34</a:t>
            </a:fld>
            <a:endParaRPr lang="en-US"/>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3276600"/>
            <a:ext cx="4403810" cy="3055238"/>
          </a:xfrm>
          <a:prstGeom prst="rect">
            <a:avLst/>
          </a:prstGeom>
        </p:spPr>
      </p:pic>
      <p:sp>
        <p:nvSpPr>
          <p:cNvPr id="6" name="TextBox 5"/>
          <p:cNvSpPr txBox="1"/>
          <p:nvPr/>
        </p:nvSpPr>
        <p:spPr>
          <a:xfrm>
            <a:off x="3505200" y="3505201"/>
            <a:ext cx="3124200" cy="830997"/>
          </a:xfrm>
          <a:prstGeom prst="rect">
            <a:avLst/>
          </a:prstGeom>
          <a:noFill/>
        </p:spPr>
        <p:txBody>
          <a:bodyPr wrap="square" rtlCol="0">
            <a:spAutoFit/>
          </a:bodyPr>
          <a:lstStyle/>
          <a:p>
            <a:r>
              <a:rPr lang="en-US" sz="2400" dirty="0"/>
              <a:t>How to visualize the tradeoff in </a:t>
            </a:r>
            <a:r>
              <a:rPr lang="en-US" sz="2400" dirty="0">
                <a:solidFill>
                  <a:srgbClr val="FF0000"/>
                </a:solidFill>
              </a:rPr>
              <a:t>data</a:t>
            </a:r>
            <a:r>
              <a:rPr lang="en-US" sz="2400" dirty="0"/>
              <a:t>?</a:t>
            </a:r>
          </a:p>
        </p:txBody>
      </p:sp>
      <p:sp>
        <p:nvSpPr>
          <p:cNvPr id="7" name="TextBox 6"/>
          <p:cNvSpPr txBox="1"/>
          <p:nvPr/>
        </p:nvSpPr>
        <p:spPr>
          <a:xfrm>
            <a:off x="3581400" y="4572001"/>
            <a:ext cx="2971800" cy="830997"/>
          </a:xfrm>
          <a:prstGeom prst="rect">
            <a:avLst/>
          </a:prstGeom>
          <a:noFill/>
        </p:spPr>
        <p:txBody>
          <a:bodyPr wrap="square" rtlCol="0">
            <a:spAutoFit/>
          </a:bodyPr>
          <a:lstStyle/>
          <a:p>
            <a:r>
              <a:rPr lang="en-US" sz="2400" dirty="0"/>
              <a:t>+1 if you guessed an ellipse !</a:t>
            </a:r>
          </a:p>
        </p:txBody>
      </p:sp>
    </p:spTree>
    <p:extLst>
      <p:ext uri="{BB962C8B-B14F-4D97-AF65-F5344CB8AC3E}">
        <p14:creationId xmlns:p14="http://schemas.microsoft.com/office/powerpoint/2010/main" val="34406379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narrow data, inflated uncertainty</a:t>
            </a:r>
          </a:p>
        </p:txBody>
      </p:sp>
      <p:pic>
        <p:nvPicPr>
          <p:cNvPr id="3" name="Picture 2" descr="fig-collin-data-beta-1.png"/>
          <p:cNvPicPr>
            <a:picLocks noChangeAspect="1"/>
          </p:cNvPicPr>
          <p:nvPr/>
        </p:nvPicPr>
        <p:blipFill>
          <a:blip r:embed="rId3"/>
          <a:stretch>
            <a:fillRect/>
          </a:stretch>
        </p:blipFill>
        <p:spPr>
          <a:xfrm>
            <a:off x="3346704" y="1691640"/>
            <a:ext cx="550468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As the predictors become more correlated, the data ellipse narrows and the confidence ellipse balloons.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Where's Waldo? Collinearity lives in the smallest dimensions</a:t>
            </a:r>
          </a:p>
        </p:txBody>
      </p:sp>
      <p:pic>
        <p:nvPicPr>
          <p:cNvPr id="3" name="Picture 2" descr="fig-cars-tableplot-1.png"/>
          <p:cNvPicPr>
            <a:picLocks noChangeAspect="1"/>
          </p:cNvPicPr>
          <p:nvPr/>
        </p:nvPicPr>
        <p:blipFill>
          <a:blip r:embed="rId3"/>
          <a:stretch>
            <a:fillRect/>
          </a:stretch>
        </p:blipFill>
        <p:spPr>
          <a:xfrm>
            <a:off x="841248" y="1828800"/>
            <a:ext cx="5120640" cy="3657600"/>
          </a:xfrm>
          <a:prstGeom prst="rect">
            <a:avLst/>
          </a:prstGeom>
        </p:spPr>
      </p:pic>
      <p:pic>
        <p:nvPicPr>
          <p:cNvPr id="4" name="Picture 3" descr="fig-cars-collin-biplot-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Tableplot of condition indices and variance proportions; biplot of the two smallest dimensions (Cars data).</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365125"/>
            <a:ext cx="785973" cy="9144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p:txBody>
          <a:bodyPr/>
          <a:lstStyle/>
          <a:p>
            <a:r>
              <a:t>Longley data: six highly collinear economic predictors</a:t>
            </a:r>
          </a:p>
          <a:p>
            <a:r>
              <a:t>Coefficients plotted against the shrinkage constant</a:t>
            </a:r>
          </a:p>
          <a:p>
            <a:r>
              <a:t>Shows the bias, but nothing about precision</a:t>
            </a:r>
          </a:p>
        </p:txBody>
      </p:sp>
      <p:pic>
        <p:nvPicPr>
          <p:cNvPr id="4" name="Picture 3" descr="fig-longley-trac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9.10</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sp>
        <p:nvSpPr>
          <p:cNvPr id="3" name="Slide Number Placeholder 2"/>
          <p:cNvSpPr>
            <a:spLocks noGrp="1"/>
          </p:cNvSpPr>
          <p:nvPr>
            <p:ph type="sldNum" sz="quarter" idx="12"/>
          </p:nvPr>
        </p:nvSpPr>
        <p:spPr/>
        <p:txBody>
          <a:bodyPr/>
          <a:lstStyle/>
          <a:p>
            <a:fld id="{621225AB-15B9-4C79-A121-04D1DC7E2307}" type="slidenum">
              <a:rPr lang="en-US" smtClean="0"/>
              <a:t>39</a:t>
            </a:fld>
            <a:endParaRPr lang="en-US"/>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36428" y="1313094"/>
            <a:ext cx="618849" cy="713901"/>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439508" y="365125"/>
            <a:ext cx="612688" cy="712800"/>
          </a:xfrm>
          <a:prstGeom prst="rect">
            <a:avLst/>
          </a:prstGeom>
        </p:spPr>
      </p:pic>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pic>
        <p:nvPicPr>
          <p:cNvPr id="7" name="Picture 6" descr="logo.png">
            <a:extLst>
              <a:ext uri="{FF2B5EF4-FFF2-40B4-BE49-F238E27FC236}">
                <a16:creationId xmlns:a16="http://schemas.microsoft.com/office/drawing/2014/main" id="{2962ADBA-4003-3C31-9B29-F4252D9238AA}"/>
              </a:ext>
            </a:extLst>
          </p:cNvPr>
          <p:cNvPicPr>
            <a:picLocks noChangeAspect="1"/>
          </p:cNvPicPr>
          <p:nvPr/>
        </p:nvPicPr>
        <p:blipFill>
          <a:blip r:embed="rId4"/>
          <a:stretch>
            <a:fillRect/>
          </a:stretch>
        </p:blipFill>
        <p:spPr>
          <a:xfrm>
            <a:off x="10567827" y="365125"/>
            <a:ext cx="785973" cy="9144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HE plot framework</a:t>
            </a:r>
          </a:p>
        </p:txBody>
      </p:sp>
      <p:sp>
        <p:nvSpPr>
          <p:cNvPr id="3" name="Text Placeholder 2"/>
          <p:cNvSpPr>
            <a:spLocks noGrp="1"/>
          </p:cNvSpPr>
          <p:nvPr>
            <p:ph type="body" idx="1"/>
          </p:nvPr>
        </p:nvSpPr>
        <p:spPr/>
        <p:txBody>
          <a:bodyPr/>
          <a:lstStyle/>
          <a:p>
            <a:r>
              <a:t>Seeing multivariate tests as ellipses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the t-test to Hotelling's T²</a:t>
            </a:r>
          </a:p>
        </p:txBody>
      </p:sp>
      <p:sp>
        <p:nvSpPr>
          <p:cNvPr id="3" name="Content Placeholder 2"/>
          <p:cNvSpPr>
            <a:spLocks noGrp="1"/>
          </p:cNvSpPr>
          <p:nvPr>
            <p:ph sz="half" idx="1"/>
          </p:nvPr>
        </p:nvSpPr>
        <p:spPr/>
        <p:txBody>
          <a:bodyPr/>
          <a:lstStyle/>
          <a:p>
            <a:r>
              <a:t>Two groups, several responses</a:t>
            </a:r>
          </a:p>
          <a:p>
            <a:r>
              <a:t>T² is the largest squared t over all linear combinations of the responses</a:t>
            </a:r>
          </a:p>
          <a:p>
            <a:r>
              <a:t>That best combination is the discriminant axis</a:t>
            </a:r>
          </a:p>
        </p:txBody>
      </p:sp>
      <p:pic>
        <p:nvPicPr>
          <p:cNvPr id="4" name="Picture 3" descr="T2-diagram.png"/>
          <p:cNvPicPr>
            <a:picLocks noChangeAspect="1"/>
          </p:cNvPicPr>
          <p:nvPr/>
        </p:nvPicPr>
        <p:blipFill>
          <a:blip r:embed="rId3"/>
          <a:stretch>
            <a:fillRect/>
          </a:stretch>
        </p:blipFill>
        <p:spPr>
          <a:xfrm>
            <a:off x="6350508" y="1783080"/>
            <a:ext cx="4828032"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10.1</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9601200" y="274638"/>
            <a:ext cx="2133600" cy="1781134"/>
          </a:xfrm>
        </p:spPr>
        <p:txBody>
          <a:bodyPr>
            <a:normAutofit/>
          </a:bodyPr>
          <a:lstStyle/>
          <a:p>
            <a:r>
              <a:rPr lang="en-CA" sz="3200" dirty="0"/>
              <a:t>HE plots: Visual overview</a:t>
            </a:r>
          </a:p>
        </p:txBody>
      </p:sp>
      <p:sp>
        <p:nvSpPr>
          <p:cNvPr id="3" name="Slide Number Placeholder 2">
            <a:extLst>
              <a:ext uri="{FF2B5EF4-FFF2-40B4-BE49-F238E27FC236}">
                <a16:creationId xmlns:a16="http://schemas.microsoft.com/office/drawing/2014/main" id="{B52CCEF0-929A-4185-E7BE-6AC7C818076B}"/>
              </a:ext>
            </a:extLst>
          </p:cNvPr>
          <p:cNvSpPr>
            <a:spLocks noGrp="1"/>
          </p:cNvSpPr>
          <p:nvPr>
            <p:ph type="sldNum" sz="quarter" idx="12"/>
          </p:nvPr>
        </p:nvSpPr>
        <p:spPr/>
        <p:txBody>
          <a:bodyPr/>
          <a:lstStyle/>
          <a:p>
            <a:fld id="{621225AB-15B9-4C79-A121-04D1DC7E2307}" type="slidenum">
              <a:rPr lang="en-US" smtClean="0"/>
              <a:t>43</a:t>
            </a:fld>
            <a:endParaRPr lang="en-US"/>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3234310"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6322921"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7772401"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5903821"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7476601"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3860908"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5591011"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692364"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608288" y="2087119"/>
            <a:ext cx="1024128" cy="1188720"/>
          </a:xfrm>
          <a:prstGeom prst="rect">
            <a:avLst/>
          </a:prstGeom>
        </p:spPr>
      </p:pic>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between group 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within groups 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728400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880179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Tree>
    <p:extLst>
      <p:ext uri="{BB962C8B-B14F-4D97-AF65-F5344CB8AC3E}">
        <p14:creationId xmlns:p14="http://schemas.microsoft.com/office/powerpoint/2010/main" val="379674940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Hypothesis-Error plot framework</a:t>
            </a:r>
          </a:p>
        </p:txBody>
      </p:sp>
      <p:pic>
        <p:nvPicPr>
          <p:cNvPr id="3" name="Picture 2" descr="HE-framework.png"/>
          <p:cNvPicPr>
            <a:picLocks noChangeAspect="1"/>
          </p:cNvPicPr>
          <p:nvPr/>
        </p:nvPicPr>
        <p:blipFill>
          <a:blip r:embed="rId3"/>
          <a:stretch>
            <a:fillRect/>
          </a:stretch>
        </p:blipFill>
        <p:spPr>
          <a:xfrm>
            <a:off x="841248" y="1417320"/>
            <a:ext cx="7229900" cy="5212080"/>
          </a:xfrm>
          <a:prstGeom prst="rect">
            <a:avLst/>
          </a:prstGeom>
        </p:spPr>
      </p:pic>
      <p:sp>
        <p:nvSpPr>
          <p:cNvPr id="4" name="TextBox 3"/>
          <p:cNvSpPr txBox="1"/>
          <p:nvPr/>
        </p:nvSpPr>
        <p:spPr>
          <a:xfrm>
            <a:off x="8436908" y="1417320"/>
            <a:ext cx="3192108" cy="5212080"/>
          </a:xfrm>
          <a:prstGeom prst="rect">
            <a:avLst/>
          </a:prstGeom>
          <a:noFill/>
        </p:spPr>
        <p:txBody>
          <a:bodyPr wrap="square" anchor="ctr">
            <a:noAutofit/>
          </a:bodyPr>
          <a:lstStyle/>
          <a:p>
            <a:r>
              <a:rPr sz="2400" dirty="0"/>
              <a:t>Data ellipses </a:t>
            </a:r>
            <a:r>
              <a:rPr lang="en-CA" sz="2400" dirty="0">
                <a:sym typeface="Symbol" panose="05050102010706020507" pitchFamily="18" charset="2"/>
              </a:rPr>
              <a:t></a:t>
            </a:r>
            <a:r>
              <a:rPr sz="2400" dirty="0"/>
              <a:t> </a:t>
            </a:r>
            <a:r>
              <a:rPr sz="2400" b="1" dirty="0"/>
              <a:t>E</a:t>
            </a:r>
            <a:r>
              <a:rPr sz="2400" dirty="0"/>
              <a:t> ellipse </a:t>
            </a:r>
            <a:endParaRPr lang="en-CA" sz="2400" dirty="0"/>
          </a:p>
          <a:p>
            <a:endParaRPr lang="en-CA" sz="2400" dirty="0"/>
          </a:p>
          <a:p>
            <a:r>
              <a:rPr lang="en-CA" sz="2400" dirty="0"/>
              <a:t>G</a:t>
            </a:r>
            <a:r>
              <a:rPr sz="2400" dirty="0" err="1"/>
              <a:t>roup</a:t>
            </a:r>
            <a:r>
              <a:rPr sz="2400" dirty="0"/>
              <a:t> means </a:t>
            </a:r>
            <a:r>
              <a:rPr lang="en-CA" sz="2400" dirty="0">
                <a:sym typeface="Symbol" panose="05050102010706020507" pitchFamily="18" charset="2"/>
              </a:rPr>
              <a:t></a:t>
            </a:r>
            <a:r>
              <a:rPr sz="2400" dirty="0"/>
              <a:t> </a:t>
            </a:r>
            <a:r>
              <a:rPr sz="2400" b="1" dirty="0"/>
              <a:t>H</a:t>
            </a:r>
            <a:endParaRPr lang="en-CA" sz="2400" b="1" dirty="0"/>
          </a:p>
          <a:p>
            <a:r>
              <a:rPr sz="2400" dirty="0"/>
              <a:t> </a:t>
            </a:r>
            <a:endParaRPr lang="en-CA" sz="2400" dirty="0"/>
          </a:p>
          <a:p>
            <a:r>
              <a:rPr lang="en-CA" sz="2400" dirty="0"/>
              <a:t>P</a:t>
            </a:r>
            <a:r>
              <a:rPr sz="2400" dirty="0" err="1"/>
              <a:t>rojection</a:t>
            </a:r>
            <a:r>
              <a:rPr sz="2400" dirty="0"/>
              <a:t> </a:t>
            </a:r>
            <a:r>
              <a:rPr lang="en-CA" sz="2400" dirty="0">
                <a:sym typeface="Symbol" panose="05050102010706020507" pitchFamily="18" charset="2"/>
              </a:rPr>
              <a:t> </a:t>
            </a:r>
            <a:r>
              <a:rPr sz="2400" dirty="0"/>
              <a:t>discriminant view.</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HE plots: is the effect significant, and how?</a:t>
            </a:r>
          </a:p>
        </p:txBody>
      </p:sp>
      <p:pic>
        <p:nvPicPr>
          <p:cNvPr id="3" name="Picture 2" descr="fig-iris-HE1-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369332"/>
          </a:xfrm>
          <a:prstGeom prst="rect">
            <a:avLst/>
          </a:prstGeom>
          <a:noFill/>
        </p:spPr>
        <p:txBody>
          <a:bodyPr wrap="square">
            <a:spAutoFit/>
          </a:bodyPr>
          <a:lstStyle/>
          <a:p>
            <a:r>
              <a:rPr sz="1800" dirty="0"/>
              <a:t>With </a:t>
            </a:r>
            <a:r>
              <a:rPr sz="1800" b="1" dirty="0"/>
              <a:t>significance</a:t>
            </a:r>
            <a:r>
              <a:rPr sz="1800" dirty="0"/>
              <a:t> scaling, an H ellipse that projects outside E signals a significant effect (Roy's test).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12.5</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Contrasts and linear hypotheses</a:t>
            </a:r>
          </a:p>
        </p:txBody>
      </p:sp>
      <p:sp>
        <p:nvSpPr>
          <p:cNvPr id="3" name="Content Placeholder 2"/>
          <p:cNvSpPr>
            <a:spLocks noGrp="1"/>
          </p:cNvSpPr>
          <p:nvPr>
            <p:ph sz="half" idx="1"/>
          </p:nvPr>
        </p:nvSpPr>
        <p:spPr/>
        <p:txBody>
          <a:bodyPr/>
          <a:lstStyle/>
          <a:p>
            <a:r>
              <a:t>Any linear hypothesis has its own H</a:t>
            </a:r>
          </a:p>
          <a:p>
            <a:r>
              <a:t>A 1 df hypothesis is a line</a:t>
            </a:r>
          </a:p>
          <a:p>
            <a:r>
              <a:t>Contrasts decompose the overall effect</a:t>
            </a:r>
          </a:p>
        </p:txBody>
      </p:sp>
      <p:pic>
        <p:nvPicPr>
          <p:cNvPr id="4" name="Picture 3" descr="fig-iris-contrast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12.7</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HE plot matrices: all pairs of responses</a:t>
            </a:r>
          </a:p>
        </p:txBody>
      </p:sp>
      <p:sp>
        <p:nvSpPr>
          <p:cNvPr id="3" name="Content Placeholder 2"/>
          <p:cNvSpPr>
            <a:spLocks noGrp="1"/>
          </p:cNvSpPr>
          <p:nvPr>
            <p:ph sz="half" idx="1"/>
          </p:nvPr>
        </p:nvSpPr>
        <p:spPr/>
        <p:txBody>
          <a:bodyPr/>
          <a:lstStyle/>
          <a:p>
            <a:r>
              <a:t>The analog of a scatterplot matrix for a multivariate model</a:t>
            </a:r>
          </a:p>
          <a:p>
            <a:r>
              <a:t>One HE plot for each pair of responses</a:t>
            </a:r>
          </a:p>
        </p:txBody>
      </p:sp>
      <p:pic>
        <p:nvPicPr>
          <p:cNvPr id="4" name="Picture 3" descr="fig-iris-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12.8</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lstStyle/>
          <a:p>
            <a:r>
              <a:t>School data: 70 US schools in a program for disadvantaged students</a:t>
            </a:r>
          </a:p>
          <a:p>
            <a:pPr lvl="1"/>
            <a:r>
              <a:t>Outcomes: reading, mathematics, self-esteem</a:t>
            </a:r>
          </a:p>
          <a:p>
            <a:pPr lvl="1"/>
            <a:r>
              <a:t>Predictors: parents’ education &amp; occupation, school visits, counseling, number of teachers</a:t>
            </a:r>
          </a:p>
          <a:p>
            <a:r>
              <a:t>Length: the strength of the relationship</a:t>
            </a:r>
          </a:p>
          <a:p>
            <a:r>
              <a:t>Direction: how the predictor relates to the two responses</a:t>
            </a:r>
          </a:p>
          <a:p>
            <a:r>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chemeClr val="accent1">
              <a:lumMod val="50000"/>
            </a:schemeClr>
          </a:solidFill>
        </p:spPr>
        <p:txBody>
          <a:bodyPr wrap="square" rtlCol="0">
            <a:spAutoFit/>
          </a:bodyPr>
          <a:lstStyle/>
          <a:p>
            <a:r>
              <a:rPr lang="en-US" sz="4800" dirty="0">
                <a:solidFill>
                  <a:schemeClr val="bg1"/>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926080"/>
          </a:xfrm>
          <a:prstGeom prst="rect">
            <a:avLst/>
          </a:prstGeom>
          <a:noFill/>
        </p:spPr>
        <p:txBody>
          <a:bodyPr wrap="square">
            <a:spAutoFit/>
          </a:bodyPr>
          <a:lstStyle/>
          <a:p>
            <a:r>
              <a:rPr sz="2400"/>
              <a:t>PCA is a rotation of the axes: PC1 lies along the direction of greatest variance, PC2 is orthogonal to it.</a:t>
            </a:r>
          </a:p>
          <a:p>
            <a:pPr>
              <a:spcBef>
                <a:spcPts val="1800"/>
              </a:spcBef>
            </a:pPr>
            <a:r>
              <a:rPr sz="2400" b="0"/>
              <a:t>Outliers typically appear on the </a:t>
            </a:r>
            <a:r>
              <a:rPr sz="2400" b="1"/>
              <a:t>smallest</a:t>
            </a:r>
            <a:r>
              <a:rPr sz="2400" b="0"/>
              <a:t> dimensions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460599"/>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3" name="Slide Number Placeholder 2"/>
          <p:cNvSpPr>
            <a:spLocks noGrp="1"/>
          </p:cNvSpPr>
          <p:nvPr>
            <p:ph type="sldNum" sz="quarter" idx="12"/>
          </p:nvPr>
        </p:nvSpPr>
        <p:spPr/>
        <p:txBody>
          <a:bodyPr/>
          <a:lstStyle/>
          <a:p>
            <a:fld id="{810B7604-93B8-4136-B9BD-D1CE89EE20B0}" type="slidenum">
              <a:rPr lang="en-US" smtClean="0"/>
              <a:t>58</a:t>
            </a:fld>
            <a:endParaRPr lang="en-US"/>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circle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524599"/>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Tree>
    <p:extLst>
      <p:ext uri="{BB962C8B-B14F-4D97-AF65-F5344CB8AC3E}">
        <p14:creationId xmlns:p14="http://schemas.microsoft.com/office/powerpoint/2010/main" val="180814440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883922"/>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883922"/>
                <a:ext cx="9372600" cy="2011678"/>
              </a:xfrm>
              <a:blipFill>
                <a:blip r:embed="rId3"/>
                <a:stretch>
                  <a:fillRect l="-586" t="-2727" b="-5455"/>
                </a:stretch>
              </a:blipFill>
            </p:spPr>
            <p:txBody>
              <a:bodyPr/>
              <a:lstStyle/>
              <a:p>
                <a:r>
                  <a:rPr lang="en-CA">
                    <a:noFill/>
                  </a:rPr>
                  <a:t> </a:t>
                </a:r>
              </a:p>
            </p:txBody>
          </p:sp>
        </mc:Fallback>
      </mc:AlternateContent>
      <p:sp>
        <p:nvSpPr>
          <p:cNvPr id="3" name="Slide Number Placeholder 2">
            <a:extLst>
              <a:ext uri="{FF2B5EF4-FFF2-40B4-BE49-F238E27FC236}">
                <a16:creationId xmlns:a16="http://schemas.microsoft.com/office/drawing/2014/main" id="{CD6BFC25-DA19-EC4F-4AED-BC5CF5636F73}"/>
              </a:ext>
            </a:extLst>
          </p:cNvPr>
          <p:cNvSpPr>
            <a:spLocks noGrp="1"/>
          </p:cNvSpPr>
          <p:nvPr>
            <p:ph type="sldNum" sz="quarter" idx="12"/>
          </p:nvPr>
        </p:nvSpPr>
        <p:spPr/>
        <p:txBody>
          <a:bodyPr/>
          <a:lstStyle/>
          <a:p>
            <a:fld id="{621225AB-15B9-4C79-A121-04D1DC7E2307}" type="slidenum">
              <a:rPr lang="en-US" smtClean="0"/>
              <a:t>59</a:t>
            </a:fld>
            <a:endParaRPr lang="en-US"/>
          </a:p>
        </p:txBody>
      </p:sp>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t-SNE separates the Diabetes groups more cleanly, but distances and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2862322"/>
          </a:xfrm>
          <a:prstGeom prst="rect">
            <a:avLst/>
          </a:prstGeom>
          <a:noFill/>
        </p:spPr>
        <p:txBody>
          <a:bodyPr wrap="square" rtlCol="0">
            <a:spAutoFit/>
          </a:bodyPr>
          <a:lstStyle/>
          <a:p>
            <a:r>
              <a:rPr lang="en-CA" dirty="0"/>
              <a:t>We can better understand algorithms visually by animating a </a:t>
            </a:r>
            <a:r>
              <a:rPr lang="en-CA" b="1" dirty="0"/>
              <a:t>smooth interpolation </a:t>
            </a:r>
            <a:r>
              <a:rPr lang="en-CA" dirty="0"/>
              <a:t>from one to another</a:t>
            </a:r>
          </a:p>
          <a:p>
            <a:endParaRPr lang="en-CA" dirty="0"/>
          </a:p>
          <a:p>
            <a:r>
              <a:rPr lang="en-CA" dirty="0"/>
              <a:t>Here, the PCA configuration morphs into the t-SNE one largely by a rotation.</a:t>
            </a:r>
          </a:p>
          <a:p>
            <a:endParaRPr lang="en-CA" dirty="0"/>
          </a:p>
          <a:p>
            <a:r>
              <a:rPr lang="en-CA" dirty="0"/>
              <a:t>But t-SNE achieves wider separation among groups</a:t>
            </a:r>
          </a:p>
          <a:p>
            <a:r>
              <a:rPr lang="en-CA" dirty="0"/>
              <a:t>The data ellipses here carry the visual message.</a:t>
            </a:r>
          </a:p>
          <a:p>
            <a:endParaRPr lang="en-CA"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Application: how many dimensions is the Mona Lisa?</a:t>
            </a:r>
          </a:p>
        </p:txBody>
      </p:sp>
      <p:pic>
        <p:nvPicPr>
          <p:cNvPr id="3" name="Picture 2" descr="mona-pca.png"/>
          <p:cNvPicPr>
            <a:picLocks noChangeAspect="1"/>
          </p:cNvPicPr>
          <p:nvPr/>
        </p:nvPicPr>
        <p:blipFill>
          <a:blip r:embed="rId3"/>
          <a:stretch>
            <a:fillRect/>
          </a:stretch>
        </p:blipFill>
        <p:spPr>
          <a:xfrm>
            <a:off x="4740983" y="1691640"/>
            <a:ext cx="271612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Reconstructions from a few principal components: image compression as dimension reduction.</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5.33</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what is typical</a:t>
            </a:r>
          </a:p>
          <a:p>
            <a:r>
              <a:rPr dirty="0"/>
              <a:t>The last dimensions show what does not fit the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endParaRPr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noFill/>
        </p:spPr>
        <p:txBody>
          <a:bodyPr wrap="square" rtlCol="0">
            <a:spAutoFit/>
          </a:bodyPr>
          <a:lstStyle/>
          <a:p>
            <a:pPr algn="ctr"/>
            <a:r>
              <a:rPr lang="en-CA" sz="1600" dirty="0">
                <a:solidFill>
                  <a:schemeClr val="accent5">
                    <a:lumMod val="75000"/>
                  </a:schemeClr>
                </a:solidFill>
              </a:rPr>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69593"/>
            <a:ext cx="1155032" cy="338554"/>
          </a:xfrm>
          <a:prstGeom prst="rect">
            <a:avLst/>
          </a:prstGeom>
          <a:noFill/>
        </p:spPr>
        <p:txBody>
          <a:bodyPr wrap="square" rtlCol="0">
            <a:spAutoFit/>
          </a:bodyPr>
          <a:lstStyle/>
          <a:p>
            <a:pPr algn="ctr"/>
            <a:r>
              <a:rPr lang="en-CA" sz="1600" dirty="0">
                <a:solidFill>
                  <a:srgbClr val="FF0000"/>
                </a:solidFill>
              </a:rPr>
              <a:t>Hook Nose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Checking multivariate models</a:t>
            </a:r>
          </a:p>
        </p:txBody>
      </p:sp>
      <p:sp>
        <p:nvSpPr>
          <p:cNvPr id="3" name="Text Placeholder 2"/>
          <p:cNvSpPr>
            <a:spLocks noGrp="1"/>
          </p:cNvSpPr>
          <p:nvPr>
            <p:ph type="body" idx="1"/>
          </p:nvPr>
        </p:nvSpPr>
        <p:spPr/>
        <p:txBody>
          <a:bodyPr/>
          <a:lstStyle/>
          <a:p>
            <a:r>
              <a:t>Outliers, influence and robust estimation</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dirty="0"/>
              <a:t>Distance plot: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103120"/>
          </a:xfrm>
          <a:prstGeom prst="rect">
            <a:avLst/>
          </a:prstGeom>
          <a:noFill/>
        </p:spPr>
        <p:txBody>
          <a:bodyPr wrap="square">
            <a:spAutoFit/>
          </a:bodyPr>
          <a:lstStyle/>
          <a:p>
            <a:pPr marL="228600" indent="-228600">
              <a:spcAft>
                <a:spcPts val="400"/>
              </a:spcAft>
              <a:buFont typeface="Arial"/>
              <a:buChar char="•"/>
            </a:pPr>
            <a:r>
              <a:rPr sz="1800"/>
              <a:t>Influence plot: bubble size ~ multivariate Cook’s D</a:t>
            </a:r>
          </a:p>
          <a:p>
            <a:pPr marL="228600" indent="-228600">
              <a:spcAft>
                <a:spcPts val="400"/>
              </a:spcAft>
              <a:buFont typeface="Arial"/>
              <a:buChar char="•"/>
            </a:pPr>
            <a:r>
              <a:rPr sz="1800" b="1">
                <a:solidFill>
                  <a:srgbClr val="FF0000"/>
                </a:solidFill>
              </a:rPr>
              <a:t>44, 59</a:t>
            </a:r>
            <a:r>
              <a:rPr sz="1800"/>
              <a:t>: high leverage and influential</a:t>
            </a:r>
          </a:p>
          <a:p>
            <a:pPr marL="228600" indent="-228600">
              <a:spcAft>
                <a:spcPts val="400"/>
              </a:spcAft>
              <a:buFont typeface="Arial"/>
              <a:buChar char="•"/>
            </a:pPr>
            <a:r>
              <a:rPr sz="1800" b="1">
                <a:solidFill>
                  <a:srgbClr val="0000FF"/>
                </a:solidFill>
              </a:rPr>
              <a:t>35</a:t>
            </a:r>
            <a:r>
              <a:rPr sz="1800"/>
              <a:t>: an outlier, but little influence</a:t>
            </a:r>
          </a:p>
          <a:p>
            <a:pPr marL="228600" indent="-228600">
              <a:spcAft>
                <a:spcPts val="400"/>
              </a:spcAft>
              <a:buFont typeface="Arial"/>
              <a:buChar char="•"/>
            </a:pPr>
            <a:r>
              <a:rPr sz="1800" b="1">
                <a:solidFill>
                  <a:srgbClr val="006400"/>
                </a:solidFill>
              </a:rPr>
              <a:t>66</a:t>
            </a:r>
            <a:r>
              <a:rPr sz="180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r>
              <a:rPr dirty="0" err="1"/>
              <a:t>mvinfluence</a:t>
            </a:r>
            <a:r>
              <a:rPr dirty="0"/>
              <a:t> package)</a:t>
            </a:r>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ideas go a long way</a:t>
            </a:r>
          </a:p>
        </p:txBody>
      </p:sp>
      <p:sp>
        <p:nvSpPr>
          <p:cNvPr id="3" name="Content Placeholder 2"/>
          <p:cNvSpPr>
            <a:spLocks noGrp="1"/>
          </p:cNvSpPr>
          <p:nvPr>
            <p:ph idx="1"/>
          </p:nvPr>
        </p:nvSpPr>
        <p:spPr/>
        <p:txBody>
          <a:bodyPr/>
          <a:lstStyle/>
          <a:p>
            <a:r>
              <a:rPr dirty="0"/>
              <a:t>Ellipses: for data, for coefficients, and for hypotheses and error</a:t>
            </a:r>
          </a:p>
          <a:p>
            <a:r>
              <a:rPr dirty="0"/>
              <a:t>Projections: every plot is a view; choose the views that answer the question</a:t>
            </a:r>
            <a:endParaRPr lang="en-CA" dirty="0"/>
          </a:p>
          <a:p>
            <a:r>
              <a:rPr lang="en-CA" dirty="0"/>
              <a:t>Geometry: provides the connective tissue to understand relations in different, equivalent spaces.</a:t>
            </a:r>
            <a:endParaRPr dirty="0"/>
          </a:p>
          <a:p>
            <a:r>
              <a:rPr dirty="0"/>
              <a:t>Low-</a:t>
            </a:r>
            <a:r>
              <a:rPr lang="en-CA" dirty="0"/>
              <a:t>D</a:t>
            </a:r>
            <a:r>
              <a:rPr dirty="0"/>
              <a:t> views: biplots and canonical plots show many variables in the space that matters</a:t>
            </a:r>
          </a:p>
          <a:p>
            <a:r>
              <a:rPr dirty="0"/>
              <a:t>Visual thinning: summarize, so the message can be seen</a:t>
            </a:r>
          </a:p>
          <a:p>
            <a:r>
              <a:rPr dirty="0"/>
              <a:t>Multivariate models deserve graphs as good as those for a single response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pic>
        <p:nvPicPr>
          <p:cNvPr id="4" name="Picture 3" descr="cover-peng.jpg"/>
          <p:cNvPicPr>
            <a:picLocks noChangeAspect="1"/>
          </p:cNvPicPr>
          <p:nvPr/>
        </p:nvPicPr>
        <p:blipFill>
          <a:blip r:embed="rId4"/>
          <a:stretch>
            <a:fillRect/>
          </a:stretch>
        </p:blipFill>
        <p:spPr>
          <a:xfrm>
            <a:off x="7169844" y="731404"/>
            <a:ext cx="3953563" cy="5440796"/>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Discriminant analysis</a:t>
            </a:r>
          </a:p>
        </p:txBody>
      </p:sp>
      <p:sp>
        <p:nvSpPr>
          <p:cNvPr id="3" name="Text Placeholder 2"/>
          <p:cNvSpPr>
            <a:spLocks noGrp="1"/>
          </p:cNvSpPr>
          <p:nvPr>
            <p:ph type="body" idx="1"/>
          </p:nvPr>
        </p:nvSpPr>
        <p:spPr/>
        <p:txBody>
          <a:bodyPr/>
          <a:lstStyle/>
          <a:p>
            <a:r>
              <a:t>MANOVA turned around: predicting the group</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Mysterious Case 9</a:t>
            </a:r>
          </a:p>
        </p:txBody>
      </p:sp>
      <p:pic>
        <p:nvPicPr>
          <p:cNvPr id="3" name="Picture 2" descr="fig-toy-inflplots-1.png"/>
          <p:cNvPicPr>
            <a:picLocks noChangeAspect="1"/>
          </p:cNvPicPr>
          <p:nvPr/>
        </p:nvPicPr>
        <p:blipFill>
          <a:blip r:embed="rId3"/>
          <a:stretch>
            <a:fillRect/>
          </a:stretch>
        </p:blipFill>
        <p:spPr>
          <a:xfrm>
            <a:off x="841248" y="2377440"/>
            <a:ext cx="5120640" cy="2560320"/>
          </a:xfrm>
          <a:prstGeom prst="rect">
            <a:avLst/>
          </a:prstGeom>
        </p:spPr>
      </p:pic>
      <p:pic>
        <p:nvPicPr>
          <p:cNvPr id="4" name="Picture 3" descr="fig-toy-inflplot-mlm-stres-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Harmless in each univariate model (left), yet wildly influential in the multivariate model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14.2, 14.3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3903</TotalTime>
  <Words>5870</Words>
  <Application>Microsoft Office PowerPoint</Application>
  <PresentationFormat>Widescreen</PresentationFormat>
  <Paragraphs>554</Paragraphs>
  <Slides>86</Slides>
  <Notes>79</Notes>
  <HiddenSlides>14</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1</vt:i4>
      </vt:variant>
      <vt:variant>
        <vt:lpstr>Slide Titles</vt:lpstr>
      </vt:variant>
      <vt:variant>
        <vt:i4>86</vt:i4>
      </vt:variant>
    </vt:vector>
  </HeadingPairs>
  <TitlesOfParts>
    <vt:vector size="95" baseType="lpstr">
      <vt:lpstr>Aptos</vt:lpstr>
      <vt:lpstr>Aptos Display</vt:lpstr>
      <vt:lpstr>Arial</vt:lpstr>
      <vt:lpstr>Cambria Math</vt:lpstr>
      <vt:lpstr>Courier New</vt:lpstr>
      <vt:lpstr>Symbol</vt:lpstr>
      <vt:lpstr>Wingdings</vt:lpstr>
      <vt:lpstr>Office Theme</vt:lpstr>
      <vt:lpstr>Equation</vt:lpstr>
      <vt:lpstr>Visualizing Multivariate Data and Models in R</vt:lpstr>
      <vt:lpstr>The book</vt:lpstr>
      <vt:lpstr>Key features of the book</vt:lpstr>
      <vt:lpstr>R packages</vt:lpstr>
      <vt:lpstr>Where we are going</vt:lpstr>
      <vt:lpstr>Why a romance in many dimensions?</vt:lpstr>
      <vt:lpstr>Planeland: we only ever see 2D projections</vt:lpstr>
      <vt:lpstr>EUREKA! Structure can hide in many dimensions</vt:lpstr>
      <vt:lpstr>A multivariate discovery: kinds of diabetes</vt:lpstr>
      <vt:lpstr>The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Simpson's paradox: marginal &amp; conditional relations</vt:lpstr>
      <vt:lpstr>How to visualize p &gt; 2 variables in Flatland? Scatterplot matrices: all pairs at once</vt:lpstr>
      <vt:lpstr>Visual thinning: show less to see more Effect order: order variables to see what you want to show </vt:lpstr>
      <vt:lpstr>Parallel coordinates: one line per penguin</vt:lpstr>
      <vt:lpstr>Animated tours: moving through projections</vt:lpstr>
      <vt:lpstr>Elliptical Insights</vt:lpstr>
      <vt:lpstr>Multivariate outliers: which penguins are unusual?</vt:lpstr>
      <vt:lpstr>Outlier detection: Waar is Wally?</vt:lpstr>
      <vt:lpstr>Elliptical insights: Measurement error</vt:lpstr>
      <vt:lpstr>Coffee, stress and heart disease</vt:lpstr>
      <vt:lpstr>Data space and beta space are dual</vt:lpstr>
      <vt:lpstr>Adding measurement error</vt:lpstr>
      <vt:lpstr>Measurement error for β1 also biases β2</vt:lpstr>
      <vt:lpstr>Added-variable plots show partial relationships</vt:lpstr>
      <vt:lpstr>Leverage and influence</vt:lpstr>
      <vt:lpstr>Which observations drive the fit?</vt:lpstr>
      <vt:lpstr>Bias vs. Precision tradeoff</vt:lpstr>
      <vt:lpstr>Collinearity: narrow data, inflated uncertainty</vt:lpstr>
      <vt:lpstr>Where's Waldo? Collinearity lives in the smallest dimensions</vt:lpstr>
      <vt:lpstr>Ridge regression: shrink to gain precision</vt:lpstr>
      <vt:lpstr>The usual ridge trace shows only the estimates</vt:lpstr>
      <vt:lpstr>Generalized ridge trace plots</vt:lpstr>
      <vt:lpstr>A low-rank view of ridge regression</vt:lpstr>
      <vt:lpstr>The HE plot framework</vt:lpstr>
      <vt:lpstr>From the t-test to Hotelling's T²</vt:lpstr>
      <vt:lpstr>HE plots: Visual overview</vt:lpstr>
      <vt:lpstr>Data  Data ellipses  HE plot</vt:lpstr>
      <vt:lpstr>The H ellipse</vt:lpstr>
      <vt:lpstr>The E ellipse</vt:lpstr>
      <vt:lpstr>The Hypothesis-Error plot framework</vt:lpstr>
      <vt:lpstr>MANOVA: the same sums of squares, now as matrices</vt:lpstr>
      <vt:lpstr>HE plots: is the effect significant, and how?</vt:lpstr>
      <vt:lpstr>Contrasts and linear hypotheses</vt:lpstr>
      <vt:lpstr>HE plot matrices: all pairs of responses</vt:lpstr>
      <vt:lpstr>Quantitative predictors: each effect is a line</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Canonical discriminant plots: The MANOVA juicer</vt:lpstr>
      <vt:lpstr>Linear discriminant analysis: main ideas</vt:lpstr>
      <vt:lpstr>Prediction regions in data space</vt:lpstr>
      <vt:lpstr>Prediction regions in discriminant space</vt:lpstr>
      <vt:lpstr>When a linear view is not enough: PCA vs t-SNE</vt:lpstr>
      <vt:lpstr>From PCA to t-SNE, animated</vt:lpstr>
      <vt:lpstr>Application: effect ordering variables in displays</vt:lpstr>
      <vt:lpstr>Application: how many dimensions is the Mona Lisa?</vt:lpstr>
      <vt:lpstr>Outliers hide in the smallest dimensions</vt:lpstr>
      <vt:lpstr>Checking multivariate models</vt:lpstr>
      <vt:lpstr>Unusual is not the same as influential</vt:lpstr>
      <vt:lpstr>Who are the influential penguins?</vt:lpstr>
      <vt:lpstr>Robust MLMs: down-weight what does not fit</vt:lpstr>
      <vt:lpstr>Summary: A few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Canonical correlation in an HE plot</vt:lpstr>
      <vt:lpstr>Factorial designs: main effects and interactions</vt:lpstr>
      <vt:lpstr>MANCOVA: are the regressions the same across groups?</vt:lpstr>
      <vt:lpstr>Are the covariance matrices equal?</vt:lpstr>
      <vt:lpstr>Visualizing Box's M test</vt:lpstr>
      <vt:lpstr>Discriminant analysis</vt:lpstr>
      <vt:lpstr>Quadratic discriminant analysis</vt:lpstr>
      <vt:lpstr>The Mysterious Case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29</cp:revision>
  <dcterms:created xsi:type="dcterms:W3CDTF">2026-10-06T18:00:03Z</dcterms:created>
  <dcterms:modified xsi:type="dcterms:W3CDTF">2026-10-13T18:34:46Z</dcterms:modified>
</cp:coreProperties>
</file>