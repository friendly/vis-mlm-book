
<file path=[Content_Types].xml><?xml version="1.0" encoding="utf-8"?>
<Types xmlns="http://schemas.openxmlformats.org/package/2006/content-types">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wdp" ContentType="image/vnd.ms-photo"/>
  <Default Extension="wmf" ContentType="image/x-wmf"/>
  <Default Extension="xml" ContentType="application/xml"/>
  <Override PartName="/docProps/app.xml" ContentType="application/vnd.openxmlformats-officedocument.extended-properties+xml"/>
  <Override PartName="/docProps/core.xml" ContentType="application/vnd.openxmlformats-package.core-properties+xml"/>
  <Override PartName="/ppt/embeddings/oleObject1.bin" ContentType="application/vnd.openxmlformats-officedocument.oleObject"/>
  <Override PartName="/ppt/embeddings/oleObject2.bin" ContentType="application/vnd.openxmlformats-officedocument.oleObject"/>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0"/>
  </p:notesMasterIdLst>
  <p:sldIdLst>
    <p:sldId id="256" r:id="rId2"/>
    <p:sldId id="257" r:id="rId3"/>
    <p:sldId id="330" r:id="rId4"/>
    <p:sldId id="325" r:id="rId5"/>
    <p:sldId id="258" r:id="rId6"/>
    <p:sldId id="259" r:id="rId7"/>
    <p:sldId id="260" r:id="rId8"/>
    <p:sldId id="261" r:id="rId9"/>
    <p:sldId id="262" r:id="rId10"/>
    <p:sldId id="263" r:id="rId11"/>
    <p:sldId id="264" r:id="rId12"/>
    <p:sldId id="456" r:id="rId13"/>
    <p:sldId id="457" r:id="rId14"/>
    <p:sldId id="458" r:id="rId15"/>
    <p:sldId id="326" r:id="rId16"/>
    <p:sldId id="266" r:id="rId17"/>
    <p:sldId id="470" r:id="rId18"/>
    <p:sldId id="267" r:id="rId19"/>
    <p:sldId id="268" r:id="rId20"/>
    <p:sldId id="269" r:id="rId21"/>
    <p:sldId id="270" r:id="rId22"/>
    <p:sldId id="271" r:id="rId23"/>
    <p:sldId id="282" r:id="rId24"/>
    <p:sldId id="272" r:id="rId25"/>
    <p:sldId id="471" r:id="rId26"/>
    <p:sldId id="472" r:id="rId27"/>
    <p:sldId id="460" r:id="rId28"/>
    <p:sldId id="461" r:id="rId29"/>
    <p:sldId id="462" r:id="rId30"/>
    <p:sldId id="290" r:id="rId31"/>
    <p:sldId id="289" r:id="rId32"/>
    <p:sldId id="285" r:id="rId33"/>
    <p:sldId id="287" r:id="rId34"/>
    <p:sldId id="288" r:id="rId35"/>
    <p:sldId id="463" r:id="rId36"/>
    <p:sldId id="292" r:id="rId37"/>
    <p:sldId id="293" r:id="rId38"/>
    <p:sldId id="294" r:id="rId39"/>
    <p:sldId id="295" r:id="rId40"/>
    <p:sldId id="296" r:id="rId41"/>
    <p:sldId id="297" r:id="rId42"/>
    <p:sldId id="298" r:id="rId43"/>
    <p:sldId id="299" r:id="rId44"/>
    <p:sldId id="466" r:id="rId45"/>
    <p:sldId id="327" r:id="rId46"/>
    <p:sldId id="328" r:id="rId47"/>
    <p:sldId id="329" r:id="rId48"/>
    <p:sldId id="300" r:id="rId49"/>
    <p:sldId id="301" r:id="rId50"/>
    <p:sldId id="302" r:id="rId51"/>
    <p:sldId id="303" r:id="rId52"/>
    <p:sldId id="304" r:id="rId53"/>
    <p:sldId id="306" r:id="rId54"/>
    <p:sldId id="273" r:id="rId55"/>
    <p:sldId id="467" r:id="rId56"/>
    <p:sldId id="274" r:id="rId57"/>
    <p:sldId id="275" r:id="rId58"/>
    <p:sldId id="276" r:id="rId59"/>
    <p:sldId id="468" r:id="rId60"/>
    <p:sldId id="305" r:id="rId61"/>
    <p:sldId id="469" r:id="rId62"/>
    <p:sldId id="318" r:id="rId63"/>
    <p:sldId id="319" r:id="rId64"/>
    <p:sldId id="320" r:id="rId65"/>
    <p:sldId id="277" r:id="rId66"/>
    <p:sldId id="278" r:id="rId67"/>
    <p:sldId id="279" r:id="rId68"/>
    <p:sldId id="280" r:id="rId69"/>
    <p:sldId id="281" r:id="rId70"/>
    <p:sldId id="310" r:id="rId71"/>
    <p:sldId id="311" r:id="rId72"/>
    <p:sldId id="312" r:id="rId73"/>
    <p:sldId id="313" r:id="rId74"/>
    <p:sldId id="314" r:id="rId75"/>
    <p:sldId id="322" r:id="rId76"/>
    <p:sldId id="323" r:id="rId77"/>
    <p:sldId id="324" r:id="rId78"/>
    <p:sldId id="283" r:id="rId79"/>
    <p:sldId id="284" r:id="rId80"/>
    <p:sldId id="286" r:id="rId81"/>
    <p:sldId id="291" r:id="rId82"/>
    <p:sldId id="307" r:id="rId83"/>
    <p:sldId id="308" r:id="rId84"/>
    <p:sldId id="309" r:id="rId85"/>
    <p:sldId id="315" r:id="rId86"/>
    <p:sldId id="316" r:id="rId87"/>
    <p:sldId id="317" r:id="rId88"/>
    <p:sldId id="321" r:id="rId8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7A6EF18E-6D16-4A5B-A8B8-B0B7462DD26E}">
          <p14:sldIdLst>
            <p14:sldId id="256"/>
            <p14:sldId id="257"/>
            <p14:sldId id="330"/>
            <p14:sldId id="325"/>
            <p14:sldId id="258"/>
          </p14:sldIdLst>
        </p14:section>
        <p14:section name="Why many dimensions?" id="{1AEE5DC6-40B2-471D-9CB4-004A8392A312}">
          <p14:sldIdLst>
            <p14:sldId id="259"/>
            <p14:sldId id="260"/>
            <p14:sldId id="261"/>
            <p14:sldId id="262"/>
            <p14:sldId id="263"/>
          </p14:sldIdLst>
        </p14:section>
        <p14:section name="1. Ellipses everywhere: seeing multivariate data" id="{342421AD-6C42-4061-9440-37F93863C901}">
          <p14:sldIdLst>
            <p14:sldId id="264"/>
            <p14:sldId id="456"/>
            <p14:sldId id="457"/>
            <p14:sldId id="458"/>
            <p14:sldId id="326"/>
            <p14:sldId id="266"/>
            <p14:sldId id="470"/>
            <p14:sldId id="267"/>
            <p14:sldId id="268"/>
            <p14:sldId id="269"/>
            <p14:sldId id="270"/>
            <p14:sldId id="271"/>
          </p14:sldIdLst>
        </p14:section>
        <p14:section name="2. Elliptical insights: models with one response" id="{EAA495C8-47F8-453B-93BF-84216DBE3542}">
          <p14:sldIdLst>
            <p14:sldId id="282"/>
            <p14:sldId id="272"/>
            <p14:sldId id="471"/>
            <p14:sldId id="472"/>
            <p14:sldId id="460"/>
            <p14:sldId id="461"/>
            <p14:sldId id="462"/>
            <p14:sldId id="290"/>
            <p14:sldId id="289"/>
            <p14:sldId id="285"/>
            <p14:sldId id="287"/>
            <p14:sldId id="288"/>
            <p14:sldId id="463"/>
            <p14:sldId id="292"/>
            <p14:sldId id="293"/>
            <p14:sldId id="294"/>
            <p14:sldId id="295"/>
            <p14:sldId id="296"/>
            <p14:sldId id="297"/>
          </p14:sldIdLst>
        </p14:section>
        <p14:section name="3. The HE plot framework" id="{19AF699C-459B-4008-BE93-C8454174BFDD}">
          <p14:sldIdLst>
            <p14:sldId id="298"/>
            <p14:sldId id="299"/>
            <p14:sldId id="466"/>
            <p14:sldId id="327"/>
            <p14:sldId id="328"/>
            <p14:sldId id="329"/>
            <p14:sldId id="300"/>
            <p14:sldId id="301"/>
            <p14:sldId id="302"/>
            <p14:sldId id="303"/>
            <p14:sldId id="304"/>
            <p14:sldId id="306"/>
          </p14:sldIdLst>
        </p14:section>
        <p14:section name="4. Multivariate juicers and Waldo space" id="{DA27F9D7-637D-4DEC-ADC4-C5706219A457}">
          <p14:sldIdLst>
            <p14:sldId id="273"/>
            <p14:sldId id="467"/>
            <p14:sldId id="274"/>
            <p14:sldId id="275"/>
            <p14:sldId id="276"/>
            <p14:sldId id="468"/>
            <p14:sldId id="305"/>
            <p14:sldId id="469"/>
            <p14:sldId id="318"/>
            <p14:sldId id="319"/>
            <p14:sldId id="320"/>
            <p14:sldId id="277"/>
            <p14:sldId id="278"/>
            <p14:sldId id="279"/>
            <p14:sldId id="280"/>
            <p14:sldId id="281"/>
          </p14:sldIdLst>
        </p14:section>
        <p14:section name="5. Checking multivariate models" id="{6A48B39A-9055-4C28-B86C-25D5CE1DEB29}">
          <p14:sldIdLst>
            <p14:sldId id="310"/>
            <p14:sldId id="311"/>
            <p14:sldId id="312"/>
            <p14:sldId id="313"/>
            <p14:sldId id="314"/>
          </p14:sldIdLst>
        </p14:section>
        <p14:section name="Closing" id="{6192B6EA-3336-4F76-86C9-584437A1262F}">
          <p14:sldIdLst>
            <p14:sldId id="322"/>
            <p14:sldId id="323"/>
            <p14:sldId id="324"/>
          </p14:sldIdLst>
        </p14:section>
        <p14:section name="Backup (hidden)" id="{7A8258A9-8C35-45CC-AE73-779A558EF0F6}">
          <p14:sldIdLst>
            <p14:sldId id="283"/>
            <p14:sldId id="284"/>
            <p14:sldId id="286"/>
            <p14:sldId id="291"/>
            <p14:sldId id="307"/>
            <p14:sldId id="308"/>
            <p14:sldId id="309"/>
            <p14:sldId id="315"/>
            <p14:sldId id="316"/>
            <p14:sldId id="317"/>
            <p14:sldId id="32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5396" autoAdjust="0"/>
  </p:normalViewPr>
  <p:slideViewPr>
    <p:cSldViewPr snapToGrid="0">
      <p:cViewPr varScale="1">
        <p:scale>
          <a:sx n="87" d="100"/>
          <a:sy n="87" d="100"/>
        </p:scale>
        <p:origin x="1080" y="90"/>
      </p:cViewPr>
      <p:guideLst/>
    </p:cSldViewPr>
  </p:slideViewPr>
  <p:notesTextViewPr>
    <p:cViewPr>
      <p:scale>
        <a:sx n="1" d="1"/>
        <a:sy n="1" d="1"/>
      </p:scale>
      <p:origin x="0" y="0"/>
    </p:cViewPr>
  </p:notesTextViewPr>
  <p:sorterViewPr>
    <p:cViewPr>
      <p:scale>
        <a:sx n="100" d="100"/>
        <a:sy n="100" d="100"/>
      </p:scale>
      <p:origin x="0" y="-11832"/>
    </p:cViewPr>
  </p:sorter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notesMaster" Target="notesMasters/notesMaster1.xml"/><Relationship Id="rId91" Type="http://schemas.openxmlformats.org/officeDocument/2006/relationships/presProps" Target="presProps.xml"/><Relationship Id="rId92" Type="http://schemas.openxmlformats.org/officeDocument/2006/relationships/viewProps" Target="viewProps.xml"/><Relationship Id="rId93" Type="http://schemas.openxmlformats.org/officeDocument/2006/relationships/theme" Target="theme/theme1.xml"/><Relationship Id="rId9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182047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Title slide. The talk is framed around the book of the same name.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What the book is and where to find it. The online version has the animations and all the R code.</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r>
              <a:rPr lang="en-CA"/>
              <a:t>From the Features section of the Preface. Three of the book's themes: (1) data visualization as a combination of exposure (plotting the raw data) and summarization (plotting statistical summaries), with visual thinning to balance them; (2) the connections among statistics, geometry and data visualization; (3) dimension reduction methods as 'multivariate juicers'.</a:t>
            </a:r>
          </a:p>
        </p:txBody>
      </p:sp>
    </p:spTree>
    <p:extLst>
      <p:ext uri="{BB962C8B-B14F-4D97-AF65-F5344CB8AC3E}">
        <p14:creationId xmlns:p14="http://schemas.microsoft.com/office/powerpoint/2010/main" val="10631299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r>
              <a:rPr lang="en-CA"/>
              <a:t>Theory to practice: the methods in the book are only useful if people can apply them. These four packages implement most of what follows: heplots (HE plots and related methods), candisc (canonical views), mvinfluence (multivariate influence), genridge (ridge trace plots).</a:t>
            </a:r>
          </a:p>
        </p:txBody>
      </p:sp>
    </p:spTree>
    <p:extLst>
      <p:ext uri="{BB962C8B-B14F-4D97-AF65-F5344CB8AC3E}">
        <p14:creationId xmlns:p14="http://schemas.microsoft.com/office/powerpoint/2010/main" val="23089964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Roadmap. The talk follows the book: plots of data, then models with one response, then models with many responses. The ellipse is the recurring device.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book's subtitle is a nod to Abbott's 'Flatland: A Romance of Many Dimensions'. The Flatlander sees only a slice of the sphere. We are in the same position with p &gt; 2 variables.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Animation (plays in slide show mode). The pollen data look like a featureless cloud until you zoom in on the dense center, where the points spell out a word.</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An example of a scientific discovery that came from looking at data in more than two dimensions. The Diabetes data come back later in the dimension reduction section.</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table classifies linear model techniques by the number and type of responses and predictors. The right-hand column, multivariate responses, is where graphical methods have been thin.</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40A88B6-83A7-469D-9A3E-EAB0252B3F61}" type="slidenum">
              <a:rPr lang="en-US" altLang="en-US"/>
              <a:pPr/>
              <a:t>12</a:t>
            </a:fld>
            <a:endParaRPr lang="en-US" altLang="en-US"/>
          </a:p>
        </p:txBody>
      </p:sp>
      <p:sp>
        <p:nvSpPr>
          <p:cNvPr id="79874" name="Rectangle 2"/>
          <p:cNvSpPr>
            <a:spLocks noGrp="1" noRot="1" noChangeAspect="1" noChangeArrowheads="1" noTextEdit="1"/>
          </p:cNvSpPr>
          <p:nvPr>
            <p:ph type="sldImg"/>
          </p:nvPr>
        </p:nvSpPr>
        <p:spPr>
          <a:xfrm>
            <a:off x="417513" y="301625"/>
            <a:ext cx="6096000" cy="3429000"/>
          </a:xfrm>
          <a:ln/>
        </p:spPr>
      </p:sp>
      <p:sp>
        <p:nvSpPr>
          <p:cNvPr id="79875" name="Rectangle 3"/>
          <p:cNvSpPr>
            <a:spLocks noGrp="1" noChangeArrowheads="1"/>
          </p:cNvSpPr>
          <p:nvPr>
            <p:ph type="body" idx="1"/>
          </p:nvPr>
        </p:nvSpPr>
        <p:spPr>
          <a:xfrm>
            <a:off x="671218" y="3897692"/>
            <a:ext cx="5484316" cy="4644571"/>
          </a:xfrm>
        </p:spPr>
        <p:txBody>
          <a:bodyPr/>
          <a:lstStyle/>
          <a:p>
            <a:r>
              <a:rPr lang="en-US" altLang="en-US" baseline="0" dirty="0"/>
              <a:t>My path to multivariate visualization begins </a:t>
            </a:r>
            <a:r>
              <a:rPr lang="en-US" altLang="en-US" dirty="0"/>
              <a:t>with Galton’s visual insight from a table of heights of parents and their offspring, that later gave rise to the theory of correlation and regression.</a:t>
            </a:r>
          </a:p>
        </p:txBody>
      </p:sp>
    </p:spTree>
    <p:extLst>
      <p:ext uri="{BB962C8B-B14F-4D97-AF65-F5344CB8AC3E}">
        <p14:creationId xmlns:p14="http://schemas.microsoft.com/office/powerpoint/2010/main" val="289355586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D773280-0619-4A13-9DC6-29894BAC3638}" type="slidenum">
              <a:rPr lang="en-US" altLang="en-US"/>
              <a:pPr/>
              <a:t>13</a:t>
            </a:fld>
            <a:endParaRPr lang="en-US" altLang="en-US"/>
          </a:p>
        </p:txBody>
      </p:sp>
      <p:sp>
        <p:nvSpPr>
          <p:cNvPr id="81922" name="Rectangle 2"/>
          <p:cNvSpPr>
            <a:spLocks noGrp="1" noRot="1" noChangeAspect="1" noChangeArrowheads="1" noTextEdit="1"/>
          </p:cNvSpPr>
          <p:nvPr>
            <p:ph type="sldImg"/>
          </p:nvPr>
        </p:nvSpPr>
        <p:spPr>
          <a:xfrm>
            <a:off x="417513" y="301625"/>
            <a:ext cx="6096000" cy="3429000"/>
          </a:xfrm>
          <a:ln/>
        </p:spPr>
      </p:sp>
      <p:sp>
        <p:nvSpPr>
          <p:cNvPr id="81923" name="Rectangle 3"/>
          <p:cNvSpPr>
            <a:spLocks noGrp="1" noChangeArrowheads="1"/>
          </p:cNvSpPr>
          <p:nvPr>
            <p:ph type="body" idx="1"/>
          </p:nvPr>
        </p:nvSpPr>
        <p:spPr>
          <a:xfrm>
            <a:off x="671218" y="3897692"/>
            <a:ext cx="5484316" cy="4644571"/>
          </a:xfrm>
        </p:spPr>
        <p:txBody>
          <a:bodyPr/>
          <a:lstStyle/>
          <a:p>
            <a:r>
              <a:rPr lang="en-US" altLang="en-US" dirty="0"/>
              <a:t>It is really more a semi-graphic table, recording frequency in this bivariate distribution.  </a:t>
            </a:r>
          </a:p>
          <a:p>
            <a:pPr marL="285750" indent="-285750">
              <a:buFont typeface="Arial" panose="020B0604020202020204" pitchFamily="34" charset="0"/>
              <a:buChar char="•"/>
            </a:pPr>
            <a:r>
              <a:rPr lang="en-US" altLang="en-US" dirty="0"/>
              <a:t>Galton drew smoothed curves- by eye and brain- of equal frequency</a:t>
            </a:r>
          </a:p>
          <a:p>
            <a:pPr marL="285750" indent="-285750">
              <a:buFont typeface="Arial" panose="020B0604020202020204" pitchFamily="34" charset="0"/>
              <a:buChar char="•"/>
            </a:pPr>
            <a:r>
              <a:rPr lang="en-US" altLang="en-US" dirty="0"/>
              <a:t>He noticed that these formed “concentric and similar ellipses,” and </a:t>
            </a:r>
          </a:p>
          <a:p>
            <a:pPr marL="285750" indent="-285750">
              <a:buFont typeface="Arial" panose="020B0604020202020204" pitchFamily="34" charset="0"/>
              <a:buChar char="•"/>
            </a:pPr>
            <a:r>
              <a:rPr lang="en-US" altLang="en-US" dirty="0"/>
              <a:t>that the lines of means of </a:t>
            </a:r>
            <a:r>
              <a:rPr lang="en-US" altLang="en-US" dirty="0" err="1"/>
              <a:t>x|y</a:t>
            </a:r>
            <a:r>
              <a:rPr lang="en-US" altLang="en-US" dirty="0"/>
              <a:t> and </a:t>
            </a:r>
            <a:r>
              <a:rPr lang="en-US" altLang="en-US" dirty="0" err="1"/>
              <a:t>y|x</a:t>
            </a:r>
            <a:r>
              <a:rPr lang="en-US" altLang="en-US" dirty="0"/>
              <a:t> were the loci of conjugate tangents of the ellipses.</a:t>
            </a:r>
          </a:p>
          <a:p>
            <a:endParaRPr lang="en-US" altLang="en-US" dirty="0"/>
          </a:p>
        </p:txBody>
      </p:sp>
    </p:spTree>
    <p:extLst>
      <p:ext uri="{BB962C8B-B14F-4D97-AF65-F5344CB8AC3E}">
        <p14:creationId xmlns:p14="http://schemas.microsoft.com/office/powerpoint/2010/main" val="59439787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7942214-3791-483C-B540-622842037CC6}" type="slidenum">
              <a:rPr lang="en-US" altLang="en-US"/>
              <a:pPr/>
              <a:t>14</a:t>
            </a:fld>
            <a:endParaRPr lang="en-US" altLang="en-US"/>
          </a:p>
        </p:txBody>
      </p:sp>
      <p:sp>
        <p:nvSpPr>
          <p:cNvPr id="83970" name="Rectangle 2"/>
          <p:cNvSpPr>
            <a:spLocks noGrp="1" noRot="1" noChangeAspect="1" noChangeArrowheads="1" noTextEdit="1"/>
          </p:cNvSpPr>
          <p:nvPr>
            <p:ph type="sldImg"/>
          </p:nvPr>
        </p:nvSpPr>
        <p:spPr>
          <a:xfrm>
            <a:off x="417513" y="301625"/>
            <a:ext cx="6096000" cy="3429000"/>
          </a:xfrm>
          <a:ln/>
        </p:spPr>
      </p:sp>
      <p:sp>
        <p:nvSpPr>
          <p:cNvPr id="83971" name="Rectangle 3"/>
          <p:cNvSpPr>
            <a:spLocks noGrp="1" noChangeArrowheads="1"/>
          </p:cNvSpPr>
          <p:nvPr>
            <p:ph type="body" idx="1"/>
          </p:nvPr>
        </p:nvSpPr>
        <p:spPr>
          <a:xfrm>
            <a:off x="671218" y="3897692"/>
            <a:ext cx="5484316" cy="4644571"/>
          </a:xfrm>
        </p:spPr>
        <p:txBody>
          <a:bodyPr/>
          <a:lstStyle/>
          <a:p>
            <a:r>
              <a:rPr lang="en-US" altLang="en-US" dirty="0"/>
              <a:t>From this, evolved the famous Galton diagram of correlation and regression shown at the right, where:</a:t>
            </a:r>
          </a:p>
          <a:p>
            <a:pPr marL="285750" indent="-285750">
              <a:buFont typeface="Arial" panose="020B0604020202020204" pitchFamily="34" charset="0"/>
              <a:buChar char="•"/>
            </a:pPr>
            <a:r>
              <a:rPr lang="en-US" altLang="en-US" dirty="0"/>
              <a:t>level curves of equal frequency are concentric ellipses and </a:t>
            </a:r>
          </a:p>
          <a:p>
            <a:pPr marL="285750" indent="-285750">
              <a:buFont typeface="Arial" panose="020B0604020202020204" pitchFamily="34" charset="0"/>
              <a:buChar char="•"/>
            </a:pPr>
            <a:r>
              <a:rPr lang="en-US" altLang="en-US" dirty="0"/>
              <a:t>the two regression lines, </a:t>
            </a:r>
            <a:r>
              <a:rPr lang="en-US" altLang="en-US" dirty="0" err="1"/>
              <a:t>x|y</a:t>
            </a:r>
            <a:r>
              <a:rPr lang="en-US" altLang="en-US" dirty="0"/>
              <a:t> and </a:t>
            </a:r>
            <a:r>
              <a:rPr lang="en-US" altLang="en-US" dirty="0" err="1"/>
              <a:t>y|x</a:t>
            </a:r>
            <a:r>
              <a:rPr lang="en-US" altLang="en-US" dirty="0"/>
              <a:t> are the loci of conjugate tangents.</a:t>
            </a:r>
          </a:p>
          <a:p>
            <a:r>
              <a:rPr lang="en-US" altLang="en-US" dirty="0"/>
              <a:t>Equally remarkable,  he shows the major and minor axes of the ellipse, which would later be shown to be the principal component directions in a bivariate distribution.</a:t>
            </a:r>
          </a:p>
        </p:txBody>
      </p:sp>
    </p:spTree>
    <p:extLst>
      <p:ext uri="{BB962C8B-B14F-4D97-AF65-F5344CB8AC3E}">
        <p14:creationId xmlns:p14="http://schemas.microsoft.com/office/powerpoint/2010/main" val="269173625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r>
              <a:rPr lang="en-CA"/>
              <a:t>Galton's data on the heights of parents and children (from the short course, lecture 2). Data ellipses of 50%, 68% and 95% coverage. The ellipse is the workhorse of the book: the same idea returns as confidence ellipses for coefficients and as H and E ellipses for multivariate tests.</a:t>
            </a:r>
          </a:p>
        </p:txBody>
      </p:sp>
    </p:spTree>
    <p:extLst>
      <p:ext uri="{BB962C8B-B14F-4D97-AF65-F5344CB8AC3E}">
        <p14:creationId xmlns:p14="http://schemas.microsoft.com/office/powerpoint/2010/main" val="376138999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Palmer penguins are the running example. Here: bill length and bill depth with data ellipses and regression lines for each species.</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As an example, consider the now popular data on body measurements of Antarctic penguins classified by species.</a:t>
            </a:r>
          </a:p>
          <a:p>
            <a:r>
              <a:rPr lang="en-CA" dirty="0"/>
              <a:t>(The classic iris data seems to have been eclipsed b/c of Fisher’s association with the eugenics movement.)</a:t>
            </a:r>
          </a:p>
          <a:p>
            <a:endParaRPr lang="en-CA" dirty="0"/>
          </a:p>
          <a:p>
            <a:endParaRPr lang="en-CA" dirty="0"/>
          </a:p>
        </p:txBody>
      </p:sp>
      <p:sp>
        <p:nvSpPr>
          <p:cNvPr id="4" name="Slide Number Placeholder 3"/>
          <p:cNvSpPr>
            <a:spLocks noGrp="1"/>
          </p:cNvSpPr>
          <p:nvPr>
            <p:ph type="sldNum" sz="quarter" idx="5"/>
          </p:nvPr>
        </p:nvSpPr>
        <p:spPr/>
        <p:txBody>
          <a:bodyPr/>
          <a:lstStyle/>
          <a:p>
            <a:fld id="{33E20828-1A1A-4225-BE3A-F8540A5E6146}" type="slidenum">
              <a:rPr lang="en-US" smtClean="0"/>
              <a:t>17</a:t>
            </a:fld>
            <a:endParaRPr lang="en-US"/>
          </a:p>
        </p:txBody>
      </p:sp>
    </p:spTree>
    <p:extLst>
      <p:ext uri="{BB962C8B-B14F-4D97-AF65-F5344CB8AC3E}">
        <p14:creationId xmlns:p14="http://schemas.microsoft.com/office/powerpoint/2010/main" val="192328280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Panels: (a) ignoring species, (b) by species, (c) pooled within species. The data ellipses make the reversal immediate.</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Scatterplot matrix of the quantitative penguin variables.</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Corrplot of the crime data, with variables reordered. The ordering idea is taken up again under PCA.</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[OPTIONAL for a 45-minute talk] Parallel coordinates plot of the penguin size variables, colored by species.</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Animation (plays in slide show mode): grand tour of the penguin data. Guided tours optimize an index, e.g. separation of groups or the presence of anomalies.</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[OPTIONAL for a 45-minute talk] Chi-square QQ plot for the penguin data, and the unusual birds identified in the bill length-bill depth plot. Two of them, nicknamed Cyrano and Hook Nose, come back in the influence and robust sections.</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Like Galton, I’ve been impressed with the insights that can be had from elliptical thinking.</a:t>
            </a:r>
          </a:p>
          <a:p>
            <a:endParaRPr lang="en-CA" dirty="0"/>
          </a:p>
          <a:p>
            <a:r>
              <a:rPr lang="en-CA" dirty="0"/>
              <a:t>Just a simple demonstration of how outliers become apparent when viewed in the space of small principal components.</a:t>
            </a:r>
          </a:p>
          <a:p>
            <a:r>
              <a:rPr lang="en-CA" dirty="0"/>
              <a:t>I call this Waldo space, by analogy with Martin Hansford’s popular books, Where’s Waldo? (</a:t>
            </a:r>
            <a:r>
              <a:rPr lang="en-CA" dirty="0" err="1"/>
              <a:t>Waar</a:t>
            </a:r>
            <a:r>
              <a:rPr lang="en-CA" dirty="0"/>
              <a:t> is Wally? in Dutch)</a:t>
            </a:r>
          </a:p>
        </p:txBody>
      </p:sp>
      <p:sp>
        <p:nvSpPr>
          <p:cNvPr id="4" name="Slide Number Placeholder 3"/>
          <p:cNvSpPr>
            <a:spLocks noGrp="1"/>
          </p:cNvSpPr>
          <p:nvPr>
            <p:ph type="sldNum" sz="quarter" idx="5"/>
          </p:nvPr>
        </p:nvSpPr>
        <p:spPr/>
        <p:txBody>
          <a:bodyPr/>
          <a:lstStyle/>
          <a:p>
            <a:fld id="{33E20828-1A1A-4225-BE3A-F8540A5E6146}" type="slidenum">
              <a:rPr lang="en-US" smtClean="0"/>
              <a:t>25</a:t>
            </a:fld>
            <a:endParaRPr lang="en-US"/>
          </a:p>
        </p:txBody>
      </p:sp>
    </p:spTree>
    <p:extLst>
      <p:ext uri="{BB962C8B-B14F-4D97-AF65-F5344CB8AC3E}">
        <p14:creationId xmlns:p14="http://schemas.microsoft.com/office/powerpoint/2010/main" val="186818981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Another insight comes from considering the effect of measure error in predictors in linear models.</a:t>
            </a:r>
          </a:p>
          <a:p>
            <a:endParaRPr lang="en-CA" dirty="0"/>
          </a:p>
          <a:p>
            <a:r>
              <a:rPr lang="en-CA" dirty="0"/>
              <a:t>In data space, we can see these effects on bias and precision of coefficients.</a:t>
            </a:r>
          </a:p>
          <a:p>
            <a:endParaRPr lang="en-CA" dirty="0"/>
          </a:p>
          <a:p>
            <a:r>
              <a:rPr lang="en-CA" dirty="0"/>
              <a:t>But there is also a dual space of the parameters – beta space.</a:t>
            </a:r>
          </a:p>
        </p:txBody>
      </p:sp>
      <p:sp>
        <p:nvSpPr>
          <p:cNvPr id="4" name="Slide Number Placeholder 3"/>
          <p:cNvSpPr>
            <a:spLocks noGrp="1"/>
          </p:cNvSpPr>
          <p:nvPr>
            <p:ph type="sldNum" sz="quarter" idx="5"/>
          </p:nvPr>
        </p:nvSpPr>
        <p:spPr/>
        <p:txBody>
          <a:bodyPr/>
          <a:lstStyle/>
          <a:p>
            <a:fld id="{33E20828-1A1A-4225-BE3A-F8540A5E6146}" type="slidenum">
              <a:rPr lang="en-US" smtClean="0"/>
              <a:t>26</a:t>
            </a:fld>
            <a:endParaRPr lang="en-US"/>
          </a:p>
        </p:txBody>
      </p:sp>
    </p:spTree>
    <p:extLst>
      <p:ext uri="{BB962C8B-B14F-4D97-AF65-F5344CB8AC3E}">
        <p14:creationId xmlns:p14="http://schemas.microsoft.com/office/powerpoint/2010/main" val="311835059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5"/>
          </p:nvPr>
        </p:nvSpPr>
        <p:spPr/>
        <p:txBody>
          <a:bodyPr/>
          <a:lstStyle/>
          <a:p>
            <a:fld id="{33E20828-1A1A-4225-BE3A-F8540A5E6146}" type="slidenum">
              <a:rPr lang="en-US" smtClean="0"/>
              <a:t>27</a:t>
            </a:fld>
            <a:endParaRPr lang="en-US"/>
          </a:p>
        </p:txBody>
      </p:sp>
    </p:spTree>
    <p:extLst>
      <p:ext uri="{BB962C8B-B14F-4D97-AF65-F5344CB8AC3E}">
        <p14:creationId xmlns:p14="http://schemas.microsoft.com/office/powerpoint/2010/main" val="426381415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5"/>
          </p:nvPr>
        </p:nvSpPr>
        <p:spPr/>
        <p:txBody>
          <a:bodyPr/>
          <a:lstStyle/>
          <a:p>
            <a:fld id="{33E20828-1A1A-4225-BE3A-F8540A5E6146}" type="slidenum">
              <a:rPr lang="en-US" smtClean="0"/>
              <a:t>28</a:t>
            </a:fld>
            <a:endParaRPr lang="en-US"/>
          </a:p>
        </p:txBody>
      </p:sp>
    </p:spTree>
    <p:extLst>
      <p:ext uri="{BB962C8B-B14F-4D97-AF65-F5344CB8AC3E}">
        <p14:creationId xmlns:p14="http://schemas.microsoft.com/office/powerpoint/2010/main" val="347553987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5"/>
          </p:nvPr>
        </p:nvSpPr>
        <p:spPr/>
        <p:txBody>
          <a:bodyPr/>
          <a:lstStyle/>
          <a:p>
            <a:fld id="{33E20828-1A1A-4225-BE3A-F8540A5E6146}" type="slidenum">
              <a:rPr lang="en-US" smtClean="0"/>
              <a:t>29</a:t>
            </a:fld>
            <a:endParaRPr lang="en-US"/>
          </a:p>
        </p:txBody>
      </p:sp>
    </p:spTree>
    <p:extLst>
      <p:ext uri="{BB962C8B-B14F-4D97-AF65-F5344CB8AC3E}">
        <p14:creationId xmlns:p14="http://schemas.microsoft.com/office/powerpoint/2010/main" val="347700245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[OPTIONAL for a 45-minute talk] Biasing effect of measurement error in one variable on the coefficients, shown in beta space.</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[OPTIONAL for a 45-minute talk] Data space and beta space for the coffee data. Where the predictors have a wide spread, the coefficients are estimated precisely, and vice versa. This sets up collinearity.</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Marginal + conditional (added-variable) plots for the coffee data, a contrived example constructed by Georges Monette. Each added-variable plot shows the relation of y to one predictor with the others partialled out; the slope is the coefficient in the full model.</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Influence plot for the Duncan model. Minister and conductor stand out.</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One of the figures the organizer singled out. The two occupations pull the income and education slopes in opposite directions.</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5"/>
          </p:nvPr>
        </p:nvSpPr>
        <p:spPr/>
        <p:txBody>
          <a:bodyPr/>
          <a:lstStyle/>
          <a:p>
            <a:fld id="{33E20828-1A1A-4225-BE3A-F8540A5E6146}" type="slidenum">
              <a:rPr lang="en-US" smtClean="0"/>
              <a:t>35</a:t>
            </a:fld>
            <a:endParaRPr lang="en-US"/>
          </a:p>
        </p:txBody>
      </p:sp>
    </p:spTree>
    <p:extLst>
      <p:ext uri="{BB962C8B-B14F-4D97-AF65-F5344CB8AC3E}">
        <p14:creationId xmlns:p14="http://schemas.microsoft.com/office/powerpoint/2010/main" val="14707265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[OPTIONAL for a 45-minute talk] 95% data ellipses for x1, x2 and the corresponding confidence ellipses for their coefficients, for increasing correlation.</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[OPTIONAL for a 45-minute talk] The standard collinearity diagnostics table hides the important information. The tableplot makes it stand out; the collinearity biplot shows which variables are involved.</a:t>
            </a: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[OPTIONAL for a 45-minute talk] Geometric interpretation of ridge regression.</a:t>
            </a: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[OPTIONAL for a 45-minute talk] Univariate ridge trace plot for the Longley data.</a:t>
            </a:r>
          </a:p>
        </p:txBody>
      </p:sp>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[OPTIONAL for a 45-minute talk] One of the figures the organizer singled out. Scatterplot matrix of bivariate ridge trace plots (genridge package). Most of the shrinkage paths are regular; a few are not.</a:t>
            </a:r>
          </a:p>
        </p:txBody>
      </p:sp>
      <p:sp>
        <p:nvSpPr>
          <p:cNvPr id="4" name="Slide Number Placeholder 3"/>
          <p:cNvSpPr>
            <a:spLocks noGrp="1"/>
          </p:cNvSpPr>
          <p:nvPr>
            <p:ph type="sldNum" sz="quarter" idx="5"/>
          </p:nvPr>
        </p:nvSpPr>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[OPTIONAL for a 45-minute talk] Biplot view of the ridge trace plot for the smallest dimensions.</a:t>
            </a:r>
          </a:p>
        </p:txBody>
      </p:sp>
      <p:sp>
        <p:nvSpPr>
          <p:cNvPr id="4" name="Slide Number Placeholder 3"/>
          <p:cNvSpPr>
            <a:spLocks noGrp="1"/>
          </p:cNvSpPr>
          <p:nvPr>
            <p:ph type="sldNum" sz="quarter" idx="5"/>
          </p:nvPr>
        </p:nvSpPr>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Hotelling's T-squared as a generalized t-test.</a:t>
            </a:r>
          </a:p>
        </p:txBody>
      </p:sp>
      <p:sp>
        <p:nvSpPr>
          <p:cNvPr id="4" name="Slide Number Placeholder 3"/>
          <p:cNvSpPr>
            <a:spLocks noGrp="1"/>
          </p:cNvSpPr>
          <p:nvPr>
            <p:ph type="sldNum" sz="quarter" idx="5"/>
          </p:nvPr>
        </p:nvSpPr>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The HE plot framework starts with data ellipses for the groups in a multivariate linear model</a:t>
            </a:r>
          </a:p>
          <a:p>
            <a:r>
              <a:rPr lang="en-CA" dirty="0"/>
              <a:t>An “HE plot” summarizes the evidence for differences among groups in a MANOVA design</a:t>
            </a:r>
          </a:p>
          <a:p>
            <a:r>
              <a:rPr lang="en-CA" dirty="0"/>
              <a:t>Equally, this can be cast as a discriminant analysis problem</a:t>
            </a:r>
          </a:p>
          <a:p>
            <a:r>
              <a:rPr lang="en-CA" dirty="0"/>
              <a:t>A simple description can be seen in an HE plot in canonical space</a:t>
            </a:r>
          </a:p>
        </p:txBody>
      </p:sp>
      <p:sp>
        <p:nvSpPr>
          <p:cNvPr id="4" name="Slide Number Placeholder 3"/>
          <p:cNvSpPr>
            <a:spLocks noGrp="1"/>
          </p:cNvSpPr>
          <p:nvPr>
            <p:ph type="sldNum" sz="quarter" idx="5"/>
          </p:nvPr>
        </p:nvSpPr>
        <p:spPr/>
        <p:txBody>
          <a:bodyPr/>
          <a:lstStyle/>
          <a:p>
            <a:fld id="{33E20828-1A1A-4225-BE3A-F8540A5E6146}" type="slidenum">
              <a:rPr lang="en-US" smtClean="0"/>
              <a:t>44</a:t>
            </a:fld>
            <a:endParaRPr lang="en-US"/>
          </a:p>
        </p:txBody>
      </p:sp>
    </p:spTree>
    <p:extLst>
      <p:ext uri="{BB962C8B-B14F-4D97-AF65-F5344CB8AC3E}">
        <p14:creationId xmlns:p14="http://schemas.microsoft.com/office/powerpoint/2010/main" val="16473466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r>
              <a:rPr lang="en-CA"/>
              <a:t>Mathscore data: two groups, basic math (BM) and word problems (WP). From the data to data ellipses to the HE plot. From the short course, lecture 2.</a:t>
            </a:r>
          </a:p>
        </p:txBody>
      </p:sp>
    </p:spTree>
    <p:extLst>
      <p:ext uri="{BB962C8B-B14F-4D97-AF65-F5344CB8AC3E}">
        <p14:creationId xmlns:p14="http://schemas.microsoft.com/office/powerpoint/2010/main" val="127060284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r>
              <a:rPr lang="en-CA"/>
              <a:t>The H ellipse is the data ellipse of the fitted values; with 1 df it collapses to a line. From the short course, lecture 2.</a:t>
            </a:r>
          </a:p>
        </p:txBody>
      </p:sp>
    </p:spTree>
    <p:extLst>
      <p:ext uri="{BB962C8B-B14F-4D97-AF65-F5344CB8AC3E}">
        <p14:creationId xmlns:p14="http://schemas.microsoft.com/office/powerpoint/2010/main" val="306711821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r>
              <a:rPr lang="en-CA"/>
              <a:t>The E ellipse is the data ellipse of the residuals: the pooled within-group covariance. From the short course, lecture 2.</a:t>
            </a:r>
          </a:p>
        </p:txBody>
      </p:sp>
    </p:spTree>
    <p:extLst>
      <p:ext uri="{BB962C8B-B14F-4D97-AF65-F5344CB8AC3E}">
        <p14:creationId xmlns:p14="http://schemas.microsoft.com/office/powerpoint/2010/main" val="121474266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One of the figures the organizer singled out. Above: data ellipses summarized in an HE plot showing the pooled within-group error ellipse (E) and the H 'ellipse' for the group means. Below: observations projected on the line joining the means.</a:t>
            </a:r>
          </a:p>
        </p:txBody>
      </p:sp>
      <p:sp>
        <p:nvSpPr>
          <p:cNvPr id="4" name="Slide Number Placeholder 3"/>
          <p:cNvSpPr>
            <a:spLocks noGrp="1"/>
          </p:cNvSpPr>
          <p:nvPr>
            <p:ph type="sldNum" sz="quarter" idx="5"/>
          </p:nvPr>
        </p:nvSpPr>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Breakdown of the total SSP matrix into H and E. The Wilks, Pillai, Hotelling-Lawley and Roy tests are all functions of the eigenvalues of H relative to E.</a:t>
            </a:r>
          </a:p>
        </p:txBody>
      </p:sp>
      <p:sp>
        <p:nvSpPr>
          <p:cNvPr id="4" name="Slide Number Placeholder 3"/>
          <p:cNvSpPr>
            <a:spLocks noGrp="1"/>
          </p:cNvSpPr>
          <p:nvPr>
            <p:ph type="sldNum" sz="quarter" idx="5"/>
          </p:nvPr>
        </p:nvSpPr>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 plots for the iris data. E: within-group variation. H: variation of the group means. The orientation of H shows how the groups differ.</a:t>
            </a:r>
          </a:p>
        </p:txBody>
      </p:sp>
      <p:sp>
        <p:nvSpPr>
          <p:cNvPr id="4" name="Slide Number Placeholder 3"/>
          <p:cNvSpPr>
            <a:spLocks noGrp="1"/>
          </p:cNvSpPr>
          <p:nvPr>
            <p:ph type="sldNum" sz="quarter" idx="5"/>
          </p:nvPr>
        </p:nvSpPr>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[OPTIONAL for a 45-minute talk] HE plot for sepal length and width in the iris data, showing contrasts among the species.</a:t>
            </a:r>
          </a:p>
        </p:txBody>
      </p:sp>
      <p:sp>
        <p:nvSpPr>
          <p:cNvPr id="4" name="Slide Number Placeholder 3"/>
          <p:cNvSpPr>
            <a:spLocks noGrp="1"/>
          </p:cNvSpPr>
          <p:nvPr>
            <p:ph type="sldNum" sz="quarter" idx="5"/>
          </p:nvPr>
        </p:nvSpPr>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All pairwise HE plots for the iris data.</a:t>
            </a:r>
          </a:p>
        </p:txBody>
      </p:sp>
      <p:sp>
        <p:nvSpPr>
          <p:cNvPr id="4" name="Slide Number Placeholder 3"/>
          <p:cNvSpPr>
            <a:spLocks noGrp="1"/>
          </p:cNvSpPr>
          <p:nvPr>
            <p:ph type="sldNum" sz="quarter" idx="5"/>
          </p:nvPr>
        </p:nvSpPr>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One of the figures the organizer singled out. HE plot for the multivariate regression model for the school data. Each predictor has 1 df, so its H 'ellipse' collapses to a line.</a:t>
            </a:r>
          </a:p>
        </p:txBody>
      </p:sp>
      <p:sp>
        <p:nvSpPr>
          <p:cNvPr id="4" name="Slide Number Placeholder 3"/>
          <p:cNvSpPr>
            <a:spLocks noGrp="1"/>
          </p:cNvSpPr>
          <p:nvPr>
            <p:ph type="sldNum" sz="quarter" idx="5"/>
          </p:nvPr>
        </p:nvSpPr>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With more than a few variables, you can gain greater understanding with a multivariate juicer.</a:t>
            </a:r>
          </a:p>
          <a:p>
            <a:r>
              <a:rPr lang="en-CA" dirty="0"/>
              <a:t>I know this is SO cheesy! But I find this a nice analogy to explain what we do with low-D methods</a:t>
            </a:r>
          </a:p>
        </p:txBody>
      </p:sp>
      <p:sp>
        <p:nvSpPr>
          <p:cNvPr id="4" name="Slide Number Placeholder 3"/>
          <p:cNvSpPr>
            <a:spLocks noGrp="1"/>
          </p:cNvSpPr>
          <p:nvPr>
            <p:ph type="sldNum" sz="quarter" idx="5"/>
          </p:nvPr>
        </p:nvSpPr>
        <p:spPr/>
        <p:txBody>
          <a:bodyPr/>
          <a:lstStyle/>
          <a:p>
            <a:fld id="{33E20828-1A1A-4225-BE3A-F8540A5E6146}" type="slidenum">
              <a:rPr lang="en-US" smtClean="0"/>
              <a:t>55</a:t>
            </a:fld>
            <a:endParaRPr lang="en-US"/>
          </a:p>
        </p:txBody>
      </p:sp>
    </p:spTree>
    <p:extLst>
      <p:ext uri="{BB962C8B-B14F-4D97-AF65-F5344CB8AC3E}">
        <p14:creationId xmlns:p14="http://schemas.microsoft.com/office/powerpoint/2010/main" val="2562020526"/>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Animation (plays in slide show mode): rotation from data space to PCA space, with two added points (101, 102). They are not extreme on either original variable, but stand out on the smallest principal component. Geometry of PCA as a rotation. Tie back to the data ellipse: its major and minor axes are PC1 and PC2.</a:t>
            </a:r>
          </a:p>
        </p:txBody>
      </p:sp>
      <p:sp>
        <p:nvSpPr>
          <p:cNvPr id="4" name="Slide Number Placeholder 3"/>
          <p:cNvSpPr>
            <a:spLocks noGrp="1"/>
          </p:cNvSpPr>
          <p:nvPr>
            <p:ph type="sldNum" sz="quarter" idx="5"/>
          </p:nvPr>
        </p:nvSpPr>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Animation (plays in slide show mode). The blue points are connected to their projections on the red line by springs perpendicular to that line. A physical intuition for least squares. One of the figures the organizer singled out.</a:t>
            </a:r>
          </a:p>
        </p:txBody>
      </p:sp>
      <p:sp>
        <p:nvSpPr>
          <p:cNvPr id="4" name="Slide Number Placeholder 3"/>
          <p:cNvSpPr>
            <a:spLocks noGrp="1"/>
          </p:cNvSpPr>
          <p:nvPr>
            <p:ph type="sldNum" sz="quarter" idx="5"/>
          </p:nvPr>
        </p:nvSpPr>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Basic biplot of the crime data. The biplot is the low-D view used again and again: for collinearity, for canonical discriminant analysis, and for ridge regression.</a:t>
            </a:r>
          </a:p>
        </p:txBody>
      </p:sp>
      <p:sp>
        <p:nvSpPr>
          <p:cNvPr id="4" name="Slide Number Placeholder 3"/>
          <p:cNvSpPr>
            <a:spLocks noGrp="1"/>
          </p:cNvSpPr>
          <p:nvPr>
            <p:ph type="sldNum" sz="quarter" idx="5"/>
          </p:nvPr>
        </p:nvSpPr>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5"/>
          </p:nvPr>
        </p:nvSpPr>
        <p:spPr/>
        <p:txBody>
          <a:bodyPr/>
          <a:lstStyle/>
          <a:p>
            <a:fld id="{33E20828-1A1A-4225-BE3A-F8540A5E6146}" type="slidenum">
              <a:rPr lang="en-US" smtClean="0"/>
              <a:t>59</a:t>
            </a:fld>
            <a:endParaRPr lang="en-US"/>
          </a:p>
        </p:txBody>
      </p:sp>
    </p:spTree>
    <p:extLst>
      <p:ext uri="{BB962C8B-B14F-4D97-AF65-F5344CB8AC3E}">
        <p14:creationId xmlns:p14="http://schemas.microsoft.com/office/powerpoint/2010/main" val="2859970639"/>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Canonical HE plot for the iris data.</a:t>
            </a:r>
          </a:p>
        </p:txBody>
      </p:sp>
      <p:sp>
        <p:nvSpPr>
          <p:cNvPr id="4" name="Slide Number Placeholder 3"/>
          <p:cNvSpPr>
            <a:spLocks noGrp="1"/>
          </p:cNvSpPr>
          <p:nvPr>
            <p:ph type="sldNum" sz="quarter" idx="5"/>
          </p:nvPr>
        </p:nvSpPr>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5"/>
          </p:nvPr>
        </p:nvSpPr>
        <p:spPr/>
        <p:txBody>
          <a:bodyPr/>
          <a:lstStyle/>
          <a:p>
            <a:fld id="{33E20828-1A1A-4225-BE3A-F8540A5E6146}" type="slidenum">
              <a:rPr lang="en-US" smtClean="0"/>
              <a:t>61</a:t>
            </a:fld>
            <a:endParaRPr lang="en-US"/>
          </a:p>
        </p:txBody>
      </p:sp>
    </p:spTree>
    <p:extLst>
      <p:ext uri="{BB962C8B-B14F-4D97-AF65-F5344CB8AC3E}">
        <p14:creationId xmlns:p14="http://schemas.microsoft.com/office/powerpoint/2010/main" val="263071285"/>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[OPTIONAL for a 45-minute talk] Illustration of the main ideas of linear discriminant analysis.</a:t>
            </a:r>
          </a:p>
        </p:txBody>
      </p:sp>
      <p:sp>
        <p:nvSpPr>
          <p:cNvPr id="4" name="Slide Number Placeholder 3"/>
          <p:cNvSpPr>
            <a:spLocks noGrp="1"/>
          </p:cNvSpPr>
          <p:nvPr>
            <p:ph type="sldNum" sz="quarter" idx="5"/>
          </p:nvPr>
        </p:nvSpPr>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[OPTIONAL for a 45-minute talk] Linear discriminant prediction regions for the penguin data.</a:t>
            </a:r>
          </a:p>
        </p:txBody>
      </p:sp>
      <p:sp>
        <p:nvSpPr>
          <p:cNvPr id="4" name="Slide Number Placeholder 3"/>
          <p:cNvSpPr>
            <a:spLocks noGrp="1"/>
          </p:cNvSpPr>
          <p:nvPr>
            <p:ph type="sldNum" sz="quarter" idx="5"/>
          </p:nvPr>
        </p:nvSpPr>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[OPTIONAL for a 45-minute talk] The penguin data in discriminant space, with variable vectors.</a:t>
            </a:r>
          </a:p>
        </p:txBody>
      </p:sp>
      <p:sp>
        <p:nvSpPr>
          <p:cNvPr id="4" name="Slide Number Placeholder 3"/>
          <p:cNvSpPr>
            <a:spLocks noGrp="1"/>
          </p:cNvSpPr>
          <p:nvPr>
            <p:ph type="sldNum" sz="quarter" idx="5"/>
          </p:nvPr>
        </p:nvSpPr>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Comparison of the PCA and t-SNE 2D representations of the Diabetes data. Nonlinear methods preserve local neighborhoods at the cost of global geometry.</a:t>
            </a:r>
          </a:p>
        </p:txBody>
      </p:sp>
      <p:sp>
        <p:nvSpPr>
          <p:cNvPr id="4" name="Slide Number Placeholder 3"/>
          <p:cNvSpPr>
            <a:spLocks noGrp="1"/>
          </p:cNvSpPr>
          <p:nvPr>
            <p:ph type="sldNum" sz="quarter" idx="5"/>
          </p:nvPr>
        </p:nvSpPr>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Animation (plays in slide show mode): interpolating between the PCA and t-SNE solutions for the Diabetes data. One of the figures the organizer singled out.</a:t>
            </a:r>
          </a:p>
        </p:txBody>
      </p:sp>
      <p:sp>
        <p:nvSpPr>
          <p:cNvPr id="4" name="Slide Number Placeholder 3"/>
          <p:cNvSpPr>
            <a:spLocks noGrp="1"/>
          </p:cNvSpPr>
          <p:nvPr>
            <p:ph type="sldNum" sz="quarter" idx="5"/>
          </p:nvPr>
        </p:nvSpPr>
        <p:spPr/>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[OPTIONAL for a 45-minute talk] Ordering variables by their angles in the biplot puts similar variables together and makes the pattern visible.</a:t>
            </a:r>
          </a:p>
        </p:txBody>
      </p:sp>
      <p:sp>
        <p:nvSpPr>
          <p:cNvPr id="4" name="Slide Number Placeholder 3"/>
          <p:cNvSpPr>
            <a:spLocks noGrp="1"/>
          </p:cNvSpPr>
          <p:nvPr>
            <p:ph type="sldNum" sz="quarter" idx="5"/>
          </p:nvPr>
        </p:nvSpPr>
        <p:spPr/>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[OPTIONAL for a 45-minute talk] Re-construction of the Mona Lisa from increasing numbers of components (the eigenfaces idea).</a:t>
            </a:r>
          </a:p>
        </p:txBody>
      </p:sp>
      <p:sp>
        <p:nvSpPr>
          <p:cNvPr id="4" name="Slide Number Placeholder 3"/>
          <p:cNvSpPr>
            <a:spLocks noGrp="1"/>
          </p:cNvSpPr>
          <p:nvPr>
            <p:ph type="sldNum" sz="quarter" idx="5"/>
          </p:nvPr>
        </p:nvSpPr>
        <p:spPr/>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[OPTIONAL for a 45-minute talk] An 'elliptical insight': multivariate outliers often show up in the dimensions with the least variance.</a:t>
            </a:r>
          </a:p>
        </p:txBody>
      </p:sp>
      <p:sp>
        <p:nvSpPr>
          <p:cNvPr id="4" name="Slide Number Placeholder 3"/>
          <p:cNvSpPr>
            <a:spLocks noGrp="1"/>
          </p:cNvSpPr>
          <p:nvPr>
            <p:ph type="sldNum" sz="quarter" idx="5"/>
          </p:nvPr>
        </p:nvSpPr>
        <p:spPr/>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One of the figures the organizer singled out. Distance plot for the school data model.</a:t>
            </a:r>
          </a:p>
        </p:txBody>
      </p:sp>
      <p:sp>
        <p:nvSpPr>
          <p:cNvPr id="4" name="Slide Number Placeholder 3"/>
          <p:cNvSpPr>
            <a:spLocks noGrp="1"/>
          </p:cNvSpPr>
          <p:nvPr>
            <p:ph type="sldNum" sz="quarter" idx="5"/>
          </p:nvPr>
        </p:nvSpPr>
        <p:spPr/>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 toy example from Barrett (2003): one predictor, two nearly perfectly correlated responses, nine cases. The univariate Cook's D values for case 9 are very small, but the multivariate Cook's D is 3.22, over 10 times the next largest. Multivariate influence is not the sum of univariate influences.</a:t>
            </a:r>
          </a:p>
        </p:txBody>
      </p:sp>
      <p:sp>
        <p:nvSpPr>
          <p:cNvPr id="4" name="Slide Number Placeholder 3"/>
          <p:cNvSpPr>
            <a:spLocks noGrp="1"/>
          </p:cNvSpPr>
          <p:nvPr>
            <p:ph type="sldNum" sz="quarter" idx="5"/>
          </p:nvPr>
        </p:nvSpPr>
        <p:spPr/>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Influence plot for the penguin MANOVA model.</a:t>
            </a:r>
          </a:p>
        </p:txBody>
      </p:sp>
      <p:sp>
        <p:nvSpPr>
          <p:cNvPr id="4" name="Slide Number Placeholder 3"/>
          <p:cNvSpPr>
            <a:spLocks noGrp="1"/>
          </p:cNvSpPr>
          <p:nvPr>
            <p:ph type="sldNum" sz="quarter" idx="5"/>
          </p:nvPr>
        </p:nvSpPr>
        <p:spPr/>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heplots::robmlm() applied to the penguin model. Most coefficients change little; the largest changes are for Chinstrap, reflecting the removal of Cyrano.</a:t>
            </a:r>
          </a:p>
        </p:txBody>
      </p:sp>
      <p:sp>
        <p:nvSpPr>
          <p:cNvPr id="4" name="Slide Number Placeholder 3"/>
          <p:cNvSpPr>
            <a:spLocks noGrp="1"/>
          </p:cNvSpPr>
          <p:nvPr>
            <p:ph type="sldNum" sz="quarter" idx="5"/>
          </p:nvPr>
        </p:nvSpPr>
        <p:spPr/>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Summary of the themes that recur through the book.</a:t>
            </a:r>
          </a:p>
        </p:txBody>
      </p:sp>
      <p:sp>
        <p:nvSpPr>
          <p:cNvPr id="4" name="Slide Number Placeholder 3"/>
          <p:cNvSpPr>
            <a:spLocks noGrp="1"/>
          </p:cNvSpPr>
          <p:nvPr>
            <p:ph type="sldNum" sz="quarter" idx="5"/>
          </p:nvPr>
        </p:nvSpPr>
        <p:spPr/>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Where to find the book and the software.</a:t>
            </a:r>
          </a:p>
        </p:txBody>
      </p:sp>
      <p:sp>
        <p:nvSpPr>
          <p:cNvPr id="4" name="Slide Number Placeholder 3"/>
          <p:cNvSpPr>
            <a:spLocks noGrp="1"/>
          </p:cNvSpPr>
          <p:nvPr>
            <p:ph type="sldNum" sz="quarter" idx="5"/>
          </p:nvPr>
        </p:nvSpPr>
        <p:spPr/>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four standard diagnostic plots, here for Duncan's data on the prestige of occupations predicted from income and education.</a:t>
            </a:r>
          </a:p>
        </p:txBody>
      </p:sp>
      <p:sp>
        <p:nvSpPr>
          <p:cNvPr id="4" name="Slide Number Placeholder 3"/>
          <p:cNvSpPr>
            <a:spLocks noGrp="1"/>
          </p:cNvSpPr>
          <p:nvPr>
            <p:ph type="sldNum" sz="quarter" idx="5"/>
          </p:nvPr>
        </p:nvSpPr>
        <p:spPr/>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Plot of standardized coefficients and their confidence intervals.</a:t>
            </a:r>
          </a:p>
        </p:txBody>
      </p:sp>
      <p:sp>
        <p:nvSpPr>
          <p:cNvPr id="4" name="Slide Number Placeholder 3"/>
          <p:cNvSpPr>
            <a:spLocks noGrp="1"/>
          </p:cNvSpPr>
          <p:nvPr>
            <p:ph type="sldNum" sz="quarter" idx="5"/>
          </p:nvPr>
        </p:nvSpPr>
        <p:spPr/>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[OPTIONAL for a 45-minute talk] Predictor effect plots for all terms in the model for the Prestige data.</a:t>
            </a:r>
          </a:p>
        </p:txBody>
      </p:sp>
      <p:sp>
        <p:nvSpPr>
          <p:cNvPr id="4" name="Slide Number Placeholder 3"/>
          <p:cNvSpPr>
            <a:spLocks noGrp="1"/>
          </p:cNvSpPr>
          <p:nvPr>
            <p:ph type="sldNum" sz="quarter" idx="5"/>
          </p:nvPr>
        </p:nvSpPr>
        <p:spPr/>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r>
              <a:rPr lang="en-CA" dirty="0"/>
              <a:t>Other problems in fitting &amp; understanding linear models are also made simpler with visual, geometric and dimension reduction ideas</a:t>
            </a:r>
          </a:p>
        </p:txBody>
      </p:sp>
    </p:spTree>
    <p:extLst>
      <p:ext uri="{BB962C8B-B14F-4D97-AF65-F5344CB8AC3E}">
        <p14:creationId xmlns:p14="http://schemas.microsoft.com/office/powerpoint/2010/main" val="2863969556"/>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[OPTIONAL for a 45-minute talk] HE plot for the canonical correlation analysis of the school data.</a:t>
            </a:r>
          </a:p>
        </p:txBody>
      </p:sp>
      <p:sp>
        <p:nvSpPr>
          <p:cNvPr id="4" name="Slide Number Placeholder 3"/>
          <p:cNvSpPr>
            <a:spLocks noGrp="1"/>
          </p:cNvSpPr>
          <p:nvPr>
            <p:ph type="sldNum" sz="quarter" idx="5"/>
          </p:nvPr>
        </p:nvSpPr>
        <p:spPr/>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[OPTIONAL for a 45-minute talk] HE plot for the two-way MANOVA of the plastic film data.</a:t>
            </a:r>
          </a:p>
        </p:txBody>
      </p:sp>
      <p:sp>
        <p:nvSpPr>
          <p:cNvPr id="4" name="Slide Number Placeholder 3"/>
          <p:cNvSpPr>
            <a:spLocks noGrp="1"/>
          </p:cNvSpPr>
          <p:nvPr>
            <p:ph type="sldNum" sz="quarter" idx="5"/>
          </p:nvPr>
        </p:nvSpPr>
        <p:spPr/>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[OPTIONAL for a 45-minute talk] Overlaid HE plots for SAT and PPVT for the two SES groups.</a:t>
            </a:r>
          </a:p>
        </p:txBody>
      </p:sp>
      <p:sp>
        <p:nvSpPr>
          <p:cNvPr id="4" name="Slide Number Placeholder 3"/>
          <p:cNvSpPr>
            <a:spLocks noGrp="1"/>
          </p:cNvSpPr>
          <p:nvPr>
            <p:ph type="sldNum" sz="quarter" idx="5"/>
          </p:nvPr>
        </p:nvSpPr>
        <p:spPr/>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[OPTIONAL for a 45-minute talk] All pairwise covariance ellipses for the penguin data.</a:t>
            </a:r>
          </a:p>
        </p:txBody>
      </p:sp>
      <p:sp>
        <p:nvSpPr>
          <p:cNvPr id="4" name="Slide Number Placeholder 3"/>
          <p:cNvSpPr>
            <a:spLocks noGrp="1"/>
          </p:cNvSpPr>
          <p:nvPr>
            <p:ph type="sldNum" sz="quarter" idx="5"/>
          </p:nvPr>
        </p:nvSpPr>
        <p:spPr/>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[OPTIONAL for a 45-minute talk] Plots of the contributions to Box's M for the penguin and iris data.</a:t>
            </a:r>
          </a:p>
        </p:txBody>
      </p:sp>
      <p:sp>
        <p:nvSpPr>
          <p:cNvPr id="4" name="Slide Number Placeholder 3"/>
          <p:cNvSpPr>
            <a:spLocks noGrp="1"/>
          </p:cNvSpPr>
          <p:nvPr>
            <p:ph type="sldNum" sz="quarter" idx="5"/>
          </p:nvPr>
        </p:nvSpPr>
        <p:spPr/>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[OPTIONAL for a 45-minute talk] Quadratic discriminant prediction regions for the penguin data.</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4486A3-DB18-D473-3C2C-21A9E94FF9F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CA"/>
          </a:p>
        </p:txBody>
      </p:sp>
      <p:sp>
        <p:nvSpPr>
          <p:cNvPr id="3" name="Subtitle 2">
            <a:extLst>
              <a:ext uri="{FF2B5EF4-FFF2-40B4-BE49-F238E27FC236}">
                <a16:creationId xmlns:a16="http://schemas.microsoft.com/office/drawing/2014/main" id="{6885EA81-E434-D1B7-C80B-62E4ADD59CD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A"/>
          </a:p>
        </p:txBody>
      </p:sp>
      <p:sp>
        <p:nvSpPr>
          <p:cNvPr id="4" name="Date Placeholder 3">
            <a:extLst>
              <a:ext uri="{FF2B5EF4-FFF2-40B4-BE49-F238E27FC236}">
                <a16:creationId xmlns:a16="http://schemas.microsoft.com/office/drawing/2014/main" id="{5C4680C3-BA4B-8E4A-D7F3-32B19F0BCA80}"/>
              </a:ext>
            </a:extLst>
          </p:cNvPr>
          <p:cNvSpPr>
            <a:spLocks noGrp="1"/>
          </p:cNvSpPr>
          <p:nvPr>
            <p:ph type="dt" sz="half" idx="10"/>
          </p:nvPr>
        </p:nvSpPr>
        <p:spPr/>
        <p:txBody>
          <a:bodyPr/>
          <a:lstStyle/>
          <a:p>
            <a:fld id="{A7D10891-3358-4CD0-A583-DA65327EA413}" type="datetimeFigureOut">
              <a:rPr lang="en-CA" smtClean="0"/>
              <a:t>2026-10-10</a:t>
            </a:fld>
            <a:endParaRPr lang="en-CA"/>
          </a:p>
        </p:txBody>
      </p:sp>
      <p:sp>
        <p:nvSpPr>
          <p:cNvPr id="5" name="Footer Placeholder 4">
            <a:extLst>
              <a:ext uri="{FF2B5EF4-FFF2-40B4-BE49-F238E27FC236}">
                <a16:creationId xmlns:a16="http://schemas.microsoft.com/office/drawing/2014/main" id="{FEA94193-AC1D-9679-4A87-E42BDF4F8744}"/>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2AF6E5A0-F9CF-689C-8D61-E098A3F929DB}"/>
              </a:ext>
            </a:extLst>
          </p:cNvPr>
          <p:cNvSpPr>
            <a:spLocks noGrp="1"/>
          </p:cNvSpPr>
          <p:nvPr>
            <p:ph type="sldNum" sz="quarter" idx="12"/>
          </p:nvPr>
        </p:nvSpPr>
        <p:spPr/>
        <p:txBody>
          <a:bodyPr/>
          <a:lstStyle/>
          <a:p>
            <a:fld id="{9BFB2853-4965-4727-91C4-384EB30D99A4}" type="slidenum">
              <a:rPr lang="en-CA" smtClean="0"/>
              <a:t>‹#›</a:t>
            </a:fld>
            <a:endParaRPr lang="en-CA"/>
          </a:p>
        </p:txBody>
      </p:sp>
    </p:spTree>
    <p:extLst>
      <p:ext uri="{BB962C8B-B14F-4D97-AF65-F5344CB8AC3E}">
        <p14:creationId xmlns:p14="http://schemas.microsoft.com/office/powerpoint/2010/main" val="40596730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083502-0764-310B-D0B2-B91285BDDC3F}"/>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31ACBACA-4969-011B-1D8A-9F765F78280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A26A0864-AC52-362C-DE60-2B13DD66102C}"/>
              </a:ext>
            </a:extLst>
          </p:cNvPr>
          <p:cNvSpPr>
            <a:spLocks noGrp="1"/>
          </p:cNvSpPr>
          <p:nvPr>
            <p:ph type="dt" sz="half" idx="10"/>
          </p:nvPr>
        </p:nvSpPr>
        <p:spPr/>
        <p:txBody>
          <a:bodyPr/>
          <a:lstStyle/>
          <a:p>
            <a:fld id="{A7D10891-3358-4CD0-A583-DA65327EA413}" type="datetimeFigureOut">
              <a:rPr lang="en-CA" smtClean="0"/>
              <a:t>2026-10-10</a:t>
            </a:fld>
            <a:endParaRPr lang="en-CA"/>
          </a:p>
        </p:txBody>
      </p:sp>
      <p:sp>
        <p:nvSpPr>
          <p:cNvPr id="5" name="Footer Placeholder 4">
            <a:extLst>
              <a:ext uri="{FF2B5EF4-FFF2-40B4-BE49-F238E27FC236}">
                <a16:creationId xmlns:a16="http://schemas.microsoft.com/office/drawing/2014/main" id="{8748D2AD-A5BA-FDA0-920F-0CD0C4274BA2}"/>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232061DB-524A-A72C-75DE-C7946ADC6C39}"/>
              </a:ext>
            </a:extLst>
          </p:cNvPr>
          <p:cNvSpPr>
            <a:spLocks noGrp="1"/>
          </p:cNvSpPr>
          <p:nvPr>
            <p:ph type="sldNum" sz="quarter" idx="12"/>
          </p:nvPr>
        </p:nvSpPr>
        <p:spPr/>
        <p:txBody>
          <a:bodyPr/>
          <a:lstStyle/>
          <a:p>
            <a:fld id="{9BFB2853-4965-4727-91C4-384EB30D99A4}" type="slidenum">
              <a:rPr lang="en-CA" smtClean="0"/>
              <a:t>‹#›</a:t>
            </a:fld>
            <a:endParaRPr lang="en-CA"/>
          </a:p>
        </p:txBody>
      </p:sp>
    </p:spTree>
    <p:extLst>
      <p:ext uri="{BB962C8B-B14F-4D97-AF65-F5344CB8AC3E}">
        <p14:creationId xmlns:p14="http://schemas.microsoft.com/office/powerpoint/2010/main" val="40603086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93552C-0BFD-199A-C290-82E0E7DD888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CA"/>
          </a:p>
        </p:txBody>
      </p:sp>
      <p:sp>
        <p:nvSpPr>
          <p:cNvPr id="3" name="Text Placeholder 2">
            <a:extLst>
              <a:ext uri="{FF2B5EF4-FFF2-40B4-BE49-F238E27FC236}">
                <a16:creationId xmlns:a16="http://schemas.microsoft.com/office/drawing/2014/main" id="{12955B4E-7FFE-4BCA-4057-8E5B63DCE1B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200ECAC-6645-C1FA-580D-1382315A14F2}"/>
              </a:ext>
            </a:extLst>
          </p:cNvPr>
          <p:cNvSpPr>
            <a:spLocks noGrp="1"/>
          </p:cNvSpPr>
          <p:nvPr>
            <p:ph type="dt" sz="half" idx="10"/>
          </p:nvPr>
        </p:nvSpPr>
        <p:spPr/>
        <p:txBody>
          <a:bodyPr/>
          <a:lstStyle/>
          <a:p>
            <a:fld id="{A7D10891-3358-4CD0-A583-DA65327EA413}" type="datetimeFigureOut">
              <a:rPr lang="en-CA" smtClean="0"/>
              <a:t>2026-10-10</a:t>
            </a:fld>
            <a:endParaRPr lang="en-CA"/>
          </a:p>
        </p:txBody>
      </p:sp>
      <p:sp>
        <p:nvSpPr>
          <p:cNvPr id="5" name="Footer Placeholder 4">
            <a:extLst>
              <a:ext uri="{FF2B5EF4-FFF2-40B4-BE49-F238E27FC236}">
                <a16:creationId xmlns:a16="http://schemas.microsoft.com/office/drawing/2014/main" id="{AE48408E-18C9-AE29-9B14-B3056D00FA56}"/>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7FE9CE17-62C5-B7EA-54A9-AA954533BA0B}"/>
              </a:ext>
            </a:extLst>
          </p:cNvPr>
          <p:cNvSpPr>
            <a:spLocks noGrp="1"/>
          </p:cNvSpPr>
          <p:nvPr>
            <p:ph type="sldNum" sz="quarter" idx="12"/>
          </p:nvPr>
        </p:nvSpPr>
        <p:spPr/>
        <p:txBody>
          <a:bodyPr/>
          <a:lstStyle/>
          <a:p>
            <a:fld id="{9BFB2853-4965-4727-91C4-384EB30D99A4}" type="slidenum">
              <a:rPr lang="en-CA" smtClean="0"/>
              <a:t>‹#›</a:t>
            </a:fld>
            <a:endParaRPr lang="en-CA"/>
          </a:p>
        </p:txBody>
      </p:sp>
    </p:spTree>
    <p:extLst>
      <p:ext uri="{BB962C8B-B14F-4D97-AF65-F5344CB8AC3E}">
        <p14:creationId xmlns:p14="http://schemas.microsoft.com/office/powerpoint/2010/main" val="2775470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354E25-D446-EE13-859F-9D55287F13E5}"/>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97797706-2D33-3CC7-285A-2D3981CE3752}"/>
              </a:ext>
            </a:extLst>
          </p:cNvPr>
          <p:cNvSpPr>
            <a:spLocks noGrp="1"/>
          </p:cNvSpPr>
          <p:nvPr>
            <p:ph sz="half" idx="1"/>
          </p:nvPr>
        </p:nvSpPr>
        <p:spPr>
          <a:xfrm>
            <a:off x="838200" y="1643063"/>
            <a:ext cx="5181600" cy="4533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a:extLst>
              <a:ext uri="{FF2B5EF4-FFF2-40B4-BE49-F238E27FC236}">
                <a16:creationId xmlns:a16="http://schemas.microsoft.com/office/drawing/2014/main" id="{3265A0ED-F083-930C-0425-BFDD1C4FB857}"/>
              </a:ext>
            </a:extLst>
          </p:cNvPr>
          <p:cNvSpPr>
            <a:spLocks noGrp="1"/>
          </p:cNvSpPr>
          <p:nvPr>
            <p:ph sz="half" idx="2"/>
          </p:nvPr>
        </p:nvSpPr>
        <p:spPr>
          <a:xfrm>
            <a:off x="6172200" y="1643063"/>
            <a:ext cx="5181600" cy="4533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Date Placeholder 4">
            <a:extLst>
              <a:ext uri="{FF2B5EF4-FFF2-40B4-BE49-F238E27FC236}">
                <a16:creationId xmlns:a16="http://schemas.microsoft.com/office/drawing/2014/main" id="{79BE7DB1-B643-5BAC-3FB8-0614644816F8}"/>
              </a:ext>
            </a:extLst>
          </p:cNvPr>
          <p:cNvSpPr>
            <a:spLocks noGrp="1"/>
          </p:cNvSpPr>
          <p:nvPr>
            <p:ph type="dt" sz="half" idx="10"/>
          </p:nvPr>
        </p:nvSpPr>
        <p:spPr/>
        <p:txBody>
          <a:bodyPr/>
          <a:lstStyle/>
          <a:p>
            <a:fld id="{A7D10891-3358-4CD0-A583-DA65327EA413}" type="datetimeFigureOut">
              <a:rPr lang="en-CA" smtClean="0"/>
              <a:t>2026-10-10</a:t>
            </a:fld>
            <a:endParaRPr lang="en-CA"/>
          </a:p>
        </p:txBody>
      </p:sp>
      <p:sp>
        <p:nvSpPr>
          <p:cNvPr id="6" name="Footer Placeholder 5">
            <a:extLst>
              <a:ext uri="{FF2B5EF4-FFF2-40B4-BE49-F238E27FC236}">
                <a16:creationId xmlns:a16="http://schemas.microsoft.com/office/drawing/2014/main" id="{8201AEB3-B855-CBC9-5506-C8FE3FB55E6F}"/>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260B5B7A-5A17-1C3A-0DA4-A7F6D8A038BF}"/>
              </a:ext>
            </a:extLst>
          </p:cNvPr>
          <p:cNvSpPr>
            <a:spLocks noGrp="1"/>
          </p:cNvSpPr>
          <p:nvPr>
            <p:ph type="sldNum" sz="quarter" idx="12"/>
          </p:nvPr>
        </p:nvSpPr>
        <p:spPr/>
        <p:txBody>
          <a:bodyPr/>
          <a:lstStyle/>
          <a:p>
            <a:fld id="{9BFB2853-4965-4727-91C4-384EB30D99A4}" type="slidenum">
              <a:rPr lang="en-CA" smtClean="0"/>
              <a:t>‹#›</a:t>
            </a:fld>
            <a:endParaRPr lang="en-CA"/>
          </a:p>
        </p:txBody>
      </p:sp>
    </p:spTree>
    <p:extLst>
      <p:ext uri="{BB962C8B-B14F-4D97-AF65-F5344CB8AC3E}">
        <p14:creationId xmlns:p14="http://schemas.microsoft.com/office/powerpoint/2010/main" val="3589011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5C1116-2C7D-3653-A739-58A48640D8B9}"/>
              </a:ext>
            </a:extLst>
          </p:cNvPr>
          <p:cNvSpPr>
            <a:spLocks noGrp="1"/>
          </p:cNvSpPr>
          <p:nvPr>
            <p:ph type="title"/>
          </p:nvPr>
        </p:nvSpPr>
        <p:spPr>
          <a:xfrm>
            <a:off x="839788" y="365125"/>
            <a:ext cx="10515600" cy="1143000"/>
          </a:xfrm>
        </p:spPr>
        <p:txBody>
          <a:bodyPr/>
          <a:lstStyle/>
          <a:p>
            <a:r>
              <a:rPr lang="en-US"/>
              <a:t>Click to edit Master title style</a:t>
            </a:r>
            <a:endParaRPr lang="en-CA"/>
          </a:p>
        </p:txBody>
      </p:sp>
      <p:sp>
        <p:nvSpPr>
          <p:cNvPr id="3" name="Text Placeholder 2">
            <a:extLst>
              <a:ext uri="{FF2B5EF4-FFF2-40B4-BE49-F238E27FC236}">
                <a16:creationId xmlns:a16="http://schemas.microsoft.com/office/drawing/2014/main" id="{DC3CF436-57B9-4904-9302-3AE3EF35485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CB7906C-0394-6DDE-10C3-9764E8C3EF1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a:extLst>
              <a:ext uri="{FF2B5EF4-FFF2-40B4-BE49-F238E27FC236}">
                <a16:creationId xmlns:a16="http://schemas.microsoft.com/office/drawing/2014/main" id="{6C81D87C-73DF-EE7D-BA63-DA561306EAE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54BC3BF-5FEF-C7F5-A648-7AD79E88303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7" name="Date Placeholder 6">
            <a:extLst>
              <a:ext uri="{FF2B5EF4-FFF2-40B4-BE49-F238E27FC236}">
                <a16:creationId xmlns:a16="http://schemas.microsoft.com/office/drawing/2014/main" id="{910A4B92-FB68-E7CC-DE9B-0329CFE8DFFE}"/>
              </a:ext>
            </a:extLst>
          </p:cNvPr>
          <p:cNvSpPr>
            <a:spLocks noGrp="1"/>
          </p:cNvSpPr>
          <p:nvPr>
            <p:ph type="dt" sz="half" idx="10"/>
          </p:nvPr>
        </p:nvSpPr>
        <p:spPr/>
        <p:txBody>
          <a:bodyPr/>
          <a:lstStyle/>
          <a:p>
            <a:fld id="{A7D10891-3358-4CD0-A583-DA65327EA413}" type="datetimeFigureOut">
              <a:rPr lang="en-CA" smtClean="0"/>
              <a:t>2026-10-10</a:t>
            </a:fld>
            <a:endParaRPr lang="en-CA"/>
          </a:p>
        </p:txBody>
      </p:sp>
      <p:sp>
        <p:nvSpPr>
          <p:cNvPr id="8" name="Footer Placeholder 7">
            <a:extLst>
              <a:ext uri="{FF2B5EF4-FFF2-40B4-BE49-F238E27FC236}">
                <a16:creationId xmlns:a16="http://schemas.microsoft.com/office/drawing/2014/main" id="{FCC62FE2-5BA9-8351-CBA5-3F87C81D9981}"/>
              </a:ext>
            </a:extLst>
          </p:cNvPr>
          <p:cNvSpPr>
            <a:spLocks noGrp="1"/>
          </p:cNvSpPr>
          <p:nvPr>
            <p:ph type="ftr" sz="quarter" idx="11"/>
          </p:nvPr>
        </p:nvSpPr>
        <p:spPr/>
        <p:txBody>
          <a:bodyPr/>
          <a:lstStyle/>
          <a:p>
            <a:endParaRPr lang="en-CA"/>
          </a:p>
        </p:txBody>
      </p:sp>
      <p:sp>
        <p:nvSpPr>
          <p:cNvPr id="9" name="Slide Number Placeholder 8">
            <a:extLst>
              <a:ext uri="{FF2B5EF4-FFF2-40B4-BE49-F238E27FC236}">
                <a16:creationId xmlns:a16="http://schemas.microsoft.com/office/drawing/2014/main" id="{D0DDAA6C-1E0B-34E0-7DFF-FF2D380B8D8F}"/>
              </a:ext>
            </a:extLst>
          </p:cNvPr>
          <p:cNvSpPr>
            <a:spLocks noGrp="1"/>
          </p:cNvSpPr>
          <p:nvPr>
            <p:ph type="sldNum" sz="quarter" idx="12"/>
          </p:nvPr>
        </p:nvSpPr>
        <p:spPr/>
        <p:txBody>
          <a:bodyPr/>
          <a:lstStyle/>
          <a:p>
            <a:fld id="{9BFB2853-4965-4727-91C4-384EB30D99A4}" type="slidenum">
              <a:rPr lang="en-CA" smtClean="0"/>
              <a:t>‹#›</a:t>
            </a:fld>
            <a:endParaRPr lang="en-CA"/>
          </a:p>
        </p:txBody>
      </p:sp>
    </p:spTree>
    <p:extLst>
      <p:ext uri="{BB962C8B-B14F-4D97-AF65-F5344CB8AC3E}">
        <p14:creationId xmlns:p14="http://schemas.microsoft.com/office/powerpoint/2010/main" val="34234643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FF2C71-E6A2-56CE-9A48-0BCB9F8D1663}"/>
              </a:ext>
            </a:extLst>
          </p:cNvPr>
          <p:cNvSpPr>
            <a:spLocks noGrp="1"/>
          </p:cNvSpPr>
          <p:nvPr>
            <p:ph type="title"/>
          </p:nvPr>
        </p:nvSpPr>
        <p:spPr/>
        <p:txBody>
          <a:bodyPr/>
          <a:lstStyle/>
          <a:p>
            <a:r>
              <a:rPr lang="en-US"/>
              <a:t>Click to edit Master title style</a:t>
            </a:r>
            <a:endParaRPr lang="en-CA"/>
          </a:p>
        </p:txBody>
      </p:sp>
      <p:sp>
        <p:nvSpPr>
          <p:cNvPr id="3" name="Date Placeholder 2">
            <a:extLst>
              <a:ext uri="{FF2B5EF4-FFF2-40B4-BE49-F238E27FC236}">
                <a16:creationId xmlns:a16="http://schemas.microsoft.com/office/drawing/2014/main" id="{F0F201B2-AA15-5B30-7F69-8DF611E7305A}"/>
              </a:ext>
            </a:extLst>
          </p:cNvPr>
          <p:cNvSpPr>
            <a:spLocks noGrp="1"/>
          </p:cNvSpPr>
          <p:nvPr>
            <p:ph type="dt" sz="half" idx="10"/>
          </p:nvPr>
        </p:nvSpPr>
        <p:spPr/>
        <p:txBody>
          <a:bodyPr/>
          <a:lstStyle/>
          <a:p>
            <a:fld id="{A7D10891-3358-4CD0-A583-DA65327EA413}" type="datetimeFigureOut">
              <a:rPr lang="en-CA" smtClean="0"/>
              <a:t>2026-10-10</a:t>
            </a:fld>
            <a:endParaRPr lang="en-CA"/>
          </a:p>
        </p:txBody>
      </p:sp>
      <p:sp>
        <p:nvSpPr>
          <p:cNvPr id="4" name="Footer Placeholder 3">
            <a:extLst>
              <a:ext uri="{FF2B5EF4-FFF2-40B4-BE49-F238E27FC236}">
                <a16:creationId xmlns:a16="http://schemas.microsoft.com/office/drawing/2014/main" id="{359184E4-CE98-D49F-3471-936935790E15}"/>
              </a:ext>
            </a:extLst>
          </p:cNvPr>
          <p:cNvSpPr>
            <a:spLocks noGrp="1"/>
          </p:cNvSpPr>
          <p:nvPr>
            <p:ph type="ftr" sz="quarter" idx="11"/>
          </p:nvPr>
        </p:nvSpPr>
        <p:spPr/>
        <p:txBody>
          <a:bodyPr/>
          <a:lstStyle/>
          <a:p>
            <a:endParaRPr lang="en-CA"/>
          </a:p>
        </p:txBody>
      </p:sp>
      <p:sp>
        <p:nvSpPr>
          <p:cNvPr id="5" name="Slide Number Placeholder 4">
            <a:extLst>
              <a:ext uri="{FF2B5EF4-FFF2-40B4-BE49-F238E27FC236}">
                <a16:creationId xmlns:a16="http://schemas.microsoft.com/office/drawing/2014/main" id="{86ADC2F3-B0E4-8BC5-B0A4-EFDB7AA80001}"/>
              </a:ext>
            </a:extLst>
          </p:cNvPr>
          <p:cNvSpPr>
            <a:spLocks noGrp="1"/>
          </p:cNvSpPr>
          <p:nvPr>
            <p:ph type="sldNum" sz="quarter" idx="12"/>
          </p:nvPr>
        </p:nvSpPr>
        <p:spPr/>
        <p:txBody>
          <a:bodyPr/>
          <a:lstStyle/>
          <a:p>
            <a:fld id="{9BFB2853-4965-4727-91C4-384EB30D99A4}" type="slidenum">
              <a:rPr lang="en-CA" smtClean="0"/>
              <a:t>‹#›</a:t>
            </a:fld>
            <a:endParaRPr lang="en-CA"/>
          </a:p>
        </p:txBody>
      </p:sp>
    </p:spTree>
    <p:extLst>
      <p:ext uri="{BB962C8B-B14F-4D97-AF65-F5344CB8AC3E}">
        <p14:creationId xmlns:p14="http://schemas.microsoft.com/office/powerpoint/2010/main" val="850125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EE9229C-D7D2-65B0-65BD-6AFF2B6E6460}"/>
              </a:ext>
            </a:extLst>
          </p:cNvPr>
          <p:cNvSpPr>
            <a:spLocks noGrp="1"/>
          </p:cNvSpPr>
          <p:nvPr>
            <p:ph type="dt" sz="half" idx="10"/>
          </p:nvPr>
        </p:nvSpPr>
        <p:spPr/>
        <p:txBody>
          <a:bodyPr/>
          <a:lstStyle/>
          <a:p>
            <a:fld id="{A7D10891-3358-4CD0-A583-DA65327EA413}" type="datetimeFigureOut">
              <a:rPr lang="en-CA" smtClean="0"/>
              <a:t>2026-10-10</a:t>
            </a:fld>
            <a:endParaRPr lang="en-CA"/>
          </a:p>
        </p:txBody>
      </p:sp>
      <p:sp>
        <p:nvSpPr>
          <p:cNvPr id="3" name="Footer Placeholder 2">
            <a:extLst>
              <a:ext uri="{FF2B5EF4-FFF2-40B4-BE49-F238E27FC236}">
                <a16:creationId xmlns:a16="http://schemas.microsoft.com/office/drawing/2014/main" id="{222892CD-C6D8-0C0D-C9C0-68452DB5C412}"/>
              </a:ext>
            </a:extLst>
          </p:cNvPr>
          <p:cNvSpPr>
            <a:spLocks noGrp="1"/>
          </p:cNvSpPr>
          <p:nvPr>
            <p:ph type="ftr" sz="quarter" idx="11"/>
          </p:nvPr>
        </p:nvSpPr>
        <p:spPr/>
        <p:txBody>
          <a:bodyPr/>
          <a:lstStyle/>
          <a:p>
            <a:endParaRPr lang="en-CA"/>
          </a:p>
        </p:txBody>
      </p:sp>
      <p:sp>
        <p:nvSpPr>
          <p:cNvPr id="4" name="Slide Number Placeholder 3">
            <a:extLst>
              <a:ext uri="{FF2B5EF4-FFF2-40B4-BE49-F238E27FC236}">
                <a16:creationId xmlns:a16="http://schemas.microsoft.com/office/drawing/2014/main" id="{3430F02E-8D0A-A2EB-DB42-8F87B8DB7077}"/>
              </a:ext>
            </a:extLst>
          </p:cNvPr>
          <p:cNvSpPr>
            <a:spLocks noGrp="1"/>
          </p:cNvSpPr>
          <p:nvPr>
            <p:ph type="sldNum" sz="quarter" idx="12"/>
          </p:nvPr>
        </p:nvSpPr>
        <p:spPr/>
        <p:txBody>
          <a:bodyPr/>
          <a:lstStyle/>
          <a:p>
            <a:fld id="{9BFB2853-4965-4727-91C4-384EB30D99A4}" type="slidenum">
              <a:rPr lang="en-CA" smtClean="0"/>
              <a:t>‹#›</a:t>
            </a:fld>
            <a:endParaRPr lang="en-CA"/>
          </a:p>
        </p:txBody>
      </p:sp>
    </p:spTree>
    <p:extLst>
      <p:ext uri="{BB962C8B-B14F-4D97-AF65-F5344CB8AC3E}">
        <p14:creationId xmlns:p14="http://schemas.microsoft.com/office/powerpoint/2010/main" val="19539580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15CE4-71A6-692F-C003-94BADEA4D64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Content Placeholder 2">
            <a:extLst>
              <a:ext uri="{FF2B5EF4-FFF2-40B4-BE49-F238E27FC236}">
                <a16:creationId xmlns:a16="http://schemas.microsoft.com/office/drawing/2014/main" id="{29278F44-D0EC-1988-26FA-8B8E2FC38E3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a:extLst>
              <a:ext uri="{FF2B5EF4-FFF2-40B4-BE49-F238E27FC236}">
                <a16:creationId xmlns:a16="http://schemas.microsoft.com/office/drawing/2014/main" id="{E725C2EF-17DE-9B90-ED6D-D6E91086AA4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14E512C-223F-E79F-15ED-0ECA2BE2C312}"/>
              </a:ext>
            </a:extLst>
          </p:cNvPr>
          <p:cNvSpPr>
            <a:spLocks noGrp="1"/>
          </p:cNvSpPr>
          <p:nvPr>
            <p:ph type="dt" sz="half" idx="10"/>
          </p:nvPr>
        </p:nvSpPr>
        <p:spPr/>
        <p:txBody>
          <a:bodyPr/>
          <a:lstStyle/>
          <a:p>
            <a:fld id="{A7D10891-3358-4CD0-A583-DA65327EA413}" type="datetimeFigureOut">
              <a:rPr lang="en-CA" smtClean="0"/>
              <a:t>2026-10-10</a:t>
            </a:fld>
            <a:endParaRPr lang="en-CA"/>
          </a:p>
        </p:txBody>
      </p:sp>
      <p:sp>
        <p:nvSpPr>
          <p:cNvPr id="6" name="Footer Placeholder 5">
            <a:extLst>
              <a:ext uri="{FF2B5EF4-FFF2-40B4-BE49-F238E27FC236}">
                <a16:creationId xmlns:a16="http://schemas.microsoft.com/office/drawing/2014/main" id="{858AB3E7-2C8E-F043-C0C1-1F8DA5459CDA}"/>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03F348E1-3AEA-6F6F-23FD-BD544AF1FB8C}"/>
              </a:ext>
            </a:extLst>
          </p:cNvPr>
          <p:cNvSpPr>
            <a:spLocks noGrp="1"/>
          </p:cNvSpPr>
          <p:nvPr>
            <p:ph type="sldNum" sz="quarter" idx="12"/>
          </p:nvPr>
        </p:nvSpPr>
        <p:spPr/>
        <p:txBody>
          <a:bodyPr/>
          <a:lstStyle/>
          <a:p>
            <a:fld id="{9BFB2853-4965-4727-91C4-384EB30D99A4}" type="slidenum">
              <a:rPr lang="en-CA" smtClean="0"/>
              <a:t>‹#›</a:t>
            </a:fld>
            <a:endParaRPr lang="en-CA"/>
          </a:p>
        </p:txBody>
      </p:sp>
    </p:spTree>
    <p:extLst>
      <p:ext uri="{BB962C8B-B14F-4D97-AF65-F5344CB8AC3E}">
        <p14:creationId xmlns:p14="http://schemas.microsoft.com/office/powerpoint/2010/main" val="42448085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420F1B-959C-540A-AD2E-7D6FEC5E316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Picture Placeholder 2">
            <a:extLst>
              <a:ext uri="{FF2B5EF4-FFF2-40B4-BE49-F238E27FC236}">
                <a16:creationId xmlns:a16="http://schemas.microsoft.com/office/drawing/2014/main" id="{1D645BF4-A48B-E174-8718-5B35693139D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CA"/>
          </a:p>
        </p:txBody>
      </p:sp>
      <p:sp>
        <p:nvSpPr>
          <p:cNvPr id="4" name="Text Placeholder 3">
            <a:extLst>
              <a:ext uri="{FF2B5EF4-FFF2-40B4-BE49-F238E27FC236}">
                <a16:creationId xmlns:a16="http://schemas.microsoft.com/office/drawing/2014/main" id="{D56434C3-A68D-43AB-B28F-F34494BCBD2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D88CEE8-2C4C-8620-737C-AE8F04CF1D5E}"/>
              </a:ext>
            </a:extLst>
          </p:cNvPr>
          <p:cNvSpPr>
            <a:spLocks noGrp="1"/>
          </p:cNvSpPr>
          <p:nvPr>
            <p:ph type="dt" sz="half" idx="10"/>
          </p:nvPr>
        </p:nvSpPr>
        <p:spPr/>
        <p:txBody>
          <a:bodyPr/>
          <a:lstStyle/>
          <a:p>
            <a:fld id="{A7D10891-3358-4CD0-A583-DA65327EA413}" type="datetimeFigureOut">
              <a:rPr lang="en-CA" smtClean="0"/>
              <a:t>2026-10-10</a:t>
            </a:fld>
            <a:endParaRPr lang="en-CA"/>
          </a:p>
        </p:txBody>
      </p:sp>
      <p:sp>
        <p:nvSpPr>
          <p:cNvPr id="6" name="Footer Placeholder 5">
            <a:extLst>
              <a:ext uri="{FF2B5EF4-FFF2-40B4-BE49-F238E27FC236}">
                <a16:creationId xmlns:a16="http://schemas.microsoft.com/office/drawing/2014/main" id="{A2C675F7-9A4B-E2CB-776C-2A336043AEED}"/>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149A8741-0324-E12F-C095-4E7CC97648EC}"/>
              </a:ext>
            </a:extLst>
          </p:cNvPr>
          <p:cNvSpPr>
            <a:spLocks noGrp="1"/>
          </p:cNvSpPr>
          <p:nvPr>
            <p:ph type="sldNum" sz="quarter" idx="12"/>
          </p:nvPr>
        </p:nvSpPr>
        <p:spPr/>
        <p:txBody>
          <a:bodyPr/>
          <a:lstStyle/>
          <a:p>
            <a:fld id="{9BFB2853-4965-4727-91C4-384EB30D99A4}" type="slidenum">
              <a:rPr lang="en-CA" smtClean="0"/>
              <a:t>‹#›</a:t>
            </a:fld>
            <a:endParaRPr lang="en-CA"/>
          </a:p>
        </p:txBody>
      </p:sp>
    </p:spTree>
    <p:extLst>
      <p:ext uri="{BB962C8B-B14F-4D97-AF65-F5344CB8AC3E}">
        <p14:creationId xmlns:p14="http://schemas.microsoft.com/office/powerpoint/2010/main" val="15842983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37D17A-4D48-28EE-A810-A3D242882302}"/>
              </a:ext>
            </a:extLst>
          </p:cNvPr>
          <p:cNvSpPr>
            <a:spLocks noGrp="1"/>
          </p:cNvSpPr>
          <p:nvPr>
            <p:ph type="title"/>
          </p:nvPr>
        </p:nvSpPr>
        <p:spPr/>
        <p:txBody>
          <a:bodyPr/>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ABA77A73-0C15-3706-044A-408FF3649E9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571D1EA6-4923-146A-49B3-D75AFA21352F}"/>
              </a:ext>
            </a:extLst>
          </p:cNvPr>
          <p:cNvSpPr>
            <a:spLocks noGrp="1"/>
          </p:cNvSpPr>
          <p:nvPr>
            <p:ph type="dt" sz="half" idx="10"/>
          </p:nvPr>
        </p:nvSpPr>
        <p:spPr/>
        <p:txBody>
          <a:bodyPr/>
          <a:lstStyle/>
          <a:p>
            <a:fld id="{A7D10891-3358-4CD0-A583-DA65327EA413}" type="datetimeFigureOut">
              <a:rPr lang="en-CA" smtClean="0"/>
              <a:t>2026-10-10</a:t>
            </a:fld>
            <a:endParaRPr lang="en-CA"/>
          </a:p>
        </p:txBody>
      </p:sp>
      <p:sp>
        <p:nvSpPr>
          <p:cNvPr id="5" name="Footer Placeholder 4">
            <a:extLst>
              <a:ext uri="{FF2B5EF4-FFF2-40B4-BE49-F238E27FC236}">
                <a16:creationId xmlns:a16="http://schemas.microsoft.com/office/drawing/2014/main" id="{C10D5968-094E-28D6-8177-E63130DFF928}"/>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26FEAFB7-FDF1-A809-AA81-D948CE9A5F89}"/>
              </a:ext>
            </a:extLst>
          </p:cNvPr>
          <p:cNvSpPr>
            <a:spLocks noGrp="1"/>
          </p:cNvSpPr>
          <p:nvPr>
            <p:ph type="sldNum" sz="quarter" idx="12"/>
          </p:nvPr>
        </p:nvSpPr>
        <p:spPr/>
        <p:txBody>
          <a:bodyPr/>
          <a:lstStyle/>
          <a:p>
            <a:fld id="{9BFB2853-4965-4727-91C4-384EB30D99A4}" type="slidenum">
              <a:rPr lang="en-CA" smtClean="0"/>
              <a:t>‹#›</a:t>
            </a:fld>
            <a:endParaRPr lang="en-CA"/>
          </a:p>
        </p:txBody>
      </p:sp>
    </p:spTree>
    <p:extLst>
      <p:ext uri="{BB962C8B-B14F-4D97-AF65-F5344CB8AC3E}">
        <p14:creationId xmlns:p14="http://schemas.microsoft.com/office/powerpoint/2010/main" val="34392966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77B1715-C993-D91F-4787-F8D7CA3A5F3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9D02B27B-63DC-598F-B6E2-B748A733691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F0A44A46-36D5-9B0F-3EB6-9306071F0FAB}"/>
              </a:ext>
            </a:extLst>
          </p:cNvPr>
          <p:cNvSpPr>
            <a:spLocks noGrp="1"/>
          </p:cNvSpPr>
          <p:nvPr>
            <p:ph type="dt" sz="half" idx="10"/>
          </p:nvPr>
        </p:nvSpPr>
        <p:spPr/>
        <p:txBody>
          <a:bodyPr/>
          <a:lstStyle/>
          <a:p>
            <a:fld id="{A7D10891-3358-4CD0-A583-DA65327EA413}" type="datetimeFigureOut">
              <a:rPr lang="en-CA" smtClean="0"/>
              <a:t>2026-10-10</a:t>
            </a:fld>
            <a:endParaRPr lang="en-CA"/>
          </a:p>
        </p:txBody>
      </p:sp>
      <p:sp>
        <p:nvSpPr>
          <p:cNvPr id="5" name="Footer Placeholder 4">
            <a:extLst>
              <a:ext uri="{FF2B5EF4-FFF2-40B4-BE49-F238E27FC236}">
                <a16:creationId xmlns:a16="http://schemas.microsoft.com/office/drawing/2014/main" id="{7C43ADB4-0946-1EFA-F8DB-66A4A7E332EA}"/>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8EA21D21-57D3-5D15-389F-E7ADDDD8E105}"/>
              </a:ext>
            </a:extLst>
          </p:cNvPr>
          <p:cNvSpPr>
            <a:spLocks noGrp="1"/>
          </p:cNvSpPr>
          <p:nvPr>
            <p:ph type="sldNum" sz="quarter" idx="12"/>
          </p:nvPr>
        </p:nvSpPr>
        <p:spPr/>
        <p:txBody>
          <a:bodyPr/>
          <a:lstStyle/>
          <a:p>
            <a:fld id="{9BFB2853-4965-4727-91C4-384EB30D99A4}" type="slidenum">
              <a:rPr lang="en-CA" smtClean="0"/>
              <a:t>‹#›</a:t>
            </a:fld>
            <a:endParaRPr lang="en-CA"/>
          </a:p>
        </p:txBody>
      </p:sp>
    </p:spTree>
    <p:extLst>
      <p:ext uri="{BB962C8B-B14F-4D97-AF65-F5344CB8AC3E}">
        <p14:creationId xmlns:p14="http://schemas.microsoft.com/office/powerpoint/2010/main" val="1269032589"/>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CCB12B1-0D45-5083-3C07-79A68792FA93}"/>
              </a:ext>
            </a:extLst>
          </p:cNvPr>
          <p:cNvSpPr>
            <a:spLocks noGrp="1"/>
          </p:cNvSpPr>
          <p:nvPr>
            <p:ph type="title"/>
          </p:nvPr>
        </p:nvSpPr>
        <p:spPr>
          <a:xfrm>
            <a:off x="838200" y="365125"/>
            <a:ext cx="10515600" cy="1143000"/>
          </a:xfrm>
          <a:prstGeom prst="rect">
            <a:avLst/>
          </a:prstGeom>
        </p:spPr>
        <p:txBody>
          <a:bodyPr vert="horz" lIns="91440" tIns="45720" rIns="91440" bIns="45720" rtlCol="0" anchor="ctr">
            <a:normAutofit/>
          </a:bodyPr>
          <a:lstStyle/>
          <a:p>
            <a:r>
              <a:rPr lang="en-US"/>
              <a:t>Click to edit Master title style</a:t>
            </a:r>
            <a:endParaRPr lang="en-CA"/>
          </a:p>
        </p:txBody>
      </p:sp>
      <p:sp>
        <p:nvSpPr>
          <p:cNvPr id="3" name="Text Placeholder 2">
            <a:extLst>
              <a:ext uri="{FF2B5EF4-FFF2-40B4-BE49-F238E27FC236}">
                <a16:creationId xmlns:a16="http://schemas.microsoft.com/office/drawing/2014/main" id="{0F559808-3D32-7A37-D584-26815CFBC628}"/>
              </a:ext>
            </a:extLst>
          </p:cNvPr>
          <p:cNvSpPr>
            <a:spLocks noGrp="1"/>
          </p:cNvSpPr>
          <p:nvPr>
            <p:ph type="body" idx="1"/>
          </p:nvPr>
        </p:nvSpPr>
        <p:spPr>
          <a:xfrm>
            <a:off x="838200" y="1643063"/>
            <a:ext cx="10515600" cy="45339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7F2819E6-998B-212B-C4AA-B9496436B02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7D10891-3358-4CD0-A583-DA65327EA413}" type="datetimeFigureOut">
              <a:rPr lang="en-CA" smtClean="0"/>
              <a:t>2026-10-10</a:t>
            </a:fld>
            <a:endParaRPr lang="en-CA"/>
          </a:p>
        </p:txBody>
      </p:sp>
      <p:sp>
        <p:nvSpPr>
          <p:cNvPr id="5" name="Footer Placeholder 4">
            <a:extLst>
              <a:ext uri="{FF2B5EF4-FFF2-40B4-BE49-F238E27FC236}">
                <a16:creationId xmlns:a16="http://schemas.microsoft.com/office/drawing/2014/main" id="{5CF8078D-866B-F3B4-630F-FE1A8ED65FC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CA"/>
          </a:p>
        </p:txBody>
      </p:sp>
      <p:sp>
        <p:nvSpPr>
          <p:cNvPr id="6" name="Slide Number Placeholder 5">
            <a:extLst>
              <a:ext uri="{FF2B5EF4-FFF2-40B4-BE49-F238E27FC236}">
                <a16:creationId xmlns:a16="http://schemas.microsoft.com/office/drawing/2014/main" id="{691377B5-A28A-9D03-B379-6A7984C147B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BFB2853-4965-4727-91C4-384EB30D99A4}" type="slidenum">
              <a:rPr lang="en-CA" smtClean="0"/>
              <a:t>‹#›</a:t>
            </a:fld>
            <a:endParaRPr lang="en-CA"/>
          </a:p>
        </p:txBody>
      </p:sp>
    </p:spTree>
    <p:extLst>
      <p:ext uri="{BB962C8B-B14F-4D97-AF65-F5344CB8AC3E}">
        <p14:creationId xmlns:p14="http://schemas.microsoft.com/office/powerpoint/2010/main" val="395799258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s://friendly.github.io/" TargetMode="External"/><Relationship Id="rId4" Type="http://schemas.openxmlformats.org/officeDocument/2006/relationships/hyperlink" Target="https://www.datavis.ca/" TargetMode="External"/><Relationship Id="rId5" Type="http://schemas.openxmlformats.org/officeDocument/2006/relationships/image" Target="../media/image1.png"/><Relationship Id="rId6" Type="http://schemas.openxmlformats.org/officeDocument/2006/relationships/image" Target="../media/image2.png"/><Relationship Id="rId7"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 Id="rId3" Type="http://schemas.openxmlformats.org/officeDocument/2006/relationships/hyperlink" Target="https://friendly.github.io/Vis-MLM-book/" TargetMode="External"/><Relationship Id="rId4" Type="http://schemas.openxmlformats.org/officeDocument/2006/relationships/image" Target="../media/image4.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image" Target="../media/image13.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 Id="rId3" Type="http://schemas.openxmlformats.org/officeDocument/2006/relationships/image" Target="../media/image14.gif"/></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image" Target="../media/image1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image" Target="../media/image1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7.jpe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8.jpe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9.jpe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20.jpeg"/><Relationship Id="rId4" Type="http://schemas.openxmlformats.org/officeDocument/2006/relationships/image" Target="../media/image2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2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 Id="rId3" Type="http://schemas.openxmlformats.org/officeDocument/2006/relationships/image" Target="../media/image23.png"/><Relationship Id="rId4" Type="http://schemas.openxmlformats.org/officeDocument/2006/relationships/image" Target="../media/image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 Id="rId3" Type="http://schemas.openxmlformats.org/officeDocument/2006/relationships/image" Target="../media/image24.png"/><Relationship Id="rId4" Type="http://schemas.openxmlformats.org/officeDocument/2006/relationships/image" Target="../media/image25.png"/><Relationship Id="rId5" Type="http://schemas.openxmlformats.org/officeDocument/2006/relationships/image" Target="../media/image2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 Id="rId3" Type="http://schemas.openxmlformats.org/officeDocument/2006/relationships/image" Target="../media/image27.png"/><Relationship Id="rId4" Type="http://schemas.openxmlformats.org/officeDocument/2006/relationships/image" Target="../media/image1.png"/><Relationship Id="rId5" Type="http://schemas.openxmlformats.org/officeDocument/2006/relationships/image" Target="../media/image2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 Id="rId3" Type="http://schemas.openxmlformats.org/officeDocument/2006/relationships/image" Target="../media/image2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 Id="rId3" Type="http://schemas.openxmlformats.org/officeDocument/2006/relationships/image" Target="../media/image30.png"/><Relationship Id="rId4" Type="http://schemas.openxmlformats.org/officeDocument/2006/relationships/image" Target="../media/image3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 Id="rId3" Type="http://schemas.openxmlformats.org/officeDocument/2006/relationships/image" Target="../media/image3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 Id="rId3" Type="http://schemas.openxmlformats.org/officeDocument/2006/relationships/image" Target="../media/image33.gif"/></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 Id="rId3" Type="http://schemas.openxmlformats.org/officeDocument/2006/relationships/image" Target="../media/image34.png"/><Relationship Id="rId4" Type="http://schemas.openxmlformats.org/officeDocument/2006/relationships/image" Target="../media/image3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36.png"/><Relationship Id="rId4" Type="http://schemas.openxmlformats.org/officeDocument/2006/relationships/hyperlink" Target="http://www.datavis.ca/gallery/animation/outlier-demo/" TargetMode="External"/><Relationship Id="rId5" Type="http://schemas.openxmlformats.org/officeDocument/2006/relationships/image" Target="../media/image37.png"/><Relationship Id="rId6" Type="http://schemas.openxmlformats.org/officeDocument/2006/relationships/image" Target="../media/image38.emf"/></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hyperlink" Target="https://www.datavis.ca/papers/ellipses-STS402.pdf"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 Id="rId3" Type="http://schemas.openxmlformats.org/officeDocument/2006/relationships/image" Target="../media/image39.png"/><Relationship Id="rId4" Type="http://schemas.openxmlformats.org/officeDocument/2006/relationships/image" Target="../media/image40.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41.gif"/><Relationship Id="rId4" Type="http://schemas.openxmlformats.org/officeDocument/2006/relationships/image" Target="../media/image42.gif"/></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 Id="rId3" Type="http://schemas.openxmlformats.org/officeDocument/2006/relationships/image" Target="../media/image43.gif"/></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 Id="rId3" Type="http://schemas.openxmlformats.org/officeDocument/2006/relationships/image" Target="../media/image4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8.xml"/><Relationship Id="rId3" Type="http://schemas.openxmlformats.org/officeDocument/2006/relationships/image" Target="../media/image6.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9.xml"/><Relationship Id="rId3" Type="http://schemas.openxmlformats.org/officeDocument/2006/relationships/image" Target="../media/image45.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 Id="rId3" Type="http://schemas.openxmlformats.org/officeDocument/2006/relationships/image" Target="../media/image46.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1.xml"/><Relationship Id="rId3" Type="http://schemas.openxmlformats.org/officeDocument/2006/relationships/image" Target="../media/image47.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48.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3.xml"/><Relationship Id="rId3" Type="http://schemas.openxmlformats.org/officeDocument/2006/relationships/image" Target="../media/image49.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4.xml"/><Relationship Id="rId3" Type="http://schemas.openxmlformats.org/officeDocument/2006/relationships/image" Target="../media/image50.png"/><Relationship Id="rId4" Type="http://schemas.openxmlformats.org/officeDocument/2006/relationships/image" Target="../media/image5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5.xml"/><Relationship Id="rId3" Type="http://schemas.openxmlformats.org/officeDocument/2006/relationships/image" Target="../media/image52.png"/><Relationship Id="rId4" Type="http://schemas.openxmlformats.org/officeDocument/2006/relationships/image" Target="../media/image1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6.xml"/><Relationship Id="rId3" Type="http://schemas.openxmlformats.org/officeDocument/2006/relationships/image" Target="../media/image53.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7.xml"/><Relationship Id="rId3" Type="http://schemas.openxmlformats.org/officeDocument/2006/relationships/image" Target="../media/image54.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8.xml"/><Relationship Id="rId3" Type="http://schemas.openxmlformats.org/officeDocument/2006/relationships/image" Target="../media/image55.png"/><Relationship Id="rId4" Type="http://schemas.openxmlformats.org/officeDocument/2006/relationships/image" Target="../media/image1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9.xml"/><Relationship Id="rId3" Type="http://schemas.openxmlformats.org/officeDocument/2006/relationships/image" Target="../media/image56.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0.xml"/><Relationship Id="rId3" Type="http://schemas.openxmlformats.org/officeDocument/2006/relationships/image" Target="../media/image57.png"/><Relationship Id="rId4" Type="http://schemas.openxmlformats.org/officeDocument/2006/relationships/image" Target="../media/image58.png"/><Relationship Id="rId5" Type="http://schemas.openxmlformats.org/officeDocument/2006/relationships/image" Target="../media/image59.png"/><Relationship Id="rId7" Type="http://schemas.openxmlformats.org/officeDocument/2006/relationships/image" Target="../media/image61.png"/><Relationship Id="rId8" Type="http://schemas.openxmlformats.org/officeDocument/2006/relationships/image" Target="../media/image62.png"/><Relationship Id="rId9" Type="http://schemas.openxmlformats.org/officeDocument/2006/relationships/image" Target="../media/image113.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image" Target="../media/image63.png"/><Relationship Id="rId4" Type="http://schemas.openxmlformats.org/officeDocument/2006/relationships/image" Target="../media/image66.png"/><Relationship Id="rId5" Type="http://schemas.openxmlformats.org/officeDocument/2006/relationships/oleObject" Target="../embeddings/oleObject1.bin"/><Relationship Id="rId6" Type="http://schemas.openxmlformats.org/officeDocument/2006/relationships/image" Target="../media/image67.wmf"/></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image" Target="../media/image64.png"/><Relationship Id="rId4" Type="http://schemas.openxmlformats.org/officeDocument/2006/relationships/image" Target="../media/image68.png"/><Relationship Id="rId5" Type="http://schemas.openxmlformats.org/officeDocument/2006/relationships/image" Target="../media/image69.png"/><Relationship Id="rId6" Type="http://schemas.openxmlformats.org/officeDocument/2006/relationships/oleObject" Target="../embeddings/oleObject2.bin"/><Relationship Id="rId7" Type="http://schemas.openxmlformats.org/officeDocument/2006/relationships/image" Target="../media/image70.wmf"/></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4.xml"/><Relationship Id="rId3" Type="http://schemas.openxmlformats.org/officeDocument/2006/relationships/image" Target="../media/image7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5.xml"/><Relationship Id="rId3" Type="http://schemas.openxmlformats.org/officeDocument/2006/relationships/image" Target="../media/image72.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6.xml"/><Relationship Id="rId3" Type="http://schemas.openxmlformats.org/officeDocument/2006/relationships/image" Target="../media/image73.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7.xml"/><Relationship Id="rId3" Type="http://schemas.openxmlformats.org/officeDocument/2006/relationships/image" Target="../media/image74.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8.xml"/><Relationship Id="rId3" Type="http://schemas.openxmlformats.org/officeDocument/2006/relationships/image" Target="../media/image75.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9.xml"/><Relationship Id="rId3" Type="http://schemas.openxmlformats.org/officeDocument/2006/relationships/image" Target="../media/image3.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 Id="rId3" Type="http://schemas.openxmlformats.org/officeDocument/2006/relationships/image" Target="../media/image76.png"/><Relationship Id="rId4" Type="http://schemas.openxmlformats.org/officeDocument/2006/relationships/image" Target="../media/image77.png"/><Relationship Id="rId5" Type="http://schemas.microsoft.com/office/2007/relationships/hdphoto" Target="../media/hdphoto1.wdp"/><Relationship Id="rId6" Type="http://schemas.openxmlformats.org/officeDocument/2006/relationships/image" Target="../media/image78.png"/><Relationship Id="rId7" Type="http://schemas.openxmlformats.org/officeDocument/2006/relationships/image" Target="../media/image79.jp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1.xml"/><Relationship Id="rId3" Type="http://schemas.openxmlformats.org/officeDocument/2006/relationships/image" Target="../media/image80.gif"/></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2.xml"/><Relationship Id="rId3" Type="http://schemas.openxmlformats.org/officeDocument/2006/relationships/image" Target="../media/image81.gif"/></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3.xml"/><Relationship Id="rId3" Type="http://schemas.openxmlformats.org/officeDocument/2006/relationships/image" Target="../media/image82.png"/><Relationship Id="rId4" Type="http://schemas.openxmlformats.org/officeDocument/2006/relationships/image" Target="../media/image83.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4.xml"/><Relationship Id="rId3" Type="http://schemas.openxmlformats.org/officeDocument/2006/relationships/hyperlink" Target="https://rpubs.com/friendly/penguin-biplots" TargetMode="External"/><Relationship Id="rId4" Type="http://schemas.openxmlformats.org/officeDocument/2006/relationships/image" Target="../media/image84.png"/><Relationship Id="rId5" Type="http://schemas.openxmlformats.org/officeDocument/2006/relationships/image" Target="../media/image85.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5.xml"/><Relationship Id="rId3" Type="http://schemas.openxmlformats.org/officeDocument/2006/relationships/image" Target="../media/image86.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 Id="rId3" Type="http://schemas.openxmlformats.org/officeDocument/2006/relationships/image" Target="../media/image107.png"/><Relationship Id="rId4" Type="http://schemas.openxmlformats.org/officeDocument/2006/relationships/image" Target="../media/image87.png"/><Relationship Id="rId5" Type="http://schemas.openxmlformats.org/officeDocument/2006/relationships/image" Target="../media/image88.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7.xml"/><Relationship Id="rId3" Type="http://schemas.openxmlformats.org/officeDocument/2006/relationships/image" Target="../media/image89.jp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8.xml"/><Relationship Id="rId3" Type="http://schemas.openxmlformats.org/officeDocument/2006/relationships/image" Target="../media/image90.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9.xml"/><Relationship Id="rId3" Type="http://schemas.openxmlformats.org/officeDocument/2006/relationships/image" Target="../media/image91.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0.xml"/><Relationship Id="rId3" Type="http://schemas.openxmlformats.org/officeDocument/2006/relationships/image" Target="../media/image92.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1.xml"/><Relationship Id="rId3" Type="http://schemas.openxmlformats.org/officeDocument/2006/relationships/image" Target="../media/image93.gif"/></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2.xml"/><Relationship Id="rId3" Type="http://schemas.openxmlformats.org/officeDocument/2006/relationships/image" Target="../media/image94.png"/><Relationship Id="rId4" Type="http://schemas.openxmlformats.org/officeDocument/2006/relationships/image" Target="../media/image31.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3.xml"/><Relationship Id="rId3" Type="http://schemas.openxmlformats.org/officeDocument/2006/relationships/image" Target="../media/image95.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4.xml"/><Relationship Id="rId3" Type="http://schemas.openxmlformats.org/officeDocument/2006/relationships/image" Target="../media/image96.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5.xml"/><Relationship Id="rId3" Type="http://schemas.openxmlformats.org/officeDocument/2006/relationships/image" Target="../media/image97.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6.xml"/><Relationship Id="rId3" Type="http://schemas.openxmlformats.org/officeDocument/2006/relationships/image" Target="../media/image98.png"/><Relationship Id="rId4" Type="http://schemas.openxmlformats.org/officeDocument/2006/relationships/image" Target="../media/image99.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7.xml"/><Relationship Id="rId3" Type="http://schemas.openxmlformats.org/officeDocument/2006/relationships/image" Target="../media/image100.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8.xml"/><Relationship Id="rId3" Type="http://schemas.openxmlformats.org/officeDocument/2006/relationships/image" Target="../media/image101.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0.xml"/><Relationship Id="rId3" Type="http://schemas.openxmlformats.org/officeDocument/2006/relationships/hyperlink" Target="https://friendly.github.io/Vis-MLM-book/" TargetMode="External"/><Relationship Id="rId4" Type="http://schemas.openxmlformats.org/officeDocument/2006/relationships/image" Target="../media/image4.jp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02.gif"/></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1.xml"/><Relationship Id="rId3" Type="http://schemas.openxmlformats.org/officeDocument/2006/relationships/image" Target="../media/image103.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2.xml"/><Relationship Id="rId3" Type="http://schemas.openxmlformats.org/officeDocument/2006/relationships/image" Target="../media/image104.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3.xml"/><Relationship Id="rId3" Type="http://schemas.openxmlformats.org/officeDocument/2006/relationships/image" Target="../media/image105.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4.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5.xml"/><Relationship Id="rId3" Type="http://schemas.openxmlformats.org/officeDocument/2006/relationships/image" Target="../media/image106.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6.xml"/><Relationship Id="rId3" Type="http://schemas.openxmlformats.org/officeDocument/2006/relationships/image" Target="../media/image108.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7.xml"/><Relationship Id="rId3" Type="http://schemas.openxmlformats.org/officeDocument/2006/relationships/image" Target="../media/image109.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8.xml"/><Relationship Id="rId3" Type="http://schemas.openxmlformats.org/officeDocument/2006/relationships/image" Target="../media/image110.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9.xml"/><Relationship Id="rId3" Type="http://schemas.openxmlformats.org/officeDocument/2006/relationships/image" Target="../media/image111.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0.xml"/><Relationship Id="rId3" Type="http://schemas.openxmlformats.org/officeDocument/2006/relationships/image" Target="../media/image11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7048" y="2794434"/>
            <a:ext cx="9144000" cy="1828800"/>
          </a:xfrm>
        </p:spPr>
        <p:txBody>
          <a:bodyPr/>
          <a:lstStyle/>
          <a:p>
            <a:r>
              <a:rPr dirty="0"/>
              <a:t>Visualizing Multivariate Data and Models in R</a:t>
            </a:r>
          </a:p>
        </p:txBody>
      </p:sp>
      <p:sp>
        <p:nvSpPr>
          <p:cNvPr id="3" name="Subtitle 2"/>
          <p:cNvSpPr>
            <a:spLocks noGrp="1"/>
          </p:cNvSpPr>
          <p:nvPr>
            <p:ph type="subTitle" idx="1"/>
          </p:nvPr>
        </p:nvSpPr>
        <p:spPr>
          <a:xfrm>
            <a:off x="1527048" y="4626538"/>
            <a:ext cx="9144000" cy="1655064"/>
          </a:xfrm>
        </p:spPr>
        <p:txBody>
          <a:bodyPr>
            <a:normAutofit fontScale="92500" lnSpcReduction="10000"/>
          </a:bodyPr>
          <a:lstStyle/>
          <a:p>
            <a:r>
              <a:rPr sz="3200" dirty="0"/>
              <a:t>A Romance in Many Dimensions</a:t>
            </a:r>
          </a:p>
          <a:p>
            <a:endParaRPr dirty="0"/>
          </a:p>
          <a:p>
            <a:r>
              <a:rPr lang="en-CA" dirty="0"/>
              <a:t>Methodology &amp; Statistics Group, Utrecht, 5 Nov. 2026</a:t>
            </a:r>
          </a:p>
          <a:p>
            <a:r>
              <a:rPr dirty="0"/>
              <a:t>Michael Friendly, York University</a:t>
            </a:r>
            <a:r>
              <a:rPr lang="en-CA" dirty="0"/>
              <a:t>, </a:t>
            </a:r>
            <a:r>
              <a:rPr lang="en-CA" dirty="0">
                <a:hlinkClick r:id="rId3"/>
              </a:rPr>
              <a:t>friendly.github.io </a:t>
            </a:r>
            <a:r>
              <a:rPr lang="en-CA" dirty="0"/>
              <a:t>| </a:t>
            </a:r>
            <a:r>
              <a:rPr lang="en-CA" dirty="0">
                <a:hlinkClick r:id="rId4"/>
              </a:rPr>
              <a:t>datavis.ca</a:t>
            </a:r>
            <a:endParaRPr dirty="0"/>
          </a:p>
        </p:txBody>
      </p:sp>
      <p:pic>
        <p:nvPicPr>
          <p:cNvPr id="4" name="Thumbnail: data ellipses" descr="image.png"/>
          <p:cNvPicPr>
            <a:picLocks noChangeAspect="1"/>
          </p:cNvPicPr>
          <p:nvPr/>
        </p:nvPicPr>
        <p:blipFill>
          <a:blip r:embed="rId5"/>
          <a:stretch>
            <a:fillRect/>
          </a:stretch>
        </p:blipFill>
        <p:spPr>
          <a:xfrm>
            <a:off x="1484330" y="320039"/>
            <a:ext cx="2340000" cy="2340000"/>
          </a:xfrm>
          <a:prstGeom prst="rect">
            <a:avLst/>
          </a:prstGeom>
        </p:spPr>
      </p:pic>
      <p:pic>
        <p:nvPicPr>
          <p:cNvPr id="5" name="Thumbnail: biplot" descr="fig-diabetes-ggbiplot-1.png"/>
          <p:cNvPicPr>
            <a:picLocks noChangeAspect="1"/>
          </p:cNvPicPr>
          <p:nvPr/>
        </p:nvPicPr>
        <p:blipFill>
          <a:blip r:embed="rId6"/>
          <a:stretch>
            <a:fillRect/>
          </a:stretch>
        </p:blipFill>
        <p:spPr>
          <a:xfrm>
            <a:off x="3962245" y="320040"/>
            <a:ext cx="3276000" cy="2340000"/>
          </a:xfrm>
          <a:prstGeom prst="rect">
            <a:avLst/>
          </a:prstGeom>
        </p:spPr>
      </p:pic>
      <p:pic>
        <p:nvPicPr>
          <p:cNvPr id="6" name="Thumbnail: HE plot" descr="image.png"/>
          <p:cNvPicPr>
            <a:picLocks noChangeAspect="1"/>
          </p:cNvPicPr>
          <p:nvPr/>
        </p:nvPicPr>
        <p:blipFill>
          <a:blip r:embed="rId7"/>
          <a:stretch>
            <a:fillRect/>
          </a:stretch>
        </p:blipFill>
        <p:spPr>
          <a:xfrm>
            <a:off x="7376160" y="320040"/>
            <a:ext cx="3276000" cy="2340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5181600" cy="1143000"/>
          </a:xfrm>
        </p:spPr>
        <p:txBody>
          <a:bodyPr/>
          <a:lstStyle/>
          <a:p>
            <a:r>
              <a:rPr dirty="0"/>
              <a:t>The book</a:t>
            </a:r>
          </a:p>
        </p:txBody>
      </p:sp>
      <p:sp>
        <p:nvSpPr>
          <p:cNvPr id="3" name="Content Placeholder 2"/>
          <p:cNvSpPr>
            <a:spLocks noGrp="1"/>
          </p:cNvSpPr>
          <p:nvPr>
            <p:ph sz="half" idx="1"/>
          </p:nvPr>
        </p:nvSpPr>
        <p:spPr/>
        <p:txBody>
          <a:bodyPr/>
          <a:lstStyle/>
          <a:p>
            <a:r>
              <a:rPr dirty="0"/>
              <a:t>Graphical methods for multivariate data and for multivariate linear models</a:t>
            </a:r>
          </a:p>
          <a:p>
            <a:r>
              <a:rPr dirty="0"/>
              <a:t>15 chapters in four parts, from exploratory plots to MANOVA and discriminant analysis</a:t>
            </a:r>
          </a:p>
          <a:p>
            <a:r>
              <a:rPr dirty="0"/>
              <a:t>To appear CRC Press / Chapman &amp; Hall</a:t>
            </a:r>
            <a:r>
              <a:rPr lang="en-CA" dirty="0"/>
              <a:t>, 2027</a:t>
            </a:r>
            <a:endParaRPr dirty="0"/>
          </a:p>
          <a:p>
            <a:r>
              <a:rPr dirty="0"/>
              <a:t>Online version: </a:t>
            </a:r>
            <a:r>
              <a:rPr dirty="0">
                <a:hlinkClick r:id="rId3"/>
              </a:rPr>
              <a:t>friendly.github.io/Vis-MLM-book</a:t>
            </a:r>
            <a:endParaRPr dirty="0"/>
          </a:p>
        </p:txBody>
      </p:sp>
      <p:pic>
        <p:nvPicPr>
          <p:cNvPr id="4" name="Picture 3" descr="cover-peng.jpg"/>
          <p:cNvPicPr>
            <a:picLocks noChangeAspect="1"/>
          </p:cNvPicPr>
          <p:nvPr/>
        </p:nvPicPr>
        <p:blipFill>
          <a:blip r:embed="rId4"/>
          <a:stretch>
            <a:fillRect/>
          </a:stretch>
        </p:blipFill>
        <p:spPr>
          <a:xfrm>
            <a:off x="6331974" y="630023"/>
            <a:ext cx="4218039" cy="5804761"/>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Key features of the book</a:t>
            </a:r>
          </a:p>
        </p:txBody>
      </p:sp>
      <p:pic>
        <p:nvPicPr>
          <p:cNvPr id="3" name="Picture 2" descr="image.png"/>
          <p:cNvPicPr>
            <a:picLocks noChangeAspect="1"/>
          </p:cNvPicPr>
          <p:nvPr/>
        </p:nvPicPr>
        <p:blipFill>
          <a:blip r:embed="rId3"/>
          <a:stretch>
            <a:fillRect/>
          </a:stretch>
        </p:blipFill>
        <p:spPr>
          <a:xfrm>
            <a:off x="1010412" y="1691640"/>
            <a:ext cx="1856231" cy="1325880"/>
          </a:xfrm>
          <a:prstGeom prst="rect">
            <a:avLst/>
          </a:prstGeom>
        </p:spPr>
      </p:pic>
      <p:sp>
        <p:nvSpPr>
          <p:cNvPr id="4" name="TextBox 3"/>
          <p:cNvSpPr txBox="1"/>
          <p:nvPr/>
        </p:nvSpPr>
        <p:spPr>
          <a:xfrm>
            <a:off x="3291840" y="1737360"/>
            <a:ext cx="8046720" cy="1325880"/>
          </a:xfrm>
          <a:prstGeom prst="rect">
            <a:avLst/>
          </a:prstGeom>
          <a:noFill/>
        </p:spPr>
        <p:txBody>
          <a:bodyPr wrap="square">
            <a:spAutoFit/>
          </a:bodyPr>
          <a:lstStyle/>
          <a:p>
            <a:r>
              <a:rPr sz="2400" b="1"/>
              <a:t>Exposure and summarization</a:t>
            </a:r>
          </a:p>
          <a:p>
            <a:r>
              <a:rPr sz="1800"/>
              <a:t>Plot the raw data, and plot statistical summaries (data ellipses, confidence ellipses) to highlight what should be noticed. Visual thinning balances the two.</a:t>
            </a:r>
          </a:p>
        </p:txBody>
      </p:sp>
      <p:pic>
        <p:nvPicPr>
          <p:cNvPr id="5" name="Picture 4" descr="image.png"/>
          <p:cNvPicPr>
            <a:picLocks noChangeAspect="1"/>
          </p:cNvPicPr>
          <p:nvPr/>
        </p:nvPicPr>
        <p:blipFill>
          <a:blip r:embed="rId4"/>
          <a:stretch>
            <a:fillRect/>
          </a:stretch>
        </p:blipFill>
        <p:spPr>
          <a:xfrm>
            <a:off x="841248" y="3368623"/>
            <a:ext cx="2194560" cy="1044296"/>
          </a:xfrm>
          <a:prstGeom prst="rect">
            <a:avLst/>
          </a:prstGeom>
        </p:spPr>
      </p:pic>
      <p:sp>
        <p:nvSpPr>
          <p:cNvPr id="6" name="TextBox 5"/>
          <p:cNvSpPr txBox="1"/>
          <p:nvPr/>
        </p:nvSpPr>
        <p:spPr>
          <a:xfrm>
            <a:off x="3291840" y="3273552"/>
            <a:ext cx="8046720" cy="1325880"/>
          </a:xfrm>
          <a:prstGeom prst="rect">
            <a:avLst/>
          </a:prstGeom>
          <a:noFill/>
        </p:spPr>
        <p:txBody>
          <a:bodyPr wrap="square">
            <a:spAutoFit/>
          </a:bodyPr>
          <a:lstStyle/>
          <a:p>
            <a:r>
              <a:rPr sz="2400" b="1"/>
              <a:t>Statistics ↔ geometry ↔ data visualization</a:t>
            </a:r>
          </a:p>
          <a:p>
            <a:r>
              <a:rPr sz="1800"/>
              <a:t>Statistical ideas are easier to understand as geometry that can be seen in diagrams and data displays. Ideas from one domain amplify the others.</a:t>
            </a:r>
          </a:p>
        </p:txBody>
      </p:sp>
      <p:pic>
        <p:nvPicPr>
          <p:cNvPr id="7" name="Picture 6" descr="MV-juicer.png"/>
          <p:cNvPicPr>
            <a:picLocks noChangeAspect="1"/>
          </p:cNvPicPr>
          <p:nvPr/>
        </p:nvPicPr>
        <p:blipFill>
          <a:blip r:embed="rId5"/>
          <a:stretch>
            <a:fillRect/>
          </a:stretch>
        </p:blipFill>
        <p:spPr>
          <a:xfrm>
            <a:off x="841248" y="4866511"/>
            <a:ext cx="2194560" cy="1120905"/>
          </a:xfrm>
          <a:prstGeom prst="rect">
            <a:avLst/>
          </a:prstGeom>
        </p:spPr>
      </p:pic>
      <p:sp>
        <p:nvSpPr>
          <p:cNvPr id="8" name="TextBox 7"/>
          <p:cNvSpPr txBox="1"/>
          <p:nvPr/>
        </p:nvSpPr>
        <p:spPr>
          <a:xfrm>
            <a:off x="3291840" y="4809744"/>
            <a:ext cx="8046720" cy="1325880"/>
          </a:xfrm>
          <a:prstGeom prst="rect">
            <a:avLst/>
          </a:prstGeom>
          <a:noFill/>
        </p:spPr>
        <p:txBody>
          <a:bodyPr wrap="square">
            <a:spAutoFit/>
          </a:bodyPr>
          <a:lstStyle/>
          <a:p>
            <a:r>
              <a:rPr sz="2400" b="1"/>
              <a:t>Dimension reduction as “multivariate juicers”</a:t>
            </a:r>
          </a:p>
          <a:p>
            <a:r>
              <a:rPr sz="1800"/>
              <a:t>PCA and discriminant analysis squeeze high-dimensional data into informative 2D views. Sometimes the important information is in the smallest dimensions.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 packages</a:t>
            </a:r>
          </a:p>
        </p:txBody>
      </p:sp>
      <p:sp>
        <p:nvSpPr>
          <p:cNvPr id="3" name="TextBox 2"/>
          <p:cNvSpPr txBox="1"/>
          <p:nvPr/>
        </p:nvSpPr>
        <p:spPr>
          <a:xfrm>
            <a:off x="841248" y="1417320"/>
            <a:ext cx="10515600" cy="502920"/>
          </a:xfrm>
          <a:prstGeom prst="rect">
            <a:avLst/>
          </a:prstGeom>
          <a:noFill/>
        </p:spPr>
        <p:txBody>
          <a:bodyPr wrap="none">
            <a:spAutoFit/>
          </a:bodyPr>
          <a:lstStyle/>
          <a:p>
            <a:r>
              <a:rPr sz="2400" b="1"/>
              <a:t>Theory → Practice: Making tools accessible</a:t>
            </a:r>
          </a:p>
        </p:txBody>
      </p:sp>
      <p:pic>
        <p:nvPicPr>
          <p:cNvPr id="4" name="Picture 3" descr="logo.png"/>
          <p:cNvPicPr>
            <a:picLocks noChangeAspect="1"/>
          </p:cNvPicPr>
          <p:nvPr/>
        </p:nvPicPr>
        <p:blipFill>
          <a:blip r:embed="rId3"/>
          <a:stretch>
            <a:fillRect/>
          </a:stretch>
        </p:blipFill>
        <p:spPr>
          <a:xfrm>
            <a:off x="904552" y="2148840"/>
            <a:ext cx="787790" cy="914400"/>
          </a:xfrm>
          <a:prstGeom prst="rect">
            <a:avLst/>
          </a:prstGeom>
        </p:spPr>
      </p:pic>
      <p:sp>
        <p:nvSpPr>
          <p:cNvPr id="5" name="TextBox 4"/>
          <p:cNvSpPr txBox="1"/>
          <p:nvPr/>
        </p:nvSpPr>
        <p:spPr>
          <a:xfrm>
            <a:off x="2011680" y="2167128"/>
            <a:ext cx="9326880" cy="914400"/>
          </a:xfrm>
          <a:prstGeom prst="rect">
            <a:avLst/>
          </a:prstGeom>
          <a:noFill/>
        </p:spPr>
        <p:txBody>
          <a:bodyPr wrap="square">
            <a:spAutoFit/>
          </a:bodyPr>
          <a:lstStyle/>
          <a:p>
            <a:r>
              <a:rPr sz="2400" b="1" dirty="0" err="1"/>
              <a:t>heplots</a:t>
            </a:r>
            <a:endParaRPr sz="2400" b="1" dirty="0"/>
          </a:p>
          <a:p>
            <a:r>
              <a:rPr sz="1800" dirty="0"/>
              <a:t>Visualizing hypothesis tests in multivariate linear models: HE plots, covariance ellipses, robust MLMs</a:t>
            </a:r>
          </a:p>
        </p:txBody>
      </p:sp>
      <p:pic>
        <p:nvPicPr>
          <p:cNvPr id="6" name="Picture 5" descr="logo.png"/>
          <p:cNvPicPr>
            <a:picLocks noChangeAspect="1"/>
          </p:cNvPicPr>
          <p:nvPr/>
        </p:nvPicPr>
        <p:blipFill>
          <a:blip r:embed="rId4"/>
          <a:stretch>
            <a:fillRect/>
          </a:stretch>
        </p:blipFill>
        <p:spPr>
          <a:xfrm>
            <a:off x="894440" y="3172968"/>
            <a:ext cx="808015" cy="914400"/>
          </a:xfrm>
          <a:prstGeom prst="rect">
            <a:avLst/>
          </a:prstGeom>
        </p:spPr>
      </p:pic>
      <p:sp>
        <p:nvSpPr>
          <p:cNvPr id="7" name="TextBox 6"/>
          <p:cNvSpPr txBox="1"/>
          <p:nvPr/>
        </p:nvSpPr>
        <p:spPr>
          <a:xfrm>
            <a:off x="2011680" y="3191256"/>
            <a:ext cx="9326880" cy="914400"/>
          </a:xfrm>
          <a:prstGeom prst="rect">
            <a:avLst/>
          </a:prstGeom>
          <a:noFill/>
        </p:spPr>
        <p:txBody>
          <a:bodyPr wrap="square">
            <a:spAutoFit/>
          </a:bodyPr>
          <a:lstStyle/>
          <a:p>
            <a:r>
              <a:rPr sz="2400" b="1"/>
              <a:t>candisc</a:t>
            </a:r>
          </a:p>
          <a:p>
            <a:r>
              <a:rPr sz="1800"/>
              <a:t>Canonical discriminant and canonical correlation analysis: low-dimensional views of multivariate effects</a:t>
            </a:r>
          </a:p>
        </p:txBody>
      </p:sp>
      <p:pic>
        <p:nvPicPr>
          <p:cNvPr id="8" name="Picture 7" descr="logo.png"/>
          <p:cNvPicPr>
            <a:picLocks noChangeAspect="1"/>
          </p:cNvPicPr>
          <p:nvPr/>
        </p:nvPicPr>
        <p:blipFill>
          <a:blip r:embed="rId5"/>
          <a:stretch>
            <a:fillRect/>
          </a:stretch>
        </p:blipFill>
        <p:spPr>
          <a:xfrm>
            <a:off x="904358" y="4197096"/>
            <a:ext cx="788179" cy="914400"/>
          </a:xfrm>
          <a:prstGeom prst="rect">
            <a:avLst/>
          </a:prstGeom>
        </p:spPr>
      </p:pic>
      <p:sp>
        <p:nvSpPr>
          <p:cNvPr id="9" name="TextBox 8"/>
          <p:cNvSpPr txBox="1"/>
          <p:nvPr/>
        </p:nvSpPr>
        <p:spPr>
          <a:xfrm>
            <a:off x="2011680" y="4215383"/>
            <a:ext cx="9326880" cy="914400"/>
          </a:xfrm>
          <a:prstGeom prst="rect">
            <a:avLst/>
          </a:prstGeom>
          <a:noFill/>
        </p:spPr>
        <p:txBody>
          <a:bodyPr wrap="square">
            <a:spAutoFit/>
          </a:bodyPr>
          <a:lstStyle/>
          <a:p>
            <a:r>
              <a:rPr sz="2400" b="1"/>
              <a:t>mvinfluence</a:t>
            </a:r>
          </a:p>
          <a:p>
            <a:r>
              <a:rPr sz="1800"/>
              <a:t>Influence measures and diagnostic plots for multivariate linear models</a:t>
            </a:r>
          </a:p>
        </p:txBody>
      </p:sp>
      <p:pic>
        <p:nvPicPr>
          <p:cNvPr id="10" name="Picture 9" descr="logo.png"/>
          <p:cNvPicPr>
            <a:picLocks noChangeAspect="1"/>
          </p:cNvPicPr>
          <p:nvPr/>
        </p:nvPicPr>
        <p:blipFill>
          <a:blip r:embed="rId6"/>
          <a:stretch>
            <a:fillRect/>
          </a:stretch>
        </p:blipFill>
        <p:spPr>
          <a:xfrm>
            <a:off x="905461" y="5221224"/>
            <a:ext cx="785973" cy="914400"/>
          </a:xfrm>
          <a:prstGeom prst="rect">
            <a:avLst/>
          </a:prstGeom>
        </p:spPr>
      </p:pic>
      <p:sp>
        <p:nvSpPr>
          <p:cNvPr id="11" name="TextBox 10"/>
          <p:cNvSpPr txBox="1"/>
          <p:nvPr/>
        </p:nvSpPr>
        <p:spPr>
          <a:xfrm>
            <a:off x="2011680" y="5239512"/>
            <a:ext cx="9326880" cy="914400"/>
          </a:xfrm>
          <a:prstGeom prst="rect">
            <a:avLst/>
          </a:prstGeom>
          <a:noFill/>
        </p:spPr>
        <p:txBody>
          <a:bodyPr wrap="square">
            <a:spAutoFit/>
          </a:bodyPr>
          <a:lstStyle/>
          <a:p>
            <a:r>
              <a:rPr sz="2400" b="1"/>
              <a:t>genridge</a:t>
            </a:r>
          </a:p>
          <a:p>
            <a:r>
              <a:rPr sz="1800"/>
              <a:t>Generalized ridge trace plots: bias and precision in ridge regression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Where we are going</a:t>
            </a:r>
          </a:p>
        </p:txBody>
      </p:sp>
      <p:sp>
        <p:nvSpPr>
          <p:cNvPr id="3" name="Content Placeholder 2"/>
          <p:cNvSpPr>
            <a:spLocks noGrp="1"/>
          </p:cNvSpPr>
          <p:nvPr>
            <p:ph idx="1"/>
          </p:nvPr>
        </p:nvSpPr>
        <p:spPr>
          <a:xfrm>
            <a:off x="838200" y="1309036"/>
            <a:ext cx="10515600" cy="4867927"/>
          </a:xfrm>
        </p:spPr>
        <p:txBody>
          <a:bodyPr/>
          <a:lstStyle/>
          <a:p>
            <a:r>
              <a:rPr dirty="0"/>
              <a:t>Why many dimensions?</a:t>
            </a:r>
          </a:p>
          <a:p>
            <a:r>
              <a:rPr dirty="0"/>
              <a:t>Ellipses everywhere: seeing multivariate data</a:t>
            </a:r>
          </a:p>
          <a:p>
            <a:r>
              <a:rPr dirty="0"/>
              <a:t>Elliptical insights: models with one response</a:t>
            </a:r>
          </a:p>
          <a:p>
            <a:r>
              <a:rPr dirty="0"/>
              <a:t>The HE plot framework for multivariate models</a:t>
            </a:r>
          </a:p>
          <a:p>
            <a:r>
              <a:rPr dirty="0"/>
              <a:t>Multivariate juicers: low-D views, and Waldo space</a:t>
            </a:r>
          </a:p>
          <a:p>
            <a:r>
              <a:rPr dirty="0"/>
              <a:t>Checking multivariate models</a:t>
            </a:r>
          </a:p>
        </p:txBody>
      </p:sp>
      <p:pic>
        <p:nvPicPr>
          <p:cNvPr id="4" name="Picture 3" descr="fig-book-parts-1.png"/>
          <p:cNvPicPr>
            <a:picLocks noChangeAspect="1"/>
          </p:cNvPicPr>
          <p:nvPr/>
        </p:nvPicPr>
        <p:blipFill>
          <a:blip r:embed="rId3"/>
          <a:stretch>
            <a:fillRect/>
          </a:stretch>
        </p:blipFill>
        <p:spPr>
          <a:xfrm>
            <a:off x="1771886" y="5212080"/>
            <a:ext cx="8654323" cy="96012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Why a romance in many dimensions?</a:t>
            </a:r>
          </a:p>
        </p:txBody>
      </p:sp>
      <p:sp>
        <p:nvSpPr>
          <p:cNvPr id="3" name="Text Placeholder 2"/>
          <p:cNvSpPr>
            <a:spLocks noGrp="1"/>
          </p:cNvSpPr>
          <p:nvPr>
            <p:ph type="body" idx="1"/>
          </p:nvPr>
        </p:nvSpPr>
        <p:spPr/>
        <p:txBody>
          <a:bodyPr/>
          <a:lstStyle/>
          <a:p>
            <a:r>
              <a:rPr dirty="0"/>
              <a:t>We live in </a:t>
            </a:r>
            <a:r>
              <a:rPr dirty="0" err="1"/>
              <a:t>Spaceland</a:t>
            </a:r>
            <a:r>
              <a:rPr dirty="0"/>
              <a:t>,</a:t>
            </a:r>
            <a:r>
              <a:rPr lang="en-CA" dirty="0"/>
              <a:t> sometimes high-D,</a:t>
            </a:r>
            <a:r>
              <a:rPr dirty="0"/>
              <a:t> but we plot in Flatland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Flatland: we only ever see </a:t>
            </a:r>
            <a:r>
              <a:rPr lang="en-CA" dirty="0"/>
              <a:t>2D </a:t>
            </a:r>
            <a:r>
              <a:rPr dirty="0"/>
              <a:t>projections</a:t>
            </a:r>
          </a:p>
        </p:txBody>
      </p:sp>
      <p:sp>
        <p:nvSpPr>
          <p:cNvPr id="3" name="Content Placeholder 2"/>
          <p:cNvSpPr>
            <a:spLocks noGrp="1"/>
          </p:cNvSpPr>
          <p:nvPr>
            <p:ph sz="half" idx="1"/>
          </p:nvPr>
        </p:nvSpPr>
        <p:spPr/>
        <p:txBody>
          <a:bodyPr/>
          <a:lstStyle/>
          <a:p>
            <a:r>
              <a:rPr dirty="0"/>
              <a:t>Abbott's Flatland (1884): a sphere passing through a 2D world is seen as a circle that grows and shrinks</a:t>
            </a:r>
          </a:p>
          <a:p>
            <a:r>
              <a:rPr dirty="0"/>
              <a:t>Our </a:t>
            </a:r>
            <a:r>
              <a:rPr lang="en-CA" dirty="0"/>
              <a:t>2D </a:t>
            </a:r>
            <a:r>
              <a:rPr dirty="0"/>
              <a:t>plots are Flatland views of data that live in many dimensions</a:t>
            </a:r>
          </a:p>
          <a:p>
            <a:r>
              <a:rPr dirty="0"/>
              <a:t>Multivariate visualization is the art of </a:t>
            </a:r>
            <a:r>
              <a:rPr b="1" dirty="0"/>
              <a:t>choosing good views</a:t>
            </a:r>
            <a:endParaRPr lang="en-CA" b="1" dirty="0"/>
          </a:p>
          <a:p>
            <a:r>
              <a:rPr lang="en-CA" dirty="0" err="1"/>
              <a:t>Datavis</a:t>
            </a:r>
            <a:r>
              <a:rPr lang="en-CA" dirty="0"/>
              <a:t> is the art of making plots informative</a:t>
            </a:r>
          </a:p>
          <a:p>
            <a:r>
              <a:rPr lang="en-CA" dirty="0"/>
              <a:t>That’s the Romance!</a:t>
            </a:r>
            <a:endParaRPr dirty="0"/>
          </a:p>
        </p:txBody>
      </p:sp>
      <p:pic>
        <p:nvPicPr>
          <p:cNvPr id="4" name="Picture 3" descr="flatland-spheres.jpg"/>
          <p:cNvPicPr>
            <a:picLocks noChangeAspect="1"/>
          </p:cNvPicPr>
          <p:nvPr/>
        </p:nvPicPr>
        <p:blipFill>
          <a:blip r:embed="rId3"/>
          <a:stretch>
            <a:fillRect/>
          </a:stretch>
        </p:blipFill>
        <p:spPr>
          <a:xfrm>
            <a:off x="6169152" y="1752981"/>
            <a:ext cx="5184648" cy="1578296"/>
          </a:xfrm>
          <a:prstGeom prst="rect">
            <a:avLst/>
          </a:prstGeom>
        </p:spPr>
      </p:pic>
      <p:sp>
        <p:nvSpPr>
          <p:cNvPr id="5" name="TextBox 4"/>
          <p:cNvSpPr txBox="1"/>
          <p:nvPr/>
        </p:nvSpPr>
        <p:spPr>
          <a:xfrm>
            <a:off x="841248" y="6355080"/>
            <a:ext cx="2743200" cy="320040"/>
          </a:xfrm>
          <a:prstGeom prst="rect">
            <a:avLst/>
          </a:prstGeom>
          <a:noFill/>
        </p:spPr>
        <p:txBody>
          <a:bodyPr wrap="square">
            <a:spAutoFit/>
          </a:bodyPr>
          <a:lstStyle/>
          <a:p>
            <a:r>
              <a:rPr sz="1100">
                <a:solidFill>
                  <a:srgbClr val="707070"/>
                </a:solidFill>
              </a:rPr>
              <a:t>Figure 1.1</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EUREKA! Structure can hide in many dimensions</a:t>
            </a:r>
          </a:p>
        </p:txBody>
      </p:sp>
      <p:pic>
        <p:nvPicPr>
          <p:cNvPr id="3" name="Picture 2" descr="pollen-eureka.gif"/>
          <p:cNvPicPr>
            <a:picLocks noChangeAspect="1"/>
          </p:cNvPicPr>
          <p:nvPr/>
        </p:nvPicPr>
        <p:blipFill>
          <a:blip r:embed="rId3"/>
          <a:stretch>
            <a:fillRect/>
          </a:stretch>
        </p:blipFill>
        <p:spPr>
          <a:xfrm>
            <a:off x="950439" y="1603498"/>
            <a:ext cx="5095308" cy="4659650"/>
          </a:xfrm>
          <a:prstGeom prst="rect">
            <a:avLst/>
          </a:prstGeom>
        </p:spPr>
      </p:pic>
      <p:sp>
        <p:nvSpPr>
          <p:cNvPr id="5" name="TextBox 4"/>
          <p:cNvSpPr txBox="1"/>
          <p:nvPr/>
        </p:nvSpPr>
        <p:spPr>
          <a:xfrm>
            <a:off x="841248" y="6355080"/>
            <a:ext cx="2743200" cy="320040"/>
          </a:xfrm>
          <a:prstGeom prst="rect">
            <a:avLst/>
          </a:prstGeom>
          <a:noFill/>
        </p:spPr>
        <p:txBody>
          <a:bodyPr wrap="square">
            <a:spAutoFit/>
          </a:bodyPr>
          <a:lstStyle/>
          <a:p>
            <a:r>
              <a:rPr sz="1100">
                <a:solidFill>
                  <a:srgbClr val="707070"/>
                </a:solidFill>
              </a:rPr>
              <a:t>Figure 1.5</a:t>
            </a:r>
          </a:p>
        </p:txBody>
      </p:sp>
      <p:sp>
        <p:nvSpPr>
          <p:cNvPr id="6" name="TextBox 5">
            <a:extLst>
              <a:ext uri="{FF2B5EF4-FFF2-40B4-BE49-F238E27FC236}">
                <a16:creationId xmlns:a16="http://schemas.microsoft.com/office/drawing/2014/main" id="{8C3F38F2-2587-3C51-3889-B647D224D5F9}"/>
              </a:ext>
            </a:extLst>
          </p:cNvPr>
          <p:cNvSpPr txBox="1"/>
          <p:nvPr/>
        </p:nvSpPr>
        <p:spPr>
          <a:xfrm>
            <a:off x="6942025" y="1720645"/>
            <a:ext cx="4679704" cy="1477328"/>
          </a:xfrm>
          <a:prstGeom prst="rect">
            <a:avLst/>
          </a:prstGeom>
          <a:noFill/>
        </p:spPr>
        <p:txBody>
          <a:bodyPr wrap="square" rtlCol="0">
            <a:spAutoFit/>
          </a:bodyPr>
          <a:lstStyle/>
          <a:p>
            <a:r>
              <a:rPr lang="en-CA" dirty="0" err="1"/>
              <a:t>HistData</a:t>
            </a:r>
            <a:r>
              <a:rPr lang="en-CA" dirty="0"/>
              <a:t>::pollen, from the 1986 JSM Data Exposition: “Find something interesting here”</a:t>
            </a:r>
          </a:p>
          <a:p>
            <a:endParaRPr lang="en-CA" dirty="0"/>
          </a:p>
          <a:p>
            <a:r>
              <a:rPr lang="en-CA" dirty="0"/>
              <a:t>Zooming in on the </a:t>
            </a:r>
            <a:r>
              <a:rPr lang="en-CA" b="1" dirty="0"/>
              <a:t>right view </a:t>
            </a:r>
            <a:r>
              <a:rPr lang="en-CA" dirty="0"/>
              <a:t>reveals what no summary statistic could ever do</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 multivariate discovery: kinds of diabetes</a:t>
            </a:r>
          </a:p>
        </p:txBody>
      </p:sp>
      <p:sp>
        <p:nvSpPr>
          <p:cNvPr id="3" name="Content Placeholder 2"/>
          <p:cNvSpPr>
            <a:spLocks noGrp="1"/>
          </p:cNvSpPr>
          <p:nvPr>
            <p:ph sz="half" idx="1"/>
          </p:nvPr>
        </p:nvSpPr>
        <p:spPr/>
        <p:txBody>
          <a:bodyPr/>
          <a:lstStyle/>
          <a:p>
            <a:r>
              <a:t>Reaven &amp; Miller (1979) viewed glucose and insulin measures in 3D with PRIM-9</a:t>
            </a:r>
          </a:p>
          <a:p>
            <a:r>
              <a:t>The 3D view showed distinct groups that 2D plots had obscured</a:t>
            </a:r>
          </a:p>
          <a:p>
            <a:r>
              <a:t>The picture changed how the disease was classified</a:t>
            </a:r>
          </a:p>
        </p:txBody>
      </p:sp>
      <p:pic>
        <p:nvPicPr>
          <p:cNvPr id="4" name="Picture 3" descr="ReavenMiller-3d-annotated.png"/>
          <p:cNvPicPr>
            <a:picLocks noChangeAspect="1"/>
          </p:cNvPicPr>
          <p:nvPr/>
        </p:nvPicPr>
        <p:blipFill>
          <a:blip r:embed="rId3"/>
          <a:stretch>
            <a:fillRect/>
          </a:stretch>
        </p:blipFill>
        <p:spPr>
          <a:xfrm>
            <a:off x="6172200" y="1915849"/>
            <a:ext cx="5184648" cy="4123580"/>
          </a:xfrm>
          <a:prstGeom prst="rect">
            <a:avLst/>
          </a:prstGeom>
        </p:spPr>
      </p:pic>
      <p:sp>
        <p:nvSpPr>
          <p:cNvPr id="5" name="TextBox 4"/>
          <p:cNvSpPr txBox="1"/>
          <p:nvPr/>
        </p:nvSpPr>
        <p:spPr>
          <a:xfrm>
            <a:off x="841248" y="6355080"/>
            <a:ext cx="2743200" cy="320040"/>
          </a:xfrm>
          <a:prstGeom prst="rect">
            <a:avLst/>
          </a:prstGeom>
          <a:noFill/>
        </p:spPr>
        <p:txBody>
          <a:bodyPr wrap="square">
            <a:spAutoFit/>
          </a:bodyPr>
          <a:lstStyle/>
          <a:p>
            <a:r>
              <a:rPr sz="1100">
                <a:solidFill>
                  <a:srgbClr val="707070"/>
                </a:solidFill>
              </a:rPr>
              <a:t>Figure 1.7</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problem: easy to fit, hard to see</a:t>
            </a:r>
          </a:p>
        </p:txBody>
      </p:sp>
      <p:sp>
        <p:nvSpPr>
          <p:cNvPr id="3" name="Content Placeholder 2"/>
          <p:cNvSpPr>
            <a:spLocks noGrp="1"/>
          </p:cNvSpPr>
          <p:nvPr>
            <p:ph sz="half" idx="1"/>
          </p:nvPr>
        </p:nvSpPr>
        <p:spPr/>
        <p:txBody>
          <a:bodyPr/>
          <a:lstStyle/>
          <a:p>
            <a:r>
              <a:rPr dirty="0"/>
              <a:t>With one response, we have a rich toolkit of plots for linear models</a:t>
            </a:r>
          </a:p>
          <a:p>
            <a:r>
              <a:rPr dirty="0"/>
              <a:t>With several responses, </a:t>
            </a:r>
            <a:r>
              <a:rPr dirty="0" err="1"/>
              <a:t>lm</a:t>
            </a:r>
            <a:r>
              <a:rPr dirty="0"/>
              <a:t>(</a:t>
            </a:r>
            <a:r>
              <a:rPr dirty="0" err="1"/>
              <a:t>cbind</a:t>
            </a:r>
            <a:r>
              <a:rPr dirty="0"/>
              <a:t>(y1, y2, y3) ~ ...) is just as easy to fit</a:t>
            </a:r>
            <a:endParaRPr lang="en-CA" dirty="0"/>
          </a:p>
          <a:p>
            <a:r>
              <a:rPr lang="en-CA" dirty="0"/>
              <a:t>Math is easy too: y </a:t>
            </a:r>
            <a:r>
              <a:rPr lang="en-CA" dirty="0">
                <a:latin typeface="Cambria Math" panose="02040503050406030204" pitchFamily="18" charset="0"/>
                <a:ea typeface="Cambria Math" panose="02040503050406030204" pitchFamily="18" charset="0"/>
              </a:rPr>
              <a:t>⤳ </a:t>
            </a:r>
            <a:r>
              <a:rPr lang="en-CA" b="1" dirty="0">
                <a:latin typeface="Cambria Math" panose="02040503050406030204" pitchFamily="18" charset="0"/>
                <a:ea typeface="Cambria Math" panose="02040503050406030204" pitchFamily="18" charset="0"/>
              </a:rPr>
              <a:t>Y</a:t>
            </a:r>
            <a:endParaRPr b="1" dirty="0"/>
          </a:p>
          <a:p>
            <a:r>
              <a:rPr dirty="0"/>
              <a:t>But the results arrive as tables of multivariate tests</a:t>
            </a:r>
          </a:p>
          <a:p>
            <a:r>
              <a:rPr dirty="0"/>
              <a:t>Goal: plots that show what those tests mean</a:t>
            </a:r>
            <a:r>
              <a:rPr lang="en-CA" dirty="0"/>
              <a:t>, visual inference?</a:t>
            </a:r>
            <a:endParaRPr dirty="0"/>
          </a:p>
        </p:txBody>
      </p:sp>
      <p:pic>
        <p:nvPicPr>
          <p:cNvPr id="4" name="Picture 3" descr="techniques-table.png"/>
          <p:cNvPicPr>
            <a:picLocks noChangeAspect="1"/>
          </p:cNvPicPr>
          <p:nvPr/>
        </p:nvPicPr>
        <p:blipFill>
          <a:blip r:embed="rId3"/>
          <a:stretch>
            <a:fillRect/>
          </a:stretch>
        </p:blipFill>
        <p:spPr>
          <a:xfrm>
            <a:off x="6270522" y="1508125"/>
            <a:ext cx="5184648" cy="3021599"/>
          </a:xfrm>
          <a:prstGeom prst="rect">
            <a:avLst/>
          </a:prstGeom>
        </p:spPr>
      </p:pic>
      <p:sp>
        <p:nvSpPr>
          <p:cNvPr id="5" name="TextBox 4"/>
          <p:cNvSpPr txBox="1"/>
          <p:nvPr/>
        </p:nvSpPr>
        <p:spPr>
          <a:xfrm>
            <a:off x="841248" y="6355080"/>
            <a:ext cx="2743200" cy="320040"/>
          </a:xfrm>
          <a:prstGeom prst="rect">
            <a:avLst/>
          </a:prstGeom>
          <a:noFill/>
        </p:spPr>
        <p:txBody>
          <a:bodyPr wrap="square">
            <a:spAutoFit/>
          </a:bodyPr>
          <a:lstStyle/>
          <a:p>
            <a:r>
              <a:rPr sz="1100">
                <a:solidFill>
                  <a:srgbClr val="707070"/>
                </a:solidFill>
              </a:rPr>
              <a:t>Figure 6.1</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C1DD1A8A-57D5-4A81-AD04-532B043C56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descr="Penguins walking together">
            <a:extLst>
              <a:ext uri="{FF2B5EF4-FFF2-40B4-BE49-F238E27FC236}">
                <a16:creationId xmlns:a16="http://schemas.microsoft.com/office/drawing/2014/main" id="{3139B4EB-ECB5-A62E-A0B0-F5445F7851A8}"/>
              </a:ext>
            </a:extLst>
          </p:cNvPr>
          <p:cNvPicPr>
            <a:picLocks noChangeAspect="1"/>
          </p:cNvPicPr>
          <p:nvPr/>
        </p:nvPicPr>
        <p:blipFill>
          <a:blip r:embed="rId2"/>
          <a:srcRect t="15094"/>
          <a:stretch>
            <a:fillRect/>
          </a:stretch>
        </p:blipFill>
        <p:spPr>
          <a:xfrm>
            <a:off x="-3047" y="10"/>
            <a:ext cx="12191999" cy="6857990"/>
          </a:xfrm>
          <a:prstGeom prst="rect">
            <a:avLst/>
          </a:prstGeom>
        </p:spPr>
      </p:pic>
      <p:sp>
        <p:nvSpPr>
          <p:cNvPr id="11" name="Rectangle 10">
            <a:extLst>
              <a:ext uri="{FF2B5EF4-FFF2-40B4-BE49-F238E27FC236}">
                <a16:creationId xmlns:a16="http://schemas.microsoft.com/office/drawing/2014/main" id="{007891EC-4501-44ED-A8C8-B11B6DB767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7602"/>
            <a:ext cx="12191999" cy="3162146"/>
          </a:xfrm>
          <a:prstGeom prst="rect">
            <a:avLst/>
          </a:prstGeom>
          <a:gradFill flip="none" rotWithShape="1">
            <a:gsLst>
              <a:gs pos="0">
                <a:srgbClr val="000000">
                  <a:alpha val="0"/>
                </a:srgbClr>
              </a:gs>
              <a:gs pos="25000">
                <a:srgbClr val="000000">
                  <a:alpha val="15000"/>
                </a:srgbClr>
              </a:gs>
              <a:gs pos="75000">
                <a:srgbClr val="000000">
                  <a:alpha val="15000"/>
                </a:srgbClr>
              </a:gs>
              <a:gs pos="50000">
                <a:srgbClr val="000000">
                  <a:alpha val="30000"/>
                </a:srgbClr>
              </a:gs>
              <a:gs pos="100000">
                <a:srgbClr val="000000">
                  <a:alpha val="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097280" y="325550"/>
            <a:ext cx="10058400" cy="3574778"/>
          </a:xfrm>
          <a:effectLst>
            <a:outerShdw blurRad="50800" dist="38100" dir="2700000" algn="tl" rotWithShape="0">
              <a:prstClr val="black">
                <a:alpha val="40000"/>
              </a:prstClr>
            </a:outerShdw>
          </a:effectLst>
        </p:spPr>
        <p:txBody>
          <a:bodyPr vert="horz" lIns="91440" tIns="45720" rIns="91440" bIns="45720" rtlCol="0" anchor="b">
            <a:normAutofit/>
          </a:bodyPr>
          <a:lstStyle/>
          <a:p>
            <a:pPr algn="ctr"/>
            <a:r>
              <a:rPr lang="en-US" sz="8000" dirty="0">
                <a:solidFill>
                  <a:srgbClr val="FFFFFF"/>
                </a:solidFill>
              </a:rPr>
              <a:t>Seeing multivariate data</a:t>
            </a:r>
          </a:p>
        </p:txBody>
      </p:sp>
      <p:sp>
        <p:nvSpPr>
          <p:cNvPr id="3" name="Text Placeholder 2"/>
          <p:cNvSpPr>
            <a:spLocks noGrp="1"/>
          </p:cNvSpPr>
          <p:nvPr>
            <p:ph type="body" idx="1"/>
          </p:nvPr>
        </p:nvSpPr>
        <p:spPr>
          <a:xfrm>
            <a:off x="1100051" y="4072043"/>
            <a:ext cx="10058400" cy="1282707"/>
          </a:xfrm>
          <a:effectLst>
            <a:outerShdw blurRad="50800" dist="38100" dir="2700000" algn="tl" rotWithShape="0">
              <a:prstClr val="black">
                <a:alpha val="40000"/>
              </a:prstClr>
            </a:outerShdw>
          </a:effectLst>
        </p:spPr>
        <p:txBody>
          <a:bodyPr vert="horz" lIns="91440" tIns="45720" rIns="91440" bIns="45720" rtlCol="0">
            <a:normAutofit/>
          </a:bodyPr>
          <a:lstStyle/>
          <a:p>
            <a:pPr algn="ctr"/>
            <a:r>
              <a:rPr lang="en-US" sz="2800" dirty="0">
                <a:solidFill>
                  <a:srgbClr val="FFFFFF"/>
                </a:solidFill>
              </a:rPr>
              <a:t>Data ellipses, penguins, and looking at many variables at once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p:txBody>
          <a:bodyPr/>
          <a:lstStyle/>
          <a:p>
            <a:fld id="{E2F4C87C-FABA-4B28-B0C8-A7D348CBC8A3}" type="slidenum">
              <a:rPr lang="en-US" altLang="en-US"/>
              <a:pPr/>
              <a:t>12</a:t>
            </a:fld>
            <a:endParaRPr lang="en-US" altLang="en-US"/>
          </a:p>
        </p:txBody>
      </p:sp>
      <p:sp>
        <p:nvSpPr>
          <p:cNvPr id="78850" name="Rectangle 2"/>
          <p:cNvSpPr>
            <a:spLocks noGrp="1" noChangeArrowheads="1"/>
          </p:cNvSpPr>
          <p:nvPr>
            <p:ph type="title"/>
          </p:nvPr>
        </p:nvSpPr>
        <p:spPr>
          <a:xfrm>
            <a:off x="618781" y="331786"/>
            <a:ext cx="8229600" cy="838200"/>
          </a:xfrm>
        </p:spPr>
        <p:txBody>
          <a:bodyPr>
            <a:normAutofit fontScale="90000"/>
          </a:bodyPr>
          <a:lstStyle/>
          <a:p>
            <a:pPr>
              <a:lnSpc>
                <a:spcPct val="85000"/>
              </a:lnSpc>
            </a:pPr>
            <a:r>
              <a:rPr lang="en-US" altLang="en-US" sz="3200" dirty="0"/>
              <a:t>Galton’s visual discovery:</a:t>
            </a:r>
            <a:br>
              <a:rPr lang="en-US" altLang="en-US" sz="3200" dirty="0"/>
            </a:br>
            <a:r>
              <a:rPr lang="en-US" altLang="en-US" sz="3200" dirty="0"/>
              <a:t> </a:t>
            </a:r>
            <a:r>
              <a:rPr lang="en-US" altLang="en-US" sz="2400" dirty="0"/>
              <a:t>Bivariate normal correlation surface (1886)</a:t>
            </a:r>
          </a:p>
        </p:txBody>
      </p:sp>
      <p:pic>
        <p:nvPicPr>
          <p:cNvPr id="78851" name="Picture 3" descr="galton-tabl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81400" y="1676401"/>
            <a:ext cx="8001000" cy="48498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339468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p:txBody>
          <a:bodyPr/>
          <a:lstStyle/>
          <a:p>
            <a:fld id="{C299C230-35BF-4F64-9F70-85E993BA911F}" type="slidenum">
              <a:rPr lang="en-US" altLang="en-US"/>
              <a:pPr/>
              <a:t>13</a:t>
            </a:fld>
            <a:endParaRPr lang="en-US" altLang="en-US"/>
          </a:p>
        </p:txBody>
      </p:sp>
      <p:sp>
        <p:nvSpPr>
          <p:cNvPr id="80898" name="Rectangle 2"/>
          <p:cNvSpPr>
            <a:spLocks noGrp="1" noChangeArrowheads="1"/>
          </p:cNvSpPr>
          <p:nvPr>
            <p:ph type="title"/>
          </p:nvPr>
        </p:nvSpPr>
        <p:spPr>
          <a:xfrm>
            <a:off x="684882" y="327024"/>
            <a:ext cx="8229600" cy="965200"/>
          </a:xfrm>
        </p:spPr>
        <p:txBody>
          <a:bodyPr/>
          <a:lstStyle/>
          <a:p>
            <a:pPr>
              <a:lnSpc>
                <a:spcPct val="85000"/>
              </a:lnSpc>
            </a:pPr>
            <a:r>
              <a:rPr lang="en-US" altLang="en-US" sz="3200" dirty="0"/>
              <a:t>Visual smoothing </a:t>
            </a:r>
            <a:r>
              <a:rPr lang="en-US" altLang="en-US" sz="3200" dirty="0">
                <a:sym typeface="Wingdings" pitchFamily="2" charset="2"/>
              </a:rPr>
              <a:t></a:t>
            </a:r>
            <a:r>
              <a:rPr lang="en-US" altLang="en-US" sz="3200" dirty="0"/>
              <a:t> Insight</a:t>
            </a:r>
          </a:p>
        </p:txBody>
      </p:sp>
      <p:pic>
        <p:nvPicPr>
          <p:cNvPr id="80899" name="Picture 3" descr="galton-table-merged"/>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81400" y="1676401"/>
            <a:ext cx="8089900" cy="48545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047906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lide Number Placeholder 5"/>
          <p:cNvSpPr>
            <a:spLocks noGrp="1"/>
          </p:cNvSpPr>
          <p:nvPr>
            <p:ph type="sldNum" sz="quarter" idx="12"/>
          </p:nvPr>
        </p:nvSpPr>
        <p:spPr/>
        <p:txBody>
          <a:bodyPr/>
          <a:lstStyle/>
          <a:p>
            <a:fld id="{5CD3ADF0-CAE1-4C97-890E-1ED6688E5639}" type="slidenum">
              <a:rPr lang="en-US" altLang="en-US"/>
              <a:pPr/>
              <a:t>14</a:t>
            </a:fld>
            <a:endParaRPr lang="en-US" altLang="en-US"/>
          </a:p>
        </p:txBody>
      </p:sp>
      <p:sp>
        <p:nvSpPr>
          <p:cNvPr id="82946" name="Rectangle 2"/>
          <p:cNvSpPr>
            <a:spLocks noGrp="1" noChangeArrowheads="1"/>
          </p:cNvSpPr>
          <p:nvPr>
            <p:ph type="title"/>
          </p:nvPr>
        </p:nvSpPr>
        <p:spPr>
          <a:xfrm>
            <a:off x="650082" y="466726"/>
            <a:ext cx="8229600" cy="965200"/>
          </a:xfrm>
        </p:spPr>
        <p:txBody>
          <a:bodyPr/>
          <a:lstStyle/>
          <a:p>
            <a:pPr>
              <a:lnSpc>
                <a:spcPct val="85000"/>
              </a:lnSpc>
            </a:pPr>
            <a:r>
              <a:rPr lang="en-US" altLang="en-US" sz="3200" dirty="0"/>
              <a:t>Visual insight </a:t>
            </a:r>
            <a:r>
              <a:rPr lang="en-US" altLang="en-US" sz="3200" dirty="0">
                <a:sym typeface="Wingdings" pitchFamily="2" charset="2"/>
              </a:rPr>
              <a:t></a:t>
            </a:r>
            <a:r>
              <a:rPr lang="en-US" altLang="en-US" sz="3200" dirty="0"/>
              <a:t> Theory (the OMG! moment)</a:t>
            </a:r>
          </a:p>
        </p:txBody>
      </p:sp>
      <p:pic>
        <p:nvPicPr>
          <p:cNvPr id="82947" name="Picture 3" descr="galton-cor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6294438" y="1643063"/>
            <a:ext cx="5416550" cy="45910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82948" name="Text Box 4"/>
          <p:cNvSpPr txBox="1">
            <a:spLocks noChangeArrowheads="1"/>
          </p:cNvSpPr>
          <p:nvPr/>
        </p:nvSpPr>
        <p:spPr bwMode="auto">
          <a:xfrm>
            <a:off x="3357564" y="1643063"/>
            <a:ext cx="2706687" cy="825500"/>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buFontTx/>
              <a:buChar char="•"/>
            </a:pPr>
            <a:r>
              <a:rPr lang="en-US" altLang="en-US" sz="1600" dirty="0">
                <a:solidFill>
                  <a:schemeClr val="tx2"/>
                </a:solidFill>
                <a:cs typeface="Arial" charset="0"/>
              </a:rPr>
              <a:t> Level curves are </a:t>
            </a:r>
            <a:r>
              <a:rPr lang="en-US" altLang="en-US" sz="1600" b="1" dirty="0">
                <a:solidFill>
                  <a:schemeClr val="tx2"/>
                </a:solidFill>
                <a:cs typeface="Arial" charset="0"/>
              </a:rPr>
              <a:t>ellipses</a:t>
            </a:r>
          </a:p>
          <a:p>
            <a:pPr algn="l">
              <a:buFontTx/>
              <a:buChar char="•"/>
            </a:pPr>
            <a:r>
              <a:rPr lang="en-US" altLang="en-US" sz="1600" dirty="0">
                <a:solidFill>
                  <a:schemeClr val="tx2"/>
                </a:solidFill>
                <a:cs typeface="Arial" charset="0"/>
              </a:rPr>
              <a:t> Regression lines are loci of conjugate </a:t>
            </a:r>
            <a:r>
              <a:rPr lang="en-US" altLang="en-US" sz="1600" b="1" dirty="0">
                <a:solidFill>
                  <a:schemeClr val="tx2"/>
                </a:solidFill>
                <a:cs typeface="Arial" charset="0"/>
              </a:rPr>
              <a:t>tangents</a:t>
            </a:r>
          </a:p>
        </p:txBody>
      </p:sp>
      <p:sp>
        <p:nvSpPr>
          <p:cNvPr id="82949" name="Text Box 5"/>
          <p:cNvSpPr txBox="1">
            <a:spLocks noChangeArrowheads="1"/>
          </p:cNvSpPr>
          <p:nvPr/>
        </p:nvSpPr>
        <p:spPr bwMode="auto">
          <a:xfrm>
            <a:off x="3298826" y="5054600"/>
            <a:ext cx="2765425" cy="1803400"/>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en-US" sz="1600" i="1">
                <a:solidFill>
                  <a:schemeClr val="tx2"/>
                </a:solidFill>
                <a:cs typeface="Arial" charset="0"/>
              </a:rPr>
              <a:t>… that Galton should have evolved all this … is to my mind one of the most note-worthy scientific discoveries arising from analysis of pure observation</a:t>
            </a:r>
            <a:r>
              <a:rPr lang="en-US" altLang="en-US" sz="1600">
                <a:solidFill>
                  <a:schemeClr val="tx2"/>
                </a:solidFill>
                <a:cs typeface="Arial" charset="0"/>
              </a:rPr>
              <a:t> (Pearson 1920, p37) </a:t>
            </a:r>
          </a:p>
        </p:txBody>
      </p:sp>
      <p:sp>
        <p:nvSpPr>
          <p:cNvPr id="82950" name="Text Box 6"/>
          <p:cNvSpPr txBox="1">
            <a:spLocks noChangeArrowheads="1"/>
          </p:cNvSpPr>
          <p:nvPr/>
        </p:nvSpPr>
        <p:spPr bwMode="auto">
          <a:xfrm>
            <a:off x="6294439" y="6367464"/>
            <a:ext cx="5170487" cy="274637"/>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en-US" sz="1200">
                <a:solidFill>
                  <a:schemeClr val="tx2"/>
                </a:solidFill>
                <a:cs typeface="Arial" charset="0"/>
              </a:rPr>
              <a:t>Galton (1886, Pl X): Smoothed contours of heights of parents and children</a:t>
            </a:r>
          </a:p>
        </p:txBody>
      </p:sp>
      <p:pic>
        <p:nvPicPr>
          <p:cNvPr id="82951" name="Picture 7" descr="galton-kdes-c"/>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41676" y="2679700"/>
            <a:ext cx="2843213" cy="2319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186195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CA" dirty="0"/>
              <a:t>The data ellipse summarizes means, spread &amp; correlation – a </a:t>
            </a:r>
            <a:r>
              <a:rPr lang="en-CA" b="1" dirty="0"/>
              <a:t>sufficient visual summary </a:t>
            </a:r>
            <a:r>
              <a:rPr lang="en-CA" dirty="0"/>
              <a:t>for </a:t>
            </a:r>
            <a:r>
              <a:rPr lang="en-CA" i="1" dirty="0"/>
              <a:t>N</a:t>
            </a:r>
            <a:r>
              <a:rPr lang="en-CA" dirty="0"/>
              <a:t>(µ, </a:t>
            </a:r>
            <a:r>
              <a:rPr lang="el-GR" dirty="0">
                <a:latin typeface="Cambria Math" panose="02040503050406030204" pitchFamily="18" charset="0"/>
                <a:ea typeface="Cambria Math" panose="02040503050406030204" pitchFamily="18" charset="0"/>
              </a:rPr>
              <a:t>Σ</a:t>
            </a:r>
            <a:r>
              <a:rPr lang="en-CA" dirty="0">
                <a:latin typeface="Cambria Math" panose="02040503050406030204" pitchFamily="18" charset="0"/>
                <a:ea typeface="Cambria Math" panose="02040503050406030204" pitchFamily="18" charset="0"/>
              </a:rPr>
              <a:t>)</a:t>
            </a:r>
            <a:endParaRPr lang="en-US" dirty="0"/>
          </a:p>
        </p:txBody>
      </p:sp>
      <p:sp>
        <p:nvSpPr>
          <p:cNvPr id="3" name="Content Placeholder 2"/>
          <p:cNvSpPr>
            <a:spLocks noGrp="1"/>
          </p:cNvSpPr>
          <p:nvPr>
            <p:ph idx="1"/>
          </p:nvPr>
        </p:nvSpPr>
        <p:spPr>
          <a:xfrm>
            <a:off x="838200" y="1643063"/>
            <a:ext cx="10515600" cy="4533900"/>
          </a:xfrm>
        </p:spPr>
        <p:txBody>
          <a:bodyPr/>
          <a:lstStyle/>
          <a:p>
            <a:r>
              <a:rPr lang="en-US" dirty="0"/>
              <a:t>Ellipsoid boundary: </a:t>
            </a:r>
            <a:r>
              <a:rPr lang="en-US" dirty="0" err="1"/>
              <a:t>Mahalanobis</a:t>
            </a:r>
            <a:r>
              <a:rPr lang="en-US" dirty="0"/>
              <a:t>  D</a:t>
            </a:r>
            <a:r>
              <a:rPr lang="en-US" baseline="-25000" dirty="0"/>
              <a:t>M</a:t>
            </a:r>
            <a:r>
              <a:rPr lang="en-US" baseline="30000" dirty="0"/>
              <a:t>2</a:t>
            </a:r>
            <a:r>
              <a:rPr lang="en-US" dirty="0"/>
              <a:t> (</a:t>
            </a:r>
            <a:r>
              <a:rPr lang="en-US" dirty="0" err="1"/>
              <a:t>y</a:t>
            </a:r>
            <a:r>
              <a:rPr lang="en-US" baseline="-25000" dirty="0" err="1"/>
              <a:t>i</a:t>
            </a:r>
            <a:r>
              <a:rPr lang="en-US" dirty="0"/>
              <a:t>) ~ </a:t>
            </a:r>
            <a:r>
              <a:rPr lang="en-US" dirty="0">
                <a:sym typeface="Symbol"/>
              </a:rPr>
              <a:t></a:t>
            </a:r>
            <a:r>
              <a:rPr lang="en-US" baseline="-25000" dirty="0">
                <a:sym typeface="Symbol"/>
              </a:rPr>
              <a:t>p</a:t>
            </a:r>
            <a:r>
              <a:rPr lang="en-US" baseline="30000" dirty="0">
                <a:sym typeface="Symbol"/>
              </a:rPr>
              <a:t>2</a:t>
            </a:r>
            <a:endParaRPr lang="en-US" baseline="30000" dirty="0"/>
          </a:p>
          <a:p>
            <a:pPr lvl="1"/>
            <a:r>
              <a:rPr lang="en-US" i="1" dirty="0"/>
              <a:t>p</a:t>
            </a:r>
            <a:r>
              <a:rPr lang="en-US" dirty="0"/>
              <a:t>=2: shadows generalize </a:t>
            </a:r>
            <a:r>
              <a:rPr lang="en-US" dirty="0" err="1"/>
              <a:t>univariate</a:t>
            </a:r>
            <a:r>
              <a:rPr lang="en-US" dirty="0"/>
              <a:t> </a:t>
            </a:r>
            <a:r>
              <a:rPr lang="en-US" dirty="0">
                <a:solidFill>
                  <a:srgbClr val="FF0000"/>
                </a:solidFill>
              </a:rPr>
              <a:t>confidence intervals</a:t>
            </a:r>
          </a:p>
          <a:p>
            <a:pPr lvl="1"/>
            <a:r>
              <a:rPr lang="en-US" dirty="0"/>
              <a:t>eccentricity: precision; </a:t>
            </a:r>
            <a:r>
              <a:rPr lang="en-US" dirty="0">
                <a:solidFill>
                  <a:srgbClr val="FF0000"/>
                </a:solidFill>
              </a:rPr>
              <a:t>visual estimate </a:t>
            </a:r>
            <a:r>
              <a:rPr lang="en-US" dirty="0"/>
              <a:t>of correlation</a:t>
            </a:r>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60201" y="2819400"/>
            <a:ext cx="6442667" cy="3669334"/>
          </a:xfrm>
          <a:prstGeom prst="rect">
            <a:avLst/>
          </a:prstGeom>
        </p:spPr>
      </p:pic>
      <p:sp>
        <p:nvSpPr>
          <p:cNvPr id="6" name="TextBox 5"/>
          <p:cNvSpPr txBox="1"/>
          <p:nvPr/>
        </p:nvSpPr>
        <p:spPr>
          <a:xfrm>
            <a:off x="10638696" y="3996098"/>
            <a:ext cx="1143000" cy="307777"/>
          </a:xfrm>
          <a:prstGeom prst="rect">
            <a:avLst/>
          </a:prstGeom>
          <a:noFill/>
        </p:spPr>
        <p:txBody>
          <a:bodyPr wrap="square" rtlCol="0">
            <a:spAutoFit/>
          </a:bodyPr>
          <a:lstStyle/>
          <a:p>
            <a:r>
              <a:rPr lang="en-US" sz="1400" dirty="0"/>
              <a:t>r </a:t>
            </a:r>
            <a:r>
              <a:rPr lang="en-US" sz="1400" dirty="0">
                <a:sym typeface="Symbol"/>
              </a:rPr>
              <a:t> 0.5 here</a:t>
            </a:r>
            <a:endParaRPr lang="en-US" sz="1400" dirty="0"/>
          </a:p>
        </p:txBody>
      </p:sp>
      <p:sp>
        <p:nvSpPr>
          <p:cNvPr id="7" name="Right Brace 6"/>
          <p:cNvSpPr/>
          <p:nvPr/>
        </p:nvSpPr>
        <p:spPr>
          <a:xfrm>
            <a:off x="10287000" y="3902336"/>
            <a:ext cx="274320" cy="495300"/>
          </a:xfrm>
          <a:prstGeom prst="rightBrace">
            <a:avLst>
              <a:gd name="adj1" fmla="val 65000"/>
              <a:gd name="adj2" fmla="val 50000"/>
            </a:avLst>
          </a:prstGeom>
          <a:ln w="31750">
            <a:solidFill>
              <a:srgbClr val="FF0000"/>
            </a:solidFill>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9955109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par>
                          <p:cTn id="9" fill="hold">
                            <p:stCondLst>
                              <p:cond delay="0"/>
                            </p:stCondLst>
                            <p:childTnLst>
                              <p:par>
                                <p:cTn id="10" presetID="2" presetClass="entr" presetSubtype="2" fill="hold" grpId="0" nodeType="afterEffect">
                                  <p:stCondLst>
                                    <p:cond delay="1000"/>
                                  </p:stCondLst>
                                  <p:childTnLst>
                                    <p:set>
                                      <p:cBhvr>
                                        <p:cTn id="11" dur="1" fill="hold">
                                          <p:stCondLst>
                                            <p:cond delay="0"/>
                                          </p:stCondLst>
                                        </p:cTn>
                                        <p:tgtEl>
                                          <p:spTgt spid="6"/>
                                        </p:tgtEl>
                                        <p:attrNameLst>
                                          <p:attrName>style.visibility</p:attrName>
                                        </p:attrNameLst>
                                      </p:cBhvr>
                                      <p:to>
                                        <p:strVal val="visible"/>
                                      </p:to>
                                    </p:set>
                                    <p:anim calcmode="lin" valueType="num">
                                      <p:cBhvr additive="base">
                                        <p:cTn id="12" dur="500" fill="hold"/>
                                        <p:tgtEl>
                                          <p:spTgt spid="6"/>
                                        </p:tgtEl>
                                        <p:attrNameLst>
                                          <p:attrName>ppt_x</p:attrName>
                                        </p:attrNameLst>
                                      </p:cBhvr>
                                      <p:tavLst>
                                        <p:tav tm="0">
                                          <p:val>
                                            <p:strVal val="1+#ppt_w/2"/>
                                          </p:val>
                                        </p:tav>
                                        <p:tav tm="100000">
                                          <p:val>
                                            <p:strVal val="#ppt_x"/>
                                          </p:val>
                                        </p:tav>
                                      </p:tavLst>
                                    </p:anim>
                                    <p:anim calcmode="lin" valueType="num">
                                      <p:cBhvr additive="base">
                                        <p:cTn id="13"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Meet the penguins</a:t>
            </a:r>
          </a:p>
        </p:txBody>
      </p:sp>
      <p:pic>
        <p:nvPicPr>
          <p:cNvPr id="3" name="Picture 2" descr="penguins-horst.png"/>
          <p:cNvPicPr>
            <a:picLocks noChangeAspect="1"/>
          </p:cNvPicPr>
          <p:nvPr/>
        </p:nvPicPr>
        <p:blipFill>
          <a:blip r:embed="rId3"/>
          <a:stretch>
            <a:fillRect/>
          </a:stretch>
        </p:blipFill>
        <p:spPr>
          <a:xfrm>
            <a:off x="841248" y="2129942"/>
            <a:ext cx="5120640" cy="3055315"/>
          </a:xfrm>
          <a:prstGeom prst="rect">
            <a:avLst/>
          </a:prstGeom>
        </p:spPr>
      </p:pic>
      <p:pic>
        <p:nvPicPr>
          <p:cNvPr id="4" name="Picture 3" descr="fig-peng-ggplot1-1.png"/>
          <p:cNvPicPr>
            <a:picLocks noChangeAspect="1"/>
          </p:cNvPicPr>
          <p:nvPr/>
        </p:nvPicPr>
        <p:blipFill>
          <a:blip r:embed="rId4"/>
          <a:stretch>
            <a:fillRect/>
          </a:stretch>
        </p:blipFill>
        <p:spPr>
          <a:xfrm>
            <a:off x="6236208" y="1828800"/>
            <a:ext cx="5120640" cy="3657600"/>
          </a:xfrm>
          <a:prstGeom prst="rect">
            <a:avLst/>
          </a:prstGeom>
        </p:spPr>
      </p:pic>
      <p:sp>
        <p:nvSpPr>
          <p:cNvPr id="5" name="TextBox 4"/>
          <p:cNvSpPr txBox="1"/>
          <p:nvPr/>
        </p:nvSpPr>
        <p:spPr>
          <a:xfrm>
            <a:off x="841248" y="5669280"/>
            <a:ext cx="10515600" cy="548640"/>
          </a:xfrm>
          <a:prstGeom prst="rect">
            <a:avLst/>
          </a:prstGeom>
          <a:noFill/>
        </p:spPr>
        <p:txBody>
          <a:bodyPr wrap="square">
            <a:spAutoFit/>
          </a:bodyPr>
          <a:lstStyle/>
          <a:p>
            <a:r>
              <a:rPr sz="1800"/>
              <a:t>Three species, four size measures: bill length, bill depth, flipper length, body mass. Artwork: Allison Horst.</a:t>
            </a:r>
          </a:p>
        </p:txBody>
      </p:sp>
      <p:sp>
        <p:nvSpPr>
          <p:cNvPr id="6" name="TextBox 5"/>
          <p:cNvSpPr txBox="1"/>
          <p:nvPr/>
        </p:nvSpPr>
        <p:spPr>
          <a:xfrm>
            <a:off x="841248" y="6355080"/>
            <a:ext cx="2743200" cy="320040"/>
          </a:xfrm>
          <a:prstGeom prst="rect">
            <a:avLst/>
          </a:prstGeom>
          <a:noFill/>
        </p:spPr>
        <p:txBody>
          <a:bodyPr wrap="square">
            <a:spAutoFit/>
          </a:bodyPr>
          <a:lstStyle/>
          <a:p>
            <a:r>
              <a:rPr sz="1100">
                <a:solidFill>
                  <a:srgbClr val="707070"/>
                </a:solidFill>
              </a:rPr>
              <a:t>Figure 4.17, 4.19</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1C9A55-FDC9-9AB1-4F6B-B5079890DBD7}"/>
              </a:ext>
            </a:extLst>
          </p:cNvPr>
          <p:cNvSpPr>
            <a:spLocks noGrp="1"/>
          </p:cNvSpPr>
          <p:nvPr>
            <p:ph type="title"/>
          </p:nvPr>
        </p:nvSpPr>
        <p:spPr/>
        <p:txBody>
          <a:bodyPr>
            <a:normAutofit/>
          </a:bodyPr>
          <a:lstStyle/>
          <a:p>
            <a:r>
              <a:rPr lang="en-CA" dirty="0"/>
              <a:t>Data ellipses: Sufficient visual summary</a:t>
            </a:r>
          </a:p>
        </p:txBody>
      </p:sp>
      <p:sp>
        <p:nvSpPr>
          <p:cNvPr id="4" name="Slide Number Placeholder 3">
            <a:extLst>
              <a:ext uri="{FF2B5EF4-FFF2-40B4-BE49-F238E27FC236}">
                <a16:creationId xmlns:a16="http://schemas.microsoft.com/office/drawing/2014/main" id="{A4F088BC-69F5-43CB-028C-42D0CE3E5A71}"/>
              </a:ext>
            </a:extLst>
          </p:cNvPr>
          <p:cNvSpPr>
            <a:spLocks noGrp="1"/>
          </p:cNvSpPr>
          <p:nvPr>
            <p:ph type="sldNum" sz="quarter" idx="12"/>
          </p:nvPr>
        </p:nvSpPr>
        <p:spPr>
          <a:xfrm>
            <a:off x="8001000" y="6356351"/>
            <a:ext cx="2133600" cy="365125"/>
          </a:xfrm>
        </p:spPr>
        <p:txBody>
          <a:bodyPr/>
          <a:lstStyle/>
          <a:p>
            <a:fld id="{621225AB-15B9-4C79-A121-04D1DC7E2307}" type="slidenum">
              <a:rPr lang="en-US" smtClean="0"/>
              <a:t>17</a:t>
            </a:fld>
            <a:endParaRPr lang="en-US"/>
          </a:p>
        </p:txBody>
      </p:sp>
      <p:sp>
        <p:nvSpPr>
          <p:cNvPr id="11" name="TextBox 10">
            <a:extLst>
              <a:ext uri="{FF2B5EF4-FFF2-40B4-BE49-F238E27FC236}">
                <a16:creationId xmlns:a16="http://schemas.microsoft.com/office/drawing/2014/main" id="{F262F993-85E8-DA3F-AF57-8F6D5C5FB71C}"/>
              </a:ext>
            </a:extLst>
          </p:cNvPr>
          <p:cNvSpPr txBox="1"/>
          <p:nvPr/>
        </p:nvSpPr>
        <p:spPr>
          <a:xfrm>
            <a:off x="854840" y="1264185"/>
            <a:ext cx="8212960" cy="1754326"/>
          </a:xfrm>
          <a:prstGeom prst="rect">
            <a:avLst/>
          </a:prstGeom>
          <a:noFill/>
        </p:spPr>
        <p:txBody>
          <a:bodyPr wrap="square" rtlCol="0">
            <a:spAutoFit/>
          </a:bodyPr>
          <a:lstStyle/>
          <a:p>
            <a:r>
              <a:rPr lang="en-CA" dirty="0"/>
              <a:t>Palmer penguins data: Measures of bill length &amp; depth, body mass, flipper length for 3 species</a:t>
            </a:r>
          </a:p>
          <a:p>
            <a:pPr marL="285750" indent="-285750">
              <a:buFont typeface="Arial" panose="020B0604020202020204" pitchFamily="34" charset="0"/>
              <a:buChar char="•"/>
            </a:pPr>
            <a:r>
              <a:rPr lang="en-CA" dirty="0"/>
              <a:t>Add data ellipses to show w/in group means &amp; scatter</a:t>
            </a:r>
          </a:p>
          <a:p>
            <a:pPr marL="285750" indent="-285750">
              <a:buFont typeface="Arial" panose="020B0604020202020204" pitchFamily="34" charset="0"/>
              <a:buChar char="•"/>
            </a:pPr>
            <a:r>
              <a:rPr lang="en-CA" dirty="0"/>
              <a:t>Remove the points to show the overall patterns: means, shape, corr., precision</a:t>
            </a:r>
          </a:p>
          <a:p>
            <a:pPr marL="285750" indent="-285750">
              <a:buFont typeface="Arial" panose="020B0604020202020204" pitchFamily="34" charset="0"/>
              <a:buChar char="•"/>
            </a:pPr>
            <a:r>
              <a:rPr lang="en-CA" dirty="0"/>
              <a:t>What remains is all that linear models care about (ellipses can be made robust!)</a:t>
            </a:r>
          </a:p>
        </p:txBody>
      </p:sp>
      <p:grpSp>
        <p:nvGrpSpPr>
          <p:cNvPr id="3" name="Group 2">
            <a:extLst>
              <a:ext uri="{FF2B5EF4-FFF2-40B4-BE49-F238E27FC236}">
                <a16:creationId xmlns:a16="http://schemas.microsoft.com/office/drawing/2014/main" id="{41E8FD65-CEE9-7835-E19B-452A0BFF3F5E}"/>
              </a:ext>
            </a:extLst>
          </p:cNvPr>
          <p:cNvGrpSpPr/>
          <p:nvPr/>
        </p:nvGrpSpPr>
        <p:grpSpPr>
          <a:xfrm>
            <a:off x="2057400" y="3262406"/>
            <a:ext cx="2599710" cy="2985995"/>
            <a:chOff x="533400" y="2667000"/>
            <a:chExt cx="2599710" cy="2985995"/>
          </a:xfrm>
        </p:grpSpPr>
        <p:pic>
          <p:nvPicPr>
            <p:cNvPr id="6" name="Picture 5" descr="A diagram of different species&#10;&#10;Description automatically generated with medium confidence">
              <a:extLst>
                <a:ext uri="{FF2B5EF4-FFF2-40B4-BE49-F238E27FC236}">
                  <a16:creationId xmlns:a16="http://schemas.microsoft.com/office/drawing/2014/main" id="{C96AB326-5E7A-3AE2-EEB8-D258C5BC2B4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3400" y="2880995"/>
              <a:ext cx="2599710" cy="2772000"/>
            </a:xfrm>
            <a:prstGeom prst="rect">
              <a:avLst/>
            </a:prstGeom>
          </p:spPr>
        </p:pic>
        <p:sp>
          <p:nvSpPr>
            <p:cNvPr id="12" name="TextBox 11">
              <a:extLst>
                <a:ext uri="{FF2B5EF4-FFF2-40B4-BE49-F238E27FC236}">
                  <a16:creationId xmlns:a16="http://schemas.microsoft.com/office/drawing/2014/main" id="{B821E6C9-613E-6243-8896-1831A6B770B8}"/>
                </a:ext>
              </a:extLst>
            </p:cNvPr>
            <p:cNvSpPr txBox="1"/>
            <p:nvPr/>
          </p:nvSpPr>
          <p:spPr>
            <a:xfrm>
              <a:off x="914400" y="2667000"/>
              <a:ext cx="2057400" cy="338554"/>
            </a:xfrm>
            <a:prstGeom prst="rect">
              <a:avLst/>
            </a:prstGeom>
            <a:noFill/>
          </p:spPr>
          <p:txBody>
            <a:bodyPr wrap="square" rtlCol="0">
              <a:spAutoFit/>
            </a:bodyPr>
            <a:lstStyle/>
            <a:p>
              <a:r>
                <a:rPr lang="en-CA" sz="1600" dirty="0"/>
                <a:t>Standard scatterplot</a:t>
              </a:r>
            </a:p>
          </p:txBody>
        </p:sp>
      </p:grpSp>
      <p:grpSp>
        <p:nvGrpSpPr>
          <p:cNvPr id="5" name="Group 4">
            <a:extLst>
              <a:ext uri="{FF2B5EF4-FFF2-40B4-BE49-F238E27FC236}">
                <a16:creationId xmlns:a16="http://schemas.microsoft.com/office/drawing/2014/main" id="{AAEEE1DC-761F-3128-02B3-C5765465B0AF}"/>
              </a:ext>
            </a:extLst>
          </p:cNvPr>
          <p:cNvGrpSpPr/>
          <p:nvPr/>
        </p:nvGrpSpPr>
        <p:grpSpPr>
          <a:xfrm>
            <a:off x="4825923" y="3262406"/>
            <a:ext cx="2599713" cy="2985995"/>
            <a:chOff x="3301922" y="2667000"/>
            <a:chExt cx="2599713" cy="2985995"/>
          </a:xfrm>
        </p:grpSpPr>
        <p:pic>
          <p:nvPicPr>
            <p:cNvPr id="8" name="Picture 7" descr="A diagram of different colored circles&#10;&#10;Description automatically generated">
              <a:extLst>
                <a:ext uri="{FF2B5EF4-FFF2-40B4-BE49-F238E27FC236}">
                  <a16:creationId xmlns:a16="http://schemas.microsoft.com/office/drawing/2014/main" id="{638FAB1A-695F-034A-B921-8090B9240B8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301922" y="2880995"/>
              <a:ext cx="2599713" cy="2772000"/>
            </a:xfrm>
            <a:prstGeom prst="rect">
              <a:avLst/>
            </a:prstGeom>
          </p:spPr>
        </p:pic>
        <p:sp>
          <p:nvSpPr>
            <p:cNvPr id="13" name="TextBox 12">
              <a:extLst>
                <a:ext uri="{FF2B5EF4-FFF2-40B4-BE49-F238E27FC236}">
                  <a16:creationId xmlns:a16="http://schemas.microsoft.com/office/drawing/2014/main" id="{EF69B037-1D0F-358B-0951-E8D83C58972D}"/>
                </a:ext>
              </a:extLst>
            </p:cNvPr>
            <p:cNvSpPr txBox="1"/>
            <p:nvPr/>
          </p:nvSpPr>
          <p:spPr>
            <a:xfrm>
              <a:off x="3733800" y="2667000"/>
              <a:ext cx="2057400" cy="338554"/>
            </a:xfrm>
            <a:prstGeom prst="rect">
              <a:avLst/>
            </a:prstGeom>
            <a:noFill/>
          </p:spPr>
          <p:txBody>
            <a:bodyPr wrap="square" rtlCol="0">
              <a:spAutoFit/>
            </a:bodyPr>
            <a:lstStyle/>
            <a:p>
              <a:r>
                <a:rPr lang="en-CA" sz="1600" dirty="0"/>
                <a:t>Add data ellipses</a:t>
              </a:r>
            </a:p>
          </p:txBody>
        </p:sp>
      </p:grpSp>
      <p:grpSp>
        <p:nvGrpSpPr>
          <p:cNvPr id="7" name="Group 6">
            <a:extLst>
              <a:ext uri="{FF2B5EF4-FFF2-40B4-BE49-F238E27FC236}">
                <a16:creationId xmlns:a16="http://schemas.microsoft.com/office/drawing/2014/main" id="{BF5B620F-C3FA-F6B3-F441-F8DE91F20E8E}"/>
              </a:ext>
            </a:extLst>
          </p:cNvPr>
          <p:cNvGrpSpPr/>
          <p:nvPr/>
        </p:nvGrpSpPr>
        <p:grpSpPr>
          <a:xfrm>
            <a:off x="7594448" y="3262406"/>
            <a:ext cx="2599713" cy="2985995"/>
            <a:chOff x="6070447" y="2667000"/>
            <a:chExt cx="2599713" cy="2985995"/>
          </a:xfrm>
        </p:grpSpPr>
        <p:pic>
          <p:nvPicPr>
            <p:cNvPr id="10" name="Picture 9" descr="A graph of different colored circles&#10;&#10;Description automatically generated">
              <a:extLst>
                <a:ext uri="{FF2B5EF4-FFF2-40B4-BE49-F238E27FC236}">
                  <a16:creationId xmlns:a16="http://schemas.microsoft.com/office/drawing/2014/main" id="{3E5CC049-3D6F-1FD6-F533-6E17226CA13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070447" y="2880995"/>
              <a:ext cx="2599713" cy="2772000"/>
            </a:xfrm>
            <a:prstGeom prst="rect">
              <a:avLst/>
            </a:prstGeom>
          </p:spPr>
        </p:pic>
        <p:sp>
          <p:nvSpPr>
            <p:cNvPr id="14" name="TextBox 13">
              <a:extLst>
                <a:ext uri="{FF2B5EF4-FFF2-40B4-BE49-F238E27FC236}">
                  <a16:creationId xmlns:a16="http://schemas.microsoft.com/office/drawing/2014/main" id="{7ED490C7-517C-74BC-4FE5-137D1F681835}"/>
                </a:ext>
              </a:extLst>
            </p:cNvPr>
            <p:cNvSpPr txBox="1"/>
            <p:nvPr/>
          </p:nvSpPr>
          <p:spPr>
            <a:xfrm>
              <a:off x="6476414" y="2667000"/>
              <a:ext cx="2057400" cy="338554"/>
            </a:xfrm>
            <a:prstGeom prst="rect">
              <a:avLst/>
            </a:prstGeom>
            <a:noFill/>
          </p:spPr>
          <p:txBody>
            <a:bodyPr wrap="square" rtlCol="0">
              <a:spAutoFit/>
            </a:bodyPr>
            <a:lstStyle/>
            <a:p>
              <a:r>
                <a:rPr lang="en-CA" sz="1600" dirty="0"/>
                <a:t>Remove points</a:t>
              </a:r>
            </a:p>
          </p:txBody>
        </p:sp>
      </p:grpSp>
    </p:spTree>
    <p:extLst>
      <p:ext uri="{BB962C8B-B14F-4D97-AF65-F5344CB8AC3E}">
        <p14:creationId xmlns:p14="http://schemas.microsoft.com/office/powerpoint/2010/main" val="40034219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1" end="1"/>
                                            </p:txEl>
                                          </p:spTgt>
                                        </p:tgtEl>
                                        <p:attrNameLst>
                                          <p:attrName>style.visibility</p:attrName>
                                        </p:attrNameLst>
                                      </p:cBhvr>
                                      <p:to>
                                        <p:strVal val="visible"/>
                                      </p:to>
                                    </p:set>
                                  </p:childTnLst>
                                </p:cTn>
                              </p:par>
                              <p:par>
                                <p:cTn id="7" presetID="42"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animEffect transition="in" filter="fade">
                                      <p:cBhvr>
                                        <p:cTn id="9" dur="1000"/>
                                        <p:tgtEl>
                                          <p:spTgt spid="5"/>
                                        </p:tgtEl>
                                      </p:cBhvr>
                                    </p:animEffect>
                                    <p:anim calcmode="lin" valueType="num">
                                      <p:cBhvr>
                                        <p:cTn id="10" dur="1000" fill="hold"/>
                                        <p:tgtEl>
                                          <p:spTgt spid="5"/>
                                        </p:tgtEl>
                                        <p:attrNameLst>
                                          <p:attrName>ppt_x</p:attrName>
                                        </p:attrNameLst>
                                      </p:cBhvr>
                                      <p:tavLst>
                                        <p:tav tm="0">
                                          <p:val>
                                            <p:strVal val="#ppt_x"/>
                                          </p:val>
                                        </p:tav>
                                        <p:tav tm="100000">
                                          <p:val>
                                            <p:strVal val="#ppt_x"/>
                                          </p:val>
                                        </p:tav>
                                      </p:tavLst>
                                    </p:anim>
                                    <p:anim calcmode="lin" valueType="num">
                                      <p:cBhvr>
                                        <p:cTn id="11"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11">
                                            <p:txEl>
                                              <p:pRg st="2" end="2"/>
                                            </p:txEl>
                                          </p:spTgt>
                                        </p:tgtEl>
                                        <p:attrNameLst>
                                          <p:attrName>style.visibility</p:attrName>
                                        </p:attrNameLst>
                                      </p:cBhvr>
                                      <p:to>
                                        <p:strVal val="visible"/>
                                      </p:to>
                                    </p:set>
                                  </p:childTnLst>
                                </p:cTn>
                              </p:par>
                              <p:par>
                                <p:cTn id="16" presetID="1" presetClass="entr" presetSubtype="0" fill="hold" nodeType="withEffect">
                                  <p:stCondLst>
                                    <p:cond delay="0"/>
                                  </p:stCondLst>
                                  <p:childTnLst>
                                    <p:set>
                                      <p:cBhvr>
                                        <p:cTn id="17" dur="1" fill="hold">
                                          <p:stCondLst>
                                            <p:cond delay="0"/>
                                          </p:stCondLst>
                                        </p:cTn>
                                        <p:tgtEl>
                                          <p:spTgt spid="11">
                                            <p:txEl>
                                              <p:pRg st="3" end="3"/>
                                            </p:txEl>
                                          </p:spTgt>
                                        </p:tgtEl>
                                        <p:attrNameLst>
                                          <p:attrName>style.visibility</p:attrName>
                                        </p:attrNameLst>
                                      </p:cBhvr>
                                      <p:to>
                                        <p:strVal val="visible"/>
                                      </p:to>
                                    </p:set>
                                  </p:childTnLst>
                                </p:cTn>
                              </p:par>
                              <p:par>
                                <p:cTn id="18" presetID="42" presetClass="entr" presetSubtype="0" fill="hold" nodeType="with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1000"/>
                                        <p:tgtEl>
                                          <p:spTgt spid="7"/>
                                        </p:tgtEl>
                                      </p:cBhvr>
                                    </p:animEffect>
                                    <p:anim calcmode="lin" valueType="num">
                                      <p:cBhvr>
                                        <p:cTn id="21" dur="1000" fill="hold"/>
                                        <p:tgtEl>
                                          <p:spTgt spid="7"/>
                                        </p:tgtEl>
                                        <p:attrNameLst>
                                          <p:attrName>ppt_x</p:attrName>
                                        </p:attrNameLst>
                                      </p:cBhvr>
                                      <p:tavLst>
                                        <p:tav tm="0">
                                          <p:val>
                                            <p:strVal val="#ppt_x"/>
                                          </p:val>
                                        </p:tav>
                                        <p:tav tm="100000">
                                          <p:val>
                                            <p:strVal val="#ppt_x"/>
                                          </p:val>
                                        </p:tav>
                                      </p:tavLst>
                                    </p:anim>
                                    <p:anim calcmode="lin" valueType="num">
                                      <p:cBhvr>
                                        <p:cTn id="22"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Simpson's paradox: marginal </a:t>
            </a:r>
            <a:r>
              <a:rPr lang="en-CA" dirty="0"/>
              <a:t>&amp;</a:t>
            </a:r>
            <a:r>
              <a:rPr dirty="0"/>
              <a:t> conditional relations</a:t>
            </a:r>
          </a:p>
        </p:txBody>
      </p:sp>
      <p:pic>
        <p:nvPicPr>
          <p:cNvPr id="6" name="Ignoring species" descr="peng-simpsons-1-ignoring.png"/>
          <p:cNvPicPr>
            <a:picLocks noChangeAspect="1"/>
          </p:cNvPicPr>
          <p:nvPr/>
        </p:nvPicPr>
        <p:blipFill>
          <a:blip r:embed="rId3"/>
          <a:stretch>
            <a:fillRect/>
          </a:stretch>
        </p:blipFill>
        <p:spPr>
          <a:xfrm>
            <a:off x="841248" y="1639531"/>
            <a:ext cx="3505200" cy="3505199"/>
          </a:xfrm>
          <a:prstGeom prst="rect">
            <a:avLst/>
          </a:prstGeom>
        </p:spPr>
      </p:pic>
      <p:pic>
        <p:nvPicPr>
          <p:cNvPr id="7" name="By species" descr="peng-simpsons-2-by.png"/>
          <p:cNvPicPr>
            <a:picLocks noChangeAspect="1"/>
          </p:cNvPicPr>
          <p:nvPr/>
        </p:nvPicPr>
        <p:blipFill>
          <a:blip r:embed="rId4"/>
          <a:stretch>
            <a:fillRect/>
          </a:stretch>
        </p:blipFill>
        <p:spPr>
          <a:xfrm>
            <a:off x="4346448" y="1639531"/>
            <a:ext cx="3505200" cy="3505199"/>
          </a:xfrm>
          <a:prstGeom prst="rect">
            <a:avLst/>
          </a:prstGeom>
        </p:spPr>
      </p:pic>
      <p:pic>
        <p:nvPicPr>
          <p:cNvPr id="8" name="Within species" descr="peng-simpsons-3-within.png"/>
          <p:cNvPicPr>
            <a:picLocks noChangeAspect="1"/>
          </p:cNvPicPr>
          <p:nvPr/>
        </p:nvPicPr>
        <p:blipFill>
          <a:blip r:embed="rId5"/>
          <a:stretch>
            <a:fillRect/>
          </a:stretch>
        </p:blipFill>
        <p:spPr>
          <a:xfrm>
            <a:off x="7851648" y="1639531"/>
            <a:ext cx="3505200" cy="3505199"/>
          </a:xfrm>
          <a:prstGeom prst="rect">
            <a:avLst/>
          </a:prstGeom>
        </p:spPr>
      </p:pic>
      <p:sp>
        <p:nvSpPr>
          <p:cNvPr id="4" name="TextBox 3"/>
          <p:cNvSpPr txBox="1"/>
          <p:nvPr/>
        </p:nvSpPr>
        <p:spPr>
          <a:xfrm>
            <a:off x="1077222" y="5249690"/>
            <a:ext cx="3681591" cy="646331"/>
          </a:xfrm>
          <a:prstGeom prst="rect">
            <a:avLst/>
          </a:prstGeom>
          <a:noFill/>
        </p:spPr>
        <p:txBody>
          <a:bodyPr wrap="square">
            <a:spAutoFit/>
          </a:bodyPr>
          <a:lstStyle/>
          <a:p>
            <a:r>
              <a:rPr sz="1800" dirty="0"/>
              <a:t>Ignoring species, longer bills </a:t>
            </a:r>
            <a:r>
              <a:rPr lang="en-CA" dirty="0"/>
              <a:t>are</a:t>
            </a:r>
            <a:r>
              <a:rPr sz="1800" dirty="0"/>
              <a:t> shallower </a:t>
            </a:r>
            <a:endParaRPr lang="en-CA" sz="1800" dirty="0"/>
          </a:p>
        </p:txBody>
      </p:sp>
      <p:sp>
        <p:nvSpPr>
          <p:cNvPr id="5" name="TextBox 4"/>
          <p:cNvSpPr txBox="1"/>
          <p:nvPr/>
        </p:nvSpPr>
        <p:spPr>
          <a:xfrm>
            <a:off x="841248" y="6355080"/>
            <a:ext cx="2743200" cy="320040"/>
          </a:xfrm>
          <a:prstGeom prst="rect">
            <a:avLst/>
          </a:prstGeom>
          <a:noFill/>
        </p:spPr>
        <p:txBody>
          <a:bodyPr wrap="square">
            <a:spAutoFit/>
          </a:bodyPr>
          <a:lstStyle/>
          <a:p>
            <a:r>
              <a:rPr sz="1100">
                <a:solidFill>
                  <a:srgbClr val="707070"/>
                </a:solidFill>
              </a:rPr>
              <a:t>Figure 4.23</a:t>
            </a:r>
          </a:p>
        </p:txBody>
      </p:sp>
      <p:sp>
        <p:nvSpPr>
          <p:cNvPr id="3" name="TextBox 2">
            <a:extLst>
              <a:ext uri="{FF2B5EF4-FFF2-40B4-BE49-F238E27FC236}">
                <a16:creationId xmlns:a16="http://schemas.microsoft.com/office/drawing/2014/main" id="{88DD035A-BBF7-B55F-5790-B32F05AA7F39}"/>
              </a:ext>
            </a:extLst>
          </p:cNvPr>
          <p:cNvSpPr txBox="1"/>
          <p:nvPr/>
        </p:nvSpPr>
        <p:spPr>
          <a:xfrm>
            <a:off x="8318091" y="5249690"/>
            <a:ext cx="2920180" cy="646331"/>
          </a:xfrm>
          <a:prstGeom prst="rect">
            <a:avLst/>
          </a:prstGeom>
          <a:noFill/>
        </p:spPr>
        <p:txBody>
          <a:bodyPr wrap="square" rtlCol="0">
            <a:spAutoFit/>
          </a:bodyPr>
          <a:lstStyle/>
          <a:p>
            <a:r>
              <a:rPr lang="en-CA" dirty="0"/>
              <a:t>Within species shows diffs in slopes &amp; covariances</a:t>
            </a:r>
          </a:p>
        </p:txBody>
      </p:sp>
      <p:sp>
        <p:nvSpPr>
          <p:cNvPr id="9" name="TextBox 8">
            <a:extLst>
              <a:ext uri="{FF2B5EF4-FFF2-40B4-BE49-F238E27FC236}">
                <a16:creationId xmlns:a16="http://schemas.microsoft.com/office/drawing/2014/main" id="{84C0DE35-D87E-44B9-F0AB-884345159189}"/>
              </a:ext>
            </a:extLst>
          </p:cNvPr>
          <p:cNvSpPr txBox="1"/>
          <p:nvPr/>
        </p:nvSpPr>
        <p:spPr>
          <a:xfrm>
            <a:off x="4886629" y="5249690"/>
            <a:ext cx="3092835" cy="646331"/>
          </a:xfrm>
          <a:prstGeom prst="rect">
            <a:avLst/>
          </a:prstGeom>
          <a:noFill/>
        </p:spPr>
        <p:txBody>
          <a:bodyPr wrap="square" rtlCol="0">
            <a:spAutoFit/>
          </a:bodyPr>
          <a:lstStyle/>
          <a:p>
            <a:r>
              <a:rPr lang="en-CA" dirty="0"/>
              <a:t>By species, relation is positive for each</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2" presetClass="entr" presetSubtype="4" fill="hold" nodeType="withEffect">
                                  <p:stCondLst>
                                    <p:cond delay="0"/>
                                  </p:stCondLst>
                                  <p:childTnLst>
                                    <p:set>
                                      <p:cBhvr>
                                        <p:cTn id="8" dur="1" fill="hold">
                                          <p:stCondLst>
                                            <p:cond delay="0"/>
                                          </p:stCondLst>
                                        </p:cTn>
                                        <p:tgtEl>
                                          <p:spTgt spid="4">
                                            <p:txEl>
                                              <p:pRg st="0" end="0"/>
                                            </p:txEl>
                                          </p:spTgt>
                                        </p:tgtEl>
                                        <p:attrNameLst>
                                          <p:attrName>style.visibility</p:attrName>
                                        </p:attrNameLst>
                                      </p:cBhvr>
                                      <p:to>
                                        <p:strVal val="visible"/>
                                      </p:to>
                                    </p:set>
                                    <p:anim calcmode="lin" valueType="num">
                                      <p:cBhvr additive="base">
                                        <p:cTn id="9"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10"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2" presetClass="entr" presetSubtype="4"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anim calcmode="lin" valueType="num">
                                      <p:cBhvr additive="base">
                                        <p:cTn id="17" dur="500" fill="hold"/>
                                        <p:tgtEl>
                                          <p:spTgt spid="9"/>
                                        </p:tgtEl>
                                        <p:attrNameLst>
                                          <p:attrName>ppt_x</p:attrName>
                                        </p:attrNameLst>
                                      </p:cBhvr>
                                      <p:tavLst>
                                        <p:tav tm="0">
                                          <p:val>
                                            <p:strVal val="#ppt_x"/>
                                          </p:val>
                                        </p:tav>
                                        <p:tav tm="100000">
                                          <p:val>
                                            <p:strVal val="#ppt_x"/>
                                          </p:val>
                                        </p:tav>
                                      </p:tavLst>
                                    </p:anim>
                                    <p:anim calcmode="lin" valueType="num">
                                      <p:cBhvr additive="base">
                                        <p:cTn id="1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par>
                                <p:cTn id="23" presetID="2" presetClass="entr" presetSubtype="4" fill="hold" grpId="0" nodeType="withEffect">
                                  <p:stCondLst>
                                    <p:cond delay="0"/>
                                  </p:stCondLst>
                                  <p:childTnLst>
                                    <p:set>
                                      <p:cBhvr>
                                        <p:cTn id="24" dur="1" fill="hold">
                                          <p:stCondLst>
                                            <p:cond delay="0"/>
                                          </p:stCondLst>
                                        </p:cTn>
                                        <p:tgtEl>
                                          <p:spTgt spid="3"/>
                                        </p:tgtEl>
                                        <p:attrNameLst>
                                          <p:attrName>style.visibility</p:attrName>
                                        </p:attrNameLst>
                                      </p:cBhvr>
                                      <p:to>
                                        <p:strVal val="visible"/>
                                      </p:to>
                                    </p:set>
                                    <p:anim calcmode="lin" valueType="num">
                                      <p:cBhvr additive="base">
                                        <p:cTn id="25" dur="500" fill="hold"/>
                                        <p:tgtEl>
                                          <p:spTgt spid="3"/>
                                        </p:tgtEl>
                                        <p:attrNameLst>
                                          <p:attrName>ppt_x</p:attrName>
                                        </p:attrNameLst>
                                      </p:cBhvr>
                                      <p:tavLst>
                                        <p:tav tm="0">
                                          <p:val>
                                            <p:strVal val="#ppt_x"/>
                                          </p:val>
                                        </p:tav>
                                        <p:tav tm="100000">
                                          <p:val>
                                            <p:strVal val="#ppt_x"/>
                                          </p:val>
                                        </p:tav>
                                      </p:tavLst>
                                    </p:anim>
                                    <p:anim calcmode="lin" valueType="num">
                                      <p:cBhvr additive="base">
                                        <p:cTn id="26"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9"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How to visualize </a:t>
            </a:r>
            <a:r>
              <a:rPr lang="en-CA" i="1" dirty="0"/>
              <a:t>p</a:t>
            </a:r>
            <a:r>
              <a:rPr lang="en-CA" dirty="0"/>
              <a:t> &gt; 2 variables in Flatland?</a:t>
            </a:r>
            <a:br>
              <a:rPr lang="en-CA" dirty="0"/>
            </a:br>
            <a:r>
              <a:rPr sz="2800" dirty="0"/>
              <a:t>Scatterplot matrices: all pairs at once</a:t>
            </a:r>
          </a:p>
        </p:txBody>
      </p:sp>
      <p:sp>
        <p:nvSpPr>
          <p:cNvPr id="3" name="Content Placeholder 2"/>
          <p:cNvSpPr>
            <a:spLocks noGrp="1"/>
          </p:cNvSpPr>
          <p:nvPr>
            <p:ph sz="half" idx="1"/>
          </p:nvPr>
        </p:nvSpPr>
        <p:spPr>
          <a:xfrm>
            <a:off x="838200" y="1643063"/>
            <a:ext cx="4304071" cy="4533900"/>
          </a:xfrm>
        </p:spPr>
        <p:txBody>
          <a:bodyPr/>
          <a:lstStyle/>
          <a:p>
            <a:r>
              <a:rPr dirty="0"/>
              <a:t>Every pairwise view in one display</a:t>
            </a:r>
          </a:p>
          <a:p>
            <a:r>
              <a:rPr dirty="0"/>
              <a:t>Data ellipses </a:t>
            </a:r>
            <a:r>
              <a:rPr lang="en-CA" dirty="0"/>
              <a:t>&amp;</a:t>
            </a:r>
            <a:r>
              <a:rPr dirty="0"/>
              <a:t> regression lines by species</a:t>
            </a:r>
          </a:p>
          <a:p>
            <a:r>
              <a:rPr dirty="0"/>
              <a:t>Works well up to a moderate number of variables</a:t>
            </a:r>
            <a:endParaRPr lang="en-CA" dirty="0"/>
          </a:p>
          <a:p>
            <a:r>
              <a:rPr lang="en-CA" b="1" dirty="0"/>
              <a:t>Visual thinning</a:t>
            </a:r>
            <a:r>
              <a:rPr lang="en-CA" dirty="0"/>
              <a:t>: data </a:t>
            </a:r>
            <a:r>
              <a:rPr lang="en-CA" dirty="0">
                <a:sym typeface="Symbol" panose="05050102010706020507" pitchFamily="18" charset="2"/>
              </a:rPr>
              <a:t></a:t>
            </a:r>
            <a:r>
              <a:rPr lang="en-CA" dirty="0"/>
              <a:t> ellipses + regression lines</a:t>
            </a:r>
            <a:endParaRPr dirty="0"/>
          </a:p>
        </p:txBody>
      </p:sp>
      <p:pic>
        <p:nvPicPr>
          <p:cNvPr id="4" name="Picture 3" descr="fig-peng-spm-1.png"/>
          <p:cNvPicPr>
            <a:picLocks noChangeAspect="1"/>
          </p:cNvPicPr>
          <p:nvPr/>
        </p:nvPicPr>
        <p:blipFill>
          <a:blip r:embed="rId3"/>
          <a:stretch>
            <a:fillRect/>
          </a:stretch>
        </p:blipFill>
        <p:spPr>
          <a:xfrm>
            <a:off x="5864353" y="1508125"/>
            <a:ext cx="5088194" cy="5088194"/>
          </a:xfrm>
          <a:prstGeom prst="rect">
            <a:avLst/>
          </a:prstGeom>
        </p:spPr>
      </p:pic>
      <p:sp>
        <p:nvSpPr>
          <p:cNvPr id="5" name="TextBox 4"/>
          <p:cNvSpPr txBox="1"/>
          <p:nvPr/>
        </p:nvSpPr>
        <p:spPr>
          <a:xfrm>
            <a:off x="841248" y="6355080"/>
            <a:ext cx="2743200" cy="320040"/>
          </a:xfrm>
          <a:prstGeom prst="rect">
            <a:avLst/>
          </a:prstGeom>
          <a:noFill/>
        </p:spPr>
        <p:txBody>
          <a:bodyPr wrap="square">
            <a:spAutoFit/>
          </a:bodyPr>
          <a:lstStyle/>
          <a:p>
            <a:r>
              <a:rPr sz="1100">
                <a:solidFill>
                  <a:srgbClr val="707070"/>
                </a:solidFill>
              </a:rPr>
              <a:t>Figure 4.31</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b="1" dirty="0"/>
              <a:t>Visual thinning</a:t>
            </a:r>
            <a:r>
              <a:rPr dirty="0"/>
              <a:t>: show less to see more</a:t>
            </a:r>
            <a:br>
              <a:rPr lang="en-CA" dirty="0"/>
            </a:br>
            <a:r>
              <a:rPr lang="en-CA" b="1" dirty="0"/>
              <a:t>Effect order</a:t>
            </a:r>
            <a:r>
              <a:rPr lang="en-CA" dirty="0"/>
              <a:t>: order variables to see what you want to show </a:t>
            </a:r>
            <a:endParaRPr dirty="0"/>
          </a:p>
        </p:txBody>
      </p:sp>
      <p:sp>
        <p:nvSpPr>
          <p:cNvPr id="3" name="Content Placeholder 2"/>
          <p:cNvSpPr>
            <a:spLocks noGrp="1"/>
          </p:cNvSpPr>
          <p:nvPr>
            <p:ph sz="half" idx="1"/>
          </p:nvPr>
        </p:nvSpPr>
        <p:spPr>
          <a:xfrm>
            <a:off x="838200" y="2046185"/>
            <a:ext cx="5181600" cy="3194408"/>
          </a:xfrm>
        </p:spPr>
        <p:txBody>
          <a:bodyPr/>
          <a:lstStyle/>
          <a:p>
            <a:r>
              <a:rPr lang="en-CA" dirty="0" err="1">
                <a:latin typeface="Courier New" panose="02070309020205020404" pitchFamily="49" charset="0"/>
                <a:cs typeface="Courier New" panose="02070309020205020404" pitchFamily="49" charset="0"/>
              </a:rPr>
              <a:t>corrplot</a:t>
            </a:r>
            <a:r>
              <a:rPr lang="en-CA" dirty="0">
                <a:latin typeface="Courier New" panose="02070309020205020404" pitchFamily="49" charset="0"/>
                <a:cs typeface="Courier New" panose="02070309020205020404" pitchFamily="49" charset="0"/>
              </a:rPr>
              <a:t>()</a:t>
            </a:r>
            <a:r>
              <a:rPr lang="en-CA" dirty="0"/>
              <a:t>: </a:t>
            </a:r>
            <a:r>
              <a:rPr dirty="0"/>
              <a:t>With many variables, replace the points by a rendering of each correlation</a:t>
            </a:r>
          </a:p>
          <a:p>
            <a:r>
              <a:rPr dirty="0"/>
              <a:t>Order the variables so that similar ones are adjacent</a:t>
            </a:r>
          </a:p>
          <a:p>
            <a:r>
              <a:rPr dirty="0"/>
              <a:t>Here: ordered by the angles of the variable vectors from a PCA</a:t>
            </a:r>
          </a:p>
        </p:txBody>
      </p:sp>
      <p:pic>
        <p:nvPicPr>
          <p:cNvPr id="4" name="Picture 3" descr="fig-crime-corrplot-AOE-1.png"/>
          <p:cNvPicPr>
            <a:picLocks noChangeAspect="1"/>
          </p:cNvPicPr>
          <p:nvPr/>
        </p:nvPicPr>
        <p:blipFill>
          <a:blip r:embed="rId3"/>
          <a:stretch>
            <a:fillRect/>
          </a:stretch>
        </p:blipFill>
        <p:spPr>
          <a:xfrm>
            <a:off x="6569964" y="1783080"/>
            <a:ext cx="4389120" cy="4389120"/>
          </a:xfrm>
          <a:prstGeom prst="rect">
            <a:avLst/>
          </a:prstGeom>
        </p:spPr>
      </p:pic>
      <p:pic>
        <p:nvPicPr>
          <p:cNvPr id="7" name="Picture 6" descr="fig-mtcars-corrplot-pcaorder-1.png">
            <a:extLst>
              <a:ext uri="{FF2B5EF4-FFF2-40B4-BE49-F238E27FC236}">
                <a16:creationId xmlns:a16="http://schemas.microsoft.com/office/drawing/2014/main" id="{FFC74894-A605-75C8-700C-990AEB2E5F61}"/>
              </a:ext>
            </a:extLst>
          </p:cNvPr>
          <p:cNvPicPr>
            <a:picLocks noChangeAspect="1"/>
          </p:cNvPicPr>
          <p:nvPr/>
        </p:nvPicPr>
        <p:blipFill>
          <a:blip r:embed="rId4"/>
          <a:stretch>
            <a:fillRect/>
          </a:stretch>
        </p:blipFill>
        <p:spPr>
          <a:xfrm>
            <a:off x="6569964" y="1585800"/>
            <a:ext cx="5089320" cy="508932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Parallel coordinates: one line per penguin</a:t>
            </a:r>
          </a:p>
        </p:txBody>
      </p:sp>
      <p:pic>
        <p:nvPicPr>
          <p:cNvPr id="3" name="Picture 2" descr="fig-peng-ggpcp2-1.png"/>
          <p:cNvPicPr>
            <a:picLocks noChangeAspect="1"/>
          </p:cNvPicPr>
          <p:nvPr/>
        </p:nvPicPr>
        <p:blipFill>
          <a:blip r:embed="rId3"/>
          <a:stretch>
            <a:fillRect/>
          </a:stretch>
        </p:blipFill>
        <p:spPr>
          <a:xfrm>
            <a:off x="751037" y="1622742"/>
            <a:ext cx="5897879" cy="3931920"/>
          </a:xfrm>
          <a:prstGeom prst="rect">
            <a:avLst/>
          </a:prstGeom>
        </p:spPr>
      </p:pic>
      <p:sp>
        <p:nvSpPr>
          <p:cNvPr id="5" name="TextBox 4"/>
          <p:cNvSpPr txBox="1"/>
          <p:nvPr/>
        </p:nvSpPr>
        <p:spPr>
          <a:xfrm>
            <a:off x="841248" y="6355080"/>
            <a:ext cx="2743200" cy="320040"/>
          </a:xfrm>
          <a:prstGeom prst="rect">
            <a:avLst/>
          </a:prstGeom>
          <a:noFill/>
        </p:spPr>
        <p:txBody>
          <a:bodyPr wrap="square">
            <a:spAutoFit/>
          </a:bodyPr>
          <a:lstStyle/>
          <a:p>
            <a:r>
              <a:rPr sz="1100">
                <a:solidFill>
                  <a:srgbClr val="707070"/>
                </a:solidFill>
              </a:rPr>
              <a:t>Figure 4.40</a:t>
            </a:r>
          </a:p>
        </p:txBody>
      </p:sp>
      <p:sp>
        <p:nvSpPr>
          <p:cNvPr id="6" name="TextBox 5">
            <a:extLst>
              <a:ext uri="{FF2B5EF4-FFF2-40B4-BE49-F238E27FC236}">
                <a16:creationId xmlns:a16="http://schemas.microsoft.com/office/drawing/2014/main" id="{99500E15-93E9-6301-71FE-84750F373D4D}"/>
              </a:ext>
            </a:extLst>
          </p:cNvPr>
          <p:cNvSpPr txBox="1"/>
          <p:nvPr/>
        </p:nvSpPr>
        <p:spPr>
          <a:xfrm>
            <a:off x="7197213" y="1691148"/>
            <a:ext cx="4326193" cy="1200329"/>
          </a:xfrm>
          <a:prstGeom prst="rect">
            <a:avLst/>
          </a:prstGeom>
          <a:noFill/>
        </p:spPr>
        <p:txBody>
          <a:bodyPr wrap="square" rtlCol="0">
            <a:spAutoFit/>
          </a:bodyPr>
          <a:lstStyle/>
          <a:p>
            <a:r>
              <a:rPr lang="en-CA" dirty="0"/>
              <a:t>Each observation is a line across the variable axes</a:t>
            </a:r>
          </a:p>
          <a:p>
            <a:pPr marL="285750" indent="-285750">
              <a:buFont typeface="Arial" panose="020B0604020202020204" pitchFamily="34" charset="0"/>
              <a:buChar char="•"/>
            </a:pPr>
            <a:r>
              <a:rPr lang="en-CA" dirty="0"/>
              <a:t>Groups appear as bundles</a:t>
            </a:r>
          </a:p>
          <a:p>
            <a:pPr marL="285750" indent="-285750">
              <a:buFont typeface="Arial" panose="020B0604020202020204" pitchFamily="34" charset="0"/>
              <a:buChar char="•"/>
            </a:pPr>
            <a:r>
              <a:rPr lang="en-CA" dirty="0"/>
              <a:t>Easy to extend to more variables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Animated tours: moving through projections</a:t>
            </a:r>
          </a:p>
        </p:txBody>
      </p:sp>
      <p:pic>
        <p:nvPicPr>
          <p:cNvPr id="3" name="Picture 2" descr="peng-tourr-grand.gif"/>
          <p:cNvPicPr>
            <a:picLocks noChangeAspect="1"/>
          </p:cNvPicPr>
          <p:nvPr/>
        </p:nvPicPr>
        <p:blipFill>
          <a:blip r:embed="rId3"/>
          <a:stretch>
            <a:fillRect/>
          </a:stretch>
        </p:blipFill>
        <p:spPr>
          <a:xfrm>
            <a:off x="838200" y="1645285"/>
            <a:ext cx="4785852" cy="4785852"/>
          </a:xfrm>
          <a:prstGeom prst="rect">
            <a:avLst/>
          </a:prstGeom>
        </p:spPr>
      </p:pic>
      <p:sp>
        <p:nvSpPr>
          <p:cNvPr id="4" name="TextBox 3"/>
          <p:cNvSpPr txBox="1"/>
          <p:nvPr/>
        </p:nvSpPr>
        <p:spPr>
          <a:xfrm>
            <a:off x="5955300" y="1645285"/>
            <a:ext cx="5794248" cy="2308324"/>
          </a:xfrm>
          <a:prstGeom prst="rect">
            <a:avLst/>
          </a:prstGeom>
          <a:noFill/>
        </p:spPr>
        <p:txBody>
          <a:bodyPr wrap="square">
            <a:spAutoFit/>
          </a:bodyPr>
          <a:lstStyle/>
          <a:p>
            <a:r>
              <a:rPr lang="en-CA" sz="1800" dirty="0"/>
              <a:t>Animation adds one more dimension to what we can see</a:t>
            </a:r>
          </a:p>
          <a:p>
            <a:endParaRPr lang="en-CA" sz="1800" dirty="0"/>
          </a:p>
          <a:p>
            <a:r>
              <a:rPr sz="1800" dirty="0"/>
              <a:t>A </a:t>
            </a:r>
            <a:r>
              <a:rPr sz="1800" b="1" dirty="0"/>
              <a:t>grand tour </a:t>
            </a:r>
            <a:r>
              <a:rPr sz="1800" dirty="0"/>
              <a:t>shows a smooth sequence of 2D projections</a:t>
            </a:r>
            <a:endParaRPr lang="en-CA" dirty="0"/>
          </a:p>
          <a:p>
            <a:pPr marL="285750" indent="-285750">
              <a:buFont typeface="Arial" panose="020B0604020202020204" pitchFamily="34" charset="0"/>
              <a:buChar char="•"/>
            </a:pPr>
            <a:r>
              <a:rPr lang="en-CA" dirty="0"/>
              <a:t>As in biplot, variable vectors show where you are</a:t>
            </a:r>
            <a:endParaRPr lang="en-CA" sz="1800" dirty="0"/>
          </a:p>
          <a:p>
            <a:pPr marL="285750" indent="-285750">
              <a:buFont typeface="Arial" panose="020B0604020202020204" pitchFamily="34" charset="0"/>
              <a:buChar char="•"/>
            </a:pPr>
            <a:endParaRPr lang="en-CA" sz="1800" dirty="0"/>
          </a:p>
          <a:p>
            <a:r>
              <a:rPr lang="en-CA" dirty="0"/>
              <a:t>A</a:t>
            </a:r>
            <a:r>
              <a:rPr sz="1800" dirty="0"/>
              <a:t> </a:t>
            </a:r>
            <a:r>
              <a:rPr sz="1800" b="1" dirty="0"/>
              <a:t>guided tour </a:t>
            </a:r>
            <a:r>
              <a:rPr sz="1800" dirty="0"/>
              <a:t>steers toward interesting ones.</a:t>
            </a:r>
            <a:endParaRPr lang="en-CA" sz="1800" dirty="0"/>
          </a:p>
          <a:p>
            <a:pPr marL="285750" indent="-285750">
              <a:buFont typeface="Arial" panose="020B0604020202020204" pitchFamily="34" charset="0"/>
              <a:buChar char="•"/>
            </a:pPr>
            <a:r>
              <a:rPr lang="en-CA" dirty="0"/>
              <a:t>Optimize an index: separation of groups, anomalies</a:t>
            </a:r>
            <a:endParaRPr sz="1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1850" y="497883"/>
            <a:ext cx="10515600" cy="2852737"/>
          </a:xfrm>
        </p:spPr>
        <p:txBody>
          <a:bodyPr/>
          <a:lstStyle/>
          <a:p>
            <a:r>
              <a:rPr lang="en-CA" dirty="0"/>
              <a:t>Elliptical Insights</a:t>
            </a:r>
            <a:endParaRPr dirty="0"/>
          </a:p>
        </p:txBody>
      </p:sp>
      <p:sp>
        <p:nvSpPr>
          <p:cNvPr id="3" name="Text Placeholder 2"/>
          <p:cNvSpPr>
            <a:spLocks noGrp="1"/>
          </p:cNvSpPr>
          <p:nvPr>
            <p:ph type="body" idx="1"/>
          </p:nvPr>
        </p:nvSpPr>
        <p:spPr>
          <a:xfrm>
            <a:off x="831850" y="3664044"/>
            <a:ext cx="10515600" cy="3001161"/>
          </a:xfrm>
        </p:spPr>
        <p:txBody>
          <a:bodyPr/>
          <a:lstStyle/>
          <a:p>
            <a:r>
              <a:rPr lang="en-CA" dirty="0"/>
              <a:t>Visual understanding of problems in statistics that only confound us in tables &amp; formulas</a:t>
            </a:r>
          </a:p>
          <a:p>
            <a:pPr marL="342900" indent="-342900">
              <a:buFont typeface="Arial" panose="020B0604020202020204" pitchFamily="34" charset="0"/>
              <a:buChar char="•"/>
            </a:pPr>
            <a:r>
              <a:rPr lang="en-CA" dirty="0"/>
              <a:t>Outlier detection</a:t>
            </a:r>
          </a:p>
          <a:p>
            <a:pPr marL="342900" indent="-342900">
              <a:buFont typeface="Arial" panose="020B0604020202020204" pitchFamily="34" charset="0"/>
              <a:buChar char="•"/>
            </a:pPr>
            <a:r>
              <a:rPr lang="en-CA" dirty="0"/>
              <a:t>Measurement error</a:t>
            </a:r>
          </a:p>
          <a:p>
            <a:pPr marL="342900" indent="-342900">
              <a:buFont typeface="Arial" panose="020B0604020202020204" pitchFamily="34" charset="0"/>
              <a:buChar char="•"/>
            </a:pPr>
            <a:r>
              <a:rPr lang="en-CA" dirty="0"/>
              <a:t>Added-variable plots</a:t>
            </a:r>
            <a:endParaRPr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Multivariate outliers: which penguins are unusual?</a:t>
            </a:r>
          </a:p>
        </p:txBody>
      </p:sp>
      <p:pic>
        <p:nvPicPr>
          <p:cNvPr id="3" name="Picture 2" descr="fig-peng-cqplot-1.png"/>
          <p:cNvPicPr>
            <a:picLocks noChangeAspect="1"/>
          </p:cNvPicPr>
          <p:nvPr/>
        </p:nvPicPr>
        <p:blipFill>
          <a:blip r:embed="rId3"/>
          <a:stretch>
            <a:fillRect/>
          </a:stretch>
        </p:blipFill>
        <p:spPr>
          <a:xfrm>
            <a:off x="841248" y="1828800"/>
            <a:ext cx="5120640" cy="3657600"/>
          </a:xfrm>
          <a:prstGeom prst="rect">
            <a:avLst/>
          </a:prstGeom>
        </p:spPr>
      </p:pic>
      <p:pic>
        <p:nvPicPr>
          <p:cNvPr id="4" name="Picture 3" descr="fig-peng-ggplot-out-1.png"/>
          <p:cNvPicPr>
            <a:picLocks noChangeAspect="1"/>
          </p:cNvPicPr>
          <p:nvPr/>
        </p:nvPicPr>
        <p:blipFill>
          <a:blip r:embed="rId4"/>
          <a:stretch>
            <a:fillRect/>
          </a:stretch>
        </p:blipFill>
        <p:spPr>
          <a:xfrm>
            <a:off x="6236208" y="1828800"/>
            <a:ext cx="5120640" cy="3657600"/>
          </a:xfrm>
          <a:prstGeom prst="rect">
            <a:avLst/>
          </a:prstGeom>
        </p:spPr>
      </p:pic>
      <p:sp>
        <p:nvSpPr>
          <p:cNvPr id="5" name="TextBox 4"/>
          <p:cNvSpPr txBox="1"/>
          <p:nvPr/>
        </p:nvSpPr>
        <p:spPr>
          <a:xfrm>
            <a:off x="841248" y="5669280"/>
            <a:ext cx="10515600" cy="548640"/>
          </a:xfrm>
          <a:prstGeom prst="rect">
            <a:avLst/>
          </a:prstGeom>
          <a:noFill/>
        </p:spPr>
        <p:txBody>
          <a:bodyPr wrap="square">
            <a:spAutoFit/>
          </a:bodyPr>
          <a:lstStyle/>
          <a:p>
            <a:r>
              <a:rPr sz="1800"/>
              <a:t>Squared Mahalanobis distances against chi-square quantiles. We will meet these birds again.</a:t>
            </a:r>
          </a:p>
        </p:txBody>
      </p:sp>
      <p:sp>
        <p:nvSpPr>
          <p:cNvPr id="6" name="TextBox 5"/>
          <p:cNvSpPr txBox="1"/>
          <p:nvPr/>
        </p:nvSpPr>
        <p:spPr>
          <a:xfrm>
            <a:off x="841248" y="6355080"/>
            <a:ext cx="2743200" cy="320040"/>
          </a:xfrm>
          <a:prstGeom prst="rect">
            <a:avLst/>
          </a:prstGeom>
          <a:noFill/>
        </p:spPr>
        <p:txBody>
          <a:bodyPr wrap="square">
            <a:spAutoFit/>
          </a:bodyPr>
          <a:lstStyle/>
          <a:p>
            <a:r>
              <a:rPr sz="1100">
                <a:solidFill>
                  <a:srgbClr val="707070"/>
                </a:solidFill>
              </a:rPr>
              <a:t>Figure 4.26, 4.27</a:t>
            </a:r>
          </a:p>
        </p:txBody>
      </p:sp>
      <p:sp>
        <p:nvSpPr>
          <p:cNvPr id="7" name="TextBox 6">
            <a:extLst>
              <a:ext uri="{FF2B5EF4-FFF2-40B4-BE49-F238E27FC236}">
                <a16:creationId xmlns:a16="http://schemas.microsoft.com/office/drawing/2014/main" id="{FB358BA3-F292-4081-E9FB-0C466F3C6D1E}"/>
              </a:ext>
            </a:extLst>
          </p:cNvPr>
          <p:cNvSpPr txBox="1"/>
          <p:nvPr/>
        </p:nvSpPr>
        <p:spPr>
          <a:xfrm>
            <a:off x="10610357" y="2713703"/>
            <a:ext cx="740395" cy="307777"/>
          </a:xfrm>
          <a:prstGeom prst="rect">
            <a:avLst/>
          </a:prstGeom>
          <a:noFill/>
        </p:spPr>
        <p:txBody>
          <a:bodyPr wrap="none" rtlCol="0">
            <a:spAutoFit/>
          </a:bodyPr>
          <a:lstStyle/>
          <a:p>
            <a:r>
              <a:rPr lang="en-CA" sz="1400" dirty="0"/>
              <a:t>Cyrano</a:t>
            </a:r>
          </a:p>
        </p:txBody>
      </p:sp>
      <p:sp>
        <p:nvSpPr>
          <p:cNvPr id="9" name="TextBox 8">
            <a:extLst>
              <a:ext uri="{FF2B5EF4-FFF2-40B4-BE49-F238E27FC236}">
                <a16:creationId xmlns:a16="http://schemas.microsoft.com/office/drawing/2014/main" id="{D6554C26-2543-8F04-4FC4-10FCF38BD90E}"/>
              </a:ext>
            </a:extLst>
          </p:cNvPr>
          <p:cNvSpPr txBox="1"/>
          <p:nvPr/>
        </p:nvSpPr>
        <p:spPr>
          <a:xfrm>
            <a:off x="6751196" y="2130740"/>
            <a:ext cx="1042273" cy="307777"/>
          </a:xfrm>
          <a:prstGeom prst="rect">
            <a:avLst/>
          </a:prstGeom>
          <a:noFill/>
        </p:spPr>
        <p:txBody>
          <a:bodyPr wrap="none" rtlCol="0">
            <a:spAutoFit/>
          </a:bodyPr>
          <a:lstStyle/>
          <a:p>
            <a:r>
              <a:rPr lang="en-CA" sz="1400" dirty="0"/>
              <a:t>Hook Nose</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Outlier detection: </a:t>
            </a:r>
            <a:r>
              <a:rPr lang="en-CA" dirty="0" err="1"/>
              <a:t>Waar</a:t>
            </a:r>
            <a:r>
              <a:rPr lang="en-CA" dirty="0"/>
              <a:t> is Wally?</a:t>
            </a:r>
            <a:endParaRPr lang="en-US" dirty="0"/>
          </a:p>
        </p:txBody>
      </p:sp>
      <p:sp>
        <p:nvSpPr>
          <p:cNvPr id="3" name="Content Placeholder 2"/>
          <p:cNvSpPr>
            <a:spLocks noGrp="1"/>
          </p:cNvSpPr>
          <p:nvPr>
            <p:ph idx="1"/>
          </p:nvPr>
        </p:nvSpPr>
        <p:spPr>
          <a:xfrm>
            <a:off x="838200" y="1143000"/>
            <a:ext cx="10515600" cy="1600200"/>
          </a:xfrm>
        </p:spPr>
        <p:txBody>
          <a:bodyPr>
            <a:normAutofit/>
          </a:bodyPr>
          <a:lstStyle/>
          <a:p>
            <a:r>
              <a:rPr lang="en-US" dirty="0"/>
              <a:t>Multivariate outliers might be invisible in </a:t>
            </a:r>
            <a:r>
              <a:rPr lang="en-US" dirty="0" err="1"/>
              <a:t>univariate</a:t>
            </a:r>
            <a:r>
              <a:rPr lang="en-US" dirty="0"/>
              <a:t> views, but become readily apparent on the </a:t>
            </a:r>
            <a:r>
              <a:rPr lang="en-US" i="1" dirty="0">
                <a:solidFill>
                  <a:srgbClr val="FF0000"/>
                </a:solidFill>
              </a:rPr>
              <a:t>smallest</a:t>
            </a:r>
            <a:r>
              <a:rPr lang="en-US" dirty="0"/>
              <a:t> principal component</a:t>
            </a:r>
          </a:p>
          <a:p>
            <a:pPr lvl="1"/>
            <a:r>
              <a:rPr lang="en-US" dirty="0"/>
              <a:t>100 observations on two correlated normal variables with two bivariate outliers near (2,2), (-2, -2)</a:t>
            </a:r>
          </a:p>
        </p:txBody>
      </p:sp>
      <p:sp>
        <p:nvSpPr>
          <p:cNvPr id="4" name="Slide Number Placeholder 3"/>
          <p:cNvSpPr>
            <a:spLocks noGrp="1"/>
          </p:cNvSpPr>
          <p:nvPr>
            <p:ph type="sldNum" sz="quarter" idx="12"/>
          </p:nvPr>
        </p:nvSpPr>
        <p:spPr/>
        <p:txBody>
          <a:bodyPr/>
          <a:lstStyle/>
          <a:p>
            <a:fld id="{621225AB-15B9-4C79-A121-04D1DC7E2307}" type="slidenum">
              <a:rPr lang="en-US" smtClean="0"/>
              <a:t>25</a:t>
            </a:fld>
            <a:endParaRPr lang="en-US" dirty="0"/>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86000" y="2895600"/>
            <a:ext cx="3335714" cy="3228572"/>
          </a:xfrm>
          <a:prstGeom prst="rect">
            <a:avLst/>
          </a:prstGeom>
        </p:spPr>
      </p:pic>
      <p:sp>
        <p:nvSpPr>
          <p:cNvPr id="7" name="TextBox 6"/>
          <p:cNvSpPr txBox="1"/>
          <p:nvPr/>
        </p:nvSpPr>
        <p:spPr>
          <a:xfrm>
            <a:off x="1134737" y="6170024"/>
            <a:ext cx="7933063" cy="369332"/>
          </a:xfrm>
          <a:prstGeom prst="rect">
            <a:avLst/>
          </a:prstGeom>
          <a:noFill/>
        </p:spPr>
        <p:txBody>
          <a:bodyPr wrap="square" rtlCol="0">
            <a:spAutoFit/>
          </a:bodyPr>
          <a:lstStyle/>
          <a:p>
            <a:r>
              <a:rPr lang="en-US" dirty="0"/>
              <a:t>Animation: </a:t>
            </a:r>
            <a:r>
              <a:rPr lang="en-US" dirty="0">
                <a:hlinkClick r:id="rId4"/>
              </a:rPr>
              <a:t>http://www.datavis.ca/gallery/animation/outlier-demo/</a:t>
            </a:r>
            <a:r>
              <a:rPr lang="en-US" dirty="0"/>
              <a:t> </a:t>
            </a:r>
          </a:p>
        </p:txBody>
      </p:sp>
      <p:sp>
        <p:nvSpPr>
          <p:cNvPr id="10" name="Oval 9">
            <a:extLst>
              <a:ext uri="{FF2B5EF4-FFF2-40B4-BE49-F238E27FC236}">
                <a16:creationId xmlns:a16="http://schemas.microsoft.com/office/drawing/2014/main" id="{BB337D7C-21AE-3280-AE87-D795CAF4F77B}"/>
              </a:ext>
            </a:extLst>
          </p:cNvPr>
          <p:cNvSpPr/>
          <p:nvPr/>
        </p:nvSpPr>
        <p:spPr>
          <a:xfrm>
            <a:off x="3243945" y="3505200"/>
            <a:ext cx="304800" cy="304800"/>
          </a:xfrm>
          <a:prstGeom prst="ellipse">
            <a:avLst/>
          </a:prstGeom>
          <a:noFill/>
          <a:ln w="2222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1" name="Oval 10">
            <a:extLst>
              <a:ext uri="{FF2B5EF4-FFF2-40B4-BE49-F238E27FC236}">
                <a16:creationId xmlns:a16="http://schemas.microsoft.com/office/drawing/2014/main" id="{001ABCAC-63E1-2F1E-AD2A-BB18D9F3332D}"/>
              </a:ext>
            </a:extLst>
          </p:cNvPr>
          <p:cNvSpPr/>
          <p:nvPr/>
        </p:nvSpPr>
        <p:spPr>
          <a:xfrm>
            <a:off x="4724400" y="4876800"/>
            <a:ext cx="304800" cy="304800"/>
          </a:xfrm>
          <a:prstGeom prst="ellipse">
            <a:avLst/>
          </a:prstGeom>
          <a:noFill/>
          <a:ln w="2222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pic>
        <p:nvPicPr>
          <p:cNvPr id="6" name="Picture 5"/>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324601" y="2901045"/>
            <a:ext cx="3385715" cy="3221429"/>
          </a:xfrm>
          <a:prstGeom prst="rect">
            <a:avLst/>
          </a:prstGeom>
        </p:spPr>
      </p:pic>
      <p:grpSp>
        <p:nvGrpSpPr>
          <p:cNvPr id="14" name="Group 13">
            <a:extLst>
              <a:ext uri="{FF2B5EF4-FFF2-40B4-BE49-F238E27FC236}">
                <a16:creationId xmlns:a16="http://schemas.microsoft.com/office/drawing/2014/main" id="{30671532-BF30-807E-8298-B842C5155737}"/>
              </a:ext>
            </a:extLst>
          </p:cNvPr>
          <p:cNvGrpSpPr/>
          <p:nvPr/>
        </p:nvGrpSpPr>
        <p:grpSpPr>
          <a:xfrm>
            <a:off x="8010926" y="3133998"/>
            <a:ext cx="488934" cy="2581003"/>
            <a:chOff x="6486926" y="3133997"/>
            <a:chExt cx="488934" cy="2581003"/>
          </a:xfrm>
        </p:grpSpPr>
        <p:sp>
          <p:nvSpPr>
            <p:cNvPr id="9" name="Oval 8">
              <a:extLst>
                <a:ext uri="{FF2B5EF4-FFF2-40B4-BE49-F238E27FC236}">
                  <a16:creationId xmlns:a16="http://schemas.microsoft.com/office/drawing/2014/main" id="{ECB8E533-E97C-C8DF-C06A-008964E0F708}"/>
                </a:ext>
              </a:extLst>
            </p:cNvPr>
            <p:cNvSpPr/>
            <p:nvPr/>
          </p:nvSpPr>
          <p:spPr>
            <a:xfrm>
              <a:off x="6671060" y="5410200"/>
              <a:ext cx="304800" cy="304800"/>
            </a:xfrm>
            <a:prstGeom prst="ellipse">
              <a:avLst/>
            </a:prstGeom>
            <a:noFill/>
            <a:ln w="2222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2" name="Oval 11">
              <a:extLst>
                <a:ext uri="{FF2B5EF4-FFF2-40B4-BE49-F238E27FC236}">
                  <a16:creationId xmlns:a16="http://schemas.microsoft.com/office/drawing/2014/main" id="{8A759897-B997-4E5D-6B0E-E6ACE70AC9B7}"/>
                </a:ext>
              </a:extLst>
            </p:cNvPr>
            <p:cNvSpPr/>
            <p:nvPr/>
          </p:nvSpPr>
          <p:spPr>
            <a:xfrm>
              <a:off x="6486926" y="3133997"/>
              <a:ext cx="304800" cy="304800"/>
            </a:xfrm>
            <a:prstGeom prst="ellipse">
              <a:avLst/>
            </a:prstGeom>
            <a:noFill/>
            <a:ln w="2222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grpSp>
      <p:sp>
        <p:nvSpPr>
          <p:cNvPr id="13" name="Arrow: Right 12">
            <a:extLst>
              <a:ext uri="{FF2B5EF4-FFF2-40B4-BE49-F238E27FC236}">
                <a16:creationId xmlns:a16="http://schemas.microsoft.com/office/drawing/2014/main" id="{8AFCCD3D-C3CA-5C4D-647D-D576A42BF5B4}"/>
              </a:ext>
            </a:extLst>
          </p:cNvPr>
          <p:cNvSpPr/>
          <p:nvPr/>
        </p:nvSpPr>
        <p:spPr>
          <a:xfrm>
            <a:off x="5676900" y="2895600"/>
            <a:ext cx="838200" cy="293132"/>
          </a:xfrm>
          <a:prstGeom prst="rightArrow">
            <a:avLst/>
          </a:prstGeom>
          <a:noFill/>
          <a:ln w="317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C1806E20-2B2C-7093-DC94-1E5418255902}"/>
              </a:ext>
            </a:extLst>
          </p:cNvPr>
          <p:cNvSpPr txBox="1"/>
          <p:nvPr/>
        </p:nvSpPr>
        <p:spPr>
          <a:xfrm>
            <a:off x="7506427" y="2541858"/>
            <a:ext cx="1655386" cy="369332"/>
          </a:xfrm>
          <a:prstGeom prst="rect">
            <a:avLst/>
          </a:prstGeom>
          <a:noFill/>
        </p:spPr>
        <p:txBody>
          <a:bodyPr wrap="square" rtlCol="0">
            <a:spAutoFit/>
          </a:bodyPr>
          <a:lstStyle/>
          <a:p>
            <a:r>
              <a:rPr lang="en-CA" dirty="0"/>
              <a:t>Waldo space</a:t>
            </a:r>
          </a:p>
        </p:txBody>
      </p:sp>
      <p:sp>
        <p:nvSpPr>
          <p:cNvPr id="15" name="TextBox 14">
            <a:extLst>
              <a:ext uri="{FF2B5EF4-FFF2-40B4-BE49-F238E27FC236}">
                <a16:creationId xmlns:a16="http://schemas.microsoft.com/office/drawing/2014/main" id="{8D4B3D34-1EC3-540D-C439-CF4C834763E1}"/>
              </a:ext>
            </a:extLst>
          </p:cNvPr>
          <p:cNvSpPr txBox="1"/>
          <p:nvPr/>
        </p:nvSpPr>
        <p:spPr>
          <a:xfrm>
            <a:off x="2286000" y="2581460"/>
            <a:ext cx="1655386" cy="369332"/>
          </a:xfrm>
          <a:prstGeom prst="rect">
            <a:avLst/>
          </a:prstGeom>
          <a:noFill/>
        </p:spPr>
        <p:txBody>
          <a:bodyPr wrap="square" rtlCol="0">
            <a:spAutoFit/>
          </a:bodyPr>
          <a:lstStyle/>
          <a:p>
            <a:r>
              <a:rPr lang="en-CA" dirty="0"/>
              <a:t>Data space</a:t>
            </a:r>
          </a:p>
        </p:txBody>
      </p:sp>
      <p:pic>
        <p:nvPicPr>
          <p:cNvPr id="17" name="Picture 16">
            <a:extLst>
              <a:ext uri="{FF2B5EF4-FFF2-40B4-BE49-F238E27FC236}">
                <a16:creationId xmlns:a16="http://schemas.microsoft.com/office/drawing/2014/main" id="{CC742673-A5D6-1F75-0409-79B0C4FA7BF1}"/>
              </a:ext>
            </a:extLst>
          </p:cNvPr>
          <p:cNvPicPr>
            <a:picLocks noChangeAspect="1"/>
          </p:cNvPicPr>
          <p:nvPr/>
        </p:nvPicPr>
        <p:blipFill>
          <a:blip r:embed="rId6"/>
          <a:stretch>
            <a:fillRect/>
          </a:stretch>
        </p:blipFill>
        <p:spPr>
          <a:xfrm>
            <a:off x="9066870" y="2515508"/>
            <a:ext cx="568780" cy="568780"/>
          </a:xfrm>
          <a:prstGeom prst="rect">
            <a:avLst/>
          </a:prstGeom>
        </p:spPr>
      </p:pic>
    </p:spTree>
    <p:extLst>
      <p:ext uri="{BB962C8B-B14F-4D97-AF65-F5344CB8AC3E}">
        <p14:creationId xmlns:p14="http://schemas.microsoft.com/office/powerpoint/2010/main" val="42090565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2" presetClass="entr" presetSubtype="2" fill="hold" nodeType="withEffect">
                                  <p:stCondLst>
                                    <p:cond delay="0"/>
                                  </p:stCondLst>
                                  <p:childTnLst>
                                    <p:set>
                                      <p:cBhvr>
                                        <p:cTn id="8" dur="1" fill="hold">
                                          <p:stCondLst>
                                            <p:cond delay="0"/>
                                          </p:stCondLst>
                                        </p:cTn>
                                        <p:tgtEl>
                                          <p:spTgt spid="6"/>
                                        </p:tgtEl>
                                        <p:attrNameLst>
                                          <p:attrName>style.visibility</p:attrName>
                                        </p:attrNameLst>
                                      </p:cBhvr>
                                      <p:to>
                                        <p:strVal val="visible"/>
                                      </p:to>
                                    </p:set>
                                    <p:anim calcmode="lin" valueType="num">
                                      <p:cBhvr additive="base">
                                        <p:cTn id="9" dur="500" fill="hold"/>
                                        <p:tgtEl>
                                          <p:spTgt spid="6"/>
                                        </p:tgtEl>
                                        <p:attrNameLst>
                                          <p:attrName>ppt_x</p:attrName>
                                        </p:attrNameLst>
                                      </p:cBhvr>
                                      <p:tavLst>
                                        <p:tav tm="0">
                                          <p:val>
                                            <p:strVal val="1+#ppt_w/2"/>
                                          </p:val>
                                        </p:tav>
                                        <p:tav tm="100000">
                                          <p:val>
                                            <p:strVal val="#ppt_x"/>
                                          </p:val>
                                        </p:tav>
                                      </p:tavLst>
                                    </p:anim>
                                    <p:anim calcmode="lin" valueType="num">
                                      <p:cBhvr additive="base">
                                        <p:cTn id="10"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nodeType="clickEffect">
                                  <p:stCondLst>
                                    <p:cond delay="0"/>
                                  </p:stCondLst>
                                  <p:childTnLst>
                                    <p:set>
                                      <p:cBhvr>
                                        <p:cTn id="14" dur="1" fill="hold">
                                          <p:stCondLst>
                                            <p:cond delay="0"/>
                                          </p:stCondLst>
                                        </p:cTn>
                                        <p:tgtEl>
                                          <p:spTgt spid="14"/>
                                        </p:tgtEl>
                                        <p:attrNameLst>
                                          <p:attrName>style.visibility</p:attrName>
                                        </p:attrNameLst>
                                      </p:cBhvr>
                                      <p:to>
                                        <p:strVal val="visible"/>
                                      </p:to>
                                    </p:set>
                                    <p:anim calcmode="lin" valueType="num">
                                      <p:cBhvr additive="base">
                                        <p:cTn id="15" dur="500" fill="hold"/>
                                        <p:tgtEl>
                                          <p:spTgt spid="14"/>
                                        </p:tgtEl>
                                        <p:attrNameLst>
                                          <p:attrName>ppt_x</p:attrName>
                                        </p:attrNameLst>
                                      </p:cBhvr>
                                      <p:tavLst>
                                        <p:tav tm="0">
                                          <p:val>
                                            <p:strVal val="#ppt_x"/>
                                          </p:val>
                                        </p:tav>
                                        <p:tav tm="100000">
                                          <p:val>
                                            <p:strVal val="#ppt_x"/>
                                          </p:val>
                                        </p:tav>
                                      </p:tavLst>
                                    </p:anim>
                                    <p:anim calcmode="lin" valueType="num">
                                      <p:cBhvr additive="base">
                                        <p:cTn id="16" dur="500" fill="hold"/>
                                        <p:tgtEl>
                                          <p:spTgt spid="14"/>
                                        </p:tgtEl>
                                        <p:attrNameLst>
                                          <p:attrName>ppt_y</p:attrName>
                                        </p:attrNameLst>
                                      </p:cBhvr>
                                      <p:tavLst>
                                        <p:tav tm="0">
                                          <p:val>
                                            <p:strVal val="1+#ppt_h/2"/>
                                          </p:val>
                                        </p:tav>
                                        <p:tav tm="100000">
                                          <p:val>
                                            <p:strVal val="#ppt_y"/>
                                          </p:val>
                                        </p:tav>
                                      </p:tavLst>
                                    </p:anim>
                                  </p:childTnLst>
                                </p:cTn>
                              </p:par>
                              <p:par>
                                <p:cTn id="17" presetID="1"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8"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05000" y="457200"/>
            <a:ext cx="8229600" cy="715962"/>
          </a:xfrm>
        </p:spPr>
        <p:txBody>
          <a:bodyPr>
            <a:normAutofit/>
          </a:bodyPr>
          <a:lstStyle/>
          <a:p>
            <a:r>
              <a:rPr lang="en-US" dirty="0"/>
              <a:t>Elliptical insights: Measurement error</a:t>
            </a:r>
          </a:p>
        </p:txBody>
      </p:sp>
      <p:sp>
        <p:nvSpPr>
          <p:cNvPr id="3" name="Content Placeholder 2"/>
          <p:cNvSpPr>
            <a:spLocks noGrp="1"/>
          </p:cNvSpPr>
          <p:nvPr>
            <p:ph idx="1"/>
          </p:nvPr>
        </p:nvSpPr>
        <p:spPr/>
        <p:txBody>
          <a:bodyPr>
            <a:normAutofit/>
          </a:bodyPr>
          <a:lstStyle/>
          <a:p>
            <a:r>
              <a:rPr lang="en-US" dirty="0"/>
              <a:t>In classical linear models, predictors (X) are usually assumed to be fixed (non-random), or measured w/o error</a:t>
            </a:r>
          </a:p>
          <a:p>
            <a:pPr lvl="1"/>
            <a:r>
              <a:rPr lang="en-US" dirty="0"/>
              <a:t>Rarely true in social science, medicine, …</a:t>
            </a:r>
          </a:p>
          <a:p>
            <a:pPr lvl="1"/>
            <a:r>
              <a:rPr lang="en-US" dirty="0"/>
              <a:t>(Structural equation models often used to account for this)</a:t>
            </a:r>
          </a:p>
          <a:p>
            <a:pPr lvl="1"/>
            <a:r>
              <a:rPr lang="en-US" dirty="0"/>
              <a:t>What effects do errors in </a:t>
            </a:r>
            <a:r>
              <a:rPr lang="en-US" b="1" dirty="0"/>
              <a:t>predictors</a:t>
            </a:r>
            <a:r>
              <a:rPr lang="en-US" dirty="0"/>
              <a:t> have on typical regression models?</a:t>
            </a:r>
          </a:p>
          <a:p>
            <a:r>
              <a:rPr lang="en-US" dirty="0"/>
              <a:t>Main ideas:</a:t>
            </a:r>
          </a:p>
          <a:p>
            <a:pPr lvl="1"/>
            <a:r>
              <a:rPr lang="en-US" dirty="0"/>
              <a:t>Ellipses in </a:t>
            </a:r>
            <a:r>
              <a:rPr lang="en-US" dirty="0">
                <a:solidFill>
                  <a:srgbClr val="00B050"/>
                </a:solidFill>
              </a:rPr>
              <a:t>data space </a:t>
            </a:r>
            <a:r>
              <a:rPr lang="en-US" dirty="0"/>
              <a:t>show effects on </a:t>
            </a:r>
            <a:r>
              <a:rPr lang="en-US" dirty="0">
                <a:solidFill>
                  <a:srgbClr val="FF0000"/>
                </a:solidFill>
              </a:rPr>
              <a:t>bias</a:t>
            </a:r>
            <a:r>
              <a:rPr lang="en-US" dirty="0"/>
              <a:t> and </a:t>
            </a:r>
            <a:r>
              <a:rPr lang="en-US" dirty="0">
                <a:solidFill>
                  <a:srgbClr val="FF0000"/>
                </a:solidFill>
              </a:rPr>
              <a:t>precision</a:t>
            </a:r>
          </a:p>
          <a:p>
            <a:pPr lvl="1"/>
            <a:r>
              <a:rPr lang="en-US" dirty="0"/>
              <a:t>The same effects can be seen in </a:t>
            </a:r>
            <a:r>
              <a:rPr lang="en-US" dirty="0">
                <a:solidFill>
                  <a:srgbClr val="00B050"/>
                </a:solidFill>
              </a:rPr>
              <a:t>parameter (</a:t>
            </a:r>
            <a:r>
              <a:rPr lang="el-GR" b="1" dirty="0">
                <a:solidFill>
                  <a:srgbClr val="00B050"/>
                </a:solidFill>
              </a:rPr>
              <a:t>β</a:t>
            </a:r>
            <a:r>
              <a:rPr lang="en-US" dirty="0">
                <a:solidFill>
                  <a:srgbClr val="00B050"/>
                </a:solidFill>
              </a:rPr>
              <a:t>) space</a:t>
            </a:r>
          </a:p>
        </p:txBody>
      </p:sp>
      <p:sp>
        <p:nvSpPr>
          <p:cNvPr id="4" name="Slide Number Placeholder 3"/>
          <p:cNvSpPr>
            <a:spLocks noGrp="1"/>
          </p:cNvSpPr>
          <p:nvPr>
            <p:ph type="sldNum" sz="quarter" idx="12"/>
          </p:nvPr>
        </p:nvSpPr>
        <p:spPr/>
        <p:txBody>
          <a:bodyPr/>
          <a:lstStyle/>
          <a:p>
            <a:fld id="{621225AB-15B9-4C79-A121-04D1DC7E2307}" type="slidenum">
              <a:rPr lang="en-US" smtClean="0"/>
              <a:t>26</a:t>
            </a:fld>
            <a:endParaRPr lang="en-US"/>
          </a:p>
        </p:txBody>
      </p:sp>
      <p:sp>
        <p:nvSpPr>
          <p:cNvPr id="5" name="TextBox 4">
            <a:extLst>
              <a:ext uri="{FF2B5EF4-FFF2-40B4-BE49-F238E27FC236}">
                <a16:creationId xmlns:a16="http://schemas.microsoft.com/office/drawing/2014/main" id="{635A9DAD-1188-B676-0CE8-BA39623413C1}"/>
              </a:ext>
            </a:extLst>
          </p:cNvPr>
          <p:cNvSpPr txBox="1"/>
          <p:nvPr/>
        </p:nvSpPr>
        <p:spPr>
          <a:xfrm>
            <a:off x="2286000" y="6096001"/>
            <a:ext cx="7467600" cy="461665"/>
          </a:xfrm>
          <a:prstGeom prst="rect">
            <a:avLst/>
          </a:prstGeom>
          <a:noFill/>
        </p:spPr>
        <p:txBody>
          <a:bodyPr wrap="square" rtlCol="0">
            <a:spAutoFit/>
          </a:bodyPr>
          <a:lstStyle/>
          <a:p>
            <a:r>
              <a:rPr lang="en-CA" sz="1200" dirty="0">
                <a:solidFill>
                  <a:srgbClr val="000000"/>
                </a:solidFill>
              </a:rPr>
              <a:t>Friendly, Monette &amp; Fox (2013). Elliptical Insights: Understanding Statistical Methods Through Elliptical Geometry. </a:t>
            </a:r>
            <a:r>
              <a:rPr lang="en-CA" sz="1200" i="1" dirty="0">
                <a:solidFill>
                  <a:srgbClr val="000000"/>
                </a:solidFill>
              </a:rPr>
              <a:t>Statistical Science</a:t>
            </a:r>
            <a:r>
              <a:rPr lang="en-CA" sz="1200" dirty="0">
                <a:solidFill>
                  <a:srgbClr val="000000"/>
                </a:solidFill>
              </a:rPr>
              <a:t>, </a:t>
            </a:r>
            <a:r>
              <a:rPr lang="en-CA" sz="1200" i="1" dirty="0">
                <a:solidFill>
                  <a:srgbClr val="000000"/>
                </a:solidFill>
              </a:rPr>
              <a:t>28</a:t>
            </a:r>
            <a:r>
              <a:rPr lang="en-CA" sz="1200" dirty="0">
                <a:solidFill>
                  <a:srgbClr val="000000"/>
                </a:solidFill>
              </a:rPr>
              <a:t>, 1–39. </a:t>
            </a:r>
            <a:r>
              <a:rPr lang="en-CA" sz="1200" dirty="0">
                <a:solidFill>
                  <a:srgbClr val="000000"/>
                </a:solidFill>
                <a:hlinkClick r:id="rId3"/>
              </a:rPr>
              <a:t>https://www.datavis.ca/papers/ellipses-STS402.pdf</a:t>
            </a:r>
            <a:r>
              <a:rPr lang="en-CA" sz="1200" dirty="0">
                <a:solidFill>
                  <a:srgbClr val="000000"/>
                </a:solidFill>
              </a:rPr>
              <a:t> </a:t>
            </a:r>
            <a:endParaRPr lang="en-CA" sz="1200" dirty="0"/>
          </a:p>
        </p:txBody>
      </p:sp>
    </p:spTree>
    <p:extLst>
      <p:ext uri="{BB962C8B-B14F-4D97-AF65-F5344CB8AC3E}">
        <p14:creationId xmlns:p14="http://schemas.microsoft.com/office/powerpoint/2010/main" val="214040088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Coffee, stress and heart disease</a:t>
            </a:r>
          </a:p>
        </p:txBody>
      </p:sp>
      <p:sp>
        <p:nvSpPr>
          <p:cNvPr id="4" name="Slide Number Placeholder 3"/>
          <p:cNvSpPr>
            <a:spLocks noGrp="1"/>
          </p:cNvSpPr>
          <p:nvPr>
            <p:ph type="sldNum" sz="quarter" idx="12"/>
          </p:nvPr>
        </p:nvSpPr>
        <p:spPr/>
        <p:txBody>
          <a:bodyPr/>
          <a:lstStyle/>
          <a:p>
            <a:fld id="{621225AB-15B9-4C79-A121-04D1DC7E2307}" type="slidenum">
              <a:rPr lang="en-US" smtClean="0"/>
              <a:t>27</a:t>
            </a:fld>
            <a:endParaRPr lang="en-US"/>
          </a:p>
        </p:txBody>
      </p:sp>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76606" y="1143003"/>
            <a:ext cx="4420953" cy="4478572"/>
          </a:xfrm>
          <a:prstGeom prst="rect">
            <a:avLst/>
          </a:prstGeom>
        </p:spPr>
      </p:pic>
      <p:sp>
        <p:nvSpPr>
          <p:cNvPr id="3" name="TextBox 2"/>
          <p:cNvSpPr txBox="1"/>
          <p:nvPr/>
        </p:nvSpPr>
        <p:spPr>
          <a:xfrm>
            <a:off x="7948612" y="1219200"/>
            <a:ext cx="3733800" cy="1554272"/>
          </a:xfrm>
          <a:prstGeom prst="rect">
            <a:avLst/>
          </a:prstGeom>
          <a:noFill/>
        </p:spPr>
        <p:txBody>
          <a:bodyPr wrap="square" rtlCol="0">
            <a:spAutoFit/>
          </a:bodyPr>
          <a:lstStyle/>
          <a:p>
            <a:pPr>
              <a:spcAft>
                <a:spcPts val="600"/>
              </a:spcAft>
            </a:pPr>
            <a:r>
              <a:rPr lang="en-US" dirty="0"/>
              <a:t>Imagine a small study investigating the relation between a measure of heart disease (y), and coffee consumption (x</a:t>
            </a:r>
            <a:r>
              <a:rPr lang="en-US" baseline="-25000" dirty="0"/>
              <a:t>1</a:t>
            </a:r>
            <a:r>
              <a:rPr lang="en-US" dirty="0"/>
              <a:t>) and stress (x</a:t>
            </a:r>
            <a:r>
              <a:rPr lang="en-US" baseline="-25000" dirty="0"/>
              <a:t>2</a:t>
            </a:r>
            <a:r>
              <a:rPr lang="en-US" dirty="0"/>
              <a:t>)</a:t>
            </a:r>
          </a:p>
          <a:p>
            <a:pPr>
              <a:spcAft>
                <a:spcPts val="600"/>
              </a:spcAft>
            </a:pPr>
            <a:r>
              <a:rPr lang="en-US" dirty="0"/>
              <a:t>Results: lm(Heart ~ Coffee + Stress)</a:t>
            </a:r>
          </a:p>
        </p:txBody>
      </p:sp>
      <p:pic>
        <p:nvPicPr>
          <p:cNvPr id="819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05355" y="2819401"/>
            <a:ext cx="3629025" cy="14763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TextBox 4"/>
          <p:cNvSpPr txBox="1"/>
          <p:nvPr/>
        </p:nvSpPr>
        <p:spPr>
          <a:xfrm>
            <a:off x="8005354" y="4648200"/>
            <a:ext cx="3677058" cy="1754326"/>
          </a:xfrm>
          <a:prstGeom prst="rect">
            <a:avLst/>
          </a:prstGeom>
          <a:noFill/>
        </p:spPr>
        <p:txBody>
          <a:bodyPr wrap="square" rtlCol="0">
            <a:spAutoFit/>
          </a:bodyPr>
          <a:lstStyle/>
          <a:p>
            <a:r>
              <a:rPr lang="en-US" dirty="0"/>
              <a:t>Wow! That means I can drink all the coffee I want as long as I avoid stress.</a:t>
            </a:r>
          </a:p>
          <a:p>
            <a:endParaRPr lang="en-US" dirty="0"/>
          </a:p>
          <a:p>
            <a:r>
              <a:rPr lang="en-US" dirty="0"/>
              <a:t>But what happens if there is measurement error in y or x</a:t>
            </a:r>
            <a:r>
              <a:rPr lang="en-US" baseline="-25000" dirty="0"/>
              <a:t>1</a:t>
            </a:r>
            <a:r>
              <a:rPr lang="en-US" dirty="0"/>
              <a:t> , x</a:t>
            </a:r>
            <a:r>
              <a:rPr lang="en-US" baseline="-25000" dirty="0"/>
              <a:t>2</a:t>
            </a:r>
            <a:r>
              <a:rPr lang="en-US" dirty="0"/>
              <a:t> ?</a:t>
            </a:r>
          </a:p>
        </p:txBody>
      </p:sp>
      <p:sp>
        <p:nvSpPr>
          <p:cNvPr id="6" name="TextBox 5"/>
          <p:cNvSpPr txBox="1"/>
          <p:nvPr/>
        </p:nvSpPr>
        <p:spPr>
          <a:xfrm>
            <a:off x="11506200" y="3940294"/>
            <a:ext cx="457200" cy="307777"/>
          </a:xfrm>
          <a:prstGeom prst="rect">
            <a:avLst/>
          </a:prstGeom>
          <a:noFill/>
        </p:spPr>
        <p:txBody>
          <a:bodyPr wrap="square" rtlCol="0">
            <a:spAutoFit/>
          </a:bodyPr>
          <a:lstStyle/>
          <a:p>
            <a:pPr algn="ctr"/>
            <a:r>
              <a:rPr lang="en-US" sz="1400" dirty="0">
                <a:solidFill>
                  <a:srgbClr val="00B050"/>
                </a:solidFill>
                <a:sym typeface="Wingdings"/>
              </a:rPr>
              <a:t></a:t>
            </a:r>
            <a:endParaRPr lang="en-US" sz="1400" dirty="0">
              <a:solidFill>
                <a:srgbClr val="00B050"/>
              </a:solidFill>
            </a:endParaRPr>
          </a:p>
        </p:txBody>
      </p:sp>
      <p:sp>
        <p:nvSpPr>
          <p:cNvPr id="8" name="TextBox 7"/>
          <p:cNvSpPr txBox="1"/>
          <p:nvPr/>
        </p:nvSpPr>
        <p:spPr>
          <a:xfrm>
            <a:off x="11506200" y="3786405"/>
            <a:ext cx="457200" cy="307777"/>
          </a:xfrm>
          <a:prstGeom prst="rect">
            <a:avLst/>
          </a:prstGeom>
          <a:noFill/>
        </p:spPr>
        <p:txBody>
          <a:bodyPr wrap="square" rtlCol="0">
            <a:spAutoFit/>
          </a:bodyPr>
          <a:lstStyle/>
          <a:p>
            <a:pPr algn="ctr"/>
            <a:r>
              <a:rPr lang="en-US" sz="1400" dirty="0">
                <a:solidFill>
                  <a:srgbClr val="FF0000"/>
                </a:solidFill>
                <a:sym typeface="Wingdings"/>
              </a:rPr>
              <a:t></a:t>
            </a:r>
            <a:endParaRPr lang="en-US" sz="1400" dirty="0">
              <a:solidFill>
                <a:srgbClr val="FF0000"/>
              </a:solidFill>
            </a:endParaRPr>
          </a:p>
        </p:txBody>
      </p:sp>
    </p:spTree>
    <p:extLst>
      <p:ext uri="{BB962C8B-B14F-4D97-AF65-F5344CB8AC3E}">
        <p14:creationId xmlns:p14="http://schemas.microsoft.com/office/powerpoint/2010/main" val="196365080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Adding measurement error</a:t>
            </a:r>
          </a:p>
        </p:txBody>
      </p:sp>
      <p:sp>
        <p:nvSpPr>
          <p:cNvPr id="4" name="Content Placeholder 3"/>
          <p:cNvSpPr>
            <a:spLocks noGrp="1"/>
          </p:cNvSpPr>
          <p:nvPr>
            <p:ph idx="1"/>
          </p:nvPr>
        </p:nvSpPr>
        <p:spPr>
          <a:xfrm>
            <a:off x="3505200" y="1143000"/>
            <a:ext cx="8229600" cy="1143000"/>
          </a:xfrm>
        </p:spPr>
        <p:txBody>
          <a:bodyPr>
            <a:normAutofit fontScale="92500"/>
          </a:bodyPr>
          <a:lstStyle/>
          <a:p>
            <a:r>
              <a:rPr lang="en-US" sz="2000" dirty="0"/>
              <a:t>Measurement error in Heart (y) decreases precision, but does not add bias</a:t>
            </a:r>
          </a:p>
          <a:p>
            <a:r>
              <a:rPr lang="en-US" sz="2000" dirty="0"/>
              <a:t>Measurement error in Stress (x</a:t>
            </a:r>
            <a:r>
              <a:rPr lang="en-US" sz="2000" baseline="-25000" dirty="0"/>
              <a:t>2</a:t>
            </a:r>
            <a:r>
              <a:rPr lang="en-US" sz="2000" dirty="0"/>
              <a:t>) biases its effect </a:t>
            </a:r>
            <a:r>
              <a:rPr lang="el-GR" sz="2000" dirty="0">
                <a:solidFill>
                  <a:srgbClr val="FF0000"/>
                </a:solidFill>
              </a:rPr>
              <a:t>β</a:t>
            </a:r>
            <a:r>
              <a:rPr lang="en-US" sz="2000" baseline="-25000" dirty="0">
                <a:solidFill>
                  <a:srgbClr val="FF0000"/>
                </a:solidFill>
              </a:rPr>
              <a:t>Stress</a:t>
            </a:r>
            <a:r>
              <a:rPr lang="en-US" sz="2000" dirty="0">
                <a:solidFill>
                  <a:srgbClr val="FF0000"/>
                </a:solidFill>
              </a:rPr>
              <a:t> </a:t>
            </a:r>
            <a:r>
              <a:rPr lang="en-US" sz="2000" dirty="0">
                <a:solidFill>
                  <a:srgbClr val="FF0000"/>
                </a:solidFill>
                <a:sym typeface="Symbol"/>
              </a:rPr>
              <a:t> 0 </a:t>
            </a:r>
            <a:r>
              <a:rPr lang="en-US" sz="2000" dirty="0"/>
              <a:t>&amp; </a:t>
            </a:r>
            <a:r>
              <a:rPr lang="en-US" sz="2000" dirty="0">
                <a:solidFill>
                  <a:srgbClr val="FF0000"/>
                </a:solidFill>
              </a:rPr>
              <a:t>decreases</a:t>
            </a:r>
            <a:r>
              <a:rPr lang="en-US" sz="2000" dirty="0"/>
              <a:t> </a:t>
            </a:r>
            <a:r>
              <a:rPr lang="en-US" sz="2000" dirty="0">
                <a:solidFill>
                  <a:srgbClr val="FF0000"/>
                </a:solidFill>
              </a:rPr>
              <a:t>precision</a:t>
            </a:r>
            <a:r>
              <a:rPr lang="en-US" sz="2000" dirty="0"/>
              <a:t> </a:t>
            </a:r>
          </a:p>
        </p:txBody>
      </p:sp>
      <p:sp>
        <p:nvSpPr>
          <p:cNvPr id="3" name="Slide Number Placeholder 2"/>
          <p:cNvSpPr>
            <a:spLocks noGrp="1"/>
          </p:cNvSpPr>
          <p:nvPr>
            <p:ph type="sldNum" sz="quarter" idx="12"/>
          </p:nvPr>
        </p:nvSpPr>
        <p:spPr/>
        <p:txBody>
          <a:bodyPr/>
          <a:lstStyle/>
          <a:p>
            <a:fld id="{621225AB-15B9-4C79-A121-04D1DC7E2307}" type="slidenum">
              <a:rPr lang="en-US" smtClean="0"/>
              <a:t>28</a:t>
            </a:fld>
            <a:endParaRPr lang="en-US"/>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57601" y="2438401"/>
            <a:ext cx="3834765" cy="3834765"/>
          </a:xfrm>
          <a:prstGeom prst="rect">
            <a:avLst/>
          </a:prstGeom>
        </p:spPr>
      </p:pic>
      <p:pic>
        <p:nvPicPr>
          <p:cNvPr id="7" name="Pictur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848601" y="2438400"/>
            <a:ext cx="3834765" cy="3829050"/>
          </a:xfrm>
          <a:prstGeom prst="rect">
            <a:avLst/>
          </a:prstGeom>
        </p:spPr>
      </p:pic>
    </p:spTree>
    <p:extLst>
      <p:ext uri="{BB962C8B-B14F-4D97-AF65-F5344CB8AC3E}">
        <p14:creationId xmlns:p14="http://schemas.microsoft.com/office/powerpoint/2010/main" val="261527958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Measurement error: β</a:t>
            </a:r>
            <a:r>
              <a:rPr lang="en-US" baseline="-25000" dirty="0"/>
              <a:t>1</a:t>
            </a:r>
            <a:r>
              <a:rPr lang="en-US" dirty="0"/>
              <a:t>, </a:t>
            </a:r>
            <a:r>
              <a:rPr lang="el-GR" dirty="0"/>
              <a:t>β</a:t>
            </a:r>
            <a:r>
              <a:rPr lang="en-CA" baseline="-25000" dirty="0"/>
              <a:t>2</a:t>
            </a:r>
            <a:endParaRPr lang="en-US" baseline="-25000" dirty="0"/>
          </a:p>
        </p:txBody>
      </p:sp>
      <p:sp>
        <p:nvSpPr>
          <p:cNvPr id="6" name="Content Placeholder 5"/>
          <p:cNvSpPr>
            <a:spLocks noGrp="1"/>
          </p:cNvSpPr>
          <p:nvPr>
            <p:ph sz="half" idx="2"/>
          </p:nvPr>
        </p:nvSpPr>
        <p:spPr/>
        <p:txBody>
          <a:bodyPr/>
          <a:lstStyle/>
          <a:p>
            <a:r>
              <a:rPr lang="en-US" dirty="0"/>
              <a:t>As error in Stress increases, </a:t>
            </a:r>
            <a:r>
              <a:rPr lang="el-GR" dirty="0"/>
              <a:t>β</a:t>
            </a:r>
            <a:r>
              <a:rPr lang="en-US" baseline="-25000" dirty="0"/>
              <a:t>Stress</a:t>
            </a:r>
            <a:r>
              <a:rPr lang="en-US" dirty="0"/>
              <a:t> </a:t>
            </a:r>
            <a:r>
              <a:rPr lang="en-US" dirty="0">
                <a:sym typeface="Symbol"/>
              </a:rPr>
              <a:t> 0 . </a:t>
            </a:r>
          </a:p>
          <a:p>
            <a:pPr lvl="1"/>
            <a:r>
              <a:rPr lang="en-US" dirty="0">
                <a:sym typeface="Symbol"/>
              </a:rPr>
              <a:t>OK, understand that now.</a:t>
            </a:r>
          </a:p>
          <a:p>
            <a:r>
              <a:rPr lang="en-US" dirty="0">
                <a:sym typeface="Symbol"/>
              </a:rPr>
              <a:t>But, at the same time, the effect of coffee, </a:t>
            </a:r>
            <a:r>
              <a:rPr lang="el-GR" dirty="0"/>
              <a:t>β</a:t>
            </a:r>
            <a:r>
              <a:rPr lang="en-US" baseline="-25000" dirty="0"/>
              <a:t>Coffee</a:t>
            </a:r>
            <a:r>
              <a:rPr lang="en-US" dirty="0"/>
              <a:t> seems to  become </a:t>
            </a:r>
            <a:r>
              <a:rPr lang="en-US" dirty="0">
                <a:solidFill>
                  <a:srgbClr val="FF0000"/>
                </a:solidFill>
              </a:rPr>
              <a:t>larger</a:t>
            </a:r>
            <a:r>
              <a:rPr lang="en-US" dirty="0"/>
              <a:t>!</a:t>
            </a:r>
          </a:p>
          <a:p>
            <a:r>
              <a:rPr lang="en-US" dirty="0"/>
              <a:t>Elliptical insight:</a:t>
            </a:r>
          </a:p>
          <a:p>
            <a:pPr lvl="1"/>
            <a:r>
              <a:rPr lang="en-US" dirty="0"/>
              <a:t>Increasing error in x</a:t>
            </a:r>
            <a:r>
              <a:rPr lang="en-US" baseline="-25000" dirty="0"/>
              <a:t>2</a:t>
            </a:r>
            <a:r>
              <a:rPr lang="en-US" dirty="0"/>
              <a:t> drives coefficient for x</a:t>
            </a:r>
            <a:r>
              <a:rPr lang="en-US" baseline="-25000" dirty="0"/>
              <a:t>1</a:t>
            </a:r>
            <a:r>
              <a:rPr lang="en-US" dirty="0"/>
              <a:t> toward the marginal model, ignoring x</a:t>
            </a:r>
            <a:r>
              <a:rPr lang="en-US" baseline="-25000" dirty="0"/>
              <a:t>2</a:t>
            </a:r>
            <a:endParaRPr lang="en-US" dirty="0"/>
          </a:p>
          <a:p>
            <a:pPr lvl="1"/>
            <a:r>
              <a:rPr lang="en-US" dirty="0"/>
              <a:t>You can also see that in this case the std. errors of </a:t>
            </a:r>
            <a:r>
              <a:rPr lang="el-GR" dirty="0"/>
              <a:t>β</a:t>
            </a:r>
            <a:r>
              <a:rPr lang="en-US" baseline="-25000" dirty="0"/>
              <a:t>Coffee</a:t>
            </a:r>
            <a:r>
              <a:rPr lang="en-US" dirty="0"/>
              <a:t> </a:t>
            </a:r>
            <a:r>
              <a:rPr lang="en-US" dirty="0">
                <a:solidFill>
                  <a:srgbClr val="FF0000"/>
                </a:solidFill>
              </a:rPr>
              <a:t>decrease</a:t>
            </a:r>
            <a:r>
              <a:rPr lang="en-US" dirty="0"/>
              <a:t> with error in Stress!</a:t>
            </a:r>
          </a:p>
        </p:txBody>
      </p:sp>
      <p:sp>
        <p:nvSpPr>
          <p:cNvPr id="4" name="Slide Number Placeholder 3"/>
          <p:cNvSpPr>
            <a:spLocks noGrp="1"/>
          </p:cNvSpPr>
          <p:nvPr>
            <p:ph type="sldNum" sz="quarter" idx="12"/>
          </p:nvPr>
        </p:nvSpPr>
        <p:spPr/>
        <p:txBody>
          <a:bodyPr/>
          <a:lstStyle/>
          <a:p>
            <a:fld id="{621225AB-15B9-4C79-A121-04D1DC7E2307}" type="slidenum">
              <a:rPr lang="en-US" smtClean="0"/>
              <a:t>29</a:t>
            </a:fld>
            <a:endParaRPr lang="en-US"/>
          </a:p>
        </p:txBody>
      </p:sp>
      <p:pic>
        <p:nvPicPr>
          <p:cNvPr id="8" name="Content Placeholder 7"/>
          <p:cNvPicPr>
            <a:picLocks noGrp="1" noChangeAspect="1"/>
          </p:cNvPicPr>
          <p:nvPr>
            <p:ph sz="half" idx="1"/>
          </p:nvPr>
        </p:nvPicPr>
        <p:blipFill>
          <a:blip r:embed="rId3">
            <a:extLst>
              <a:ext uri="{28A0092B-C50C-407E-A947-70E740481C1C}">
                <a14:useLocalDpi xmlns:a14="http://schemas.microsoft.com/office/drawing/2010/main" val="0"/>
              </a:ext>
            </a:extLst>
          </a:blip>
          <a:stretch>
            <a:fillRect/>
          </a:stretch>
        </p:blipFill>
        <p:spPr>
          <a:xfrm>
            <a:off x="3505200" y="1682410"/>
            <a:ext cx="4038600" cy="4026580"/>
          </a:xfrm>
        </p:spPr>
      </p:pic>
    </p:spTree>
    <p:extLst>
      <p:ext uri="{BB962C8B-B14F-4D97-AF65-F5344CB8AC3E}">
        <p14:creationId xmlns:p14="http://schemas.microsoft.com/office/powerpoint/2010/main" val="334862785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Measurement error biases more than one coefficient</a:t>
            </a:r>
          </a:p>
        </p:txBody>
      </p:sp>
      <p:pic>
        <p:nvPicPr>
          <p:cNvPr id="3" name="Picture 2" descr="coffee-measerr.png"/>
          <p:cNvPicPr>
            <a:picLocks noChangeAspect="1"/>
          </p:cNvPicPr>
          <p:nvPr/>
        </p:nvPicPr>
        <p:blipFill>
          <a:blip r:embed="rId3"/>
          <a:stretch>
            <a:fillRect/>
          </a:stretch>
        </p:blipFill>
        <p:spPr>
          <a:xfrm>
            <a:off x="4133088" y="1691640"/>
            <a:ext cx="3931920" cy="3931920"/>
          </a:xfrm>
          <a:prstGeom prst="rect">
            <a:avLst/>
          </a:prstGeom>
        </p:spPr>
      </p:pic>
      <p:sp>
        <p:nvSpPr>
          <p:cNvPr id="4" name="TextBox 3"/>
          <p:cNvSpPr txBox="1"/>
          <p:nvPr/>
        </p:nvSpPr>
        <p:spPr>
          <a:xfrm>
            <a:off x="841248" y="5669280"/>
            <a:ext cx="10515600" cy="548640"/>
          </a:xfrm>
          <a:prstGeom prst="rect">
            <a:avLst/>
          </a:prstGeom>
          <a:noFill/>
        </p:spPr>
        <p:txBody>
          <a:bodyPr wrap="square">
            <a:spAutoFit/>
          </a:bodyPr>
          <a:lstStyle/>
          <a:p>
            <a:r>
              <a:rPr sz="1800"/>
              <a:t>Error in one predictor attenuates its own coefficient and distorts those of the others.</a:t>
            </a:r>
          </a:p>
        </p:txBody>
      </p:sp>
      <p:sp>
        <p:nvSpPr>
          <p:cNvPr id="5" name="TextBox 4"/>
          <p:cNvSpPr txBox="1"/>
          <p:nvPr/>
        </p:nvSpPr>
        <p:spPr>
          <a:xfrm>
            <a:off x="841248" y="6355080"/>
            <a:ext cx="2743200" cy="320040"/>
          </a:xfrm>
          <a:prstGeom prst="rect">
            <a:avLst/>
          </a:prstGeom>
          <a:noFill/>
        </p:spPr>
        <p:txBody>
          <a:bodyPr wrap="square">
            <a:spAutoFit/>
          </a:bodyPr>
          <a:lstStyle/>
          <a:p>
            <a:r>
              <a:rPr sz="1100">
                <a:solidFill>
                  <a:srgbClr val="707070"/>
                </a:solidFill>
              </a:rPr>
              <a:t>Figure 8.7</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Data space and beta space are dual</a:t>
            </a:r>
          </a:p>
        </p:txBody>
      </p:sp>
      <p:pic>
        <p:nvPicPr>
          <p:cNvPr id="3" name="Picture 2" descr="coffee-data-beta-both.png"/>
          <p:cNvPicPr>
            <a:picLocks noChangeAspect="1"/>
          </p:cNvPicPr>
          <p:nvPr/>
        </p:nvPicPr>
        <p:blipFill>
          <a:blip r:embed="rId3"/>
          <a:stretch>
            <a:fillRect/>
          </a:stretch>
        </p:blipFill>
        <p:spPr>
          <a:xfrm>
            <a:off x="1967636" y="1691640"/>
            <a:ext cx="8262823" cy="3931920"/>
          </a:xfrm>
          <a:prstGeom prst="rect">
            <a:avLst/>
          </a:prstGeom>
        </p:spPr>
      </p:pic>
      <p:sp>
        <p:nvSpPr>
          <p:cNvPr id="4" name="TextBox 3"/>
          <p:cNvSpPr txBox="1"/>
          <p:nvPr/>
        </p:nvSpPr>
        <p:spPr>
          <a:xfrm>
            <a:off x="841248" y="5669280"/>
            <a:ext cx="10515600" cy="548640"/>
          </a:xfrm>
          <a:prstGeom prst="rect">
            <a:avLst/>
          </a:prstGeom>
          <a:noFill/>
        </p:spPr>
        <p:txBody>
          <a:bodyPr wrap="square">
            <a:spAutoFit/>
          </a:bodyPr>
          <a:lstStyle/>
          <a:p>
            <a:r>
              <a:rPr sz="1800"/>
              <a:t>The confidence ellipse for the coefficients is the inverse of the data ellipse of the predictors.</a:t>
            </a:r>
          </a:p>
        </p:txBody>
      </p:sp>
      <p:sp>
        <p:nvSpPr>
          <p:cNvPr id="5" name="TextBox 4"/>
          <p:cNvSpPr txBox="1"/>
          <p:nvPr/>
        </p:nvSpPr>
        <p:spPr>
          <a:xfrm>
            <a:off x="841248" y="6355080"/>
            <a:ext cx="2743200" cy="320040"/>
          </a:xfrm>
          <a:prstGeom prst="rect">
            <a:avLst/>
          </a:prstGeom>
          <a:noFill/>
        </p:spPr>
        <p:txBody>
          <a:bodyPr wrap="square">
            <a:spAutoFit/>
          </a:bodyPr>
          <a:lstStyle/>
          <a:p>
            <a:r>
              <a:rPr sz="1100">
                <a:solidFill>
                  <a:srgbClr val="707070"/>
                </a:solidFill>
              </a:rPr>
              <a:t>Figure 8.3</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Added-variable plots show partial relationships</a:t>
            </a:r>
          </a:p>
        </p:txBody>
      </p:sp>
      <p:pic>
        <p:nvPicPr>
          <p:cNvPr id="3" name="Picture 2" descr="fig-coffee-mcplot-1.png"/>
          <p:cNvPicPr>
            <a:picLocks noChangeAspect="1"/>
          </p:cNvPicPr>
          <p:nvPr/>
        </p:nvPicPr>
        <p:blipFill>
          <a:blip r:embed="rId3"/>
          <a:stretch>
            <a:fillRect/>
          </a:stretch>
        </p:blipFill>
        <p:spPr>
          <a:xfrm>
            <a:off x="2728830" y="1691640"/>
            <a:ext cx="6740434" cy="3931920"/>
          </a:xfrm>
          <a:prstGeom prst="rect">
            <a:avLst/>
          </a:prstGeom>
        </p:spPr>
      </p:pic>
      <p:sp>
        <p:nvSpPr>
          <p:cNvPr id="4" name="TextBox 3"/>
          <p:cNvSpPr txBox="1"/>
          <p:nvPr/>
        </p:nvSpPr>
        <p:spPr>
          <a:xfrm>
            <a:off x="841248" y="5669280"/>
            <a:ext cx="10515600" cy="548640"/>
          </a:xfrm>
          <a:prstGeom prst="rect">
            <a:avLst/>
          </a:prstGeom>
          <a:noFill/>
        </p:spPr>
        <p:txBody>
          <a:bodyPr wrap="square">
            <a:spAutoFit/>
          </a:bodyPr>
          <a:lstStyle/>
          <a:p>
            <a:r>
              <a:rPr sz="1800"/>
              <a:t>Coffee, stress and heart damage: the marginal and the partial slope for coffee have opposite signs.</a:t>
            </a:r>
          </a:p>
        </p:txBody>
      </p:sp>
      <p:sp>
        <p:nvSpPr>
          <p:cNvPr id="5" name="TextBox 4"/>
          <p:cNvSpPr txBox="1"/>
          <p:nvPr/>
        </p:nvSpPr>
        <p:spPr>
          <a:xfrm>
            <a:off x="841248" y="6355080"/>
            <a:ext cx="2743200" cy="320040"/>
          </a:xfrm>
          <a:prstGeom prst="rect">
            <a:avLst/>
          </a:prstGeom>
          <a:noFill/>
        </p:spPr>
        <p:txBody>
          <a:bodyPr wrap="square">
            <a:spAutoFit/>
          </a:bodyPr>
          <a:lstStyle/>
          <a:p>
            <a:r>
              <a:rPr sz="1100">
                <a:solidFill>
                  <a:srgbClr val="707070"/>
                </a:solidFill>
              </a:rPr>
              <a:t>Figure 7.12</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Leverage and influence</a:t>
            </a:r>
          </a:p>
        </p:txBody>
      </p:sp>
      <p:sp>
        <p:nvSpPr>
          <p:cNvPr id="3" name="Content Placeholder 2"/>
          <p:cNvSpPr>
            <a:spLocks noGrp="1"/>
          </p:cNvSpPr>
          <p:nvPr>
            <p:ph sz="half" idx="1"/>
          </p:nvPr>
        </p:nvSpPr>
        <p:spPr/>
        <p:txBody>
          <a:bodyPr/>
          <a:lstStyle/>
          <a:p>
            <a:r>
              <a:t>Leverage: unusual in the predictors</a:t>
            </a:r>
          </a:p>
          <a:p>
            <a:r>
              <a:t>Outlier: a large residual</a:t>
            </a:r>
          </a:p>
          <a:p>
            <a:r>
              <a:t>Influence = leverage x residual</a:t>
            </a:r>
          </a:p>
          <a:p>
            <a:r>
              <a:t>Bubble size: Cook's distance</a:t>
            </a:r>
          </a:p>
        </p:txBody>
      </p:sp>
      <p:pic>
        <p:nvPicPr>
          <p:cNvPr id="4" name="Picture 3" descr="fig-duncan-infl-1.png"/>
          <p:cNvPicPr>
            <a:picLocks noChangeAspect="1"/>
          </p:cNvPicPr>
          <p:nvPr/>
        </p:nvPicPr>
        <p:blipFill>
          <a:blip r:embed="rId3"/>
          <a:stretch>
            <a:fillRect/>
          </a:stretch>
        </p:blipFill>
        <p:spPr>
          <a:xfrm>
            <a:off x="6172200" y="2125980"/>
            <a:ext cx="5184648" cy="3703320"/>
          </a:xfrm>
          <a:prstGeom prst="rect">
            <a:avLst/>
          </a:prstGeom>
        </p:spPr>
      </p:pic>
      <p:sp>
        <p:nvSpPr>
          <p:cNvPr id="5" name="TextBox 4"/>
          <p:cNvSpPr txBox="1"/>
          <p:nvPr/>
        </p:nvSpPr>
        <p:spPr>
          <a:xfrm>
            <a:off x="841248" y="6355080"/>
            <a:ext cx="2743200" cy="320040"/>
          </a:xfrm>
          <a:prstGeom prst="rect">
            <a:avLst/>
          </a:prstGeom>
          <a:noFill/>
        </p:spPr>
        <p:txBody>
          <a:bodyPr wrap="square">
            <a:spAutoFit/>
          </a:bodyPr>
          <a:lstStyle/>
          <a:p>
            <a:r>
              <a:rPr sz="1100">
                <a:solidFill>
                  <a:srgbClr val="707070"/>
                </a:solidFill>
              </a:rPr>
              <a:t>Figure 7.26</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Which observations drive the fit?</a:t>
            </a:r>
          </a:p>
        </p:txBody>
      </p:sp>
      <p:pic>
        <p:nvPicPr>
          <p:cNvPr id="3" name="Picture 2" descr="duncan-av-influence.png"/>
          <p:cNvPicPr>
            <a:picLocks noChangeAspect="1"/>
          </p:cNvPicPr>
          <p:nvPr/>
        </p:nvPicPr>
        <p:blipFill>
          <a:blip r:embed="rId3"/>
          <a:stretch>
            <a:fillRect/>
          </a:stretch>
        </p:blipFill>
        <p:spPr>
          <a:xfrm>
            <a:off x="2167128" y="1691640"/>
            <a:ext cx="7863840" cy="3931920"/>
          </a:xfrm>
          <a:prstGeom prst="rect">
            <a:avLst/>
          </a:prstGeom>
        </p:spPr>
      </p:pic>
      <p:sp>
        <p:nvSpPr>
          <p:cNvPr id="4" name="TextBox 3"/>
          <p:cNvSpPr txBox="1"/>
          <p:nvPr/>
        </p:nvSpPr>
        <p:spPr>
          <a:xfrm>
            <a:off x="841248" y="5669280"/>
            <a:ext cx="10515600" cy="548640"/>
          </a:xfrm>
          <a:prstGeom prst="rect">
            <a:avLst/>
          </a:prstGeom>
          <a:noFill/>
        </p:spPr>
        <p:txBody>
          <a:bodyPr wrap="square">
            <a:spAutoFit/>
          </a:bodyPr>
          <a:lstStyle/>
          <a:p>
            <a:r>
              <a:rPr sz="1800"/>
              <a:t>Green: the residuals for minister and conductor. Red: the fitted line with those two cases omitted.</a:t>
            </a:r>
          </a:p>
        </p:txBody>
      </p:sp>
      <p:sp>
        <p:nvSpPr>
          <p:cNvPr id="5" name="TextBox 4"/>
          <p:cNvSpPr txBox="1"/>
          <p:nvPr/>
        </p:nvSpPr>
        <p:spPr>
          <a:xfrm>
            <a:off x="841248" y="6355080"/>
            <a:ext cx="2743200" cy="320040"/>
          </a:xfrm>
          <a:prstGeom prst="rect">
            <a:avLst/>
          </a:prstGeom>
          <a:noFill/>
        </p:spPr>
        <p:txBody>
          <a:bodyPr wrap="square">
            <a:spAutoFit/>
          </a:bodyPr>
          <a:lstStyle/>
          <a:p>
            <a:r>
              <a:rPr sz="1100">
                <a:solidFill>
                  <a:srgbClr val="707070"/>
                </a:solidFill>
              </a:rPr>
              <a:t>Figure 7.27</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Bias </a:t>
            </a:r>
            <a:r>
              <a:rPr lang="en-US" i="1" dirty="0"/>
              <a:t>vs. </a:t>
            </a:r>
            <a:r>
              <a:rPr lang="en-US" dirty="0"/>
              <a:t>Precision tradeoff</a:t>
            </a:r>
          </a:p>
        </p:txBody>
      </p:sp>
      <p:sp>
        <p:nvSpPr>
          <p:cNvPr id="3" name="Content Placeholder 2"/>
          <p:cNvSpPr>
            <a:spLocks noGrp="1"/>
          </p:cNvSpPr>
          <p:nvPr>
            <p:ph idx="1"/>
          </p:nvPr>
        </p:nvSpPr>
        <p:spPr>
          <a:xfrm>
            <a:off x="3505200" y="1143000"/>
            <a:ext cx="8229600" cy="1981200"/>
          </a:xfrm>
        </p:spPr>
        <p:txBody>
          <a:bodyPr>
            <a:normAutofit/>
          </a:bodyPr>
          <a:lstStyle/>
          <a:p>
            <a:r>
              <a:rPr lang="en-US" dirty="0"/>
              <a:t>Particularly important when the goal is </a:t>
            </a:r>
            <a:r>
              <a:rPr lang="en-US" dirty="0">
                <a:solidFill>
                  <a:srgbClr val="FF0000"/>
                </a:solidFill>
              </a:rPr>
              <a:t>predictive accuracy</a:t>
            </a:r>
          </a:p>
          <a:p>
            <a:pPr lvl="1"/>
            <a:r>
              <a:rPr lang="en-US" dirty="0"/>
              <a:t>Complex models, many predictors, e.g., demand for medical care</a:t>
            </a:r>
          </a:p>
          <a:p>
            <a:pPr lvl="1"/>
            <a:r>
              <a:rPr lang="en-US" dirty="0"/>
              <a:t>In-sample prediction error decreases with model complexity</a:t>
            </a:r>
          </a:p>
          <a:p>
            <a:r>
              <a:rPr lang="en-US" dirty="0"/>
              <a:t>But, in </a:t>
            </a:r>
            <a:r>
              <a:rPr lang="en-US" dirty="0">
                <a:solidFill>
                  <a:srgbClr val="FF0000"/>
                </a:solidFill>
              </a:rPr>
              <a:t>new samples </a:t>
            </a:r>
            <a:r>
              <a:rPr lang="en-US" dirty="0"/>
              <a:t>prediction error suffers from high variance of complex models </a:t>
            </a:r>
          </a:p>
        </p:txBody>
      </p:sp>
      <p:sp>
        <p:nvSpPr>
          <p:cNvPr id="4" name="Slide Number Placeholder 3"/>
          <p:cNvSpPr>
            <a:spLocks noGrp="1"/>
          </p:cNvSpPr>
          <p:nvPr>
            <p:ph type="sldNum" sz="quarter" idx="12"/>
          </p:nvPr>
        </p:nvSpPr>
        <p:spPr/>
        <p:txBody>
          <a:bodyPr/>
          <a:lstStyle/>
          <a:p>
            <a:fld id="{621225AB-15B9-4C79-A121-04D1DC7E2307}" type="slidenum">
              <a:rPr lang="en-US" smtClean="0"/>
              <a:t>35</a:t>
            </a:fld>
            <a:endParaRPr lang="en-US"/>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05600" y="3276600"/>
            <a:ext cx="4403810" cy="3055238"/>
          </a:xfrm>
          <a:prstGeom prst="rect">
            <a:avLst/>
          </a:prstGeom>
        </p:spPr>
      </p:pic>
      <p:sp>
        <p:nvSpPr>
          <p:cNvPr id="6" name="TextBox 5"/>
          <p:cNvSpPr txBox="1"/>
          <p:nvPr/>
        </p:nvSpPr>
        <p:spPr>
          <a:xfrm>
            <a:off x="3505200" y="3505201"/>
            <a:ext cx="3124200" cy="830997"/>
          </a:xfrm>
          <a:prstGeom prst="rect">
            <a:avLst/>
          </a:prstGeom>
          <a:noFill/>
        </p:spPr>
        <p:txBody>
          <a:bodyPr wrap="square" rtlCol="0">
            <a:spAutoFit/>
          </a:bodyPr>
          <a:lstStyle/>
          <a:p>
            <a:r>
              <a:rPr lang="en-US" sz="2400" dirty="0"/>
              <a:t>How to visualize the tradeoff in </a:t>
            </a:r>
            <a:r>
              <a:rPr lang="en-US" sz="2400" dirty="0">
                <a:solidFill>
                  <a:srgbClr val="FF0000"/>
                </a:solidFill>
              </a:rPr>
              <a:t>data</a:t>
            </a:r>
            <a:r>
              <a:rPr lang="en-US" sz="2400" dirty="0"/>
              <a:t>?</a:t>
            </a:r>
          </a:p>
        </p:txBody>
      </p:sp>
      <p:sp>
        <p:nvSpPr>
          <p:cNvPr id="7" name="TextBox 6"/>
          <p:cNvSpPr txBox="1"/>
          <p:nvPr/>
        </p:nvSpPr>
        <p:spPr>
          <a:xfrm>
            <a:off x="3581400" y="4572001"/>
            <a:ext cx="2971800" cy="830997"/>
          </a:xfrm>
          <a:prstGeom prst="rect">
            <a:avLst/>
          </a:prstGeom>
          <a:noFill/>
        </p:spPr>
        <p:txBody>
          <a:bodyPr wrap="square" rtlCol="0">
            <a:spAutoFit/>
          </a:bodyPr>
          <a:lstStyle/>
          <a:p>
            <a:r>
              <a:rPr lang="en-US" sz="2400" dirty="0"/>
              <a:t>+1 if you guessed an ellipse !</a:t>
            </a:r>
          </a:p>
        </p:txBody>
      </p:sp>
    </p:spTree>
    <p:extLst>
      <p:ext uri="{BB962C8B-B14F-4D97-AF65-F5344CB8AC3E}">
        <p14:creationId xmlns:p14="http://schemas.microsoft.com/office/powerpoint/2010/main" val="344063792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Collinearity: narrow data, inflated uncertainty</a:t>
            </a:r>
          </a:p>
        </p:txBody>
      </p:sp>
      <p:pic>
        <p:nvPicPr>
          <p:cNvPr id="3" name="Picture 2" descr="fig-collin-data-beta-1.png"/>
          <p:cNvPicPr>
            <a:picLocks noChangeAspect="1"/>
          </p:cNvPicPr>
          <p:nvPr/>
        </p:nvPicPr>
        <p:blipFill>
          <a:blip r:embed="rId3"/>
          <a:stretch>
            <a:fillRect/>
          </a:stretch>
        </p:blipFill>
        <p:spPr>
          <a:xfrm>
            <a:off x="3346704" y="1691640"/>
            <a:ext cx="5504688" cy="3931920"/>
          </a:xfrm>
          <a:prstGeom prst="rect">
            <a:avLst/>
          </a:prstGeom>
        </p:spPr>
      </p:pic>
      <p:sp>
        <p:nvSpPr>
          <p:cNvPr id="4" name="TextBox 3"/>
          <p:cNvSpPr txBox="1"/>
          <p:nvPr/>
        </p:nvSpPr>
        <p:spPr>
          <a:xfrm>
            <a:off x="841248" y="5669280"/>
            <a:ext cx="10515600" cy="548640"/>
          </a:xfrm>
          <a:prstGeom prst="rect">
            <a:avLst/>
          </a:prstGeom>
          <a:noFill/>
        </p:spPr>
        <p:txBody>
          <a:bodyPr wrap="square">
            <a:spAutoFit/>
          </a:bodyPr>
          <a:lstStyle/>
          <a:p>
            <a:r>
              <a:rPr sz="1800"/>
              <a:t>As the predictors become more correlated, the data ellipse narrows and the confidence ellipse balloons.</a:t>
            </a:r>
          </a:p>
        </p:txBody>
      </p:sp>
      <p:sp>
        <p:nvSpPr>
          <p:cNvPr id="5" name="TextBox 4"/>
          <p:cNvSpPr txBox="1"/>
          <p:nvPr/>
        </p:nvSpPr>
        <p:spPr>
          <a:xfrm>
            <a:off x="841248" y="6355080"/>
            <a:ext cx="2743200" cy="320040"/>
          </a:xfrm>
          <a:prstGeom prst="rect">
            <a:avLst/>
          </a:prstGeom>
          <a:noFill/>
        </p:spPr>
        <p:txBody>
          <a:bodyPr wrap="square">
            <a:spAutoFit/>
          </a:bodyPr>
          <a:lstStyle/>
          <a:p>
            <a:r>
              <a:rPr sz="1100">
                <a:solidFill>
                  <a:srgbClr val="707070"/>
                </a:solidFill>
              </a:rPr>
              <a:t>Figure 9.4</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Where's Waldo? Collinearity lives in the smallest dimensions</a:t>
            </a:r>
          </a:p>
        </p:txBody>
      </p:sp>
      <p:pic>
        <p:nvPicPr>
          <p:cNvPr id="3" name="Picture 2" descr="fig-cars-tableplot-1.png"/>
          <p:cNvPicPr>
            <a:picLocks noChangeAspect="1"/>
          </p:cNvPicPr>
          <p:nvPr/>
        </p:nvPicPr>
        <p:blipFill>
          <a:blip r:embed="rId3"/>
          <a:stretch>
            <a:fillRect/>
          </a:stretch>
        </p:blipFill>
        <p:spPr>
          <a:xfrm>
            <a:off x="841248" y="1828800"/>
            <a:ext cx="5120640" cy="3657600"/>
          </a:xfrm>
          <a:prstGeom prst="rect">
            <a:avLst/>
          </a:prstGeom>
        </p:spPr>
      </p:pic>
      <p:pic>
        <p:nvPicPr>
          <p:cNvPr id="4" name="Picture 3" descr="fig-cars-collin-biplot-1.png"/>
          <p:cNvPicPr>
            <a:picLocks noChangeAspect="1"/>
          </p:cNvPicPr>
          <p:nvPr/>
        </p:nvPicPr>
        <p:blipFill>
          <a:blip r:embed="rId4"/>
          <a:stretch>
            <a:fillRect/>
          </a:stretch>
        </p:blipFill>
        <p:spPr>
          <a:xfrm>
            <a:off x="6236208" y="1828800"/>
            <a:ext cx="5120640" cy="3657600"/>
          </a:xfrm>
          <a:prstGeom prst="rect">
            <a:avLst/>
          </a:prstGeom>
        </p:spPr>
      </p:pic>
      <p:sp>
        <p:nvSpPr>
          <p:cNvPr id="5" name="TextBox 4"/>
          <p:cNvSpPr txBox="1"/>
          <p:nvPr/>
        </p:nvSpPr>
        <p:spPr>
          <a:xfrm>
            <a:off x="841248" y="5669280"/>
            <a:ext cx="10515600" cy="548640"/>
          </a:xfrm>
          <a:prstGeom prst="rect">
            <a:avLst/>
          </a:prstGeom>
          <a:noFill/>
        </p:spPr>
        <p:txBody>
          <a:bodyPr wrap="square">
            <a:spAutoFit/>
          </a:bodyPr>
          <a:lstStyle/>
          <a:p>
            <a:r>
              <a:rPr sz="1800"/>
              <a:t>Tableplot of condition indices and variance proportions; biplot of the two smallest dimensions (Cars data).</a:t>
            </a:r>
          </a:p>
        </p:txBody>
      </p:sp>
      <p:sp>
        <p:nvSpPr>
          <p:cNvPr id="6" name="TextBox 5"/>
          <p:cNvSpPr txBox="1"/>
          <p:nvPr/>
        </p:nvSpPr>
        <p:spPr>
          <a:xfrm>
            <a:off x="841248" y="6355080"/>
            <a:ext cx="2743200" cy="320040"/>
          </a:xfrm>
          <a:prstGeom prst="rect">
            <a:avLst/>
          </a:prstGeom>
          <a:noFill/>
        </p:spPr>
        <p:txBody>
          <a:bodyPr wrap="square">
            <a:spAutoFit/>
          </a:bodyPr>
          <a:lstStyle/>
          <a:p>
            <a:r>
              <a:rPr sz="1100">
                <a:solidFill>
                  <a:srgbClr val="707070"/>
                </a:solidFill>
              </a:rPr>
              <a:t>Figure 9.6, 9.7</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Ridge regression: shrink to gain precision</a:t>
            </a:r>
          </a:p>
        </p:txBody>
      </p:sp>
      <p:sp>
        <p:nvSpPr>
          <p:cNvPr id="3" name="Content Placeholder 2"/>
          <p:cNvSpPr>
            <a:spLocks noGrp="1"/>
          </p:cNvSpPr>
          <p:nvPr>
            <p:ph sz="half" idx="1"/>
          </p:nvPr>
        </p:nvSpPr>
        <p:spPr/>
        <p:txBody>
          <a:bodyPr/>
          <a:lstStyle/>
          <a:p>
            <a:r>
              <a:t>Constrain the size of the coefficients</a:t>
            </a:r>
          </a:p>
          <a:p>
            <a:r>
              <a:t>The estimate moves from the OLS solution toward the origin</a:t>
            </a:r>
          </a:p>
          <a:p>
            <a:r>
              <a:t>A little bias buys a lot of precision</a:t>
            </a:r>
          </a:p>
        </p:txBody>
      </p:sp>
      <p:pic>
        <p:nvPicPr>
          <p:cNvPr id="4" name="Picture 3" descr="ridge-demo.png"/>
          <p:cNvPicPr>
            <a:picLocks noChangeAspect="1"/>
          </p:cNvPicPr>
          <p:nvPr/>
        </p:nvPicPr>
        <p:blipFill>
          <a:blip r:embed="rId3"/>
          <a:stretch>
            <a:fillRect/>
          </a:stretch>
        </p:blipFill>
        <p:spPr>
          <a:xfrm>
            <a:off x="6569964" y="1783080"/>
            <a:ext cx="4389120" cy="4389120"/>
          </a:xfrm>
          <a:prstGeom prst="rect">
            <a:avLst/>
          </a:prstGeom>
        </p:spPr>
      </p:pic>
      <p:sp>
        <p:nvSpPr>
          <p:cNvPr id="5" name="TextBox 4"/>
          <p:cNvSpPr txBox="1"/>
          <p:nvPr/>
        </p:nvSpPr>
        <p:spPr>
          <a:xfrm>
            <a:off x="841248" y="6355080"/>
            <a:ext cx="2743200" cy="320040"/>
          </a:xfrm>
          <a:prstGeom prst="rect">
            <a:avLst/>
          </a:prstGeom>
          <a:noFill/>
        </p:spPr>
        <p:txBody>
          <a:bodyPr wrap="square">
            <a:spAutoFit/>
          </a:bodyPr>
          <a:lstStyle/>
          <a:p>
            <a:r>
              <a:rPr sz="1100">
                <a:solidFill>
                  <a:srgbClr val="707070"/>
                </a:solidFill>
              </a:rPr>
              <a:t>Figure 9.9</a:t>
            </a:r>
          </a:p>
        </p:txBody>
      </p:sp>
      <p:pic>
        <p:nvPicPr>
          <p:cNvPr id="7" name="Picture 6" descr="logo.png">
            <a:extLst>
              <a:ext uri="{FF2B5EF4-FFF2-40B4-BE49-F238E27FC236}">
                <a16:creationId xmlns:a16="http://schemas.microsoft.com/office/drawing/2014/main" id="{0D4E33D8-FD24-E2AF-1168-8C9676AF6E34}"/>
              </a:ext>
            </a:extLst>
          </p:cNvPr>
          <p:cNvPicPr>
            <a:picLocks noChangeAspect="1"/>
          </p:cNvPicPr>
          <p:nvPr/>
        </p:nvPicPr>
        <p:blipFill>
          <a:blip r:embed="rId4"/>
          <a:stretch>
            <a:fillRect/>
          </a:stretch>
        </p:blipFill>
        <p:spPr>
          <a:xfrm>
            <a:off x="10567827" y="365125"/>
            <a:ext cx="785973" cy="914400"/>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usual ridge trace shows only the estimates</a:t>
            </a:r>
          </a:p>
        </p:txBody>
      </p:sp>
      <p:sp>
        <p:nvSpPr>
          <p:cNvPr id="3" name="Content Placeholder 2"/>
          <p:cNvSpPr>
            <a:spLocks noGrp="1"/>
          </p:cNvSpPr>
          <p:nvPr>
            <p:ph sz="half" idx="1"/>
          </p:nvPr>
        </p:nvSpPr>
        <p:spPr/>
        <p:txBody>
          <a:bodyPr/>
          <a:lstStyle/>
          <a:p>
            <a:r>
              <a:t>Longley data: six highly collinear economic predictors</a:t>
            </a:r>
          </a:p>
          <a:p>
            <a:r>
              <a:t>Coefficients plotted against the shrinkage constant</a:t>
            </a:r>
          </a:p>
          <a:p>
            <a:r>
              <a:t>Shows the bias, but nothing about precision</a:t>
            </a:r>
          </a:p>
        </p:txBody>
      </p:sp>
      <p:pic>
        <p:nvPicPr>
          <p:cNvPr id="4" name="Picture 3" descr="fig-longley-traceplot1-1.png"/>
          <p:cNvPicPr>
            <a:picLocks noChangeAspect="1"/>
          </p:cNvPicPr>
          <p:nvPr/>
        </p:nvPicPr>
        <p:blipFill>
          <a:blip r:embed="rId3"/>
          <a:stretch>
            <a:fillRect/>
          </a:stretch>
        </p:blipFill>
        <p:spPr>
          <a:xfrm>
            <a:off x="6172200" y="2125980"/>
            <a:ext cx="5184648" cy="3703320"/>
          </a:xfrm>
          <a:prstGeom prst="rect">
            <a:avLst/>
          </a:prstGeom>
        </p:spPr>
      </p:pic>
      <p:sp>
        <p:nvSpPr>
          <p:cNvPr id="5" name="TextBox 4"/>
          <p:cNvSpPr txBox="1"/>
          <p:nvPr/>
        </p:nvSpPr>
        <p:spPr>
          <a:xfrm>
            <a:off x="841248" y="6355080"/>
            <a:ext cx="2743200" cy="320040"/>
          </a:xfrm>
          <a:prstGeom prst="rect">
            <a:avLst/>
          </a:prstGeom>
          <a:noFill/>
        </p:spPr>
        <p:txBody>
          <a:bodyPr wrap="square">
            <a:spAutoFit/>
          </a:bodyPr>
          <a:lstStyle/>
          <a:p>
            <a:r>
              <a:rPr sz="1100">
                <a:solidFill>
                  <a:srgbClr val="707070"/>
                </a:solidFill>
              </a:rPr>
              <a:t>Figure 9.10</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Bivariate ridge traces show </a:t>
            </a:r>
            <a:r>
              <a:rPr b="1" dirty="0"/>
              <a:t>bias</a:t>
            </a:r>
            <a:r>
              <a:rPr dirty="0"/>
              <a:t> and </a:t>
            </a:r>
            <a:r>
              <a:rPr b="1" dirty="0"/>
              <a:t>precision</a:t>
            </a:r>
            <a:r>
              <a:rPr dirty="0"/>
              <a:t> together</a:t>
            </a:r>
          </a:p>
        </p:txBody>
      </p:sp>
      <p:pic>
        <p:nvPicPr>
          <p:cNvPr id="3" name="Picture 2" descr="fig-longley-pairs-1.png"/>
          <p:cNvPicPr>
            <a:picLocks noChangeAspect="1"/>
          </p:cNvPicPr>
          <p:nvPr/>
        </p:nvPicPr>
        <p:blipFill>
          <a:blip r:embed="rId3"/>
          <a:stretch>
            <a:fillRect/>
          </a:stretch>
        </p:blipFill>
        <p:spPr>
          <a:xfrm>
            <a:off x="841248" y="1417320"/>
            <a:ext cx="5212080" cy="5212080"/>
          </a:xfrm>
          <a:prstGeom prst="rect">
            <a:avLst/>
          </a:prstGeom>
        </p:spPr>
      </p:pic>
      <p:sp>
        <p:nvSpPr>
          <p:cNvPr id="4" name="TextBox 3"/>
          <p:cNvSpPr txBox="1"/>
          <p:nvPr/>
        </p:nvSpPr>
        <p:spPr>
          <a:xfrm>
            <a:off x="6419088" y="1417320"/>
            <a:ext cx="4937760" cy="5212080"/>
          </a:xfrm>
          <a:prstGeom prst="rect">
            <a:avLst/>
          </a:prstGeom>
          <a:noFill/>
        </p:spPr>
        <p:txBody>
          <a:bodyPr wrap="square" anchor="ctr">
            <a:noAutofit/>
          </a:bodyPr>
          <a:lstStyle/>
          <a:p>
            <a:r>
              <a:rPr sz="2400"/>
              <a:t>Each panel: the confidence ellipse for a pair of coefficients shrinking along the ridge path.</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 low-rank view of ridge regression</a:t>
            </a:r>
          </a:p>
        </p:txBody>
      </p:sp>
      <p:sp>
        <p:nvSpPr>
          <p:cNvPr id="3" name="Content Placeholder 2"/>
          <p:cNvSpPr>
            <a:spLocks noGrp="1"/>
          </p:cNvSpPr>
          <p:nvPr>
            <p:ph sz="half" idx="1"/>
          </p:nvPr>
        </p:nvSpPr>
        <p:spPr/>
        <p:txBody>
          <a:bodyPr/>
          <a:lstStyle/>
          <a:p>
            <a:r>
              <a:t>Transform to the principal component space of the predictors</a:t>
            </a:r>
          </a:p>
          <a:p>
            <a:r>
              <a:t>Shrinkage happens mostly in the smallest dimensions</a:t>
            </a:r>
          </a:p>
          <a:p>
            <a:r>
              <a:t>A biplot shows how the variables relate to them</a:t>
            </a:r>
          </a:p>
        </p:txBody>
      </p:sp>
      <p:pic>
        <p:nvPicPr>
          <p:cNvPr id="4" name="Picture 3" descr="fig-longley-pca-biplot-1.png"/>
          <p:cNvPicPr>
            <a:picLocks noChangeAspect="1"/>
          </p:cNvPicPr>
          <p:nvPr/>
        </p:nvPicPr>
        <p:blipFill>
          <a:blip r:embed="rId3"/>
          <a:stretch>
            <a:fillRect/>
          </a:stretch>
        </p:blipFill>
        <p:spPr>
          <a:xfrm>
            <a:off x="6569964" y="1783080"/>
            <a:ext cx="4389120" cy="4389120"/>
          </a:xfrm>
          <a:prstGeom prst="rect">
            <a:avLst/>
          </a:prstGeom>
        </p:spPr>
      </p:pic>
      <p:sp>
        <p:nvSpPr>
          <p:cNvPr id="5" name="TextBox 4"/>
          <p:cNvSpPr txBox="1"/>
          <p:nvPr/>
        </p:nvSpPr>
        <p:spPr>
          <a:xfrm>
            <a:off x="841248" y="6355080"/>
            <a:ext cx="2743200" cy="320040"/>
          </a:xfrm>
          <a:prstGeom prst="rect">
            <a:avLst/>
          </a:prstGeom>
          <a:noFill/>
        </p:spPr>
        <p:txBody>
          <a:bodyPr wrap="square">
            <a:spAutoFit/>
          </a:bodyPr>
          <a:lstStyle/>
          <a:p>
            <a:r>
              <a:rPr sz="1100">
                <a:solidFill>
                  <a:srgbClr val="707070"/>
                </a:solidFill>
              </a:rPr>
              <a:t>Figure 9.18</a:t>
            </a:r>
          </a:p>
        </p:txBody>
      </p:sp>
      <p:pic>
        <p:nvPicPr>
          <p:cNvPr id="7" name="Picture 6" descr="logo.png">
            <a:extLst>
              <a:ext uri="{FF2B5EF4-FFF2-40B4-BE49-F238E27FC236}">
                <a16:creationId xmlns:a16="http://schemas.microsoft.com/office/drawing/2014/main" id="{2962ADBA-4003-3C31-9B29-F4252D9238AA}"/>
              </a:ext>
            </a:extLst>
          </p:cNvPr>
          <p:cNvPicPr>
            <a:picLocks noChangeAspect="1"/>
          </p:cNvPicPr>
          <p:nvPr/>
        </p:nvPicPr>
        <p:blipFill>
          <a:blip r:embed="rId4"/>
          <a:stretch>
            <a:fillRect/>
          </a:stretch>
        </p:blipFill>
        <p:spPr>
          <a:xfrm>
            <a:off x="10567827" y="365125"/>
            <a:ext cx="785973" cy="914400"/>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HE plot framework</a:t>
            </a:r>
          </a:p>
        </p:txBody>
      </p:sp>
      <p:sp>
        <p:nvSpPr>
          <p:cNvPr id="3" name="Text Placeholder 2"/>
          <p:cNvSpPr>
            <a:spLocks noGrp="1"/>
          </p:cNvSpPr>
          <p:nvPr>
            <p:ph type="body" idx="1"/>
          </p:nvPr>
        </p:nvSpPr>
        <p:spPr/>
        <p:txBody>
          <a:bodyPr/>
          <a:lstStyle/>
          <a:p>
            <a:r>
              <a:t>Seeing multivariate tests as ellipses</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From the t-test to Hotelling's T²</a:t>
            </a:r>
          </a:p>
        </p:txBody>
      </p:sp>
      <p:sp>
        <p:nvSpPr>
          <p:cNvPr id="3" name="Content Placeholder 2"/>
          <p:cNvSpPr>
            <a:spLocks noGrp="1"/>
          </p:cNvSpPr>
          <p:nvPr>
            <p:ph sz="half" idx="1"/>
          </p:nvPr>
        </p:nvSpPr>
        <p:spPr/>
        <p:txBody>
          <a:bodyPr/>
          <a:lstStyle/>
          <a:p>
            <a:r>
              <a:t>Two groups, several responses</a:t>
            </a:r>
          </a:p>
          <a:p>
            <a:r>
              <a:t>T² is the largest squared t over all linear combinations of the responses</a:t>
            </a:r>
          </a:p>
          <a:p>
            <a:r>
              <a:t>That best combination is the discriminant axis</a:t>
            </a:r>
          </a:p>
        </p:txBody>
      </p:sp>
      <p:pic>
        <p:nvPicPr>
          <p:cNvPr id="4" name="Picture 3" descr="T2-diagram.png"/>
          <p:cNvPicPr>
            <a:picLocks noChangeAspect="1"/>
          </p:cNvPicPr>
          <p:nvPr/>
        </p:nvPicPr>
        <p:blipFill>
          <a:blip r:embed="rId3"/>
          <a:stretch>
            <a:fillRect/>
          </a:stretch>
        </p:blipFill>
        <p:spPr>
          <a:xfrm>
            <a:off x="6350508" y="1783080"/>
            <a:ext cx="4828032" cy="4389120"/>
          </a:xfrm>
          <a:prstGeom prst="rect">
            <a:avLst/>
          </a:prstGeom>
        </p:spPr>
      </p:pic>
      <p:sp>
        <p:nvSpPr>
          <p:cNvPr id="5" name="TextBox 4"/>
          <p:cNvSpPr txBox="1"/>
          <p:nvPr/>
        </p:nvSpPr>
        <p:spPr>
          <a:xfrm>
            <a:off x="841248" y="6355080"/>
            <a:ext cx="2743200" cy="320040"/>
          </a:xfrm>
          <a:prstGeom prst="rect">
            <a:avLst/>
          </a:prstGeom>
          <a:noFill/>
        </p:spPr>
        <p:txBody>
          <a:bodyPr wrap="square">
            <a:spAutoFit/>
          </a:bodyPr>
          <a:lstStyle/>
          <a:p>
            <a:r>
              <a:rPr sz="1100">
                <a:solidFill>
                  <a:srgbClr val="707070"/>
                </a:solidFill>
              </a:rPr>
              <a:t>Figure 10.1</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CAA0AE-DBB2-AE3D-3076-61638ADA8B4B}"/>
              </a:ext>
            </a:extLst>
          </p:cNvPr>
          <p:cNvSpPr>
            <a:spLocks noGrp="1"/>
          </p:cNvSpPr>
          <p:nvPr>
            <p:ph type="title"/>
          </p:nvPr>
        </p:nvSpPr>
        <p:spPr>
          <a:xfrm>
            <a:off x="9601200" y="274638"/>
            <a:ext cx="2133600" cy="1781134"/>
          </a:xfrm>
        </p:spPr>
        <p:txBody>
          <a:bodyPr>
            <a:normAutofit/>
          </a:bodyPr>
          <a:lstStyle/>
          <a:p>
            <a:r>
              <a:rPr lang="en-CA" sz="3200" dirty="0"/>
              <a:t>HE plots: Visual overview</a:t>
            </a:r>
          </a:p>
        </p:txBody>
      </p:sp>
      <p:sp>
        <p:nvSpPr>
          <p:cNvPr id="3" name="Slide Number Placeholder 2">
            <a:extLst>
              <a:ext uri="{FF2B5EF4-FFF2-40B4-BE49-F238E27FC236}">
                <a16:creationId xmlns:a16="http://schemas.microsoft.com/office/drawing/2014/main" id="{B52CCEF0-929A-4185-E7BE-6AC7C818076B}"/>
              </a:ext>
            </a:extLst>
          </p:cNvPr>
          <p:cNvSpPr>
            <a:spLocks noGrp="1"/>
          </p:cNvSpPr>
          <p:nvPr>
            <p:ph type="sldNum" sz="quarter" idx="12"/>
          </p:nvPr>
        </p:nvSpPr>
        <p:spPr/>
        <p:txBody>
          <a:bodyPr/>
          <a:lstStyle/>
          <a:p>
            <a:fld id="{621225AB-15B9-4C79-A121-04D1DC7E2307}" type="slidenum">
              <a:rPr lang="en-US" smtClean="0"/>
              <a:t>44</a:t>
            </a:fld>
            <a:endParaRPr lang="en-US"/>
          </a:p>
        </p:txBody>
      </p:sp>
      <p:grpSp>
        <p:nvGrpSpPr>
          <p:cNvPr id="27" name="Group 26">
            <a:extLst>
              <a:ext uri="{FF2B5EF4-FFF2-40B4-BE49-F238E27FC236}">
                <a16:creationId xmlns:a16="http://schemas.microsoft.com/office/drawing/2014/main" id="{CA4E0976-94D6-BD14-0C25-42A03307EEAB}"/>
              </a:ext>
            </a:extLst>
          </p:cNvPr>
          <p:cNvGrpSpPr/>
          <p:nvPr/>
        </p:nvGrpSpPr>
        <p:grpSpPr>
          <a:xfrm>
            <a:off x="3234310" y="240268"/>
            <a:ext cx="2898951" cy="3429332"/>
            <a:chOff x="186309" y="240268"/>
            <a:chExt cx="2898951" cy="3429332"/>
          </a:xfrm>
        </p:grpSpPr>
        <p:pic>
          <p:nvPicPr>
            <p:cNvPr id="9" name="Picture 8" descr="A diagram of different colored circles&#10;&#10;Description automatically generated">
              <a:extLst>
                <a:ext uri="{FF2B5EF4-FFF2-40B4-BE49-F238E27FC236}">
                  <a16:creationId xmlns:a16="http://schemas.microsoft.com/office/drawing/2014/main" id="{2723CB26-B161-9E65-6863-59BA16DA048F}"/>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86309" y="609600"/>
              <a:ext cx="2898951" cy="3060000"/>
            </a:xfrm>
            <a:prstGeom prst="rect">
              <a:avLst/>
            </a:prstGeom>
          </p:spPr>
        </p:pic>
        <p:sp>
          <p:nvSpPr>
            <p:cNvPr id="16" name="TextBox 15">
              <a:extLst>
                <a:ext uri="{FF2B5EF4-FFF2-40B4-BE49-F238E27FC236}">
                  <a16:creationId xmlns:a16="http://schemas.microsoft.com/office/drawing/2014/main" id="{01346B4E-1C2E-F5A9-8AE3-60863479CEFB}"/>
                </a:ext>
              </a:extLst>
            </p:cNvPr>
            <p:cNvSpPr txBox="1"/>
            <p:nvPr/>
          </p:nvSpPr>
          <p:spPr>
            <a:xfrm>
              <a:off x="751438" y="240268"/>
              <a:ext cx="1600200" cy="369332"/>
            </a:xfrm>
            <a:prstGeom prst="rect">
              <a:avLst/>
            </a:prstGeom>
            <a:noFill/>
          </p:spPr>
          <p:txBody>
            <a:bodyPr wrap="square" rtlCol="0">
              <a:spAutoFit/>
            </a:bodyPr>
            <a:lstStyle/>
            <a:p>
              <a:r>
                <a:rPr lang="en-CA" dirty="0"/>
                <a:t>Data ellipses</a:t>
              </a:r>
            </a:p>
          </p:txBody>
        </p:sp>
      </p:grpSp>
      <p:grpSp>
        <p:nvGrpSpPr>
          <p:cNvPr id="28" name="Group 27">
            <a:extLst>
              <a:ext uri="{FF2B5EF4-FFF2-40B4-BE49-F238E27FC236}">
                <a16:creationId xmlns:a16="http://schemas.microsoft.com/office/drawing/2014/main" id="{CDF3D762-7C82-66A5-CD3D-225CEC92305F}"/>
              </a:ext>
            </a:extLst>
          </p:cNvPr>
          <p:cNvGrpSpPr/>
          <p:nvPr/>
        </p:nvGrpSpPr>
        <p:grpSpPr>
          <a:xfrm>
            <a:off x="6322921" y="278182"/>
            <a:ext cx="2898958" cy="3391418"/>
            <a:chOff x="3274921" y="278182"/>
            <a:chExt cx="2898958" cy="3391418"/>
          </a:xfrm>
        </p:grpSpPr>
        <p:pic>
          <p:nvPicPr>
            <p:cNvPr id="11" name="Picture 10" descr="A diagram of different types of species&#10;&#10;Description automatically generated">
              <a:extLst>
                <a:ext uri="{FF2B5EF4-FFF2-40B4-BE49-F238E27FC236}">
                  <a16:creationId xmlns:a16="http://schemas.microsoft.com/office/drawing/2014/main" id="{23A0FC60-DA35-4DF2-EC09-D3C81BBE340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274921" y="609600"/>
              <a:ext cx="2898958" cy="3060000"/>
            </a:xfrm>
            <a:prstGeom prst="rect">
              <a:avLst/>
            </a:prstGeom>
          </p:spPr>
        </p:pic>
        <p:sp>
          <p:nvSpPr>
            <p:cNvPr id="17" name="TextBox 16">
              <a:extLst>
                <a:ext uri="{FF2B5EF4-FFF2-40B4-BE49-F238E27FC236}">
                  <a16:creationId xmlns:a16="http://schemas.microsoft.com/office/drawing/2014/main" id="{A31BD52C-6907-FEB7-82D6-16D2966F7429}"/>
                </a:ext>
              </a:extLst>
            </p:cNvPr>
            <p:cNvSpPr txBox="1"/>
            <p:nvPr/>
          </p:nvSpPr>
          <p:spPr>
            <a:xfrm>
              <a:off x="3771900" y="278182"/>
              <a:ext cx="1600200" cy="369332"/>
            </a:xfrm>
            <a:prstGeom prst="rect">
              <a:avLst/>
            </a:prstGeom>
            <a:noFill/>
          </p:spPr>
          <p:txBody>
            <a:bodyPr wrap="square" rtlCol="0">
              <a:spAutoFit/>
            </a:bodyPr>
            <a:lstStyle/>
            <a:p>
              <a:r>
                <a:rPr lang="en-CA" dirty="0"/>
                <a:t> HE plot</a:t>
              </a:r>
            </a:p>
          </p:txBody>
        </p:sp>
      </p:grpSp>
      <p:grpSp>
        <p:nvGrpSpPr>
          <p:cNvPr id="35" name="Group 34">
            <a:extLst>
              <a:ext uri="{FF2B5EF4-FFF2-40B4-BE49-F238E27FC236}">
                <a16:creationId xmlns:a16="http://schemas.microsoft.com/office/drawing/2014/main" id="{6AB93CCE-DAE8-55F2-06A2-4580521AA299}"/>
              </a:ext>
            </a:extLst>
          </p:cNvPr>
          <p:cNvGrpSpPr/>
          <p:nvPr/>
        </p:nvGrpSpPr>
        <p:grpSpPr>
          <a:xfrm>
            <a:off x="7772401" y="3798000"/>
            <a:ext cx="4064217" cy="2942968"/>
            <a:chOff x="4724400" y="3798000"/>
            <a:chExt cx="4064217" cy="2942968"/>
          </a:xfrm>
        </p:grpSpPr>
        <p:pic>
          <p:nvPicPr>
            <p:cNvPr id="13" name="Picture 12" descr="A diagram of a number of objects&#10;&#10;Description automatically generated with medium confidence">
              <a:extLst>
                <a:ext uri="{FF2B5EF4-FFF2-40B4-BE49-F238E27FC236}">
                  <a16:creationId xmlns:a16="http://schemas.microsoft.com/office/drawing/2014/main" id="{9CB9E4E5-278B-05BC-95EF-0A0860C6D9A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724400" y="4090392"/>
              <a:ext cx="4064217" cy="2650576"/>
            </a:xfrm>
            <a:prstGeom prst="rect">
              <a:avLst/>
            </a:prstGeom>
          </p:spPr>
        </p:pic>
        <p:sp>
          <p:nvSpPr>
            <p:cNvPr id="19" name="TextBox 18">
              <a:extLst>
                <a:ext uri="{FF2B5EF4-FFF2-40B4-BE49-F238E27FC236}">
                  <a16:creationId xmlns:a16="http://schemas.microsoft.com/office/drawing/2014/main" id="{9C3C4EF9-B1DF-F16D-0E9E-81CF349883AD}"/>
                </a:ext>
              </a:extLst>
            </p:cNvPr>
            <p:cNvSpPr txBox="1"/>
            <p:nvPr/>
          </p:nvSpPr>
          <p:spPr>
            <a:xfrm>
              <a:off x="5410200" y="3798000"/>
              <a:ext cx="2561973" cy="369332"/>
            </a:xfrm>
            <a:prstGeom prst="rect">
              <a:avLst/>
            </a:prstGeom>
            <a:noFill/>
          </p:spPr>
          <p:txBody>
            <a:bodyPr wrap="square" rtlCol="0">
              <a:spAutoFit/>
            </a:bodyPr>
            <a:lstStyle/>
            <a:p>
              <a:r>
                <a:rPr lang="en-CA" dirty="0"/>
                <a:t>Canonical space</a:t>
              </a:r>
            </a:p>
          </p:txBody>
        </p:sp>
      </p:grpSp>
      <p:sp>
        <p:nvSpPr>
          <p:cNvPr id="24" name="Arrow: Right 23">
            <a:extLst>
              <a:ext uri="{FF2B5EF4-FFF2-40B4-BE49-F238E27FC236}">
                <a16:creationId xmlns:a16="http://schemas.microsoft.com/office/drawing/2014/main" id="{91B6A1B1-3BB8-0829-6A35-27BC37FB53A7}"/>
              </a:ext>
            </a:extLst>
          </p:cNvPr>
          <p:cNvSpPr/>
          <p:nvPr/>
        </p:nvSpPr>
        <p:spPr>
          <a:xfrm>
            <a:off x="5903821" y="319527"/>
            <a:ext cx="838200" cy="293132"/>
          </a:xfrm>
          <a:prstGeom prst="rightArrow">
            <a:avLst/>
          </a:prstGeom>
          <a:solidFill>
            <a:schemeClr val="tx2">
              <a:lumMod val="40000"/>
              <a:lumOff val="60000"/>
              <a:alpha val="40000"/>
            </a:schemeClr>
          </a:solidFill>
          <a:ln w="317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Arrow: Right 25">
            <a:extLst>
              <a:ext uri="{FF2B5EF4-FFF2-40B4-BE49-F238E27FC236}">
                <a16:creationId xmlns:a16="http://schemas.microsoft.com/office/drawing/2014/main" id="{D7877107-2E00-2B32-40F8-537EE19284AF}"/>
              </a:ext>
            </a:extLst>
          </p:cNvPr>
          <p:cNvSpPr/>
          <p:nvPr/>
        </p:nvSpPr>
        <p:spPr>
          <a:xfrm>
            <a:off x="7476601" y="3811437"/>
            <a:ext cx="838200" cy="293132"/>
          </a:xfrm>
          <a:prstGeom prst="rightArrow">
            <a:avLst/>
          </a:prstGeom>
          <a:solidFill>
            <a:schemeClr val="tx2">
              <a:lumMod val="40000"/>
              <a:lumOff val="60000"/>
              <a:alpha val="40000"/>
            </a:schemeClr>
          </a:solidFill>
          <a:ln w="317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4" name="Group 33">
            <a:extLst>
              <a:ext uri="{FF2B5EF4-FFF2-40B4-BE49-F238E27FC236}">
                <a16:creationId xmlns:a16="http://schemas.microsoft.com/office/drawing/2014/main" id="{42110AAC-B411-20F6-93EE-1650EC7F84A5}"/>
              </a:ext>
            </a:extLst>
          </p:cNvPr>
          <p:cNvGrpSpPr/>
          <p:nvPr/>
        </p:nvGrpSpPr>
        <p:grpSpPr>
          <a:xfrm>
            <a:off x="3860908" y="3798000"/>
            <a:ext cx="3610050" cy="3060000"/>
            <a:chOff x="812908" y="3798000"/>
            <a:chExt cx="3610050" cy="3060000"/>
          </a:xfrm>
        </p:grpSpPr>
        <p:pic>
          <p:nvPicPr>
            <p:cNvPr id="15" name="Picture 14" descr="A diagram of different colored circles&#10;&#10;Description automatically generated">
              <a:extLst>
                <a:ext uri="{FF2B5EF4-FFF2-40B4-BE49-F238E27FC236}">
                  <a16:creationId xmlns:a16="http://schemas.microsoft.com/office/drawing/2014/main" id="{DF8FA137-1692-78D9-9BF5-ACAD058793F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24000" y="3798000"/>
              <a:ext cx="2898958" cy="3060000"/>
            </a:xfrm>
            <a:prstGeom prst="rect">
              <a:avLst/>
            </a:prstGeom>
          </p:spPr>
        </p:pic>
        <p:sp>
          <p:nvSpPr>
            <p:cNvPr id="18" name="TextBox 17">
              <a:extLst>
                <a:ext uri="{FF2B5EF4-FFF2-40B4-BE49-F238E27FC236}">
                  <a16:creationId xmlns:a16="http://schemas.microsoft.com/office/drawing/2014/main" id="{288E692D-E918-7910-1DFF-C6B9B9C434E9}"/>
                </a:ext>
              </a:extLst>
            </p:cNvPr>
            <p:cNvSpPr txBox="1"/>
            <p:nvPr/>
          </p:nvSpPr>
          <p:spPr>
            <a:xfrm>
              <a:off x="812908" y="4030072"/>
              <a:ext cx="1015892" cy="646331"/>
            </a:xfrm>
            <a:prstGeom prst="rect">
              <a:avLst/>
            </a:prstGeom>
            <a:noFill/>
          </p:spPr>
          <p:txBody>
            <a:bodyPr wrap="square" rtlCol="0">
              <a:spAutoFit/>
            </a:bodyPr>
            <a:lstStyle/>
            <a:p>
              <a:r>
                <a:rPr lang="en-CA" dirty="0" err="1"/>
                <a:t>Discrim</a:t>
              </a:r>
              <a:r>
                <a:rPr lang="en-CA" dirty="0"/>
                <a:t> axes</a:t>
              </a:r>
            </a:p>
          </p:txBody>
        </p:sp>
        <p:cxnSp>
          <p:nvCxnSpPr>
            <p:cNvPr id="21" name="Straight Connector 20">
              <a:extLst>
                <a:ext uri="{FF2B5EF4-FFF2-40B4-BE49-F238E27FC236}">
                  <a16:creationId xmlns:a16="http://schemas.microsoft.com/office/drawing/2014/main" id="{1826A6F3-5C3B-30D6-DE90-B03343035FE3}"/>
                </a:ext>
              </a:extLst>
            </p:cNvPr>
            <p:cNvCxnSpPr>
              <a:cxnSpLocks/>
            </p:cNvCxnSpPr>
            <p:nvPr/>
          </p:nvCxnSpPr>
          <p:spPr>
            <a:xfrm>
              <a:off x="2764956" y="4167332"/>
              <a:ext cx="1143000" cy="1547668"/>
            </a:xfrm>
            <a:prstGeom prst="line">
              <a:avLst/>
            </a:prstGeom>
            <a:ln w="34925">
              <a:solidFill>
                <a:schemeClr val="tx1"/>
              </a:solidFill>
              <a:prstDash val="lgDash"/>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C85BFB4B-2236-F2CA-726B-BF6B54E1FF55}"/>
                </a:ext>
              </a:extLst>
            </p:cNvPr>
            <p:cNvCxnSpPr>
              <a:cxnSpLocks/>
            </p:cNvCxnSpPr>
            <p:nvPr/>
          </p:nvCxnSpPr>
          <p:spPr>
            <a:xfrm flipV="1">
              <a:off x="3332982" y="4353237"/>
              <a:ext cx="724183" cy="587929"/>
            </a:xfrm>
            <a:prstGeom prst="line">
              <a:avLst/>
            </a:prstGeom>
            <a:ln w="34925">
              <a:solidFill>
                <a:schemeClr val="tx1"/>
              </a:solidFill>
              <a:prstDash val="lgDash"/>
              <a:tailEnd type="none"/>
            </a:ln>
          </p:spPr>
          <p:style>
            <a:lnRef idx="1">
              <a:schemeClr val="accent1"/>
            </a:lnRef>
            <a:fillRef idx="0">
              <a:schemeClr val="accent1"/>
            </a:fillRef>
            <a:effectRef idx="0">
              <a:schemeClr val="accent1"/>
            </a:effectRef>
            <a:fontRef idx="minor">
              <a:schemeClr val="tx1"/>
            </a:fontRef>
          </p:style>
        </p:cxnSp>
      </p:grpSp>
      <p:sp>
        <p:nvSpPr>
          <p:cNvPr id="25" name="Arrow: Right 24">
            <a:extLst>
              <a:ext uri="{FF2B5EF4-FFF2-40B4-BE49-F238E27FC236}">
                <a16:creationId xmlns:a16="http://schemas.microsoft.com/office/drawing/2014/main" id="{7E4FF141-783E-7B47-3969-A864601D8FE2}"/>
              </a:ext>
            </a:extLst>
          </p:cNvPr>
          <p:cNvSpPr/>
          <p:nvPr/>
        </p:nvSpPr>
        <p:spPr>
          <a:xfrm rot="6766895">
            <a:off x="5591011" y="2907061"/>
            <a:ext cx="1601892" cy="383179"/>
          </a:xfrm>
          <a:prstGeom prst="rightArrow">
            <a:avLst/>
          </a:prstGeom>
          <a:solidFill>
            <a:schemeClr val="tx2">
              <a:lumMod val="40000"/>
              <a:lumOff val="60000"/>
              <a:alpha val="40000"/>
            </a:schemeClr>
          </a:solidFill>
          <a:ln w="317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6" name="Picture 35">
            <a:extLst>
              <a:ext uri="{FF2B5EF4-FFF2-40B4-BE49-F238E27FC236}">
                <a16:creationId xmlns:a16="http://schemas.microsoft.com/office/drawing/2014/main" id="{F88A1C6E-4EDC-C549-C60B-5F3D16872043}"/>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692364" y="2087119"/>
            <a:ext cx="1050420" cy="1188720"/>
          </a:xfrm>
          <a:prstGeom prst="rect">
            <a:avLst/>
          </a:prstGeom>
        </p:spPr>
      </p:pic>
      <p:pic>
        <p:nvPicPr>
          <p:cNvPr id="37" name="Picture 36" descr="A picture containing text&#10;&#10;Description automatically generated">
            <a:extLst>
              <a:ext uri="{FF2B5EF4-FFF2-40B4-BE49-F238E27FC236}">
                <a16:creationId xmlns:a16="http://schemas.microsoft.com/office/drawing/2014/main" id="{B6238DEA-3F8A-997D-D444-32088AA89A98}"/>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9608288" y="2087119"/>
            <a:ext cx="1024128" cy="1188720"/>
          </a:xfrm>
          <a:prstGeom prst="rect">
            <a:avLst/>
          </a:prstGeom>
        </p:spPr>
      </p:pic>
    </p:spTree>
    <p:extLst>
      <p:ext uri="{BB962C8B-B14F-4D97-AF65-F5344CB8AC3E}">
        <p14:creationId xmlns:p14="http://schemas.microsoft.com/office/powerpoint/2010/main" val="40771410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par>
                                <p:cTn id="7" presetID="2" presetClass="entr" presetSubtype="2" fill="hold" nodeType="withEffect">
                                  <p:stCondLst>
                                    <p:cond delay="0"/>
                                  </p:stCondLst>
                                  <p:childTnLst>
                                    <p:set>
                                      <p:cBhvr>
                                        <p:cTn id="8" dur="1" fill="hold">
                                          <p:stCondLst>
                                            <p:cond delay="0"/>
                                          </p:stCondLst>
                                        </p:cTn>
                                        <p:tgtEl>
                                          <p:spTgt spid="28"/>
                                        </p:tgtEl>
                                        <p:attrNameLst>
                                          <p:attrName>style.visibility</p:attrName>
                                        </p:attrNameLst>
                                      </p:cBhvr>
                                      <p:to>
                                        <p:strVal val="visible"/>
                                      </p:to>
                                    </p:set>
                                    <p:anim calcmode="lin" valueType="num">
                                      <p:cBhvr additive="base">
                                        <p:cTn id="9" dur="500" fill="hold"/>
                                        <p:tgtEl>
                                          <p:spTgt spid="28"/>
                                        </p:tgtEl>
                                        <p:attrNameLst>
                                          <p:attrName>ppt_x</p:attrName>
                                        </p:attrNameLst>
                                      </p:cBhvr>
                                      <p:tavLst>
                                        <p:tav tm="0">
                                          <p:val>
                                            <p:strVal val="1+#ppt_w/2"/>
                                          </p:val>
                                        </p:tav>
                                        <p:tav tm="100000">
                                          <p:val>
                                            <p:strVal val="#ppt_x"/>
                                          </p:val>
                                        </p:tav>
                                      </p:tavLst>
                                    </p:anim>
                                    <p:anim calcmode="lin" valueType="num">
                                      <p:cBhvr additive="base">
                                        <p:cTn id="10" dur="500" fill="hold"/>
                                        <p:tgtEl>
                                          <p:spTgt spid="28"/>
                                        </p:tgtEl>
                                        <p:attrNameLst>
                                          <p:attrName>ppt_y</p:attrName>
                                        </p:attrNameLst>
                                      </p:cBhvr>
                                      <p:tavLst>
                                        <p:tav tm="0">
                                          <p:val>
                                            <p:strVal val="#ppt_y"/>
                                          </p:val>
                                        </p:tav>
                                        <p:tav tm="100000">
                                          <p:val>
                                            <p:strVal val="#ppt_y"/>
                                          </p:val>
                                        </p:tav>
                                      </p:tavLst>
                                    </p:anim>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5"/>
                                        </p:tgtEl>
                                        <p:attrNameLst>
                                          <p:attrName>style.visibility</p:attrName>
                                        </p:attrNameLst>
                                      </p:cBhvr>
                                      <p:to>
                                        <p:strVal val="visible"/>
                                      </p:to>
                                    </p:set>
                                  </p:childTnLst>
                                </p:cTn>
                              </p:par>
                              <p:par>
                                <p:cTn id="15" presetID="2" presetClass="entr" presetSubtype="4" fill="hold" nodeType="withEffect">
                                  <p:stCondLst>
                                    <p:cond delay="0"/>
                                  </p:stCondLst>
                                  <p:childTnLst>
                                    <p:set>
                                      <p:cBhvr>
                                        <p:cTn id="16" dur="1" fill="hold">
                                          <p:stCondLst>
                                            <p:cond delay="0"/>
                                          </p:stCondLst>
                                        </p:cTn>
                                        <p:tgtEl>
                                          <p:spTgt spid="34"/>
                                        </p:tgtEl>
                                        <p:attrNameLst>
                                          <p:attrName>style.visibility</p:attrName>
                                        </p:attrNameLst>
                                      </p:cBhvr>
                                      <p:to>
                                        <p:strVal val="visible"/>
                                      </p:to>
                                    </p:set>
                                    <p:anim calcmode="lin" valueType="num">
                                      <p:cBhvr additive="base">
                                        <p:cTn id="17" dur="500" fill="hold"/>
                                        <p:tgtEl>
                                          <p:spTgt spid="34"/>
                                        </p:tgtEl>
                                        <p:attrNameLst>
                                          <p:attrName>ppt_x</p:attrName>
                                        </p:attrNameLst>
                                      </p:cBhvr>
                                      <p:tavLst>
                                        <p:tav tm="0">
                                          <p:val>
                                            <p:strVal val="#ppt_x"/>
                                          </p:val>
                                        </p:tav>
                                        <p:tav tm="100000">
                                          <p:val>
                                            <p:strVal val="#ppt_x"/>
                                          </p:val>
                                        </p:tav>
                                      </p:tavLst>
                                    </p:anim>
                                    <p:anim calcmode="lin" valueType="num">
                                      <p:cBhvr additive="base">
                                        <p:cTn id="18" dur="500" fill="hold"/>
                                        <p:tgtEl>
                                          <p:spTgt spid="34"/>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6"/>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6" grpId="0" animBg="1"/>
      <p:bldP spid="25"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a:t>
            </a:r>
            <a:r>
              <a:rPr lang="en-US" dirty="0">
                <a:sym typeface="Symbol"/>
              </a:rPr>
              <a:t> </a:t>
            </a:r>
            <a:r>
              <a:rPr lang="en-US" dirty="0"/>
              <a:t>Data ellipses </a:t>
            </a:r>
            <a:r>
              <a:rPr lang="en-US" dirty="0">
                <a:sym typeface="Symbol"/>
              </a:rPr>
              <a:t></a:t>
            </a:r>
            <a:r>
              <a:rPr lang="en-US" dirty="0"/>
              <a:t> HE plot</a:t>
            </a:r>
          </a:p>
        </p:txBody>
      </p:sp>
      <p:sp>
        <p:nvSpPr>
          <p:cNvPr id="7" name="Content Placeholder 6"/>
          <p:cNvSpPr>
            <a:spLocks noGrp="1"/>
          </p:cNvSpPr>
          <p:nvPr>
            <p:ph idx="1"/>
          </p:nvPr>
        </p:nvSpPr>
        <p:spPr>
          <a:xfrm>
            <a:off x="838200" y="4191000"/>
            <a:ext cx="10515600" cy="2133600"/>
          </a:xfrm>
        </p:spPr>
        <p:txBody>
          <a:bodyPr>
            <a:normAutofit/>
          </a:bodyPr>
          <a:lstStyle/>
          <a:p>
            <a:r>
              <a:rPr lang="en-US" sz="2000" dirty="0"/>
              <a:t>Differences between group means are shown by the </a:t>
            </a:r>
            <a:r>
              <a:rPr lang="en-US" sz="2000" b="1" dirty="0"/>
              <a:t>H</a:t>
            </a:r>
            <a:r>
              <a:rPr lang="en-US" sz="2000" dirty="0"/>
              <a:t> ellipsoid– data ellipsoid of the </a:t>
            </a:r>
            <a:r>
              <a:rPr lang="en-US" sz="2000" dirty="0">
                <a:solidFill>
                  <a:srgbClr val="FF0000"/>
                </a:solidFill>
              </a:rPr>
              <a:t>fitted</a:t>
            </a:r>
            <a:r>
              <a:rPr lang="en-US" sz="2000" dirty="0"/>
              <a:t> values (w/ 1 </a:t>
            </a:r>
            <a:r>
              <a:rPr lang="en-US" sz="2000" dirty="0" err="1"/>
              <a:t>df</a:t>
            </a:r>
            <a:r>
              <a:rPr lang="en-US" sz="2000" dirty="0"/>
              <a:t>, degenerates to a line)</a:t>
            </a:r>
          </a:p>
          <a:p>
            <a:pPr lvl="1"/>
            <a:r>
              <a:rPr lang="en-US" sz="1400" dirty="0"/>
              <a:t>Direction shows relation of groups to response variables</a:t>
            </a:r>
          </a:p>
          <a:p>
            <a:pPr lvl="1"/>
            <a:r>
              <a:rPr lang="en-US" sz="1400" dirty="0"/>
              <a:t>Size shows “how big is H relative to E”</a:t>
            </a:r>
          </a:p>
          <a:p>
            <a:r>
              <a:rPr lang="en-US" sz="2000" dirty="0"/>
              <a:t>Variation within groups is reflected in the </a:t>
            </a:r>
            <a:r>
              <a:rPr lang="en-US" sz="2000" b="1" dirty="0"/>
              <a:t>E</a:t>
            </a:r>
            <a:r>
              <a:rPr lang="en-US" sz="2000" dirty="0"/>
              <a:t> ellipsoid-- data ellipsoid of the </a:t>
            </a:r>
            <a:r>
              <a:rPr lang="en-US" sz="2000" dirty="0">
                <a:solidFill>
                  <a:srgbClr val="FF0000"/>
                </a:solidFill>
              </a:rPr>
              <a:t>residuals</a:t>
            </a:r>
          </a:p>
          <a:p>
            <a:pPr lvl="1"/>
            <a:r>
              <a:rPr lang="en-US" sz="1400" dirty="0"/>
              <a:t>Direction: residual (partial) correlation between BM &amp; WP</a:t>
            </a:r>
          </a:p>
          <a:p>
            <a:pPr lvl="1"/>
            <a:r>
              <a:rPr lang="en-US" sz="1400" dirty="0"/>
              <a:t>Size/shape: residual variance</a:t>
            </a:r>
          </a:p>
          <a:p>
            <a:endParaRPr lang="en-US" sz="1600" dirty="0"/>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81400" y="1371600"/>
            <a:ext cx="2286000" cy="2286000"/>
          </a:xfrm>
          <a:prstGeom prst="rect">
            <a:avLst/>
          </a:prstGeom>
        </p:spPr>
      </p:pic>
      <p:pic>
        <p:nvPicPr>
          <p:cNvPr id="5" name="Picture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86500" y="1371600"/>
            <a:ext cx="2286000" cy="2286000"/>
          </a:xfrm>
          <a:prstGeom prst="rect">
            <a:avLst/>
          </a:prstGeom>
        </p:spPr>
      </p:pic>
      <p:pic>
        <p:nvPicPr>
          <p:cNvPr id="6" name="Picture 5"/>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991600" y="1143000"/>
            <a:ext cx="2743200" cy="2743200"/>
          </a:xfrm>
          <a:prstGeom prst="rect">
            <a:avLst/>
          </a:prstGeom>
        </p:spPr>
      </p:pic>
      <p:cxnSp>
        <p:nvCxnSpPr>
          <p:cNvPr id="9" name="Straight Arrow Connector 8"/>
          <p:cNvCxnSpPr/>
          <p:nvPr/>
        </p:nvCxnSpPr>
        <p:spPr>
          <a:xfrm>
            <a:off x="5638800" y="1752600"/>
            <a:ext cx="1066800" cy="0"/>
          </a:xfrm>
          <a:prstGeom prst="straightConnector1">
            <a:avLst/>
          </a:prstGeom>
          <a:ln w="317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a:off x="8305800" y="1899136"/>
            <a:ext cx="1295400" cy="0"/>
          </a:xfrm>
          <a:prstGeom prst="straightConnector1">
            <a:avLst/>
          </a:prstGeom>
          <a:ln w="31750">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4728400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H ellipse</a:t>
            </a:r>
          </a:p>
        </p:txBody>
      </p:sp>
      <p:sp>
        <p:nvSpPr>
          <p:cNvPr id="6" name="Content Placeholder 5"/>
          <p:cNvSpPr>
            <a:spLocks noGrp="1"/>
          </p:cNvSpPr>
          <p:nvPr>
            <p:ph idx="1"/>
          </p:nvPr>
        </p:nvSpPr>
        <p:spPr>
          <a:xfrm>
            <a:off x="838200" y="4648200"/>
            <a:ext cx="10515600" cy="1828800"/>
          </a:xfrm>
        </p:spPr>
        <p:txBody>
          <a:bodyPr>
            <a:normAutofit/>
          </a:bodyPr>
          <a:lstStyle/>
          <a:p>
            <a:r>
              <a:rPr lang="en-US" dirty="0"/>
              <a:t>The </a:t>
            </a:r>
            <a:r>
              <a:rPr lang="en-US" b="1" dirty="0"/>
              <a:t>H</a:t>
            </a:r>
            <a:r>
              <a:rPr lang="en-US" dirty="0"/>
              <a:t> ellipse is the data ellipse of the fitted values (group means, here)</a:t>
            </a:r>
          </a:p>
          <a:p>
            <a:pPr lvl="1"/>
            <a:r>
              <a:rPr lang="en-US" dirty="0"/>
              <a:t>The </a:t>
            </a:r>
            <a:r>
              <a:rPr lang="en-US" b="1" dirty="0"/>
              <a:t>H</a:t>
            </a:r>
            <a:r>
              <a:rPr lang="en-US" dirty="0"/>
              <a:t> matrix is the sum of squares and </a:t>
            </a:r>
            <a:r>
              <a:rPr lang="en-US" dirty="0" err="1"/>
              <a:t>crossproducts</a:t>
            </a:r>
            <a:r>
              <a:rPr lang="en-US" dirty="0"/>
              <a:t> of the fitted values, corrected for the grand mean </a:t>
            </a: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81400" y="1143000"/>
            <a:ext cx="3200400" cy="3200400"/>
          </a:xfrm>
          <a:prstGeom prst="rect">
            <a:avLst/>
          </a:prstGeom>
        </p:spPr>
      </p:pic>
      <p:pic>
        <p:nvPicPr>
          <p:cNvPr id="5" name="Picture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772400" y="1143000"/>
            <a:ext cx="3200400" cy="3200400"/>
          </a:xfrm>
          <a:prstGeom prst="rect">
            <a:avLst/>
          </a:prstGeom>
        </p:spPr>
      </p:pic>
      <p:cxnSp>
        <p:nvCxnSpPr>
          <p:cNvPr id="7" name="Straight Arrow Connector 6"/>
          <p:cNvCxnSpPr/>
          <p:nvPr/>
        </p:nvCxnSpPr>
        <p:spPr>
          <a:xfrm>
            <a:off x="6629400" y="1981200"/>
            <a:ext cx="1295400" cy="0"/>
          </a:xfrm>
          <a:prstGeom prst="straightConnector1">
            <a:avLst/>
          </a:prstGeom>
          <a:ln w="317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10896600" y="1447801"/>
            <a:ext cx="1066800" cy="646331"/>
          </a:xfrm>
          <a:prstGeom prst="rect">
            <a:avLst/>
          </a:prstGeom>
          <a:noFill/>
        </p:spPr>
        <p:txBody>
          <a:bodyPr wrap="square" rtlCol="0">
            <a:spAutoFit/>
          </a:bodyPr>
          <a:lstStyle/>
          <a:p>
            <a:r>
              <a:rPr lang="en-US" sz="1200" dirty="0"/>
              <a:t>Jittered fitted values</a:t>
            </a:r>
          </a:p>
          <a:p>
            <a:r>
              <a:rPr lang="en-US" sz="1200" dirty="0"/>
              <a:t>(</a:t>
            </a:r>
            <a:r>
              <a:rPr lang="en-US" sz="1200" dirty="0" err="1"/>
              <a:t>gp</a:t>
            </a:r>
            <a:r>
              <a:rPr lang="en-US" sz="1200" dirty="0"/>
              <a:t> means)</a:t>
            </a:r>
          </a:p>
        </p:txBody>
      </p:sp>
      <p:graphicFrame>
        <p:nvGraphicFramePr>
          <p:cNvPr id="9" name="Object 8"/>
          <p:cNvGraphicFramePr>
            <a:graphicFrameLocks noChangeAspect="1"/>
          </p:cNvGraphicFramePr>
          <p:nvPr>
            <p:extLst>
              <p:ext uri="{D42A27DB-BD31-4B8C-83A1-F6EECF244321}">
                <p14:modId xmlns:p14="http://schemas.microsoft.com/office/powerpoint/2010/main" val="2451739529"/>
              </p:ext>
            </p:extLst>
          </p:nvPr>
        </p:nvGraphicFramePr>
        <p:xfrm>
          <a:off x="6267450" y="6096000"/>
          <a:ext cx="1657350" cy="457200"/>
        </p:xfrm>
        <a:graphic>
          <a:graphicData uri="http://schemas.openxmlformats.org/presentationml/2006/ole">
            <mc:AlternateContent xmlns:mc="http://schemas.openxmlformats.org/markup-compatibility/2006">
              <mc:Choice xmlns:v="urn:schemas-microsoft-com:vml" Requires="v">
                <p:oleObj name="Equation" r:id="rId5" imgW="1104840" imgH="304560" progId="Equation.DSMT4">
                  <p:embed/>
                </p:oleObj>
              </mc:Choice>
              <mc:Fallback>
                <p:oleObj name="Equation" r:id="rId5" imgW="1104840" imgH="304560" progId="Equation.DSMT4">
                  <p:embed/>
                  <p:pic>
                    <p:nvPicPr>
                      <p:cNvPr id="9" name="Object 8"/>
                      <p:cNvPicPr/>
                      <p:nvPr/>
                    </p:nvPicPr>
                    <p:blipFill>
                      <a:blip r:embed="rId6"/>
                      <a:stretch>
                        <a:fillRect/>
                      </a:stretch>
                    </p:blipFill>
                    <p:spPr>
                      <a:xfrm>
                        <a:off x="6267450" y="6096000"/>
                        <a:ext cx="1657350" cy="457200"/>
                      </a:xfrm>
                      <a:prstGeom prst="rect">
                        <a:avLst/>
                      </a:prstGeom>
                    </p:spPr>
                  </p:pic>
                </p:oleObj>
              </mc:Fallback>
            </mc:AlternateContent>
          </a:graphicData>
        </a:graphic>
      </p:graphicFrame>
      <p:sp>
        <p:nvSpPr>
          <p:cNvPr id="10" name="Flowchart: Connector 9">
            <a:extLst>
              <a:ext uri="{FF2B5EF4-FFF2-40B4-BE49-F238E27FC236}">
                <a16:creationId xmlns:a16="http://schemas.microsoft.com/office/drawing/2014/main" id="{7784F65C-FE98-460D-BC76-73AC6D915D96}"/>
              </a:ext>
            </a:extLst>
          </p:cNvPr>
          <p:cNvSpPr>
            <a:spLocks noChangeAspect="1"/>
          </p:cNvSpPr>
          <p:nvPr/>
        </p:nvSpPr>
        <p:spPr>
          <a:xfrm>
            <a:off x="8934374" y="1646000"/>
            <a:ext cx="590702" cy="594201"/>
          </a:xfrm>
          <a:prstGeom prst="flowChartConnector">
            <a:avLst/>
          </a:prstGeom>
          <a:solidFill>
            <a:schemeClr val="tx2">
              <a:lumMod val="20000"/>
              <a:lumOff val="80000"/>
              <a:alpha val="20000"/>
            </a:schemeClr>
          </a:solidFill>
          <a:ln>
            <a:solidFill>
              <a:schemeClr val="accent1">
                <a:shade val="50000"/>
                <a:alpha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lowchart: Connector 10">
            <a:extLst>
              <a:ext uri="{FF2B5EF4-FFF2-40B4-BE49-F238E27FC236}">
                <a16:creationId xmlns:a16="http://schemas.microsoft.com/office/drawing/2014/main" id="{27054BEF-17C4-42CD-BD3C-F07E37ED3804}"/>
              </a:ext>
            </a:extLst>
          </p:cNvPr>
          <p:cNvSpPr>
            <a:spLocks noChangeAspect="1"/>
          </p:cNvSpPr>
          <p:nvPr/>
        </p:nvSpPr>
        <p:spPr>
          <a:xfrm>
            <a:off x="9601200" y="2982200"/>
            <a:ext cx="590702" cy="594201"/>
          </a:xfrm>
          <a:prstGeom prst="flowChartConnector">
            <a:avLst/>
          </a:prstGeom>
          <a:solidFill>
            <a:srgbClr val="00B050">
              <a:alpha val="20000"/>
            </a:srgbClr>
          </a:solidFill>
          <a:ln>
            <a:solidFill>
              <a:srgbClr val="00B050">
                <a:alpha val="90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8801793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E ellipse</a:t>
            </a:r>
          </a:p>
        </p:txBody>
      </p:sp>
      <p:sp>
        <p:nvSpPr>
          <p:cNvPr id="7" name="Content Placeholder 6"/>
          <p:cNvSpPr>
            <a:spLocks noGrp="1"/>
          </p:cNvSpPr>
          <p:nvPr>
            <p:ph idx="1"/>
          </p:nvPr>
        </p:nvSpPr>
        <p:spPr>
          <a:xfrm>
            <a:off x="838200" y="3962400"/>
            <a:ext cx="10515600" cy="1905000"/>
          </a:xfrm>
        </p:spPr>
        <p:txBody>
          <a:bodyPr>
            <a:normAutofit/>
          </a:bodyPr>
          <a:lstStyle/>
          <a:p>
            <a:r>
              <a:rPr lang="en-US" dirty="0"/>
              <a:t>The </a:t>
            </a:r>
            <a:r>
              <a:rPr lang="en-US" b="1" dirty="0"/>
              <a:t>E</a:t>
            </a:r>
            <a:r>
              <a:rPr lang="en-US" dirty="0"/>
              <a:t> ellipse is the data ellipse  of the residuals </a:t>
            </a:r>
          </a:p>
          <a:p>
            <a:pPr lvl="1"/>
            <a:r>
              <a:rPr lang="en-US" dirty="0"/>
              <a:t>What you get when you subtract the group means from all observations, shifting them to the grand means.</a:t>
            </a:r>
          </a:p>
          <a:p>
            <a:pPr lvl="1"/>
            <a:r>
              <a:rPr lang="en-US" b="1" dirty="0"/>
              <a:t>E</a:t>
            </a:r>
            <a:r>
              <a:rPr lang="en-US" dirty="0"/>
              <a:t> matrix called the “within-group </a:t>
            </a:r>
            <a:r>
              <a:rPr lang="en-US" b="1" dirty="0"/>
              <a:t>pooled</a:t>
            </a:r>
            <a:r>
              <a:rPr lang="en-US" dirty="0"/>
              <a:t> covariance matrix”</a:t>
            </a: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86200" y="1099038"/>
            <a:ext cx="2286000" cy="2286000"/>
          </a:xfrm>
          <a:prstGeom prst="rect">
            <a:avLst/>
          </a:prstGeom>
        </p:spPr>
      </p:pic>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553200" y="1113692"/>
            <a:ext cx="2286000" cy="2286000"/>
          </a:xfrm>
          <a:prstGeom prst="rect">
            <a:avLst/>
          </a:prstGeom>
        </p:spPr>
      </p:pic>
      <p:cxnSp>
        <p:nvCxnSpPr>
          <p:cNvPr id="8" name="Straight Arrow Connector 7"/>
          <p:cNvCxnSpPr/>
          <p:nvPr/>
        </p:nvCxnSpPr>
        <p:spPr>
          <a:xfrm>
            <a:off x="5867400" y="1667608"/>
            <a:ext cx="762000" cy="0"/>
          </a:xfrm>
          <a:prstGeom prst="straightConnector1">
            <a:avLst/>
          </a:prstGeom>
          <a:ln w="31750">
            <a:solidFill>
              <a:srgbClr val="FF0000"/>
            </a:solidFill>
            <a:tailEnd type="arrow"/>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220200" y="1099038"/>
            <a:ext cx="2286000" cy="2286000"/>
          </a:xfrm>
          <a:prstGeom prst="rect">
            <a:avLst/>
          </a:prstGeom>
        </p:spPr>
      </p:pic>
      <p:cxnSp>
        <p:nvCxnSpPr>
          <p:cNvPr id="11" name="Straight Arrow Connector 10"/>
          <p:cNvCxnSpPr/>
          <p:nvPr/>
        </p:nvCxnSpPr>
        <p:spPr>
          <a:xfrm>
            <a:off x="8610600" y="1676400"/>
            <a:ext cx="762000" cy="0"/>
          </a:xfrm>
          <a:prstGeom prst="straightConnector1">
            <a:avLst/>
          </a:prstGeom>
          <a:ln w="31750">
            <a:solidFill>
              <a:srgbClr val="FF0000"/>
            </a:solidFill>
            <a:tailEnd type="arrow"/>
          </a:ln>
        </p:spPr>
        <p:style>
          <a:lnRef idx="1">
            <a:schemeClr val="accent1"/>
          </a:lnRef>
          <a:fillRef idx="0">
            <a:schemeClr val="accent1"/>
          </a:fillRef>
          <a:effectRef idx="0">
            <a:schemeClr val="accent1"/>
          </a:effectRef>
          <a:fontRef idx="minor">
            <a:schemeClr val="tx1"/>
          </a:fontRef>
        </p:style>
      </p:cxnSp>
      <p:graphicFrame>
        <p:nvGraphicFramePr>
          <p:cNvPr id="12" name="Object 11"/>
          <p:cNvGraphicFramePr>
            <a:graphicFrameLocks noChangeAspect="1"/>
          </p:cNvGraphicFramePr>
          <p:nvPr>
            <p:extLst>
              <p:ext uri="{D42A27DB-BD31-4B8C-83A1-F6EECF244321}">
                <p14:modId xmlns:p14="http://schemas.microsoft.com/office/powerpoint/2010/main" val="2074366849"/>
              </p:ext>
            </p:extLst>
          </p:nvPr>
        </p:nvGraphicFramePr>
        <p:xfrm>
          <a:off x="5867400" y="5562600"/>
          <a:ext cx="2514600" cy="457200"/>
        </p:xfrm>
        <a:graphic>
          <a:graphicData uri="http://schemas.openxmlformats.org/presentationml/2006/ole">
            <mc:AlternateContent xmlns:mc="http://schemas.openxmlformats.org/markup-compatibility/2006">
              <mc:Choice xmlns:v="urn:schemas-microsoft-com:vml" Requires="v">
                <p:oleObj name="Equation" r:id="rId6" imgW="1676160" imgH="304560" progId="Equation.DSMT4">
                  <p:embed/>
                </p:oleObj>
              </mc:Choice>
              <mc:Fallback>
                <p:oleObj name="Equation" r:id="rId6" imgW="1676160" imgH="304560" progId="Equation.DSMT4">
                  <p:embed/>
                  <p:pic>
                    <p:nvPicPr>
                      <p:cNvPr id="12" name="Object 11"/>
                      <p:cNvPicPr/>
                      <p:nvPr/>
                    </p:nvPicPr>
                    <p:blipFill>
                      <a:blip r:embed="rId7"/>
                      <a:stretch>
                        <a:fillRect/>
                      </a:stretch>
                    </p:blipFill>
                    <p:spPr>
                      <a:xfrm>
                        <a:off x="5867400" y="5562600"/>
                        <a:ext cx="2514600" cy="457200"/>
                      </a:xfrm>
                      <a:prstGeom prst="rect">
                        <a:avLst/>
                      </a:prstGeom>
                    </p:spPr>
                  </p:pic>
                </p:oleObj>
              </mc:Fallback>
            </mc:AlternateContent>
          </a:graphicData>
        </a:graphic>
      </p:graphicFrame>
    </p:spTree>
    <p:extLst>
      <p:ext uri="{BB962C8B-B14F-4D97-AF65-F5344CB8AC3E}">
        <p14:creationId xmlns:p14="http://schemas.microsoft.com/office/powerpoint/2010/main" val="379674940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Hypothesis-Error plot framework</a:t>
            </a:r>
          </a:p>
        </p:txBody>
      </p:sp>
      <p:pic>
        <p:nvPicPr>
          <p:cNvPr id="3" name="Picture 2" descr="HE-framework.png"/>
          <p:cNvPicPr>
            <a:picLocks noChangeAspect="1"/>
          </p:cNvPicPr>
          <p:nvPr/>
        </p:nvPicPr>
        <p:blipFill>
          <a:blip r:embed="rId3"/>
          <a:stretch>
            <a:fillRect/>
          </a:stretch>
        </p:blipFill>
        <p:spPr>
          <a:xfrm>
            <a:off x="841248" y="1417320"/>
            <a:ext cx="7229900" cy="5212080"/>
          </a:xfrm>
          <a:prstGeom prst="rect">
            <a:avLst/>
          </a:prstGeom>
        </p:spPr>
      </p:pic>
      <p:sp>
        <p:nvSpPr>
          <p:cNvPr id="4" name="TextBox 3"/>
          <p:cNvSpPr txBox="1"/>
          <p:nvPr/>
        </p:nvSpPr>
        <p:spPr>
          <a:xfrm>
            <a:off x="8436908" y="1417320"/>
            <a:ext cx="3192108" cy="5212080"/>
          </a:xfrm>
          <a:prstGeom prst="rect">
            <a:avLst/>
          </a:prstGeom>
          <a:noFill/>
        </p:spPr>
        <p:txBody>
          <a:bodyPr wrap="square" anchor="ctr">
            <a:noAutofit/>
          </a:bodyPr>
          <a:lstStyle/>
          <a:p>
            <a:r>
              <a:rPr sz="2400" dirty="0"/>
              <a:t>Data ellipses </a:t>
            </a:r>
            <a:r>
              <a:rPr lang="en-CA" sz="2400" dirty="0">
                <a:sym typeface="Symbol" panose="05050102010706020507" pitchFamily="18" charset="2"/>
              </a:rPr>
              <a:t></a:t>
            </a:r>
            <a:r>
              <a:rPr sz="2400" dirty="0"/>
              <a:t> </a:t>
            </a:r>
            <a:r>
              <a:rPr sz="2400" b="1" dirty="0"/>
              <a:t>E</a:t>
            </a:r>
            <a:r>
              <a:rPr sz="2400" dirty="0"/>
              <a:t> ellipse </a:t>
            </a:r>
            <a:endParaRPr lang="en-CA" sz="2400" dirty="0"/>
          </a:p>
          <a:p>
            <a:endParaRPr lang="en-CA" sz="2400" dirty="0"/>
          </a:p>
          <a:p>
            <a:r>
              <a:rPr lang="en-CA" sz="2400" dirty="0"/>
              <a:t>G</a:t>
            </a:r>
            <a:r>
              <a:rPr sz="2400" dirty="0" err="1"/>
              <a:t>roup</a:t>
            </a:r>
            <a:r>
              <a:rPr sz="2400" dirty="0"/>
              <a:t> means </a:t>
            </a:r>
            <a:r>
              <a:rPr lang="en-CA" sz="2400" dirty="0">
                <a:sym typeface="Symbol" panose="05050102010706020507" pitchFamily="18" charset="2"/>
              </a:rPr>
              <a:t></a:t>
            </a:r>
            <a:r>
              <a:rPr sz="2400" dirty="0"/>
              <a:t> </a:t>
            </a:r>
            <a:r>
              <a:rPr sz="2400" b="1" dirty="0"/>
              <a:t>H</a:t>
            </a:r>
            <a:endParaRPr lang="en-CA" sz="2400" b="1" dirty="0"/>
          </a:p>
          <a:p>
            <a:r>
              <a:rPr sz="2400" dirty="0"/>
              <a:t> </a:t>
            </a:r>
            <a:endParaRPr lang="en-CA" sz="2400" dirty="0"/>
          </a:p>
          <a:p>
            <a:r>
              <a:rPr lang="en-CA" sz="2400" dirty="0"/>
              <a:t>P</a:t>
            </a:r>
            <a:r>
              <a:rPr sz="2400" dirty="0" err="1"/>
              <a:t>rojection</a:t>
            </a:r>
            <a:r>
              <a:rPr sz="2400" dirty="0"/>
              <a:t> </a:t>
            </a:r>
            <a:r>
              <a:rPr lang="en-CA" sz="2400" dirty="0">
                <a:sym typeface="Symbol" panose="05050102010706020507" pitchFamily="18" charset="2"/>
              </a:rPr>
              <a:t> </a:t>
            </a:r>
            <a:r>
              <a:rPr sz="2400" dirty="0"/>
              <a:t>discriminant view.</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MANOVA: the same sums of squares, now as matrices</a:t>
            </a:r>
          </a:p>
        </p:txBody>
      </p:sp>
      <p:pic>
        <p:nvPicPr>
          <p:cNvPr id="3" name="Picture 2" descr="VisualizingSSP.png"/>
          <p:cNvPicPr>
            <a:picLocks noChangeAspect="1"/>
          </p:cNvPicPr>
          <p:nvPr/>
        </p:nvPicPr>
        <p:blipFill>
          <a:blip r:embed="rId3"/>
          <a:stretch>
            <a:fillRect/>
          </a:stretch>
        </p:blipFill>
        <p:spPr>
          <a:xfrm>
            <a:off x="852273" y="1691640"/>
            <a:ext cx="10493548" cy="3931920"/>
          </a:xfrm>
          <a:prstGeom prst="rect">
            <a:avLst/>
          </a:prstGeom>
        </p:spPr>
      </p:pic>
      <p:sp>
        <p:nvSpPr>
          <p:cNvPr id="4" name="TextBox 3"/>
          <p:cNvSpPr txBox="1"/>
          <p:nvPr/>
        </p:nvSpPr>
        <p:spPr>
          <a:xfrm>
            <a:off x="841248" y="5669280"/>
            <a:ext cx="10515600" cy="548640"/>
          </a:xfrm>
          <a:prstGeom prst="rect">
            <a:avLst/>
          </a:prstGeom>
          <a:noFill/>
        </p:spPr>
        <p:txBody>
          <a:bodyPr wrap="square">
            <a:spAutoFit/>
          </a:bodyPr>
          <a:lstStyle/>
          <a:p>
            <a:r>
              <a:rPr sz="1800"/>
              <a:t>Total = Hypothesis + Error. Each is a matrix, so each can be drawn as an ellipse.</a:t>
            </a:r>
          </a:p>
        </p:txBody>
      </p:sp>
      <p:sp>
        <p:nvSpPr>
          <p:cNvPr id="5" name="TextBox 4"/>
          <p:cNvSpPr txBox="1"/>
          <p:nvPr/>
        </p:nvSpPr>
        <p:spPr>
          <a:xfrm>
            <a:off x="841248" y="6355080"/>
            <a:ext cx="2743200" cy="320040"/>
          </a:xfrm>
          <a:prstGeom prst="rect">
            <a:avLst/>
          </a:prstGeom>
          <a:noFill/>
        </p:spPr>
        <p:txBody>
          <a:bodyPr wrap="square">
            <a:spAutoFit/>
          </a:bodyPr>
          <a:lstStyle/>
          <a:p>
            <a:r>
              <a:rPr sz="1100">
                <a:solidFill>
                  <a:srgbClr val="707070"/>
                </a:solidFill>
              </a:rPr>
              <a:t>Figure 11.2</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HE plots: is the effect significant, and how?</a:t>
            </a:r>
          </a:p>
        </p:txBody>
      </p:sp>
      <p:pic>
        <p:nvPicPr>
          <p:cNvPr id="3" name="Picture 2" descr="fig-iris-HE1-1.png"/>
          <p:cNvPicPr>
            <a:picLocks noChangeAspect="1"/>
          </p:cNvPicPr>
          <p:nvPr/>
        </p:nvPicPr>
        <p:blipFill>
          <a:blip r:embed="rId3"/>
          <a:stretch>
            <a:fillRect/>
          </a:stretch>
        </p:blipFill>
        <p:spPr>
          <a:xfrm>
            <a:off x="2167128" y="1691640"/>
            <a:ext cx="7863840" cy="3931920"/>
          </a:xfrm>
          <a:prstGeom prst="rect">
            <a:avLst/>
          </a:prstGeom>
        </p:spPr>
      </p:pic>
      <p:sp>
        <p:nvSpPr>
          <p:cNvPr id="4" name="TextBox 3"/>
          <p:cNvSpPr txBox="1"/>
          <p:nvPr/>
        </p:nvSpPr>
        <p:spPr>
          <a:xfrm>
            <a:off x="841248" y="5669280"/>
            <a:ext cx="10515600" cy="369332"/>
          </a:xfrm>
          <a:prstGeom prst="rect">
            <a:avLst/>
          </a:prstGeom>
          <a:noFill/>
        </p:spPr>
        <p:txBody>
          <a:bodyPr wrap="square">
            <a:spAutoFit/>
          </a:bodyPr>
          <a:lstStyle/>
          <a:p>
            <a:r>
              <a:rPr sz="1800" dirty="0"/>
              <a:t>With </a:t>
            </a:r>
            <a:r>
              <a:rPr sz="1800" b="1" dirty="0"/>
              <a:t>significance</a:t>
            </a:r>
            <a:r>
              <a:rPr sz="1800" dirty="0"/>
              <a:t> scaling, an H ellipse that projects outside E signals a significant effect (Roy's test).</a:t>
            </a:r>
          </a:p>
        </p:txBody>
      </p:sp>
      <p:sp>
        <p:nvSpPr>
          <p:cNvPr id="5" name="TextBox 4"/>
          <p:cNvSpPr txBox="1"/>
          <p:nvPr/>
        </p:nvSpPr>
        <p:spPr>
          <a:xfrm>
            <a:off x="841248" y="6355080"/>
            <a:ext cx="2743200" cy="320040"/>
          </a:xfrm>
          <a:prstGeom prst="rect">
            <a:avLst/>
          </a:prstGeom>
          <a:noFill/>
        </p:spPr>
        <p:txBody>
          <a:bodyPr wrap="square">
            <a:spAutoFit/>
          </a:bodyPr>
          <a:lstStyle/>
          <a:p>
            <a:r>
              <a:rPr sz="1100">
                <a:solidFill>
                  <a:srgbClr val="707070"/>
                </a:solidFill>
              </a:rPr>
              <a:t>Figure 12.5</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Contrasts and linear hypotheses</a:t>
            </a:r>
          </a:p>
        </p:txBody>
      </p:sp>
      <p:sp>
        <p:nvSpPr>
          <p:cNvPr id="3" name="Content Placeholder 2"/>
          <p:cNvSpPr>
            <a:spLocks noGrp="1"/>
          </p:cNvSpPr>
          <p:nvPr>
            <p:ph sz="half" idx="1"/>
          </p:nvPr>
        </p:nvSpPr>
        <p:spPr/>
        <p:txBody>
          <a:bodyPr/>
          <a:lstStyle/>
          <a:p>
            <a:r>
              <a:t>Any linear hypothesis has its own H</a:t>
            </a:r>
          </a:p>
          <a:p>
            <a:r>
              <a:t>A 1 df hypothesis is a line</a:t>
            </a:r>
          </a:p>
          <a:p>
            <a:r>
              <a:t>Contrasts decompose the overall effect</a:t>
            </a:r>
          </a:p>
        </p:txBody>
      </p:sp>
      <p:pic>
        <p:nvPicPr>
          <p:cNvPr id="4" name="Picture 3" descr="fig-iris-contrasts-1.png"/>
          <p:cNvPicPr>
            <a:picLocks noChangeAspect="1"/>
          </p:cNvPicPr>
          <p:nvPr/>
        </p:nvPicPr>
        <p:blipFill>
          <a:blip r:embed="rId3"/>
          <a:stretch>
            <a:fillRect/>
          </a:stretch>
        </p:blipFill>
        <p:spPr>
          <a:xfrm>
            <a:off x="6569964" y="1783080"/>
            <a:ext cx="4389120" cy="4389120"/>
          </a:xfrm>
          <a:prstGeom prst="rect">
            <a:avLst/>
          </a:prstGeom>
        </p:spPr>
      </p:pic>
      <p:sp>
        <p:nvSpPr>
          <p:cNvPr id="5" name="TextBox 4"/>
          <p:cNvSpPr txBox="1"/>
          <p:nvPr/>
        </p:nvSpPr>
        <p:spPr>
          <a:xfrm>
            <a:off x="841248" y="6355080"/>
            <a:ext cx="2743200" cy="320040"/>
          </a:xfrm>
          <a:prstGeom prst="rect">
            <a:avLst/>
          </a:prstGeom>
          <a:noFill/>
        </p:spPr>
        <p:txBody>
          <a:bodyPr wrap="square">
            <a:spAutoFit/>
          </a:bodyPr>
          <a:lstStyle/>
          <a:p>
            <a:r>
              <a:rPr sz="1100">
                <a:solidFill>
                  <a:srgbClr val="707070"/>
                </a:solidFill>
              </a:rPr>
              <a:t>Figure 12.7</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HE plot matrices: all pairs of responses</a:t>
            </a:r>
          </a:p>
        </p:txBody>
      </p:sp>
      <p:sp>
        <p:nvSpPr>
          <p:cNvPr id="3" name="Content Placeholder 2"/>
          <p:cNvSpPr>
            <a:spLocks noGrp="1"/>
          </p:cNvSpPr>
          <p:nvPr>
            <p:ph sz="half" idx="1"/>
          </p:nvPr>
        </p:nvSpPr>
        <p:spPr/>
        <p:txBody>
          <a:bodyPr/>
          <a:lstStyle/>
          <a:p>
            <a:r>
              <a:t>The analog of a scatterplot matrix for a multivariate model</a:t>
            </a:r>
          </a:p>
          <a:p>
            <a:r>
              <a:t>One HE plot for each pair of responses</a:t>
            </a:r>
          </a:p>
        </p:txBody>
      </p:sp>
      <p:pic>
        <p:nvPicPr>
          <p:cNvPr id="4" name="Picture 3" descr="fig-iris-pairs-1.png"/>
          <p:cNvPicPr>
            <a:picLocks noChangeAspect="1"/>
          </p:cNvPicPr>
          <p:nvPr/>
        </p:nvPicPr>
        <p:blipFill>
          <a:blip r:embed="rId3"/>
          <a:stretch>
            <a:fillRect/>
          </a:stretch>
        </p:blipFill>
        <p:spPr>
          <a:xfrm>
            <a:off x="6569964" y="1783080"/>
            <a:ext cx="4389120" cy="4389120"/>
          </a:xfrm>
          <a:prstGeom prst="rect">
            <a:avLst/>
          </a:prstGeom>
        </p:spPr>
      </p:pic>
      <p:sp>
        <p:nvSpPr>
          <p:cNvPr id="5" name="TextBox 4"/>
          <p:cNvSpPr txBox="1"/>
          <p:nvPr/>
        </p:nvSpPr>
        <p:spPr>
          <a:xfrm>
            <a:off x="841248" y="6355080"/>
            <a:ext cx="2743200" cy="320040"/>
          </a:xfrm>
          <a:prstGeom prst="rect">
            <a:avLst/>
          </a:prstGeom>
          <a:noFill/>
        </p:spPr>
        <p:txBody>
          <a:bodyPr wrap="square">
            <a:spAutoFit/>
          </a:bodyPr>
          <a:lstStyle/>
          <a:p>
            <a:r>
              <a:rPr sz="1100">
                <a:solidFill>
                  <a:srgbClr val="707070"/>
                </a:solidFill>
              </a:rPr>
              <a:t>Figure 12.8</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Quantitative predictors: each effect is a line</a:t>
            </a:r>
          </a:p>
        </p:txBody>
      </p:sp>
      <p:sp>
        <p:nvSpPr>
          <p:cNvPr id="3" name="Content Placeholder 2"/>
          <p:cNvSpPr>
            <a:spLocks noGrp="1"/>
          </p:cNvSpPr>
          <p:nvPr>
            <p:ph sz="half" idx="1"/>
          </p:nvPr>
        </p:nvSpPr>
        <p:spPr/>
        <p:txBody>
          <a:bodyPr/>
          <a:lstStyle/>
          <a:p>
            <a:r>
              <a:t>School data: reading and mathematics scores</a:t>
            </a:r>
          </a:p>
          <a:p>
            <a:r>
              <a:t>Length: the strength of the relationship</a:t>
            </a:r>
          </a:p>
          <a:p>
            <a:r>
              <a:t>Direction: how the predictor relates to the two responses</a:t>
            </a:r>
          </a:p>
          <a:p>
            <a:r>
              <a:t>The overall test is the ellipse for all predictors jointly</a:t>
            </a:r>
          </a:p>
        </p:txBody>
      </p:sp>
      <p:pic>
        <p:nvPicPr>
          <p:cNvPr id="4" name="Picture 3" descr="fig-school-heplot1-1.png"/>
          <p:cNvPicPr>
            <a:picLocks noChangeAspect="1"/>
          </p:cNvPicPr>
          <p:nvPr/>
        </p:nvPicPr>
        <p:blipFill>
          <a:blip r:embed="rId3"/>
          <a:stretch>
            <a:fillRect/>
          </a:stretch>
        </p:blipFill>
        <p:spPr>
          <a:xfrm>
            <a:off x="6172200" y="2125980"/>
            <a:ext cx="5184648" cy="3703320"/>
          </a:xfrm>
          <a:prstGeom prst="rect">
            <a:avLst/>
          </a:prstGeom>
        </p:spPr>
      </p:pic>
      <p:sp>
        <p:nvSpPr>
          <p:cNvPr id="5" name="TextBox 4"/>
          <p:cNvSpPr txBox="1"/>
          <p:nvPr/>
        </p:nvSpPr>
        <p:spPr>
          <a:xfrm>
            <a:off x="841248" y="6355080"/>
            <a:ext cx="2743200" cy="320040"/>
          </a:xfrm>
          <a:prstGeom prst="rect">
            <a:avLst/>
          </a:prstGeom>
          <a:noFill/>
        </p:spPr>
        <p:txBody>
          <a:bodyPr wrap="square">
            <a:spAutoFit/>
          </a:bodyPr>
          <a:lstStyle/>
          <a:p>
            <a:r>
              <a:rPr sz="1100">
                <a:solidFill>
                  <a:srgbClr val="707070"/>
                </a:solidFill>
              </a:rPr>
              <a:t>Figure 12.17</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Flatland and </a:t>
            </a:r>
            <a:r>
              <a:rPr dirty="0" err="1"/>
              <a:t>Spaceland</a:t>
            </a:r>
            <a:r>
              <a:rPr dirty="0"/>
              <a:t>: dimension reduction</a:t>
            </a:r>
          </a:p>
        </p:txBody>
      </p:sp>
      <p:sp>
        <p:nvSpPr>
          <p:cNvPr id="3" name="Text Placeholder 2"/>
          <p:cNvSpPr>
            <a:spLocks noGrp="1"/>
          </p:cNvSpPr>
          <p:nvPr>
            <p:ph type="body" idx="1"/>
          </p:nvPr>
        </p:nvSpPr>
        <p:spPr/>
        <p:txBody>
          <a:bodyPr/>
          <a:lstStyle/>
          <a:p>
            <a:r>
              <a:t>PCA, biplots, and nonlinear methods</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9A080066-61B6-40D6-D08D-6460A5447ABF}"/>
              </a:ext>
            </a:extLst>
          </p:cNvPr>
          <p:cNvGrpSpPr/>
          <p:nvPr/>
        </p:nvGrpSpPr>
        <p:grpSpPr>
          <a:xfrm>
            <a:off x="1288897" y="1486129"/>
            <a:ext cx="1942871" cy="1942871"/>
            <a:chOff x="1366471" y="1486129"/>
            <a:chExt cx="1942871" cy="1942871"/>
          </a:xfrm>
        </p:grpSpPr>
        <p:pic>
          <p:nvPicPr>
            <p:cNvPr id="8" name="Picture 7" descr="A picture containing colorful, fresh&#10;&#10;Description automatically generated">
              <a:extLst>
                <a:ext uri="{FF2B5EF4-FFF2-40B4-BE49-F238E27FC236}">
                  <a16:creationId xmlns:a16="http://schemas.microsoft.com/office/drawing/2014/main" id="{11EC24D1-F4F5-4911-9BFA-87CD5F05C835}"/>
                </a:ext>
              </a:extLst>
            </p:cNvPr>
            <p:cNvPicPr>
              <a:picLocks noChangeAspect="1"/>
            </p:cNvPicPr>
            <p:nvPr/>
          </p:nvPicPr>
          <p:blipFill>
            <a:blip r:embed="rId3"/>
            <a:stretch>
              <a:fillRect/>
            </a:stretch>
          </p:blipFill>
          <p:spPr>
            <a:xfrm>
              <a:off x="1366471" y="1486129"/>
              <a:ext cx="1942871" cy="1942871"/>
            </a:xfrm>
            <a:prstGeom prst="rect">
              <a:avLst/>
            </a:prstGeom>
          </p:spPr>
        </p:pic>
        <p:sp>
          <p:nvSpPr>
            <p:cNvPr id="3" name="TextBox 2">
              <a:extLst>
                <a:ext uri="{FF2B5EF4-FFF2-40B4-BE49-F238E27FC236}">
                  <a16:creationId xmlns:a16="http://schemas.microsoft.com/office/drawing/2014/main" id="{9BE0B87A-62D7-88CE-0346-1AD2C9227512}"/>
                </a:ext>
              </a:extLst>
            </p:cNvPr>
            <p:cNvSpPr txBox="1"/>
            <p:nvPr/>
          </p:nvSpPr>
          <p:spPr>
            <a:xfrm>
              <a:off x="1523999" y="1630048"/>
              <a:ext cx="1422889" cy="369332"/>
            </a:xfrm>
            <a:prstGeom prst="rect">
              <a:avLst/>
            </a:prstGeom>
            <a:noFill/>
          </p:spPr>
          <p:txBody>
            <a:bodyPr wrap="square" rtlCol="0">
              <a:spAutoFit/>
            </a:bodyPr>
            <a:lstStyle/>
            <a:p>
              <a:r>
                <a:rPr lang="en-CA" dirty="0"/>
                <a:t>data</a:t>
              </a:r>
            </a:p>
          </p:txBody>
        </p:sp>
      </p:grpSp>
      <p:grpSp>
        <p:nvGrpSpPr>
          <p:cNvPr id="13" name="Group 12">
            <a:extLst>
              <a:ext uri="{FF2B5EF4-FFF2-40B4-BE49-F238E27FC236}">
                <a16:creationId xmlns:a16="http://schemas.microsoft.com/office/drawing/2014/main" id="{D4946A77-5613-960F-AECE-7C7AF2109F0F}"/>
              </a:ext>
            </a:extLst>
          </p:cNvPr>
          <p:cNvGrpSpPr/>
          <p:nvPr/>
        </p:nvGrpSpPr>
        <p:grpSpPr>
          <a:xfrm>
            <a:off x="3907129" y="2157412"/>
            <a:ext cx="3390900" cy="2543175"/>
            <a:chOff x="2946889" y="2338754"/>
            <a:chExt cx="3390900" cy="2543175"/>
          </a:xfrm>
        </p:grpSpPr>
        <p:pic>
          <p:nvPicPr>
            <p:cNvPr id="2" name="Picture 1" descr="Diagram, engineering drawing&#10;&#10;Description automatically generated with medium confidence">
              <a:extLst>
                <a:ext uri="{FF2B5EF4-FFF2-40B4-BE49-F238E27FC236}">
                  <a16:creationId xmlns:a16="http://schemas.microsoft.com/office/drawing/2014/main" id="{72FD6771-D775-4B9D-9F0D-498B99014C16}"/>
                </a:ext>
              </a:extLst>
            </p:cNvPr>
            <p:cNvPicPr>
              <a:picLocks noChangeAspect="1"/>
            </p:cNvPicPr>
            <p:nvPr/>
          </p:nvPicPr>
          <p:blipFill rotWithShape="1">
            <a:blip r:embed="rId4">
              <a:extLst>
                <a:ext uri="{BEBA8EAE-BF5A-486C-A8C5-ECC9F3942E4B}">
                  <a14:imgProps xmlns:a14="http://schemas.microsoft.com/office/drawing/2010/main">
                    <a14:imgLayer r:embed="rId5">
                      <a14:imgEffect>
                        <a14:backgroundRemoval t="3742" b="98597" l="2313" r="99563">
                          <a14:foregroundMark x1="8313" y1="11880" x2="9750" y2="24041"/>
                          <a14:foregroundMark x1="9750" y1="24041" x2="33500" y2="34892"/>
                          <a14:foregroundMark x1="33500" y1="34892" x2="52500" y2="84939"/>
                          <a14:foregroundMark x1="52500" y1="84939" x2="52500" y2="84939"/>
                          <a14:foregroundMark x1="52500" y1="84659" x2="87813" y2="66511"/>
                          <a14:foregroundMark x1="87813" y1="66511" x2="90000" y2="47521"/>
                          <a14:foregroundMark x1="90000" y1="47521" x2="90000" y2="47521"/>
                          <a14:foregroundMark x1="71875" y1="22544" x2="57563" y2="22451"/>
                          <a14:foregroundMark x1="57563" y1="22451" x2="37188" y2="34238"/>
                          <a14:foregroundMark x1="37188" y1="34238" x2="39688" y2="50889"/>
                          <a14:foregroundMark x1="39688" y1="50889" x2="67313" y2="49298"/>
                          <a14:foregroundMark x1="64699" y1="37180" x2="59562" y2="13377"/>
                          <a14:foregroundMark x1="44364" y1="47152" x2="32875" y2="72685"/>
                          <a14:foregroundMark x1="59562" y1="13377" x2="48449" y2="38073"/>
                          <a14:foregroundMark x1="32875" y1="72685" x2="83250" y2="57624"/>
                          <a14:foregroundMark x1="83250" y1="57624" x2="66066" y2="44375"/>
                          <a14:foregroundMark x1="21250" y1="21328" x2="14125" y2="26754"/>
                          <a14:foregroundMark x1="14125" y1="26754" x2="9625" y2="33489"/>
                          <a14:foregroundMark x1="9625" y1="33489" x2="43425" y2="44695"/>
                          <a14:foregroundMark x1="64569" y1="37137" x2="67813" y2="35360"/>
                          <a14:foregroundMark x1="67813" y1="35360" x2="69625" y2="12254"/>
                          <a14:foregroundMark x1="48283" y1="47579" x2="36563" y2="66978"/>
                          <a14:foregroundMark x1="69625" y1="12254" x2="55024" y2="36421"/>
                          <a14:foregroundMark x1="36563" y1="66978" x2="50000" y2="69317"/>
                          <a14:foregroundMark x1="50000" y1="69317" x2="62500" y2="48176"/>
                          <a14:foregroundMark x1="62500" y1="48176" x2="62625" y2="67166"/>
                          <a14:foregroundMark x1="62625" y1="67166" x2="72750" y2="69691"/>
                          <a14:foregroundMark x1="72750" y1="69691" x2="74875" y2="76894"/>
                          <a14:foregroundMark x1="74875" y1="76894" x2="75063" y2="85968"/>
                          <a14:foregroundMark x1="95813" y1="72404" x2="89500" y2="89804"/>
                          <a14:foregroundMark x1="89500" y1="89804" x2="94375" y2="84378"/>
                          <a14:foregroundMark x1="94375" y1="84378" x2="89188" y2="96632"/>
                          <a14:foregroundMark x1="89188" y1="96632" x2="95500" y2="90833"/>
                          <a14:foregroundMark x1="95500" y1="90833" x2="84875" y2="88400"/>
                          <a14:foregroundMark x1="84875" y1="88400" x2="84375" y2="80355"/>
                          <a14:foregroundMark x1="84375" y1="80355" x2="76250" y2="82226"/>
                          <a14:foregroundMark x1="76250" y1="82226" x2="80688" y2="63704"/>
                          <a14:foregroundMark x1="80688" y1="63704" x2="70625" y2="72030"/>
                          <a14:foregroundMark x1="70625" y1="72030" x2="66688" y2="59027"/>
                          <a14:foregroundMark x1="66688" y1="59027" x2="59688" y2="58653"/>
                          <a14:foregroundMark x1="59688" y1="58653" x2="52250" y2="70065"/>
                          <a14:foregroundMark x1="52250" y1="70065" x2="70000" y2="41534"/>
                          <a14:foregroundMark x1="57241" y1="46759" x2="44875" y2="51824"/>
                          <a14:foregroundMark x1="70000" y1="41534" x2="66313" y2="43043"/>
                          <a14:foregroundMark x1="44875" y1="51824" x2="34313" y2="47053"/>
                          <a14:foregroundMark x1="34313" y1="47053" x2="30500" y2="34799"/>
                          <a14:foregroundMark x1="30500" y1="34799" x2="27000" y2="29935"/>
                          <a14:foregroundMark x1="27000" y1="29935" x2="21750" y2="34331"/>
                          <a14:foregroundMark x1="21750" y1="34331" x2="18500" y2="17493"/>
                          <a14:foregroundMark x1="16313" y1="40879" x2="18500" y2="40879"/>
                          <a14:foregroundMark x1="20563" y1="42937" x2="29250" y2="55659"/>
                          <a14:foregroundMark x1="33313" y1="26660" x2="36688" y2="20767"/>
                          <a14:foregroundMark x1="36688" y1="20767" x2="31000" y2="26567"/>
                          <a14:foregroundMark x1="31000" y1="26567" x2="36063" y2="23480"/>
                          <a14:foregroundMark x1="36063" y1="23480" x2="37375" y2="27689"/>
                          <a14:foregroundMark x1="71688" y1="87933" x2="71688" y2="89242"/>
                          <a14:foregroundMark x1="43125" y1="87746" x2="41813" y2="92049"/>
                          <a14:foregroundMark x1="84438" y1="12442" x2="83750" y2="22077"/>
                          <a14:foregroundMark x1="83750" y1="22077" x2="85250" y2="30028"/>
                          <a14:foregroundMark x1="85250" y1="30028" x2="88375" y2="17961"/>
                          <a14:foregroundMark x1="88375" y1="17961" x2="87625" y2="26286"/>
                          <a14:foregroundMark x1="87625" y1="26286" x2="91563" y2="30496"/>
                          <a14:foregroundMark x1="9000" y1="60524" x2="8875" y2="86342"/>
                          <a14:foregroundMark x1="8875" y1="86342" x2="14750" y2="81197"/>
                          <a14:foregroundMark x1="14750" y1="81197" x2="22688" y2="78017"/>
                          <a14:foregroundMark x1="22688" y1="78017" x2="27187" y2="95136"/>
                          <a14:foregroundMark x1="27187" y1="95136" x2="31625" y2="98690"/>
                          <a14:foregroundMark x1="31625" y1="98690" x2="31625" y2="98690"/>
                          <a14:foregroundMark x1="5813" y1="87746" x2="1688" y2="94761"/>
                          <a14:foregroundMark x1="1688" y1="94761" x2="3938" y2="78391"/>
                          <a14:foregroundMark x1="3938" y1="78391" x2="2438" y2="51169"/>
                          <a14:foregroundMark x1="2438" y1="51169" x2="4188" y2="39196"/>
                          <a14:foregroundMark x1="4188" y1="39196" x2="375" y2="44715"/>
                          <a14:foregroundMark x1="375" y1="44715" x2="2313" y2="8419"/>
                          <a14:foregroundMark x1="2313" y1="8419" x2="13250" y2="16183"/>
                          <a14:foregroundMark x1="13250" y1="16183" x2="14438" y2="13938"/>
                          <a14:foregroundMark x1="97500" y1="95323" x2="98625" y2="83349"/>
                          <a14:foregroundMark x1="98625" y1="83349" x2="94750" y2="87278"/>
                          <a14:foregroundMark x1="94750" y1="87278" x2="98625" y2="10384"/>
                          <a14:foregroundMark x1="98625" y1="10384" x2="96250" y2="29280"/>
                          <a14:foregroundMark x1="96250" y1="29280" x2="96250" y2="21048"/>
                          <a14:foregroundMark x1="96250" y1="21048" x2="94750" y2="29747"/>
                          <a14:foregroundMark x1="94750" y1="29747" x2="90188" y2="34705"/>
                          <a14:foregroundMark x1="90188" y1="34705" x2="90250" y2="22825"/>
                          <a14:foregroundMark x1="90250" y1="22825" x2="85875" y2="26193"/>
                          <a14:foregroundMark x1="85875" y1="26193" x2="80938" y2="12909"/>
                          <a14:foregroundMark x1="80938" y1="12909" x2="76125" y2="17493"/>
                          <a14:foregroundMark x1="76125" y1="17493" x2="71063" y2="14406"/>
                          <a14:foregroundMark x1="71063" y1="14406" x2="60375" y2="15248"/>
                          <a14:foregroundMark x1="60375" y1="15248" x2="58938" y2="13190"/>
                          <a14:foregroundMark x1="97500" y1="61272" x2="98875" y2="98129"/>
                          <a14:foregroundMark x1="98875" y1="98129" x2="96375" y2="40692"/>
                          <a14:foregroundMark x1="96375" y1="40692" x2="99375" y2="65949"/>
                          <a14:foregroundMark x1="99375" y1="65949" x2="96938" y2="17399"/>
                          <a14:foregroundMark x1="96938" y1="17399" x2="99125" y2="38634"/>
                          <a14:foregroundMark x1="99125" y1="38634" x2="96938" y2="14125"/>
                          <a14:foregroundMark x1="96938" y1="14125" x2="97688" y2="6455"/>
                          <a14:foregroundMark x1="97688" y1="6455" x2="89250" y2="11880"/>
                          <a14:foregroundMark x1="89250" y1="11880" x2="86563" y2="5145"/>
                          <a14:foregroundMark x1="86563" y1="5145" x2="83250" y2="3742"/>
                          <a14:foregroundMark x1="98313" y1="69411" x2="98313" y2="91768"/>
                          <a14:foregroundMark x1="98313" y1="91768" x2="98250" y2="77923"/>
                          <a14:foregroundMark x1="98250" y1="77923" x2="99813" y2="84846"/>
                          <a14:foregroundMark x1="99813" y1="84846" x2="99563" y2="72498"/>
                          <a14:foregroundMark x1="99563" y1="72498" x2="98188" y2="69130"/>
                          <a14:foregroundMark x1="43313" y1="45557" x2="43500" y2="44341"/>
                          <a14:foregroundMark x1="43375" y1="44808" x2="43438" y2="44715"/>
                          <a14:foregroundMark x1="43313" y1="45370" x2="43563" y2="45744"/>
                          <a14:foregroundMark x1="43563" y1="46024" x2="43813" y2="46866"/>
                          <a14:backgroundMark x1="50813" y1="42470" x2="56688" y2="43312"/>
                          <a14:backgroundMark x1="56688" y1="43312" x2="50313" y2="42657"/>
                          <a14:backgroundMark x1="51125" y1="41908" x2="53000" y2="45276"/>
                          <a14:backgroundMark x1="52000" y1="42189" x2="57563" y2="43031"/>
                          <a14:backgroundMark x1="57563" y1="43031" x2="56875" y2="43966"/>
                          <a14:backgroundMark x1="57938" y1="43686" x2="59813" y2="43686"/>
                          <a14:backgroundMark x1="57938" y1="43218" x2="59813" y2="44434"/>
                          <a14:backgroundMark x1="56250" y1="41628" x2="57063" y2="39850"/>
                          <a14:backgroundMark x1="51625" y1="41628" x2="53312" y2="45276"/>
                          <a14:backgroundMark x1="52125" y1="40692" x2="50813" y2="41628"/>
                          <a14:backgroundMark x1="54875" y1="40131" x2="60875" y2="42657"/>
                          <a14:backgroundMark x1="60875" y1="42657" x2="61313" y2="43218"/>
                          <a14:backgroundMark x1="60500" y1="42657" x2="53938" y2="39850"/>
                          <a14:backgroundMark x1="53938" y1="39850" x2="48125" y2="41534"/>
                          <a14:backgroundMark x1="48125" y1="41534" x2="53312" y2="44715"/>
                          <a14:backgroundMark x1="53312" y1="44715" x2="53312" y2="44715"/>
                          <a14:backgroundMark x1="45375" y1="42657" x2="50063" y2="43312"/>
                          <a14:backgroundMark x1="50063" y1="43312" x2="48750" y2="44995"/>
                          <a14:backgroundMark x1="44875" y1="43966" x2="49063" y2="38634"/>
                          <a14:backgroundMark x1="49063" y1="38634" x2="49438" y2="38634"/>
                          <a14:backgroundMark x1="58250" y1="42189" x2="62750" y2="40225"/>
                          <a14:backgroundMark x1="62750" y1="40225" x2="63500" y2="44434"/>
                          <a14:backgroundMark x1="63188" y1="41908" x2="64875" y2="44715"/>
                          <a14:backgroundMark x1="58625" y1="45276" x2="57438" y2="45463"/>
                          <a14:backgroundMark x1="58750" y1="40131" x2="61000" y2="39850"/>
                          <a14:backgroundMark x1="59813" y1="45744" x2="61813" y2="44247"/>
                          <a14:backgroundMark x1="61313" y1="45744" x2="62000" y2="44434"/>
                          <a14:backgroundMark x1="58938" y1="46024" x2="58938" y2="45463"/>
                          <a14:backgroundMark x1="47750" y1="46211" x2="45188" y2="45744"/>
                          <a14:backgroundMark x1="46875" y1="45744" x2="47250" y2="43686"/>
                          <a14:backgroundMark x1="44660" y1="45804" x2="48250" y2="46024"/>
                          <a14:backgroundMark x1="49625" y1="45744" x2="47875" y2="46024"/>
                          <a14:backgroundMark x1="44688" y1="44247" x2="45375" y2="44434"/>
                          <a14:backgroundMark x1="63500" y1="39383" x2="65875" y2="40131"/>
                          <a14:backgroundMark x1="62687" y1="45276" x2="57438" y2="46024"/>
                          <a14:backgroundMark x1="46875" y1="38634" x2="47375" y2="38634"/>
                          <a14:backgroundMark x1="47750" y1="38073" x2="47750" y2="38354"/>
                          <a14:backgroundMark x1="47875" y1="38354" x2="48750" y2="37886"/>
                          <a14:backgroundMark x1="47875" y1="38915" x2="48438" y2="38354"/>
                          <a14:backgroundMark x1="53000" y1="39850" x2="58375" y2="40412"/>
                          <a14:backgroundMark x1="58375" y1="40412" x2="63500" y2="38915"/>
                          <a14:backgroundMark x1="63500" y1="38915" x2="56063" y2="38915"/>
                          <a14:backgroundMark x1="56063" y1="38915" x2="63313" y2="38354"/>
                          <a14:backgroundMark x1="63313" y1="38354" x2="53312" y2="37605"/>
                          <a14:backgroundMark x1="52500" y1="38634" x2="53688" y2="39102"/>
                          <a14:backgroundMark x1="47563" y1="38634" x2="48063" y2="38354"/>
                          <a14:backgroundMark x1="48063" y1="38354" x2="48563" y2="38073"/>
                          <a14:backgroundMark x1="64563" y1="41160" x2="65750" y2="40692"/>
                          <a14:backgroundMark x1="65563" y1="40692" x2="65375" y2="41441"/>
                          <a14:backgroundMark x1="65750" y1="45463" x2="65875" y2="43218"/>
                          <a14:backgroundMark x1="65563" y1="45744" x2="65563" y2="42189"/>
                          <a14:backgroundMark x1="65375" y1="45463" x2="65375" y2="42470"/>
                          <a14:backgroundMark x1="64875" y1="45276" x2="64875" y2="42189"/>
                          <a14:backgroundMark x1="64875" y1="44715" x2="64688" y2="42189"/>
                          <a14:backgroundMark x1="64375" y1="42189" x2="64375" y2="42189"/>
                          <a14:backgroundMark x1="64563" y1="43218" x2="65375" y2="44995"/>
                          <a14:backgroundMark x1="65063" y1="41441" x2="65250" y2="42470"/>
                          <a14:backgroundMark x1="65250" y1="42470" x2="65250" y2="44247"/>
                          <a14:backgroundMark x1="57375" y1="46399" x2="58438" y2="46024"/>
                          <a14:backgroundMark x1="65938" y1="43779" x2="66000" y2="44247"/>
                          <a14:backgroundMark x1="66000" y1="44621" x2="65938" y2="43779"/>
                          <a14:backgroundMark x1="66063" y1="44995" x2="66063" y2="44153"/>
                          <a14:backgroundMark x1="63188" y1="38167" x2="64875" y2="38728"/>
                          <a14:backgroundMark x1="48438" y1="38073" x2="48500" y2="37979"/>
                          <a14:backgroundMark x1="48375" y1="37979" x2="48188" y2="37792"/>
                          <a14:backgroundMark x1="48500" y1="37886" x2="48625" y2="37979"/>
                          <a14:backgroundMark x1="48500" y1="37792" x2="48188" y2="37792"/>
                          <a14:backgroundMark x1="48313" y1="37605" x2="49063" y2="37886"/>
                        </a14:backgroundRemoval>
                      </a14:imgEffect>
                    </a14:imgLayer>
                  </a14:imgProps>
                </a:ext>
              </a:extLst>
            </a:blip>
            <a:srcRect l="11000"/>
            <a:stretch/>
          </p:blipFill>
          <p:spPr>
            <a:xfrm>
              <a:off x="2946889" y="2338754"/>
              <a:ext cx="3390900" cy="2543175"/>
            </a:xfrm>
            <a:prstGeom prst="rect">
              <a:avLst/>
            </a:prstGeom>
          </p:spPr>
        </p:pic>
        <p:pic>
          <p:nvPicPr>
            <p:cNvPr id="9" name="Picture 8" descr="Diagram&#10;&#10;Description automatically generated">
              <a:extLst>
                <a:ext uri="{FF2B5EF4-FFF2-40B4-BE49-F238E27FC236}">
                  <a16:creationId xmlns:a16="http://schemas.microsoft.com/office/drawing/2014/main" id="{E4814DF3-06D3-4C35-9F20-1E6EBDD378E5}"/>
                </a:ext>
              </a:extLst>
            </p:cNvPr>
            <p:cNvPicPr>
              <a:picLocks noChangeAspect="1"/>
            </p:cNvPicPr>
            <p:nvPr/>
          </p:nvPicPr>
          <p:blipFill>
            <a:blip r:embed="rId6"/>
            <a:stretch>
              <a:fillRect/>
            </a:stretch>
          </p:blipFill>
          <p:spPr>
            <a:xfrm>
              <a:off x="4117480" y="3543300"/>
              <a:ext cx="1049718" cy="359601"/>
            </a:xfrm>
            <a:prstGeom prst="rect">
              <a:avLst/>
            </a:prstGeom>
          </p:spPr>
        </p:pic>
      </p:grpSp>
      <p:sp>
        <p:nvSpPr>
          <p:cNvPr id="10" name="TextBox 9">
            <a:extLst>
              <a:ext uri="{FF2B5EF4-FFF2-40B4-BE49-F238E27FC236}">
                <a16:creationId xmlns:a16="http://schemas.microsoft.com/office/drawing/2014/main" id="{2DB497BF-02CE-45A4-90D0-3FBF562109AE}"/>
              </a:ext>
            </a:extLst>
          </p:cNvPr>
          <p:cNvSpPr txBox="1"/>
          <p:nvPr/>
        </p:nvSpPr>
        <p:spPr>
          <a:xfrm>
            <a:off x="892366" y="353979"/>
            <a:ext cx="10540683" cy="830997"/>
          </a:xfrm>
          <a:prstGeom prst="rect">
            <a:avLst/>
          </a:prstGeom>
          <a:solidFill>
            <a:schemeClr val="accent1">
              <a:lumMod val="50000"/>
            </a:schemeClr>
          </a:solidFill>
        </p:spPr>
        <p:txBody>
          <a:bodyPr wrap="square" rtlCol="0">
            <a:spAutoFit/>
          </a:bodyPr>
          <a:lstStyle/>
          <a:p>
            <a:r>
              <a:rPr lang="en-US" sz="4800" dirty="0">
                <a:solidFill>
                  <a:schemeClr val="bg1"/>
                </a:solidFill>
              </a:rPr>
              <a:t>Multivariate Juicers</a:t>
            </a:r>
          </a:p>
        </p:txBody>
      </p:sp>
      <p:sp>
        <p:nvSpPr>
          <p:cNvPr id="11" name="TextBox 10">
            <a:extLst>
              <a:ext uri="{FF2B5EF4-FFF2-40B4-BE49-F238E27FC236}">
                <a16:creationId xmlns:a16="http://schemas.microsoft.com/office/drawing/2014/main" id="{1E6CEBBC-13DA-44D1-85B3-86960864DB49}"/>
              </a:ext>
            </a:extLst>
          </p:cNvPr>
          <p:cNvSpPr txBox="1"/>
          <p:nvPr/>
        </p:nvSpPr>
        <p:spPr>
          <a:xfrm>
            <a:off x="6858000" y="1398652"/>
            <a:ext cx="4648200" cy="954107"/>
          </a:xfrm>
          <a:prstGeom prst="rect">
            <a:avLst/>
          </a:prstGeom>
          <a:noFill/>
        </p:spPr>
        <p:txBody>
          <a:bodyPr wrap="square" rtlCol="0">
            <a:spAutoFit/>
          </a:bodyPr>
          <a:lstStyle/>
          <a:p>
            <a:r>
              <a:rPr lang="en-US" sz="2800" dirty="0"/>
              <a:t>Squeeze the most flavor from your data in low-D space</a:t>
            </a:r>
          </a:p>
        </p:txBody>
      </p:sp>
      <p:sp>
        <p:nvSpPr>
          <p:cNvPr id="12" name="TextBox 11">
            <a:extLst>
              <a:ext uri="{FF2B5EF4-FFF2-40B4-BE49-F238E27FC236}">
                <a16:creationId xmlns:a16="http://schemas.microsoft.com/office/drawing/2014/main" id="{021F364F-8409-4682-B75D-C19ED2684FDE}"/>
              </a:ext>
            </a:extLst>
          </p:cNvPr>
          <p:cNvSpPr txBox="1"/>
          <p:nvPr/>
        </p:nvSpPr>
        <p:spPr>
          <a:xfrm>
            <a:off x="1288897" y="4894817"/>
            <a:ext cx="5236465" cy="954107"/>
          </a:xfrm>
          <a:prstGeom prst="rect">
            <a:avLst/>
          </a:prstGeom>
          <a:noFill/>
        </p:spPr>
        <p:txBody>
          <a:bodyPr wrap="square" rtlCol="0">
            <a:spAutoFit/>
          </a:bodyPr>
          <a:lstStyle/>
          <a:p>
            <a:pPr marL="342900" indent="-342900">
              <a:buClr>
                <a:srgbClr val="FF0000"/>
              </a:buClr>
              <a:buSzPct val="110000"/>
              <a:buFont typeface="Wingdings" panose="05000000000000000000" pitchFamily="2" charset="2"/>
              <a:buChar char="v"/>
            </a:pPr>
            <a:r>
              <a:rPr lang="en-US" sz="2800" dirty="0"/>
              <a:t>Biplot: The data juicer</a:t>
            </a:r>
          </a:p>
          <a:p>
            <a:pPr marL="342900" indent="-342900">
              <a:buClr>
                <a:srgbClr val="FF0000"/>
              </a:buClr>
              <a:buSzPct val="110000"/>
              <a:buFont typeface="Wingdings" panose="05000000000000000000" pitchFamily="2" charset="2"/>
              <a:buChar char="v"/>
            </a:pPr>
            <a:r>
              <a:rPr lang="en-US" sz="2800" dirty="0"/>
              <a:t>CDA plots: The MANOVA juicer</a:t>
            </a:r>
          </a:p>
        </p:txBody>
      </p:sp>
      <p:grpSp>
        <p:nvGrpSpPr>
          <p:cNvPr id="7" name="Group 6">
            <a:extLst>
              <a:ext uri="{FF2B5EF4-FFF2-40B4-BE49-F238E27FC236}">
                <a16:creationId xmlns:a16="http://schemas.microsoft.com/office/drawing/2014/main" id="{78A900CB-AAED-D1C7-286D-675A1FA53DC9}"/>
              </a:ext>
            </a:extLst>
          </p:cNvPr>
          <p:cNvGrpSpPr/>
          <p:nvPr/>
        </p:nvGrpSpPr>
        <p:grpSpPr>
          <a:xfrm>
            <a:off x="8083903" y="3541758"/>
            <a:ext cx="1607344" cy="1600200"/>
            <a:chOff x="6247759" y="3543300"/>
            <a:chExt cx="1607344" cy="1600200"/>
          </a:xfrm>
        </p:grpSpPr>
        <p:pic>
          <p:nvPicPr>
            <p:cNvPr id="4" name="Picture 3" descr="A picture containing text&#10;&#10;Description automatically generated">
              <a:extLst>
                <a:ext uri="{FF2B5EF4-FFF2-40B4-BE49-F238E27FC236}">
                  <a16:creationId xmlns:a16="http://schemas.microsoft.com/office/drawing/2014/main" id="{F91B85D0-E564-489F-B755-5DBEB0E53B71}"/>
                </a:ext>
              </a:extLst>
            </p:cNvPr>
            <p:cNvPicPr>
              <a:picLocks noChangeAspect="1"/>
            </p:cNvPicPr>
            <p:nvPr/>
          </p:nvPicPr>
          <p:blipFill>
            <a:blip r:embed="rId7"/>
            <a:stretch>
              <a:fillRect/>
            </a:stretch>
          </p:blipFill>
          <p:spPr>
            <a:xfrm>
              <a:off x="6247759" y="3543300"/>
              <a:ext cx="1607344" cy="1600200"/>
            </a:xfrm>
            <a:prstGeom prst="rect">
              <a:avLst/>
            </a:prstGeom>
          </p:spPr>
        </p:pic>
        <p:sp>
          <p:nvSpPr>
            <p:cNvPr id="5" name="TextBox 4">
              <a:extLst>
                <a:ext uri="{FF2B5EF4-FFF2-40B4-BE49-F238E27FC236}">
                  <a16:creationId xmlns:a16="http://schemas.microsoft.com/office/drawing/2014/main" id="{AFB16C60-4D7D-1973-96CA-0075D4FE1350}"/>
                </a:ext>
              </a:extLst>
            </p:cNvPr>
            <p:cNvSpPr txBox="1"/>
            <p:nvPr/>
          </p:nvSpPr>
          <p:spPr>
            <a:xfrm>
              <a:off x="6690069" y="4500929"/>
              <a:ext cx="1143000" cy="381000"/>
            </a:xfrm>
            <a:prstGeom prst="rect">
              <a:avLst/>
            </a:prstGeom>
            <a:noFill/>
          </p:spPr>
          <p:txBody>
            <a:bodyPr wrap="square" rtlCol="0">
              <a:spAutoFit/>
            </a:bodyPr>
            <a:lstStyle/>
            <a:p>
              <a:r>
                <a:rPr lang="en-CA" dirty="0">
                  <a:solidFill>
                    <a:schemeClr val="bg1"/>
                  </a:solidFill>
                </a:rPr>
                <a:t>insight</a:t>
              </a:r>
            </a:p>
          </p:txBody>
        </p:sp>
      </p:grpSp>
    </p:spTree>
    <p:extLst>
      <p:ext uri="{BB962C8B-B14F-4D97-AF65-F5344CB8AC3E}">
        <p14:creationId xmlns:p14="http://schemas.microsoft.com/office/powerpoint/2010/main" val="17721700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withEffect">
                                  <p:stCondLst>
                                    <p:cond delay="1500"/>
                                  </p:stCondLst>
                                  <p:childTnLst>
                                    <p:set>
                                      <p:cBhvr>
                                        <p:cTn id="6" dur="1" fill="hold">
                                          <p:stCondLst>
                                            <p:cond delay="0"/>
                                          </p:stCondLst>
                                        </p:cTn>
                                        <p:tgtEl>
                                          <p:spTgt spid="6"/>
                                        </p:tgtEl>
                                        <p:attrNameLst>
                                          <p:attrName>style.visibility</p:attrName>
                                        </p:attrNameLst>
                                      </p:cBhvr>
                                      <p:to>
                                        <p:strVal val="visible"/>
                                      </p:to>
                                    </p:set>
                                    <p:anim calcmode="lin" valueType="num">
                                      <p:cBhvr>
                                        <p:cTn id="7" dur="1000" fill="hold"/>
                                        <p:tgtEl>
                                          <p:spTgt spid="6"/>
                                        </p:tgtEl>
                                        <p:attrNameLst>
                                          <p:attrName>ppt_w</p:attrName>
                                        </p:attrNameLst>
                                      </p:cBhvr>
                                      <p:tavLst>
                                        <p:tav tm="0">
                                          <p:val>
                                            <p:fltVal val="0"/>
                                          </p:val>
                                        </p:tav>
                                        <p:tav tm="100000">
                                          <p:val>
                                            <p:strVal val="#ppt_w"/>
                                          </p:val>
                                        </p:tav>
                                      </p:tavLst>
                                    </p:anim>
                                    <p:anim calcmode="lin" valueType="num">
                                      <p:cBhvr>
                                        <p:cTn id="8" dur="1000" fill="hold"/>
                                        <p:tgtEl>
                                          <p:spTgt spid="6"/>
                                        </p:tgtEl>
                                        <p:attrNameLst>
                                          <p:attrName>ppt_h</p:attrName>
                                        </p:attrNameLst>
                                      </p:cBhvr>
                                      <p:tavLst>
                                        <p:tav tm="0">
                                          <p:val>
                                            <p:fltVal val="0"/>
                                          </p:val>
                                        </p:tav>
                                        <p:tav tm="100000">
                                          <p:val>
                                            <p:strVal val="#ppt_h"/>
                                          </p:val>
                                        </p:tav>
                                      </p:tavLst>
                                    </p:anim>
                                    <p:anim calcmode="lin" valueType="num">
                                      <p:cBhvr>
                                        <p:cTn id="9" dur="1000" fill="hold"/>
                                        <p:tgtEl>
                                          <p:spTgt spid="6"/>
                                        </p:tgtEl>
                                        <p:attrNameLst>
                                          <p:attrName>style.rotation</p:attrName>
                                        </p:attrNameLst>
                                      </p:cBhvr>
                                      <p:tavLst>
                                        <p:tav tm="0">
                                          <p:val>
                                            <p:fltVal val="90"/>
                                          </p:val>
                                        </p:tav>
                                        <p:tav tm="100000">
                                          <p:val>
                                            <p:fltVal val="0"/>
                                          </p:val>
                                        </p:tav>
                                      </p:tavLst>
                                    </p:anim>
                                    <p:animEffect transition="in" filter="fade">
                                      <p:cBhvr>
                                        <p:cTn id="10" dur="10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anim calcmode="lin" valueType="num">
                                      <p:cBhvr>
                                        <p:cTn id="15" dur="1000" fill="hold"/>
                                        <p:tgtEl>
                                          <p:spTgt spid="7"/>
                                        </p:tgtEl>
                                        <p:attrNameLst>
                                          <p:attrName>ppt_w</p:attrName>
                                        </p:attrNameLst>
                                      </p:cBhvr>
                                      <p:tavLst>
                                        <p:tav tm="0">
                                          <p:val>
                                            <p:fltVal val="0"/>
                                          </p:val>
                                        </p:tav>
                                        <p:tav tm="100000">
                                          <p:val>
                                            <p:strVal val="#ppt_w"/>
                                          </p:val>
                                        </p:tav>
                                      </p:tavLst>
                                    </p:anim>
                                    <p:anim calcmode="lin" valueType="num">
                                      <p:cBhvr>
                                        <p:cTn id="16" dur="1000" fill="hold"/>
                                        <p:tgtEl>
                                          <p:spTgt spid="7"/>
                                        </p:tgtEl>
                                        <p:attrNameLst>
                                          <p:attrName>ppt_h</p:attrName>
                                        </p:attrNameLst>
                                      </p:cBhvr>
                                      <p:tavLst>
                                        <p:tav tm="0">
                                          <p:val>
                                            <p:fltVal val="0"/>
                                          </p:val>
                                        </p:tav>
                                        <p:tav tm="100000">
                                          <p:val>
                                            <p:strVal val="#ppt_h"/>
                                          </p:val>
                                        </p:tav>
                                      </p:tavLst>
                                    </p:anim>
                                    <p:anim calcmode="lin" valueType="num">
                                      <p:cBhvr>
                                        <p:cTn id="17" dur="1000" fill="hold"/>
                                        <p:tgtEl>
                                          <p:spTgt spid="7"/>
                                        </p:tgtEl>
                                        <p:attrNameLst>
                                          <p:attrName>style.rotation</p:attrName>
                                        </p:attrNameLst>
                                      </p:cBhvr>
                                      <p:tavLst>
                                        <p:tav tm="0">
                                          <p:val>
                                            <p:fltVal val="90"/>
                                          </p:val>
                                        </p:tav>
                                        <p:tav tm="100000">
                                          <p:val>
                                            <p:fltVal val="0"/>
                                          </p:val>
                                        </p:tav>
                                      </p:tavLst>
                                    </p:anim>
                                    <p:animEffect transition="in" filter="fade">
                                      <p:cBhvr>
                                        <p:cTn id="18" dur="1000"/>
                                        <p:tgtEl>
                                          <p:spTgt spid="7"/>
                                        </p:tgtEl>
                                      </p:cBhvr>
                                    </p:animEffec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
                                            <p:txEl>
                                              <p:pRg st="0" end="0"/>
                                            </p:txEl>
                                          </p:spTgt>
                                        </p:tgtEl>
                                        <p:attrNameLst>
                                          <p:attrName>style.visibility</p:attrName>
                                        </p:attrNameLst>
                                      </p:cBhvr>
                                      <p:to>
                                        <p:strVal val="visible"/>
                                      </p:to>
                                    </p:set>
                                  </p:childTnLst>
                                </p:cTn>
                              </p:par>
                              <p:par>
                                <p:cTn id="23" presetID="31" presetClass="entr" presetSubtype="0" fill="hold" nodeType="withEffect">
                                  <p:stCondLst>
                                    <p:cond delay="0"/>
                                  </p:stCondLst>
                                  <p:childTnLst>
                                    <p:set>
                                      <p:cBhvr>
                                        <p:cTn id="24" dur="1" fill="hold">
                                          <p:stCondLst>
                                            <p:cond delay="0"/>
                                          </p:stCondLst>
                                        </p:cTn>
                                        <p:tgtEl>
                                          <p:spTgt spid="13"/>
                                        </p:tgtEl>
                                        <p:attrNameLst>
                                          <p:attrName>style.visibility</p:attrName>
                                        </p:attrNameLst>
                                      </p:cBhvr>
                                      <p:to>
                                        <p:strVal val="visible"/>
                                      </p:to>
                                    </p:set>
                                    <p:anim calcmode="lin" valueType="num">
                                      <p:cBhvr>
                                        <p:cTn id="25" dur="1000" fill="hold"/>
                                        <p:tgtEl>
                                          <p:spTgt spid="13"/>
                                        </p:tgtEl>
                                        <p:attrNameLst>
                                          <p:attrName>ppt_w</p:attrName>
                                        </p:attrNameLst>
                                      </p:cBhvr>
                                      <p:tavLst>
                                        <p:tav tm="0">
                                          <p:val>
                                            <p:fltVal val="0"/>
                                          </p:val>
                                        </p:tav>
                                        <p:tav tm="100000">
                                          <p:val>
                                            <p:strVal val="#ppt_w"/>
                                          </p:val>
                                        </p:tav>
                                      </p:tavLst>
                                    </p:anim>
                                    <p:anim calcmode="lin" valueType="num">
                                      <p:cBhvr>
                                        <p:cTn id="26" dur="1000" fill="hold"/>
                                        <p:tgtEl>
                                          <p:spTgt spid="13"/>
                                        </p:tgtEl>
                                        <p:attrNameLst>
                                          <p:attrName>ppt_h</p:attrName>
                                        </p:attrNameLst>
                                      </p:cBhvr>
                                      <p:tavLst>
                                        <p:tav tm="0">
                                          <p:val>
                                            <p:fltVal val="0"/>
                                          </p:val>
                                        </p:tav>
                                        <p:tav tm="100000">
                                          <p:val>
                                            <p:strVal val="#ppt_h"/>
                                          </p:val>
                                        </p:tav>
                                      </p:tavLst>
                                    </p:anim>
                                    <p:anim calcmode="lin" valueType="num">
                                      <p:cBhvr>
                                        <p:cTn id="27" dur="1000" fill="hold"/>
                                        <p:tgtEl>
                                          <p:spTgt spid="13"/>
                                        </p:tgtEl>
                                        <p:attrNameLst>
                                          <p:attrName>style.rotation</p:attrName>
                                        </p:attrNameLst>
                                      </p:cBhvr>
                                      <p:tavLst>
                                        <p:tav tm="0">
                                          <p:val>
                                            <p:fltVal val="90"/>
                                          </p:val>
                                        </p:tav>
                                        <p:tav tm="100000">
                                          <p:val>
                                            <p:fltVal val="0"/>
                                          </p:val>
                                        </p:tav>
                                      </p:tavLst>
                                    </p:anim>
                                    <p:animEffect transition="in" filter="fade">
                                      <p:cBhvr>
                                        <p:cTn id="28" dur="1000"/>
                                        <p:tgtEl>
                                          <p:spTgt spid="13"/>
                                        </p:tgtEl>
                                      </p:cBhvr>
                                    </p:animEffect>
                                  </p:childTnLst>
                                </p:cTn>
                              </p:par>
                              <p:par>
                                <p:cTn id="29" presetID="42" presetClass="entr" presetSubtype="0" fill="hold" nodeType="withEffect">
                                  <p:stCondLst>
                                    <p:cond delay="0"/>
                                  </p:stCondLst>
                                  <p:childTnLst>
                                    <p:set>
                                      <p:cBhvr>
                                        <p:cTn id="30" dur="1" fill="hold">
                                          <p:stCondLst>
                                            <p:cond delay="0"/>
                                          </p:stCondLst>
                                        </p:cTn>
                                        <p:tgtEl>
                                          <p:spTgt spid="12">
                                            <p:txEl>
                                              <p:pRg st="0" end="0"/>
                                            </p:txEl>
                                          </p:spTgt>
                                        </p:tgtEl>
                                        <p:attrNameLst>
                                          <p:attrName>style.visibility</p:attrName>
                                        </p:attrNameLst>
                                      </p:cBhvr>
                                      <p:to>
                                        <p:strVal val="visible"/>
                                      </p:to>
                                    </p:set>
                                    <p:animEffect transition="in" filter="fade">
                                      <p:cBhvr>
                                        <p:cTn id="31" dur="1000"/>
                                        <p:tgtEl>
                                          <p:spTgt spid="12">
                                            <p:txEl>
                                              <p:pRg st="0" end="0"/>
                                            </p:txEl>
                                          </p:spTgt>
                                        </p:tgtEl>
                                      </p:cBhvr>
                                    </p:animEffect>
                                    <p:anim calcmode="lin" valueType="num">
                                      <p:cBhvr>
                                        <p:cTn id="32" dur="1000" fill="hold"/>
                                        <p:tgtEl>
                                          <p:spTgt spid="12">
                                            <p:txEl>
                                              <p:pRg st="0" end="0"/>
                                            </p:txEl>
                                          </p:spTgt>
                                        </p:tgtEl>
                                        <p:attrNameLst>
                                          <p:attrName>ppt_x</p:attrName>
                                        </p:attrNameLst>
                                      </p:cBhvr>
                                      <p:tavLst>
                                        <p:tav tm="0">
                                          <p:val>
                                            <p:strVal val="#ppt_x"/>
                                          </p:val>
                                        </p:tav>
                                        <p:tav tm="100000">
                                          <p:val>
                                            <p:strVal val="#ppt_x"/>
                                          </p:val>
                                        </p:tav>
                                      </p:tavLst>
                                    </p:anim>
                                    <p:anim calcmode="lin" valueType="num">
                                      <p:cBhvr>
                                        <p:cTn id="33" dur="1000" fill="hold"/>
                                        <p:tgtEl>
                                          <p:spTgt spid="12">
                                            <p:txEl>
                                              <p:pRg st="0" end="0"/>
                                            </p:txEl>
                                          </p:spTgt>
                                        </p:tgtEl>
                                        <p:attrNameLst>
                                          <p:attrName>ppt_y</p:attrName>
                                        </p:attrNameLst>
                                      </p:cBhvr>
                                      <p:tavLst>
                                        <p:tav tm="0">
                                          <p:val>
                                            <p:strVal val="#ppt_y+.1"/>
                                          </p:val>
                                        </p:tav>
                                        <p:tav tm="100000">
                                          <p:val>
                                            <p:strVal val="#ppt_y"/>
                                          </p:val>
                                        </p:tav>
                                      </p:tavLst>
                                    </p:anim>
                                  </p:childTnLst>
                                </p:cTn>
                              </p:par>
                              <p:par>
                                <p:cTn id="34" presetID="42" presetClass="entr" presetSubtype="0" fill="hold" nodeType="withEffect">
                                  <p:stCondLst>
                                    <p:cond delay="0"/>
                                  </p:stCondLst>
                                  <p:childTnLst>
                                    <p:set>
                                      <p:cBhvr>
                                        <p:cTn id="35" dur="1" fill="hold">
                                          <p:stCondLst>
                                            <p:cond delay="0"/>
                                          </p:stCondLst>
                                        </p:cTn>
                                        <p:tgtEl>
                                          <p:spTgt spid="12">
                                            <p:txEl>
                                              <p:pRg st="1" end="1"/>
                                            </p:txEl>
                                          </p:spTgt>
                                        </p:tgtEl>
                                        <p:attrNameLst>
                                          <p:attrName>style.visibility</p:attrName>
                                        </p:attrNameLst>
                                      </p:cBhvr>
                                      <p:to>
                                        <p:strVal val="visible"/>
                                      </p:to>
                                    </p:set>
                                    <p:animEffect transition="in" filter="fade">
                                      <p:cBhvr>
                                        <p:cTn id="36" dur="1000"/>
                                        <p:tgtEl>
                                          <p:spTgt spid="12">
                                            <p:txEl>
                                              <p:pRg st="1" end="1"/>
                                            </p:txEl>
                                          </p:spTgt>
                                        </p:tgtEl>
                                      </p:cBhvr>
                                    </p:animEffect>
                                    <p:anim calcmode="lin" valueType="num">
                                      <p:cBhvr>
                                        <p:cTn id="37" dur="1000" fill="hold"/>
                                        <p:tgtEl>
                                          <p:spTgt spid="12">
                                            <p:txEl>
                                              <p:pRg st="1" end="1"/>
                                            </p:txEl>
                                          </p:spTgt>
                                        </p:tgtEl>
                                        <p:attrNameLst>
                                          <p:attrName>ppt_x</p:attrName>
                                        </p:attrNameLst>
                                      </p:cBhvr>
                                      <p:tavLst>
                                        <p:tav tm="0">
                                          <p:val>
                                            <p:strVal val="#ppt_x"/>
                                          </p:val>
                                        </p:tav>
                                        <p:tav tm="100000">
                                          <p:val>
                                            <p:strVal val="#ppt_x"/>
                                          </p:val>
                                        </p:tav>
                                      </p:tavLst>
                                    </p:anim>
                                    <p:anim calcmode="lin" valueType="num">
                                      <p:cBhvr>
                                        <p:cTn id="38" dur="1000" fill="hold"/>
                                        <p:tgtEl>
                                          <p:spTgt spid="12">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PCA: rotate to the views that show the most</a:t>
            </a:r>
            <a:r>
              <a:rPr lang="en-CA" dirty="0"/>
              <a:t> variance</a:t>
            </a:r>
            <a:endParaRPr dirty="0"/>
          </a:p>
        </p:txBody>
      </p:sp>
      <p:sp>
        <p:nvSpPr>
          <p:cNvPr id="4" name="TextBox 3"/>
          <p:cNvSpPr txBox="1"/>
          <p:nvPr/>
        </p:nvSpPr>
        <p:spPr>
          <a:xfrm>
            <a:off x="5943600" y="2194560"/>
            <a:ext cx="5394960" cy="2926080"/>
          </a:xfrm>
          <a:prstGeom prst="rect">
            <a:avLst/>
          </a:prstGeom>
          <a:noFill/>
        </p:spPr>
        <p:txBody>
          <a:bodyPr wrap="square">
            <a:spAutoFit/>
          </a:bodyPr>
          <a:lstStyle/>
          <a:p>
            <a:r>
              <a:rPr sz="2400"/>
              <a:t>PCA is a rotation of the axes: PC1 lies along the direction of greatest variance, PC2 is orthogonal to it.</a:t>
            </a:r>
          </a:p>
          <a:p>
            <a:pPr>
              <a:spcBef>
                <a:spcPts val="1800"/>
              </a:spcBef>
            </a:pPr>
            <a:r>
              <a:rPr sz="2400" b="0"/>
              <a:t>Outliers typically appear on the </a:t>
            </a:r>
            <a:r>
              <a:rPr sz="2400" b="1"/>
              <a:t>smallest</a:t>
            </a:r>
            <a:r>
              <a:rPr sz="2400" b="0"/>
              <a:t> dimensions</a:t>
            </a:r>
          </a:p>
        </p:txBody>
      </p:sp>
      <p:sp>
        <p:nvSpPr>
          <p:cNvPr id="5" name="TextBox 4"/>
          <p:cNvSpPr txBox="1"/>
          <p:nvPr/>
        </p:nvSpPr>
        <p:spPr>
          <a:xfrm>
            <a:off x="841248" y="6355080"/>
            <a:ext cx="2743200" cy="320040"/>
          </a:xfrm>
          <a:prstGeom prst="rect">
            <a:avLst/>
          </a:prstGeom>
          <a:noFill/>
        </p:spPr>
        <p:txBody>
          <a:bodyPr wrap="square">
            <a:spAutoFit/>
          </a:bodyPr>
          <a:lstStyle/>
          <a:p>
            <a:r>
              <a:rPr sz="1100">
                <a:solidFill>
                  <a:srgbClr val="707070"/>
                </a:solidFill>
              </a:rPr>
              <a:t>Figure 5.35</a:t>
            </a:r>
          </a:p>
        </p:txBody>
      </p:sp>
      <p:pic>
        <p:nvPicPr>
          <p:cNvPr id="6" name="Picture 5" descr="outlier-demo.gif"/>
          <p:cNvPicPr>
            <a:picLocks noChangeAspect="1"/>
          </p:cNvPicPr>
          <p:nvPr/>
        </p:nvPicPr>
        <p:blipFill>
          <a:blip r:embed="rId3"/>
          <a:stretch>
            <a:fillRect/>
          </a:stretch>
        </p:blipFill>
        <p:spPr>
          <a:xfrm>
            <a:off x="841248" y="1600200"/>
            <a:ext cx="4663440" cy="4663440"/>
          </a:xfrm>
          <a:prstGeom prst="rect">
            <a:avLst/>
          </a:prstGeom>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PCA fitted by springs</a:t>
            </a:r>
            <a:r>
              <a:rPr lang="en-CA" dirty="0"/>
              <a:t>: Physical analog</a:t>
            </a:r>
            <a:endParaRPr dirty="0"/>
          </a:p>
        </p:txBody>
      </p:sp>
      <p:pic>
        <p:nvPicPr>
          <p:cNvPr id="3" name="Picture 2" descr="pca-springs-cropped.gif"/>
          <p:cNvPicPr>
            <a:picLocks noChangeAspect="1"/>
          </p:cNvPicPr>
          <p:nvPr/>
        </p:nvPicPr>
        <p:blipFill>
          <a:blip r:embed="rId3"/>
          <a:stretch>
            <a:fillRect/>
          </a:stretch>
        </p:blipFill>
        <p:spPr>
          <a:xfrm>
            <a:off x="641873" y="1522254"/>
            <a:ext cx="5454127" cy="4818696"/>
          </a:xfrm>
          <a:prstGeom prst="rect">
            <a:avLst/>
          </a:prstGeom>
        </p:spPr>
      </p:pic>
      <p:sp>
        <p:nvSpPr>
          <p:cNvPr id="5" name="TextBox 4"/>
          <p:cNvSpPr txBox="1"/>
          <p:nvPr/>
        </p:nvSpPr>
        <p:spPr>
          <a:xfrm>
            <a:off x="841248" y="6355080"/>
            <a:ext cx="2743200" cy="320040"/>
          </a:xfrm>
          <a:prstGeom prst="rect">
            <a:avLst/>
          </a:prstGeom>
          <a:noFill/>
        </p:spPr>
        <p:txBody>
          <a:bodyPr wrap="square">
            <a:spAutoFit/>
          </a:bodyPr>
          <a:lstStyle/>
          <a:p>
            <a:r>
              <a:rPr sz="1100">
                <a:solidFill>
                  <a:srgbClr val="707070"/>
                </a:solidFill>
              </a:rPr>
              <a:t>Figure 5.5</a:t>
            </a:r>
          </a:p>
        </p:txBody>
      </p:sp>
      <p:sp>
        <p:nvSpPr>
          <p:cNvPr id="6" name="TextBox 5">
            <a:extLst>
              <a:ext uri="{FF2B5EF4-FFF2-40B4-BE49-F238E27FC236}">
                <a16:creationId xmlns:a16="http://schemas.microsoft.com/office/drawing/2014/main" id="{698B2365-5A5E-F011-8658-438DB0B23149}"/>
              </a:ext>
            </a:extLst>
          </p:cNvPr>
          <p:cNvSpPr txBox="1"/>
          <p:nvPr/>
        </p:nvSpPr>
        <p:spPr>
          <a:xfrm>
            <a:off x="6702014" y="1615705"/>
            <a:ext cx="4875713" cy="3139321"/>
          </a:xfrm>
          <a:prstGeom prst="rect">
            <a:avLst/>
          </a:prstGeom>
          <a:noFill/>
        </p:spPr>
        <p:txBody>
          <a:bodyPr wrap="square" rtlCol="0">
            <a:spAutoFit/>
          </a:bodyPr>
          <a:lstStyle/>
          <a:p>
            <a:r>
              <a:rPr lang="en-CA" dirty="0"/>
              <a:t>Least squares </a:t>
            </a:r>
            <a:r>
              <a:rPr lang="en-CA" dirty="0">
                <a:sym typeface="Symbol" panose="05050102010706020507" pitchFamily="18" charset="2"/>
              </a:rPr>
              <a:t> observations connected by springs </a:t>
            </a:r>
          </a:p>
          <a:p>
            <a:endParaRPr lang="en-CA" dirty="0">
              <a:sym typeface="Symbol" panose="05050102010706020507" pitchFamily="18" charset="2"/>
            </a:endParaRPr>
          </a:p>
          <a:p>
            <a:r>
              <a:rPr lang="en-CA" dirty="0">
                <a:sym typeface="Symbol" panose="05050102010706020507" pitchFamily="18" charset="2"/>
              </a:rPr>
              <a:t>For PCA, connect a rigid line to the points by springs</a:t>
            </a:r>
          </a:p>
          <a:p>
            <a:endParaRPr lang="en-CA" dirty="0">
              <a:sym typeface="Symbol" panose="05050102010706020507" pitchFamily="18" charset="2"/>
            </a:endParaRPr>
          </a:p>
          <a:p>
            <a:r>
              <a:rPr lang="en-CA" dirty="0"/>
              <a:t>Springs pull the line in proportion to squared distance</a:t>
            </a:r>
          </a:p>
          <a:p>
            <a:endParaRPr lang="en-CA" dirty="0"/>
          </a:p>
          <a:p>
            <a:r>
              <a:rPr lang="en-CA" dirty="0"/>
              <a:t>It settles on the first principal component</a:t>
            </a:r>
            <a:endParaRPr lang="en-CA" dirty="0">
              <a:sym typeface="Symbol" panose="05050102010706020507" pitchFamily="18" charset="2"/>
            </a:endParaRPr>
          </a:p>
          <a:p>
            <a:endParaRPr lang="en-CA"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Biplots: observations and variables in one view</a:t>
            </a:r>
          </a:p>
        </p:txBody>
      </p:sp>
      <p:sp>
        <p:nvSpPr>
          <p:cNvPr id="3" name="Content Placeholder 2"/>
          <p:cNvSpPr>
            <a:spLocks noGrp="1"/>
          </p:cNvSpPr>
          <p:nvPr>
            <p:ph sz="half" idx="1"/>
          </p:nvPr>
        </p:nvSpPr>
        <p:spPr>
          <a:xfrm>
            <a:off x="838200" y="1643063"/>
            <a:ext cx="4754078" cy="4533900"/>
          </a:xfrm>
        </p:spPr>
        <p:txBody>
          <a:bodyPr/>
          <a:lstStyle/>
          <a:p>
            <a:r>
              <a:rPr b="1" dirty="0"/>
              <a:t>Points</a:t>
            </a:r>
            <a:r>
              <a:rPr dirty="0"/>
              <a:t>: observations (US states) in the PC1-PC2 plane</a:t>
            </a:r>
          </a:p>
          <a:p>
            <a:r>
              <a:rPr b="1" dirty="0"/>
              <a:t>Vectors</a:t>
            </a:r>
            <a:r>
              <a:rPr dirty="0"/>
              <a:t>: variables (crime rates)</a:t>
            </a:r>
          </a:p>
          <a:p>
            <a:pPr lvl="1"/>
            <a:r>
              <a:rPr b="1" dirty="0"/>
              <a:t>Angles</a:t>
            </a:r>
            <a:r>
              <a:rPr dirty="0"/>
              <a:t> between vectors approximate correlations</a:t>
            </a:r>
          </a:p>
          <a:p>
            <a:pPr lvl="1"/>
            <a:r>
              <a:rPr b="1" dirty="0"/>
              <a:t>Projecting</a:t>
            </a:r>
            <a:r>
              <a:rPr dirty="0"/>
              <a:t> a point on a vector approximates its value on that variable</a:t>
            </a:r>
            <a:endParaRPr lang="en-CA" dirty="0"/>
          </a:p>
          <a:p>
            <a:r>
              <a:rPr lang="en-CA" dirty="0"/>
              <a:t>Interpretation:</a:t>
            </a:r>
          </a:p>
          <a:p>
            <a:pPr lvl="1"/>
            <a:r>
              <a:rPr lang="en-CA" dirty="0"/>
              <a:t>PC1: Overall crime rate</a:t>
            </a:r>
          </a:p>
          <a:p>
            <a:pPr lvl="1"/>
            <a:r>
              <a:rPr lang="en-CA" dirty="0"/>
              <a:t>PC2: Personal vs. property crime</a:t>
            </a:r>
          </a:p>
          <a:p>
            <a:pPr lvl="1"/>
            <a:r>
              <a:rPr lang="en-CA" dirty="0"/>
              <a:t>Region: summarizes diffs</a:t>
            </a:r>
            <a:endParaRPr dirty="0"/>
          </a:p>
        </p:txBody>
      </p:sp>
      <p:sp>
        <p:nvSpPr>
          <p:cNvPr id="5" name="TextBox 4"/>
          <p:cNvSpPr txBox="1"/>
          <p:nvPr/>
        </p:nvSpPr>
        <p:spPr>
          <a:xfrm>
            <a:off x="841248" y="6355080"/>
            <a:ext cx="2743200" cy="320040"/>
          </a:xfrm>
          <a:prstGeom prst="rect">
            <a:avLst/>
          </a:prstGeom>
          <a:noFill/>
        </p:spPr>
        <p:txBody>
          <a:bodyPr wrap="square">
            <a:spAutoFit/>
          </a:bodyPr>
          <a:lstStyle/>
          <a:p>
            <a:r>
              <a:rPr sz="1100">
                <a:solidFill>
                  <a:srgbClr val="707070"/>
                </a:solidFill>
              </a:rPr>
              <a:t>Figure 5.14</a:t>
            </a:r>
          </a:p>
        </p:txBody>
      </p:sp>
      <p:pic>
        <p:nvPicPr>
          <p:cNvPr id="7" name="Picture 6" descr="ggbiplot-logo.png"/>
          <p:cNvPicPr>
            <a:picLocks noChangeAspect="1"/>
          </p:cNvPicPr>
          <p:nvPr/>
        </p:nvPicPr>
        <p:blipFill>
          <a:blip r:embed="rId3"/>
          <a:stretch>
            <a:fillRect/>
          </a:stretch>
        </p:blipFill>
        <p:spPr>
          <a:xfrm>
            <a:off x="10530840" y="460599"/>
            <a:ext cx="822960" cy="952051"/>
          </a:xfrm>
          <a:prstGeom prst="rect">
            <a:avLst/>
          </a:prstGeom>
        </p:spPr>
      </p:pic>
      <p:pic>
        <p:nvPicPr>
          <p:cNvPr id="6" name="Picture 5">
            <a:extLst>
              <a:ext uri="{FF2B5EF4-FFF2-40B4-BE49-F238E27FC236}">
                <a16:creationId xmlns:a16="http://schemas.microsoft.com/office/drawing/2014/main" id="{99D97459-E713-AD46-89DA-B4BCEAF4191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401602" y="1487891"/>
            <a:ext cx="4754078" cy="5008227"/>
          </a:xfrm>
          <a:prstGeom prst="rect">
            <a:avLst/>
          </a:prstGeom>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Biplot: The data juicer</a:t>
            </a:r>
          </a:p>
        </p:txBody>
      </p:sp>
      <p:sp>
        <p:nvSpPr>
          <p:cNvPr id="3" name="Slide Number Placeholder 2"/>
          <p:cNvSpPr>
            <a:spLocks noGrp="1"/>
          </p:cNvSpPr>
          <p:nvPr>
            <p:ph type="sldNum" sz="quarter" idx="12"/>
          </p:nvPr>
        </p:nvSpPr>
        <p:spPr/>
        <p:txBody>
          <a:bodyPr/>
          <a:lstStyle/>
          <a:p>
            <a:fld id="{810B7604-93B8-4136-B9BD-D1CE89EE20B0}" type="slidenum">
              <a:rPr lang="en-US" smtClean="0"/>
              <a:t>59</a:t>
            </a:fld>
            <a:endParaRPr lang="en-US"/>
          </a:p>
        </p:txBody>
      </p:sp>
      <p:sp>
        <p:nvSpPr>
          <p:cNvPr id="5" name="TextBox 4"/>
          <p:cNvSpPr txBox="1"/>
          <p:nvPr/>
        </p:nvSpPr>
        <p:spPr>
          <a:xfrm>
            <a:off x="3505201" y="1219201"/>
            <a:ext cx="8160655" cy="1200329"/>
          </a:xfrm>
          <a:prstGeom prst="rect">
            <a:avLst/>
          </a:prstGeom>
          <a:solidFill>
            <a:srgbClr val="FFFF00">
              <a:alpha val="10000"/>
            </a:srgbClr>
          </a:solidFill>
        </p:spPr>
        <p:txBody>
          <a:bodyPr wrap="square" rtlCol="0">
            <a:spAutoFit/>
          </a:bodyPr>
          <a:lstStyle/>
          <a:p>
            <a:r>
              <a:rPr lang="en-US" dirty="0" err="1"/>
              <a:t>peng.pca</a:t>
            </a:r>
            <a:r>
              <a:rPr lang="en-US" dirty="0"/>
              <a:t> &lt;- </a:t>
            </a:r>
            <a:r>
              <a:rPr lang="en-CA" dirty="0" err="1"/>
              <a:t>prcomp</a:t>
            </a:r>
            <a:r>
              <a:rPr lang="en-CA" dirty="0"/>
              <a:t> (~ </a:t>
            </a:r>
            <a:r>
              <a:rPr lang="en-CA" dirty="0" err="1"/>
              <a:t>bill_length</a:t>
            </a:r>
            <a:r>
              <a:rPr lang="en-CA" dirty="0"/>
              <a:t> + </a:t>
            </a:r>
            <a:r>
              <a:rPr lang="en-CA" dirty="0" err="1"/>
              <a:t>bill_depth</a:t>
            </a:r>
            <a:r>
              <a:rPr lang="en-CA" dirty="0"/>
              <a:t> + </a:t>
            </a:r>
            <a:r>
              <a:rPr lang="en-CA" dirty="0" err="1"/>
              <a:t>flipper_length</a:t>
            </a:r>
            <a:r>
              <a:rPr lang="en-CA" dirty="0"/>
              <a:t> + </a:t>
            </a:r>
            <a:r>
              <a:rPr lang="en-CA" dirty="0" err="1"/>
              <a:t>body_mass</a:t>
            </a:r>
            <a:r>
              <a:rPr lang="en-CA" dirty="0"/>
              <a:t>)</a:t>
            </a:r>
            <a:endParaRPr lang="en-US" dirty="0"/>
          </a:p>
          <a:p>
            <a:r>
              <a:rPr lang="en-US" dirty="0"/>
              <a:t>library(</a:t>
            </a:r>
            <a:r>
              <a:rPr lang="en-US" dirty="0" err="1"/>
              <a:t>ggbiplot</a:t>
            </a:r>
            <a:r>
              <a:rPr lang="en-US" dirty="0"/>
              <a:t>)</a:t>
            </a:r>
          </a:p>
          <a:p>
            <a:r>
              <a:rPr lang="en-US" dirty="0" err="1"/>
              <a:t>ggbiplot</a:t>
            </a:r>
            <a:r>
              <a:rPr lang="en-US" dirty="0"/>
              <a:t>(</a:t>
            </a:r>
            <a:r>
              <a:rPr lang="en-US" dirty="0" err="1"/>
              <a:t>peng.pca</a:t>
            </a:r>
            <a:r>
              <a:rPr lang="en-US" dirty="0"/>
              <a:t>, </a:t>
            </a:r>
            <a:r>
              <a:rPr lang="en-US" dirty="0" err="1"/>
              <a:t>obs.scale</a:t>
            </a:r>
            <a:r>
              <a:rPr lang="en-US" dirty="0"/>
              <a:t> = 1, </a:t>
            </a:r>
            <a:r>
              <a:rPr lang="en-US" dirty="0" err="1"/>
              <a:t>var.scale</a:t>
            </a:r>
            <a:r>
              <a:rPr lang="en-US" dirty="0"/>
              <a:t> = 1,</a:t>
            </a:r>
          </a:p>
          <a:p>
            <a:r>
              <a:rPr lang="en-US" dirty="0"/>
              <a:t>         groups = </a:t>
            </a:r>
            <a:r>
              <a:rPr lang="en-US" dirty="0" err="1"/>
              <a:t>peng$species</a:t>
            </a:r>
            <a:r>
              <a:rPr lang="en-US" dirty="0"/>
              <a:t>,  ellipse = TRUE, circle = TRUE) </a:t>
            </a:r>
          </a:p>
        </p:txBody>
      </p:sp>
      <p:sp>
        <p:nvSpPr>
          <p:cNvPr id="6" name="TextBox 5"/>
          <p:cNvSpPr txBox="1"/>
          <p:nvPr/>
        </p:nvSpPr>
        <p:spPr>
          <a:xfrm>
            <a:off x="3505200" y="2957108"/>
            <a:ext cx="3124200" cy="2062103"/>
          </a:xfrm>
          <a:prstGeom prst="rect">
            <a:avLst/>
          </a:prstGeom>
          <a:noFill/>
        </p:spPr>
        <p:txBody>
          <a:bodyPr wrap="square" rtlCol="0">
            <a:spAutoFit/>
          </a:bodyPr>
          <a:lstStyle/>
          <a:p>
            <a:r>
              <a:rPr lang="en-US" sz="1600" dirty="0"/>
              <a:t>PC1, PC2 ~ 88.1% of variance</a:t>
            </a:r>
          </a:p>
          <a:p>
            <a:endParaRPr lang="en-US" sz="1600" dirty="0"/>
          </a:p>
          <a:p>
            <a:pPr marL="285750" indent="-285750">
              <a:buFont typeface="Arial" pitchFamily="34" charset="0"/>
              <a:buChar char="•"/>
            </a:pPr>
            <a:r>
              <a:rPr lang="en-US" sz="1600" dirty="0"/>
              <a:t>PC1: largely flipper length &amp; body mass: “penguin size”</a:t>
            </a:r>
          </a:p>
          <a:p>
            <a:pPr marL="285750" indent="-285750">
              <a:buFont typeface="Arial" pitchFamily="34" charset="0"/>
              <a:buChar char="•"/>
            </a:pPr>
            <a:r>
              <a:rPr lang="en-US" sz="1600" dirty="0"/>
              <a:t>PC2: relates to “bill shape”</a:t>
            </a:r>
          </a:p>
          <a:p>
            <a:endParaRPr lang="en-US" sz="1600" dirty="0"/>
          </a:p>
          <a:p>
            <a:r>
              <a:rPr lang="en-US" sz="1600" dirty="0"/>
              <a:t>Easy to characterize the species in terms of these variables</a:t>
            </a:r>
          </a:p>
        </p:txBody>
      </p:sp>
      <p:sp>
        <p:nvSpPr>
          <p:cNvPr id="10" name="Rectangle 9"/>
          <p:cNvSpPr/>
          <p:nvPr/>
        </p:nvSpPr>
        <p:spPr>
          <a:xfrm>
            <a:off x="3537438" y="6281429"/>
            <a:ext cx="4158762" cy="307777"/>
          </a:xfrm>
          <a:prstGeom prst="rect">
            <a:avLst/>
          </a:prstGeom>
        </p:spPr>
        <p:txBody>
          <a:bodyPr wrap="square">
            <a:spAutoFit/>
          </a:bodyPr>
          <a:lstStyle/>
          <a:p>
            <a:r>
              <a:rPr lang="en-US" sz="1400" dirty="0"/>
              <a:t>See: </a:t>
            </a:r>
            <a:r>
              <a:rPr lang="en-US" sz="1400" dirty="0">
                <a:hlinkClick r:id="rId3"/>
              </a:rPr>
              <a:t>https://rpubs.com/friendly/penguin-biplots</a:t>
            </a:r>
            <a:r>
              <a:rPr lang="en-US" sz="1400" dirty="0"/>
              <a:t> </a:t>
            </a:r>
          </a:p>
        </p:txBody>
      </p:sp>
      <p:pic>
        <p:nvPicPr>
          <p:cNvPr id="12" name="Picture 11" descr="A diagram of different types of objects&#10;&#10;Description automatically generated">
            <a:extLst>
              <a:ext uri="{FF2B5EF4-FFF2-40B4-BE49-F238E27FC236}">
                <a16:creationId xmlns:a16="http://schemas.microsoft.com/office/drawing/2014/main" id="{386A126F-02A9-2DB9-BE86-D3D18C67AF7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245655" y="2517401"/>
            <a:ext cx="4420200" cy="3816000"/>
          </a:xfrm>
          <a:prstGeom prst="rect">
            <a:avLst/>
          </a:prstGeom>
        </p:spPr>
      </p:pic>
      <p:pic>
        <p:nvPicPr>
          <p:cNvPr id="7" name="Picture 6" descr="A hexagon with arrows pointing to different colors&#10;&#10;Description automatically generated">
            <a:extLst>
              <a:ext uri="{FF2B5EF4-FFF2-40B4-BE49-F238E27FC236}">
                <a16:creationId xmlns:a16="http://schemas.microsoft.com/office/drawing/2014/main" id="{352CFB44-4705-A743-E8CA-66146EFFAAC3}"/>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574146" y="5151480"/>
            <a:ext cx="888641" cy="1028036"/>
          </a:xfrm>
          <a:prstGeom prst="rect">
            <a:avLst/>
          </a:prstGeom>
        </p:spPr>
      </p:pic>
    </p:spTree>
    <p:extLst>
      <p:ext uri="{BB962C8B-B14F-4D97-AF65-F5344CB8AC3E}">
        <p14:creationId xmlns:p14="http://schemas.microsoft.com/office/powerpoint/2010/main" val="180814440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Canonical views: the space where the groups differ most</a:t>
            </a:r>
          </a:p>
        </p:txBody>
      </p:sp>
      <p:sp>
        <p:nvSpPr>
          <p:cNvPr id="3" name="Content Placeholder 2"/>
          <p:cNvSpPr>
            <a:spLocks noGrp="1"/>
          </p:cNvSpPr>
          <p:nvPr>
            <p:ph sz="half" idx="1"/>
          </p:nvPr>
        </p:nvSpPr>
        <p:spPr/>
        <p:txBody>
          <a:bodyPr/>
          <a:lstStyle/>
          <a:p>
            <a:r>
              <a:t>Canonical discriminant analysis: a PCA of H relative to E</a:t>
            </a:r>
          </a:p>
          <a:p>
            <a:r>
              <a:t>E becomes a circle</a:t>
            </a:r>
          </a:p>
          <a:p>
            <a:r>
              <a:t>Variable vectors show what each dimension means</a:t>
            </a:r>
          </a:p>
        </p:txBody>
      </p:sp>
      <p:pic>
        <p:nvPicPr>
          <p:cNvPr id="4" name="Picture 3" descr="fig-iris-HEcan-1.png"/>
          <p:cNvPicPr>
            <a:picLocks noChangeAspect="1"/>
          </p:cNvPicPr>
          <p:nvPr/>
        </p:nvPicPr>
        <p:blipFill>
          <a:blip r:embed="rId3"/>
          <a:stretch>
            <a:fillRect/>
          </a:stretch>
        </p:blipFill>
        <p:spPr>
          <a:xfrm>
            <a:off x="6569964" y="1783080"/>
            <a:ext cx="4389120" cy="4389120"/>
          </a:xfrm>
          <a:prstGeom prst="rect">
            <a:avLst/>
          </a:prstGeom>
        </p:spPr>
      </p:pic>
      <p:sp>
        <p:nvSpPr>
          <p:cNvPr id="5" name="TextBox 4"/>
          <p:cNvSpPr txBox="1"/>
          <p:nvPr/>
        </p:nvSpPr>
        <p:spPr>
          <a:xfrm>
            <a:off x="841248" y="6355080"/>
            <a:ext cx="2743200" cy="320040"/>
          </a:xfrm>
          <a:prstGeom prst="rect">
            <a:avLst/>
          </a:prstGeom>
          <a:noFill/>
        </p:spPr>
        <p:txBody>
          <a:bodyPr wrap="square">
            <a:spAutoFit/>
          </a:bodyPr>
          <a:lstStyle/>
          <a:p>
            <a:r>
              <a:rPr sz="1100">
                <a:solidFill>
                  <a:srgbClr val="707070"/>
                </a:solidFill>
              </a:rPr>
              <a:t>Figure 12.10</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6A2678-4B78-8E16-B271-6B71F149BE44}"/>
              </a:ext>
            </a:extLst>
          </p:cNvPr>
          <p:cNvSpPr>
            <a:spLocks noGrp="1"/>
          </p:cNvSpPr>
          <p:nvPr>
            <p:ph type="title"/>
          </p:nvPr>
        </p:nvSpPr>
        <p:spPr/>
        <p:txBody>
          <a:bodyPr>
            <a:normAutofit/>
          </a:bodyPr>
          <a:lstStyle/>
          <a:p>
            <a:r>
              <a:rPr lang="en-CA" sz="2800" dirty="0"/>
              <a:t>Canonical discriminant plots: The MANOVA juicer</a:t>
            </a:r>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DE06A756-658D-C8F2-6A93-03A89E7F7BF1}"/>
                  </a:ext>
                </a:extLst>
              </p:cNvPr>
              <p:cNvSpPr>
                <a:spLocks noGrp="1"/>
              </p:cNvSpPr>
              <p:nvPr>
                <p:ph idx="1"/>
              </p:nvPr>
            </p:nvSpPr>
            <p:spPr>
              <a:xfrm>
                <a:off x="1981200" y="1143000"/>
                <a:ext cx="8229600" cy="1752600"/>
              </a:xfrm>
            </p:spPr>
            <p:txBody>
              <a:bodyPr>
                <a:normAutofit fontScale="92500" lnSpcReduction="20000"/>
              </a:bodyPr>
              <a:lstStyle/>
              <a:p>
                <a:r>
                  <a:rPr lang="en-CA" sz="2000" dirty="0"/>
                  <a:t>As with the biplot, we can visualize MLM for all responses by projecting H and E into low-rank space</a:t>
                </a:r>
              </a:p>
              <a:p>
                <a:r>
                  <a:rPr lang="en-CA" sz="2000" dirty="0"/>
                  <a:t>Canonical projection: </a:t>
                </a:r>
                <a14:m>
                  <m:oMath xmlns:m="http://schemas.openxmlformats.org/officeDocument/2006/math">
                    <m:r>
                      <a:rPr lang="en-CA" sz="2000" b="1" i="1">
                        <a:latin typeface="Cambria Math" panose="02040503050406030204" pitchFamily="18" charset="0"/>
                      </a:rPr>
                      <m:t>𝒀</m:t>
                    </m:r>
                    <m:r>
                      <a:rPr lang="en-CA" sz="2000" i="1">
                        <a:latin typeface="Cambria Math" panose="02040503050406030204" pitchFamily="18" charset="0"/>
                        <a:ea typeface="Cambria Math" panose="02040503050406030204" pitchFamily="18" charset="0"/>
                      </a:rPr>
                      <m:t>→</m:t>
                    </m:r>
                    <m:r>
                      <a:rPr lang="en-CA" sz="2000" b="1" i="1">
                        <a:latin typeface="Cambria Math" panose="02040503050406030204" pitchFamily="18" charset="0"/>
                        <a:ea typeface="Cambria Math" panose="02040503050406030204" pitchFamily="18" charset="0"/>
                      </a:rPr>
                      <m:t>𝒁</m:t>
                    </m:r>
                    <m:r>
                      <a:rPr lang="en-CA" sz="2000" i="1">
                        <a:latin typeface="Cambria Math" panose="02040503050406030204" pitchFamily="18" charset="0"/>
                        <a:ea typeface="Cambria Math" panose="02040503050406030204" pitchFamily="18" charset="0"/>
                      </a:rPr>
                      <m:t>=</m:t>
                    </m:r>
                    <m:r>
                      <a:rPr lang="en-CA" sz="2000" b="1" i="1">
                        <a:latin typeface="Cambria Math" panose="02040503050406030204" pitchFamily="18" charset="0"/>
                        <a:ea typeface="Cambria Math" panose="02040503050406030204" pitchFamily="18" charset="0"/>
                      </a:rPr>
                      <m:t>𝒀</m:t>
                    </m:r>
                    <m:sSup>
                      <m:sSupPr>
                        <m:ctrlPr>
                          <a:rPr lang="en-CA" sz="2000" b="1" i="1">
                            <a:latin typeface="Cambria Math" panose="02040503050406030204" pitchFamily="18" charset="0"/>
                            <a:ea typeface="Cambria Math" panose="02040503050406030204" pitchFamily="18" charset="0"/>
                          </a:rPr>
                        </m:ctrlPr>
                      </m:sSupPr>
                      <m:e>
                        <m:r>
                          <a:rPr lang="en-CA" sz="2000" b="1" i="1">
                            <a:latin typeface="Cambria Math" panose="02040503050406030204" pitchFamily="18" charset="0"/>
                            <a:ea typeface="Cambria Math" panose="02040503050406030204" pitchFamily="18" charset="0"/>
                          </a:rPr>
                          <m:t>𝑬</m:t>
                        </m:r>
                      </m:e>
                      <m:sup>
                        <m:r>
                          <a:rPr lang="en-CA" sz="2000" i="1">
                            <a:latin typeface="Cambria Math" panose="02040503050406030204" pitchFamily="18" charset="0"/>
                            <a:ea typeface="Cambria Math" panose="02040503050406030204" pitchFamily="18" charset="0"/>
                          </a:rPr>
                          <m:t>−1/2</m:t>
                        </m:r>
                      </m:sup>
                    </m:sSup>
                    <m:r>
                      <a:rPr lang="en-CA" sz="2000" b="1">
                        <a:latin typeface="Cambria Math" panose="02040503050406030204" pitchFamily="18" charset="0"/>
                        <a:ea typeface="Cambria Math" panose="02040503050406030204" pitchFamily="18" charset="0"/>
                      </a:rPr>
                      <m:t>𝐕</m:t>
                    </m:r>
                  </m:oMath>
                </a14:m>
                <a:r>
                  <a:rPr lang="en-CA" sz="2000" dirty="0"/>
                  <a:t> where </a:t>
                </a:r>
                <a:r>
                  <a:rPr lang="en-CA" sz="2000" b="1" dirty="0"/>
                  <a:t>V</a:t>
                </a:r>
                <a:r>
                  <a:rPr lang="en-CA" sz="2000" dirty="0"/>
                  <a:t> = eigenvectors of HE</a:t>
                </a:r>
                <a:r>
                  <a:rPr lang="en-CA" sz="2000" baseline="30000" dirty="0"/>
                  <a:t>-1 </a:t>
                </a:r>
              </a:p>
              <a:p>
                <a:r>
                  <a:rPr lang="en-CA" sz="2000" dirty="0"/>
                  <a:t>This is the view that maximally discriminates among groups</a:t>
                </a:r>
              </a:p>
              <a:p>
                <a:r>
                  <a:rPr lang="en-CA" sz="2000" dirty="0"/>
                  <a:t>CD HE plot: vectors show structure </a:t>
                </a:r>
                <a:r>
                  <a:rPr lang="en-CA" sz="2000" dirty="0" err="1"/>
                  <a:t>coefs</a:t>
                </a:r>
                <a:r>
                  <a:rPr lang="en-CA" sz="2000" dirty="0"/>
                  <a:t> (correlations) of variables w/ CD dimensions</a:t>
                </a:r>
              </a:p>
              <a:p>
                <a:pPr marL="0" indent="0">
                  <a:buNone/>
                </a:pPr>
                <a:endParaRPr lang="en-CA" baseline="-25000" dirty="0"/>
              </a:p>
            </p:txBody>
          </p:sp>
        </mc:Choice>
        <mc:Fallback xmlns="">
          <p:sp>
            <p:nvSpPr>
              <p:cNvPr id="4" name="Content Placeholder 3">
                <a:extLst>
                  <a:ext uri="{FF2B5EF4-FFF2-40B4-BE49-F238E27FC236}">
                    <a16:creationId xmlns:a16="http://schemas.microsoft.com/office/drawing/2014/main" id="{DE06A756-658D-C8F2-6A93-03A89E7F7BF1}"/>
                  </a:ext>
                </a:extLst>
              </p:cNvPr>
              <p:cNvSpPr>
                <a:spLocks noGrp="1" noRot="1" noChangeAspect="1" noMove="1" noResize="1" noEditPoints="1" noAdjustHandles="1" noChangeArrowheads="1" noChangeShapeType="1" noTextEdit="1"/>
              </p:cNvSpPr>
              <p:nvPr>
                <p:ph idx="1"/>
              </p:nvPr>
            </p:nvSpPr>
            <p:spPr>
              <a:xfrm>
                <a:off x="1981200" y="1143000"/>
                <a:ext cx="8229600" cy="1752600"/>
              </a:xfrm>
              <a:blipFill>
                <a:blip r:embed="rId3"/>
                <a:stretch>
                  <a:fillRect l="-519" t="-5923" b="-3484"/>
                </a:stretch>
              </a:blipFill>
            </p:spPr>
            <p:txBody>
              <a:bodyPr/>
              <a:lstStyle/>
              <a:p>
                <a:r>
                  <a:rPr lang="en-CA">
                    <a:noFill/>
                  </a:rPr>
                  <a:t> </a:t>
                </a:r>
              </a:p>
            </p:txBody>
          </p:sp>
        </mc:Fallback>
      </mc:AlternateContent>
      <p:sp>
        <p:nvSpPr>
          <p:cNvPr id="3" name="Slide Number Placeholder 2">
            <a:extLst>
              <a:ext uri="{FF2B5EF4-FFF2-40B4-BE49-F238E27FC236}">
                <a16:creationId xmlns:a16="http://schemas.microsoft.com/office/drawing/2014/main" id="{CD6BFC25-DA19-EC4F-4AED-BC5CF5636F73}"/>
              </a:ext>
            </a:extLst>
          </p:cNvPr>
          <p:cNvSpPr>
            <a:spLocks noGrp="1"/>
          </p:cNvSpPr>
          <p:nvPr>
            <p:ph type="sldNum" sz="quarter" idx="12"/>
          </p:nvPr>
        </p:nvSpPr>
        <p:spPr/>
        <p:txBody>
          <a:bodyPr/>
          <a:lstStyle/>
          <a:p>
            <a:fld id="{621225AB-15B9-4C79-A121-04D1DC7E2307}" type="slidenum">
              <a:rPr lang="en-US" smtClean="0"/>
              <a:t>61</a:t>
            </a:fld>
            <a:endParaRPr lang="en-US"/>
          </a:p>
        </p:txBody>
      </p:sp>
      <p:grpSp>
        <p:nvGrpSpPr>
          <p:cNvPr id="5" name="Group 4">
            <a:extLst>
              <a:ext uri="{FF2B5EF4-FFF2-40B4-BE49-F238E27FC236}">
                <a16:creationId xmlns:a16="http://schemas.microsoft.com/office/drawing/2014/main" id="{695628D6-2D2E-935C-F902-C312DE871F31}"/>
              </a:ext>
            </a:extLst>
          </p:cNvPr>
          <p:cNvGrpSpPr/>
          <p:nvPr/>
        </p:nvGrpSpPr>
        <p:grpSpPr>
          <a:xfrm>
            <a:off x="3657600" y="2992864"/>
            <a:ext cx="3848098" cy="3383278"/>
            <a:chOff x="609600" y="3048000"/>
            <a:chExt cx="3848098" cy="3383278"/>
          </a:xfrm>
        </p:grpSpPr>
        <p:pic>
          <p:nvPicPr>
            <p:cNvPr id="6" name="Picture 5">
              <a:extLst>
                <a:ext uri="{FF2B5EF4-FFF2-40B4-BE49-F238E27FC236}">
                  <a16:creationId xmlns:a16="http://schemas.microsoft.com/office/drawing/2014/main" id="{7A244B28-5061-7FF6-14F6-575B9702951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9600" y="3352800"/>
              <a:ext cx="3848098" cy="3078478"/>
            </a:xfrm>
            <a:prstGeom prst="rect">
              <a:avLst/>
            </a:prstGeom>
          </p:spPr>
        </p:pic>
        <p:sp>
          <p:nvSpPr>
            <p:cNvPr id="7" name="TextBox 6">
              <a:extLst>
                <a:ext uri="{FF2B5EF4-FFF2-40B4-BE49-F238E27FC236}">
                  <a16:creationId xmlns:a16="http://schemas.microsoft.com/office/drawing/2014/main" id="{48C2BA2B-B71B-8E52-DB74-8DFFDF3E2BF3}"/>
                </a:ext>
              </a:extLst>
            </p:cNvPr>
            <p:cNvSpPr txBox="1"/>
            <p:nvPr/>
          </p:nvSpPr>
          <p:spPr>
            <a:xfrm>
              <a:off x="990600" y="3048000"/>
              <a:ext cx="3352800" cy="369332"/>
            </a:xfrm>
            <a:prstGeom prst="rect">
              <a:avLst/>
            </a:prstGeom>
            <a:noFill/>
          </p:spPr>
          <p:txBody>
            <a:bodyPr wrap="square" rtlCol="0">
              <a:spAutoFit/>
            </a:bodyPr>
            <a:lstStyle/>
            <a:p>
              <a:r>
                <a:rPr lang="en-CA" dirty="0"/>
                <a:t>Biplot of canonical scores</a:t>
              </a:r>
            </a:p>
          </p:txBody>
        </p:sp>
      </p:grpSp>
      <p:grpSp>
        <p:nvGrpSpPr>
          <p:cNvPr id="8" name="Group 7">
            <a:extLst>
              <a:ext uri="{FF2B5EF4-FFF2-40B4-BE49-F238E27FC236}">
                <a16:creationId xmlns:a16="http://schemas.microsoft.com/office/drawing/2014/main" id="{1DBA765B-5EB1-2F74-65AC-844ACA9CA564}"/>
              </a:ext>
            </a:extLst>
          </p:cNvPr>
          <p:cNvGrpSpPr/>
          <p:nvPr/>
        </p:nvGrpSpPr>
        <p:grpSpPr>
          <a:xfrm>
            <a:off x="7924800" y="2992864"/>
            <a:ext cx="3848098" cy="3352800"/>
            <a:chOff x="5048252" y="3048000"/>
            <a:chExt cx="3848098" cy="3352800"/>
          </a:xfrm>
        </p:grpSpPr>
        <p:pic>
          <p:nvPicPr>
            <p:cNvPr id="9" name="Picture 8">
              <a:extLst>
                <a:ext uri="{FF2B5EF4-FFF2-40B4-BE49-F238E27FC236}">
                  <a16:creationId xmlns:a16="http://schemas.microsoft.com/office/drawing/2014/main" id="{481D13BC-C0F5-D55E-6BED-C228FD386F6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048252" y="3322322"/>
              <a:ext cx="3848098" cy="3078478"/>
            </a:xfrm>
            <a:prstGeom prst="rect">
              <a:avLst/>
            </a:prstGeom>
          </p:spPr>
        </p:pic>
        <p:sp>
          <p:nvSpPr>
            <p:cNvPr id="10" name="TextBox 9">
              <a:extLst>
                <a:ext uri="{FF2B5EF4-FFF2-40B4-BE49-F238E27FC236}">
                  <a16:creationId xmlns:a16="http://schemas.microsoft.com/office/drawing/2014/main" id="{55A51909-49FE-D007-E4C7-7B434C74E9FB}"/>
                </a:ext>
              </a:extLst>
            </p:cNvPr>
            <p:cNvSpPr txBox="1"/>
            <p:nvPr/>
          </p:nvSpPr>
          <p:spPr>
            <a:xfrm>
              <a:off x="5486400" y="3048000"/>
              <a:ext cx="3352800" cy="369332"/>
            </a:xfrm>
            <a:prstGeom prst="rect">
              <a:avLst/>
            </a:prstGeom>
            <a:noFill/>
          </p:spPr>
          <p:txBody>
            <a:bodyPr wrap="square" rtlCol="0">
              <a:spAutoFit/>
            </a:bodyPr>
            <a:lstStyle/>
            <a:p>
              <a:r>
                <a:rPr lang="en-CA" dirty="0"/>
                <a:t>HE plot of canonical scores</a:t>
              </a:r>
            </a:p>
          </p:txBody>
        </p:sp>
      </p:grpSp>
    </p:spTree>
    <p:extLst>
      <p:ext uri="{BB962C8B-B14F-4D97-AF65-F5344CB8AC3E}">
        <p14:creationId xmlns:p14="http://schemas.microsoft.com/office/powerpoint/2010/main" val="20049989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3" end="3"/>
                                            </p:txEl>
                                          </p:spTgt>
                                        </p:tgtEl>
                                        <p:attrNameLst>
                                          <p:attrName>style.visibility</p:attrName>
                                        </p:attrNameLst>
                                      </p:cBhvr>
                                      <p:to>
                                        <p:strVal val="visible"/>
                                      </p:to>
                                    </p:set>
                                  </p:childTnLst>
                                </p:cTn>
                              </p:par>
                              <p:par>
                                <p:cTn id="7" presetID="42"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animEffect transition="in" filter="fade">
                                      <p:cBhvr>
                                        <p:cTn id="9" dur="1000"/>
                                        <p:tgtEl>
                                          <p:spTgt spid="8"/>
                                        </p:tgtEl>
                                      </p:cBhvr>
                                    </p:animEffect>
                                    <p:anim calcmode="lin" valueType="num">
                                      <p:cBhvr>
                                        <p:cTn id="10" dur="1000" fill="hold"/>
                                        <p:tgtEl>
                                          <p:spTgt spid="8"/>
                                        </p:tgtEl>
                                        <p:attrNameLst>
                                          <p:attrName>ppt_x</p:attrName>
                                        </p:attrNameLst>
                                      </p:cBhvr>
                                      <p:tavLst>
                                        <p:tav tm="0">
                                          <p:val>
                                            <p:strVal val="#ppt_x"/>
                                          </p:val>
                                        </p:tav>
                                        <p:tav tm="100000">
                                          <p:val>
                                            <p:strVal val="#ppt_x"/>
                                          </p:val>
                                        </p:tav>
                                      </p:tavLst>
                                    </p:anim>
                                    <p:anim calcmode="lin" valueType="num">
                                      <p:cBhvr>
                                        <p:cTn id="11"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Linear discriminant analysis: the main ideas</a:t>
            </a:r>
          </a:p>
        </p:txBody>
      </p:sp>
      <p:pic>
        <p:nvPicPr>
          <p:cNvPr id="3" name="Picture 2" descr="discrim-demo-both.jpg"/>
          <p:cNvPicPr>
            <a:picLocks noChangeAspect="1"/>
          </p:cNvPicPr>
          <p:nvPr/>
        </p:nvPicPr>
        <p:blipFill>
          <a:blip r:embed="rId3"/>
          <a:stretch>
            <a:fillRect/>
          </a:stretch>
        </p:blipFill>
        <p:spPr>
          <a:xfrm>
            <a:off x="841248" y="1417320"/>
            <a:ext cx="5157003" cy="5212080"/>
          </a:xfrm>
          <a:prstGeom prst="rect">
            <a:avLst/>
          </a:prstGeom>
        </p:spPr>
      </p:pic>
      <p:sp>
        <p:nvSpPr>
          <p:cNvPr id="4" name="TextBox 3"/>
          <p:cNvSpPr txBox="1"/>
          <p:nvPr/>
        </p:nvSpPr>
        <p:spPr>
          <a:xfrm>
            <a:off x="6364011" y="1417320"/>
            <a:ext cx="4992837" cy="5212080"/>
          </a:xfrm>
          <a:prstGeom prst="rect">
            <a:avLst/>
          </a:prstGeom>
          <a:noFill/>
        </p:spPr>
        <p:txBody>
          <a:bodyPr wrap="square" anchor="ctr">
            <a:noAutofit/>
          </a:bodyPr>
          <a:lstStyle/>
          <a:p>
            <a:r>
              <a:rPr sz="2400"/>
              <a:t>Find the directions that best separate the groups, then classify by distance to the group means.</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Prediction regions in data space</a:t>
            </a:r>
          </a:p>
        </p:txBody>
      </p:sp>
      <p:pic>
        <p:nvPicPr>
          <p:cNvPr id="3" name="Picture 2" descr="fig-peng-regions-1.png"/>
          <p:cNvPicPr>
            <a:picLocks noChangeAspect="1"/>
          </p:cNvPicPr>
          <p:nvPr/>
        </p:nvPicPr>
        <p:blipFill>
          <a:blip r:embed="rId3"/>
          <a:stretch>
            <a:fillRect/>
          </a:stretch>
        </p:blipFill>
        <p:spPr>
          <a:xfrm>
            <a:off x="1380744" y="1417320"/>
            <a:ext cx="9436608" cy="4718304"/>
          </a:xfrm>
          <a:prstGeom prst="rect">
            <a:avLst/>
          </a:prstGeom>
        </p:spPr>
      </p:pic>
      <p:sp>
        <p:nvSpPr>
          <p:cNvPr id="4" name="TextBox 3"/>
          <p:cNvSpPr txBox="1"/>
          <p:nvPr/>
        </p:nvSpPr>
        <p:spPr>
          <a:xfrm>
            <a:off x="841248" y="6181344"/>
            <a:ext cx="10515600" cy="548640"/>
          </a:xfrm>
          <a:prstGeom prst="rect">
            <a:avLst/>
          </a:prstGeom>
          <a:noFill/>
        </p:spPr>
        <p:txBody>
          <a:bodyPr wrap="square">
            <a:spAutoFit/>
          </a:bodyPr>
          <a:lstStyle/>
          <a:p>
            <a:r>
              <a:rPr sz="1800"/>
              <a:t>Classify every point in a grid of values: the LDA boundaries are linear.</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Prediction regions in discriminant space</a:t>
            </a:r>
          </a:p>
        </p:txBody>
      </p:sp>
      <p:sp>
        <p:nvSpPr>
          <p:cNvPr id="3" name="Content Placeholder 2"/>
          <p:cNvSpPr>
            <a:spLocks noGrp="1"/>
          </p:cNvSpPr>
          <p:nvPr>
            <p:ph sz="half" idx="1"/>
          </p:nvPr>
        </p:nvSpPr>
        <p:spPr/>
        <p:txBody>
          <a:bodyPr/>
          <a:lstStyle/>
          <a:p>
            <a:r>
              <a:t>With three species, two discriminant dimensions show everything</a:t>
            </a:r>
          </a:p>
          <a:p>
            <a:r>
              <a:t>Variable vectors show which measures separate the species</a:t>
            </a:r>
          </a:p>
        </p:txBody>
      </p:sp>
      <p:pic>
        <p:nvPicPr>
          <p:cNvPr id="4" name="Picture 3" descr="fig-peng-LD-biplot-1.png"/>
          <p:cNvPicPr>
            <a:picLocks noChangeAspect="1"/>
          </p:cNvPicPr>
          <p:nvPr/>
        </p:nvPicPr>
        <p:blipFill>
          <a:blip r:embed="rId3"/>
          <a:stretch>
            <a:fillRect/>
          </a:stretch>
        </p:blipFill>
        <p:spPr>
          <a:xfrm>
            <a:off x="6144768" y="1417320"/>
            <a:ext cx="5212080" cy="5212080"/>
          </a:xfrm>
          <a:prstGeom prst="rect">
            <a:avLst/>
          </a:prstGeom>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When a linear view is not enough: PCA </a:t>
            </a:r>
            <a:r>
              <a:rPr lang="en-CA" dirty="0"/>
              <a:t>vs</a:t>
            </a:r>
            <a:r>
              <a:rPr dirty="0"/>
              <a:t> t-SNE</a:t>
            </a:r>
          </a:p>
        </p:txBody>
      </p:sp>
      <p:pic>
        <p:nvPicPr>
          <p:cNvPr id="3" name="Picture 2" descr="diabetes-pca-tsne.png"/>
          <p:cNvPicPr>
            <a:picLocks noChangeAspect="1"/>
          </p:cNvPicPr>
          <p:nvPr/>
        </p:nvPicPr>
        <p:blipFill>
          <a:blip r:embed="rId3"/>
          <a:stretch>
            <a:fillRect/>
          </a:stretch>
        </p:blipFill>
        <p:spPr>
          <a:xfrm>
            <a:off x="2167128" y="1691640"/>
            <a:ext cx="7863840" cy="3931920"/>
          </a:xfrm>
          <a:prstGeom prst="rect">
            <a:avLst/>
          </a:prstGeom>
        </p:spPr>
      </p:pic>
      <p:sp>
        <p:nvSpPr>
          <p:cNvPr id="4" name="TextBox 3"/>
          <p:cNvSpPr txBox="1"/>
          <p:nvPr/>
        </p:nvSpPr>
        <p:spPr>
          <a:xfrm>
            <a:off x="841248" y="5669280"/>
            <a:ext cx="10515600" cy="548640"/>
          </a:xfrm>
          <a:prstGeom prst="rect">
            <a:avLst/>
          </a:prstGeom>
          <a:noFill/>
        </p:spPr>
        <p:txBody>
          <a:bodyPr wrap="square">
            <a:spAutoFit/>
          </a:bodyPr>
          <a:lstStyle/>
          <a:p>
            <a:r>
              <a:rPr sz="1800"/>
              <a:t>t-SNE separates the Diabetes groups more cleanly, but distances and axes no longer have a direct meaning.</a:t>
            </a:r>
          </a:p>
        </p:txBody>
      </p:sp>
      <p:sp>
        <p:nvSpPr>
          <p:cNvPr id="5" name="TextBox 4"/>
          <p:cNvSpPr txBox="1"/>
          <p:nvPr/>
        </p:nvSpPr>
        <p:spPr>
          <a:xfrm>
            <a:off x="841248" y="6355080"/>
            <a:ext cx="2743200" cy="320040"/>
          </a:xfrm>
          <a:prstGeom prst="rect">
            <a:avLst/>
          </a:prstGeom>
          <a:noFill/>
        </p:spPr>
        <p:txBody>
          <a:bodyPr wrap="square">
            <a:spAutoFit/>
          </a:bodyPr>
          <a:lstStyle/>
          <a:p>
            <a:r>
              <a:rPr sz="1100">
                <a:solidFill>
                  <a:srgbClr val="707070"/>
                </a:solidFill>
              </a:rPr>
              <a:t>Figure 5.25</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From PCA to t-SNE, animated</a:t>
            </a:r>
          </a:p>
        </p:txBody>
      </p:sp>
      <p:pic>
        <p:nvPicPr>
          <p:cNvPr id="3" name="Picture 2" descr="diabetes-pca-tsne.gif"/>
          <p:cNvPicPr>
            <a:picLocks noChangeAspect="1"/>
          </p:cNvPicPr>
          <p:nvPr/>
        </p:nvPicPr>
        <p:blipFill>
          <a:blip r:embed="rId3"/>
          <a:stretch>
            <a:fillRect/>
          </a:stretch>
        </p:blipFill>
        <p:spPr>
          <a:xfrm>
            <a:off x="6333424" y="1327485"/>
            <a:ext cx="4861560" cy="4861560"/>
          </a:xfrm>
          <a:prstGeom prst="rect">
            <a:avLst/>
          </a:prstGeom>
        </p:spPr>
      </p:pic>
      <p:sp>
        <p:nvSpPr>
          <p:cNvPr id="5" name="TextBox 4"/>
          <p:cNvSpPr txBox="1"/>
          <p:nvPr/>
        </p:nvSpPr>
        <p:spPr>
          <a:xfrm>
            <a:off x="841248" y="6355080"/>
            <a:ext cx="2743200" cy="320040"/>
          </a:xfrm>
          <a:prstGeom prst="rect">
            <a:avLst/>
          </a:prstGeom>
          <a:noFill/>
        </p:spPr>
        <p:txBody>
          <a:bodyPr wrap="square">
            <a:spAutoFit/>
          </a:bodyPr>
          <a:lstStyle/>
          <a:p>
            <a:r>
              <a:rPr sz="1100">
                <a:solidFill>
                  <a:srgbClr val="707070"/>
                </a:solidFill>
              </a:rPr>
              <a:t>Figure 5.26</a:t>
            </a:r>
          </a:p>
        </p:txBody>
      </p:sp>
      <p:sp>
        <p:nvSpPr>
          <p:cNvPr id="6" name="TextBox 5">
            <a:extLst>
              <a:ext uri="{FF2B5EF4-FFF2-40B4-BE49-F238E27FC236}">
                <a16:creationId xmlns:a16="http://schemas.microsoft.com/office/drawing/2014/main" id="{309B4190-46A6-9C16-602C-E46B6788A35E}"/>
              </a:ext>
            </a:extLst>
          </p:cNvPr>
          <p:cNvSpPr txBox="1"/>
          <p:nvPr/>
        </p:nvSpPr>
        <p:spPr>
          <a:xfrm>
            <a:off x="838201" y="1665171"/>
            <a:ext cx="5379720" cy="2862322"/>
          </a:xfrm>
          <a:prstGeom prst="rect">
            <a:avLst/>
          </a:prstGeom>
          <a:noFill/>
        </p:spPr>
        <p:txBody>
          <a:bodyPr wrap="square" rtlCol="0">
            <a:spAutoFit/>
          </a:bodyPr>
          <a:lstStyle/>
          <a:p>
            <a:r>
              <a:rPr lang="en-CA" dirty="0"/>
              <a:t>We can better understand algorithms visually by animating a </a:t>
            </a:r>
            <a:r>
              <a:rPr lang="en-CA" b="1" dirty="0"/>
              <a:t>smooth interpolation </a:t>
            </a:r>
            <a:r>
              <a:rPr lang="en-CA" dirty="0"/>
              <a:t>from one to another</a:t>
            </a:r>
          </a:p>
          <a:p>
            <a:endParaRPr lang="en-CA" dirty="0"/>
          </a:p>
          <a:p>
            <a:r>
              <a:rPr lang="en-CA" dirty="0"/>
              <a:t>Here, the PCA configuration morphs into the t-SNE one largely by a rotation.</a:t>
            </a:r>
          </a:p>
          <a:p>
            <a:endParaRPr lang="en-CA" dirty="0"/>
          </a:p>
          <a:p>
            <a:r>
              <a:rPr lang="en-CA" dirty="0"/>
              <a:t>But t-SNE achieves wider separation among groups</a:t>
            </a:r>
          </a:p>
          <a:p>
            <a:r>
              <a:rPr lang="en-CA" dirty="0"/>
              <a:t>The data ellipses here carry the visual message.</a:t>
            </a:r>
          </a:p>
          <a:p>
            <a:endParaRPr lang="en-CA"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Application: </a:t>
            </a:r>
            <a:r>
              <a:rPr lang="en-CA" dirty="0"/>
              <a:t>effect </a:t>
            </a:r>
            <a:r>
              <a:rPr dirty="0"/>
              <a:t>ordering variables in displays</a:t>
            </a:r>
          </a:p>
        </p:txBody>
      </p:sp>
      <p:pic>
        <p:nvPicPr>
          <p:cNvPr id="3" name="Picture 2" descr="fig-mtcars-corrplot-varorder-1.png"/>
          <p:cNvPicPr>
            <a:picLocks noChangeAspect="1"/>
          </p:cNvPicPr>
          <p:nvPr/>
        </p:nvPicPr>
        <p:blipFill>
          <a:blip r:embed="rId3"/>
          <a:stretch>
            <a:fillRect/>
          </a:stretch>
        </p:blipFill>
        <p:spPr>
          <a:xfrm>
            <a:off x="1435607" y="1691640"/>
            <a:ext cx="3931920" cy="3931920"/>
          </a:xfrm>
          <a:prstGeom prst="rect">
            <a:avLst/>
          </a:prstGeom>
        </p:spPr>
      </p:pic>
      <p:pic>
        <p:nvPicPr>
          <p:cNvPr id="4" name="Picture 3" descr="fig-mtcars-corrplot-pcaorder-1.png"/>
          <p:cNvPicPr>
            <a:picLocks noChangeAspect="1"/>
          </p:cNvPicPr>
          <p:nvPr/>
        </p:nvPicPr>
        <p:blipFill>
          <a:blip r:embed="rId4"/>
          <a:stretch>
            <a:fillRect/>
          </a:stretch>
        </p:blipFill>
        <p:spPr>
          <a:xfrm>
            <a:off x="6830568" y="1691640"/>
            <a:ext cx="3931920" cy="3931920"/>
          </a:xfrm>
          <a:prstGeom prst="rect">
            <a:avLst/>
          </a:prstGeom>
        </p:spPr>
      </p:pic>
      <p:sp>
        <p:nvSpPr>
          <p:cNvPr id="5" name="TextBox 4"/>
          <p:cNvSpPr txBox="1"/>
          <p:nvPr/>
        </p:nvSpPr>
        <p:spPr>
          <a:xfrm>
            <a:off x="841248" y="5669280"/>
            <a:ext cx="10515600" cy="548640"/>
          </a:xfrm>
          <a:prstGeom prst="rect">
            <a:avLst/>
          </a:prstGeom>
          <a:noFill/>
        </p:spPr>
        <p:txBody>
          <a:bodyPr wrap="square">
            <a:spAutoFit/>
          </a:bodyPr>
          <a:lstStyle/>
          <a:p>
            <a:r>
              <a:rPr sz="1800"/>
              <a:t>The same correlations of the mtcars data: in dataset order (left) and in PCA order (right).</a:t>
            </a:r>
          </a:p>
        </p:txBody>
      </p:sp>
      <p:sp>
        <p:nvSpPr>
          <p:cNvPr id="6" name="TextBox 5"/>
          <p:cNvSpPr txBox="1"/>
          <p:nvPr/>
        </p:nvSpPr>
        <p:spPr>
          <a:xfrm>
            <a:off x="841248" y="6355080"/>
            <a:ext cx="2743200" cy="320040"/>
          </a:xfrm>
          <a:prstGeom prst="rect">
            <a:avLst/>
          </a:prstGeom>
          <a:noFill/>
        </p:spPr>
        <p:txBody>
          <a:bodyPr wrap="square">
            <a:spAutoFit/>
          </a:bodyPr>
          <a:lstStyle/>
          <a:p>
            <a:r>
              <a:rPr sz="1100">
                <a:solidFill>
                  <a:srgbClr val="707070"/>
                </a:solidFill>
              </a:rPr>
              <a:t>Figure 5.27, 5.29</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Application: how many dimensions is the Mona Lisa?</a:t>
            </a:r>
          </a:p>
        </p:txBody>
      </p:sp>
      <p:pic>
        <p:nvPicPr>
          <p:cNvPr id="3" name="Picture 2" descr="mona-pca.png"/>
          <p:cNvPicPr>
            <a:picLocks noChangeAspect="1"/>
          </p:cNvPicPr>
          <p:nvPr/>
        </p:nvPicPr>
        <p:blipFill>
          <a:blip r:embed="rId3"/>
          <a:stretch>
            <a:fillRect/>
          </a:stretch>
        </p:blipFill>
        <p:spPr>
          <a:xfrm>
            <a:off x="4740983" y="1691640"/>
            <a:ext cx="2716128" cy="3931920"/>
          </a:xfrm>
          <a:prstGeom prst="rect">
            <a:avLst/>
          </a:prstGeom>
        </p:spPr>
      </p:pic>
      <p:sp>
        <p:nvSpPr>
          <p:cNvPr id="4" name="TextBox 3"/>
          <p:cNvSpPr txBox="1"/>
          <p:nvPr/>
        </p:nvSpPr>
        <p:spPr>
          <a:xfrm>
            <a:off x="841248" y="5669280"/>
            <a:ext cx="10515600" cy="548640"/>
          </a:xfrm>
          <a:prstGeom prst="rect">
            <a:avLst/>
          </a:prstGeom>
          <a:noFill/>
        </p:spPr>
        <p:txBody>
          <a:bodyPr wrap="square">
            <a:spAutoFit/>
          </a:bodyPr>
          <a:lstStyle/>
          <a:p>
            <a:r>
              <a:rPr sz="1800"/>
              <a:t>Reconstructions from a few principal components: image compression as dimension reduction.</a:t>
            </a:r>
          </a:p>
        </p:txBody>
      </p:sp>
      <p:sp>
        <p:nvSpPr>
          <p:cNvPr id="5" name="TextBox 4"/>
          <p:cNvSpPr txBox="1"/>
          <p:nvPr/>
        </p:nvSpPr>
        <p:spPr>
          <a:xfrm>
            <a:off x="841248" y="6355080"/>
            <a:ext cx="2743200" cy="320040"/>
          </a:xfrm>
          <a:prstGeom prst="rect">
            <a:avLst/>
          </a:prstGeom>
          <a:noFill/>
        </p:spPr>
        <p:txBody>
          <a:bodyPr wrap="square">
            <a:spAutoFit/>
          </a:bodyPr>
          <a:lstStyle/>
          <a:p>
            <a:r>
              <a:rPr sz="1100">
                <a:solidFill>
                  <a:srgbClr val="707070"/>
                </a:solidFill>
              </a:rPr>
              <a:t>Figure 5.33</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Outliers hide in the smallest dimensions</a:t>
            </a:r>
          </a:p>
        </p:txBody>
      </p:sp>
      <p:sp>
        <p:nvSpPr>
          <p:cNvPr id="3" name="Content Placeholder 2"/>
          <p:cNvSpPr>
            <a:spLocks noGrp="1"/>
          </p:cNvSpPr>
          <p:nvPr>
            <p:ph sz="half" idx="1"/>
          </p:nvPr>
        </p:nvSpPr>
        <p:spPr>
          <a:xfrm>
            <a:off x="838200" y="1643063"/>
            <a:ext cx="4752902" cy="4533900"/>
          </a:xfrm>
        </p:spPr>
        <p:txBody>
          <a:bodyPr/>
          <a:lstStyle/>
          <a:p>
            <a:r>
              <a:rPr dirty="0"/>
              <a:t>The first two dimensions show what is typical</a:t>
            </a:r>
          </a:p>
          <a:p>
            <a:r>
              <a:rPr dirty="0"/>
              <a:t>The last dimensions show what does not fit the pattern</a:t>
            </a:r>
          </a:p>
          <a:p>
            <a:r>
              <a:rPr dirty="0"/>
              <a:t>Biplot of dimensions 3-4 of the penguin data</a:t>
            </a:r>
            <a:endParaRPr lang="en-CA" dirty="0"/>
          </a:p>
          <a:p>
            <a:pPr lvl="1"/>
            <a:r>
              <a:rPr lang="en-CA" dirty="0"/>
              <a:t>Variable vectors show relations to dimensions</a:t>
            </a:r>
          </a:p>
          <a:p>
            <a:pPr lvl="1"/>
            <a:r>
              <a:rPr lang="en-CA" dirty="0"/>
              <a:t>Ellipses show diffs among groups</a:t>
            </a:r>
            <a:endParaRPr dirty="0"/>
          </a:p>
        </p:txBody>
      </p:sp>
      <p:pic>
        <p:nvPicPr>
          <p:cNvPr id="4" name="Picture 3" descr="peng-out-biplot-34.png"/>
          <p:cNvPicPr>
            <a:picLocks noChangeAspect="1"/>
          </p:cNvPicPr>
          <p:nvPr/>
        </p:nvPicPr>
        <p:blipFill>
          <a:blip r:embed="rId3"/>
          <a:stretch>
            <a:fillRect/>
          </a:stretch>
        </p:blipFill>
        <p:spPr>
          <a:xfrm>
            <a:off x="5881036" y="1314851"/>
            <a:ext cx="5592278" cy="5164251"/>
          </a:xfrm>
          <a:prstGeom prst="rect">
            <a:avLst/>
          </a:prstGeom>
        </p:spPr>
      </p:pic>
      <p:sp>
        <p:nvSpPr>
          <p:cNvPr id="5" name="TextBox 4"/>
          <p:cNvSpPr txBox="1"/>
          <p:nvPr/>
        </p:nvSpPr>
        <p:spPr>
          <a:xfrm>
            <a:off x="841248" y="6355080"/>
            <a:ext cx="2743200" cy="320040"/>
          </a:xfrm>
          <a:prstGeom prst="rect">
            <a:avLst/>
          </a:prstGeom>
          <a:noFill/>
        </p:spPr>
        <p:txBody>
          <a:bodyPr wrap="square">
            <a:spAutoFit/>
          </a:bodyPr>
          <a:lstStyle/>
          <a:p>
            <a:r>
              <a:rPr sz="1100">
                <a:solidFill>
                  <a:srgbClr val="707070"/>
                </a:solidFill>
              </a:rPr>
              <a:t>Figure 5.37</a:t>
            </a:r>
          </a:p>
        </p:txBody>
      </p:sp>
      <p:sp>
        <p:nvSpPr>
          <p:cNvPr id="6" name="TextBox 5">
            <a:extLst>
              <a:ext uri="{FF2B5EF4-FFF2-40B4-BE49-F238E27FC236}">
                <a16:creationId xmlns:a16="http://schemas.microsoft.com/office/drawing/2014/main" id="{261F3790-7C81-A423-611E-69850CE3B84D}"/>
              </a:ext>
            </a:extLst>
          </p:cNvPr>
          <p:cNvSpPr txBox="1"/>
          <p:nvPr/>
        </p:nvSpPr>
        <p:spPr>
          <a:xfrm>
            <a:off x="6439301" y="2194560"/>
            <a:ext cx="1155032" cy="338554"/>
          </a:xfrm>
          <a:prstGeom prst="rect">
            <a:avLst/>
          </a:prstGeom>
          <a:noFill/>
        </p:spPr>
        <p:txBody>
          <a:bodyPr wrap="square" rtlCol="0">
            <a:spAutoFit/>
          </a:bodyPr>
          <a:lstStyle/>
          <a:p>
            <a:pPr algn="ctr"/>
            <a:r>
              <a:rPr lang="en-CA" sz="1600" dirty="0">
                <a:solidFill>
                  <a:schemeClr val="accent5">
                    <a:lumMod val="75000"/>
                  </a:schemeClr>
                </a:solidFill>
              </a:rPr>
              <a:t>Cyrano</a:t>
            </a:r>
          </a:p>
        </p:txBody>
      </p:sp>
      <p:sp>
        <p:nvSpPr>
          <p:cNvPr id="8" name="TextBox 7">
            <a:extLst>
              <a:ext uri="{FF2B5EF4-FFF2-40B4-BE49-F238E27FC236}">
                <a16:creationId xmlns:a16="http://schemas.microsoft.com/office/drawing/2014/main" id="{84FE8F6D-06F2-501D-DC84-24957B149041}"/>
              </a:ext>
            </a:extLst>
          </p:cNvPr>
          <p:cNvSpPr txBox="1"/>
          <p:nvPr/>
        </p:nvSpPr>
        <p:spPr>
          <a:xfrm>
            <a:off x="10539476" y="4169593"/>
            <a:ext cx="1155032" cy="338554"/>
          </a:xfrm>
          <a:prstGeom prst="rect">
            <a:avLst/>
          </a:prstGeom>
          <a:noFill/>
        </p:spPr>
        <p:txBody>
          <a:bodyPr wrap="square" rtlCol="0">
            <a:spAutoFit/>
          </a:bodyPr>
          <a:lstStyle/>
          <a:p>
            <a:pPr algn="ctr"/>
            <a:r>
              <a:rPr lang="en-CA" sz="1600" dirty="0">
                <a:solidFill>
                  <a:srgbClr val="FF0000"/>
                </a:solidFill>
              </a:rPr>
              <a:t>Hook Nose</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Checking multivariate models</a:t>
            </a:r>
          </a:p>
        </p:txBody>
      </p:sp>
      <p:sp>
        <p:nvSpPr>
          <p:cNvPr id="3" name="Text Placeholder 2"/>
          <p:cNvSpPr>
            <a:spLocks noGrp="1"/>
          </p:cNvSpPr>
          <p:nvPr>
            <p:ph type="body" idx="1"/>
          </p:nvPr>
        </p:nvSpPr>
        <p:spPr/>
        <p:txBody>
          <a:bodyPr/>
          <a:lstStyle/>
          <a:p>
            <a:r>
              <a:t>Outliers, influence and robust estimation</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distance plot: outliers and leverage, multivariately</a:t>
            </a:r>
          </a:p>
        </p:txBody>
      </p:sp>
      <p:sp>
        <p:nvSpPr>
          <p:cNvPr id="3" name="Content Placeholder 2"/>
          <p:cNvSpPr>
            <a:spLocks noGrp="1"/>
          </p:cNvSpPr>
          <p:nvPr>
            <p:ph sz="half" idx="1"/>
          </p:nvPr>
        </p:nvSpPr>
        <p:spPr/>
        <p:txBody>
          <a:bodyPr/>
          <a:lstStyle/>
          <a:p>
            <a:r>
              <a:t>Vertical: Mahalanobis distance of the residuals</a:t>
            </a:r>
          </a:p>
          <a:p>
            <a:r>
              <a:t>Horizontal: Mahalanobis distance of the predictors</a:t>
            </a:r>
          </a:p>
          <a:p>
            <a:r>
              <a:t>The multivariate analog of residuals vs. leverage</a:t>
            </a:r>
          </a:p>
        </p:txBody>
      </p:sp>
      <p:pic>
        <p:nvPicPr>
          <p:cNvPr id="4" name="Picture 3" descr="fig-school-distplot-1.png"/>
          <p:cNvPicPr>
            <a:picLocks noChangeAspect="1"/>
          </p:cNvPicPr>
          <p:nvPr/>
        </p:nvPicPr>
        <p:blipFill>
          <a:blip r:embed="rId3"/>
          <a:stretch>
            <a:fillRect/>
          </a:stretch>
        </p:blipFill>
        <p:spPr>
          <a:xfrm>
            <a:off x="6172200" y="2033397"/>
            <a:ext cx="5184648" cy="3888486"/>
          </a:xfrm>
          <a:prstGeom prst="rect">
            <a:avLst/>
          </a:prstGeom>
        </p:spPr>
      </p:pic>
      <p:sp>
        <p:nvSpPr>
          <p:cNvPr id="5" name="TextBox 4"/>
          <p:cNvSpPr txBox="1"/>
          <p:nvPr/>
        </p:nvSpPr>
        <p:spPr>
          <a:xfrm>
            <a:off x="841248" y="6355080"/>
            <a:ext cx="2743200" cy="320040"/>
          </a:xfrm>
          <a:prstGeom prst="rect">
            <a:avLst/>
          </a:prstGeom>
          <a:noFill/>
        </p:spPr>
        <p:txBody>
          <a:bodyPr wrap="square">
            <a:spAutoFit/>
          </a:bodyPr>
          <a:lstStyle/>
          <a:p>
            <a:r>
              <a:rPr sz="1100">
                <a:solidFill>
                  <a:srgbClr val="707070"/>
                </a:solidFill>
              </a:rPr>
              <a:t>Figure 11.18</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Mysterious Case 9</a:t>
            </a:r>
          </a:p>
        </p:txBody>
      </p:sp>
      <p:pic>
        <p:nvPicPr>
          <p:cNvPr id="3" name="Picture 2" descr="fig-toy-inflplots-1.png"/>
          <p:cNvPicPr>
            <a:picLocks noChangeAspect="1"/>
          </p:cNvPicPr>
          <p:nvPr/>
        </p:nvPicPr>
        <p:blipFill>
          <a:blip r:embed="rId3"/>
          <a:stretch>
            <a:fillRect/>
          </a:stretch>
        </p:blipFill>
        <p:spPr>
          <a:xfrm>
            <a:off x="841248" y="2377440"/>
            <a:ext cx="5120640" cy="2560320"/>
          </a:xfrm>
          <a:prstGeom prst="rect">
            <a:avLst/>
          </a:prstGeom>
        </p:spPr>
      </p:pic>
      <p:pic>
        <p:nvPicPr>
          <p:cNvPr id="4" name="Picture 3" descr="fig-toy-inflplot-mlm-stres-1.png"/>
          <p:cNvPicPr>
            <a:picLocks noChangeAspect="1"/>
          </p:cNvPicPr>
          <p:nvPr/>
        </p:nvPicPr>
        <p:blipFill>
          <a:blip r:embed="rId4"/>
          <a:stretch>
            <a:fillRect/>
          </a:stretch>
        </p:blipFill>
        <p:spPr>
          <a:xfrm>
            <a:off x="6236208" y="1828800"/>
            <a:ext cx="5120640" cy="3657600"/>
          </a:xfrm>
          <a:prstGeom prst="rect">
            <a:avLst/>
          </a:prstGeom>
        </p:spPr>
      </p:pic>
      <p:sp>
        <p:nvSpPr>
          <p:cNvPr id="5" name="TextBox 4"/>
          <p:cNvSpPr txBox="1"/>
          <p:nvPr/>
        </p:nvSpPr>
        <p:spPr>
          <a:xfrm>
            <a:off x="841248" y="5669280"/>
            <a:ext cx="10515600" cy="548640"/>
          </a:xfrm>
          <a:prstGeom prst="rect">
            <a:avLst/>
          </a:prstGeom>
          <a:noFill/>
        </p:spPr>
        <p:txBody>
          <a:bodyPr wrap="square">
            <a:spAutoFit/>
          </a:bodyPr>
          <a:lstStyle/>
          <a:p>
            <a:r>
              <a:rPr sz="1800"/>
              <a:t>Harmless in each univariate model (left), yet wildly influential in the multivariate model (right).</a:t>
            </a:r>
          </a:p>
        </p:txBody>
      </p:sp>
      <p:sp>
        <p:nvSpPr>
          <p:cNvPr id="6" name="TextBox 5"/>
          <p:cNvSpPr txBox="1"/>
          <p:nvPr/>
        </p:nvSpPr>
        <p:spPr>
          <a:xfrm>
            <a:off x="841248" y="6355080"/>
            <a:ext cx="2743200" cy="320040"/>
          </a:xfrm>
          <a:prstGeom prst="rect">
            <a:avLst/>
          </a:prstGeom>
          <a:noFill/>
        </p:spPr>
        <p:txBody>
          <a:bodyPr wrap="square">
            <a:spAutoFit/>
          </a:bodyPr>
          <a:lstStyle/>
          <a:p>
            <a:r>
              <a:rPr sz="1100">
                <a:solidFill>
                  <a:srgbClr val="707070"/>
                </a:solidFill>
              </a:rPr>
              <a:t>Figure 14.2, 14.3</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Influence in the penguin model</a:t>
            </a:r>
          </a:p>
        </p:txBody>
      </p:sp>
      <p:sp>
        <p:nvSpPr>
          <p:cNvPr id="3" name="Content Placeholder 2"/>
          <p:cNvSpPr>
            <a:spLocks noGrp="1"/>
          </p:cNvSpPr>
          <p:nvPr>
            <p:ph sz="half" idx="1"/>
          </p:nvPr>
        </p:nvSpPr>
        <p:spPr/>
        <p:txBody>
          <a:bodyPr/>
          <a:lstStyle/>
          <a:p>
            <a:r>
              <a:t>Multivariate influence plot (mvinfluence package)</a:t>
            </a:r>
          </a:p>
          <a:p>
            <a:r>
              <a:t>The most influential case is our Chinstrap friend 'Cyrano'</a:t>
            </a:r>
          </a:p>
          <a:p>
            <a:r>
              <a:t>'Hook Nose', an Adélie, is among the others</a:t>
            </a:r>
          </a:p>
        </p:txBody>
      </p:sp>
      <p:pic>
        <p:nvPicPr>
          <p:cNvPr id="4" name="Picture 3" descr="fig-peng-inflplot1-1.png"/>
          <p:cNvPicPr>
            <a:picLocks noChangeAspect="1"/>
          </p:cNvPicPr>
          <p:nvPr/>
        </p:nvPicPr>
        <p:blipFill>
          <a:blip r:embed="rId3"/>
          <a:stretch>
            <a:fillRect/>
          </a:stretch>
        </p:blipFill>
        <p:spPr>
          <a:xfrm>
            <a:off x="6569964" y="1783080"/>
            <a:ext cx="4389120" cy="4389120"/>
          </a:xfrm>
          <a:prstGeom prst="rect">
            <a:avLst/>
          </a:prstGeom>
        </p:spPr>
      </p:pic>
      <p:sp>
        <p:nvSpPr>
          <p:cNvPr id="5" name="TextBox 4"/>
          <p:cNvSpPr txBox="1"/>
          <p:nvPr/>
        </p:nvSpPr>
        <p:spPr>
          <a:xfrm>
            <a:off x="841248" y="6355080"/>
            <a:ext cx="2743200" cy="320040"/>
          </a:xfrm>
          <a:prstGeom prst="rect">
            <a:avLst/>
          </a:prstGeom>
          <a:noFill/>
        </p:spPr>
        <p:txBody>
          <a:bodyPr wrap="square">
            <a:spAutoFit/>
          </a:bodyPr>
          <a:lstStyle/>
          <a:p>
            <a:r>
              <a:rPr sz="1100">
                <a:solidFill>
                  <a:srgbClr val="707070"/>
                </a:solidFill>
              </a:rPr>
              <a:t>Figure 14.8</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Robust MLMs: down-weight what does not fit</a:t>
            </a:r>
          </a:p>
        </p:txBody>
      </p:sp>
      <p:sp>
        <p:nvSpPr>
          <p:cNvPr id="3" name="Content Placeholder 2"/>
          <p:cNvSpPr>
            <a:spLocks noGrp="1"/>
          </p:cNvSpPr>
          <p:nvPr>
            <p:ph sz="half" idx="1"/>
          </p:nvPr>
        </p:nvSpPr>
        <p:spPr/>
        <p:txBody>
          <a:bodyPr/>
          <a:lstStyle/>
          <a:p>
            <a:r>
              <a:t>robmlm(): iteratively reweighted least squares for a multivariate model</a:t>
            </a:r>
          </a:p>
          <a:p>
            <a:r>
              <a:t>Index plot of the final observation weights</a:t>
            </a:r>
          </a:p>
          <a:p>
            <a:r>
              <a:t>Cyrano gets weight 0; Hook Nose gets 0.13</a:t>
            </a:r>
          </a:p>
        </p:txBody>
      </p:sp>
      <p:pic>
        <p:nvPicPr>
          <p:cNvPr id="4" name="Picture 3" descr="fig-peng-robmlm-plot-1.png"/>
          <p:cNvPicPr>
            <a:picLocks noChangeAspect="1"/>
          </p:cNvPicPr>
          <p:nvPr/>
        </p:nvPicPr>
        <p:blipFill>
          <a:blip r:embed="rId3"/>
          <a:stretch>
            <a:fillRect/>
          </a:stretch>
        </p:blipFill>
        <p:spPr>
          <a:xfrm>
            <a:off x="6172200" y="2125980"/>
            <a:ext cx="5184648" cy="3703320"/>
          </a:xfrm>
          <a:prstGeom prst="rect">
            <a:avLst/>
          </a:prstGeom>
        </p:spPr>
      </p:pic>
      <p:sp>
        <p:nvSpPr>
          <p:cNvPr id="5" name="TextBox 4"/>
          <p:cNvSpPr txBox="1"/>
          <p:nvPr/>
        </p:nvSpPr>
        <p:spPr>
          <a:xfrm>
            <a:off x="841248" y="6355080"/>
            <a:ext cx="2743200" cy="320040"/>
          </a:xfrm>
          <a:prstGeom prst="rect">
            <a:avLst/>
          </a:prstGeom>
          <a:noFill/>
        </p:spPr>
        <p:txBody>
          <a:bodyPr wrap="square">
            <a:spAutoFit/>
          </a:bodyPr>
          <a:lstStyle/>
          <a:p>
            <a:r>
              <a:rPr sz="1100">
                <a:solidFill>
                  <a:srgbClr val="707070"/>
                </a:solidFill>
              </a:rPr>
              <a:t>Figure 14.10</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 few ideas go a long way</a:t>
            </a:r>
          </a:p>
        </p:txBody>
      </p:sp>
      <p:sp>
        <p:nvSpPr>
          <p:cNvPr id="3" name="Content Placeholder 2"/>
          <p:cNvSpPr>
            <a:spLocks noGrp="1"/>
          </p:cNvSpPr>
          <p:nvPr>
            <p:ph idx="1"/>
          </p:nvPr>
        </p:nvSpPr>
        <p:spPr/>
        <p:txBody>
          <a:bodyPr/>
          <a:lstStyle/>
          <a:p>
            <a:r>
              <a:rPr dirty="0"/>
              <a:t>Ellipses: for data, for coefficients, and for hypotheses and error</a:t>
            </a:r>
          </a:p>
          <a:p>
            <a:r>
              <a:rPr dirty="0"/>
              <a:t>Projections: every plot is a view; choose the views that answer the question</a:t>
            </a:r>
          </a:p>
          <a:p>
            <a:r>
              <a:rPr dirty="0"/>
              <a:t>Low-</a:t>
            </a:r>
            <a:r>
              <a:rPr lang="en-CA"/>
              <a:t>D</a:t>
            </a:r>
            <a:r>
              <a:t> views: biplots and canonical plots show many variables in the space that matters</a:t>
            </a:r>
          </a:p>
          <a:p>
            <a:r>
              <a:rPr dirty="0"/>
              <a:t>Visual thinning: summarize, so the message can be seen</a:t>
            </a:r>
          </a:p>
          <a:p>
            <a:r>
              <a:rPr dirty="0"/>
              <a:t>Multivariate models deserve graphs as good as those for a single response</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Book, code and packages</a:t>
            </a:r>
          </a:p>
        </p:txBody>
      </p:sp>
      <p:sp>
        <p:nvSpPr>
          <p:cNvPr id="3" name="Content Placeholder 2"/>
          <p:cNvSpPr>
            <a:spLocks noGrp="1"/>
          </p:cNvSpPr>
          <p:nvPr>
            <p:ph sz="half" idx="1"/>
          </p:nvPr>
        </p:nvSpPr>
        <p:spPr/>
        <p:txBody>
          <a:bodyPr/>
          <a:lstStyle/>
          <a:p>
            <a:r>
              <a:rPr dirty="0"/>
              <a:t>Online version: </a:t>
            </a:r>
            <a:r>
              <a:rPr dirty="0">
                <a:hlinkClick r:id="rId3"/>
              </a:rPr>
              <a:t>friendly.github.io/Vis-MLM-book</a:t>
            </a:r>
            <a:endParaRPr dirty="0"/>
          </a:p>
          <a:p>
            <a:r>
              <a:rPr dirty="0"/>
              <a:t>Source and R code: github.com/</a:t>
            </a:r>
            <a:r>
              <a:rPr dirty="0" err="1"/>
              <a:t>friendly/vis-MLM-book</a:t>
            </a:r>
            <a:endParaRPr dirty="0"/>
          </a:p>
          <a:p>
            <a:r>
              <a:rPr dirty="0"/>
              <a:t>R packages: </a:t>
            </a:r>
            <a:r>
              <a:rPr dirty="0" err="1"/>
              <a:t>heplots</a:t>
            </a:r>
            <a:r>
              <a:rPr dirty="0"/>
              <a:t>, </a:t>
            </a:r>
            <a:r>
              <a:rPr dirty="0" err="1"/>
              <a:t>candisc</a:t>
            </a:r>
            <a:r>
              <a:rPr dirty="0"/>
              <a:t>, </a:t>
            </a:r>
            <a:r>
              <a:rPr dirty="0" err="1"/>
              <a:t>mvinfluence</a:t>
            </a:r>
            <a:r>
              <a:rPr dirty="0"/>
              <a:t>, </a:t>
            </a:r>
            <a:r>
              <a:rPr dirty="0" err="1"/>
              <a:t>genridge</a:t>
            </a:r>
            <a:r>
              <a:rPr lang="en-CA" dirty="0"/>
              <a:t>, </a:t>
            </a:r>
            <a:r>
              <a:rPr lang="en-CA" dirty="0" err="1"/>
              <a:t>VisCollin</a:t>
            </a:r>
            <a:endParaRPr dirty="0"/>
          </a:p>
          <a:p>
            <a:r>
              <a:rPr dirty="0"/>
              <a:t>To appear with CRC Press / Chapman &amp; Hall</a:t>
            </a:r>
            <a:r>
              <a:rPr lang="en-CA"/>
              <a:t>, 2027</a:t>
            </a:r>
            <a:endParaRPr dirty="0"/>
          </a:p>
        </p:txBody>
      </p:sp>
      <p:pic>
        <p:nvPicPr>
          <p:cNvPr id="4" name="Picture 3" descr="cover-peng.jpg"/>
          <p:cNvPicPr>
            <a:picLocks noChangeAspect="1"/>
          </p:cNvPicPr>
          <p:nvPr/>
        </p:nvPicPr>
        <p:blipFill>
          <a:blip r:embed="rId4"/>
          <a:stretch>
            <a:fillRect/>
          </a:stretch>
        </p:blipFill>
        <p:spPr>
          <a:xfrm>
            <a:off x="7169844" y="731404"/>
            <a:ext cx="3953563" cy="5440796"/>
          </a:xfrm>
          <a:prstGeom prst="rect">
            <a:avLst/>
          </a:prstGeom>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75120" y="2103120"/>
            <a:ext cx="4754880" cy="2651760"/>
          </a:xfrm>
        </p:spPr>
        <p:txBody>
          <a:bodyPr anchor="ctr"/>
          <a:lstStyle/>
          <a:p>
            <a:r>
              <a:t>Questions?</a:t>
            </a:r>
            <a:br/>
            <a:r>
              <a:t>Discussion?</a:t>
            </a:r>
          </a:p>
        </p:txBody>
      </p:sp>
      <p:pic>
        <p:nvPicPr>
          <p:cNvPr id="4" name="Thank you (animated)" descr="thank-you.gif"/>
          <p:cNvPicPr>
            <a:picLocks noChangeAspect="1"/>
          </p:cNvPicPr>
          <p:nvPr/>
        </p:nvPicPr>
        <p:blipFill>
          <a:blip r:embed="rId2"/>
          <a:stretch>
            <a:fillRect/>
          </a:stretch>
        </p:blipFill>
        <p:spPr>
          <a:xfrm>
            <a:off x="822960" y="731520"/>
            <a:ext cx="5394960" cy="5394960"/>
          </a:xfrm>
          <a:prstGeom prst="rect">
            <a:avLst/>
          </a:prstGeom>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regression quartet</a:t>
            </a:r>
          </a:p>
        </p:txBody>
      </p:sp>
      <p:sp>
        <p:nvSpPr>
          <p:cNvPr id="3" name="Content Placeholder 2"/>
          <p:cNvSpPr>
            <a:spLocks noGrp="1"/>
          </p:cNvSpPr>
          <p:nvPr>
            <p:ph sz="half" idx="1"/>
          </p:nvPr>
        </p:nvSpPr>
        <p:spPr/>
        <p:txBody>
          <a:bodyPr/>
          <a:lstStyle/>
          <a:p>
            <a:r>
              <a:rPr dirty="0"/>
              <a:t>Residuals vs. fitted: nonlinearity</a:t>
            </a:r>
          </a:p>
          <a:p>
            <a:r>
              <a:rPr dirty="0"/>
              <a:t>Normal QQ: distribution of residuals</a:t>
            </a:r>
          </a:p>
          <a:p>
            <a:r>
              <a:rPr dirty="0"/>
              <a:t>Scale-location: non-constant variance</a:t>
            </a:r>
          </a:p>
          <a:p>
            <a:r>
              <a:rPr dirty="0"/>
              <a:t>Residuals vs. leverage: influential cases</a:t>
            </a:r>
          </a:p>
        </p:txBody>
      </p:sp>
      <p:pic>
        <p:nvPicPr>
          <p:cNvPr id="4" name="Picture 3" descr="fig-duncan-plot-model-1.png"/>
          <p:cNvPicPr>
            <a:picLocks noChangeAspect="1"/>
          </p:cNvPicPr>
          <p:nvPr/>
        </p:nvPicPr>
        <p:blipFill>
          <a:blip r:embed="rId3"/>
          <a:stretch>
            <a:fillRect/>
          </a:stretch>
        </p:blipFill>
        <p:spPr>
          <a:xfrm>
            <a:off x="6172200" y="1903780"/>
            <a:ext cx="5184648" cy="4147718"/>
          </a:xfrm>
          <a:prstGeom prst="rect">
            <a:avLst/>
          </a:prstGeom>
        </p:spPr>
      </p:pic>
      <p:sp>
        <p:nvSpPr>
          <p:cNvPr id="5" name="TextBox 4"/>
          <p:cNvSpPr txBox="1"/>
          <p:nvPr/>
        </p:nvSpPr>
        <p:spPr>
          <a:xfrm>
            <a:off x="841248" y="6355080"/>
            <a:ext cx="2743200" cy="320040"/>
          </a:xfrm>
          <a:prstGeom prst="rect">
            <a:avLst/>
          </a:prstGeom>
          <a:noFill/>
        </p:spPr>
        <p:txBody>
          <a:bodyPr wrap="square">
            <a:spAutoFit/>
          </a:bodyPr>
          <a:lstStyle/>
          <a:p>
            <a:r>
              <a:rPr sz="1100">
                <a:solidFill>
                  <a:srgbClr val="707070"/>
                </a:solidFill>
              </a:rPr>
              <a:t>Figure 7.2</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Coefficient plots: show the estimates, not a table</a:t>
            </a:r>
          </a:p>
        </p:txBody>
      </p:sp>
      <p:sp>
        <p:nvSpPr>
          <p:cNvPr id="3" name="Content Placeholder 2"/>
          <p:cNvSpPr>
            <a:spLocks noGrp="1"/>
          </p:cNvSpPr>
          <p:nvPr>
            <p:ph sz="half" idx="1"/>
          </p:nvPr>
        </p:nvSpPr>
        <p:spPr/>
        <p:txBody>
          <a:bodyPr/>
          <a:lstStyle/>
          <a:p>
            <a:r>
              <a:t>Estimates with confidence intervals</a:t>
            </a:r>
          </a:p>
          <a:p>
            <a:r>
              <a:t>Standardize, or the scales of the predictors dominate the picture</a:t>
            </a:r>
          </a:p>
          <a:p>
            <a:r>
              <a:t>Easy to compare several models</a:t>
            </a:r>
          </a:p>
        </p:txBody>
      </p:sp>
      <p:pic>
        <p:nvPicPr>
          <p:cNvPr id="4" name="Picture 3" descr="fig-modelplot3-1.png"/>
          <p:cNvPicPr>
            <a:picLocks noChangeAspect="1"/>
          </p:cNvPicPr>
          <p:nvPr/>
        </p:nvPicPr>
        <p:blipFill>
          <a:blip r:embed="rId3"/>
          <a:stretch>
            <a:fillRect/>
          </a:stretch>
        </p:blipFill>
        <p:spPr>
          <a:xfrm>
            <a:off x="6172200" y="2125980"/>
            <a:ext cx="5184648" cy="3703320"/>
          </a:xfrm>
          <a:prstGeom prst="rect">
            <a:avLst/>
          </a:prstGeom>
        </p:spPr>
      </p:pic>
      <p:sp>
        <p:nvSpPr>
          <p:cNvPr id="5" name="TextBox 4"/>
          <p:cNvSpPr txBox="1"/>
          <p:nvPr/>
        </p:nvSpPr>
        <p:spPr>
          <a:xfrm>
            <a:off x="841248" y="6355080"/>
            <a:ext cx="2743200" cy="320040"/>
          </a:xfrm>
          <a:prstGeom prst="rect">
            <a:avLst/>
          </a:prstGeom>
          <a:noFill/>
        </p:spPr>
        <p:txBody>
          <a:bodyPr wrap="square">
            <a:spAutoFit/>
          </a:bodyPr>
          <a:lstStyle/>
          <a:p>
            <a:r>
              <a:rPr sz="1100">
                <a:solidFill>
                  <a:srgbClr val="707070"/>
                </a:solidFill>
              </a:rPr>
              <a:t>Figure 7.7</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Effect displays: what the model predicts</a:t>
            </a:r>
          </a:p>
        </p:txBody>
      </p:sp>
      <p:pic>
        <p:nvPicPr>
          <p:cNvPr id="3" name="Picture 2" descr="prestige-allEffects.png"/>
          <p:cNvPicPr>
            <a:picLocks noChangeAspect="1"/>
          </p:cNvPicPr>
          <p:nvPr/>
        </p:nvPicPr>
        <p:blipFill>
          <a:blip r:embed="rId3"/>
          <a:stretch>
            <a:fillRect/>
          </a:stretch>
        </p:blipFill>
        <p:spPr>
          <a:xfrm>
            <a:off x="1058125" y="1691640"/>
            <a:ext cx="10081846" cy="3931920"/>
          </a:xfrm>
          <a:prstGeom prst="rect">
            <a:avLst/>
          </a:prstGeom>
        </p:spPr>
      </p:pic>
      <p:sp>
        <p:nvSpPr>
          <p:cNvPr id="4" name="TextBox 3"/>
          <p:cNvSpPr txBox="1"/>
          <p:nvPr/>
        </p:nvSpPr>
        <p:spPr>
          <a:xfrm>
            <a:off x="841248" y="5669280"/>
            <a:ext cx="10515600" cy="548640"/>
          </a:xfrm>
          <a:prstGeom prst="rect">
            <a:avLst/>
          </a:prstGeom>
          <a:noFill/>
        </p:spPr>
        <p:txBody>
          <a:bodyPr wrap="square">
            <a:spAutoFit/>
          </a:bodyPr>
          <a:lstStyle/>
          <a:p>
            <a:r>
              <a:rPr sz="1800"/>
              <a:t>Fitted values for each predictor, averaging over the others.</a:t>
            </a:r>
          </a:p>
        </p:txBody>
      </p:sp>
      <p:sp>
        <p:nvSpPr>
          <p:cNvPr id="5" name="TextBox 4"/>
          <p:cNvSpPr txBox="1"/>
          <p:nvPr/>
        </p:nvSpPr>
        <p:spPr>
          <a:xfrm>
            <a:off x="841248" y="6355080"/>
            <a:ext cx="2743200" cy="320040"/>
          </a:xfrm>
          <a:prstGeom prst="rect">
            <a:avLst/>
          </a:prstGeom>
          <a:noFill/>
        </p:spPr>
        <p:txBody>
          <a:bodyPr wrap="square">
            <a:spAutoFit/>
          </a:bodyPr>
          <a:lstStyle/>
          <a:p>
            <a:r>
              <a:rPr sz="1100">
                <a:solidFill>
                  <a:srgbClr val="707070"/>
                </a:solidFill>
              </a:rPr>
              <a:t>Figure 7.17</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Collinearity and ridge regression</a:t>
            </a:r>
          </a:p>
        </p:txBody>
      </p:sp>
      <p:sp>
        <p:nvSpPr>
          <p:cNvPr id="3" name="Text Placeholder 2"/>
          <p:cNvSpPr>
            <a:spLocks noGrp="1"/>
          </p:cNvSpPr>
          <p:nvPr>
            <p:ph type="body" idx="1"/>
          </p:nvPr>
        </p:nvSpPr>
        <p:spPr/>
        <p:txBody>
          <a:bodyPr/>
          <a:lstStyle/>
          <a:p>
            <a:r>
              <a:t>Seeing the problem, and seeing the remedy</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Canonical correlation in an HE plot</a:t>
            </a:r>
          </a:p>
        </p:txBody>
      </p:sp>
      <p:sp>
        <p:nvSpPr>
          <p:cNvPr id="3" name="Content Placeholder 2"/>
          <p:cNvSpPr>
            <a:spLocks noGrp="1"/>
          </p:cNvSpPr>
          <p:nvPr>
            <p:ph sz="half" idx="1"/>
          </p:nvPr>
        </p:nvSpPr>
        <p:spPr/>
        <p:txBody>
          <a:bodyPr/>
          <a:lstStyle/>
          <a:p>
            <a:r>
              <a:rPr dirty="0"/>
              <a:t>Canonical correlation: the weighted sums of the </a:t>
            </a:r>
            <a:r>
              <a:rPr lang="en-CA" dirty="0"/>
              <a:t>Y</a:t>
            </a:r>
            <a:r>
              <a:rPr dirty="0"/>
              <a:t> and </a:t>
            </a:r>
            <a:r>
              <a:rPr lang="en-CA" dirty="0"/>
              <a:t>X</a:t>
            </a:r>
            <a:r>
              <a:rPr dirty="0"/>
              <a:t> variables that correlate most highly</a:t>
            </a:r>
          </a:p>
          <a:p>
            <a:r>
              <a:rPr dirty="0"/>
              <a:t>Shown as an HE plot in the canonical space</a:t>
            </a:r>
            <a:r>
              <a:rPr lang="en-CA" dirty="0"/>
              <a:t>, with vectors for X &amp; Y variables</a:t>
            </a:r>
            <a:endParaRPr dirty="0"/>
          </a:p>
        </p:txBody>
      </p:sp>
      <p:pic>
        <p:nvPicPr>
          <p:cNvPr id="4" name="Picture 3" descr="fig-school-hecan-1.png"/>
          <p:cNvPicPr>
            <a:picLocks noChangeAspect="1"/>
          </p:cNvPicPr>
          <p:nvPr/>
        </p:nvPicPr>
        <p:blipFill>
          <a:blip r:embed="rId3"/>
          <a:stretch>
            <a:fillRect/>
          </a:stretch>
        </p:blipFill>
        <p:spPr>
          <a:xfrm>
            <a:off x="6569964" y="1783080"/>
            <a:ext cx="4389120" cy="4389120"/>
          </a:xfrm>
          <a:prstGeom prst="rect">
            <a:avLst/>
          </a:prstGeom>
        </p:spPr>
      </p:pic>
      <p:sp>
        <p:nvSpPr>
          <p:cNvPr id="5" name="TextBox 4"/>
          <p:cNvSpPr txBox="1"/>
          <p:nvPr/>
        </p:nvSpPr>
        <p:spPr>
          <a:xfrm>
            <a:off x="841248" y="6355080"/>
            <a:ext cx="2743200" cy="320040"/>
          </a:xfrm>
          <a:prstGeom prst="rect">
            <a:avLst/>
          </a:prstGeom>
          <a:noFill/>
        </p:spPr>
        <p:txBody>
          <a:bodyPr wrap="square">
            <a:spAutoFit/>
          </a:bodyPr>
          <a:lstStyle/>
          <a:p>
            <a:r>
              <a:rPr sz="1100">
                <a:solidFill>
                  <a:srgbClr val="707070"/>
                </a:solidFill>
              </a:rPr>
              <a:t>Figure 12.22</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Factorial designs: main effects and interactions</a:t>
            </a:r>
          </a:p>
        </p:txBody>
      </p:sp>
      <p:sp>
        <p:nvSpPr>
          <p:cNvPr id="3" name="Content Placeholder 2"/>
          <p:cNvSpPr>
            <a:spLocks noGrp="1"/>
          </p:cNvSpPr>
          <p:nvPr>
            <p:ph sz="half" idx="1"/>
          </p:nvPr>
        </p:nvSpPr>
        <p:spPr/>
        <p:txBody>
          <a:bodyPr/>
          <a:lstStyle/>
          <a:p>
            <a:r>
              <a:t>Plastic film data: tear and gloss by rate of extrusion and amount of additive</a:t>
            </a:r>
          </a:p>
          <a:p>
            <a:r>
              <a:t>One H ellipse for each term in the model</a:t>
            </a:r>
          </a:p>
        </p:txBody>
      </p:sp>
      <p:pic>
        <p:nvPicPr>
          <p:cNvPr id="4" name="Picture 3" descr="fig-plastic-HE1-1.png"/>
          <p:cNvPicPr>
            <a:picLocks noChangeAspect="1"/>
          </p:cNvPicPr>
          <p:nvPr/>
        </p:nvPicPr>
        <p:blipFill>
          <a:blip r:embed="rId3"/>
          <a:stretch>
            <a:fillRect/>
          </a:stretch>
        </p:blipFill>
        <p:spPr>
          <a:xfrm>
            <a:off x="6569964" y="1783080"/>
            <a:ext cx="4389120" cy="4389120"/>
          </a:xfrm>
          <a:prstGeom prst="rect">
            <a:avLst/>
          </a:prstGeom>
        </p:spPr>
      </p:pic>
      <p:sp>
        <p:nvSpPr>
          <p:cNvPr id="5" name="TextBox 4"/>
          <p:cNvSpPr txBox="1"/>
          <p:nvPr/>
        </p:nvSpPr>
        <p:spPr>
          <a:xfrm>
            <a:off x="841248" y="6355080"/>
            <a:ext cx="2743200" cy="320040"/>
          </a:xfrm>
          <a:prstGeom prst="rect">
            <a:avLst/>
          </a:prstGeom>
          <a:noFill/>
        </p:spPr>
        <p:txBody>
          <a:bodyPr wrap="square">
            <a:spAutoFit/>
          </a:bodyPr>
          <a:lstStyle/>
          <a:p>
            <a:r>
              <a:rPr sz="1100">
                <a:solidFill>
                  <a:srgbClr val="707070"/>
                </a:solidFill>
              </a:rPr>
              <a:t>Figure 12.11</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MANCOVA: are the regressions the same across groups?</a:t>
            </a:r>
          </a:p>
        </p:txBody>
      </p:sp>
      <p:sp>
        <p:nvSpPr>
          <p:cNvPr id="3" name="Content Placeholder 2"/>
          <p:cNvSpPr>
            <a:spLocks noGrp="1"/>
          </p:cNvSpPr>
          <p:nvPr>
            <p:ph sz="half" idx="1"/>
          </p:nvPr>
        </p:nvSpPr>
        <p:spPr/>
        <p:txBody>
          <a:bodyPr/>
          <a:lstStyle/>
          <a:p>
            <a:r>
              <a:t>Rohwer data: aptitude and achievement predicted from paired-associate tasks</a:t>
            </a:r>
          </a:p>
          <a:p>
            <a:r>
              <a:t>Overlaid HE plots for the low and high SES groups</a:t>
            </a:r>
          </a:p>
        </p:txBody>
      </p:sp>
      <p:pic>
        <p:nvPicPr>
          <p:cNvPr id="4" name="Picture 3" descr="fig-rohwer-HE-lohi-1.png"/>
          <p:cNvPicPr>
            <a:picLocks noChangeAspect="1"/>
          </p:cNvPicPr>
          <p:nvPr/>
        </p:nvPicPr>
        <p:blipFill>
          <a:blip r:embed="rId3"/>
          <a:stretch>
            <a:fillRect/>
          </a:stretch>
        </p:blipFill>
        <p:spPr>
          <a:xfrm>
            <a:off x="6569964" y="1783080"/>
            <a:ext cx="4389120" cy="4389120"/>
          </a:xfrm>
          <a:prstGeom prst="rect">
            <a:avLst/>
          </a:prstGeom>
        </p:spPr>
      </p:pic>
      <p:sp>
        <p:nvSpPr>
          <p:cNvPr id="5" name="TextBox 4"/>
          <p:cNvSpPr txBox="1"/>
          <p:nvPr/>
        </p:nvSpPr>
        <p:spPr>
          <a:xfrm>
            <a:off x="841248" y="6355080"/>
            <a:ext cx="2743200" cy="320040"/>
          </a:xfrm>
          <a:prstGeom prst="rect">
            <a:avLst/>
          </a:prstGeom>
          <a:noFill/>
        </p:spPr>
        <p:txBody>
          <a:bodyPr wrap="square">
            <a:spAutoFit/>
          </a:bodyPr>
          <a:lstStyle/>
          <a:p>
            <a:r>
              <a:rPr sz="1100">
                <a:solidFill>
                  <a:srgbClr val="707070"/>
                </a:solidFill>
              </a:rPr>
              <a:t>Figure 12.25</a:t>
            </a: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Are the covariance matrices equal?</a:t>
            </a:r>
          </a:p>
        </p:txBody>
      </p:sp>
      <p:sp>
        <p:nvSpPr>
          <p:cNvPr id="3" name="Content Placeholder 2"/>
          <p:cNvSpPr>
            <a:spLocks noGrp="1"/>
          </p:cNvSpPr>
          <p:nvPr>
            <p:ph sz="half" idx="1"/>
          </p:nvPr>
        </p:nvSpPr>
        <p:spPr/>
        <p:txBody>
          <a:bodyPr/>
          <a:lstStyle/>
          <a:p>
            <a:r>
              <a:t>MANOVA assumes equal within-group covariance matrices</a:t>
            </a:r>
          </a:p>
          <a:p>
            <a:r>
              <a:t>Compare the data ellipse of each group with the pooled one</a:t>
            </a:r>
          </a:p>
          <a:p>
            <a:r>
              <a:t>Look for differences in size and shape</a:t>
            </a:r>
          </a:p>
        </p:txBody>
      </p:sp>
      <p:pic>
        <p:nvPicPr>
          <p:cNvPr id="4" name="Picture 3" descr="fig-peng-covEllipse-pairs-1.png"/>
          <p:cNvPicPr>
            <a:picLocks noChangeAspect="1"/>
          </p:cNvPicPr>
          <p:nvPr/>
        </p:nvPicPr>
        <p:blipFill>
          <a:blip r:embed="rId3"/>
          <a:stretch>
            <a:fillRect/>
          </a:stretch>
        </p:blipFill>
        <p:spPr>
          <a:xfrm>
            <a:off x="6569964" y="1783080"/>
            <a:ext cx="4389120" cy="4389120"/>
          </a:xfrm>
          <a:prstGeom prst="rect">
            <a:avLst/>
          </a:prstGeom>
        </p:spPr>
      </p:pic>
      <p:sp>
        <p:nvSpPr>
          <p:cNvPr id="5" name="TextBox 4"/>
          <p:cNvSpPr txBox="1"/>
          <p:nvPr/>
        </p:nvSpPr>
        <p:spPr>
          <a:xfrm>
            <a:off x="841248" y="6355080"/>
            <a:ext cx="2743200" cy="320040"/>
          </a:xfrm>
          <a:prstGeom prst="rect">
            <a:avLst/>
          </a:prstGeom>
          <a:noFill/>
        </p:spPr>
        <p:txBody>
          <a:bodyPr wrap="square">
            <a:spAutoFit/>
          </a:bodyPr>
          <a:lstStyle/>
          <a:p>
            <a:r>
              <a:rPr sz="1100">
                <a:solidFill>
                  <a:srgbClr val="707070"/>
                </a:solidFill>
              </a:rPr>
              <a:t>Figure 13.4</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Visualizing Box's M test</a:t>
            </a:r>
          </a:p>
        </p:txBody>
      </p:sp>
      <p:pic>
        <p:nvPicPr>
          <p:cNvPr id="3" name="Picture 2" descr="fig-peng-iris-boxm-plots-1.png"/>
          <p:cNvPicPr>
            <a:picLocks noChangeAspect="1"/>
          </p:cNvPicPr>
          <p:nvPr/>
        </p:nvPicPr>
        <p:blipFill>
          <a:blip r:embed="rId3"/>
          <a:stretch>
            <a:fillRect/>
          </a:stretch>
        </p:blipFill>
        <p:spPr>
          <a:xfrm>
            <a:off x="2167128" y="1691640"/>
            <a:ext cx="7863840" cy="3931920"/>
          </a:xfrm>
          <a:prstGeom prst="rect">
            <a:avLst/>
          </a:prstGeom>
        </p:spPr>
      </p:pic>
      <p:sp>
        <p:nvSpPr>
          <p:cNvPr id="4" name="TextBox 3"/>
          <p:cNvSpPr txBox="1"/>
          <p:nvPr/>
        </p:nvSpPr>
        <p:spPr>
          <a:xfrm>
            <a:off x="841248" y="5669280"/>
            <a:ext cx="10515600" cy="548640"/>
          </a:xfrm>
          <a:prstGeom prst="rect">
            <a:avLst/>
          </a:prstGeom>
          <a:noFill/>
        </p:spPr>
        <p:txBody>
          <a:bodyPr wrap="square">
            <a:spAutoFit/>
          </a:bodyPr>
          <a:lstStyle/>
          <a:p>
            <a:r>
              <a:rPr sz="1800"/>
              <a:t>Box's M compares the log determinants of the group covariance matrices with that of the pooled matrix.</a:t>
            </a:r>
          </a:p>
        </p:txBody>
      </p:sp>
      <p:sp>
        <p:nvSpPr>
          <p:cNvPr id="5" name="TextBox 4"/>
          <p:cNvSpPr txBox="1"/>
          <p:nvPr/>
        </p:nvSpPr>
        <p:spPr>
          <a:xfrm>
            <a:off x="841248" y="6355080"/>
            <a:ext cx="2743200" cy="320040"/>
          </a:xfrm>
          <a:prstGeom prst="rect">
            <a:avLst/>
          </a:prstGeom>
          <a:noFill/>
        </p:spPr>
        <p:txBody>
          <a:bodyPr wrap="square">
            <a:spAutoFit/>
          </a:bodyPr>
          <a:lstStyle/>
          <a:p>
            <a:r>
              <a:rPr sz="1100">
                <a:solidFill>
                  <a:srgbClr val="707070"/>
                </a:solidFill>
              </a:rPr>
              <a:t>Figure 13.6</a:t>
            </a: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Discriminant analysis</a:t>
            </a:r>
          </a:p>
        </p:txBody>
      </p:sp>
      <p:sp>
        <p:nvSpPr>
          <p:cNvPr id="3" name="Text Placeholder 2"/>
          <p:cNvSpPr>
            <a:spLocks noGrp="1"/>
          </p:cNvSpPr>
          <p:nvPr>
            <p:ph type="body" idx="1"/>
          </p:nvPr>
        </p:nvSpPr>
        <p:spPr/>
        <p:txBody>
          <a:bodyPr/>
          <a:lstStyle/>
          <a:p>
            <a:r>
              <a:t>MANOVA turned around: predicting the group</a:t>
            </a: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Quadratic discriminant analysis</a:t>
            </a:r>
          </a:p>
        </p:txBody>
      </p:sp>
      <p:pic>
        <p:nvPicPr>
          <p:cNvPr id="3" name="Picture 2" descr="fig-peng-qda-regions-1.png"/>
          <p:cNvPicPr>
            <a:picLocks noChangeAspect="1"/>
          </p:cNvPicPr>
          <p:nvPr/>
        </p:nvPicPr>
        <p:blipFill>
          <a:blip r:embed="rId3"/>
          <a:stretch>
            <a:fillRect/>
          </a:stretch>
        </p:blipFill>
        <p:spPr>
          <a:xfrm>
            <a:off x="1380744" y="1417320"/>
            <a:ext cx="9436608" cy="4718304"/>
          </a:xfrm>
          <a:prstGeom prst="rect">
            <a:avLst/>
          </a:prstGeom>
        </p:spPr>
      </p:pic>
      <p:sp>
        <p:nvSpPr>
          <p:cNvPr id="4" name="TextBox 3"/>
          <p:cNvSpPr txBox="1"/>
          <p:nvPr/>
        </p:nvSpPr>
        <p:spPr>
          <a:xfrm>
            <a:off x="841248" y="6181344"/>
            <a:ext cx="10515600" cy="548640"/>
          </a:xfrm>
          <a:prstGeom prst="rect">
            <a:avLst/>
          </a:prstGeom>
          <a:noFill/>
        </p:spPr>
        <p:txBody>
          <a:bodyPr wrap="square">
            <a:spAutoFit/>
          </a:bodyPr>
          <a:lstStyle/>
          <a:p>
            <a:r>
              <a:rPr sz="1800"/>
              <a:t>With a separate covariance matrix for each group, the boundaries become curved.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3635</TotalTime>
  <Words>5665</Words>
  <Application>Microsoft Office PowerPoint</Application>
  <PresentationFormat>Widescreen</PresentationFormat>
  <Paragraphs>538</Paragraphs>
  <Slides>88</Slides>
  <Notes>80</Notes>
  <HiddenSlides>13</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1</vt:i4>
      </vt:variant>
      <vt:variant>
        <vt:lpstr>Slide Titles</vt:lpstr>
      </vt:variant>
      <vt:variant>
        <vt:i4>88</vt:i4>
      </vt:variant>
    </vt:vector>
  </HeadingPairs>
  <TitlesOfParts>
    <vt:vector size="97" baseType="lpstr">
      <vt:lpstr>Aptos</vt:lpstr>
      <vt:lpstr>Aptos Display</vt:lpstr>
      <vt:lpstr>Arial</vt:lpstr>
      <vt:lpstr>Cambria Math</vt:lpstr>
      <vt:lpstr>Courier New</vt:lpstr>
      <vt:lpstr>Symbol</vt:lpstr>
      <vt:lpstr>Wingdings</vt:lpstr>
      <vt:lpstr>Office Theme</vt:lpstr>
      <vt:lpstr>Equation</vt:lpstr>
      <vt:lpstr>Visualizing Multivariate Data and Models in R</vt:lpstr>
      <vt:lpstr>The book</vt:lpstr>
      <vt:lpstr>Key features of the book</vt:lpstr>
      <vt:lpstr>R packages</vt:lpstr>
      <vt:lpstr>Where we are going</vt:lpstr>
      <vt:lpstr>Why a romance in many dimensions?</vt:lpstr>
      <vt:lpstr>Flatland: we only ever see 2D projections</vt:lpstr>
      <vt:lpstr>EUREKA! Structure can hide in many dimensions</vt:lpstr>
      <vt:lpstr>A multivariate discovery: kinds of diabetes</vt:lpstr>
      <vt:lpstr>The problem: easy to fit, hard to see</vt:lpstr>
      <vt:lpstr>Seeing multivariate data</vt:lpstr>
      <vt:lpstr>Galton’s visual discovery:  Bivariate normal correlation surface (1886)</vt:lpstr>
      <vt:lpstr>Visual smoothing  Insight</vt:lpstr>
      <vt:lpstr>Visual insight  Theory (the OMG! moment)</vt:lpstr>
      <vt:lpstr>The data ellipse summarizes means, spread &amp; correlation – a sufficient visual summary for N(µ, Σ)</vt:lpstr>
      <vt:lpstr>Meet the penguins</vt:lpstr>
      <vt:lpstr>Data ellipses: Sufficient visual summary</vt:lpstr>
      <vt:lpstr>Simpson's paradox: marginal &amp; conditional relations</vt:lpstr>
      <vt:lpstr>How to visualize p &gt; 2 variables in Flatland? Scatterplot matrices: all pairs at once</vt:lpstr>
      <vt:lpstr>Visual thinning: show less to see more Effect order: order variables to see what you want to show </vt:lpstr>
      <vt:lpstr>Parallel coordinates: one line per penguin</vt:lpstr>
      <vt:lpstr>Animated tours: moving through projections</vt:lpstr>
      <vt:lpstr>Elliptical Insights</vt:lpstr>
      <vt:lpstr>Multivariate outliers: which penguins are unusual?</vt:lpstr>
      <vt:lpstr>Outlier detection: Waar is Wally?</vt:lpstr>
      <vt:lpstr>Elliptical insights: Measurement error</vt:lpstr>
      <vt:lpstr>Coffee, stress and heart disease</vt:lpstr>
      <vt:lpstr>Adding measurement error</vt:lpstr>
      <vt:lpstr>Measurement error: β1, β2</vt:lpstr>
      <vt:lpstr>Measurement error biases more than one coefficient</vt:lpstr>
      <vt:lpstr>Data space and beta space are dual</vt:lpstr>
      <vt:lpstr>Added-variable plots show partial relationships</vt:lpstr>
      <vt:lpstr>Leverage and influence</vt:lpstr>
      <vt:lpstr>Which observations drive the fit?</vt:lpstr>
      <vt:lpstr>Bias vs. Precision tradeoff</vt:lpstr>
      <vt:lpstr>Collinearity: narrow data, inflated uncertainty</vt:lpstr>
      <vt:lpstr>Where's Waldo? Collinearity lives in the smallest dimensions</vt:lpstr>
      <vt:lpstr>Ridge regression: shrink to gain precision</vt:lpstr>
      <vt:lpstr>The usual ridge trace shows only the estimates</vt:lpstr>
      <vt:lpstr>Bivariate ridge traces show bias and precision together</vt:lpstr>
      <vt:lpstr>A low-rank view of ridge regression</vt:lpstr>
      <vt:lpstr>The HE plot framework</vt:lpstr>
      <vt:lpstr>From the t-test to Hotelling's T²</vt:lpstr>
      <vt:lpstr>HE plots: Visual overview</vt:lpstr>
      <vt:lpstr>Data  Data ellipses  HE plot</vt:lpstr>
      <vt:lpstr>The H ellipse</vt:lpstr>
      <vt:lpstr>The E ellipse</vt:lpstr>
      <vt:lpstr>The Hypothesis-Error plot framework</vt:lpstr>
      <vt:lpstr>MANOVA: the same sums of squares, now as matrices</vt:lpstr>
      <vt:lpstr>HE plots: is the effect significant, and how?</vt:lpstr>
      <vt:lpstr>Contrasts and linear hypotheses</vt:lpstr>
      <vt:lpstr>HE plot matrices: all pairs of responses</vt:lpstr>
      <vt:lpstr>Quantitative predictors: each effect is a line</vt:lpstr>
      <vt:lpstr>Flatland and Spaceland: dimension reduction</vt:lpstr>
      <vt:lpstr>PowerPoint Presentation</vt:lpstr>
      <vt:lpstr>PCA: rotate to the views that show the most variance</vt:lpstr>
      <vt:lpstr>PCA fitted by springs: Physical analog</vt:lpstr>
      <vt:lpstr>Biplots: observations and variables in one view</vt:lpstr>
      <vt:lpstr>Biplot: The data juicer</vt:lpstr>
      <vt:lpstr>Canonical views: the space where the groups differ most</vt:lpstr>
      <vt:lpstr>Canonical discriminant plots: The MANOVA juicer</vt:lpstr>
      <vt:lpstr>Linear discriminant analysis: the main ideas</vt:lpstr>
      <vt:lpstr>Prediction regions in data space</vt:lpstr>
      <vt:lpstr>Prediction regions in discriminant space</vt:lpstr>
      <vt:lpstr>When a linear view is not enough: PCA vs t-SNE</vt:lpstr>
      <vt:lpstr>From PCA to t-SNE, animated</vt:lpstr>
      <vt:lpstr>Application: effect ordering variables in displays</vt:lpstr>
      <vt:lpstr>Application: how many dimensions is the Mona Lisa?</vt:lpstr>
      <vt:lpstr>Outliers hide in the smallest dimensions</vt:lpstr>
      <vt:lpstr>Checking multivariate models</vt:lpstr>
      <vt:lpstr>The distance plot: outliers and leverage, multivariately</vt:lpstr>
      <vt:lpstr>The Mysterious Case 9</vt:lpstr>
      <vt:lpstr>Influence in the penguin model</vt:lpstr>
      <vt:lpstr>Robust MLMs: down-weight what does not fit</vt:lpstr>
      <vt:lpstr>A few ideas go a long way</vt:lpstr>
      <vt:lpstr>Book, code and packages</vt:lpstr>
      <vt:lpstr>Questions? Discussion?</vt:lpstr>
      <vt:lpstr>The regression quartet</vt:lpstr>
      <vt:lpstr>Coefficient plots: show the estimates, not a table</vt:lpstr>
      <vt:lpstr>Effect displays: what the model predicts</vt:lpstr>
      <vt:lpstr>Collinearity and ridge regression</vt:lpstr>
      <vt:lpstr>Canonical correlation in an HE plot</vt:lpstr>
      <vt:lpstr>Factorial designs: main effects and interactions</vt:lpstr>
      <vt:lpstr>MANCOVA: are the regressions the same across groups?</vt:lpstr>
      <vt:lpstr>Are the covariance matrices equal?</vt:lpstr>
      <vt:lpstr>Visualizing Box's M test</vt:lpstr>
      <vt:lpstr>Discriminant analysis</vt:lpstr>
      <vt:lpstr>Quadratic discriminant analysis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Michael L Friendly</dc:creator>
  <cp:lastModifiedBy>Michael L Friendly</cp:lastModifiedBy>
  <cp:revision>24</cp:revision>
  <dcterms:created xsi:type="dcterms:W3CDTF">2026-10-06T18:00:03Z</dcterms:created>
  <dcterms:modified xsi:type="dcterms:W3CDTF">2026-10-12T15:51:42Z</dcterms:modified>
</cp:coreProperties>
</file>