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0"/>
  </p:notesMasterIdLst>
  <p:sldIdLst>
    <p:sldId id="256" r:id="rId2"/>
    <p:sldId id="257" r:id="rId3"/>
    <p:sldId id="330" r:id="rId4"/>
    <p:sldId id="325" r:id="rId5"/>
    <p:sldId id="258" r:id="rId6"/>
    <p:sldId id="259" r:id="rId7"/>
    <p:sldId id="260" r:id="rId8"/>
    <p:sldId id="261" r:id="rId9"/>
    <p:sldId id="262" r:id="rId10"/>
    <p:sldId id="263" r:id="rId11"/>
    <p:sldId id="264" r:id="rId12"/>
    <p:sldId id="456" r:id="rId13"/>
    <p:sldId id="457" r:id="rId14"/>
    <p:sldId id="458" r:id="rId15"/>
    <p:sldId id="326" r:id="rId16"/>
    <p:sldId id="266" r:id="rId17"/>
    <p:sldId id="470" r:id="rId18"/>
    <p:sldId id="267" r:id="rId19"/>
    <p:sldId id="268" r:id="rId20"/>
    <p:sldId id="269" r:id="rId21"/>
    <p:sldId id="270" r:id="rId22"/>
    <p:sldId id="271" r:id="rId23"/>
    <p:sldId id="282" r:id="rId24"/>
    <p:sldId id="272" r:id="rId25"/>
    <p:sldId id="471" r:id="rId26"/>
    <p:sldId id="472" r:id="rId27"/>
    <p:sldId id="460" r:id="rId28"/>
    <p:sldId id="461" r:id="rId29"/>
    <p:sldId id="462" r:id="rId30"/>
    <p:sldId id="290" r:id="rId31"/>
    <p:sldId id="289" r:id="rId32"/>
    <p:sldId id="285" r:id="rId33"/>
    <p:sldId id="287" r:id="rId34"/>
    <p:sldId id="288" r:id="rId35"/>
    <p:sldId id="463" r:id="rId36"/>
    <p:sldId id="292" r:id="rId37"/>
    <p:sldId id="293" r:id="rId38"/>
    <p:sldId id="294" r:id="rId39"/>
    <p:sldId id="295" r:id="rId40"/>
    <p:sldId id="465" r:id="rId41"/>
    <p:sldId id="297" r:id="rId42"/>
    <p:sldId id="298" r:id="rId43"/>
    <p:sldId id="299" r:id="rId44"/>
    <p:sldId id="466" r:id="rId45"/>
    <p:sldId id="327" r:id="rId46"/>
    <p:sldId id="328" r:id="rId47"/>
    <p:sldId id="329" r:id="rId48"/>
    <p:sldId id="300" r:id="rId49"/>
    <p:sldId id="301" r:id="rId50"/>
    <p:sldId id="302" r:id="rId51"/>
    <p:sldId id="303" r:id="rId52"/>
    <p:sldId id="304" r:id="rId53"/>
    <p:sldId id="306" r:id="rId54"/>
    <p:sldId id="273" r:id="rId55"/>
    <p:sldId id="467" r:id="rId56"/>
    <p:sldId id="274" r:id="rId57"/>
    <p:sldId id="275" r:id="rId58"/>
    <p:sldId id="276" r:id="rId59"/>
    <p:sldId id="468" r:id="rId60"/>
    <p:sldId id="305" r:id="rId61"/>
    <p:sldId id="469" r:id="rId62"/>
    <p:sldId id="318" r:id="rId63"/>
    <p:sldId id="319" r:id="rId64"/>
    <p:sldId id="320" r:id="rId65"/>
    <p:sldId id="277" r:id="rId66"/>
    <p:sldId id="278" r:id="rId67"/>
    <p:sldId id="279" r:id="rId68"/>
    <p:sldId id="280" r:id="rId69"/>
    <p:sldId id="281" r:id="rId70"/>
    <p:sldId id="310" r:id="rId71"/>
    <p:sldId id="311" r:id="rId72"/>
    <p:sldId id="312" r:id="rId73"/>
    <p:sldId id="313" r:id="rId74"/>
    <p:sldId id="314" r:id="rId75"/>
    <p:sldId id="322" r:id="rId76"/>
    <p:sldId id="323" r:id="rId77"/>
    <p:sldId id="324" r:id="rId78"/>
    <p:sldId id="283" r:id="rId79"/>
    <p:sldId id="284" r:id="rId80"/>
    <p:sldId id="286" r:id="rId81"/>
    <p:sldId id="291" r:id="rId82"/>
    <p:sldId id="307" r:id="rId83"/>
    <p:sldId id="308" r:id="rId84"/>
    <p:sldId id="309" r:id="rId85"/>
    <p:sldId id="315" r:id="rId86"/>
    <p:sldId id="316" r:id="rId87"/>
    <p:sldId id="317" r:id="rId88"/>
    <p:sldId id="321" r:id="rId8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30"/>
            <p14:sldId id="325"/>
            <p14:sldId id="258"/>
          </p14:sldIdLst>
        </p14:section>
        <p14:section name="Why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267"/>
            <p14:sldId id="268"/>
            <p14:sldId id="269"/>
            <p14:sldId id="270"/>
            <p14:sldId id="271"/>
          </p14:sldIdLst>
        </p14:section>
        <p14:section name="2. Elliptical insights: models with one response" id="{EAA495C8-47F8-453B-93BF-84216DBE3542}">
          <p14:sldIdLst>
            <p14:sldId id="282"/>
            <p14:sldId id="272"/>
            <p14:sldId id="471"/>
            <p14:sldId id="472"/>
            <p14:sldId id="460"/>
            <p14:sldId id="461"/>
            <p14:sldId id="462"/>
            <p14:sldId id="290"/>
            <p14:sldId id="289"/>
            <p14:sldId id="285"/>
            <p14:sldId id="287"/>
            <p14:sldId id="288"/>
            <p14:sldId id="463"/>
            <p14:sldId id="292"/>
            <p14:sldId id="293"/>
            <p14:sldId id="294"/>
            <p14:sldId id="295"/>
            <p14:sldId id="465"/>
            <p14:sldId id="297"/>
          </p14:sldIdLst>
        </p14:section>
        <p14:section name="3. The HE plot framework" id="{19AF699C-459B-4008-BE93-C8454174BFDD}">
          <p14:sldIdLst>
            <p14:sldId id="298"/>
            <p14:sldId id="299"/>
            <p14:sldId id="466"/>
            <p14:sldId id="327"/>
            <p14:sldId id="328"/>
            <p14:sldId id="329"/>
            <p14:sldId id="300"/>
            <p14:sldId id="301"/>
            <p14:sldId id="302"/>
            <p14:sldId id="303"/>
            <p14:sldId id="304"/>
            <p14:sldId id="306"/>
          </p14:sldIdLst>
        </p14:section>
        <p14:section name="4. Multivariate juicers and Waldo space" id="{DA27F9D7-637D-4DEC-ADC4-C5706219A457}">
          <p14:sldIdLst>
            <p14:sldId id="273"/>
            <p14:sldId id="467"/>
            <p14:sldId id="274"/>
            <p14:sldId id="275"/>
            <p14:sldId id="276"/>
            <p14:sldId id="468"/>
            <p14:sldId id="305"/>
            <p14:sldId id="469"/>
            <p14:sldId id="318"/>
            <p14:sldId id="319"/>
            <p14:sldId id="320"/>
            <p14:sldId id="277"/>
            <p14:sldId id="278"/>
            <p14:sldId id="279"/>
            <p14:sldId id="280"/>
            <p14:sldId id="281"/>
          </p14:sldIdLst>
        </p14:section>
        <p14:section name="5. Checking multivariate models" id="{6A48B39A-9055-4C28-B86C-25D5CE1DEB29}">
          <p14:sldIdLst>
            <p14:sldId id="310"/>
            <p14:sldId id="311"/>
            <p14:sldId id="312"/>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396" autoAdjust="0"/>
  </p:normalViewPr>
  <p:slideViewPr>
    <p:cSldViewPr snapToGrid="0">
      <p:cViewPr varScale="1">
        <p:scale>
          <a:sx n="87" d="100"/>
          <a:sy n="87" d="100"/>
        </p:scale>
        <p:origin x="552" y="90"/>
      </p:cViewPr>
      <p:guideLst/>
    </p:cSldViewPr>
  </p:slideViewPr>
  <p:notesTextViewPr>
    <p:cViewPr>
      <p:scale>
        <a:sx n="1" d="1"/>
        <a:sy n="1" d="1"/>
      </p:scale>
      <p:origin x="0" y="0"/>
    </p:cViewPr>
  </p:notesTextViewPr>
  <p:sorterViewPr>
    <p:cViewPr>
      <p:scale>
        <a:sx n="100" d="100"/>
        <a:sy n="100" d="100"/>
      </p:scale>
      <p:origin x="0" y="-1537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The talk is framed around the book of the same name.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the book is and where to find it. The online version has the animations and all the R code.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From the Features section of the Preface. Three of the book's themes: (1) data visualization as a combination of exposure (plotting the raw data) and summarization (plotting statistical summaries), with visual thinning to balance them; (2) the connections among statistics, geometry and data visualization; (3) dimension reduction methods as 'multivariate juicers'.</a:t>
            </a:r>
          </a:p>
        </p:txBody>
      </p:sp>
    </p:spTree>
    <p:extLst>
      <p:ext uri="{BB962C8B-B14F-4D97-AF65-F5344CB8AC3E}">
        <p14:creationId xmlns:p14="http://schemas.microsoft.com/office/powerpoint/2010/main" val="10631299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12</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13</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14</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Galton's data on the heights of parents and children (from the short course, lecture 2).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Palmer penguins are the running example.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17</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Chi-square QQ plot for the penguin data, and the unusual birds identified in the bill length-bill depth plot. Two of them, nicknamed Cyrano and Hook Nose, come back in 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26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34770024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Biasing effect of measurement error in one variable on the coefficients, shown in beta space.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Marginal + conditional (added-variable) plots for the coffee data, a contrived example constructed by Georges Monette. Each added-variable plot shows the relation of y to one predictor with the others partialled out; the slope is the coefficient in the full model.</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14707265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standard collinearity diagnostics table hides the important information. The tableplot makes it stand out; the collinearity biplot shows which variables are involved.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40</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44</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 plots for the iris data. E: within-group variation. H: variation of the group means. The orientation of H shows how the groups differ.</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sepal length and width in the iris data, showing contrasts among the species.</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pairwise HE plots for the iris data.</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Canonical HE plot for the iris data.</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61</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interpolating between the PCA and t-SNE solutions for the Diabetes data.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Re-construction of the Mona Lisa from increasing numbers of components (the eigenfaces idea).</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Distance plot for the school data model.</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toy example from Barrett (2003): one predictor, two nearly perfectly correlated responses, nine cases. The univariate Cook's D values for case 9 are very small, but the multivariate Cook's D is 3.22, over 10 times the next largest. Multivariate influence is not the sum of univariate influences.</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2026-10-12</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2026-10-12</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4.jp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8.xml"/><Relationship Id="rId1" Type="http://schemas.openxmlformats.org/officeDocument/2006/relationships/slideLayout" Target="../slideLayouts/slideLayout4.xml"/><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3.gif"/><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38.emf"/><Relationship Id="rId5" Type="http://schemas.openxmlformats.org/officeDocument/2006/relationships/image" Target="../media/image37.png"/><Relationship Id="rId4" Type="http://schemas.openxmlformats.org/officeDocument/2006/relationships/hyperlink" Target="http://www.datavis.ca/gallery/animation/outlier-demo/"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2.gif"/></Relationships>
</file>

<file path=ppt/slides/_rels/slide29.xml.rels><?xml version="1.0" encoding="UTF-8" standalone="yes"?>
<Relationships xmlns="http://schemas.openxmlformats.org/package/2006/relationships"><Relationship Id="rId3" Type="http://schemas.openxmlformats.org/officeDocument/2006/relationships/image" Target="../media/image43.gif"/><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image" Target="../media/image51.png"/></Relationships>
</file>

<file path=ppt/slides/_rels/slide3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5.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3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7.xml"/><Relationship Id="rId1" Type="http://schemas.openxmlformats.org/officeDocument/2006/relationships/slideLayout" Target="../slideLayouts/slideLayout6.xml"/><Relationship Id="rId5" Type="http://schemas.openxmlformats.org/officeDocument/2006/relationships/image" Target="../media/image56.png"/><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6.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45.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66.png"/></Relationships>
</file>

<file path=ppt/slides/_rels/slide4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69.wmf"/><Relationship Id="rId5" Type="http://schemas.openxmlformats.org/officeDocument/2006/relationships/oleObject" Target="../embeddings/oleObject1.bin"/><Relationship Id="rId4" Type="http://schemas.openxmlformats.org/officeDocument/2006/relationships/image" Target="../media/image68.png"/></Relationships>
</file>

<file path=ppt/slides/_rels/slide47.xml.rels><?xml version="1.0" encoding="UTF-8" standalone="yes"?>
<Relationships xmlns="http://schemas.openxmlformats.org/package/2006/relationships"><Relationship Id="rId3" Type="http://schemas.openxmlformats.org/officeDocument/2006/relationships/image" Target="../media/image66.png"/><Relationship Id="rId7" Type="http://schemas.openxmlformats.org/officeDocument/2006/relationships/image" Target="../media/image72.wmf"/><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71.png"/><Relationship Id="rId4" Type="http://schemas.openxmlformats.org/officeDocument/2006/relationships/image" Target="../media/image70.png"/></Relationships>
</file>

<file path=ppt/slides/_rels/slide48.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1.jpg"/><Relationship Id="rId2" Type="http://schemas.openxmlformats.org/officeDocument/2006/relationships/notesSlide" Target="../notesSlides/notesSlide50.xml"/><Relationship Id="rId1" Type="http://schemas.openxmlformats.org/officeDocument/2006/relationships/slideLayout" Target="../slideLayouts/slideLayout7.xml"/><Relationship Id="rId6" Type="http://schemas.openxmlformats.org/officeDocument/2006/relationships/image" Target="../media/image80.png"/><Relationship Id="rId5" Type="http://schemas.microsoft.com/office/2007/relationships/hdphoto" Target="../media/hdphoto1.wdp"/><Relationship Id="rId4" Type="http://schemas.openxmlformats.org/officeDocument/2006/relationships/image" Target="../media/image79.png"/></Relationships>
</file>

<file path=ppt/slides/_rels/slide56.xml.rels><?xml version="1.0" encoding="UTF-8" standalone="yes"?>
<Relationships xmlns="http://schemas.openxmlformats.org/package/2006/relationships"><Relationship Id="rId3" Type="http://schemas.openxmlformats.org/officeDocument/2006/relationships/image" Target="../media/image82.gif"/><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83.gif"/><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3.xml"/><Relationship Id="rId1" Type="http://schemas.openxmlformats.org/officeDocument/2006/relationships/slideLayout" Target="../slideLayouts/slideLayout4.xml"/><Relationship Id="rId4" Type="http://schemas.openxmlformats.org/officeDocument/2006/relationships/image" Target="../media/image85.png"/></Relationships>
</file>

<file path=ppt/slides/_rels/slide5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54.xml"/><Relationship Id="rId1" Type="http://schemas.openxmlformats.org/officeDocument/2006/relationships/slideLayout" Target="../slideLayouts/slideLayout6.xml"/><Relationship Id="rId5" Type="http://schemas.openxmlformats.org/officeDocument/2006/relationships/image" Target="../media/image87.png"/><Relationship Id="rId4" Type="http://schemas.openxmlformats.org/officeDocument/2006/relationships/image" Target="../media/image86.png"/></Relationships>
</file>

<file path=ppt/slides/_rels/slide6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89.png"/></Relationships>
</file>

<file path=ppt/slides/_rels/slide62.xml.rels><?xml version="1.0" encoding="UTF-8" standalone="yes"?>
<Relationships xmlns="http://schemas.openxmlformats.org/package/2006/relationships"><Relationship Id="rId3" Type="http://schemas.openxmlformats.org/officeDocument/2006/relationships/image" Target="../media/image91.jpg"/><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image" Target="../media/image95.gif"/><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2.xml"/><Relationship Id="rId1" Type="http://schemas.openxmlformats.org/officeDocument/2006/relationships/slideLayout" Target="../slideLayouts/slideLayout6.xml"/><Relationship Id="rId4" Type="http://schemas.openxmlformats.org/officeDocument/2006/relationships/image" Target="../media/image31.png"/></Relationships>
</file>

<file path=ppt/slides/_rels/slide68.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6.xml"/><Relationship Id="rId1" Type="http://schemas.openxmlformats.org/officeDocument/2006/relationships/slideLayout" Target="../slideLayouts/slideLayout6.xml"/><Relationship Id="rId4" Type="http://schemas.openxmlformats.org/officeDocument/2006/relationships/image" Target="../media/image101.png"/></Relationships>
</file>

<file path=ppt/slides/_rels/slide73.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70.xml"/><Relationship Id="rId1" Type="http://schemas.openxmlformats.org/officeDocument/2006/relationships/slideLayout" Target="../slideLayouts/slideLayout4.xml"/><Relationship Id="rId4" Type="http://schemas.openxmlformats.org/officeDocument/2006/relationships/image" Target="../media/image4.jpg"/></Relationships>
</file>

<file path=ppt/slides/_rels/slide77.xml.rels><?xml version="1.0" encoding="UTF-8" standalone="yes"?>
<Relationships xmlns="http://schemas.openxmlformats.org/package/2006/relationships"><Relationship Id="rId2" Type="http://schemas.openxmlformats.org/officeDocument/2006/relationships/image" Target="../media/image104.gif"/><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5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features of the book</a:t>
            </a:r>
          </a:p>
        </p:txBody>
      </p:sp>
      <p:pic>
        <p:nvPicPr>
          <p:cNvPr id="3" name="Picture 2" descr="image.png"/>
          <p:cNvPicPr>
            <a:picLocks noChangeAspect="1"/>
          </p:cNvPicPr>
          <p:nvPr/>
        </p:nvPicPr>
        <p:blipFill>
          <a:blip r:embed="rId3"/>
          <a:stretch>
            <a:fillRect/>
          </a:stretch>
        </p:blipFill>
        <p:spPr>
          <a:xfrm>
            <a:off x="1010412" y="1691640"/>
            <a:ext cx="1856231" cy="1325880"/>
          </a:xfrm>
          <a:prstGeom prst="rect">
            <a:avLst/>
          </a:prstGeom>
        </p:spPr>
      </p:pic>
      <p:sp>
        <p:nvSpPr>
          <p:cNvPr id="4" name="TextBox 3"/>
          <p:cNvSpPr txBox="1"/>
          <p:nvPr/>
        </p:nvSpPr>
        <p:spPr>
          <a:xfrm>
            <a:off x="3291840" y="1737360"/>
            <a:ext cx="8046720" cy="1325880"/>
          </a:xfrm>
          <a:prstGeom prst="rect">
            <a:avLst/>
          </a:prstGeom>
          <a:noFill/>
        </p:spPr>
        <p:txBody>
          <a:bodyPr wrap="square">
            <a:spAutoFit/>
          </a:bodyPr>
          <a:lstStyle/>
          <a:p>
            <a:r>
              <a:rPr sz="2400" b="1"/>
              <a:t>Exposure and summarization</a:t>
            </a:r>
          </a:p>
          <a:p>
            <a:r>
              <a:rPr sz="1800"/>
              <a:t>Plot the raw data, and plot statistical summaries (data ellipses, confidence ellipses) to highlight what should be noticed. Visual thinning balances the two.</a:t>
            </a:r>
          </a:p>
        </p:txBody>
      </p:sp>
      <p:pic>
        <p:nvPicPr>
          <p:cNvPr id="5" name="Picture 4" descr="image.png"/>
          <p:cNvPicPr>
            <a:picLocks noChangeAspect="1"/>
          </p:cNvPicPr>
          <p:nvPr/>
        </p:nvPicPr>
        <p:blipFill>
          <a:blip r:embed="rId4"/>
          <a:stretch>
            <a:fillRect/>
          </a:stretch>
        </p:blipFill>
        <p:spPr>
          <a:xfrm>
            <a:off x="841248" y="3368623"/>
            <a:ext cx="2194560" cy="1044296"/>
          </a:xfrm>
          <a:prstGeom prst="rect">
            <a:avLst/>
          </a:prstGeom>
        </p:spPr>
      </p:pic>
      <p:sp>
        <p:nvSpPr>
          <p:cNvPr id="6" name="TextBox 5"/>
          <p:cNvSpPr txBox="1"/>
          <p:nvPr/>
        </p:nvSpPr>
        <p:spPr>
          <a:xfrm>
            <a:off x="3291840" y="3273552"/>
            <a:ext cx="8046720" cy="1325880"/>
          </a:xfrm>
          <a:prstGeom prst="rect">
            <a:avLst/>
          </a:prstGeom>
          <a:noFill/>
        </p:spPr>
        <p:txBody>
          <a:bodyPr wrap="square">
            <a:spAutoFit/>
          </a:bodyPr>
          <a:lstStyle/>
          <a:p>
            <a:r>
              <a:rPr sz="2400" b="1"/>
              <a:t>Statistics ↔ geometry ↔ data visualization</a:t>
            </a:r>
          </a:p>
          <a:p>
            <a:r>
              <a:rPr sz="1800"/>
              <a:t>Statistical ideas are easier to understand as geometry that can be seen in diagrams and data displays. Ideas from one domain amplify the others.</a:t>
            </a:r>
          </a:p>
        </p:txBody>
      </p:sp>
      <p:pic>
        <p:nvPicPr>
          <p:cNvPr id="7" name="Picture 6" descr="MV-juicer.png"/>
          <p:cNvPicPr>
            <a:picLocks noChangeAspect="1"/>
          </p:cNvPicPr>
          <p:nvPr/>
        </p:nvPicPr>
        <p:blipFill>
          <a:blip r:embed="rId5"/>
          <a:stretch>
            <a:fillRect/>
          </a:stretch>
        </p:blipFill>
        <p:spPr>
          <a:xfrm>
            <a:off x="841248" y="4866511"/>
            <a:ext cx="2194560" cy="1120905"/>
          </a:xfrm>
          <a:prstGeom prst="rect">
            <a:avLst/>
          </a:prstGeom>
        </p:spPr>
      </p:pic>
      <p:sp>
        <p:nvSpPr>
          <p:cNvPr id="8" name="TextBox 7"/>
          <p:cNvSpPr txBox="1"/>
          <p:nvPr/>
        </p:nvSpPr>
        <p:spPr>
          <a:xfrm>
            <a:off x="3291840" y="4809744"/>
            <a:ext cx="8046720" cy="1325880"/>
          </a:xfrm>
          <a:prstGeom prst="rect">
            <a:avLst/>
          </a:prstGeom>
          <a:noFill/>
        </p:spPr>
        <p:txBody>
          <a:bodyPr wrap="square">
            <a:spAutoFit/>
          </a:bodyPr>
          <a:lstStyle/>
          <a:p>
            <a:r>
              <a:rPr sz="2400" b="1"/>
              <a:t>Dimension reduction as “multivariate juicers”</a:t>
            </a:r>
          </a:p>
          <a:p>
            <a:r>
              <a:rPr sz="1800"/>
              <a:t>PCA and discriminant analysis squeeze high-dimensional data into informative 2D views. Sometimes the important information is in the smallest dimensions.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 packages</a:t>
            </a:r>
          </a:p>
        </p:txBody>
      </p:sp>
      <p:sp>
        <p:nvSpPr>
          <p:cNvPr id="3" name="TextBox 2"/>
          <p:cNvSpPr txBox="1"/>
          <p:nvPr/>
        </p:nvSpPr>
        <p:spPr>
          <a:xfrm>
            <a:off x="841248" y="1417320"/>
            <a:ext cx="10515600" cy="502920"/>
          </a:xfrm>
          <a:prstGeom prst="rect">
            <a:avLst/>
          </a:prstGeom>
          <a:noFill/>
        </p:spPr>
        <p:txBody>
          <a:bodyPr wrap="none">
            <a:spAutoFit/>
          </a:bodyPr>
          <a:lstStyle/>
          <a:p>
            <a:r>
              <a:rPr sz="2400" b="1"/>
              <a:t>Theory → Practice: Making tools accessible</a:t>
            </a:r>
          </a:p>
        </p:txBody>
      </p:sp>
      <p:pic>
        <p:nvPicPr>
          <p:cNvPr id="4" name="Picture 3" descr="logo.png"/>
          <p:cNvPicPr>
            <a:picLocks noChangeAspect="1"/>
          </p:cNvPicPr>
          <p:nvPr/>
        </p:nvPicPr>
        <p:blipFill>
          <a:blip r:embed="rId3"/>
          <a:stretch>
            <a:fillRect/>
          </a:stretch>
        </p:blipFill>
        <p:spPr>
          <a:xfrm>
            <a:off x="904552" y="2148840"/>
            <a:ext cx="787790" cy="914400"/>
          </a:xfrm>
          <a:prstGeom prst="rect">
            <a:avLst/>
          </a:prstGeom>
        </p:spPr>
      </p:pic>
      <p:sp>
        <p:nvSpPr>
          <p:cNvPr id="5" name="TextBox 4"/>
          <p:cNvSpPr txBox="1"/>
          <p:nvPr/>
        </p:nvSpPr>
        <p:spPr>
          <a:xfrm>
            <a:off x="2011680" y="2167128"/>
            <a:ext cx="9326880" cy="914400"/>
          </a:xfrm>
          <a:prstGeom prst="rect">
            <a:avLst/>
          </a:prstGeom>
          <a:noFill/>
        </p:spPr>
        <p:txBody>
          <a:bodyPr wrap="square">
            <a:spAutoFit/>
          </a:bodyPr>
          <a:lstStyle/>
          <a:p>
            <a:r>
              <a:rPr sz="2400" b="1" dirty="0" err="1"/>
              <a:t>heplots</a:t>
            </a:r>
            <a:endParaRPr sz="2400" b="1" dirty="0"/>
          </a:p>
          <a:p>
            <a:r>
              <a:rPr sz="1800" dirty="0"/>
              <a:t>Visualizing hypothesis tests in multivariate linear models: HE plots, covariance ellipses, robust MLMs</a:t>
            </a:r>
          </a:p>
        </p:txBody>
      </p:sp>
      <p:pic>
        <p:nvPicPr>
          <p:cNvPr id="6" name="Picture 5" descr="logo.png"/>
          <p:cNvPicPr>
            <a:picLocks noChangeAspect="1"/>
          </p:cNvPicPr>
          <p:nvPr/>
        </p:nvPicPr>
        <p:blipFill>
          <a:blip r:embed="rId4"/>
          <a:stretch>
            <a:fillRect/>
          </a:stretch>
        </p:blipFill>
        <p:spPr>
          <a:xfrm>
            <a:off x="894440" y="3172968"/>
            <a:ext cx="808015" cy="914400"/>
          </a:xfrm>
          <a:prstGeom prst="rect">
            <a:avLst/>
          </a:prstGeom>
        </p:spPr>
      </p:pic>
      <p:sp>
        <p:nvSpPr>
          <p:cNvPr id="7" name="TextBox 6"/>
          <p:cNvSpPr txBox="1"/>
          <p:nvPr/>
        </p:nvSpPr>
        <p:spPr>
          <a:xfrm>
            <a:off x="2011680" y="3191256"/>
            <a:ext cx="9326880" cy="914400"/>
          </a:xfrm>
          <a:prstGeom prst="rect">
            <a:avLst/>
          </a:prstGeom>
          <a:noFill/>
        </p:spPr>
        <p:txBody>
          <a:bodyPr wrap="square">
            <a:spAutoFit/>
          </a:bodyPr>
          <a:lstStyle/>
          <a:p>
            <a:r>
              <a:rPr sz="2400" b="1"/>
              <a:t>candisc</a:t>
            </a:r>
          </a:p>
          <a:p>
            <a:r>
              <a:rPr sz="1800"/>
              <a:t>Canonical discriminant and canonical correlation analysis: low-dimensional views of multivariate effects</a:t>
            </a:r>
          </a:p>
        </p:txBody>
      </p:sp>
      <p:pic>
        <p:nvPicPr>
          <p:cNvPr id="8" name="Picture 7" descr="logo.png"/>
          <p:cNvPicPr>
            <a:picLocks noChangeAspect="1"/>
          </p:cNvPicPr>
          <p:nvPr/>
        </p:nvPicPr>
        <p:blipFill>
          <a:blip r:embed="rId5"/>
          <a:stretch>
            <a:fillRect/>
          </a:stretch>
        </p:blipFill>
        <p:spPr>
          <a:xfrm>
            <a:off x="904358" y="4197096"/>
            <a:ext cx="788179" cy="914400"/>
          </a:xfrm>
          <a:prstGeom prst="rect">
            <a:avLst/>
          </a:prstGeom>
        </p:spPr>
      </p:pic>
      <p:sp>
        <p:nvSpPr>
          <p:cNvPr id="9" name="TextBox 8"/>
          <p:cNvSpPr txBox="1"/>
          <p:nvPr/>
        </p:nvSpPr>
        <p:spPr>
          <a:xfrm>
            <a:off x="2011680" y="4215383"/>
            <a:ext cx="9326880" cy="914400"/>
          </a:xfrm>
          <a:prstGeom prst="rect">
            <a:avLst/>
          </a:prstGeom>
          <a:noFill/>
        </p:spPr>
        <p:txBody>
          <a:bodyPr wrap="square">
            <a:spAutoFit/>
          </a:bodyPr>
          <a:lstStyle/>
          <a:p>
            <a:r>
              <a:rPr sz="2400" b="1"/>
              <a:t>mvinfluence</a:t>
            </a:r>
          </a:p>
          <a:p>
            <a:r>
              <a:rPr sz="1800"/>
              <a:t>Influence measures and diagnostic plots for multivariate linear models</a:t>
            </a:r>
          </a:p>
        </p:txBody>
      </p:sp>
      <p:pic>
        <p:nvPicPr>
          <p:cNvPr id="10" name="Picture 9" descr="logo.png"/>
          <p:cNvPicPr>
            <a:picLocks noChangeAspect="1"/>
          </p:cNvPicPr>
          <p:nvPr/>
        </p:nvPicPr>
        <p:blipFill>
          <a:blip r:embed="rId6"/>
          <a:stretch>
            <a:fillRect/>
          </a:stretch>
        </p:blipFill>
        <p:spPr>
          <a:xfrm>
            <a:off x="905461" y="5221224"/>
            <a:ext cx="785973" cy="914400"/>
          </a:xfrm>
          <a:prstGeom prst="rect">
            <a:avLst/>
          </a:prstGeom>
        </p:spPr>
      </p:pic>
      <p:sp>
        <p:nvSpPr>
          <p:cNvPr id="11" name="TextBox 10"/>
          <p:cNvSpPr txBox="1"/>
          <p:nvPr/>
        </p:nvSpPr>
        <p:spPr>
          <a:xfrm>
            <a:off x="2011680" y="5239512"/>
            <a:ext cx="9326880" cy="914400"/>
          </a:xfrm>
          <a:prstGeom prst="rect">
            <a:avLst/>
          </a:prstGeom>
          <a:noFill/>
        </p:spPr>
        <p:txBody>
          <a:bodyPr wrap="square">
            <a:spAutoFit/>
          </a:bodyPr>
          <a:lstStyle/>
          <a:p>
            <a:r>
              <a:rPr sz="2400" b="1"/>
              <a:t>genridge</a:t>
            </a:r>
          </a:p>
          <a:p>
            <a:r>
              <a:rPr sz="1800"/>
              <a:t>Generalized ridge trace plots: bias and precision in ridge regression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we are going</a:t>
            </a:r>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Elliptical insights: models with one response</a:t>
            </a:r>
          </a:p>
          <a:p>
            <a:r>
              <a:rPr dirty="0"/>
              <a:t>The HE plot framework for multivariate models</a:t>
            </a:r>
          </a:p>
          <a:p>
            <a:r>
              <a:rPr dirty="0"/>
              <a:t>Multivariate juicers: low-D views, and Waldo space</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dirty="0"/>
              <a:t>We live in </a:t>
            </a:r>
            <a:r>
              <a:rPr dirty="0" err="1"/>
              <a:t>Spaceland</a:t>
            </a:r>
            <a:r>
              <a:rPr dirty="0"/>
              <a:t>,</a:t>
            </a:r>
            <a:r>
              <a:rPr lang="en-CA" dirty="0"/>
              <a:t> sometimes high-D,</a:t>
            </a:r>
            <a:r>
              <a:rPr dirty="0"/>
              <a:t> but we plot in Flatland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err="1"/>
              <a:t>Datavis</a:t>
            </a:r>
            <a:r>
              <a:rPr lang="en-CA" dirty="0"/>
              <a:t> is the art of making plots informative</a:t>
            </a:r>
          </a:p>
          <a:p>
            <a:r>
              <a:rPr lang="en-CA" dirty="0"/>
              <a:t>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1477328"/>
          </a:xfrm>
          <a:prstGeom prst="rect">
            <a:avLst/>
          </a:prstGeom>
          <a:noFill/>
        </p:spPr>
        <p:txBody>
          <a:bodyPr wrap="square" rtlCol="0">
            <a:spAutoFit/>
          </a:bodyPr>
          <a:lstStyle/>
          <a:p>
            <a:r>
              <a:rPr lang="en-CA" dirty="0" err="1"/>
              <a:t>HistData</a:t>
            </a:r>
            <a:r>
              <a:rPr lang="en-CA" dirty="0"/>
              <a:t>::pollen, from the 1986 JSM Data Exposition: “Find something interesting here”</a:t>
            </a:r>
          </a:p>
          <a:p>
            <a:endParaRPr lang="en-CA" dirty="0"/>
          </a:p>
          <a:p>
            <a:r>
              <a:rPr lang="en-CA" dirty="0"/>
              <a:t>Zooming in on the </a:t>
            </a:r>
            <a:r>
              <a:rPr lang="en-CA" b="1" dirty="0"/>
              <a:t>right view </a:t>
            </a:r>
            <a:r>
              <a:rPr lang="en-CA" dirty="0"/>
              <a:t>reveals what no summary statistic could ever do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multivariate discovery: kinds of diabetes</a:t>
            </a:r>
          </a:p>
        </p:txBody>
      </p:sp>
      <p:sp>
        <p:nvSpPr>
          <p:cNvPr id="3" name="Content Placeholder 2"/>
          <p:cNvSpPr>
            <a:spLocks noGrp="1"/>
          </p:cNvSpPr>
          <p:nvPr>
            <p:ph sz="half" idx="1"/>
          </p:nvPr>
        </p:nvSpPr>
        <p:spPr/>
        <p:txBody>
          <a:bodyPr/>
          <a:lstStyle/>
          <a:p>
            <a:r>
              <a:t>Reaven &amp; Miller (1979) viewed glucose and insulin measures in 3D with PRIM-9</a:t>
            </a:r>
          </a:p>
          <a:p>
            <a:r>
              <a:t>The 3D view showed distinct groups that 2D plots had obscured</a:t>
            </a:r>
          </a:p>
          <a:p>
            <a:r>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270522" y="1508125"/>
            <a:ext cx="5184648" cy="302159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Penguins walking together">
            <a:extLst>
              <a:ext uri="{FF2B5EF4-FFF2-40B4-BE49-F238E27FC236}">
                <a16:creationId xmlns:a16="http://schemas.microsoft.com/office/drawing/2014/main" id="{3139B4EB-ECB5-A62E-A0B0-F5445F7851A8}"/>
              </a:ext>
            </a:extLst>
          </p:cNvPr>
          <p:cNvPicPr>
            <a:picLocks noChangeAspect="1"/>
          </p:cNvPicPr>
          <p:nvPr/>
        </p:nvPicPr>
        <p:blipFill>
          <a:blip r:embed="rId2"/>
          <a:srcRect t="15094"/>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100051" y="4072043"/>
            <a:ext cx="100584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rgbClr val="FFFFFF"/>
                </a:solidFill>
              </a:rPr>
              <a:t>Data ellipses, penguins, and looking at many variables at once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12</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1400" y="1676401"/>
            <a:ext cx="8001000" cy="4849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13</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Wingdings" pitchFamily="2"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1400" y="1676401"/>
            <a:ext cx="8089900" cy="48545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14</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Wingdings" pitchFamily="2"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3357564" y="1643063"/>
            <a:ext cx="2706687" cy="825500"/>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a:buFontTx/>
              <a:buChar char="•"/>
            </a:pPr>
            <a:r>
              <a:rPr lang="en-US" altLang="en-US" sz="1600" dirty="0">
                <a:solidFill>
                  <a:schemeClr val="tx2"/>
                </a:solidFill>
                <a:cs typeface="Arial" charset="0"/>
              </a:rPr>
              <a:t> Level curves are </a:t>
            </a:r>
            <a:r>
              <a:rPr lang="en-US" altLang="en-US" sz="1600" b="1" dirty="0">
                <a:solidFill>
                  <a:schemeClr val="tx2"/>
                </a:solidFill>
                <a:cs typeface="Arial" charset="0"/>
              </a:rPr>
              <a:t>ellipses</a:t>
            </a:r>
          </a:p>
          <a:p>
            <a:pPr algn="l">
              <a:buFontTx/>
              <a:buChar char="•"/>
            </a:pPr>
            <a:r>
              <a:rPr lang="en-US" altLang="en-US" sz="1600" dirty="0">
                <a:solidFill>
                  <a:schemeClr val="tx2"/>
                </a:solidFill>
                <a:cs typeface="Arial" charset="0"/>
              </a:rPr>
              <a:t> Regression lines are loci of conjugate </a:t>
            </a:r>
            <a:r>
              <a:rPr lang="en-US" altLang="en-US" sz="1600" b="1" dirty="0">
                <a:solidFill>
                  <a:schemeClr val="tx2"/>
                </a:solidFill>
                <a:cs typeface="Arial" charset="0"/>
              </a:rPr>
              <a:t>tangents</a:t>
            </a:r>
          </a:p>
        </p:txBody>
      </p:sp>
      <p:sp>
        <p:nvSpPr>
          <p:cNvPr id="82949" name="Text Box 5"/>
          <p:cNvSpPr txBox="1">
            <a:spLocks noChangeArrowheads="1"/>
          </p:cNvSpPr>
          <p:nvPr/>
        </p:nvSpPr>
        <p:spPr bwMode="auto">
          <a:xfrm>
            <a:off x="3298826" y="5054600"/>
            <a:ext cx="2765425" cy="1803400"/>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a:r>
              <a:rPr lang="en-US" altLang="en-US" sz="1600" i="1">
                <a:solidFill>
                  <a:schemeClr val="tx2"/>
                </a:solidFill>
                <a:cs typeface="Arial" charset="0"/>
              </a:rPr>
              <a:t>… that Galton should have evolved all this … is to my mind one of the most note-worthy scientific discoveries arising from analysis of pure observation</a:t>
            </a:r>
            <a:r>
              <a:rPr lang="en-US" altLang="en-US" sz="160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41676" y="2679700"/>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17</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40" y="1264185"/>
            <a:ext cx="8212960" cy="1754326"/>
          </a:xfrm>
          <a:prstGeom prst="rect">
            <a:avLst/>
          </a:prstGeom>
          <a:noFill/>
        </p:spPr>
        <p:txBody>
          <a:bodyPr wrap="square" rtlCol="0">
            <a:spAutoFit/>
          </a:bodyPr>
          <a:lstStyle/>
          <a:p>
            <a:r>
              <a:rPr lang="en-CA" dirty="0"/>
              <a:t>Palmer penguins data: Measures of bill length &amp; depth, body mass, flipper length for 3 species</a:t>
            </a:r>
          </a:p>
          <a:p>
            <a:pPr marL="285750" indent="-285750">
              <a:buFont typeface="Arial" panose="020B0604020202020204" pitchFamily="34" charset="0"/>
              <a:buChar char="•"/>
            </a:pPr>
            <a:r>
              <a:rPr lang="en-CA" dirty="0"/>
              <a:t>Add data ellipses to show w/in group means &amp; scatter</a:t>
            </a:r>
          </a:p>
          <a:p>
            <a:pPr marL="285750" indent="-285750">
              <a:buFont typeface="Arial" panose="020B0604020202020204" pitchFamily="34" charset="0"/>
              <a:buChar char="•"/>
            </a:pPr>
            <a:r>
              <a:rPr lang="en-CA" dirty="0"/>
              <a:t>Remove the points to show the overall patterns: means, shape, corr., precision</a:t>
            </a:r>
          </a:p>
          <a:p>
            <a:pPr marL="285750" indent="-285750">
              <a:buFont typeface="Arial" panose="020B0604020202020204" pitchFamily="34" charset="0"/>
              <a:buChar char="•"/>
            </a:pPr>
            <a:r>
              <a:rPr lang="en-CA"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2057400" y="3262406"/>
            <a:ext cx="2599710" cy="2985995"/>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825923" y="3262406"/>
            <a:ext cx="2599713" cy="2985995"/>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594448" y="3262406"/>
            <a:ext cx="2599713" cy="2985995"/>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Flatland?</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variables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197213" y="1691148"/>
            <a:ext cx="4326193" cy="1200329"/>
          </a:xfrm>
          <a:prstGeom prst="rect">
            <a:avLst/>
          </a:prstGeom>
          <a:noFill/>
        </p:spPr>
        <p:txBody>
          <a:bodyPr wrap="square" rtlCol="0">
            <a:spAutoFit/>
          </a:bodyPr>
          <a:lstStyle/>
          <a:p>
            <a:r>
              <a:rPr lang="en-CA" dirty="0"/>
              <a:t>Each observation is a line across the variable axes</a:t>
            </a:r>
          </a:p>
          <a:p>
            <a:pPr marL="285750" indent="-285750">
              <a:buFont typeface="Arial" panose="020B0604020202020204" pitchFamily="34" charset="0"/>
              <a:buChar char="•"/>
            </a:pPr>
            <a:r>
              <a:rPr lang="en-CA" dirty="0"/>
              <a:t>Groups appear as bundles</a:t>
            </a:r>
          </a:p>
          <a:p>
            <a:pPr marL="285750" indent="-285750">
              <a:buFont typeface="Arial" panose="020B0604020202020204" pitchFamily="34" charset="0"/>
              <a:buChar char="•"/>
            </a:pPr>
            <a:r>
              <a:rPr lang="en-CA" dirty="0"/>
              <a:t>Easy to extend to more variables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Animated tours: moving through projections</a:t>
            </a:r>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2308324"/>
          </a:xfrm>
          <a:prstGeom prst="rect">
            <a:avLst/>
          </a:prstGeom>
          <a:noFill/>
        </p:spPr>
        <p:txBody>
          <a:bodyPr wrap="square">
            <a:spAutoFit/>
          </a:bodyPr>
          <a:lstStyle/>
          <a:p>
            <a:r>
              <a:rPr lang="en-CA" sz="1800" dirty="0"/>
              <a:t>Animation adds one more dimension to what we can see</a:t>
            </a:r>
          </a:p>
          <a:p>
            <a:endParaRPr lang="en-CA" sz="1800" dirty="0"/>
          </a:p>
          <a:p>
            <a:r>
              <a:rPr sz="1800" dirty="0"/>
              <a:t>A </a:t>
            </a:r>
            <a:r>
              <a:rPr sz="1800" b="1" dirty="0"/>
              <a:t>grand tour </a:t>
            </a:r>
            <a:r>
              <a:rPr sz="1800" dirty="0"/>
              <a:t>shows a smooth sequence of 2D projections</a:t>
            </a:r>
            <a:endParaRPr lang="en-CA" dirty="0"/>
          </a:p>
          <a:p>
            <a:pPr marL="285750" indent="-285750">
              <a:buFont typeface="Arial" panose="020B0604020202020204" pitchFamily="34" charset="0"/>
              <a:buChar char="•"/>
            </a:pPr>
            <a:r>
              <a:rPr lang="en-CA" dirty="0"/>
              <a:t>As in biplot, variable vectors show where you are</a:t>
            </a:r>
            <a:endParaRPr lang="en-CA" sz="1800" dirty="0"/>
          </a:p>
          <a:p>
            <a:pPr marL="285750" indent="-285750">
              <a:buFont typeface="Arial" panose="020B0604020202020204" pitchFamily="34" charset="0"/>
              <a:buChar char="•"/>
            </a:pPr>
            <a:endParaRPr lang="en-CA" sz="1800" dirty="0"/>
          </a:p>
          <a:p>
            <a:r>
              <a:rPr lang="en-CA" dirty="0"/>
              <a:t>A</a:t>
            </a:r>
            <a:r>
              <a:rPr sz="1800" dirty="0"/>
              <a:t> </a:t>
            </a:r>
            <a:r>
              <a:rPr sz="1800" b="1" dirty="0"/>
              <a:t>guided tour </a:t>
            </a:r>
            <a:r>
              <a:rPr sz="1800" dirty="0"/>
              <a:t>steers toward interesting ones.</a:t>
            </a:r>
            <a:endParaRPr lang="en-CA" sz="1800" dirty="0"/>
          </a:p>
          <a:p>
            <a:pPr marL="285750" indent="-285750">
              <a:buFont typeface="Arial" panose="020B0604020202020204" pitchFamily="34" charset="0"/>
              <a:buChar char="•"/>
            </a:pPr>
            <a:r>
              <a:rPr lang="en-CA" dirty="0"/>
              <a:t>Optimize an index: separation of groups, anomalies</a:t>
            </a:r>
            <a:endParaRPr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Added-variable plots</a:t>
            </a: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828800"/>
            <a:ext cx="5120640" cy="3657600"/>
          </a:xfrm>
          <a:prstGeom prst="rect">
            <a:avLst/>
          </a:prstGeom>
        </p:spPr>
      </p:pic>
      <p:pic>
        <p:nvPicPr>
          <p:cNvPr id="4" name="Picture 3" descr="fig-peng-ggplot-out-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Squared Mahalanobis distances against chi-square quantiles. We will meet these birds again.</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sp>
        <p:nvSpPr>
          <p:cNvPr id="7" name="TextBox 6">
            <a:extLst>
              <a:ext uri="{FF2B5EF4-FFF2-40B4-BE49-F238E27FC236}">
                <a16:creationId xmlns:a16="http://schemas.microsoft.com/office/drawing/2014/main" id="{FB358BA3-F292-4081-E9FB-0C466F3C6D1E}"/>
              </a:ext>
            </a:extLst>
          </p:cNvPr>
          <p:cNvSpPr txBox="1"/>
          <p:nvPr/>
        </p:nvSpPr>
        <p:spPr>
          <a:xfrm>
            <a:off x="10610357" y="2713703"/>
            <a:ext cx="740395" cy="307777"/>
          </a:xfrm>
          <a:prstGeom prst="rect">
            <a:avLst/>
          </a:prstGeom>
          <a:noFill/>
        </p:spPr>
        <p:txBody>
          <a:bodyPr wrap="none" rtlCol="0">
            <a:spAutoFit/>
          </a:bodyPr>
          <a:lstStyle/>
          <a:p>
            <a:r>
              <a:rPr lang="en-CA" sz="1400" dirty="0"/>
              <a:t>Cyrano</a:t>
            </a:r>
          </a:p>
        </p:txBody>
      </p:sp>
      <p:sp>
        <p:nvSpPr>
          <p:cNvPr id="9" name="TextBox 8">
            <a:extLst>
              <a:ext uri="{FF2B5EF4-FFF2-40B4-BE49-F238E27FC236}">
                <a16:creationId xmlns:a16="http://schemas.microsoft.com/office/drawing/2014/main" id="{D6554C26-2543-8F04-4FC4-10FCF38BD90E}"/>
              </a:ext>
            </a:extLst>
          </p:cNvPr>
          <p:cNvSpPr txBox="1"/>
          <p:nvPr/>
        </p:nvSpPr>
        <p:spPr>
          <a:xfrm>
            <a:off x="6751196" y="2130740"/>
            <a:ext cx="1042273" cy="307777"/>
          </a:xfrm>
          <a:prstGeom prst="rect">
            <a:avLst/>
          </a:prstGeom>
          <a:noFill/>
        </p:spPr>
        <p:txBody>
          <a:bodyPr wrap="none" rtlCol="0">
            <a:spAutoFit/>
          </a:bodyPr>
          <a:lstStyle/>
          <a:p>
            <a:r>
              <a:rPr lang="en-CA" sz="1400" dirty="0"/>
              <a:t>Hook Nose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25</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05000" y="457200"/>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26</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2286000" y="6096001"/>
            <a:ext cx="7467600"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27</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76606" y="1143003"/>
            <a:ext cx="4420953" cy="4478572"/>
          </a:xfrm>
          <a:prstGeom prst="rect">
            <a:avLst/>
          </a:prstGeom>
        </p:spPr>
      </p:pic>
      <p:sp>
        <p:nvSpPr>
          <p:cNvPr id="3" name="TextBox 2"/>
          <p:cNvSpPr txBox="1"/>
          <p:nvPr/>
        </p:nvSpPr>
        <p:spPr>
          <a:xfrm>
            <a:off x="7948612" y="1219200"/>
            <a:ext cx="3733800" cy="1554272"/>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8005354" y="4648200"/>
            <a:ext cx="3677058" cy="1754326"/>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spTree>
    <p:extLst>
      <p:ext uri="{BB962C8B-B14F-4D97-AF65-F5344CB8AC3E}">
        <p14:creationId xmlns:p14="http://schemas.microsoft.com/office/powerpoint/2010/main" val="19636508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Adding measurement error</a:t>
            </a:r>
          </a:p>
        </p:txBody>
      </p:sp>
      <p:sp>
        <p:nvSpPr>
          <p:cNvPr id="4" name="Content Placeholder 3"/>
          <p:cNvSpPr>
            <a:spLocks noGrp="1"/>
          </p:cNvSpPr>
          <p:nvPr>
            <p:ph idx="1"/>
          </p:nvPr>
        </p:nvSpPr>
        <p:spPr>
          <a:xfrm>
            <a:off x="3505200" y="1143000"/>
            <a:ext cx="8229600" cy="1143000"/>
          </a:xfrm>
        </p:spPr>
        <p:txBody>
          <a:bodyPr>
            <a:normAutofit fontScale="92500"/>
          </a:bodyPr>
          <a:lstStyle/>
          <a:p>
            <a:r>
              <a:rPr lang="en-US" sz="2000" dirty="0"/>
              <a:t>Measurement error in Heart (y) decreases precision, but does not add bias</a:t>
            </a:r>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 </a:t>
            </a:r>
            <a:r>
              <a:rPr lang="en-US" sz="2000" dirty="0"/>
              <a:t>&amp; </a:t>
            </a:r>
            <a:r>
              <a:rPr lang="en-US" sz="2000" dirty="0">
                <a:solidFill>
                  <a:srgbClr val="FF0000"/>
                </a:solidFill>
              </a:rPr>
              <a:t>decreases</a:t>
            </a:r>
            <a:r>
              <a:rPr lang="en-US" sz="2000" dirty="0"/>
              <a:t> </a:t>
            </a:r>
            <a:r>
              <a:rPr lang="en-US" sz="2000" dirty="0">
                <a:solidFill>
                  <a:srgbClr val="FF0000"/>
                </a:solidFill>
              </a:rPr>
              <a:t>precision</a:t>
            </a:r>
            <a:r>
              <a:rPr lang="en-US" sz="2000" dirty="0"/>
              <a:t> </a:t>
            </a:r>
          </a:p>
        </p:txBody>
      </p:sp>
      <p:sp>
        <p:nvSpPr>
          <p:cNvPr id="3" name="Slide Number Placeholder 2"/>
          <p:cNvSpPr>
            <a:spLocks noGrp="1"/>
          </p:cNvSpPr>
          <p:nvPr>
            <p:ph type="sldNum" sz="quarter" idx="12"/>
          </p:nvPr>
        </p:nvSpPr>
        <p:spPr/>
        <p:txBody>
          <a:bodyPr/>
          <a:lstStyle/>
          <a:p>
            <a:fld id="{621225AB-15B9-4C79-A121-04D1DC7E2307}" type="slidenum">
              <a:rPr lang="en-US" smtClean="0"/>
              <a:t>28</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57601" y="2438401"/>
            <a:ext cx="3834765" cy="3834765"/>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48601" y="2438400"/>
            <a:ext cx="3834765" cy="382905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β</a:t>
            </a:r>
            <a:r>
              <a:rPr lang="en-US" baseline="-25000" dirty="0"/>
              <a:t>1</a:t>
            </a:r>
            <a:r>
              <a:rPr lang="en-US" dirty="0"/>
              <a:t>,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463822" y="1643063"/>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in this case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29</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953911" y="1643063"/>
            <a:ext cx="4038600" cy="4026580"/>
          </a:xfrm>
        </p:spPr>
      </p:pic>
    </p:spTree>
    <p:extLst>
      <p:ext uri="{BB962C8B-B14F-4D97-AF65-F5344CB8AC3E}">
        <p14:creationId xmlns:p14="http://schemas.microsoft.com/office/powerpoint/2010/main" val="33486278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Measurement error biases more than one coefficient</a:t>
            </a:r>
          </a:p>
        </p:txBody>
      </p:sp>
      <p:pic>
        <p:nvPicPr>
          <p:cNvPr id="3" name="Picture 2" descr="coffee-measerr.png"/>
          <p:cNvPicPr>
            <a:picLocks noChangeAspect="1"/>
          </p:cNvPicPr>
          <p:nvPr/>
        </p:nvPicPr>
        <p:blipFill>
          <a:blip r:embed="rId3"/>
          <a:stretch>
            <a:fillRect/>
          </a:stretch>
        </p:blipFill>
        <p:spPr>
          <a:xfrm>
            <a:off x="4133088" y="1691640"/>
            <a:ext cx="393192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Error in one predictor attenuates its own coefficient and distorts those of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space and beta space are dual</a:t>
            </a:r>
          </a:p>
        </p:txBody>
      </p:sp>
      <p:pic>
        <p:nvPicPr>
          <p:cNvPr id="3" name="Picture 2" descr="coffee-data-beta-both.png"/>
          <p:cNvPicPr>
            <a:picLocks noChangeAspect="1"/>
          </p:cNvPicPr>
          <p:nvPr/>
        </p:nvPicPr>
        <p:blipFill>
          <a:blip r:embed="rId3"/>
          <a:stretch>
            <a:fillRect/>
          </a:stretch>
        </p:blipFill>
        <p:spPr>
          <a:xfrm>
            <a:off x="1967636" y="1691640"/>
            <a:ext cx="8262823"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The confidence ellipse for the coefficients is the inverse of the data ellipse of the predictors.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Added-variable plots show partial relationships</a:t>
            </a:r>
          </a:p>
        </p:txBody>
      </p:sp>
      <p:pic>
        <p:nvPicPr>
          <p:cNvPr id="3" name="Picture 2" descr="fig-coffee-mcplot-1.png"/>
          <p:cNvPicPr>
            <a:picLocks noChangeAspect="1"/>
          </p:cNvPicPr>
          <p:nvPr/>
        </p:nvPicPr>
        <p:blipFill>
          <a:blip r:embed="rId3"/>
          <a:stretch>
            <a:fillRect/>
          </a:stretch>
        </p:blipFill>
        <p:spPr>
          <a:xfrm>
            <a:off x="2728830" y="1691640"/>
            <a:ext cx="6740434"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Coffee, stress and heart damage: the marginal and the partial slope for coffee have opposite signs.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Leverage and influence</a:t>
            </a:r>
          </a:p>
        </p:txBody>
      </p:sp>
      <p:sp>
        <p:nvSpPr>
          <p:cNvPr id="3" name="Content Placeholder 2"/>
          <p:cNvSpPr>
            <a:spLocks noGrp="1"/>
          </p:cNvSpPr>
          <p:nvPr>
            <p:ph sz="half" idx="1"/>
          </p:nvPr>
        </p:nvSpPr>
        <p:spPr/>
        <p:txBody>
          <a:bodyPr/>
          <a:lstStyle/>
          <a:p>
            <a:r>
              <a:t>Leverage: unusual in the predictors</a:t>
            </a:r>
          </a:p>
          <a:p>
            <a:r>
              <a:t>Outlier: a large residual</a:t>
            </a:r>
          </a:p>
          <a:p>
            <a:r>
              <a:t>Influence = leverage x residual</a:t>
            </a:r>
          </a:p>
          <a:p>
            <a:r>
              <a:t>Bubble size: Cook's distance</a:t>
            </a:r>
          </a:p>
        </p:txBody>
      </p:sp>
      <p:pic>
        <p:nvPicPr>
          <p:cNvPr id="4" name="Picture 3" descr="fig-duncan-infl-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observations drive the fit?</a:t>
            </a:r>
          </a:p>
        </p:txBody>
      </p:sp>
      <p:pic>
        <p:nvPicPr>
          <p:cNvPr id="3" name="Picture 2" descr="duncan-av-influenc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Green: the residuals for minister and conductor. Red: the fitted line with those two cases omitted.</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35</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4406379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narrow data, inflated uncertainty</a:t>
            </a:r>
          </a:p>
        </p:txBody>
      </p:sp>
      <p:pic>
        <p:nvPicPr>
          <p:cNvPr id="3" name="Picture 2" descr="fig-collin-data-beta-1.png"/>
          <p:cNvPicPr>
            <a:picLocks noChangeAspect="1"/>
          </p:cNvPicPr>
          <p:nvPr/>
        </p:nvPicPr>
        <p:blipFill>
          <a:blip r:embed="rId3"/>
          <a:stretch>
            <a:fillRect/>
          </a:stretch>
        </p:blipFill>
        <p:spPr>
          <a:xfrm>
            <a:off x="3346704" y="1691640"/>
            <a:ext cx="550468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As the predictors become more correlated, the data ellipse narrows and the confidence ellipse balloons.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Where's Waldo? Collinearity lives in the smallest dimensions</a:t>
            </a:r>
          </a:p>
        </p:txBody>
      </p:sp>
      <p:pic>
        <p:nvPicPr>
          <p:cNvPr id="3" name="Picture 2" descr="fig-cars-tableplot-1.png"/>
          <p:cNvPicPr>
            <a:picLocks noChangeAspect="1"/>
          </p:cNvPicPr>
          <p:nvPr/>
        </p:nvPicPr>
        <p:blipFill>
          <a:blip r:embed="rId3"/>
          <a:stretch>
            <a:fillRect/>
          </a:stretch>
        </p:blipFill>
        <p:spPr>
          <a:xfrm>
            <a:off x="841248" y="1828800"/>
            <a:ext cx="5120640" cy="3657600"/>
          </a:xfrm>
          <a:prstGeom prst="rect">
            <a:avLst/>
          </a:prstGeom>
        </p:spPr>
      </p:pic>
      <p:pic>
        <p:nvPicPr>
          <p:cNvPr id="4" name="Picture 3" descr="fig-cars-collin-biplot-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Tableplot of condition indices and variance proportions; biplot of the two smallest dimensions (Cars data).</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40</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the t-test to Hotelling's 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9601200" y="274638"/>
            <a:ext cx="213360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44</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3234310"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6322921"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7772401"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5903821"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7476601"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3860908"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5591011"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692364"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608288"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HE plots: is the effect significant, and how?</a:t>
            </a:r>
          </a:p>
        </p:txBody>
      </p:sp>
      <p:pic>
        <p:nvPicPr>
          <p:cNvPr id="3" name="Picture 2" descr="fig-iris-HE1-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369332"/>
          </a:xfrm>
          <a:prstGeom prst="rect">
            <a:avLst/>
          </a:prstGeom>
          <a:noFill/>
        </p:spPr>
        <p:txBody>
          <a:bodyPr wrap="square">
            <a:spAutoFit/>
          </a:bodyPr>
          <a:lstStyle/>
          <a:p>
            <a:r>
              <a:rPr sz="1800" dirty="0"/>
              <a:t>With </a:t>
            </a:r>
            <a:r>
              <a:rPr sz="1800" b="1" dirty="0"/>
              <a:t>significance</a:t>
            </a:r>
            <a:r>
              <a:rPr sz="1800" dirty="0"/>
              <a:t> scaling, an H ellipse that projects outside E signals a significant effect (Roy's test).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12.5</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Contrasts and linear hypotheses</a:t>
            </a:r>
          </a:p>
        </p:txBody>
      </p:sp>
      <p:sp>
        <p:nvSpPr>
          <p:cNvPr id="3" name="Content Placeholder 2"/>
          <p:cNvSpPr>
            <a:spLocks noGrp="1"/>
          </p:cNvSpPr>
          <p:nvPr>
            <p:ph sz="half" idx="1"/>
          </p:nvPr>
        </p:nvSpPr>
        <p:spPr/>
        <p:txBody>
          <a:bodyPr/>
          <a:lstStyle/>
          <a:p>
            <a:r>
              <a:t>Any linear hypothesis has its own H</a:t>
            </a:r>
          </a:p>
          <a:p>
            <a:r>
              <a:t>A 1 df hypothesis is a line</a:t>
            </a:r>
          </a:p>
          <a:p>
            <a:r>
              <a:t>Contrasts decompose the overall effect</a:t>
            </a:r>
          </a:p>
        </p:txBody>
      </p:sp>
      <p:pic>
        <p:nvPicPr>
          <p:cNvPr id="4" name="Picture 3" descr="fig-iris-contrast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12.7</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HE plot matrices: all pairs of responses</a:t>
            </a:r>
          </a:p>
        </p:txBody>
      </p:sp>
      <p:sp>
        <p:nvSpPr>
          <p:cNvPr id="3" name="Content Placeholder 2"/>
          <p:cNvSpPr>
            <a:spLocks noGrp="1"/>
          </p:cNvSpPr>
          <p:nvPr>
            <p:ph sz="half" idx="1"/>
          </p:nvPr>
        </p:nvSpPr>
        <p:spPr/>
        <p:txBody>
          <a:bodyPr/>
          <a:lstStyle/>
          <a:p>
            <a:r>
              <a:t>The analog of a scatterplot matrix for a multivariate model</a:t>
            </a:r>
          </a:p>
          <a:p>
            <a:r>
              <a:t>One HE plot for each pair of responses</a:t>
            </a:r>
          </a:p>
        </p:txBody>
      </p:sp>
      <p:pic>
        <p:nvPicPr>
          <p:cNvPr id="4" name="Picture 3" descr="fig-iris-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12.8</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lstStyle/>
          <a:p>
            <a:r>
              <a:t>School data: reading and mathematics scores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926080"/>
          </a:xfrm>
          <a:prstGeom prst="rect">
            <a:avLst/>
          </a:prstGeom>
          <a:noFill/>
        </p:spPr>
        <p:txBody>
          <a:bodyPr wrap="square">
            <a:spAutoFit/>
          </a:bodyPr>
          <a:lstStyle/>
          <a:p>
            <a:r>
              <a:rPr sz="2400"/>
              <a:t>PCA is a rotation of the axes: PC1 lies along the direction of greatest variance, PC2 is orthogonal to it.</a:t>
            </a:r>
          </a:p>
          <a:p>
            <a:pPr>
              <a:spcBef>
                <a:spcPts val="1800"/>
              </a:spcBef>
            </a:pPr>
            <a:r>
              <a:rPr sz="2400" b="0"/>
              <a:t>Outliers typically appear on the </a:t>
            </a:r>
            <a:r>
              <a:rPr sz="2400" b="1"/>
              <a:t>smallest</a:t>
            </a:r>
            <a:r>
              <a:rPr sz="2400" b="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59</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circle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views: the space where the groups differ most</a:t>
            </a:r>
          </a:p>
        </p:txBody>
      </p:sp>
      <p:sp>
        <p:nvSpPr>
          <p:cNvPr id="3" name="Content Placeholder 2"/>
          <p:cNvSpPr>
            <a:spLocks noGrp="1"/>
          </p:cNvSpPr>
          <p:nvPr>
            <p:ph sz="half" idx="1"/>
          </p:nvPr>
        </p:nvSpPr>
        <p:spPr/>
        <p:txBody>
          <a:bodyPr/>
          <a:lstStyle/>
          <a:p>
            <a:r>
              <a:t>Canonical discriminant analysis: a PCA of H relative to E</a:t>
            </a:r>
          </a:p>
          <a:p>
            <a:r>
              <a:t>E becomes a circle</a:t>
            </a:r>
          </a:p>
          <a:p>
            <a:r>
              <a:t>Variable vectors show what each dimension means</a:t>
            </a:r>
          </a:p>
        </p:txBody>
      </p:sp>
      <p:pic>
        <p:nvPicPr>
          <p:cNvPr id="4" name="Picture 3" descr="fig-iris-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12.10</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1981200" y="1143000"/>
                <a:ext cx="8229600" cy="1752600"/>
              </a:xfrm>
            </p:spPr>
            <p:txBody>
              <a:bodyPr>
                <a:normAutofit fontScale="92500" lnSpcReduction="20000"/>
              </a:bodyPr>
              <a:lstStyle/>
              <a:p>
                <a:r>
                  <a:rPr lang="en-CA" sz="2000" dirty="0"/>
                  <a:t>As with the biplot, we can visualize MLM for all responses by projecting H and E into low-rank space</a:t>
                </a:r>
              </a:p>
              <a:p>
                <a:r>
                  <a:rPr lang="en-CA" sz="2000" dirty="0"/>
                  <a:t>Canonical projection: </a:t>
                </a:r>
                <a14:m>
                  <m:oMath xmlns:m="http://schemas.openxmlformats.org/officeDocument/2006/math">
                    <m:r>
                      <a:rPr lang="en-CA" sz="2000" b="1" i="1">
                        <a:latin typeface="Cambria Math" panose="02040503050406030204" pitchFamily="18" charset="0"/>
                      </a:rPr>
                      <m:t>𝒀</m:t>
                    </m:r>
                    <m:r>
                      <a:rPr lang="en-CA" sz="2000" i="1">
                        <a:latin typeface="Cambria Math" panose="02040503050406030204" pitchFamily="18" charset="0"/>
                        <a:ea typeface="Cambria Math" panose="02040503050406030204" pitchFamily="18" charset="0"/>
                      </a:rPr>
                      <m:t>→</m:t>
                    </m:r>
                    <m:r>
                      <a:rPr lang="en-CA" sz="2000" b="1" i="1">
                        <a:latin typeface="Cambria Math" panose="02040503050406030204" pitchFamily="18" charset="0"/>
                        <a:ea typeface="Cambria Math" panose="02040503050406030204" pitchFamily="18" charset="0"/>
                      </a:rPr>
                      <m:t>𝒁</m:t>
                    </m:r>
                    <m:r>
                      <a:rPr lang="en-CA" sz="2000" i="1">
                        <a:latin typeface="Cambria Math" panose="02040503050406030204" pitchFamily="18" charset="0"/>
                        <a:ea typeface="Cambria Math" panose="02040503050406030204" pitchFamily="18" charset="0"/>
                      </a:rPr>
                      <m:t>=</m:t>
                    </m:r>
                    <m:r>
                      <a:rPr lang="en-CA" sz="2000" b="1" i="1">
                        <a:latin typeface="Cambria Math" panose="02040503050406030204" pitchFamily="18" charset="0"/>
                        <a:ea typeface="Cambria Math" panose="02040503050406030204" pitchFamily="18" charset="0"/>
                      </a:rPr>
                      <m:t>𝒀</m:t>
                    </m:r>
                    <m:sSup>
                      <m:sSupPr>
                        <m:ctrlPr>
                          <a:rPr lang="en-CA" sz="2000" b="1" i="1">
                            <a:latin typeface="Cambria Math" panose="02040503050406030204" pitchFamily="18" charset="0"/>
                            <a:ea typeface="Cambria Math" panose="02040503050406030204" pitchFamily="18" charset="0"/>
                          </a:rPr>
                        </m:ctrlPr>
                      </m:sSupPr>
                      <m:e>
                        <m:r>
                          <a:rPr lang="en-CA" sz="2000" b="1" i="1">
                            <a:latin typeface="Cambria Math" panose="02040503050406030204" pitchFamily="18" charset="0"/>
                            <a:ea typeface="Cambria Math" panose="02040503050406030204" pitchFamily="18" charset="0"/>
                          </a:rPr>
                          <m:t>𝑬</m:t>
                        </m:r>
                      </m:e>
                      <m:sup>
                        <m:r>
                          <a:rPr lang="en-CA" sz="2000" i="1">
                            <a:latin typeface="Cambria Math" panose="02040503050406030204" pitchFamily="18" charset="0"/>
                            <a:ea typeface="Cambria Math" panose="02040503050406030204" pitchFamily="18" charset="0"/>
                          </a:rPr>
                          <m:t>−1/2</m:t>
                        </m:r>
                      </m:sup>
                    </m:sSup>
                    <m:r>
                      <a:rPr lang="en-CA" sz="2000" b="1">
                        <a:latin typeface="Cambria Math" panose="02040503050406030204" pitchFamily="18" charset="0"/>
                        <a:ea typeface="Cambria Math" panose="02040503050406030204" pitchFamily="18" charset="0"/>
                      </a:rPr>
                      <m:t>𝐕</m:t>
                    </m:r>
                  </m:oMath>
                </a14:m>
                <a:r>
                  <a:rPr lang="en-CA" sz="2000" dirty="0"/>
                  <a:t> where </a:t>
                </a:r>
                <a:r>
                  <a:rPr lang="en-CA" sz="2000" b="1" dirty="0"/>
                  <a:t>V</a:t>
                </a:r>
                <a:r>
                  <a:rPr lang="en-CA" sz="2000" dirty="0"/>
                  <a:t> = eigenvectors of HE</a:t>
                </a:r>
                <a:r>
                  <a:rPr lang="en-CA" sz="20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1981200" y="1143000"/>
                <a:ext cx="8229600" cy="1752600"/>
              </a:xfrm>
              <a:blipFill>
                <a:blip r:embed="rId3"/>
                <a:stretch>
                  <a:fillRect l="-519" t="-5923" b="-3484"/>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61</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3657600" y="2992864"/>
            <a:ext cx="3848098" cy="3383278"/>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7924800" y="2992864"/>
            <a:ext cx="3848098" cy="33528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Linear discriminant analysis: the main ideas</a:t>
            </a:r>
          </a:p>
        </p:txBody>
      </p:sp>
      <p:pic>
        <p:nvPicPr>
          <p:cNvPr id="3" name="Picture 2" descr="discrim-demo-both.jpg"/>
          <p:cNvPicPr>
            <a:picLocks noChangeAspect="1"/>
          </p:cNvPicPr>
          <p:nvPr/>
        </p:nvPicPr>
        <p:blipFill>
          <a:blip r:embed="rId3"/>
          <a:stretch>
            <a:fillRect/>
          </a:stretch>
        </p:blipFill>
        <p:spPr>
          <a:xfrm>
            <a:off x="841248" y="1417320"/>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t-SNE separates the Diabetes groups more cleanly, but distances and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2862322"/>
          </a:xfrm>
          <a:prstGeom prst="rect">
            <a:avLst/>
          </a:prstGeom>
          <a:noFill/>
        </p:spPr>
        <p:txBody>
          <a:bodyPr wrap="square" rtlCol="0">
            <a:spAutoFit/>
          </a:bodyPr>
          <a:lstStyle/>
          <a:p>
            <a:r>
              <a:rPr lang="en-CA" dirty="0"/>
              <a:t>We can better understand algorithms visually by animating a </a:t>
            </a:r>
            <a:r>
              <a:rPr lang="en-CA" b="1" dirty="0"/>
              <a:t>smooth interpolation </a:t>
            </a:r>
            <a:r>
              <a:rPr lang="en-CA" dirty="0"/>
              <a:t>from one to another</a:t>
            </a:r>
          </a:p>
          <a:p>
            <a:endParaRPr lang="en-CA" dirty="0"/>
          </a:p>
          <a:p>
            <a:r>
              <a:rPr lang="en-CA" dirty="0"/>
              <a:t>Here, the PCA configuration morphs into the t-SNE one largely by a rotation.</a:t>
            </a:r>
          </a:p>
          <a:p>
            <a:endParaRPr lang="en-CA" dirty="0"/>
          </a:p>
          <a:p>
            <a:r>
              <a:rPr lang="en-CA" dirty="0"/>
              <a:t>But t-SNE achieves wider separation among groups</a:t>
            </a:r>
          </a:p>
          <a:p>
            <a:r>
              <a:rPr lang="en-CA" dirty="0"/>
              <a:t>The data ellipses here carry the visual message.</a:t>
            </a:r>
          </a:p>
          <a:p>
            <a:endParaRPr lang="en-CA"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Application: how many dimensions is the Mona Lisa?</a:t>
            </a:r>
          </a:p>
        </p:txBody>
      </p:sp>
      <p:pic>
        <p:nvPicPr>
          <p:cNvPr id="3" name="Picture 2" descr="mona-pca.png"/>
          <p:cNvPicPr>
            <a:picLocks noChangeAspect="1"/>
          </p:cNvPicPr>
          <p:nvPr/>
        </p:nvPicPr>
        <p:blipFill>
          <a:blip r:embed="rId3"/>
          <a:stretch>
            <a:fillRect/>
          </a:stretch>
        </p:blipFill>
        <p:spPr>
          <a:xfrm>
            <a:off x="4740983" y="1691640"/>
            <a:ext cx="271612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Reconstructions from a few principal components: image compression as dimension reduction.</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5.33</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what is typical</a:t>
            </a:r>
          </a:p>
          <a:p>
            <a:r>
              <a:rPr dirty="0"/>
              <a:t>The last dimensions show what does not fit the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endParaRPr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noFill/>
        </p:spPr>
        <p:txBody>
          <a:bodyPr wrap="square" rtlCol="0">
            <a:spAutoFit/>
          </a:bodyPr>
          <a:lstStyle/>
          <a:p>
            <a:pPr algn="ctr"/>
            <a:r>
              <a:rPr lang="en-CA" sz="1600" dirty="0">
                <a:solidFill>
                  <a:schemeClr val="accent5">
                    <a:lumMod val="75000"/>
                  </a:schemeClr>
                </a:solidFill>
              </a:rPr>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69593"/>
            <a:ext cx="1155032" cy="338554"/>
          </a:xfrm>
          <a:prstGeom prst="rect">
            <a:avLst/>
          </a:prstGeom>
          <a:noFill/>
        </p:spPr>
        <p:txBody>
          <a:bodyPr wrap="square" rtlCol="0">
            <a:spAutoFit/>
          </a:bodyPr>
          <a:lstStyle/>
          <a:p>
            <a:pPr algn="ctr"/>
            <a:r>
              <a:rPr lang="en-CA" sz="1600" dirty="0">
                <a:solidFill>
                  <a:srgbClr val="FF0000"/>
                </a:solidFill>
              </a:rPr>
              <a:t>Hook Nose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distance plot: outliers and leverage, multivariately</a:t>
            </a:r>
          </a:p>
        </p:txBody>
      </p:sp>
      <p:sp>
        <p:nvSpPr>
          <p:cNvPr id="3" name="Content Placeholder 2"/>
          <p:cNvSpPr>
            <a:spLocks noGrp="1"/>
          </p:cNvSpPr>
          <p:nvPr>
            <p:ph sz="half" idx="1"/>
          </p:nvPr>
        </p:nvSpPr>
        <p:spPr/>
        <p:txBody>
          <a:bodyPr/>
          <a:lstStyle/>
          <a:p>
            <a:r>
              <a:t>Vertical: Mahalanobis distance of the residuals</a:t>
            </a:r>
          </a:p>
          <a:p>
            <a:r>
              <a:t>Horizontal: Mahalanobis distance of the predictors</a:t>
            </a:r>
          </a:p>
          <a:p>
            <a:r>
              <a:t>The multivariate analog of residuals vs. leverage</a:t>
            </a:r>
          </a:p>
        </p:txBody>
      </p:sp>
      <p:pic>
        <p:nvPicPr>
          <p:cNvPr id="4" name="Picture 3" descr="fig-school-distplot-1.png"/>
          <p:cNvPicPr>
            <a:picLocks noChangeAspect="1"/>
          </p:cNvPicPr>
          <p:nvPr/>
        </p:nvPicPr>
        <p:blipFill>
          <a:blip r:embed="rId3"/>
          <a:stretch>
            <a:fillRect/>
          </a:stretch>
        </p:blipFill>
        <p:spPr>
          <a:xfrm>
            <a:off x="6172200" y="2033397"/>
            <a:ext cx="5184648" cy="388848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Mysterious Case 9</a:t>
            </a:r>
          </a:p>
        </p:txBody>
      </p:sp>
      <p:pic>
        <p:nvPicPr>
          <p:cNvPr id="3" name="Picture 2" descr="fig-toy-inflplots-1.png"/>
          <p:cNvPicPr>
            <a:picLocks noChangeAspect="1"/>
          </p:cNvPicPr>
          <p:nvPr/>
        </p:nvPicPr>
        <p:blipFill>
          <a:blip r:embed="rId3"/>
          <a:stretch>
            <a:fillRect/>
          </a:stretch>
        </p:blipFill>
        <p:spPr>
          <a:xfrm>
            <a:off x="841248" y="2377440"/>
            <a:ext cx="5120640" cy="2560320"/>
          </a:xfrm>
          <a:prstGeom prst="rect">
            <a:avLst/>
          </a:prstGeom>
        </p:spPr>
      </p:pic>
      <p:pic>
        <p:nvPicPr>
          <p:cNvPr id="4" name="Picture 3" descr="fig-toy-inflplot-mlm-stres-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Harmless in each univariate model (left), yet wildly influential in the multivariate model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14.2, 14.3</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Influence in the penguin model</a:t>
            </a:r>
          </a:p>
        </p:txBody>
      </p:sp>
      <p:sp>
        <p:nvSpPr>
          <p:cNvPr id="3" name="Content Placeholder 2"/>
          <p:cNvSpPr>
            <a:spLocks noGrp="1"/>
          </p:cNvSpPr>
          <p:nvPr>
            <p:ph sz="half" idx="1"/>
          </p:nvPr>
        </p:nvSpPr>
        <p:spPr/>
        <p:txBody>
          <a:bodyPr/>
          <a:lstStyle/>
          <a:p>
            <a:r>
              <a:t>Multivariate influence plot (mvinfluence package)</a:t>
            </a:r>
          </a:p>
          <a:p>
            <a:r>
              <a:t>The most influential case is our Chinstrap friend 'Cyrano'</a:t>
            </a:r>
          </a:p>
          <a:p>
            <a:r>
              <a:t>'Hook Nose', an Adélie, is among the others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p>
          <a:p>
            <a:r>
              <a:rPr dirty="0"/>
              <a:t>Low-</a:t>
            </a:r>
            <a:r>
              <a:rPr lang="en-CA"/>
              <a:t>D</a:t>
            </a:r>
            <a:r>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github.com/</a:t>
            </a:r>
            <a:r>
              <a:rPr dirty="0" err="1"/>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3660</TotalTime>
  <Words>5606</Words>
  <Application>Microsoft Office PowerPoint</Application>
  <PresentationFormat>Widescreen</PresentationFormat>
  <Paragraphs>538</Paragraphs>
  <Slides>88</Slides>
  <Notes>80</Notes>
  <HiddenSlides>14</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88</vt:i4>
      </vt:variant>
    </vt:vector>
  </HeadingPairs>
  <TitlesOfParts>
    <vt:vector size="97" baseType="lpstr">
      <vt:lpstr>Aptos</vt:lpstr>
      <vt:lpstr>Aptos Display</vt:lpstr>
      <vt:lpstr>Arial</vt:lpstr>
      <vt:lpstr>Cambria Math</vt:lpstr>
      <vt:lpstr>Courier New</vt:lpstr>
      <vt:lpstr>Symbol</vt:lpstr>
      <vt:lpstr>Wingdings</vt:lpstr>
      <vt:lpstr>Office Theme</vt:lpstr>
      <vt:lpstr>Equation</vt:lpstr>
      <vt:lpstr>Visualizing Multivariate Data and Models in R</vt:lpstr>
      <vt:lpstr>The book</vt:lpstr>
      <vt:lpstr>Key features of the book</vt:lpstr>
      <vt:lpstr>R packages</vt:lpstr>
      <vt:lpstr>Where we are going</vt:lpstr>
      <vt:lpstr>Why a romance in many dimensions?</vt:lpstr>
      <vt:lpstr>Flatland: we only ever see 2D projections</vt:lpstr>
      <vt:lpstr>EUREKA! Structure can hide in many dimensions</vt:lpstr>
      <vt:lpstr>A multivariate discovery: kinds of diabetes</vt:lpstr>
      <vt:lpstr>The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Simpson's paradox: marginal &amp; conditional relations</vt:lpstr>
      <vt:lpstr>How to visualize p &gt; 2 variables in Flatland? Scatterplot matrices: all pairs at once</vt:lpstr>
      <vt:lpstr>Visual thinning: show less to see more Effect order: order variables to see what you want to show </vt:lpstr>
      <vt:lpstr>Parallel coordinates: one line per penguin</vt:lpstr>
      <vt:lpstr>Animated tours: moving through projections</vt:lpstr>
      <vt:lpstr>Elliptical Insights</vt:lpstr>
      <vt:lpstr>Multivariate outliers: which penguins are unusual?</vt:lpstr>
      <vt:lpstr>Outlier detection: Waar is Wally?</vt:lpstr>
      <vt:lpstr>Elliptical insights: Measurement error</vt:lpstr>
      <vt:lpstr>Coffee, stress and heart disease</vt:lpstr>
      <vt:lpstr>Adding measurement error</vt:lpstr>
      <vt:lpstr>Measurement error: β1, β2</vt:lpstr>
      <vt:lpstr>Measurement error biases more than one coefficient</vt:lpstr>
      <vt:lpstr>Data space and beta space are dual</vt:lpstr>
      <vt:lpstr>Added-variable plots show partial relationships</vt:lpstr>
      <vt:lpstr>Leverage and influence</vt:lpstr>
      <vt:lpstr>Which observations drive the fit?</vt:lpstr>
      <vt:lpstr>Bias vs. Precision tradeoff</vt:lpstr>
      <vt:lpstr>Collinearity: narrow data, inflated uncertainty</vt:lpstr>
      <vt:lpstr>Where's Waldo? Collinearity lives in the smallest dimensions</vt:lpstr>
      <vt:lpstr>Ridge regression: shrink to gain precision</vt:lpstr>
      <vt:lpstr>The usual ridge trace shows only the estimates</vt:lpstr>
      <vt:lpstr>Generalized ridge trace plots</vt:lpstr>
      <vt:lpstr>A low-rank view of ridge regression</vt:lpstr>
      <vt:lpstr>The HE plot framework</vt:lpstr>
      <vt:lpstr>From the t-test to Hotelling's T²</vt:lpstr>
      <vt:lpstr>HE plots: Visual overview</vt:lpstr>
      <vt:lpstr>Data  Data ellipses  HE plot</vt:lpstr>
      <vt:lpstr>The H ellipse</vt:lpstr>
      <vt:lpstr>The E ellipse</vt:lpstr>
      <vt:lpstr>The Hypothesis-Error plot framework</vt:lpstr>
      <vt:lpstr>MANOVA: the same sums of squares, now as matrices</vt:lpstr>
      <vt:lpstr>HE plots: is the effect significant, and how?</vt:lpstr>
      <vt:lpstr>Contrasts and linear hypotheses</vt:lpstr>
      <vt:lpstr>HE plot matrices: all pairs of responses</vt:lpstr>
      <vt:lpstr>Quantitative predictors: each effect is a line</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Canonical views: the space where the groups differ most</vt:lpstr>
      <vt:lpstr>Canonical discriminant plots: The MANOVA juicer</vt:lpstr>
      <vt:lpstr>Linear discriminant analysis: the main ideas</vt:lpstr>
      <vt:lpstr>Prediction regions in data space</vt:lpstr>
      <vt:lpstr>Prediction regions in discriminant space</vt:lpstr>
      <vt:lpstr>When a linear view is not enough: PCA vs t-SNE</vt:lpstr>
      <vt:lpstr>From PCA to t-SNE, animated</vt:lpstr>
      <vt:lpstr>Application: effect ordering variables in displays</vt:lpstr>
      <vt:lpstr>Application: how many dimensions is the Mona Lisa?</vt:lpstr>
      <vt:lpstr>Outliers hide in the smallest dimensions</vt:lpstr>
      <vt:lpstr>Checking multivariate models</vt:lpstr>
      <vt:lpstr>The distance plot: outliers and leverage, multivariately</vt:lpstr>
      <vt:lpstr>The Mysterious Case 9</vt:lpstr>
      <vt:lpstr>Influence in the penguin model</vt:lpstr>
      <vt:lpstr>Robust MLMs: down-weight what does not fit</vt:lpstr>
      <vt:lpstr>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26</cp:revision>
  <dcterms:created xsi:type="dcterms:W3CDTF">2026-10-06T18:00:03Z</dcterms:created>
  <dcterms:modified xsi:type="dcterms:W3CDTF">2026-10-12T19:54:37Z</dcterms:modified>
</cp:coreProperties>
</file>