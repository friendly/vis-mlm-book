
<file path=[Content_Types].xml><?xml version="1.0" encoding="utf-8"?>
<Types xmlns="http://schemas.openxmlformats.org/package/2006/content-types">
  <Default Extension="bin" ContentType="application/vnd.openxmlformats-officedocument.oleObject"/>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7"/>
  </p:notesMasterIdLst>
  <p:sldIdLst>
    <p:sldId id="256" r:id="rId2"/>
    <p:sldId id="257" r:id="rId3"/>
    <p:sldId id="325" r:id="rId4"/>
    <p:sldId id="258" r:id="rId5"/>
    <p:sldId id="259" r:id="rId6"/>
    <p:sldId id="260" r:id="rId7"/>
    <p:sldId id="261" r:id="rId8"/>
    <p:sldId id="262" r:id="rId9"/>
    <p:sldId id="263" r:id="rId10"/>
    <p:sldId id="475" r:id="rId11"/>
    <p:sldId id="456" r:id="rId12"/>
    <p:sldId id="457" r:id="rId13"/>
    <p:sldId id="458" r:id="rId14"/>
    <p:sldId id="326" r:id="rId15"/>
    <p:sldId id="266" r:id="rId16"/>
    <p:sldId id="470" r:id="rId17"/>
    <p:sldId id="473" r:id="rId18"/>
    <p:sldId id="267" r:id="rId19"/>
    <p:sldId id="474" r:id="rId20"/>
    <p:sldId id="268" r:id="rId21"/>
    <p:sldId id="269" r:id="rId22"/>
    <p:sldId id="270" r:id="rId23"/>
    <p:sldId id="271" r:id="rId24"/>
    <p:sldId id="273" r:id="rId25"/>
    <p:sldId id="467" r:id="rId26"/>
    <p:sldId id="274" r:id="rId27"/>
    <p:sldId id="275" r:id="rId28"/>
    <p:sldId id="276" r:id="rId29"/>
    <p:sldId id="468" r:id="rId30"/>
    <p:sldId id="277" r:id="rId31"/>
    <p:sldId id="278" r:id="rId32"/>
    <p:sldId id="282" r:id="rId33"/>
    <p:sldId id="471" r:id="rId34"/>
    <p:sldId id="272" r:id="rId35"/>
    <p:sldId id="281" r:id="rId36"/>
    <p:sldId id="472" r:id="rId37"/>
    <p:sldId id="460" r:id="rId38"/>
    <p:sldId id="289" r:id="rId39"/>
    <p:sldId id="461" r:id="rId40"/>
    <p:sldId id="293" r:id="rId41"/>
    <p:sldId id="294" r:id="rId42"/>
    <p:sldId id="295" r:id="rId43"/>
    <p:sldId id="465" r:id="rId44"/>
    <p:sldId id="297" r:id="rId45"/>
    <p:sldId id="476" r:id="rId46"/>
    <p:sldId id="298" r:id="rId47"/>
    <p:sldId id="466" r:id="rId48"/>
    <p:sldId id="327" r:id="rId49"/>
    <p:sldId id="328" r:id="rId50"/>
    <p:sldId id="329" r:id="rId51"/>
    <p:sldId id="302" r:id="rId52"/>
    <p:sldId id="303" r:id="rId53"/>
    <p:sldId id="449" r:id="rId54"/>
    <p:sldId id="477" r:id="rId55"/>
    <p:sldId id="469" r:id="rId56"/>
    <p:sldId id="318" r:id="rId57"/>
    <p:sldId id="319" r:id="rId58"/>
    <p:sldId id="320" r:id="rId59"/>
    <p:sldId id="310" r:id="rId60"/>
    <p:sldId id="311" r:id="rId61"/>
    <p:sldId id="313" r:id="rId62"/>
    <p:sldId id="314" r:id="rId63"/>
    <p:sldId id="322" r:id="rId64"/>
    <p:sldId id="323" r:id="rId65"/>
    <p:sldId id="324" r:id="rId6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7A6EF18E-6D16-4A5B-A8B8-B0B7462DD26E}">
          <p14:sldIdLst>
            <p14:sldId id="256"/>
            <p14:sldId id="257"/>
            <p14:sldId id="325"/>
            <p14:sldId id="258"/>
          </p14:sldIdLst>
        </p14:section>
        <p14:section name="0. Why a romance?" id="{1AEE5DC6-40B2-471D-9CB4-004A8392A312}">
          <p14:sldIdLst>
            <p14:sldId id="259"/>
            <p14:sldId id="260"/>
            <p14:sldId id="261"/>
            <p14:sldId id="262"/>
            <p14:sldId id="263"/>
          </p14:sldIdLst>
        </p14:section>
        <p14:section name="1. Ellipses everywhere: seeing multivariate data" id="{342421AD-6C42-4061-9440-37F93863C901}">
          <p14:sldIdLst>
            <p14:sldId id="475"/>
            <p14:sldId id="456"/>
            <p14:sldId id="457"/>
            <p14:sldId id="458"/>
            <p14:sldId id="326"/>
            <p14:sldId id="266"/>
            <p14:sldId id="470"/>
            <p14:sldId id="473"/>
            <p14:sldId id="267"/>
            <p14:sldId id="474"/>
            <p14:sldId id="268"/>
            <p14:sldId id="269"/>
            <p14:sldId id="270"/>
            <p14:sldId id="271"/>
          </p14:sldIdLst>
        </p14:section>
        <p14:section name="2. Multivariate juicers and Waldo space" id="{DA27F9D7-637D-4DEC-ADC4-C5706219A457}">
          <p14:sldIdLst>
            <p14:sldId id="273"/>
            <p14:sldId id="467"/>
            <p14:sldId id="274"/>
            <p14:sldId id="275"/>
            <p14:sldId id="276"/>
            <p14:sldId id="468"/>
            <p14:sldId id="277"/>
            <p14:sldId id="278"/>
          </p14:sldIdLst>
        </p14:section>
        <p14:section name="3. Elliptical insights" id="{EAA495C8-47F8-453B-93BF-84216DBE3542}">
          <p14:sldIdLst>
            <p14:sldId id="282"/>
            <p14:sldId id="471"/>
            <p14:sldId id="272"/>
            <p14:sldId id="281"/>
            <p14:sldId id="472"/>
            <p14:sldId id="460"/>
            <p14:sldId id="289"/>
            <p14:sldId id="461"/>
            <p14:sldId id="293"/>
            <p14:sldId id="294"/>
            <p14:sldId id="295"/>
            <p14:sldId id="465"/>
            <p14:sldId id="297"/>
            <p14:sldId id="476"/>
          </p14:sldIdLst>
        </p14:section>
        <p14:section name="4. The HE plot framework" id="{19AF699C-459B-4008-BE93-C8454174BFDD}">
          <p14:sldIdLst>
            <p14:sldId id="298"/>
            <p14:sldId id="466"/>
            <p14:sldId id="327"/>
            <p14:sldId id="328"/>
            <p14:sldId id="329"/>
            <p14:sldId id="302"/>
            <p14:sldId id="303"/>
            <p14:sldId id="449"/>
            <p14:sldId id="477"/>
            <p14:sldId id="469"/>
            <p14:sldId id="318"/>
            <p14:sldId id="319"/>
            <p14:sldId id="320"/>
          </p14:sldIdLst>
        </p14:section>
        <p14:section name="5. Checking multivariate models" id="{6A48B39A-9055-4C28-B86C-25D5CE1DEB29}">
          <p14:sldIdLst>
            <p14:sldId id="310"/>
            <p14:sldId id="311"/>
            <p14:sldId id="313"/>
            <p14:sldId id="314"/>
          </p14:sldIdLst>
        </p14:section>
        <p14:section name="Closing" id="{6192B6EA-3336-4F76-86C9-584437A1262F}">
          <p14:sldIdLst>
            <p14:sldId id="322"/>
            <p14:sldId id="323"/>
            <p14:sldId id="324"/>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C7E3E3"/>
    <a:srgbClr val="FFFFFF"/>
    <a:srgbClr val="E9E8D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3995" autoAdjust="0"/>
  </p:normalViewPr>
  <p:slideViewPr>
    <p:cSldViewPr snapToGrid="0">
      <p:cViewPr varScale="1">
        <p:scale>
          <a:sx n="75" d="100"/>
          <a:sy n="75" d="100"/>
        </p:scale>
        <p:origin x="870" y="66"/>
      </p:cViewPr>
      <p:guideLst/>
    </p:cSldViewPr>
  </p:slideViewPr>
  <p:notesTextViewPr>
    <p:cViewPr>
      <p:scale>
        <a:sx n="1" d="1"/>
        <a:sy n="1" d="1"/>
      </p:scale>
      <p:origin x="0" y="0"/>
    </p:cViewPr>
  </p:notesTextViewPr>
  <p:sorterViewPr>
    <p:cViewPr varScale="1">
      <p:scale>
        <a:sx n="100" d="100"/>
        <a:sy n="100" d="100"/>
      </p:scale>
      <p:origin x="0" y="-15312"/>
    </p:cViewPr>
  </p:sorterViewPr>
  <p:notesViewPr>
    <p:cSldViewPr snapToGrid="0">
      <p:cViewPr varScale="1">
        <p:scale>
          <a:sx n="78" d="100"/>
          <a:sy n="78" d="100"/>
        </p:scale>
        <p:origin x="3678" y="108"/>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presProps" Target="presProps.xml"/><Relationship Id="rId7" Type="http://schemas.openxmlformats.org/officeDocument/2006/relationships/slide" Target="slides/slide6.xml"/><Relationship Id="rId71"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1820478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I’m so glad to be with you here today. </a:t>
            </a:r>
          </a:p>
          <a:p>
            <a:r>
              <a:rPr lang="en-CA" dirty="0"/>
              <a:t>I just returned from Leuven, where I was on the jury for the </a:t>
            </a:r>
            <a:r>
              <a:rPr lang="en-CA" dirty="0" err="1"/>
              <a:t>Rousseeuw</a:t>
            </a:r>
            <a:r>
              <a:rPr lang="en-CA" dirty="0"/>
              <a:t> Prize in Statistics, which was happily awarded to </a:t>
            </a:r>
            <a:r>
              <a:rPr lang="en-CA" b="1" dirty="0"/>
              <a:t>The R Project </a:t>
            </a:r>
            <a:r>
              <a:rPr lang="en-CA" dirty="0"/>
              <a:t>in Statistical Computing &amp; Graphics</a:t>
            </a:r>
          </a:p>
          <a:p>
            <a:r>
              <a:rPr lang="en-CA" dirty="0"/>
              <a:t>As a bonus, daughter’s family lives in Utrecht, so I was happy to see them all.</a:t>
            </a:r>
          </a:p>
          <a:p>
            <a:r>
              <a:rPr lang="en-CA" dirty="0"/>
              <a:t>And now, I’ll give the first public talk about my current book.</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This book is the outcome of what, in one way or another, I’ve been working on for nearly my entire career. I’m happy to be able to share it with you today</a:t>
            </a:r>
          </a:p>
          <a:p>
            <a:r>
              <a:rPr lang="en-CA" dirty="0"/>
              <a:t>It started in my first grad course, Multivariate Data Analysis when I arrived at York in 1971</a:t>
            </a:r>
          </a:p>
          <a:p>
            <a:pPr marL="171450" indent="-171450">
              <a:buFont typeface="Arial" panose="020B0604020202020204" pitchFamily="34" charset="0"/>
              <a:buChar char="•"/>
            </a:pPr>
            <a:r>
              <a:rPr lang="en-CA" dirty="0"/>
              <a:t>How to teach the essential ideas of multivariate analysis? </a:t>
            </a:r>
          </a:p>
          <a:p>
            <a:pPr marL="0" indent="0">
              <a:buFont typeface="Arial" panose="020B0604020202020204" pitchFamily="34" charset="0"/>
              <a:buNone/>
            </a:pPr>
            <a:r>
              <a:rPr lang="en-CA" dirty="0"/>
              <a:t>     – Notation: Matrix algebra? </a:t>
            </a:r>
          </a:p>
          <a:p>
            <a:pPr marL="0" indent="0">
              <a:buFont typeface="Arial" panose="020B0604020202020204" pitchFamily="34" charset="0"/>
              <a:buNone/>
            </a:pPr>
            <a:r>
              <a:rPr lang="en-CA" dirty="0"/>
              <a:t>     - Visual understanding: Geometry</a:t>
            </a:r>
          </a:p>
          <a:p>
            <a:pPr marL="171450" indent="-171450">
              <a:buFont typeface="Arial" panose="020B0604020202020204" pitchFamily="34" charset="0"/>
              <a:buChar char="•"/>
            </a:pPr>
            <a:r>
              <a:rPr lang="en-CA" dirty="0"/>
              <a:t>How to make it easier for researchers to use these methods to answer multivariate questions?</a:t>
            </a:r>
          </a:p>
          <a:p>
            <a:pPr marL="171450" indent="-171450">
              <a:buFont typeface="Arial" panose="020B0604020202020204" pitchFamily="34" charset="0"/>
              <a:buChar char="•"/>
            </a:pPr>
            <a:endParaRPr lang="en-CA" dirty="0"/>
          </a:p>
          <a:p>
            <a:r>
              <a:rPr lang="en-CA" dirty="0"/>
              <a:t>The print copy is in the hand of Copy Editing Surgeons at CRC press.</a:t>
            </a:r>
          </a:p>
          <a:p>
            <a:r>
              <a:rPr lang="en-CA" dirty="0"/>
              <a:t>But I’m allowed to share an </a:t>
            </a:r>
            <a:r>
              <a:rPr dirty="0"/>
              <a:t>online version</a:t>
            </a:r>
            <a:r>
              <a:rPr lang="en-CA" dirty="0"/>
              <a:t> that also</a:t>
            </a:r>
            <a:r>
              <a:rPr dirty="0"/>
              <a:t> has animations </a:t>
            </a:r>
            <a:r>
              <a:rPr lang="en-CA" dirty="0"/>
              <a:t>I could not do in print </a:t>
            </a:r>
            <a:r>
              <a:rPr dirty="0"/>
              <a:t>and </a:t>
            </a:r>
            <a:r>
              <a:rPr lang="en-CA" dirty="0"/>
              <a:t>put </a:t>
            </a:r>
            <a:r>
              <a:rPr dirty="0"/>
              <a:t>all the R code</a:t>
            </a:r>
            <a:r>
              <a:rPr lang="en-CA" dirty="0"/>
              <a:t> online.</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A large part of my work reflects Chairman Mao’s assertion of </a:t>
            </a:r>
            <a:r>
              <a:rPr lang="en-CA" b="1" dirty="0"/>
              <a:t>Theory into Practice</a:t>
            </a:r>
            <a:r>
              <a:rPr lang="en-CA" dirty="0"/>
              <a:t>, and Tukey’s </a:t>
            </a:r>
            <a:r>
              <a:rPr lang="en-CA" dirty="0" err="1"/>
              <a:t>collorary</a:t>
            </a:r>
            <a:r>
              <a:rPr lang="en-CA" dirty="0"/>
              <a:t> that statistical / graphical methods are only useful if people can use them.</a:t>
            </a:r>
          </a:p>
          <a:p>
            <a:r>
              <a:rPr lang="en-CA" dirty="0"/>
              <a:t>In the work towards this book, I created a number of R packages to make these new graphical methods easily accessible.</a:t>
            </a:r>
          </a:p>
          <a:p>
            <a:r>
              <a:rPr lang="en-CA" dirty="0"/>
              <a:t>These five packages implement most of what follows: </a:t>
            </a:r>
            <a:r>
              <a:rPr lang="en-CA" dirty="0" err="1"/>
              <a:t>heplots</a:t>
            </a:r>
            <a:r>
              <a:rPr lang="en-CA" dirty="0"/>
              <a:t> (HE plots and related methods), </a:t>
            </a:r>
            <a:r>
              <a:rPr lang="en-CA" dirty="0" err="1"/>
              <a:t>candisc</a:t>
            </a:r>
            <a:r>
              <a:rPr lang="en-CA" dirty="0"/>
              <a:t> (canonical views), </a:t>
            </a:r>
            <a:r>
              <a:rPr lang="en-CA" dirty="0" err="1"/>
              <a:t>mvinfluence</a:t>
            </a:r>
            <a:r>
              <a:rPr lang="en-CA" dirty="0"/>
              <a:t> (multivariate influence), </a:t>
            </a:r>
            <a:r>
              <a:rPr lang="en-CA" dirty="0" err="1"/>
              <a:t>genridge</a:t>
            </a:r>
            <a:r>
              <a:rPr lang="en-CA" dirty="0"/>
              <a:t> (ridge trace plots).</a:t>
            </a:r>
          </a:p>
        </p:txBody>
      </p:sp>
    </p:spTree>
    <p:extLst>
      <p:ext uri="{BB962C8B-B14F-4D97-AF65-F5344CB8AC3E}">
        <p14:creationId xmlns:p14="http://schemas.microsoft.com/office/powerpoint/2010/main" val="230899649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Roadmap</a:t>
            </a:r>
            <a:r>
              <a:rPr lang="en-CA" dirty="0"/>
              <a:t>:</a:t>
            </a:r>
            <a:r>
              <a:rPr dirty="0"/>
              <a:t> </a:t>
            </a:r>
            <a:r>
              <a:rPr lang="en-CA" dirty="0"/>
              <a:t>T</a:t>
            </a:r>
            <a:r>
              <a:rPr dirty="0"/>
              <a:t>he book</a:t>
            </a:r>
            <a:r>
              <a:rPr lang="en-CA" dirty="0"/>
              <a:t> follows a linear path</a:t>
            </a:r>
            <a:r>
              <a:rPr dirty="0"/>
              <a:t>: plots of data, then models with one response, then models with many responses. </a:t>
            </a:r>
            <a:endParaRPr lang="en-CA" dirty="0"/>
          </a:p>
          <a:p>
            <a:r>
              <a:rPr lang="en-CA" dirty="0"/>
              <a:t>Today, I want to talk about the main themes of the book.</a:t>
            </a:r>
          </a:p>
          <a:p>
            <a:r>
              <a:rPr lang="en-CA" dirty="0"/>
              <a:t>Themes: </a:t>
            </a:r>
          </a:p>
          <a:p>
            <a:pPr marL="171450" indent="-171450">
              <a:buFont typeface="Arial" panose="020B0604020202020204" pitchFamily="34" charset="0"/>
              <a:buChar char="•"/>
            </a:pPr>
            <a:r>
              <a:rPr dirty="0"/>
              <a:t>The ellipse is the recurring </a:t>
            </a:r>
            <a:r>
              <a:rPr lang="en-CA" dirty="0"/>
              <a:t>visual </a:t>
            </a:r>
            <a:r>
              <a:rPr dirty="0"/>
              <a:t>device</a:t>
            </a:r>
            <a:r>
              <a:rPr lang="en-CA" dirty="0"/>
              <a:t> I use to understand multivariate phenomena. </a:t>
            </a:r>
          </a:p>
          <a:p>
            <a:pPr marL="171450" indent="-171450">
              <a:buFont typeface="Arial" panose="020B0604020202020204" pitchFamily="34" charset="0"/>
              <a:buChar char="•"/>
            </a:pPr>
            <a:r>
              <a:rPr lang="en-CA" dirty="0"/>
              <a:t>I’ll try to show how a wide variety of multivariate problems can be understood with insightful visual tools.</a:t>
            </a: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I chose this subtitle to reflect the love I’ve always had about understanding high-D </a:t>
            </a:r>
            <a:r>
              <a:rPr lang="en-CA" dirty="0" err="1"/>
              <a:t>phenonema</a:t>
            </a:r>
            <a:r>
              <a:rPr lang="en-CA" dirty="0"/>
              <a:t> data through the visual and analysis tools we have at our disposal</a:t>
            </a:r>
          </a:p>
          <a:p>
            <a:r>
              <a:rPr lang="en-CA" dirty="0"/>
              <a:t>Our goal in data analysis &amp; visualization should always be to help </a:t>
            </a:r>
            <a:r>
              <a:rPr lang="en-CA" b="1" dirty="0"/>
              <a:t>understand scientific phenomena</a:t>
            </a:r>
          </a:p>
          <a:p>
            <a:r>
              <a:rPr lang="en-CA" dirty="0"/>
              <a:t>Yet our data </a:t>
            </a:r>
            <a:r>
              <a:rPr lang="en-CA" dirty="0" err="1"/>
              <a:t>ofen</a:t>
            </a:r>
            <a:r>
              <a:rPr lang="en-CA" dirty="0"/>
              <a:t> live in </a:t>
            </a:r>
            <a:r>
              <a:rPr lang="en-CA" dirty="0" err="1"/>
              <a:t>Spaceland</a:t>
            </a:r>
            <a:r>
              <a:rPr lang="en-CA" dirty="0"/>
              <a:t>, sometimes high-D. </a:t>
            </a:r>
          </a:p>
          <a:p>
            <a:r>
              <a:rPr lang="en-CA" dirty="0"/>
              <a:t>But, we are forced to plot them in 2D space.</a:t>
            </a:r>
          </a:p>
        </p:txBody>
      </p:sp>
    </p:spTree>
    <p:extLst>
      <p:ext uri="{BB962C8B-B14F-4D97-AF65-F5344CB8AC3E}">
        <p14:creationId xmlns:p14="http://schemas.microsoft.com/office/powerpoint/2010/main" val="365489983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The book's subtitle is a nod to Abbott's 'Flatland: A Romance of Many Dimensions'. </a:t>
            </a:r>
            <a:endParaRPr lang="en-CA" dirty="0"/>
          </a:p>
          <a:p>
            <a:r>
              <a:rPr dirty="0"/>
              <a:t>The Flatlander sees only a slice of the sphere. </a:t>
            </a:r>
            <a:endParaRPr lang="en-CA" dirty="0"/>
          </a:p>
          <a:p>
            <a:r>
              <a:rPr dirty="0"/>
              <a:t>We are in the same position with p &gt; 2 variables.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Animation (plays in slide show mode). </a:t>
            </a:r>
            <a:endParaRPr lang="en-CA" dirty="0"/>
          </a:p>
          <a:p>
            <a:r>
              <a:rPr dirty="0"/>
              <a:t>The </a:t>
            </a:r>
            <a:r>
              <a:rPr lang="en-CA" dirty="0"/>
              <a:t>P</a:t>
            </a:r>
            <a:r>
              <a:rPr dirty="0" err="1"/>
              <a:t>ollen</a:t>
            </a:r>
            <a:r>
              <a:rPr dirty="0"/>
              <a:t> data</a:t>
            </a:r>
            <a:r>
              <a:rPr lang="en-CA" dirty="0"/>
              <a:t>set contains 5 variables measured on grains of pollen. It was created for the 1986 JSM Data Exposition:</a:t>
            </a:r>
          </a:p>
          <a:p>
            <a:r>
              <a:rPr lang="en-CA" dirty="0"/>
              <a:t>The invitation was “Show your stuff!”, “Find something interesting here”.</a:t>
            </a:r>
          </a:p>
          <a:p>
            <a:r>
              <a:rPr lang="en-CA" dirty="0"/>
              <a:t>It was a challenge, because, to most graphic methods of the day, it</a:t>
            </a:r>
            <a:r>
              <a:rPr dirty="0"/>
              <a:t> look</a:t>
            </a:r>
            <a:r>
              <a:rPr lang="en-CA" dirty="0"/>
              <a:t>s</a:t>
            </a:r>
            <a:r>
              <a:rPr dirty="0"/>
              <a:t> like a featureless cloud </a:t>
            </a:r>
            <a:r>
              <a:rPr lang="en-CA" dirty="0"/>
              <a:t>of points.</a:t>
            </a:r>
          </a:p>
          <a:p>
            <a:r>
              <a:rPr lang="en-CA" dirty="0"/>
              <a:t>The secret hidden there was only revealed from one orientation in 5D space when </a:t>
            </a:r>
            <a:r>
              <a:rPr dirty="0"/>
              <a:t>you zoom in on the dense center, where the points spell out a word.</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An example of a </a:t>
            </a:r>
            <a:r>
              <a:rPr lang="en-CA" dirty="0"/>
              <a:t>real </a:t>
            </a:r>
            <a:r>
              <a:rPr dirty="0"/>
              <a:t>scientific discovery that came from looking at data in more than two dimensions. </a:t>
            </a:r>
            <a:endParaRPr lang="en-CA" dirty="0"/>
          </a:p>
          <a:p>
            <a:r>
              <a:rPr dirty="0"/>
              <a:t>The Diabetes data come back later in the dimension reduction section.</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The table classifies linear model techniques by the number and type of responses and predictors. The right-hand column, multivariate responses, is where graphical methods have been thin.</a:t>
            </a:r>
            <a:endParaRPr lang="en-CA" dirty="0"/>
          </a:p>
          <a:p>
            <a:r>
              <a:rPr lang="en-CA" dirty="0"/>
              <a:t>The beauty of R formula notation is that it makes it easy to fit MLMs, just by adding additional responses to the LHS</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The first act in understanding multivariate data is to be able to “see” it</a:t>
            </a:r>
          </a:p>
          <a:p>
            <a:r>
              <a:rPr lang="en-CA" dirty="0"/>
              <a:t>How can we do that?</a:t>
            </a:r>
          </a:p>
          <a:p>
            <a:r>
              <a:rPr lang="en-CA" dirty="0"/>
              <a:t>A primary visual device is an ellipsoid, used to represent multivariate location &amp; scatter</a:t>
            </a:r>
          </a:p>
        </p:txBody>
      </p:sp>
    </p:spTree>
    <p:extLst>
      <p:ext uri="{BB962C8B-B14F-4D97-AF65-F5344CB8AC3E}">
        <p14:creationId xmlns:p14="http://schemas.microsoft.com/office/powerpoint/2010/main" val="115228604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040A88B6-83A7-469D-9A3E-EAB0252B3F61}" type="slidenum">
              <a:rPr lang="en-US" altLang="en-US"/>
              <a:pPr/>
              <a:t>11</a:t>
            </a:fld>
            <a:endParaRPr lang="en-US" altLang="en-US"/>
          </a:p>
        </p:txBody>
      </p:sp>
      <p:sp>
        <p:nvSpPr>
          <p:cNvPr id="79874" name="Rectangle 2"/>
          <p:cNvSpPr>
            <a:spLocks noGrp="1" noRot="1" noChangeAspect="1" noChangeArrowheads="1" noTextEdit="1"/>
          </p:cNvSpPr>
          <p:nvPr>
            <p:ph type="sldImg"/>
          </p:nvPr>
        </p:nvSpPr>
        <p:spPr>
          <a:xfrm>
            <a:off x="417513" y="301625"/>
            <a:ext cx="6096000" cy="3429000"/>
          </a:xfrm>
          <a:ln/>
        </p:spPr>
      </p:sp>
      <p:sp>
        <p:nvSpPr>
          <p:cNvPr id="79875" name="Rectangle 3"/>
          <p:cNvSpPr>
            <a:spLocks noGrp="1" noChangeArrowheads="1"/>
          </p:cNvSpPr>
          <p:nvPr>
            <p:ph type="body" idx="1"/>
          </p:nvPr>
        </p:nvSpPr>
        <p:spPr>
          <a:xfrm>
            <a:off x="671218" y="3897692"/>
            <a:ext cx="5484316" cy="4644571"/>
          </a:xfrm>
        </p:spPr>
        <p:txBody>
          <a:bodyPr/>
          <a:lstStyle/>
          <a:p>
            <a:r>
              <a:rPr lang="en-US" altLang="en-US" baseline="0" dirty="0"/>
              <a:t>My path to multivariate visualization begins </a:t>
            </a:r>
            <a:r>
              <a:rPr lang="en-US" altLang="en-US" dirty="0"/>
              <a:t>with Galton’s remarkable visual insight from a table of heights of parents and their offspring, that later gave rise to the theory of correlation and regression.</a:t>
            </a:r>
          </a:p>
        </p:txBody>
      </p:sp>
    </p:spTree>
    <p:extLst>
      <p:ext uri="{BB962C8B-B14F-4D97-AF65-F5344CB8AC3E}">
        <p14:creationId xmlns:p14="http://schemas.microsoft.com/office/powerpoint/2010/main" val="289355586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1D773280-0619-4A13-9DC6-29894BAC3638}" type="slidenum">
              <a:rPr lang="en-US" altLang="en-US"/>
              <a:pPr/>
              <a:t>12</a:t>
            </a:fld>
            <a:endParaRPr lang="en-US" altLang="en-US"/>
          </a:p>
        </p:txBody>
      </p:sp>
      <p:sp>
        <p:nvSpPr>
          <p:cNvPr id="81922" name="Rectangle 2"/>
          <p:cNvSpPr>
            <a:spLocks noGrp="1" noRot="1" noChangeAspect="1" noChangeArrowheads="1" noTextEdit="1"/>
          </p:cNvSpPr>
          <p:nvPr>
            <p:ph type="sldImg"/>
          </p:nvPr>
        </p:nvSpPr>
        <p:spPr>
          <a:xfrm>
            <a:off x="417513" y="301625"/>
            <a:ext cx="6096000" cy="3429000"/>
          </a:xfrm>
          <a:ln/>
        </p:spPr>
      </p:sp>
      <p:sp>
        <p:nvSpPr>
          <p:cNvPr id="81923" name="Rectangle 3"/>
          <p:cNvSpPr>
            <a:spLocks noGrp="1" noChangeArrowheads="1"/>
          </p:cNvSpPr>
          <p:nvPr>
            <p:ph type="body" idx="1"/>
          </p:nvPr>
        </p:nvSpPr>
        <p:spPr>
          <a:xfrm>
            <a:off x="671218" y="3897692"/>
            <a:ext cx="5484316" cy="4644571"/>
          </a:xfrm>
        </p:spPr>
        <p:txBody>
          <a:bodyPr/>
          <a:lstStyle/>
          <a:p>
            <a:r>
              <a:rPr lang="en-US" altLang="en-US" dirty="0"/>
              <a:t>It is really more a </a:t>
            </a:r>
            <a:r>
              <a:rPr lang="en-US" altLang="en-US" b="1" dirty="0"/>
              <a:t>semi-graphic table</a:t>
            </a:r>
            <a:r>
              <a:rPr lang="en-US" altLang="en-US" dirty="0"/>
              <a:t>, recording frequency in this bivariate distribution.  </a:t>
            </a:r>
          </a:p>
          <a:p>
            <a:pPr marL="285750" indent="-285750">
              <a:buFont typeface="Arial" panose="020B0604020202020204" pitchFamily="34" charset="0"/>
              <a:buChar char="•"/>
            </a:pPr>
            <a:r>
              <a:rPr lang="en-US" altLang="en-US" dirty="0"/>
              <a:t>Galton drew smoothed level curves- by eye and brain- of equal frequency</a:t>
            </a:r>
          </a:p>
          <a:p>
            <a:pPr marL="285750" indent="-285750">
              <a:buFont typeface="Arial" panose="020B0604020202020204" pitchFamily="34" charset="0"/>
              <a:buChar char="•"/>
            </a:pPr>
            <a:r>
              <a:rPr lang="en-US" altLang="en-US" dirty="0"/>
              <a:t>He noticed that these formed “concentric and similar ellipses,” and </a:t>
            </a:r>
          </a:p>
          <a:p>
            <a:pPr marL="285750" indent="-285750">
              <a:buFont typeface="Arial" panose="020B0604020202020204" pitchFamily="34" charset="0"/>
              <a:buChar char="•"/>
            </a:pPr>
            <a:r>
              <a:rPr lang="en-US" altLang="en-US" dirty="0"/>
              <a:t>that the lines of means of </a:t>
            </a:r>
            <a:r>
              <a:rPr lang="en-US" altLang="en-US" dirty="0" err="1"/>
              <a:t>x|y</a:t>
            </a:r>
            <a:r>
              <a:rPr lang="en-US" altLang="en-US" dirty="0"/>
              <a:t> and </a:t>
            </a:r>
            <a:r>
              <a:rPr lang="en-US" altLang="en-US" dirty="0" err="1"/>
              <a:t>y|x</a:t>
            </a:r>
            <a:r>
              <a:rPr lang="en-US" altLang="en-US" dirty="0"/>
              <a:t> were the loci of conjugate tangents of the ellipses.</a:t>
            </a:r>
          </a:p>
          <a:p>
            <a:endParaRPr lang="en-US" altLang="en-US" dirty="0"/>
          </a:p>
        </p:txBody>
      </p:sp>
    </p:spTree>
    <p:extLst>
      <p:ext uri="{BB962C8B-B14F-4D97-AF65-F5344CB8AC3E}">
        <p14:creationId xmlns:p14="http://schemas.microsoft.com/office/powerpoint/2010/main" val="59439787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97942214-3791-483C-B540-622842037CC6}" type="slidenum">
              <a:rPr lang="en-US" altLang="en-US"/>
              <a:pPr/>
              <a:t>13</a:t>
            </a:fld>
            <a:endParaRPr lang="en-US" altLang="en-US"/>
          </a:p>
        </p:txBody>
      </p:sp>
      <p:sp>
        <p:nvSpPr>
          <p:cNvPr id="83970" name="Rectangle 2"/>
          <p:cNvSpPr>
            <a:spLocks noGrp="1" noRot="1" noChangeAspect="1" noChangeArrowheads="1" noTextEdit="1"/>
          </p:cNvSpPr>
          <p:nvPr>
            <p:ph type="sldImg"/>
          </p:nvPr>
        </p:nvSpPr>
        <p:spPr>
          <a:xfrm>
            <a:off x="417513" y="301625"/>
            <a:ext cx="6096000" cy="3429000"/>
          </a:xfrm>
          <a:ln/>
        </p:spPr>
      </p:sp>
      <p:sp>
        <p:nvSpPr>
          <p:cNvPr id="83971" name="Rectangle 3"/>
          <p:cNvSpPr>
            <a:spLocks noGrp="1" noChangeArrowheads="1"/>
          </p:cNvSpPr>
          <p:nvPr>
            <p:ph type="body" idx="1"/>
          </p:nvPr>
        </p:nvSpPr>
        <p:spPr>
          <a:xfrm>
            <a:off x="671218" y="3897692"/>
            <a:ext cx="5484316" cy="4644571"/>
          </a:xfrm>
        </p:spPr>
        <p:txBody>
          <a:bodyPr/>
          <a:lstStyle/>
          <a:p>
            <a:r>
              <a:rPr lang="en-US" altLang="en-US" dirty="0"/>
              <a:t>From this, evolved the famous Galton diagram of correlation and regression shown at the right, where:</a:t>
            </a:r>
          </a:p>
          <a:p>
            <a:pPr marL="285750" indent="-285750">
              <a:buFont typeface="Arial" panose="020B0604020202020204" pitchFamily="34" charset="0"/>
              <a:buChar char="•"/>
            </a:pPr>
            <a:r>
              <a:rPr lang="en-US" altLang="en-US" dirty="0"/>
              <a:t>level curves of equal frequency are concentric ellipses and </a:t>
            </a:r>
          </a:p>
          <a:p>
            <a:pPr marL="285750" indent="-285750">
              <a:buFont typeface="Arial" panose="020B0604020202020204" pitchFamily="34" charset="0"/>
              <a:buChar char="•"/>
            </a:pPr>
            <a:r>
              <a:rPr lang="en-US" altLang="en-US" dirty="0"/>
              <a:t>the two regression lines, </a:t>
            </a:r>
            <a:r>
              <a:rPr lang="en-US" altLang="en-US" dirty="0" err="1"/>
              <a:t>x|y</a:t>
            </a:r>
            <a:r>
              <a:rPr lang="en-US" altLang="en-US" dirty="0"/>
              <a:t> and </a:t>
            </a:r>
            <a:r>
              <a:rPr lang="en-US" altLang="en-US" dirty="0" err="1"/>
              <a:t>y|x</a:t>
            </a:r>
            <a:r>
              <a:rPr lang="en-US" altLang="en-US" dirty="0"/>
              <a:t> are the loci of </a:t>
            </a:r>
            <a:r>
              <a:rPr lang="en-US" altLang="en-US" b="1" dirty="0"/>
              <a:t>conjugate tangents</a:t>
            </a:r>
            <a:r>
              <a:rPr lang="en-US" altLang="en-US" dirty="0"/>
              <a:t>.</a:t>
            </a:r>
          </a:p>
          <a:p>
            <a:r>
              <a:rPr lang="en-US" altLang="en-US" dirty="0"/>
              <a:t>Equally remarkable,  he shows the </a:t>
            </a:r>
            <a:r>
              <a:rPr lang="en-US" altLang="en-US" b="1" dirty="0"/>
              <a:t>major and minor axes </a:t>
            </a:r>
            <a:r>
              <a:rPr lang="en-US" altLang="en-US" dirty="0"/>
              <a:t>of the ellipse, which would later be shown by Pearson to be the principal component directions in a bivariate distribution.</a:t>
            </a:r>
          </a:p>
        </p:txBody>
      </p:sp>
    </p:spTree>
    <p:extLst>
      <p:ext uri="{BB962C8B-B14F-4D97-AF65-F5344CB8AC3E}">
        <p14:creationId xmlns:p14="http://schemas.microsoft.com/office/powerpoint/2010/main" val="269173625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Galton's data on the heights of parents and children. Data ellipses of 40%, 68% and 95% coverage. </a:t>
            </a:r>
          </a:p>
          <a:p>
            <a:r>
              <a:rPr lang="en-CA" dirty="0"/>
              <a:t>The ellipse is the workhorse of the book: </a:t>
            </a:r>
          </a:p>
          <a:p>
            <a:r>
              <a:rPr lang="en-CA" dirty="0"/>
              <a:t>the same idea returns as confidence ellipses for coefficients and as H and E ellipses for multivariate tests.</a:t>
            </a:r>
          </a:p>
        </p:txBody>
      </p:sp>
    </p:spTree>
    <p:extLst>
      <p:ext uri="{BB962C8B-B14F-4D97-AF65-F5344CB8AC3E}">
        <p14:creationId xmlns:p14="http://schemas.microsoft.com/office/powerpoint/2010/main" val="376138999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The Palmer penguins </a:t>
            </a:r>
            <a:r>
              <a:rPr lang="en-CA" dirty="0"/>
              <a:t>data is a main</a:t>
            </a:r>
            <a:r>
              <a:rPr dirty="0"/>
              <a:t> running example</a:t>
            </a:r>
            <a:r>
              <a:rPr lang="en-CA" dirty="0"/>
              <a:t> in the book</a:t>
            </a:r>
          </a:p>
          <a:p>
            <a:endParaRPr lang="en-CA" dirty="0"/>
          </a:p>
          <a:p>
            <a:pPr marL="0" marR="0" lvl="0" indent="0" algn="l" defTabSz="914400" rtl="0" eaLnBrk="1" fontAlgn="auto" latinLnBrk="0" hangingPunct="1">
              <a:lnSpc>
                <a:spcPct val="100000"/>
              </a:lnSpc>
              <a:spcBef>
                <a:spcPts val="0"/>
              </a:spcBef>
              <a:spcAft>
                <a:spcPts val="0"/>
              </a:spcAft>
              <a:buClrTx/>
              <a:buSzTx/>
              <a:buFontTx/>
              <a:buNone/>
              <a:tabLst/>
              <a:defRPr/>
            </a:pPr>
            <a:r>
              <a:rPr lang="en-CA" dirty="0"/>
              <a:t>(The classic iris data seems to have been eclipsed b/c of Fisher’s association with the eugenics movement because often called “Fisher’s Iris data” even though it came from Edgar Anderson.)</a:t>
            </a:r>
          </a:p>
          <a:p>
            <a:endParaRPr lang="en-CA" dirty="0"/>
          </a:p>
          <a:p>
            <a:r>
              <a:rPr dirty="0"/>
              <a:t> Here: bill length and bill depth with data ellipses and regression lines for each species.</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To illustrate what I mean when I say “sufficient visual summary”– let’s start with an ordinary scatterplot…</a:t>
            </a:r>
          </a:p>
          <a:p>
            <a:endParaRPr lang="en-CA" dirty="0"/>
          </a:p>
          <a:p>
            <a:endParaRPr lang="en-CA" dirty="0"/>
          </a:p>
        </p:txBody>
      </p:sp>
      <p:sp>
        <p:nvSpPr>
          <p:cNvPr id="4" name="Slide Number Placeholder 3"/>
          <p:cNvSpPr>
            <a:spLocks noGrp="1"/>
          </p:cNvSpPr>
          <p:nvPr>
            <p:ph type="sldNum" sz="quarter" idx="5"/>
          </p:nvPr>
        </p:nvSpPr>
        <p:spPr/>
        <p:txBody>
          <a:bodyPr/>
          <a:lstStyle/>
          <a:p>
            <a:fld id="{33E20828-1A1A-4225-BE3A-F8540A5E6146}" type="slidenum">
              <a:rPr lang="en-US" smtClean="0"/>
              <a:t>16</a:t>
            </a:fld>
            <a:endParaRPr lang="en-US"/>
          </a:p>
        </p:txBody>
      </p:sp>
    </p:spTree>
    <p:extLst>
      <p:ext uri="{BB962C8B-B14F-4D97-AF65-F5344CB8AC3E}">
        <p14:creationId xmlns:p14="http://schemas.microsoft.com/office/powerpoint/2010/main" val="192328280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If you’re worried about the assumption of bivariate normality in these plots, there are several non-parametric alternatives, just for the asking.</a:t>
            </a:r>
          </a:p>
          <a:p>
            <a:r>
              <a:rPr lang="en-CA" dirty="0"/>
              <a:t>Each is a useful visual summary under relaxed conditions</a:t>
            </a:r>
          </a:p>
          <a:p>
            <a:pPr marL="171450" indent="-171450">
              <a:buFont typeface="Arial" panose="020B0604020202020204" pitchFamily="34" charset="0"/>
              <a:buChar char="•"/>
            </a:pPr>
            <a:r>
              <a:rPr lang="en-CA" dirty="0"/>
              <a:t>Bagplot: robust generalization of a boxplot </a:t>
            </a:r>
          </a:p>
          <a:p>
            <a:pPr marL="171450" indent="-171450">
              <a:buFont typeface="Arial" panose="020B0604020202020204" pitchFamily="34" charset="0"/>
              <a:buChar char="•"/>
            </a:pPr>
            <a:r>
              <a:rPr lang="en-CA" dirty="0"/>
              <a:t>High density regions</a:t>
            </a:r>
          </a:p>
        </p:txBody>
      </p:sp>
    </p:spTree>
    <p:extLst>
      <p:ext uri="{BB962C8B-B14F-4D97-AF65-F5344CB8AC3E}">
        <p14:creationId xmlns:p14="http://schemas.microsoft.com/office/powerpoint/2010/main" val="182663916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Data ellipses for the bill variables provide a beautiful example of Simpson’s paradox, and how data ellipses make that story clear</a:t>
            </a:r>
          </a:p>
          <a:p>
            <a:r>
              <a:rPr dirty="0"/>
              <a:t>Panels: </a:t>
            </a:r>
            <a:endParaRPr lang="en-CA" dirty="0"/>
          </a:p>
          <a:p>
            <a:r>
              <a:rPr dirty="0"/>
              <a:t>(a) ignoring species, </a:t>
            </a:r>
            <a:endParaRPr lang="en-CA" dirty="0"/>
          </a:p>
          <a:p>
            <a:r>
              <a:rPr dirty="0"/>
              <a:t>(b) by species, </a:t>
            </a:r>
            <a:endParaRPr lang="en-CA" dirty="0"/>
          </a:p>
          <a:p>
            <a:r>
              <a:rPr dirty="0"/>
              <a:t>(c) pooled within species. </a:t>
            </a:r>
            <a:endParaRPr lang="en-CA" dirty="0"/>
          </a:p>
          <a:p>
            <a:r>
              <a:rPr dirty="0"/>
              <a:t>The data ellipses</a:t>
            </a:r>
            <a:r>
              <a:rPr lang="en-CA" dirty="0"/>
              <a:t> &amp; regression lines</a:t>
            </a:r>
            <a:r>
              <a:rPr dirty="0"/>
              <a:t> make the reversal </a:t>
            </a:r>
            <a:r>
              <a:rPr lang="en-CA" dirty="0"/>
              <a:t>visually </a:t>
            </a:r>
            <a:r>
              <a:rPr dirty="0"/>
              <a:t>immediate.</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Data comes to us as variables were measured: Height and weight, where maybe BMI is more important to your doctor.</a:t>
            </a:r>
          </a:p>
          <a:p>
            <a:r>
              <a:rPr lang="en-CA" dirty="0"/>
              <a:t>Thinking about what those variables really mean can help understanding</a:t>
            </a:r>
          </a:p>
        </p:txBody>
      </p:sp>
    </p:spTree>
    <p:extLst>
      <p:ext uri="{BB962C8B-B14F-4D97-AF65-F5344CB8AC3E}">
        <p14:creationId xmlns:p14="http://schemas.microsoft.com/office/powerpoint/2010/main" val="237098452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Scatterplot matrix of the quantitative penguin variables.</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Corrplot of the crime data, with variables reordered. The ordering idea is taken up again under PCA.</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t>
            </a:r>
            <a:r>
              <a:rPr lang="en-CA" dirty="0"/>
              <a:t>Do this quick</a:t>
            </a:r>
            <a:r>
              <a:rPr dirty="0"/>
              <a:t>] Parallel coordinates plot of the penguin size variables, colored by species.</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Yet another idea is to animate a sequence of 2D projections, on a travel through </a:t>
            </a:r>
            <a:r>
              <a:rPr lang="en-CA" dirty="0" err="1"/>
              <a:t>nD</a:t>
            </a:r>
            <a:r>
              <a:rPr lang="en-CA" dirty="0"/>
              <a:t> space</a:t>
            </a:r>
          </a:p>
          <a:p>
            <a:r>
              <a:rPr dirty="0"/>
              <a:t>Animation (plays in slide show mode): grand tour of the penguin data. Guided tours optimize an index, e.g. separation of groups or the presence of anomalies.</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Now I’d like to turn to another main theme of the book: </a:t>
            </a:r>
          </a:p>
          <a:p>
            <a:r>
              <a:rPr lang="en-CA" dirty="0"/>
              <a:t>How dimension reduction techniques can help us to find the right views of multivariate data</a:t>
            </a:r>
          </a:p>
        </p:txBody>
      </p:sp>
    </p:spTree>
    <p:extLst>
      <p:ext uri="{BB962C8B-B14F-4D97-AF65-F5344CB8AC3E}">
        <p14:creationId xmlns:p14="http://schemas.microsoft.com/office/powerpoint/2010/main" val="201374024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One key to this is to consider the wide class of these methods as “Multivariate Juicers”</a:t>
            </a:r>
          </a:p>
          <a:p>
            <a:r>
              <a:rPr lang="en-CA" dirty="0"/>
              <a:t>I know this is SO cheesy! </a:t>
            </a:r>
          </a:p>
          <a:p>
            <a:r>
              <a:rPr lang="en-CA" dirty="0"/>
              <a:t>But I find this a nice analogy to explain what we do with low-D methods</a:t>
            </a:r>
          </a:p>
          <a:p>
            <a:r>
              <a:rPr lang="en-CA" dirty="0"/>
              <a:t>If we’re plotting in 2D space, we want the view with the most flavor in the juice</a:t>
            </a:r>
          </a:p>
        </p:txBody>
      </p:sp>
      <p:sp>
        <p:nvSpPr>
          <p:cNvPr id="4" name="Slide Number Placeholder 3"/>
          <p:cNvSpPr>
            <a:spLocks noGrp="1"/>
          </p:cNvSpPr>
          <p:nvPr>
            <p:ph type="sldNum" sz="quarter" idx="5"/>
          </p:nvPr>
        </p:nvSpPr>
        <p:spPr/>
        <p:txBody>
          <a:bodyPr/>
          <a:lstStyle/>
          <a:p>
            <a:fld id="{33E20828-1A1A-4225-BE3A-F8540A5E6146}" type="slidenum">
              <a:rPr lang="en-US" smtClean="0"/>
              <a:t>25</a:t>
            </a:fld>
            <a:endParaRPr lang="en-US"/>
          </a:p>
        </p:txBody>
      </p:sp>
    </p:spTree>
    <p:extLst>
      <p:ext uri="{BB962C8B-B14F-4D97-AF65-F5344CB8AC3E}">
        <p14:creationId xmlns:p14="http://schemas.microsoft.com/office/powerpoint/2010/main" val="256202052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Animation (plays in slide show mode): rotation from data space to PCA space, with two added points (101, 102). </a:t>
            </a:r>
            <a:endParaRPr lang="en-CA" dirty="0"/>
          </a:p>
          <a:p>
            <a:r>
              <a:rPr dirty="0"/>
              <a:t>They are not extreme on either original variable, but stand out on the smallest principal component. </a:t>
            </a:r>
            <a:endParaRPr lang="en-CA" dirty="0"/>
          </a:p>
          <a:p>
            <a:r>
              <a:rPr dirty="0"/>
              <a:t>Geometry of PCA as a rotation. </a:t>
            </a:r>
            <a:endParaRPr lang="en-CA" dirty="0"/>
          </a:p>
          <a:p>
            <a:r>
              <a:rPr dirty="0"/>
              <a:t>Tie back to the data ellipse: its major and minor axes are PC1 and PC2.</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Animation (plays in slide show mode). </a:t>
            </a:r>
            <a:endParaRPr lang="en-CA" dirty="0"/>
          </a:p>
          <a:p>
            <a:r>
              <a:rPr dirty="0"/>
              <a:t>The blue points are connected to their projections on the red line by springs perpendicular to that line. A physical intuition for least squares. </a:t>
            </a:r>
            <a:endParaRPr lang="en-CA" dirty="0"/>
          </a:p>
          <a:p>
            <a:r>
              <a:rPr lang="en-CA" dirty="0"/>
              <a:t>The point of this is that </a:t>
            </a:r>
            <a:r>
              <a:rPr lang="en-CA" sz="1200" dirty="0"/>
              <a:t>Statistics, </a:t>
            </a:r>
            <a:r>
              <a:rPr lang="en-CA" sz="1200" dirty="0" err="1"/>
              <a:t>dataviz</a:t>
            </a:r>
            <a:r>
              <a:rPr lang="en-CA" sz="1200" dirty="0"/>
              <a:t>, geometry &amp; physics are often tightly connected. We can learn from one, using ideas of another</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Basic biplot of the crime data. </a:t>
            </a:r>
            <a:endParaRPr lang="en-CA" dirty="0"/>
          </a:p>
          <a:p>
            <a:r>
              <a:rPr dirty="0"/>
              <a:t>The biplot is the low-D view used again and again: for collinearity, for canonical discriminant analysis, and for ridge regression.</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Here’s the biplot for the penguin data</a:t>
            </a:r>
          </a:p>
        </p:txBody>
      </p:sp>
      <p:sp>
        <p:nvSpPr>
          <p:cNvPr id="4" name="Slide Number Placeholder 3"/>
          <p:cNvSpPr>
            <a:spLocks noGrp="1"/>
          </p:cNvSpPr>
          <p:nvPr>
            <p:ph type="sldNum" sz="quarter" idx="5"/>
          </p:nvPr>
        </p:nvSpPr>
        <p:spPr/>
        <p:txBody>
          <a:bodyPr/>
          <a:lstStyle/>
          <a:p>
            <a:fld id="{33E20828-1A1A-4225-BE3A-F8540A5E6146}" type="slidenum">
              <a:rPr lang="en-US" smtClean="0"/>
              <a:t>29</a:t>
            </a:fld>
            <a:endParaRPr lang="en-US"/>
          </a:p>
        </p:txBody>
      </p:sp>
    </p:spTree>
    <p:extLst>
      <p:ext uri="{BB962C8B-B14F-4D97-AF65-F5344CB8AC3E}">
        <p14:creationId xmlns:p14="http://schemas.microsoft.com/office/powerpoint/2010/main" val="285997063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Comparison of the PCA and t-SNE 2D representations of the Diabetes data. Nonlinear methods preserve local neighborhoods at the cost of global geometry.</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[Optional]</a:t>
            </a:r>
          </a:p>
          <a:p>
            <a:r>
              <a:rPr dirty="0"/>
              <a:t>Animation (plays in slide show mode): interpolating between the PCA and t-SNE solutions for the Diabetes data. </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Another topic for today is how these ideas relate to what we do in </a:t>
            </a:r>
            <a:r>
              <a:rPr lang="en-CA" b="1" dirty="0"/>
              <a:t>statistical practice </a:t>
            </a:r>
            <a:r>
              <a:rPr lang="en-CA" dirty="0"/>
              <a:t>– analysing data, understanding the models we fit, and dealing with murky problems we can only see in tables…</a:t>
            </a:r>
          </a:p>
          <a:p>
            <a:endParaRPr lang="en-CA" dirty="0"/>
          </a:p>
          <a:p>
            <a:r>
              <a:rPr lang="en-CA" dirty="0"/>
              <a:t>I’ll try to explain a few of these in terms of graphical methods based on ellipsoids</a:t>
            </a:r>
          </a:p>
          <a:p>
            <a:endParaRPr lang="en-CA" dirty="0"/>
          </a:p>
          <a:p>
            <a:endParaRPr lang="en-CA" dirty="0"/>
          </a:p>
        </p:txBody>
      </p:sp>
    </p:spTree>
    <p:extLst>
      <p:ext uri="{BB962C8B-B14F-4D97-AF65-F5344CB8AC3E}">
        <p14:creationId xmlns:p14="http://schemas.microsoft.com/office/powerpoint/2010/main" val="125966677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Like Galton, I’ve been impressed with the insights that can be had from elliptical thinking.</a:t>
            </a:r>
          </a:p>
          <a:p>
            <a:endParaRPr lang="en-CA" dirty="0"/>
          </a:p>
          <a:p>
            <a:r>
              <a:rPr lang="en-CA" dirty="0"/>
              <a:t>Just a simple demonstration of how outliers become apparent when viewed in the space of small principal components.</a:t>
            </a:r>
          </a:p>
          <a:p>
            <a:r>
              <a:rPr lang="en-CA" dirty="0"/>
              <a:t>I call this Waldo space, by analogy with Martin Hansford’s popular books, Where’s Waldo? (</a:t>
            </a:r>
            <a:r>
              <a:rPr lang="en-CA" dirty="0" err="1"/>
              <a:t>Waar</a:t>
            </a:r>
            <a:r>
              <a:rPr lang="en-CA" dirty="0"/>
              <a:t> is Wally? in Dutch)</a:t>
            </a:r>
          </a:p>
        </p:txBody>
      </p:sp>
      <p:sp>
        <p:nvSpPr>
          <p:cNvPr id="4" name="Slide Number Placeholder 3"/>
          <p:cNvSpPr>
            <a:spLocks noGrp="1"/>
          </p:cNvSpPr>
          <p:nvPr>
            <p:ph type="sldNum" sz="quarter" idx="5"/>
          </p:nvPr>
        </p:nvSpPr>
        <p:spPr/>
        <p:txBody>
          <a:bodyPr/>
          <a:lstStyle/>
          <a:p>
            <a:fld id="{33E20828-1A1A-4225-BE3A-F8540A5E6146}" type="slidenum">
              <a:rPr lang="en-US" smtClean="0"/>
              <a:t>33</a:t>
            </a:fld>
            <a:endParaRPr lang="en-US"/>
          </a:p>
        </p:txBody>
      </p:sp>
    </p:spTree>
    <p:extLst>
      <p:ext uri="{BB962C8B-B14F-4D97-AF65-F5344CB8AC3E}">
        <p14:creationId xmlns:p14="http://schemas.microsoft.com/office/powerpoint/2010/main" val="186818981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Standard method: </a:t>
            </a:r>
            <a:r>
              <a:rPr dirty="0"/>
              <a:t>Chi-square QQ plot for the penguin data,</a:t>
            </a:r>
            <a:endParaRPr lang="en-CA" dirty="0"/>
          </a:p>
          <a:p>
            <a:r>
              <a:rPr lang="en-CA" dirty="0"/>
              <a:t>We can look at these in 2D plots -- </a:t>
            </a:r>
            <a:r>
              <a:rPr dirty="0"/>
              <a:t>the unusual birds identified in the bill length-bill depth plot. </a:t>
            </a:r>
            <a:endParaRPr lang="en-CA" dirty="0"/>
          </a:p>
          <a:p>
            <a:r>
              <a:rPr dirty="0"/>
              <a:t>Two of them, nicknamed </a:t>
            </a:r>
            <a:endParaRPr lang="en-CA" dirty="0"/>
          </a:p>
          <a:p>
            <a:r>
              <a:rPr dirty="0"/>
              <a:t>Cyrano </a:t>
            </a:r>
            <a:r>
              <a:rPr lang="en-CA" dirty="0"/>
              <a:t>– really long billed Chinstrap</a:t>
            </a:r>
          </a:p>
          <a:p>
            <a:r>
              <a:rPr lang="en-CA"/>
              <a:t>Snub Nose – stubbiest bill (short and deep)</a:t>
            </a:r>
            <a:endParaRPr lang="en-CA" dirty="0"/>
          </a:p>
          <a:p>
            <a:r>
              <a:rPr lang="en-CA" dirty="0"/>
              <a:t>Bird 35 doesn’t seem at all unusual for an Adelie</a:t>
            </a:r>
          </a:p>
          <a:p>
            <a:endParaRPr lang="en-CA" dirty="0"/>
          </a:p>
          <a:p>
            <a:r>
              <a:rPr lang="en-CA" dirty="0"/>
              <a:t>I’ll follow these birds in </a:t>
            </a:r>
            <a:r>
              <a:rPr dirty="0"/>
              <a:t>the influence and robust sections.</a:t>
            </a:r>
          </a:p>
        </p:txBody>
      </p:sp>
      <p:sp>
        <p:nvSpPr>
          <p:cNvPr id="4" name="Slide Number Placeholder 3"/>
          <p:cNvSpPr>
            <a:spLocks noGrp="1"/>
          </p:cNvSpPr>
          <p:nvPr>
            <p:ph type="sldNum" sz="quarter" idx="5"/>
          </p:nvPr>
        </p:nvSpPr>
        <p:spPr/>
        <p:txBody>
          <a:bodyPr/>
          <a:lstStyle/>
          <a:p>
            <a:endParaRPr lang="en-CA"/>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As I noted </a:t>
            </a:r>
            <a:r>
              <a:rPr dirty="0"/>
              <a:t>multivariate outliers often show up in the dimensions with the least variance.</a:t>
            </a:r>
            <a:endParaRPr lang="en-CA" dirty="0"/>
          </a:p>
          <a:p>
            <a:r>
              <a:rPr lang="en-CA" dirty="0"/>
              <a:t>In the biplot of dimensions 3-4 of the penguin data, variable vectors show how these dimensions relate to the data variables and also how outliers are unusual in the data</a:t>
            </a:r>
          </a:p>
          <a:p>
            <a:pPr marL="171450" indent="-171450">
              <a:buFont typeface="Arial" panose="020B0604020202020204" pitchFamily="34" charset="0"/>
              <a:buChar char="•"/>
            </a:pPr>
            <a:r>
              <a:rPr lang="en-CA" dirty="0"/>
              <a:t>PC3: largely bill length (right to left) – Cyrano &amp; Snub Nose are extremes</a:t>
            </a:r>
          </a:p>
          <a:p>
            <a:pPr marL="171450" indent="-171450">
              <a:buFont typeface="Arial" panose="020B0604020202020204" pitchFamily="34" charset="0"/>
              <a:buChar char="•"/>
            </a:pPr>
            <a:r>
              <a:rPr lang="en-CA" dirty="0"/>
              <a:t>PC4: body mass vs flipper length – Falstaff is the stoutest bird</a:t>
            </a:r>
          </a:p>
          <a:p>
            <a:pPr marL="0" indent="0">
              <a:buFont typeface="Arial" panose="020B0604020202020204" pitchFamily="34" charset="0"/>
              <a:buNone/>
            </a:pPr>
            <a:r>
              <a:rPr lang="en-CA" dirty="0"/>
              <a:t>That’s how they got their names!</a:t>
            </a:r>
          </a:p>
          <a:p>
            <a:pPr marL="171450" indent="-171450">
              <a:buFont typeface="Arial" panose="020B0604020202020204" pitchFamily="34" charset="0"/>
              <a:buChar char="•"/>
            </a:pPr>
            <a:endParaRPr lang="en-CA" dirty="0"/>
          </a:p>
          <a:p>
            <a:endParaRPr dirty="0"/>
          </a:p>
        </p:txBody>
      </p:sp>
      <p:sp>
        <p:nvSpPr>
          <p:cNvPr id="4" name="Slide Number Placeholder 3"/>
          <p:cNvSpPr>
            <a:spLocks noGrp="1"/>
          </p:cNvSpPr>
          <p:nvPr>
            <p:ph type="sldNum" sz="quarter" idx="5"/>
          </p:nvPr>
        </p:nvSpPr>
        <p:spPr/>
        <p:txBody>
          <a:bodyPr/>
          <a:lstStyle/>
          <a:p>
            <a:endParaRPr lang="en-CA"/>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Another insight comes from considering the effect of measure error in predictors in linear models.</a:t>
            </a:r>
          </a:p>
          <a:p>
            <a:endParaRPr lang="en-CA" dirty="0"/>
          </a:p>
          <a:p>
            <a:r>
              <a:rPr lang="en-CA" dirty="0"/>
              <a:t>In data space, we can see these effects on bias and precision of coefficients.</a:t>
            </a:r>
          </a:p>
          <a:p>
            <a:endParaRPr lang="en-CA" dirty="0"/>
          </a:p>
          <a:p>
            <a:r>
              <a:rPr lang="en-CA" dirty="0"/>
              <a:t>But there is also a dual space of the parameters – beta space.</a:t>
            </a:r>
          </a:p>
        </p:txBody>
      </p:sp>
      <p:sp>
        <p:nvSpPr>
          <p:cNvPr id="4" name="Slide Number Placeholder 3"/>
          <p:cNvSpPr>
            <a:spLocks noGrp="1"/>
          </p:cNvSpPr>
          <p:nvPr>
            <p:ph type="sldNum" sz="quarter" idx="5"/>
          </p:nvPr>
        </p:nvSpPr>
        <p:spPr/>
        <p:txBody>
          <a:bodyPr/>
          <a:lstStyle/>
          <a:p>
            <a:fld id="{33E20828-1A1A-4225-BE3A-F8540A5E6146}" type="slidenum">
              <a:rPr lang="en-US" smtClean="0"/>
              <a:t>36</a:t>
            </a:fld>
            <a:endParaRPr lang="en-US"/>
          </a:p>
        </p:txBody>
      </p:sp>
    </p:spTree>
    <p:extLst>
      <p:ext uri="{BB962C8B-B14F-4D97-AF65-F5344CB8AC3E}">
        <p14:creationId xmlns:p14="http://schemas.microsoft.com/office/powerpoint/2010/main" val="3118350595"/>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37</a:t>
            </a:fld>
            <a:endParaRPr lang="en-US"/>
          </a:p>
        </p:txBody>
      </p:sp>
    </p:spTree>
    <p:extLst>
      <p:ext uri="{BB962C8B-B14F-4D97-AF65-F5344CB8AC3E}">
        <p14:creationId xmlns:p14="http://schemas.microsoft.com/office/powerpoint/2010/main" val="4263814153"/>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Data space and beta space for the coffee data. </a:t>
            </a:r>
            <a:endParaRPr lang="en-CA" dirty="0"/>
          </a:p>
          <a:p>
            <a:r>
              <a:rPr dirty="0"/>
              <a:t>Where the predictors have a wide spread, the coefficients are estimated precisely, and vice versa. </a:t>
            </a:r>
            <a:endParaRPr lang="en-CA" dirty="0"/>
          </a:p>
          <a:p>
            <a:r>
              <a:rPr lang="en-CA" dirty="0"/>
              <a:t>This shows why stress is significant in the full model, but coffee is not</a:t>
            </a:r>
          </a:p>
          <a:p>
            <a:r>
              <a:rPr lang="en-CA" dirty="0"/>
              <a:t>Beautiful relations between statistics, geometry &amp; matrix algebra</a:t>
            </a:r>
          </a:p>
          <a:p>
            <a:endParaRPr lang="en-CA" dirty="0"/>
          </a:p>
          <a:p>
            <a:r>
              <a:rPr lang="en-CA" dirty="0"/>
              <a:t>(</a:t>
            </a:r>
            <a:r>
              <a:rPr dirty="0"/>
              <a:t>This sets up collinearity.</a:t>
            </a:r>
            <a:r>
              <a:rPr lang="en-CA" dirty="0"/>
              <a:t>)</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Animations (play in slide show mode), with increasing measurement error added to Stress.</a:t>
            </a:r>
          </a:p>
          <a:p>
            <a:r>
              <a:t>Left, data space: the data ellipse for Heart and Stress gets wider, and the slope flattens.</a:t>
            </a:r>
          </a:p>
          <a:p>
            <a:r>
              <a:t>Middle, beta space for the simple regression: the coefficient for Stress is attenuated toward 0.</a:t>
            </a:r>
          </a:p>
          <a:p>
            <a:r>
              <a:t>OK, we understand that now. But, at the same time, in the model with both predictors (right), the effect of coffee becomes larger: it moves toward its marginal value, the slope you get ignoring Stress.</a:t>
            </a:r>
          </a:p>
          <a:p>
            <a:r>
              <a:t>Elliptical insight: increasing error in x2 drives the coefficient for x1 toward the marginal model. You can also see that the standard error of the Coffee coefficient decreases as error in Stress increases.</a:t>
            </a:r>
          </a:p>
        </p:txBody>
      </p:sp>
      <p:sp>
        <p:nvSpPr>
          <p:cNvPr id="4" name="Slide Number Placeholder 3"/>
          <p:cNvSpPr>
            <a:spLocks noGrp="1"/>
          </p:cNvSpPr>
          <p:nvPr>
            <p:ph type="sldNum" sz="quarter" idx="5"/>
          </p:nvPr>
        </p:nvSpPr>
        <p:spPr/>
        <p:txBody>
          <a:bodyPr/>
          <a:lstStyle/>
          <a:p>
            <a:fld id="{33E20828-1A1A-4225-BE3A-F8540A5E6146}" type="slidenum">
              <a:rPr lang="en-US" smtClean="0"/>
              <a:t>39</a:t>
            </a:fld>
            <a:endParaRPr lang="en-US"/>
          </a:p>
        </p:txBody>
      </p:sp>
    </p:spTree>
    <p:extLst>
      <p:ext uri="{BB962C8B-B14F-4D97-AF65-F5344CB8AC3E}">
        <p14:creationId xmlns:p14="http://schemas.microsoft.com/office/powerpoint/2010/main" val="3475539876"/>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A visual approach also helps to understand problems of collinearity--- high correlations among predictors--- in linear models</a:t>
            </a:r>
          </a:p>
          <a:p>
            <a:r>
              <a:rPr dirty="0"/>
              <a:t>The standard collinearity diagnostics table hides the important information. </a:t>
            </a:r>
            <a:endParaRPr lang="en-CA" dirty="0"/>
          </a:p>
          <a:p>
            <a:pPr marL="171450" indent="-171450">
              <a:buFont typeface="Arial" panose="020B0604020202020204" pitchFamily="34" charset="0"/>
              <a:buChar char="•"/>
            </a:pPr>
            <a:r>
              <a:rPr lang="en-CA" dirty="0"/>
              <a:t>A</a:t>
            </a:r>
            <a:r>
              <a:rPr dirty="0"/>
              <a:t> </a:t>
            </a:r>
            <a:r>
              <a:rPr dirty="0" err="1"/>
              <a:t>tableplot</a:t>
            </a:r>
            <a:r>
              <a:rPr dirty="0"/>
              <a:t> makes </a:t>
            </a:r>
            <a:r>
              <a:rPr lang="en-CA" dirty="0"/>
              <a:t>what you should attend to</a:t>
            </a:r>
            <a:r>
              <a:rPr dirty="0"/>
              <a:t> stand out</a:t>
            </a:r>
            <a:r>
              <a:rPr lang="en-CA" dirty="0"/>
              <a:t>– ordered by condition indices</a:t>
            </a:r>
          </a:p>
          <a:p>
            <a:endParaRPr lang="en-CA" dirty="0"/>
          </a:p>
          <a:p>
            <a:r>
              <a:rPr lang="en-CA" dirty="0"/>
              <a:t>A </a:t>
            </a:r>
            <a:r>
              <a:rPr dirty="0"/>
              <a:t>collinearity biplot shows which variables are involved</a:t>
            </a:r>
            <a:r>
              <a:rPr lang="en-CA" dirty="0"/>
              <a:t> and possible outliers appear in Waldo space</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Geometric interpretation of ridge regression.</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Univariate ridge trace plot for the Longley data.</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Instead of plotting point estimates, we can see effects of ridge shrinkage by plotting bivariate ellipsoids for pairs of parameters</a:t>
            </a:r>
          </a:p>
        </p:txBody>
      </p:sp>
      <p:sp>
        <p:nvSpPr>
          <p:cNvPr id="4" name="Slide Number Placeholder 3"/>
          <p:cNvSpPr>
            <a:spLocks noGrp="1"/>
          </p:cNvSpPr>
          <p:nvPr>
            <p:ph type="sldNum" sz="quarter" idx="5"/>
          </p:nvPr>
        </p:nvSpPr>
        <p:spPr/>
        <p:txBody>
          <a:bodyPr/>
          <a:lstStyle/>
          <a:p>
            <a:fld id="{33E20828-1A1A-4225-BE3A-F8540A5E6146}" type="slidenum">
              <a:rPr lang="en-US" smtClean="0"/>
              <a:t>43</a:t>
            </a:fld>
            <a:endParaRPr lang="en-US"/>
          </a:p>
        </p:txBody>
      </p:sp>
    </p:spTree>
    <p:extLst>
      <p:ext uri="{BB962C8B-B14F-4D97-AF65-F5344CB8AC3E}">
        <p14:creationId xmlns:p14="http://schemas.microsoft.com/office/powerpoint/2010/main" val="333736244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Transforming the predictors to PCA space makes them uncorrelated.</a:t>
            </a:r>
          </a:p>
          <a:p>
            <a:r>
              <a:rPr lang="en-CA" dirty="0"/>
              <a:t>Covariance ellipses for the dimensions show how shrinkage affects each pair.</a:t>
            </a:r>
          </a:p>
          <a:p>
            <a:r>
              <a:rPr lang="en-CA" dirty="0"/>
              <a:t>Nothing of interest except in the last two dimensions</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Transforming the predictors to PCA space makes them uncorrelated.</a:t>
            </a:r>
          </a:p>
          <a:p>
            <a:r>
              <a:rPr dirty="0"/>
              <a:t>Biplot view of the ridge trace plot for the smallest dimensions</a:t>
            </a:r>
            <a:r>
              <a:rPr lang="en-CA" dirty="0"/>
              <a:t> shows clearly how precision is increased </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Now, my favorite topic for today--- how we can use these visual ideas to better understand the hypothesis tests we get in MLMs – MANOVA and MMRA</a:t>
            </a:r>
          </a:p>
        </p:txBody>
      </p:sp>
    </p:spTree>
    <p:extLst>
      <p:ext uri="{BB962C8B-B14F-4D97-AF65-F5344CB8AC3E}">
        <p14:creationId xmlns:p14="http://schemas.microsoft.com/office/powerpoint/2010/main" val="280565768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The HE plot framework starts with data ellipses for the groups in a multivariate linear model</a:t>
            </a:r>
          </a:p>
          <a:p>
            <a:r>
              <a:rPr lang="en-CA" dirty="0"/>
              <a:t>An “HE plot” summarizes the evidence for differences among groups in a MANOVA design</a:t>
            </a:r>
          </a:p>
          <a:p>
            <a:r>
              <a:rPr lang="en-CA" dirty="0"/>
              <a:t>Equally, this can be cast as a discriminant analysis problem</a:t>
            </a:r>
          </a:p>
          <a:p>
            <a:r>
              <a:rPr lang="en-CA" dirty="0"/>
              <a:t>A simple description can be seen in an HE plot in canonical space</a:t>
            </a:r>
          </a:p>
        </p:txBody>
      </p:sp>
      <p:sp>
        <p:nvSpPr>
          <p:cNvPr id="4" name="Slide Number Placeholder 3"/>
          <p:cNvSpPr>
            <a:spLocks noGrp="1"/>
          </p:cNvSpPr>
          <p:nvPr>
            <p:ph type="sldNum" sz="quarter" idx="5"/>
          </p:nvPr>
        </p:nvSpPr>
        <p:spPr/>
        <p:txBody>
          <a:bodyPr/>
          <a:lstStyle/>
          <a:p>
            <a:fld id="{33E20828-1A1A-4225-BE3A-F8540A5E6146}" type="slidenum">
              <a:rPr lang="en-US" smtClean="0"/>
              <a:t>47</a:t>
            </a:fld>
            <a:endParaRPr lang="en-US"/>
          </a:p>
        </p:txBody>
      </p:sp>
    </p:spTree>
    <p:extLst>
      <p:ext uri="{BB962C8B-B14F-4D97-AF65-F5344CB8AC3E}">
        <p14:creationId xmlns:p14="http://schemas.microsoft.com/office/powerpoint/2010/main" val="164734665"/>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To simplify, I’ll use </a:t>
            </a:r>
            <a:r>
              <a:rPr lang="en-CA" dirty="0" err="1"/>
              <a:t>Mathscore</a:t>
            </a:r>
            <a:r>
              <a:rPr lang="en-CA" dirty="0"/>
              <a:t> data: two groups, basic math (BM) and word problems (WP). </a:t>
            </a:r>
          </a:p>
          <a:p>
            <a:r>
              <a:rPr lang="en-CA" dirty="0"/>
              <a:t>From the data to data ellipses to the HE plot. </a:t>
            </a:r>
          </a:p>
        </p:txBody>
      </p:sp>
    </p:spTree>
    <p:extLst>
      <p:ext uri="{BB962C8B-B14F-4D97-AF65-F5344CB8AC3E}">
        <p14:creationId xmlns:p14="http://schemas.microsoft.com/office/powerpoint/2010/main" val="1270602842"/>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The H ellipse is the data ellipse of the fitted values; with 1 </a:t>
            </a:r>
            <a:r>
              <a:rPr lang="en-CA" dirty="0" err="1"/>
              <a:t>df</a:t>
            </a:r>
            <a:r>
              <a:rPr lang="en-CA" dirty="0"/>
              <a:t> it collapses to a line. </a:t>
            </a:r>
          </a:p>
        </p:txBody>
      </p:sp>
    </p:spTree>
    <p:extLst>
      <p:ext uri="{BB962C8B-B14F-4D97-AF65-F5344CB8AC3E}">
        <p14:creationId xmlns:p14="http://schemas.microsoft.com/office/powerpoint/2010/main" val="3067118210"/>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The E ellipse is the data ellipse of the residuals: the pooled within-group covariance. </a:t>
            </a:r>
          </a:p>
        </p:txBody>
      </p:sp>
    </p:spTree>
    <p:extLst>
      <p:ext uri="{BB962C8B-B14F-4D97-AF65-F5344CB8AC3E}">
        <p14:creationId xmlns:p14="http://schemas.microsoft.com/office/powerpoint/2010/main" val="1214742665"/>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HE plots for bill depth vs bill length in the penguin data, with effect scaling (left) and significance scaling (right). </a:t>
            </a:r>
            <a:endParaRPr lang="en-CA" dirty="0"/>
          </a:p>
          <a:p>
            <a:r>
              <a:rPr dirty="0"/>
              <a:t>E: within-group variation. H: variation of the group means. </a:t>
            </a:r>
            <a:endParaRPr lang="en-CA"/>
          </a:p>
          <a:p>
            <a:r>
              <a:t>The </a:t>
            </a:r>
            <a:r>
              <a:rPr dirty="0"/>
              <a:t>orientation of H shows how the groups differ. The species effect is so strong that, with significance scaling, H dwarfs E.</a:t>
            </a:r>
          </a:p>
        </p:txBody>
      </p:sp>
      <p:sp>
        <p:nvSpPr>
          <p:cNvPr id="4" name="Slide Number Placeholder 3"/>
          <p:cNvSpPr>
            <a:spLocks noGrp="1"/>
          </p:cNvSpPr>
          <p:nvPr>
            <p:ph type="sldNum" sz="quarter" idx="5"/>
          </p:nvPr>
        </p:nvSpPr>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HE plot</a:t>
            </a:r>
            <a:r>
              <a:rPr lang="en-CA" dirty="0"/>
              <a:t>s also allow us to decompose an overall effect of group differences into effects related to contrasts among the factor levels</a:t>
            </a:r>
          </a:p>
          <a:p>
            <a:r>
              <a:rPr lang="en-CA" dirty="0"/>
              <a:t>F</a:t>
            </a:r>
            <a:r>
              <a:rPr dirty="0"/>
              <a:t>or bill length and depth in the penguin data, showing two orthogonal contrasts: Adelie vs Chinstrap (A:C), and those two vs Gentoo (AC:G). </a:t>
            </a:r>
            <a:endParaRPr lang="en-CA" dirty="0"/>
          </a:p>
          <a:p>
            <a:r>
              <a:rPr dirty="0"/>
              <a:t>Each is a line; together they are conjugate axes of the H ellipse.</a:t>
            </a:r>
          </a:p>
        </p:txBody>
      </p:sp>
      <p:sp>
        <p:nvSpPr>
          <p:cNvPr id="4" name="Slide Number Placeholder 3"/>
          <p:cNvSpPr>
            <a:spLocks noGrp="1"/>
          </p:cNvSpPr>
          <p:nvPr>
            <p:ph type="sldNum" sz="quarter" idx="5"/>
          </p:nvPr>
        </p:nvSpPr>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33E20828-1A1A-4225-BE3A-F8540A5E6146}" type="slidenum">
              <a:rPr lang="en-US" smtClean="0"/>
              <a:t>53</a:t>
            </a:fld>
            <a:endParaRPr lang="en-US"/>
          </a:p>
        </p:txBody>
      </p:sp>
    </p:spTree>
    <p:extLst>
      <p:ext uri="{BB962C8B-B14F-4D97-AF65-F5344CB8AC3E}">
        <p14:creationId xmlns:p14="http://schemas.microsoft.com/office/powerpoint/2010/main" val="1545383728"/>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The same ideas are available for multivariate multiple regression. </a:t>
            </a:r>
          </a:p>
          <a:p>
            <a:r>
              <a:rPr lang="en-CA" dirty="0"/>
              <a:t>HE plot for reading and math scores in the NLSY data, predicted from father's income and education. </a:t>
            </a:r>
          </a:p>
          <a:p>
            <a:r>
              <a:rPr lang="en-CA" dirty="0"/>
              <a:t>Each predictor has 1 </a:t>
            </a:r>
            <a:r>
              <a:rPr lang="en-CA" dirty="0" err="1"/>
              <a:t>df</a:t>
            </a:r>
            <a:r>
              <a:rPr lang="en-CA" dirty="0"/>
              <a:t>, so its H 'ellipse' collapses to a line: income relates mostly to math, education to both. </a:t>
            </a:r>
          </a:p>
          <a:p>
            <a:r>
              <a:rPr lang="en-CA" dirty="0"/>
              <a:t>The green ellipse is the overall test that both coefficients are zero; the lines for the separate predictors always lie within it.</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55</a:t>
            </a:fld>
            <a:endParaRPr lang="en-US"/>
          </a:p>
        </p:txBody>
      </p:sp>
    </p:spTree>
    <p:extLst>
      <p:ext uri="{BB962C8B-B14F-4D97-AF65-F5344CB8AC3E}">
        <p14:creationId xmlns:p14="http://schemas.microsoft.com/office/powerpoint/2010/main" val="263071285"/>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Illustration of the main ideas of linear discriminant analysis.</a:t>
            </a:r>
          </a:p>
        </p:txBody>
      </p:sp>
      <p:sp>
        <p:nvSpPr>
          <p:cNvPr id="4" name="Slide Number Placeholder 3"/>
          <p:cNvSpPr>
            <a:spLocks noGrp="1"/>
          </p:cNvSpPr>
          <p:nvPr>
            <p:ph type="sldNum" sz="quarter" idx="5"/>
          </p:nvPr>
        </p:nvSpPr>
        <p:spPr/>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Linear discriminant prediction regions for the penguin data.</a:t>
            </a:r>
          </a:p>
        </p:txBody>
      </p:sp>
      <p:sp>
        <p:nvSpPr>
          <p:cNvPr id="4" name="Slide Number Placeholder 3"/>
          <p:cNvSpPr>
            <a:spLocks noGrp="1"/>
          </p:cNvSpPr>
          <p:nvPr>
            <p:ph type="sldNum" sz="quarter" idx="5"/>
          </p:nvPr>
        </p:nvSpPr>
        <p:spPr/>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The penguin data in discriminant space, with variable vectors.</a:t>
            </a:r>
          </a:p>
        </p:txBody>
      </p:sp>
      <p:sp>
        <p:nvSpPr>
          <p:cNvPr id="4" name="Slide Number Placeholder 3"/>
          <p:cNvSpPr>
            <a:spLocks noGrp="1"/>
          </p:cNvSpPr>
          <p:nvPr>
            <p:ph type="sldNum" sz="quarter" idx="5"/>
          </p:nvPr>
        </p:nvSpPr>
        <p:spPr/>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lang="en-CA" dirty="0"/>
          </a:p>
          <a:p>
            <a:r>
              <a:rPr dirty="0"/>
              <a:t>School data model: reading, mathematics and self-esteem on five predictors, 70 schools. Distance plot (</a:t>
            </a:r>
            <a:r>
              <a:rPr dirty="0" err="1"/>
              <a:t>heplots</a:t>
            </a:r>
            <a:r>
              <a:rPr dirty="0"/>
              <a:t>::</a:t>
            </a:r>
            <a:r>
              <a:rPr dirty="0" err="1"/>
              <a:t>distancePlot</a:t>
            </a:r>
            <a:r>
              <a:rPr dirty="0"/>
              <a:t>) and influence plot (</a:t>
            </a:r>
            <a:r>
              <a:rPr dirty="0" err="1"/>
              <a:t>mvinfluence</a:t>
            </a:r>
            <a:r>
              <a:rPr dirty="0"/>
              <a:t>::</a:t>
            </a:r>
            <a:r>
              <a:rPr dirty="0" err="1"/>
              <a:t>influencePlot</a:t>
            </a:r>
            <a:r>
              <a:rPr dirty="0"/>
              <a:t>), re-drawn as a matched pair with the same cases in the same colors (talks/R/school-</a:t>
            </a:r>
            <a:r>
              <a:rPr dirty="0" err="1"/>
              <a:t>diagnostics.R</a:t>
            </a:r>
            <a:r>
              <a:rPr dirty="0"/>
              <a:t>). </a:t>
            </a:r>
            <a:endParaRPr lang="en-CA" dirty="0"/>
          </a:p>
          <a:p>
            <a:r>
              <a:rPr dirty="0"/>
              <a:t>Click 1: influence plot. Click 2: sensitivity analysis. Cook's D: 59 = 2.99, 44 = 1.60, 33 = 0.71, 35 = 0.30, 66 = 0.07. Without 44 and 59, education, occupation and visit remain significant; relative change in coefficients: visit 104% (reading), 77% (math); counseling 332%, 305%.</a:t>
            </a:r>
          </a:p>
        </p:txBody>
      </p:sp>
      <p:sp>
        <p:nvSpPr>
          <p:cNvPr id="4" name="Slide Number Placeholder 3"/>
          <p:cNvSpPr>
            <a:spLocks noGrp="1"/>
          </p:cNvSpPr>
          <p:nvPr>
            <p:ph type="sldNum" sz="quarter" idx="5"/>
          </p:nvPr>
        </p:nvSpPr>
        <p:spPr/>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Influence plot for the penguin MANOVA model.</a:t>
            </a:r>
          </a:p>
        </p:txBody>
      </p:sp>
      <p:sp>
        <p:nvSpPr>
          <p:cNvPr id="4" name="Slide Number Placeholder 3"/>
          <p:cNvSpPr>
            <a:spLocks noGrp="1"/>
          </p:cNvSpPr>
          <p:nvPr>
            <p:ph type="sldNum" sz="quarter" idx="5"/>
          </p:nvPr>
        </p:nvSpPr>
        <p:spPr/>
        <p:txBody>
          <a:bodyPr/>
          <a:lstStyle/>
          <a:p>
            <a:endParaRPr lang="en-CA"/>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heplots::robmlm() applied to the penguin model. Most coefficients change little; the largest changes are for Chinstrap, reflecting the removal of Cyrano.</a:t>
            </a:r>
          </a:p>
        </p:txBody>
      </p:sp>
      <p:sp>
        <p:nvSpPr>
          <p:cNvPr id="4" name="Slide Number Placeholder 3"/>
          <p:cNvSpPr>
            <a:spLocks noGrp="1"/>
          </p:cNvSpPr>
          <p:nvPr>
            <p:ph type="sldNum" sz="quarter" idx="5"/>
          </p:nvPr>
        </p:nvSpPr>
        <p:spPr/>
        <p:txBody>
          <a:bodyPr/>
          <a:lstStyle/>
          <a:p>
            <a:endParaRPr lang="en-CA"/>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Summary of the themes that recur through the book.</a:t>
            </a:r>
          </a:p>
        </p:txBody>
      </p:sp>
      <p:sp>
        <p:nvSpPr>
          <p:cNvPr id="4" name="Slide Number Placeholder 3"/>
          <p:cNvSpPr>
            <a:spLocks noGrp="1"/>
          </p:cNvSpPr>
          <p:nvPr>
            <p:ph type="sldNum" sz="quarter" idx="5"/>
          </p:nvPr>
        </p:nvSpPr>
        <p:spPr/>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Where to find the book and the software.</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4486A3-DB18-D473-3C2C-21A9E94FF9F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CA"/>
          </a:p>
        </p:txBody>
      </p:sp>
      <p:sp>
        <p:nvSpPr>
          <p:cNvPr id="3" name="Subtitle 2">
            <a:extLst>
              <a:ext uri="{FF2B5EF4-FFF2-40B4-BE49-F238E27FC236}">
                <a16:creationId xmlns:a16="http://schemas.microsoft.com/office/drawing/2014/main" id="{6885EA81-E434-D1B7-C80B-62E4ADD59CD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CA"/>
          </a:p>
        </p:txBody>
      </p:sp>
      <p:sp>
        <p:nvSpPr>
          <p:cNvPr id="4" name="Date Placeholder 3">
            <a:extLst>
              <a:ext uri="{FF2B5EF4-FFF2-40B4-BE49-F238E27FC236}">
                <a16:creationId xmlns:a16="http://schemas.microsoft.com/office/drawing/2014/main" id="{5C4680C3-BA4B-8E4A-D7F3-32B19F0BCA80}"/>
              </a:ext>
            </a:extLst>
          </p:cNvPr>
          <p:cNvSpPr>
            <a:spLocks noGrp="1"/>
          </p:cNvSpPr>
          <p:nvPr>
            <p:ph type="dt" sz="half" idx="10"/>
          </p:nvPr>
        </p:nvSpPr>
        <p:spPr/>
        <p:txBody>
          <a:bodyPr/>
          <a:lstStyle/>
          <a:p>
            <a:fld id="{A7D10891-3358-4CD0-A583-DA65327EA413}" type="datetimeFigureOut">
              <a:rPr lang="en-CA" smtClean="0"/>
              <a:t>2026-10-28</a:t>
            </a:fld>
            <a:endParaRPr lang="en-CA"/>
          </a:p>
        </p:txBody>
      </p:sp>
      <p:sp>
        <p:nvSpPr>
          <p:cNvPr id="5" name="Footer Placeholder 4">
            <a:extLst>
              <a:ext uri="{FF2B5EF4-FFF2-40B4-BE49-F238E27FC236}">
                <a16:creationId xmlns:a16="http://schemas.microsoft.com/office/drawing/2014/main" id="{FEA94193-AC1D-9679-4A87-E42BDF4F8744}"/>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AF6E5A0-F9CF-689C-8D61-E098A3F929DB}"/>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596730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2026-10-28</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93552C-0BFD-199A-C290-82E0E7DD888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CA"/>
          </a:p>
        </p:txBody>
      </p:sp>
      <p:sp>
        <p:nvSpPr>
          <p:cNvPr id="3" name="Text Placeholder 2">
            <a:extLst>
              <a:ext uri="{FF2B5EF4-FFF2-40B4-BE49-F238E27FC236}">
                <a16:creationId xmlns:a16="http://schemas.microsoft.com/office/drawing/2014/main" id="{12955B4E-7FFE-4BCA-4057-8E5B63DCE1B8}"/>
              </a:ext>
            </a:extLst>
          </p:cNvPr>
          <p:cNvSpPr>
            <a:spLocks noGrp="1"/>
          </p:cNvSpPr>
          <p:nvPr>
            <p:ph type="body" idx="1"/>
          </p:nvPr>
        </p:nvSpPr>
        <p:spPr>
          <a:xfrm>
            <a:off x="831850" y="4589463"/>
            <a:ext cx="10515600" cy="1500187"/>
          </a:xfrm>
        </p:spPr>
        <p:txBody>
          <a:bodyPr/>
          <a:lstStyle>
            <a:lvl1pPr marL="0" indent="0">
              <a:buNone/>
              <a:defRPr sz="2400">
                <a:solidFill>
                  <a:srgbClr val="2F3B52"/>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200ECAC-6645-C1FA-580D-1382315A14F2}"/>
              </a:ext>
            </a:extLst>
          </p:cNvPr>
          <p:cNvSpPr>
            <a:spLocks noGrp="1"/>
          </p:cNvSpPr>
          <p:nvPr>
            <p:ph type="dt" sz="half" idx="10"/>
          </p:nvPr>
        </p:nvSpPr>
        <p:spPr/>
        <p:txBody>
          <a:bodyPr/>
          <a:lstStyle/>
          <a:p>
            <a:fld id="{A7D10891-3358-4CD0-A583-DA65327EA413}" type="datetimeFigureOut">
              <a:rPr lang="en-CA" smtClean="0"/>
              <a:t>2026-10-28</a:t>
            </a:fld>
            <a:endParaRPr lang="en-CA"/>
          </a:p>
        </p:txBody>
      </p:sp>
      <p:sp>
        <p:nvSpPr>
          <p:cNvPr id="5" name="Footer Placeholder 4">
            <a:extLst>
              <a:ext uri="{FF2B5EF4-FFF2-40B4-BE49-F238E27FC236}">
                <a16:creationId xmlns:a16="http://schemas.microsoft.com/office/drawing/2014/main" id="{AE48408E-18C9-AE29-9B14-B3056D00FA56}"/>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7FE9CE17-62C5-B7EA-54A9-AA954533BA0B}"/>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27754701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2026-10-28</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5C1116-2C7D-3653-A739-58A48640D8B9}"/>
              </a:ext>
            </a:extLst>
          </p:cNvPr>
          <p:cNvSpPr>
            <a:spLocks noGrp="1"/>
          </p:cNvSpPr>
          <p:nvPr>
            <p:ph type="title"/>
          </p:nvPr>
        </p:nvSpPr>
        <p:spPr>
          <a:xfrm>
            <a:off x="839788" y="365125"/>
            <a:ext cx="10515600" cy="1143000"/>
          </a:xfrm>
        </p:spPr>
        <p:txBody>
          <a:bodyPr/>
          <a:lstStyle/>
          <a:p>
            <a:r>
              <a:rPr lang="en-US"/>
              <a:t>Click to edit Master title style</a:t>
            </a:r>
            <a:endParaRPr lang="en-CA"/>
          </a:p>
        </p:txBody>
      </p:sp>
      <p:sp>
        <p:nvSpPr>
          <p:cNvPr id="3" name="Text Placeholder 2">
            <a:extLst>
              <a:ext uri="{FF2B5EF4-FFF2-40B4-BE49-F238E27FC236}">
                <a16:creationId xmlns:a16="http://schemas.microsoft.com/office/drawing/2014/main" id="{DC3CF436-57B9-4904-9302-3AE3EF35485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CB7906C-0394-6DDE-10C3-9764E8C3EF1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Text Placeholder 4">
            <a:extLst>
              <a:ext uri="{FF2B5EF4-FFF2-40B4-BE49-F238E27FC236}">
                <a16:creationId xmlns:a16="http://schemas.microsoft.com/office/drawing/2014/main" id="{6C81D87C-73DF-EE7D-BA63-DA561306EAE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54BC3BF-5FEF-C7F5-A648-7AD79E88303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7" name="Date Placeholder 6">
            <a:extLst>
              <a:ext uri="{FF2B5EF4-FFF2-40B4-BE49-F238E27FC236}">
                <a16:creationId xmlns:a16="http://schemas.microsoft.com/office/drawing/2014/main" id="{910A4B92-FB68-E7CC-DE9B-0329CFE8DFFE}"/>
              </a:ext>
            </a:extLst>
          </p:cNvPr>
          <p:cNvSpPr>
            <a:spLocks noGrp="1"/>
          </p:cNvSpPr>
          <p:nvPr>
            <p:ph type="dt" sz="half" idx="10"/>
          </p:nvPr>
        </p:nvSpPr>
        <p:spPr/>
        <p:txBody>
          <a:bodyPr/>
          <a:lstStyle/>
          <a:p>
            <a:fld id="{A7D10891-3358-4CD0-A583-DA65327EA413}" type="datetimeFigureOut">
              <a:rPr lang="en-CA" smtClean="0"/>
              <a:t>2026-10-28</a:t>
            </a:fld>
            <a:endParaRPr lang="en-CA"/>
          </a:p>
        </p:txBody>
      </p:sp>
      <p:sp>
        <p:nvSpPr>
          <p:cNvPr id="8" name="Footer Placeholder 7">
            <a:extLst>
              <a:ext uri="{FF2B5EF4-FFF2-40B4-BE49-F238E27FC236}">
                <a16:creationId xmlns:a16="http://schemas.microsoft.com/office/drawing/2014/main" id="{FCC62FE2-5BA9-8351-CBA5-3F87C81D9981}"/>
              </a:ext>
            </a:extLst>
          </p:cNvPr>
          <p:cNvSpPr>
            <a:spLocks noGrp="1"/>
          </p:cNvSpPr>
          <p:nvPr>
            <p:ph type="ftr" sz="quarter" idx="11"/>
          </p:nvPr>
        </p:nvSpPr>
        <p:spPr/>
        <p:txBody>
          <a:bodyPr/>
          <a:lstStyle/>
          <a:p>
            <a:endParaRPr lang="en-CA"/>
          </a:p>
        </p:txBody>
      </p:sp>
      <p:sp>
        <p:nvSpPr>
          <p:cNvPr id="9" name="Slide Number Placeholder 8">
            <a:extLst>
              <a:ext uri="{FF2B5EF4-FFF2-40B4-BE49-F238E27FC236}">
                <a16:creationId xmlns:a16="http://schemas.microsoft.com/office/drawing/2014/main" id="{D0DDAA6C-1E0B-34E0-7DFF-FF2D380B8D8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42346436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p:txBody>
          <a:body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2026-10-28</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EE9229C-D7D2-65B0-65BD-6AFF2B6E6460}"/>
              </a:ext>
            </a:extLst>
          </p:cNvPr>
          <p:cNvSpPr>
            <a:spLocks noGrp="1"/>
          </p:cNvSpPr>
          <p:nvPr>
            <p:ph type="dt" sz="half" idx="10"/>
          </p:nvPr>
        </p:nvSpPr>
        <p:spPr/>
        <p:txBody>
          <a:bodyPr/>
          <a:lstStyle/>
          <a:p>
            <a:fld id="{A7D10891-3358-4CD0-A583-DA65327EA413}" type="datetimeFigureOut">
              <a:rPr lang="en-CA" smtClean="0"/>
              <a:t>2026-10-28</a:t>
            </a:fld>
            <a:endParaRPr lang="en-CA"/>
          </a:p>
        </p:txBody>
      </p:sp>
      <p:sp>
        <p:nvSpPr>
          <p:cNvPr id="3" name="Footer Placeholder 2">
            <a:extLst>
              <a:ext uri="{FF2B5EF4-FFF2-40B4-BE49-F238E27FC236}">
                <a16:creationId xmlns:a16="http://schemas.microsoft.com/office/drawing/2014/main" id="{222892CD-C6D8-0C0D-C9C0-68452DB5C412}"/>
              </a:ext>
            </a:extLst>
          </p:cNvPr>
          <p:cNvSpPr>
            <a:spLocks noGrp="1"/>
          </p:cNvSpPr>
          <p:nvPr>
            <p:ph type="ftr" sz="quarter" idx="11"/>
          </p:nvPr>
        </p:nvSpPr>
        <p:spPr/>
        <p:txBody>
          <a:bodyPr/>
          <a:lstStyle/>
          <a:p>
            <a:endParaRPr lang="en-CA"/>
          </a:p>
        </p:txBody>
      </p:sp>
      <p:sp>
        <p:nvSpPr>
          <p:cNvPr id="4" name="Slide Number Placeholder 3">
            <a:extLst>
              <a:ext uri="{FF2B5EF4-FFF2-40B4-BE49-F238E27FC236}">
                <a16:creationId xmlns:a16="http://schemas.microsoft.com/office/drawing/2014/main" id="{3430F02E-8D0A-A2EB-DB42-8F87B8DB7077}"/>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95395806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B15CE4-71A6-692F-C003-94BADEA4D64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29278F44-D0EC-1988-26FA-8B8E2FC38E3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Text Placeholder 3">
            <a:extLst>
              <a:ext uri="{FF2B5EF4-FFF2-40B4-BE49-F238E27FC236}">
                <a16:creationId xmlns:a16="http://schemas.microsoft.com/office/drawing/2014/main" id="{E725C2EF-17DE-9B90-ED6D-D6E91086AA4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14E512C-223F-E79F-15ED-0ECA2BE2C312}"/>
              </a:ext>
            </a:extLst>
          </p:cNvPr>
          <p:cNvSpPr>
            <a:spLocks noGrp="1"/>
          </p:cNvSpPr>
          <p:nvPr>
            <p:ph type="dt" sz="half" idx="10"/>
          </p:nvPr>
        </p:nvSpPr>
        <p:spPr/>
        <p:txBody>
          <a:bodyPr/>
          <a:lstStyle/>
          <a:p>
            <a:fld id="{A7D10891-3358-4CD0-A583-DA65327EA413}" type="datetimeFigureOut">
              <a:rPr lang="en-CA" smtClean="0"/>
              <a:t>2026-10-28</a:t>
            </a:fld>
            <a:endParaRPr lang="en-CA"/>
          </a:p>
        </p:txBody>
      </p:sp>
      <p:sp>
        <p:nvSpPr>
          <p:cNvPr id="6" name="Footer Placeholder 5">
            <a:extLst>
              <a:ext uri="{FF2B5EF4-FFF2-40B4-BE49-F238E27FC236}">
                <a16:creationId xmlns:a16="http://schemas.microsoft.com/office/drawing/2014/main" id="{858AB3E7-2C8E-F043-C0C1-1F8DA5459CDA}"/>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03F348E1-3AEA-6F6F-23FD-BD544AF1FB8C}"/>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24480851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420F1B-959C-540A-AD2E-7D6FEC5E316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Picture Placeholder 2">
            <a:extLst>
              <a:ext uri="{FF2B5EF4-FFF2-40B4-BE49-F238E27FC236}">
                <a16:creationId xmlns:a16="http://schemas.microsoft.com/office/drawing/2014/main" id="{1D645BF4-A48B-E174-8718-5B35693139D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CA"/>
          </a:p>
        </p:txBody>
      </p:sp>
      <p:sp>
        <p:nvSpPr>
          <p:cNvPr id="4" name="Text Placeholder 3">
            <a:extLst>
              <a:ext uri="{FF2B5EF4-FFF2-40B4-BE49-F238E27FC236}">
                <a16:creationId xmlns:a16="http://schemas.microsoft.com/office/drawing/2014/main" id="{D56434C3-A68D-43AB-B28F-F34494BCBD2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D88CEE8-2C4C-8620-737C-AE8F04CF1D5E}"/>
              </a:ext>
            </a:extLst>
          </p:cNvPr>
          <p:cNvSpPr>
            <a:spLocks noGrp="1"/>
          </p:cNvSpPr>
          <p:nvPr>
            <p:ph type="dt" sz="half" idx="10"/>
          </p:nvPr>
        </p:nvSpPr>
        <p:spPr/>
        <p:txBody>
          <a:bodyPr/>
          <a:lstStyle/>
          <a:p>
            <a:fld id="{A7D10891-3358-4CD0-A583-DA65327EA413}" type="datetimeFigureOut">
              <a:rPr lang="en-CA" smtClean="0"/>
              <a:t>2026-10-28</a:t>
            </a:fld>
            <a:endParaRPr lang="en-CA"/>
          </a:p>
        </p:txBody>
      </p:sp>
      <p:sp>
        <p:nvSpPr>
          <p:cNvPr id="6" name="Footer Placeholder 5">
            <a:extLst>
              <a:ext uri="{FF2B5EF4-FFF2-40B4-BE49-F238E27FC236}">
                <a16:creationId xmlns:a16="http://schemas.microsoft.com/office/drawing/2014/main" id="{A2C675F7-9A4B-E2CB-776C-2A336043AEED}"/>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149A8741-0324-E12F-C095-4E7CC97648EC}"/>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58429830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37D17A-4D48-28EE-A810-A3D242882302}"/>
              </a:ext>
            </a:extLst>
          </p:cNvPr>
          <p:cNvSpPr>
            <a:spLocks noGrp="1"/>
          </p:cNvSpPr>
          <p:nvPr>
            <p:ph type="title"/>
          </p:nvPr>
        </p:nvSpPr>
        <p:spPr/>
        <p:txBody>
          <a:bodyPr/>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ABA77A73-0C15-3706-044A-408FF3649E9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571D1EA6-4923-146A-49B3-D75AFA21352F}"/>
              </a:ext>
            </a:extLst>
          </p:cNvPr>
          <p:cNvSpPr>
            <a:spLocks noGrp="1"/>
          </p:cNvSpPr>
          <p:nvPr>
            <p:ph type="dt" sz="half" idx="10"/>
          </p:nvPr>
        </p:nvSpPr>
        <p:spPr/>
        <p:txBody>
          <a:bodyPr/>
          <a:lstStyle/>
          <a:p>
            <a:fld id="{A7D10891-3358-4CD0-A583-DA65327EA413}" type="datetimeFigureOut">
              <a:rPr lang="en-CA" smtClean="0"/>
              <a:t>2026-10-28</a:t>
            </a:fld>
            <a:endParaRPr lang="en-CA"/>
          </a:p>
        </p:txBody>
      </p:sp>
      <p:sp>
        <p:nvSpPr>
          <p:cNvPr id="5" name="Footer Placeholder 4">
            <a:extLst>
              <a:ext uri="{FF2B5EF4-FFF2-40B4-BE49-F238E27FC236}">
                <a16:creationId xmlns:a16="http://schemas.microsoft.com/office/drawing/2014/main" id="{C10D5968-094E-28D6-8177-E63130DFF928}"/>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6FEAFB7-FDF1-A809-AA81-D948CE9A5F8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4392966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77B1715-C993-D91F-4787-F8D7CA3A5F3C}"/>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9D02B27B-63DC-598F-B6E2-B748A733691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F0A44A46-36D5-9B0F-3EB6-9306071F0FAB}"/>
              </a:ext>
            </a:extLst>
          </p:cNvPr>
          <p:cNvSpPr>
            <a:spLocks noGrp="1"/>
          </p:cNvSpPr>
          <p:nvPr>
            <p:ph type="dt" sz="half" idx="10"/>
          </p:nvPr>
        </p:nvSpPr>
        <p:spPr/>
        <p:txBody>
          <a:bodyPr/>
          <a:lstStyle/>
          <a:p>
            <a:fld id="{A7D10891-3358-4CD0-A583-DA65327EA413}" type="datetimeFigureOut">
              <a:rPr lang="en-CA" smtClean="0"/>
              <a:t>2026-10-28</a:t>
            </a:fld>
            <a:endParaRPr lang="en-CA"/>
          </a:p>
        </p:txBody>
      </p:sp>
      <p:sp>
        <p:nvSpPr>
          <p:cNvPr id="5" name="Footer Placeholder 4">
            <a:extLst>
              <a:ext uri="{FF2B5EF4-FFF2-40B4-BE49-F238E27FC236}">
                <a16:creationId xmlns:a16="http://schemas.microsoft.com/office/drawing/2014/main" id="{7C43ADB4-0946-1EFA-F8DB-66A4A7E332EA}"/>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8EA21D21-57D3-5D15-389F-E7ADDDD8E105}"/>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26903258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Only" preserve="1">
  <p:cSld name="Title Only · sec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1F3864">
              <a:alpha val="22000"/>
            </a:srgbClr>
          </a:solidFill>
          <a:ln w="19050">
            <a:solidFill>
              <a:srgbClr val="1F3864">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2026-10-28</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 sec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1F3864">
              <a:alpha val="22000"/>
            </a:srgbClr>
          </a:solidFill>
          <a:ln w="19050">
            <a:solidFill>
              <a:srgbClr val="1F3864">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2026-10-28</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woObj" preserve="1">
  <p:cSld name="Two Content · sec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1F3864">
              <a:alpha val="22000"/>
            </a:srgbClr>
          </a:solidFill>
          <a:ln w="19050">
            <a:solidFill>
              <a:srgbClr val="1F3864">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2026-10-28</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itleOnly" preserve="1">
  <p:cSld name="Title Only · sec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2E5EAA">
              <a:alpha val="22000"/>
            </a:srgbClr>
          </a:solidFill>
          <a:ln w="19050">
            <a:solidFill>
              <a:srgbClr val="2E5EAA">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2026-10-28</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obj" preserve="1">
  <p:cSld name="Title and Content · sec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2E5EAA">
              <a:alpha val="22000"/>
            </a:srgbClr>
          </a:solidFill>
          <a:ln w="19050">
            <a:solidFill>
              <a:srgbClr val="2E5EAA">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2026-10-28</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woObj" preserve="1">
  <p:cSld name="Two Content · sec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2E5EAA">
              <a:alpha val="22000"/>
            </a:srgbClr>
          </a:solidFill>
          <a:ln w="19050">
            <a:solidFill>
              <a:srgbClr val="2E5EAA">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2026-10-28</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itleOnly" preserve="1">
  <p:cSld name="Title Only · sec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008080">
              <a:alpha val="22000"/>
            </a:srgbClr>
          </a:solidFill>
          <a:ln w="19050">
            <a:solidFill>
              <a:srgbClr val="00808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2026-10-28</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 preserve="1">
  <p:cSld name="Title and Content · sec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008080">
              <a:alpha val="22000"/>
            </a:srgbClr>
          </a:solidFill>
          <a:ln w="19050">
            <a:solidFill>
              <a:srgbClr val="00808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2026-10-28</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woObj" preserve="1">
  <p:cSld name="Two Content · sec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008080">
              <a:alpha val="22000"/>
            </a:srgbClr>
          </a:solidFill>
          <a:ln w="19050">
            <a:solidFill>
              <a:srgbClr val="00808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2026-10-28</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itleOnly" preserve="1">
  <p:cSld name="Title Only · sec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267342">
              <a:alpha val="22000"/>
            </a:srgbClr>
          </a:solidFill>
          <a:ln w="19050">
            <a:solidFill>
              <a:srgbClr val="267342">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2026-10-28</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obj" preserve="1">
  <p:cSld name="Title and Content · sec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267342">
              <a:alpha val="22000"/>
            </a:srgbClr>
          </a:solidFill>
          <a:ln w="19050">
            <a:solidFill>
              <a:srgbClr val="267342">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2026-10-28</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woObj" preserve="1">
  <p:cSld name="Two Content · sec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267342">
              <a:alpha val="22000"/>
            </a:srgbClr>
          </a:solidFill>
          <a:ln w="19050">
            <a:solidFill>
              <a:srgbClr val="267342">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2026-10-28</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reserve="1">
  <p:cSld name="Title Only · sec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CC6600">
              <a:alpha val="22000"/>
            </a:srgbClr>
          </a:solidFill>
          <a:ln w="19050">
            <a:solidFill>
              <a:srgbClr val="CC660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2026-10-28</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obj" preserve="1">
  <p:cSld name="Title and Content · sec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CC6600">
              <a:alpha val="22000"/>
            </a:srgbClr>
          </a:solidFill>
          <a:ln w="19050">
            <a:solidFill>
              <a:srgbClr val="CC660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2026-10-28</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woObj" preserve="1">
  <p:cSld name="Two Content · sec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CC6600">
              <a:alpha val="22000"/>
            </a:srgbClr>
          </a:solidFill>
          <a:ln w="19050">
            <a:solidFill>
              <a:srgbClr val="CC660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2026-10-28</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titleOnly" preserve="1">
  <p:cSld name="Title Only · sec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A33B2B">
              <a:alpha val="22000"/>
            </a:srgbClr>
          </a:solidFill>
          <a:ln w="19050">
            <a:solidFill>
              <a:srgbClr val="A33B2B">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2026-10-28</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obj" preserve="1">
  <p:cSld name="Title and Content · sec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A33B2B">
              <a:alpha val="22000"/>
            </a:srgbClr>
          </a:solidFill>
          <a:ln w="19050">
            <a:solidFill>
              <a:srgbClr val="A33B2B">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2026-10-28</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obj" preserve="1">
  <p:cSld name="Title and Content · sec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D4AF37">
              <a:alpha val="22000"/>
            </a:srgbClr>
          </a:solidFill>
          <a:ln w="19050">
            <a:solidFill>
              <a:srgbClr val="D4AF37">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2026-10-28</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151011616"/>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twoObj" preserve="1">
  <p:cSld name="Two Content · sec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A33B2B">
              <a:alpha val="22000"/>
            </a:srgbClr>
          </a:solidFill>
          <a:ln w="19050">
            <a:solidFill>
              <a:srgbClr val="A33B2B">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2026-10-28</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twoObj" preserve="1">
  <p:cSld name="Two Content · sec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D4AF37">
              <a:alpha val="22000"/>
            </a:srgbClr>
          </a:solidFill>
          <a:ln w="19050">
            <a:solidFill>
              <a:srgbClr val="D4AF37">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2026-10-28</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9114759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theme" Target="../theme/theme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CCB12B1-0D45-5083-3C07-79A68792FA93}"/>
              </a:ext>
            </a:extLst>
          </p:cNvPr>
          <p:cNvSpPr>
            <a:spLocks noGrp="1"/>
          </p:cNvSpPr>
          <p:nvPr>
            <p:ph type="title"/>
          </p:nvPr>
        </p:nvSpPr>
        <p:spPr>
          <a:xfrm>
            <a:off x="838200" y="365125"/>
            <a:ext cx="10515600" cy="1143000"/>
          </a:xfrm>
          <a:prstGeom prst="rect">
            <a:avLst/>
          </a:prstGeom>
        </p:spPr>
        <p:txBody>
          <a:bodyPr vert="horz" lIns="91440" tIns="45720" rIns="91440" bIns="45720" rtlCol="0" anchor="ctr">
            <a:normAutofit/>
          </a:bodyPr>
          <a:lstStyle/>
          <a:p>
            <a:r>
              <a:rPr lang="en-US"/>
              <a:t>Click to edit Master title style</a:t>
            </a:r>
            <a:endParaRPr lang="en-CA"/>
          </a:p>
        </p:txBody>
      </p:sp>
      <p:sp>
        <p:nvSpPr>
          <p:cNvPr id="3" name="Text Placeholder 2">
            <a:extLst>
              <a:ext uri="{FF2B5EF4-FFF2-40B4-BE49-F238E27FC236}">
                <a16:creationId xmlns:a16="http://schemas.microsoft.com/office/drawing/2014/main" id="{0F559808-3D32-7A37-D584-26815CFBC628}"/>
              </a:ext>
            </a:extLst>
          </p:cNvPr>
          <p:cNvSpPr>
            <a:spLocks noGrp="1"/>
          </p:cNvSpPr>
          <p:nvPr>
            <p:ph type="body" idx="1"/>
          </p:nvPr>
        </p:nvSpPr>
        <p:spPr>
          <a:xfrm>
            <a:off x="838200" y="1643063"/>
            <a:ext cx="10515600" cy="45339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7F2819E6-998B-212B-C4AA-B9496436B02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7D10891-3358-4CD0-A583-DA65327EA413}" type="datetimeFigureOut">
              <a:rPr lang="en-CA" smtClean="0"/>
              <a:t>2026-10-28</a:t>
            </a:fld>
            <a:endParaRPr lang="en-CA"/>
          </a:p>
        </p:txBody>
      </p:sp>
      <p:sp>
        <p:nvSpPr>
          <p:cNvPr id="5" name="Footer Placeholder 4">
            <a:extLst>
              <a:ext uri="{FF2B5EF4-FFF2-40B4-BE49-F238E27FC236}">
                <a16:creationId xmlns:a16="http://schemas.microsoft.com/office/drawing/2014/main" id="{5CF8078D-866B-F3B4-630F-FE1A8ED65FC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CA"/>
          </a:p>
        </p:txBody>
      </p:sp>
      <p:sp>
        <p:nvSpPr>
          <p:cNvPr id="6" name="Slide Number Placeholder 5">
            <a:extLst>
              <a:ext uri="{FF2B5EF4-FFF2-40B4-BE49-F238E27FC236}">
                <a16:creationId xmlns:a16="http://schemas.microsoft.com/office/drawing/2014/main" id="{691377B5-A28A-9D03-B379-6A7984C147B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BFB2853-4965-4727-91C4-384EB30D99A4}" type="slidenum">
              <a:rPr lang="en-CA" smtClean="0"/>
              <a:t>‹#›</a:t>
            </a:fld>
            <a:endParaRPr lang="en-CA"/>
          </a:p>
        </p:txBody>
      </p:sp>
    </p:spTree>
    <p:extLst>
      <p:ext uri="{BB962C8B-B14F-4D97-AF65-F5344CB8AC3E}">
        <p14:creationId xmlns:p14="http://schemas.microsoft.com/office/powerpoint/2010/main" val="395799258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 id="2147483672" r:id="rId24"/>
    <p:sldLayoutId id="2147483673" r:id="rId25"/>
    <p:sldLayoutId id="2147483674" r:id="rId26"/>
    <p:sldLayoutId id="2147483675" r:id="rId27"/>
    <p:sldLayoutId id="2147483676" r:id="rId28"/>
    <p:sldLayoutId id="2147483678" r:id="rId29"/>
    <p:sldLayoutId id="2147483677" r:id="rId30"/>
    <p:sldLayoutId id="2147483679" r:id="rId31"/>
  </p:sldLayoutIdLst>
  <p:txStyles>
    <p:titleStyle>
      <a:lvl1pPr algn="l" defTabSz="914400" rtl="0" eaLnBrk="1" latinLnBrk="0" hangingPunct="1">
        <a:lnSpc>
          <a:spcPct val="90000"/>
        </a:lnSpc>
        <a:spcBef>
          <a:spcPct val="0"/>
        </a:spcBef>
        <a:buNone/>
        <a:defRPr sz="36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Clr>
          <a:srgbClr val="1F4E9A"/>
        </a:buClr>
        <a:buSzPct val="120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4.png"/><Relationship Id="rId3" Type="http://schemas.openxmlformats.org/officeDocument/2006/relationships/hyperlink" Target="https://friendly.github.io/" TargetMode="External"/><Relationship Id="rId7"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2.png"/><Relationship Id="rId5" Type="http://schemas.openxmlformats.org/officeDocument/2006/relationships/image" Target="../media/image1.png"/><Relationship Id="rId4" Type="http://schemas.openxmlformats.org/officeDocument/2006/relationships/hyperlink" Target="https://www.datavis.ca/" TargetMode="External"/></Relationships>
</file>

<file path=ppt/slides/_rels/slide2.xml.rels><?xml version="1.0" encoding="UTF-8" standalone="yes"?>
<Relationships xmlns="http://schemas.openxmlformats.org/package/2006/relationships"><Relationship Id="rId3" Type="http://schemas.openxmlformats.org/officeDocument/2006/relationships/hyperlink" Target="https://friendly.github.io/Vis-MLM-book/" TargetMode="External"/><Relationship Id="rId2" Type="http://schemas.openxmlformats.org/officeDocument/2006/relationships/notesSlide" Target="../notesSlides/notesSlide2.xml"/><Relationship Id="rId1" Type="http://schemas.openxmlformats.org/officeDocument/2006/relationships/slideLayout" Target="../slideLayouts/slideLayout14.xml"/><Relationship Id="rId4" Type="http://schemas.openxmlformats.org/officeDocument/2006/relationships/image" Target="../media/image5.jpg"/></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7" Type="http://schemas.openxmlformats.org/officeDocument/2006/relationships/image" Target="../media/image10.png"/><Relationship Id="rId2" Type="http://schemas.openxmlformats.org/officeDocument/2006/relationships/notesSlide" Target="../notesSlides/notesSlide3.xml"/><Relationship Id="rId1" Type="http://schemas.openxmlformats.org/officeDocument/2006/relationships/slideLayout" Target="../slideLayouts/slideLayout12.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notesSlide" Target="../notesSlides/notesSlide6.xml"/><Relationship Id="rId1" Type="http://schemas.openxmlformats.org/officeDocument/2006/relationships/slideLayout" Target="../slideLayouts/slideLayout14.xml"/><Relationship Id="rId4" Type="http://schemas.openxmlformats.org/officeDocument/2006/relationships/image" Target="../media/image13.png"/></Relationships>
</file>

<file path=ppt/slides/_rels/slide7.xml.rels><?xml version="1.0" encoding="UTF-8" standalone="yes"?>
<Relationships xmlns="http://schemas.openxmlformats.org/package/2006/relationships"><Relationship Id="rId3" Type="http://schemas.openxmlformats.org/officeDocument/2006/relationships/image" Target="../media/image14.gif"/><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8.xml"/><Relationship Id="rId1" Type="http://schemas.openxmlformats.org/officeDocument/2006/relationships/slideLayout" Target="../slideLayouts/slideLayout14.xml"/></Relationships>
</file>

<file path=ppt/slides/_rels/slide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9.xml"/><Relationship Id="rId1" Type="http://schemas.openxmlformats.org/officeDocument/2006/relationships/slideLayout" Target="../slideLayouts/slideLayout14.xml"/><Relationship Id="rId5" Type="http://schemas.openxmlformats.org/officeDocument/2006/relationships/image" Target="../media/image18.svg"/><Relationship Id="rId4" Type="http://schemas.openxmlformats.org/officeDocument/2006/relationships/image" Target="../media/image17.svg"/></Relationships>
</file>

<file path=ppt/slides/_rels/slide10.xml.rels><?xml version="1.0" encoding="UTF-8" standalone="yes"?>
<Relationships xmlns="http://schemas.openxmlformats.org/package/2006/relationships"><Relationship Id="rId3" Type="http://schemas.openxmlformats.org/officeDocument/2006/relationships/image" Target="../media/image19.jpg"/><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notesSlide" Target="../notesSlides/notesSlide11.xml"/><Relationship Id="rId1" Type="http://schemas.openxmlformats.org/officeDocument/2006/relationships/slideLayout" Target="../slideLayouts/slideLayout16.xml"/></Relationships>
</file>

<file path=ppt/slides/_rels/slide12.xml.rels><?xml version="1.0" encoding="UTF-8" standalone="yes"?>
<Relationships xmlns="http://schemas.openxmlformats.org/package/2006/relationships"><Relationship Id="rId3" Type="http://schemas.openxmlformats.org/officeDocument/2006/relationships/image" Target="../media/image21.jpeg"/><Relationship Id="rId2" Type="http://schemas.openxmlformats.org/officeDocument/2006/relationships/notesSlide" Target="../notesSlides/notesSlide12.xml"/><Relationship Id="rId1" Type="http://schemas.openxmlformats.org/officeDocument/2006/relationships/slideLayout" Target="../slideLayouts/slideLayout16.xml"/></Relationships>
</file>

<file path=ppt/slides/_rels/slide13.xml.rels><?xml version="1.0" encoding="UTF-8" standalone="yes"?>
<Relationships xmlns="http://schemas.openxmlformats.org/package/2006/relationships"><Relationship Id="rId3" Type="http://schemas.openxmlformats.org/officeDocument/2006/relationships/image" Target="../media/image22.jpeg"/><Relationship Id="rId2" Type="http://schemas.openxmlformats.org/officeDocument/2006/relationships/notesSlide" Target="../notesSlides/notesSlide13.xml"/><Relationship Id="rId1" Type="http://schemas.openxmlformats.org/officeDocument/2006/relationships/slideLayout" Target="../slideLayouts/slideLayout16.xml"/><Relationship Id="rId4" Type="http://schemas.openxmlformats.org/officeDocument/2006/relationships/image" Target="../media/image23.png"/></Relationships>
</file>

<file path=ppt/slides/_rels/slide14.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4.xml"/><Relationship Id="rId1" Type="http://schemas.openxmlformats.org/officeDocument/2006/relationships/slideLayout" Target="../slideLayouts/slideLayout16.xml"/><Relationship Id="rId4" Type="http://schemas.openxmlformats.org/officeDocument/2006/relationships/image" Target="../media/image25.png"/></Relationships>
</file>

<file path=ppt/slides/_rels/slide15.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5.xml"/><Relationship Id="rId1" Type="http://schemas.openxmlformats.org/officeDocument/2006/relationships/slideLayout" Target="../slideLayouts/slideLayout15.xml"/><Relationship Id="rId5" Type="http://schemas.openxmlformats.org/officeDocument/2006/relationships/image" Target="../media/image28.png"/><Relationship Id="rId4" Type="http://schemas.openxmlformats.org/officeDocument/2006/relationships/image" Target="../media/image27.png"/></Relationships>
</file>

<file path=ppt/slides/_rels/slide16.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6.xml"/><Relationship Id="rId1" Type="http://schemas.openxmlformats.org/officeDocument/2006/relationships/slideLayout" Target="../slideLayouts/slideLayout15.xml"/><Relationship Id="rId5" Type="http://schemas.openxmlformats.org/officeDocument/2006/relationships/image" Target="../media/image31.png"/><Relationship Id="rId4" Type="http://schemas.openxmlformats.org/officeDocument/2006/relationships/image" Target="../media/image30.png"/></Relationships>
</file>

<file path=ppt/slides/_rels/slide17.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7.xml"/><Relationship Id="rId1" Type="http://schemas.openxmlformats.org/officeDocument/2006/relationships/slideLayout" Target="../slideLayouts/slideLayout15.xml"/><Relationship Id="rId4" Type="http://schemas.openxmlformats.org/officeDocument/2006/relationships/image" Target="../media/image33.png"/></Relationships>
</file>

<file path=ppt/slides/_rels/slide18.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8.xml"/><Relationship Id="rId1" Type="http://schemas.openxmlformats.org/officeDocument/2006/relationships/slideLayout" Target="../slideLayouts/slideLayout15.xml"/><Relationship Id="rId5" Type="http://schemas.openxmlformats.org/officeDocument/2006/relationships/image" Target="../media/image35.png"/><Relationship Id="rId4" Type="http://schemas.openxmlformats.org/officeDocument/2006/relationships/image" Target="../media/image1.png"/></Relationships>
</file>

<file path=ppt/slides/_rels/slide19.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9.xml"/><Relationship Id="rId1" Type="http://schemas.openxmlformats.org/officeDocument/2006/relationships/slideLayout" Target="../slideLayouts/slideLayout15.xml"/><Relationship Id="rId6" Type="http://schemas.openxmlformats.org/officeDocument/2006/relationships/image" Target="../media/image26.png"/><Relationship Id="rId5" Type="http://schemas.openxmlformats.org/officeDocument/2006/relationships/hyperlink" Target="https://friendly.github.io/blog/posts/2026-10-peng-altviews/" TargetMode="External"/><Relationship Id="rId4" Type="http://schemas.openxmlformats.org/officeDocument/2006/relationships/image" Target="../media/image37.png"/></Relationships>
</file>

<file path=ppt/slides/_rels/slide20.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20.xml"/><Relationship Id="rId1" Type="http://schemas.openxmlformats.org/officeDocument/2006/relationships/slideLayout" Target="../slideLayouts/slideLayout17.xml"/></Relationships>
</file>

<file path=ppt/slides/_rels/slide21.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21.xml"/><Relationship Id="rId1" Type="http://schemas.openxmlformats.org/officeDocument/2006/relationships/slideLayout" Target="../slideLayouts/slideLayout17.xml"/><Relationship Id="rId5" Type="http://schemas.openxmlformats.org/officeDocument/2006/relationships/hyperlink" Target="https://doi.org/10.1016/S0167-9473(02)00290-6" TargetMode="External"/><Relationship Id="rId4" Type="http://schemas.openxmlformats.org/officeDocument/2006/relationships/image" Target="../media/image40.png"/></Relationships>
</file>

<file path=ppt/slides/_rels/slide22.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22.xml"/><Relationship Id="rId1" Type="http://schemas.openxmlformats.org/officeDocument/2006/relationships/slideLayout" Target="../slideLayouts/slideLayout15.xml"/></Relationships>
</file>

<file path=ppt/slides/_rels/slide23.xml.rels><?xml version="1.0" encoding="UTF-8" standalone="yes"?>
<Relationships xmlns="http://schemas.openxmlformats.org/package/2006/relationships"><Relationship Id="rId3" Type="http://schemas.openxmlformats.org/officeDocument/2006/relationships/image" Target="../media/image42.gif"/><Relationship Id="rId2" Type="http://schemas.openxmlformats.org/officeDocument/2006/relationships/notesSlide" Target="../notesSlides/notesSlide23.xml"/><Relationship Id="rId1" Type="http://schemas.openxmlformats.org/officeDocument/2006/relationships/slideLayout" Target="../slideLayouts/slideLayout15.xml"/></Relationships>
</file>

<file path=ppt/slides/_rels/slide24.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24.xml"/><Relationship Id="rId1" Type="http://schemas.openxmlformats.org/officeDocument/2006/relationships/slideLayout" Target="../slideLayouts/slideLayout3.xml"/><Relationship Id="rId5" Type="http://schemas.openxmlformats.org/officeDocument/2006/relationships/image" Target="../media/image45.png"/><Relationship Id="rId4" Type="http://schemas.openxmlformats.org/officeDocument/2006/relationships/image" Target="../media/image44.png"/></Relationships>
</file>

<file path=ppt/slides/_rels/slide25.xml.rels><?xml version="1.0" encoding="UTF-8" standalone="yes"?>
<Relationships xmlns="http://schemas.openxmlformats.org/package/2006/relationships"><Relationship Id="rId3" Type="http://schemas.openxmlformats.org/officeDocument/2006/relationships/image" Target="../media/image46.png"/><Relationship Id="rId7" Type="http://schemas.openxmlformats.org/officeDocument/2006/relationships/image" Target="../media/image49.jpg"/><Relationship Id="rId2" Type="http://schemas.openxmlformats.org/officeDocument/2006/relationships/notesSlide" Target="../notesSlides/notesSlide25.xml"/><Relationship Id="rId1" Type="http://schemas.openxmlformats.org/officeDocument/2006/relationships/slideLayout" Target="../slideLayouts/slideLayout7.xml"/><Relationship Id="rId6" Type="http://schemas.openxmlformats.org/officeDocument/2006/relationships/image" Target="../media/image48.png"/><Relationship Id="rId5" Type="http://schemas.microsoft.com/office/2007/relationships/hdphoto" Target="../media/hdphoto1.wdp"/><Relationship Id="rId4" Type="http://schemas.openxmlformats.org/officeDocument/2006/relationships/image" Target="../media/image47.png"/></Relationships>
</file>

<file path=ppt/slides/_rels/slide26.xml.rels><?xml version="1.0" encoding="UTF-8" standalone="yes"?>
<Relationships xmlns="http://schemas.openxmlformats.org/package/2006/relationships"><Relationship Id="rId3" Type="http://schemas.openxmlformats.org/officeDocument/2006/relationships/image" Target="../media/image50.gif"/><Relationship Id="rId2" Type="http://schemas.openxmlformats.org/officeDocument/2006/relationships/notesSlide" Target="../notesSlides/notesSlide26.xml"/><Relationship Id="rId1" Type="http://schemas.openxmlformats.org/officeDocument/2006/relationships/slideLayout" Target="../slideLayouts/slideLayout18.xml"/></Relationships>
</file>

<file path=ppt/slides/_rels/slide27.xml.rels><?xml version="1.0" encoding="UTF-8" standalone="yes"?>
<Relationships xmlns="http://schemas.openxmlformats.org/package/2006/relationships"><Relationship Id="rId3" Type="http://schemas.openxmlformats.org/officeDocument/2006/relationships/image" Target="../media/image51.gif"/><Relationship Id="rId2" Type="http://schemas.openxmlformats.org/officeDocument/2006/relationships/notesSlide" Target="../notesSlides/notesSlide27.xml"/><Relationship Id="rId1" Type="http://schemas.openxmlformats.org/officeDocument/2006/relationships/slideLayout" Target="../slideLayouts/slideLayout18.xml"/></Relationships>
</file>

<file path=ppt/slides/_rels/slide28.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28.xml"/><Relationship Id="rId1" Type="http://schemas.openxmlformats.org/officeDocument/2006/relationships/slideLayout" Target="../slideLayouts/slideLayout20.xml"/><Relationship Id="rId4" Type="http://schemas.openxmlformats.org/officeDocument/2006/relationships/image" Target="../media/image53.png"/></Relationships>
</file>

<file path=ppt/slides/_rels/slide29.xml.rels><?xml version="1.0" encoding="UTF-8" standalone="yes"?>
<Relationships xmlns="http://schemas.openxmlformats.org/package/2006/relationships"><Relationship Id="rId3" Type="http://schemas.openxmlformats.org/officeDocument/2006/relationships/hyperlink" Target="https://rpubs.com/friendly/penguin-biplots" TargetMode="External"/><Relationship Id="rId2" Type="http://schemas.openxmlformats.org/officeDocument/2006/relationships/notesSlide" Target="../notesSlides/notesSlide29.xml"/><Relationship Id="rId1" Type="http://schemas.openxmlformats.org/officeDocument/2006/relationships/slideLayout" Target="../slideLayouts/slideLayout18.xml"/><Relationship Id="rId5" Type="http://schemas.openxmlformats.org/officeDocument/2006/relationships/image" Target="../media/image44.png"/><Relationship Id="rId4" Type="http://schemas.openxmlformats.org/officeDocument/2006/relationships/image" Target="../media/image52.png"/></Relationships>
</file>

<file path=ppt/slides/_rels/slide30.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30.xml"/><Relationship Id="rId1" Type="http://schemas.openxmlformats.org/officeDocument/2006/relationships/slideLayout" Target="../slideLayouts/slideLayout18.xml"/></Relationships>
</file>

<file path=ppt/slides/_rels/slide31.xml.rels><?xml version="1.0" encoding="UTF-8" standalone="yes"?>
<Relationships xmlns="http://schemas.openxmlformats.org/package/2006/relationships"><Relationship Id="rId3" Type="http://schemas.openxmlformats.org/officeDocument/2006/relationships/image" Target="../media/image54.gif"/><Relationship Id="rId2" Type="http://schemas.openxmlformats.org/officeDocument/2006/relationships/notesSlide" Target="../notesSlides/notesSlide31.xml"/><Relationship Id="rId1" Type="http://schemas.openxmlformats.org/officeDocument/2006/relationships/slideLayout" Target="../slideLayouts/slideLayout18.xml"/></Relationships>
</file>

<file path=ppt/slides/_rels/slide32.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32.xml"/><Relationship Id="rId1" Type="http://schemas.openxmlformats.org/officeDocument/2006/relationships/slideLayout" Target="../slideLayouts/slideLayout3.xml"/><Relationship Id="rId6" Type="http://schemas.openxmlformats.org/officeDocument/2006/relationships/image" Target="../media/image58.wmf"/><Relationship Id="rId5" Type="http://schemas.openxmlformats.org/officeDocument/2006/relationships/image" Target="../media/image57.png"/><Relationship Id="rId4" Type="http://schemas.openxmlformats.org/officeDocument/2006/relationships/image" Target="../media/image56.png"/></Relationships>
</file>

<file path=ppt/slides/_rels/slide33.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33.xml"/><Relationship Id="rId1" Type="http://schemas.openxmlformats.org/officeDocument/2006/relationships/slideLayout" Target="../slideLayouts/slideLayout22.xml"/><Relationship Id="rId6" Type="http://schemas.openxmlformats.org/officeDocument/2006/relationships/image" Target="../media/image58.wmf"/><Relationship Id="rId5" Type="http://schemas.openxmlformats.org/officeDocument/2006/relationships/image" Target="../media/image60.png"/><Relationship Id="rId4" Type="http://schemas.openxmlformats.org/officeDocument/2006/relationships/hyperlink" Target="http://www.datavis.ca/gallery/animation/outlier-demo/" TargetMode="External"/></Relationships>
</file>

<file path=ppt/slides/_rels/slide34.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34.xml"/><Relationship Id="rId1" Type="http://schemas.openxmlformats.org/officeDocument/2006/relationships/slideLayout" Target="../slideLayouts/slideLayout21.xml"/><Relationship Id="rId5" Type="http://schemas.openxmlformats.org/officeDocument/2006/relationships/hyperlink" Target="https://friendly.github.io/blog/posts/2026-10-peng-names/" TargetMode="External"/><Relationship Id="rId4" Type="http://schemas.openxmlformats.org/officeDocument/2006/relationships/image" Target="../media/image62.png"/></Relationships>
</file>

<file path=ppt/slides/_rels/slide35.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35.xml"/><Relationship Id="rId1" Type="http://schemas.openxmlformats.org/officeDocument/2006/relationships/slideLayout" Target="../slideLayouts/slideLayout23.xml"/><Relationship Id="rId4" Type="http://schemas.openxmlformats.org/officeDocument/2006/relationships/image" Target="../media/image58.wmf"/></Relationships>
</file>

<file path=ppt/slides/_rels/slide36.xml.rels><?xml version="1.0" encoding="UTF-8" standalone="yes"?>
<Relationships xmlns="http://schemas.openxmlformats.org/package/2006/relationships"><Relationship Id="rId3" Type="http://schemas.openxmlformats.org/officeDocument/2006/relationships/hyperlink" Target="https://www.datavis.ca/papers/ellipses-STS402.pdf" TargetMode="External"/><Relationship Id="rId2" Type="http://schemas.openxmlformats.org/officeDocument/2006/relationships/notesSlide" Target="../notesSlides/notesSlide36.xml"/><Relationship Id="rId1" Type="http://schemas.openxmlformats.org/officeDocument/2006/relationships/slideLayout" Target="../slideLayouts/slideLayout22.xml"/></Relationships>
</file>

<file path=ppt/slides/_rels/slide37.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37.xml"/><Relationship Id="rId1" Type="http://schemas.openxmlformats.org/officeDocument/2006/relationships/slideLayout" Target="../slideLayouts/slideLayout21.xml"/><Relationship Id="rId4" Type="http://schemas.openxmlformats.org/officeDocument/2006/relationships/image" Target="../media/image64.png"/></Relationships>
</file>

<file path=ppt/slides/_rels/slide38.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38.xml"/><Relationship Id="rId1" Type="http://schemas.openxmlformats.org/officeDocument/2006/relationships/slideLayout" Target="../slideLayouts/slideLayout21.xml"/></Relationships>
</file>

<file path=ppt/slides/_rels/slide39.xml.rels><?xml version="1.0" encoding="UTF-8" standalone="yes"?>
<Relationships xmlns="http://schemas.openxmlformats.org/package/2006/relationships"><Relationship Id="rId3" Type="http://schemas.openxmlformats.org/officeDocument/2006/relationships/image" Target="../media/image65.gif"/><Relationship Id="rId2" Type="http://schemas.openxmlformats.org/officeDocument/2006/relationships/notesSlide" Target="../notesSlides/notesSlide39.xml"/><Relationship Id="rId1" Type="http://schemas.openxmlformats.org/officeDocument/2006/relationships/slideLayout" Target="../slideLayouts/slideLayout22.xml"/><Relationship Id="rId5" Type="http://schemas.openxmlformats.org/officeDocument/2006/relationships/image" Target="../media/image67.gif"/><Relationship Id="rId4" Type="http://schemas.openxmlformats.org/officeDocument/2006/relationships/image" Target="../media/image66.gif"/></Relationships>
</file>

<file path=ppt/slides/_rels/slide40.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notesSlide" Target="../notesSlides/notesSlide40.xml"/><Relationship Id="rId1" Type="http://schemas.openxmlformats.org/officeDocument/2006/relationships/slideLayout" Target="../slideLayouts/slideLayout21.xml"/><Relationship Id="rId6" Type="http://schemas.openxmlformats.org/officeDocument/2006/relationships/image" Target="../media/image69.png"/><Relationship Id="rId5" Type="http://schemas.openxmlformats.org/officeDocument/2006/relationships/image" Target="../media/image10.png"/><Relationship Id="rId4" Type="http://schemas.openxmlformats.org/officeDocument/2006/relationships/image" Target="../media/image58.wmf"/></Relationships>
</file>

<file path=ppt/slides/_rels/slide41.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41.xml"/><Relationship Id="rId1" Type="http://schemas.openxmlformats.org/officeDocument/2006/relationships/slideLayout" Target="../slideLayouts/slideLayout23.xml"/><Relationship Id="rId6" Type="http://schemas.openxmlformats.org/officeDocument/2006/relationships/image" Target="../media/image72.png"/><Relationship Id="rId5" Type="http://schemas.openxmlformats.org/officeDocument/2006/relationships/image" Target="../media/image71.png"/><Relationship Id="rId4" Type="http://schemas.openxmlformats.org/officeDocument/2006/relationships/image" Target="../media/image9.png"/></Relationships>
</file>

<file path=ppt/slides/_rels/slide42.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notesSlide" Target="../notesSlides/notesSlide42.xml"/><Relationship Id="rId1" Type="http://schemas.openxmlformats.org/officeDocument/2006/relationships/slideLayout" Target="../slideLayouts/slideLayout23.xml"/></Relationships>
</file>

<file path=ppt/slides/_rels/slide4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43.xml"/><Relationship Id="rId1" Type="http://schemas.openxmlformats.org/officeDocument/2006/relationships/slideLayout" Target="../slideLayouts/slideLayout21.xml"/><Relationship Id="rId6" Type="http://schemas.openxmlformats.org/officeDocument/2006/relationships/image" Target="../media/image76.png"/><Relationship Id="rId5" Type="http://schemas.openxmlformats.org/officeDocument/2006/relationships/image" Target="../media/image75.png"/><Relationship Id="rId4" Type="http://schemas.openxmlformats.org/officeDocument/2006/relationships/image" Target="../media/image74.png"/></Relationships>
</file>

<file path=ppt/slides/_rels/slide44.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notesSlide" Target="../notesSlides/notesSlide44.xml"/><Relationship Id="rId1" Type="http://schemas.openxmlformats.org/officeDocument/2006/relationships/slideLayout" Target="../slideLayouts/slideLayout23.xml"/></Relationships>
</file>

<file path=ppt/slides/_rels/slide45.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notesSlide" Target="../notesSlides/notesSlide45.xml"/><Relationship Id="rId1" Type="http://schemas.openxmlformats.org/officeDocument/2006/relationships/slideLayout" Target="../slideLayouts/slideLayout23.xml"/></Relationships>
</file>

<file path=ppt/slides/_rels/slide46.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notesSlide" Target="../notesSlides/notesSlide46.xml"/><Relationship Id="rId1" Type="http://schemas.openxmlformats.org/officeDocument/2006/relationships/slideLayout" Target="../slideLayouts/slideLayout3.xml"/><Relationship Id="rId6" Type="http://schemas.openxmlformats.org/officeDocument/2006/relationships/image" Target="../media/image6.png"/><Relationship Id="rId5" Type="http://schemas.openxmlformats.org/officeDocument/2006/relationships/image" Target="../media/image81.png"/><Relationship Id="rId4" Type="http://schemas.openxmlformats.org/officeDocument/2006/relationships/image" Target="../media/image80.png"/></Relationships>
</file>

<file path=ppt/slides/_rels/slide47.xml.rels><?xml version="1.0" encoding="UTF-8" standalone="yes"?>
<Relationships xmlns="http://schemas.openxmlformats.org/package/2006/relationships"><Relationship Id="rId8" Type="http://schemas.openxmlformats.org/officeDocument/2006/relationships/image" Target="../media/image86.png"/><Relationship Id="rId3" Type="http://schemas.openxmlformats.org/officeDocument/2006/relationships/image" Target="../media/image79.png"/><Relationship Id="rId7" Type="http://schemas.openxmlformats.org/officeDocument/2006/relationships/image" Target="../media/image85.png"/><Relationship Id="rId2" Type="http://schemas.openxmlformats.org/officeDocument/2006/relationships/notesSlide" Target="../notesSlides/notesSlide47.xml"/><Relationship Id="rId1" Type="http://schemas.openxmlformats.org/officeDocument/2006/relationships/slideLayout" Target="../slideLayouts/slideLayout24.xml"/><Relationship Id="rId6" Type="http://schemas.openxmlformats.org/officeDocument/2006/relationships/image" Target="../media/image84.png"/><Relationship Id="rId5" Type="http://schemas.openxmlformats.org/officeDocument/2006/relationships/image" Target="../media/image83.png"/><Relationship Id="rId4" Type="http://schemas.openxmlformats.org/officeDocument/2006/relationships/image" Target="../media/image82.png"/></Relationships>
</file>

<file path=ppt/slides/_rels/slide48.xml.rels><?xml version="1.0" encoding="UTF-8" standalone="yes"?>
<Relationships xmlns="http://schemas.openxmlformats.org/package/2006/relationships"><Relationship Id="rId3" Type="http://schemas.openxmlformats.org/officeDocument/2006/relationships/image" Target="../media/image87.png"/><Relationship Id="rId2" Type="http://schemas.openxmlformats.org/officeDocument/2006/relationships/notesSlide" Target="../notesSlides/notesSlide48.xml"/><Relationship Id="rId1" Type="http://schemas.openxmlformats.org/officeDocument/2006/relationships/slideLayout" Target="../slideLayouts/slideLayout25.xml"/><Relationship Id="rId5" Type="http://schemas.openxmlformats.org/officeDocument/2006/relationships/image" Target="../media/image89.png"/><Relationship Id="rId4" Type="http://schemas.openxmlformats.org/officeDocument/2006/relationships/image" Target="../media/image88.png"/></Relationships>
</file>

<file path=ppt/slides/_rels/slide49.xml.rels><?xml version="1.0" encoding="UTF-8" standalone="yes"?>
<Relationships xmlns="http://schemas.openxmlformats.org/package/2006/relationships"><Relationship Id="rId3" Type="http://schemas.openxmlformats.org/officeDocument/2006/relationships/image" Target="../media/image87.png"/><Relationship Id="rId2" Type="http://schemas.openxmlformats.org/officeDocument/2006/relationships/notesSlide" Target="../notesSlides/notesSlide49.xml"/><Relationship Id="rId1" Type="http://schemas.openxmlformats.org/officeDocument/2006/relationships/slideLayout" Target="../slideLayouts/slideLayout25.xml"/><Relationship Id="rId6" Type="http://schemas.openxmlformats.org/officeDocument/2006/relationships/image" Target="../media/image91.wmf"/><Relationship Id="rId5" Type="http://schemas.openxmlformats.org/officeDocument/2006/relationships/oleObject" Target="../embeddings/oleObject1.bin"/><Relationship Id="rId4" Type="http://schemas.openxmlformats.org/officeDocument/2006/relationships/image" Target="../media/image90.png"/></Relationships>
</file>

<file path=ppt/slides/_rels/slide50.xml.rels><?xml version="1.0" encoding="UTF-8" standalone="yes"?>
<Relationships xmlns="http://schemas.openxmlformats.org/package/2006/relationships"><Relationship Id="rId3" Type="http://schemas.openxmlformats.org/officeDocument/2006/relationships/image" Target="../media/image88.png"/><Relationship Id="rId7" Type="http://schemas.openxmlformats.org/officeDocument/2006/relationships/image" Target="../media/image94.wmf"/><Relationship Id="rId2" Type="http://schemas.openxmlformats.org/officeDocument/2006/relationships/notesSlide" Target="../notesSlides/notesSlide50.xml"/><Relationship Id="rId1" Type="http://schemas.openxmlformats.org/officeDocument/2006/relationships/slideLayout" Target="../slideLayouts/slideLayout25.xml"/><Relationship Id="rId6" Type="http://schemas.openxmlformats.org/officeDocument/2006/relationships/oleObject" Target="../embeddings/oleObject2.bin"/><Relationship Id="rId5" Type="http://schemas.openxmlformats.org/officeDocument/2006/relationships/image" Target="../media/image93.png"/><Relationship Id="rId4" Type="http://schemas.openxmlformats.org/officeDocument/2006/relationships/image" Target="../media/image92.png"/></Relationships>
</file>

<file path=ppt/slides/_rels/slide51.xml.rels><?xml version="1.0" encoding="UTF-8" standalone="yes"?>
<Relationships xmlns="http://schemas.openxmlformats.org/package/2006/relationships"><Relationship Id="rId3" Type="http://schemas.openxmlformats.org/officeDocument/2006/relationships/image" Target="../media/image95.png"/><Relationship Id="rId2" Type="http://schemas.openxmlformats.org/officeDocument/2006/relationships/notesSlide" Target="../notesSlides/notesSlide51.xml"/><Relationship Id="rId1" Type="http://schemas.openxmlformats.org/officeDocument/2006/relationships/slideLayout" Target="../slideLayouts/slideLayout24.xml"/><Relationship Id="rId4" Type="http://schemas.openxmlformats.org/officeDocument/2006/relationships/image" Target="../media/image96.png"/></Relationships>
</file>

<file path=ppt/slides/_rels/slide52.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notesSlide" Target="../notesSlides/notesSlide52.xml"/><Relationship Id="rId1" Type="http://schemas.openxmlformats.org/officeDocument/2006/relationships/slideLayout" Target="../slideLayouts/slideLayout26.xml"/></Relationships>
</file>

<file path=ppt/slides/_rels/slide53.xml.rels><?xml version="1.0" encoding="UTF-8" standalone="yes"?>
<Relationships xmlns="http://schemas.openxmlformats.org/package/2006/relationships"><Relationship Id="rId3" Type="http://schemas.openxmlformats.org/officeDocument/2006/relationships/image" Target="../media/image98.png"/><Relationship Id="rId2" Type="http://schemas.openxmlformats.org/officeDocument/2006/relationships/notesSlide" Target="../notesSlides/notesSlide53.xml"/><Relationship Id="rId1" Type="http://schemas.openxmlformats.org/officeDocument/2006/relationships/slideLayout" Target="../slideLayouts/slideLayout24.xml"/></Relationships>
</file>

<file path=ppt/slides/_rels/slide54.xml.rels><?xml version="1.0" encoding="UTF-8" standalone="yes"?>
<Relationships xmlns="http://schemas.openxmlformats.org/package/2006/relationships"><Relationship Id="rId3" Type="http://schemas.openxmlformats.org/officeDocument/2006/relationships/image" Target="../media/image99.png"/><Relationship Id="rId2" Type="http://schemas.openxmlformats.org/officeDocument/2006/relationships/notesSlide" Target="../notesSlides/notesSlide54.xml"/><Relationship Id="rId1" Type="http://schemas.openxmlformats.org/officeDocument/2006/relationships/slideLayout" Target="../slideLayouts/slideLayout26.xml"/></Relationships>
</file>

<file path=ppt/slides/_rels/slide55.xml.rels><?xml version="1.0" encoding="UTF-8" standalone="yes"?>
<Relationships xmlns="http://schemas.openxmlformats.org/package/2006/relationships"><Relationship Id="rId3" Type="http://schemas.openxmlformats.org/officeDocument/2006/relationships/image" Target="../media/image890.png"/><Relationship Id="rId2" Type="http://schemas.openxmlformats.org/officeDocument/2006/relationships/notesSlide" Target="../notesSlides/notesSlide55.xml"/><Relationship Id="rId1" Type="http://schemas.openxmlformats.org/officeDocument/2006/relationships/slideLayout" Target="../slideLayouts/slideLayout25.xml"/><Relationship Id="rId5" Type="http://schemas.openxmlformats.org/officeDocument/2006/relationships/image" Target="../media/image81.png"/><Relationship Id="rId4" Type="http://schemas.openxmlformats.org/officeDocument/2006/relationships/image" Target="../media/image100.png"/></Relationships>
</file>

<file path=ppt/slides/_rels/slide56.xml.rels><?xml version="1.0" encoding="UTF-8" standalone="yes"?>
<Relationships xmlns="http://schemas.openxmlformats.org/package/2006/relationships"><Relationship Id="rId3" Type="http://schemas.openxmlformats.org/officeDocument/2006/relationships/image" Target="../media/image101.jpg"/><Relationship Id="rId2" Type="http://schemas.openxmlformats.org/officeDocument/2006/relationships/notesSlide" Target="../notesSlides/notesSlide56.xml"/><Relationship Id="rId1" Type="http://schemas.openxmlformats.org/officeDocument/2006/relationships/slideLayout" Target="../slideLayouts/slideLayout24.xml"/></Relationships>
</file>

<file path=ppt/slides/_rels/slide57.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notesSlide" Target="../notesSlides/notesSlide57.xml"/><Relationship Id="rId1" Type="http://schemas.openxmlformats.org/officeDocument/2006/relationships/slideLayout" Target="../slideLayouts/slideLayout24.xml"/></Relationships>
</file>

<file path=ppt/slides/_rels/slide58.xml.rels><?xml version="1.0" encoding="UTF-8" standalone="yes"?>
<Relationships xmlns="http://schemas.openxmlformats.org/package/2006/relationships"><Relationship Id="rId3" Type="http://schemas.openxmlformats.org/officeDocument/2006/relationships/image" Target="../media/image103.png"/><Relationship Id="rId2" Type="http://schemas.openxmlformats.org/officeDocument/2006/relationships/notesSlide" Target="../notesSlides/notesSlide58.xml"/><Relationship Id="rId1" Type="http://schemas.openxmlformats.org/officeDocument/2006/relationships/slideLayout" Target="../slideLayouts/slideLayout26.xml"/></Relationships>
</file>

<file path=ppt/slides/_rels/slide59.xml.rels><?xml version="1.0" encoding="UTF-8" standalone="yes"?>
<Relationships xmlns="http://schemas.openxmlformats.org/package/2006/relationships"><Relationship Id="rId3" Type="http://schemas.openxmlformats.org/officeDocument/2006/relationships/image" Target="../media/image105.png"/><Relationship Id="rId2" Type="http://schemas.openxmlformats.org/officeDocument/2006/relationships/image" Target="../media/image104.png"/><Relationship Id="rId1" Type="http://schemas.openxmlformats.org/officeDocument/2006/relationships/slideLayout" Target="../slideLayouts/slideLayout3.xml"/><Relationship Id="rId5" Type="http://schemas.openxmlformats.org/officeDocument/2006/relationships/slide" Target="slide63.xml"/><Relationship Id="rId4" Type="http://schemas.openxmlformats.org/officeDocument/2006/relationships/image" Target="../media/image106.png"/></Relationships>
</file>

<file path=ppt/slides/_rels/slide60.xml.rels><?xml version="1.0" encoding="UTF-8" standalone="yes"?>
<Relationships xmlns="http://schemas.openxmlformats.org/package/2006/relationships"><Relationship Id="rId3" Type="http://schemas.openxmlformats.org/officeDocument/2006/relationships/image" Target="../media/image104.png"/><Relationship Id="rId2" Type="http://schemas.openxmlformats.org/officeDocument/2006/relationships/notesSlide" Target="../notesSlides/notesSlide59.xml"/><Relationship Id="rId1" Type="http://schemas.openxmlformats.org/officeDocument/2006/relationships/slideLayout" Target="../slideLayouts/slideLayout30.xml"/><Relationship Id="rId4" Type="http://schemas.openxmlformats.org/officeDocument/2006/relationships/image" Target="../media/image105.png"/></Relationships>
</file>

<file path=ppt/slides/_rels/slide61.xml.rels><?xml version="1.0" encoding="UTF-8" standalone="yes"?>
<Relationships xmlns="http://schemas.openxmlformats.org/package/2006/relationships"><Relationship Id="rId3" Type="http://schemas.openxmlformats.org/officeDocument/2006/relationships/image" Target="../media/image107.png"/><Relationship Id="rId2" Type="http://schemas.openxmlformats.org/officeDocument/2006/relationships/notesSlide" Target="../notesSlides/notesSlide60.xml"/><Relationship Id="rId1" Type="http://schemas.openxmlformats.org/officeDocument/2006/relationships/slideLayout" Target="../slideLayouts/slideLayout30.xml"/><Relationship Id="rId4" Type="http://schemas.openxmlformats.org/officeDocument/2006/relationships/image" Target="../media/image8.png"/></Relationships>
</file>

<file path=ppt/slides/_rels/slide62.xml.rels><?xml version="1.0" encoding="UTF-8" standalone="yes"?>
<Relationships xmlns="http://schemas.openxmlformats.org/package/2006/relationships"><Relationship Id="rId3" Type="http://schemas.openxmlformats.org/officeDocument/2006/relationships/image" Target="../media/image108.png"/><Relationship Id="rId2" Type="http://schemas.openxmlformats.org/officeDocument/2006/relationships/notesSlide" Target="../notesSlides/notesSlide61.xml"/><Relationship Id="rId1" Type="http://schemas.openxmlformats.org/officeDocument/2006/relationships/slideLayout" Target="../slideLayouts/slideLayout30.xml"/><Relationship Id="rId4" Type="http://schemas.openxmlformats.org/officeDocument/2006/relationships/image" Target="../media/image6.png"/></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9.xml"/></Relationships>
</file>

<file path=ppt/slides/_rels/slide64.xml.rels><?xml version="1.0" encoding="UTF-8" standalone="yes"?>
<Relationships xmlns="http://schemas.openxmlformats.org/package/2006/relationships"><Relationship Id="rId3" Type="http://schemas.openxmlformats.org/officeDocument/2006/relationships/hyperlink" Target="https://friendly.github.io/Vis-MLM-book/" TargetMode="External"/><Relationship Id="rId2" Type="http://schemas.openxmlformats.org/officeDocument/2006/relationships/notesSlide" Target="../notesSlides/notesSlide63.xml"/><Relationship Id="rId1" Type="http://schemas.openxmlformats.org/officeDocument/2006/relationships/slideLayout" Target="../slideLayouts/slideLayout31.xml"/><Relationship Id="rId5" Type="http://schemas.openxmlformats.org/officeDocument/2006/relationships/image" Target="../media/image5.jpg"/><Relationship Id="rId4" Type="http://schemas.openxmlformats.org/officeDocument/2006/relationships/hyperlink" Target="https://friendly.github.io/blog/" TargetMode="External"/></Relationships>
</file>

<file path=ppt/slides/_rels/slide65.xml.rels><?xml version="1.0" encoding="UTF-8" standalone="yes"?>
<Relationships xmlns="http://schemas.openxmlformats.org/package/2006/relationships"><Relationship Id="rId2" Type="http://schemas.openxmlformats.org/officeDocument/2006/relationships/image" Target="../media/image109.gif"/><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FFBEA"/>
            </a:gs>
            <a:gs pos="100000">
              <a:srgbClr val="E8C547"/>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1527048" y="3052014"/>
            <a:ext cx="9144000" cy="1828800"/>
          </a:xfrm>
        </p:spPr>
        <p:txBody>
          <a:bodyPr/>
          <a:lstStyle/>
          <a:p>
            <a:r>
              <a:rPr dirty="0"/>
              <a:t>Visualizing Multivariate Data and Models in R</a:t>
            </a:r>
          </a:p>
        </p:txBody>
      </p:sp>
      <p:sp>
        <p:nvSpPr>
          <p:cNvPr id="3" name="Subtitle 2"/>
          <p:cNvSpPr>
            <a:spLocks noGrp="1"/>
          </p:cNvSpPr>
          <p:nvPr>
            <p:ph type="subTitle" idx="1"/>
          </p:nvPr>
        </p:nvSpPr>
        <p:spPr>
          <a:xfrm>
            <a:off x="1527048" y="4935634"/>
            <a:ext cx="9144000" cy="1655064"/>
          </a:xfrm>
        </p:spPr>
        <p:txBody>
          <a:bodyPr>
            <a:normAutofit fontScale="92500" lnSpcReduction="10000"/>
          </a:bodyPr>
          <a:lstStyle/>
          <a:p>
            <a:r>
              <a:rPr sz="3200" dirty="0"/>
              <a:t>A Romance in Many Dimensions</a:t>
            </a:r>
          </a:p>
          <a:p>
            <a:endParaRPr dirty="0"/>
          </a:p>
          <a:p>
            <a:r>
              <a:rPr lang="en-CA" dirty="0"/>
              <a:t>Methodology &amp; Statistics Group, Utrecht, Nov. 2026</a:t>
            </a:r>
          </a:p>
          <a:p>
            <a:r>
              <a:rPr dirty="0"/>
              <a:t>Michael Friendly, York University</a:t>
            </a:r>
            <a:r>
              <a:rPr lang="en-CA" dirty="0"/>
              <a:t>,              </a:t>
            </a:r>
            <a:r>
              <a:rPr lang="en-CA" dirty="0">
                <a:hlinkClick r:id="rId3"/>
              </a:rPr>
              <a:t>friendly.github.io </a:t>
            </a:r>
            <a:r>
              <a:rPr lang="en-CA" dirty="0"/>
              <a:t>| </a:t>
            </a:r>
            <a:r>
              <a:rPr lang="en-CA" dirty="0">
                <a:hlinkClick r:id="rId4"/>
              </a:rPr>
              <a:t>datavis.ca</a:t>
            </a:r>
            <a:endParaRPr dirty="0"/>
          </a:p>
        </p:txBody>
      </p:sp>
      <p:pic>
        <p:nvPicPr>
          <p:cNvPr id="4" name="Thumbnail: data ellipses" descr="image.png"/>
          <p:cNvPicPr>
            <a:picLocks noChangeAspect="1"/>
          </p:cNvPicPr>
          <p:nvPr/>
        </p:nvPicPr>
        <p:blipFill>
          <a:blip r:embed="rId5"/>
          <a:stretch>
            <a:fillRect/>
          </a:stretch>
        </p:blipFill>
        <p:spPr>
          <a:xfrm>
            <a:off x="777131" y="317500"/>
            <a:ext cx="2652353" cy="2652353"/>
          </a:xfrm>
          <a:prstGeom prst="rect">
            <a:avLst/>
          </a:prstGeom>
          <a:ln w="9525">
            <a:solidFill>
              <a:srgbClr val="3A3A3A"/>
            </a:solidFill>
          </a:ln>
          <a:effectLst>
            <a:outerShdw blurRad="101600" dist="45790" dir="3378598" rotWithShape="0">
              <a:srgbClr val="000000">
                <a:alpha val="40000"/>
              </a:srgbClr>
            </a:outerShdw>
          </a:effectLst>
        </p:spPr>
      </p:pic>
      <p:pic>
        <p:nvPicPr>
          <p:cNvPr id="5" name="Thumbnail: biplot" descr="fig-diabetes-ggbiplot-1.png"/>
          <p:cNvPicPr>
            <a:picLocks noChangeAspect="1"/>
          </p:cNvPicPr>
          <p:nvPr/>
        </p:nvPicPr>
        <p:blipFill>
          <a:blip r:embed="rId6"/>
          <a:stretch>
            <a:fillRect/>
          </a:stretch>
        </p:blipFill>
        <p:spPr>
          <a:xfrm>
            <a:off x="3708884" y="317500"/>
            <a:ext cx="3713292" cy="2652351"/>
          </a:xfrm>
          <a:prstGeom prst="rect">
            <a:avLst/>
          </a:prstGeom>
          <a:ln w="9525">
            <a:solidFill>
              <a:srgbClr val="3A3A3A"/>
            </a:solidFill>
          </a:ln>
          <a:effectLst>
            <a:outerShdw blurRad="101600" dist="45790" dir="3378598" rotWithShape="0">
              <a:srgbClr val="000000">
                <a:alpha val="40000"/>
              </a:srgbClr>
            </a:outerShdw>
          </a:effectLst>
        </p:spPr>
      </p:pic>
      <p:pic>
        <p:nvPicPr>
          <p:cNvPr id="6" name="Thumbnail: HE plot" descr="image.png"/>
          <p:cNvPicPr>
            <a:picLocks noChangeAspect="1"/>
          </p:cNvPicPr>
          <p:nvPr/>
        </p:nvPicPr>
        <p:blipFill>
          <a:blip r:embed="rId7"/>
          <a:stretch>
            <a:fillRect/>
          </a:stretch>
        </p:blipFill>
        <p:spPr>
          <a:xfrm>
            <a:off x="7701576" y="317500"/>
            <a:ext cx="3713293" cy="2652352"/>
          </a:xfrm>
          <a:prstGeom prst="rect">
            <a:avLst/>
          </a:prstGeom>
          <a:ln w="9525">
            <a:solidFill>
              <a:srgbClr val="3A3A3A"/>
            </a:solidFill>
          </a:ln>
          <a:effectLst>
            <a:outerShdw blurRad="101600" dist="45790" dir="3378598" rotWithShape="0">
              <a:srgbClr val="000000">
                <a:alpha val="40000"/>
              </a:srgbClr>
            </a:outerShdw>
          </a:effectLst>
        </p:spPr>
      </p:pic>
      <p:pic>
        <p:nvPicPr>
          <p:cNvPr id="8" name="www icon">
            <a:extLst>
              <a:ext uri="{FF2B5EF4-FFF2-40B4-BE49-F238E27FC236}">
                <a16:creationId xmlns:a16="http://schemas.microsoft.com/office/drawing/2014/main" id="{E4802ABD-082F-BC7F-2791-4E06016AE1D7}"/>
              </a:ext>
            </a:extLst>
          </p:cNvPr>
          <p:cNvPicPr>
            <a:picLocks noChangeAspect="1"/>
          </p:cNvPicPr>
          <p:nvPr/>
        </p:nvPicPr>
        <p:blipFill>
          <a:blip r:embed="rId8">
            <a:clrChange>
              <a:clrFrom>
                <a:srgbClr val="FFFFFF"/>
              </a:clrFrom>
              <a:clrTo>
                <a:srgbClr val="FFFFFF">
                  <a:alpha val="0"/>
                </a:srgbClr>
              </a:clrTo>
            </a:clrChange>
          </a:blip>
          <a:stretch>
            <a:fillRect/>
          </a:stretch>
        </p:blipFill>
        <p:spPr>
          <a:xfrm>
            <a:off x="6229529" y="6197600"/>
            <a:ext cx="365760" cy="365760"/>
          </a:xfrm>
          <a:prstGeom prst="rect">
            <a:avLst/>
          </a:prstGeom>
          <a:solidFill>
            <a:schemeClr val="accent1">
              <a:alpha val="0"/>
            </a:schemeClr>
          </a:solidFill>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5791200" cy="1143000"/>
          </a:xfrm>
        </p:spPr>
        <p:txBody>
          <a:bodyPr/>
          <a:lstStyle/>
          <a:p>
            <a:r>
              <a:rPr lang="en-CA" dirty="0"/>
              <a:t>My</a:t>
            </a:r>
            <a:r>
              <a:rPr dirty="0"/>
              <a:t> book</a:t>
            </a:r>
          </a:p>
        </p:txBody>
      </p:sp>
      <p:sp>
        <p:nvSpPr>
          <p:cNvPr id="3" name="Content Placeholder 2"/>
          <p:cNvSpPr>
            <a:spLocks noGrp="1"/>
          </p:cNvSpPr>
          <p:nvPr>
            <p:ph sz="half" idx="1"/>
          </p:nvPr>
        </p:nvSpPr>
        <p:spPr>
          <a:xfrm>
            <a:off x="838200" y="1643063"/>
            <a:ext cx="5791200" cy="4533900"/>
          </a:xfrm>
        </p:spPr>
        <p:txBody>
          <a:bodyPr/>
          <a:lstStyle/>
          <a:p>
            <a:pPr marL="0" indent="0">
              <a:buNone/>
            </a:pPr>
            <a:r>
              <a:rPr dirty="0"/>
              <a:t>Graphical methods for multivariate data and for multivariate linear models</a:t>
            </a:r>
          </a:p>
          <a:p>
            <a:r>
              <a:rPr dirty="0"/>
              <a:t>15 chapters in four parts, from exploratory plots to MANOVA and discriminant analysis</a:t>
            </a:r>
          </a:p>
          <a:p>
            <a:r>
              <a:rPr dirty="0"/>
              <a:t>To appear CRC Press / Chapman &amp; Hall</a:t>
            </a:r>
            <a:r>
              <a:rPr lang="en-CA" dirty="0"/>
              <a:t>, 2027</a:t>
            </a:r>
            <a:endParaRPr dirty="0"/>
          </a:p>
          <a:p>
            <a:r>
              <a:rPr dirty="0"/>
              <a:t>Online version: </a:t>
            </a:r>
            <a:r>
              <a:rPr dirty="0">
                <a:hlinkClick r:id="rId3"/>
              </a:rPr>
              <a:t>friendly.github.io/Vis-MLM-book</a:t>
            </a:r>
            <a:endParaRPr dirty="0"/>
          </a:p>
        </p:txBody>
      </p:sp>
      <p:pic>
        <p:nvPicPr>
          <p:cNvPr id="4" name="Picture 3" descr="cover-peng.jpg"/>
          <p:cNvPicPr>
            <a:picLocks noChangeAspect="1"/>
          </p:cNvPicPr>
          <p:nvPr/>
        </p:nvPicPr>
        <p:blipFill>
          <a:blip r:embed="rId4"/>
          <a:stretch>
            <a:fillRect/>
          </a:stretch>
        </p:blipFill>
        <p:spPr>
          <a:xfrm>
            <a:off x="7144774" y="426823"/>
            <a:ext cx="4218039" cy="5804761"/>
          </a:xfrm>
          <a:prstGeom prst="rect">
            <a:avLst/>
          </a:prstGeom>
        </p:spPr>
      </p:pic>
      <p:sp>
        <p:nvSpPr>
          <p:cNvPr id="5" name="Slide Number Placeholder 5"/>
          <p:cNvSpPr>
            <a:spLocks noGrp="1"/>
          </p:cNvSpPr>
          <p:nvPr>
            <p:ph type="sldNum" sz="quarter" idx="12"/>
          </p:nvPr>
        </p:nvSpPr>
        <p:spPr/>
        <p:txBody>
          <a:bodyPr/>
          <a:lstStyle/>
          <a:p>
            <a:fld id="{9BFB2853-4965-4727-91C4-384EB30D99A4}" type="slidenum">
              <a:rPr lang="en-CA"/>
              <a:t>2</a:t>
            </a:fld>
            <a:endParaRPr lang="en-CA"/>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55844"/>
            <a:ext cx="10515600" cy="1143000"/>
          </a:xfrm>
        </p:spPr>
        <p:txBody>
          <a:bodyPr/>
          <a:lstStyle/>
          <a:p>
            <a:r>
              <a:rPr dirty="0"/>
              <a:t>R packages</a:t>
            </a:r>
          </a:p>
        </p:txBody>
      </p:sp>
      <p:sp>
        <p:nvSpPr>
          <p:cNvPr id="3" name="TextBox 2"/>
          <p:cNvSpPr txBox="1"/>
          <p:nvPr/>
        </p:nvSpPr>
        <p:spPr>
          <a:xfrm>
            <a:off x="5162236" y="423756"/>
            <a:ext cx="6191564" cy="461665"/>
          </a:xfrm>
          <a:prstGeom prst="rect">
            <a:avLst/>
          </a:prstGeom>
          <a:noFill/>
        </p:spPr>
        <p:txBody>
          <a:bodyPr wrap="square">
            <a:spAutoFit/>
          </a:bodyPr>
          <a:lstStyle/>
          <a:p>
            <a:r>
              <a:rPr sz="2400" b="1" dirty="0"/>
              <a:t>Theory → Practice: Making tools accessible</a:t>
            </a:r>
          </a:p>
        </p:txBody>
      </p:sp>
      <p:grpSp>
        <p:nvGrpSpPr>
          <p:cNvPr id="12" name="Group 11">
            <a:extLst>
              <a:ext uri="{FF2B5EF4-FFF2-40B4-BE49-F238E27FC236}">
                <a16:creationId xmlns:a16="http://schemas.microsoft.com/office/drawing/2014/main" id="{33967763-0F0C-C845-A659-1022577544B1}"/>
              </a:ext>
            </a:extLst>
          </p:cNvPr>
          <p:cNvGrpSpPr/>
          <p:nvPr/>
        </p:nvGrpSpPr>
        <p:grpSpPr>
          <a:xfrm>
            <a:off x="904552" y="1409255"/>
            <a:ext cx="10434008" cy="932688"/>
            <a:chOff x="904552" y="1409255"/>
            <a:chExt cx="10434008" cy="932688"/>
          </a:xfrm>
        </p:grpSpPr>
        <p:pic>
          <p:nvPicPr>
            <p:cNvPr id="4" name="Picture 3" descr="logo.png"/>
            <p:cNvPicPr>
              <a:picLocks noChangeAspect="1"/>
            </p:cNvPicPr>
            <p:nvPr/>
          </p:nvPicPr>
          <p:blipFill>
            <a:blip r:embed="rId3"/>
            <a:stretch>
              <a:fillRect/>
            </a:stretch>
          </p:blipFill>
          <p:spPr>
            <a:xfrm>
              <a:off x="904552" y="1409255"/>
              <a:ext cx="787790" cy="914400"/>
            </a:xfrm>
            <a:prstGeom prst="rect">
              <a:avLst/>
            </a:prstGeom>
          </p:spPr>
        </p:pic>
        <p:sp>
          <p:nvSpPr>
            <p:cNvPr id="5" name="TextBox 4"/>
            <p:cNvSpPr txBox="1"/>
            <p:nvPr/>
          </p:nvSpPr>
          <p:spPr>
            <a:xfrm>
              <a:off x="2011680" y="1427543"/>
              <a:ext cx="9326880" cy="914400"/>
            </a:xfrm>
            <a:prstGeom prst="roundRect">
              <a:avLst>
                <a:gd name="adj" fmla="val 12000"/>
              </a:avLst>
            </a:prstGeom>
            <a:solidFill>
              <a:srgbClr val="3E5BC8">
                <a:alpha val="17000"/>
              </a:srgbClr>
            </a:solidFill>
            <a:ln w="9525">
              <a:solidFill>
                <a:srgbClr val="3E5BC8">
                  <a:alpha val="55000"/>
                </a:srgbClr>
              </a:solidFill>
            </a:ln>
          </p:spPr>
          <p:txBody>
            <a:bodyPr wrap="square" anchor="ctr">
              <a:noAutofit/>
            </a:bodyPr>
            <a:lstStyle/>
            <a:p>
              <a:r>
                <a:rPr sz="2400" b="1" dirty="0" err="1"/>
                <a:t>heplots</a:t>
              </a:r>
              <a:endParaRPr sz="2400" b="1" dirty="0"/>
            </a:p>
            <a:p>
              <a:r>
                <a:rPr sz="1800" dirty="0"/>
                <a:t>Visualizing hypothesis tests in multivariate linear models: HE plots, covariance ellipses, robust MLMs</a:t>
              </a:r>
            </a:p>
          </p:txBody>
        </p:sp>
      </p:grpSp>
      <p:grpSp>
        <p:nvGrpSpPr>
          <p:cNvPr id="14" name="Group 13">
            <a:extLst>
              <a:ext uri="{FF2B5EF4-FFF2-40B4-BE49-F238E27FC236}">
                <a16:creationId xmlns:a16="http://schemas.microsoft.com/office/drawing/2014/main" id="{48DF4B43-20C0-59BD-C282-14EA2A92C45E}"/>
              </a:ext>
            </a:extLst>
          </p:cNvPr>
          <p:cNvGrpSpPr/>
          <p:nvPr/>
        </p:nvGrpSpPr>
        <p:grpSpPr>
          <a:xfrm>
            <a:off x="894440" y="2433383"/>
            <a:ext cx="10444120" cy="932688"/>
            <a:chOff x="894440" y="2433383"/>
            <a:chExt cx="10444120" cy="932688"/>
          </a:xfrm>
        </p:grpSpPr>
        <p:pic>
          <p:nvPicPr>
            <p:cNvPr id="6" name="Picture 5" descr="logo.png"/>
            <p:cNvPicPr>
              <a:picLocks noChangeAspect="1"/>
            </p:cNvPicPr>
            <p:nvPr/>
          </p:nvPicPr>
          <p:blipFill>
            <a:blip r:embed="rId4"/>
            <a:stretch>
              <a:fillRect/>
            </a:stretch>
          </p:blipFill>
          <p:spPr>
            <a:xfrm>
              <a:off x="894440" y="2433383"/>
              <a:ext cx="808015" cy="914400"/>
            </a:xfrm>
            <a:prstGeom prst="rect">
              <a:avLst/>
            </a:prstGeom>
          </p:spPr>
        </p:pic>
        <p:sp>
          <p:nvSpPr>
            <p:cNvPr id="7" name="TextBox 6"/>
            <p:cNvSpPr txBox="1"/>
            <p:nvPr/>
          </p:nvSpPr>
          <p:spPr>
            <a:xfrm>
              <a:off x="2011680" y="2451671"/>
              <a:ext cx="9326880" cy="914400"/>
            </a:xfrm>
            <a:prstGeom prst="roundRect">
              <a:avLst>
                <a:gd name="adj" fmla="val 12000"/>
              </a:avLst>
            </a:prstGeom>
            <a:solidFill>
              <a:srgbClr val="E00000">
                <a:alpha val="17000"/>
              </a:srgbClr>
            </a:solidFill>
            <a:ln w="9525">
              <a:solidFill>
                <a:srgbClr val="E00000">
                  <a:alpha val="55000"/>
                </a:srgbClr>
              </a:solidFill>
            </a:ln>
          </p:spPr>
          <p:txBody>
            <a:bodyPr wrap="square" anchor="ctr">
              <a:noAutofit/>
            </a:bodyPr>
            <a:lstStyle/>
            <a:p>
              <a:r>
                <a:rPr sz="2400" b="1"/>
                <a:t>candisc</a:t>
              </a:r>
            </a:p>
            <a:p>
              <a:r>
                <a:rPr sz="1800"/>
                <a:t>Canonical discriminant and canonical correlation analysis: low-dimensional views of multivariate effects</a:t>
              </a:r>
            </a:p>
          </p:txBody>
        </p:sp>
      </p:grpSp>
      <p:grpSp>
        <p:nvGrpSpPr>
          <p:cNvPr id="16" name="Group 15">
            <a:extLst>
              <a:ext uri="{FF2B5EF4-FFF2-40B4-BE49-F238E27FC236}">
                <a16:creationId xmlns:a16="http://schemas.microsoft.com/office/drawing/2014/main" id="{7F60F8B4-7A0F-32D1-586B-5ABECF61E09B}"/>
              </a:ext>
            </a:extLst>
          </p:cNvPr>
          <p:cNvGrpSpPr/>
          <p:nvPr/>
        </p:nvGrpSpPr>
        <p:grpSpPr>
          <a:xfrm>
            <a:off x="904358" y="3457511"/>
            <a:ext cx="10434202" cy="932687"/>
            <a:chOff x="904358" y="3457511"/>
            <a:chExt cx="10434202" cy="932687"/>
          </a:xfrm>
        </p:grpSpPr>
        <p:pic>
          <p:nvPicPr>
            <p:cNvPr id="8" name="Picture 7" descr="logo.png"/>
            <p:cNvPicPr>
              <a:picLocks noChangeAspect="1"/>
            </p:cNvPicPr>
            <p:nvPr/>
          </p:nvPicPr>
          <p:blipFill>
            <a:blip r:embed="rId5"/>
            <a:stretch>
              <a:fillRect/>
            </a:stretch>
          </p:blipFill>
          <p:spPr>
            <a:xfrm>
              <a:off x="904358" y="3457511"/>
              <a:ext cx="788179" cy="914400"/>
            </a:xfrm>
            <a:prstGeom prst="rect">
              <a:avLst/>
            </a:prstGeom>
          </p:spPr>
        </p:pic>
        <p:sp>
          <p:nvSpPr>
            <p:cNvPr id="9" name="TextBox 8"/>
            <p:cNvSpPr txBox="1"/>
            <p:nvPr/>
          </p:nvSpPr>
          <p:spPr>
            <a:xfrm>
              <a:off x="2011680" y="3475798"/>
              <a:ext cx="9326880" cy="914400"/>
            </a:xfrm>
            <a:prstGeom prst="roundRect">
              <a:avLst>
                <a:gd name="adj" fmla="val 12000"/>
              </a:avLst>
            </a:prstGeom>
            <a:solidFill>
              <a:srgbClr val="0A78B4">
                <a:alpha val="17000"/>
              </a:srgbClr>
            </a:solidFill>
            <a:ln w="9525">
              <a:solidFill>
                <a:srgbClr val="0A78B4">
                  <a:alpha val="55000"/>
                </a:srgbClr>
              </a:solidFill>
            </a:ln>
          </p:spPr>
          <p:txBody>
            <a:bodyPr wrap="square" anchor="ctr">
              <a:noAutofit/>
            </a:bodyPr>
            <a:lstStyle/>
            <a:p>
              <a:r>
                <a:rPr sz="2400" b="1"/>
                <a:t>mvinfluence</a:t>
              </a:r>
            </a:p>
            <a:p>
              <a:r>
                <a:rPr sz="1800"/>
                <a:t>Influence measures and diagnostic plots for multivariate linear models</a:t>
              </a:r>
            </a:p>
          </p:txBody>
        </p:sp>
      </p:grpSp>
      <p:grpSp>
        <p:nvGrpSpPr>
          <p:cNvPr id="17" name="Group 16">
            <a:extLst>
              <a:ext uri="{FF2B5EF4-FFF2-40B4-BE49-F238E27FC236}">
                <a16:creationId xmlns:a16="http://schemas.microsoft.com/office/drawing/2014/main" id="{AE5235DF-0E0C-A117-A669-D29327ED0BC4}"/>
              </a:ext>
            </a:extLst>
          </p:cNvPr>
          <p:cNvGrpSpPr/>
          <p:nvPr/>
        </p:nvGrpSpPr>
        <p:grpSpPr>
          <a:xfrm>
            <a:off x="905461" y="4481639"/>
            <a:ext cx="10433099" cy="932688"/>
            <a:chOff x="905461" y="4481639"/>
            <a:chExt cx="10433099" cy="932688"/>
          </a:xfrm>
        </p:grpSpPr>
        <p:pic>
          <p:nvPicPr>
            <p:cNvPr id="10" name="Picture 9" descr="logo.png"/>
            <p:cNvPicPr>
              <a:picLocks noChangeAspect="1"/>
            </p:cNvPicPr>
            <p:nvPr/>
          </p:nvPicPr>
          <p:blipFill>
            <a:blip r:embed="rId6"/>
            <a:stretch>
              <a:fillRect/>
            </a:stretch>
          </p:blipFill>
          <p:spPr>
            <a:xfrm>
              <a:off x="905461" y="4481639"/>
              <a:ext cx="785973" cy="914400"/>
            </a:xfrm>
            <a:prstGeom prst="rect">
              <a:avLst/>
            </a:prstGeom>
          </p:spPr>
        </p:pic>
        <p:sp>
          <p:nvSpPr>
            <p:cNvPr id="11" name="TextBox 10"/>
            <p:cNvSpPr txBox="1"/>
            <p:nvPr/>
          </p:nvSpPr>
          <p:spPr>
            <a:xfrm>
              <a:off x="2011680" y="4499927"/>
              <a:ext cx="9326880" cy="914400"/>
            </a:xfrm>
            <a:prstGeom prst="roundRect">
              <a:avLst>
                <a:gd name="adj" fmla="val 12000"/>
              </a:avLst>
            </a:prstGeom>
            <a:solidFill>
              <a:srgbClr val="C0409A">
                <a:alpha val="17000"/>
              </a:srgbClr>
            </a:solidFill>
            <a:ln w="9525">
              <a:solidFill>
                <a:srgbClr val="C0409A">
                  <a:alpha val="55000"/>
                </a:srgbClr>
              </a:solidFill>
            </a:ln>
          </p:spPr>
          <p:txBody>
            <a:bodyPr wrap="square" anchor="ctr">
              <a:noAutofit/>
            </a:bodyPr>
            <a:lstStyle/>
            <a:p>
              <a:r>
                <a:rPr sz="2400" b="1" dirty="0" err="1"/>
                <a:t>genridge</a:t>
              </a:r>
              <a:endParaRPr sz="2400" b="1" dirty="0"/>
            </a:p>
            <a:p>
              <a:r>
                <a:rPr sz="1800" dirty="0"/>
                <a:t>Generalized ridge trace plots: bias and precision in ridge regression</a:t>
              </a:r>
            </a:p>
          </p:txBody>
        </p:sp>
      </p:grpSp>
      <p:grpSp>
        <p:nvGrpSpPr>
          <p:cNvPr id="18" name="Group 17">
            <a:extLst>
              <a:ext uri="{FF2B5EF4-FFF2-40B4-BE49-F238E27FC236}">
                <a16:creationId xmlns:a16="http://schemas.microsoft.com/office/drawing/2014/main" id="{E2493E90-30E4-B2D8-164E-B14BEDF83A6F}"/>
              </a:ext>
            </a:extLst>
          </p:cNvPr>
          <p:cNvGrpSpPr/>
          <p:nvPr/>
        </p:nvGrpSpPr>
        <p:grpSpPr>
          <a:xfrm>
            <a:off x="905461" y="5535470"/>
            <a:ext cx="10433099" cy="932688"/>
            <a:chOff x="905461" y="5535470"/>
            <a:chExt cx="10433099" cy="932688"/>
          </a:xfrm>
        </p:grpSpPr>
        <p:pic>
          <p:nvPicPr>
            <p:cNvPr id="13" name="Picture 12" descr="A hexagon with a diagram of different colored circles&#10;&#10;Description automatically generated">
              <a:extLst>
                <a:ext uri="{FF2B5EF4-FFF2-40B4-BE49-F238E27FC236}">
                  <a16:creationId xmlns:a16="http://schemas.microsoft.com/office/drawing/2014/main" id="{E16B3A6A-2367-4801-DDDC-6CC3035B49C8}"/>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905461" y="5535470"/>
              <a:ext cx="792653" cy="914400"/>
            </a:xfrm>
            <a:prstGeom prst="rect">
              <a:avLst/>
            </a:prstGeom>
          </p:spPr>
        </p:pic>
        <p:sp>
          <p:nvSpPr>
            <p:cNvPr id="15" name="TextBox 14">
              <a:extLst>
                <a:ext uri="{FF2B5EF4-FFF2-40B4-BE49-F238E27FC236}">
                  <a16:creationId xmlns:a16="http://schemas.microsoft.com/office/drawing/2014/main" id="{CDA35D59-091F-DC77-2ACE-3734742E5CB0}"/>
                </a:ext>
              </a:extLst>
            </p:cNvPr>
            <p:cNvSpPr txBox="1"/>
            <p:nvPr/>
          </p:nvSpPr>
          <p:spPr>
            <a:xfrm>
              <a:off x="2011680" y="5553758"/>
              <a:ext cx="9326880" cy="914400"/>
            </a:xfrm>
            <a:prstGeom prst="roundRect">
              <a:avLst>
                <a:gd name="adj" fmla="val 12000"/>
              </a:avLst>
            </a:prstGeom>
            <a:solidFill>
              <a:srgbClr val="5AA83C">
                <a:alpha val="17000"/>
              </a:srgbClr>
            </a:solidFill>
            <a:ln w="9525">
              <a:solidFill>
                <a:srgbClr val="5AA83C">
                  <a:alpha val="55000"/>
                </a:srgbClr>
              </a:solidFill>
            </a:ln>
          </p:spPr>
          <p:txBody>
            <a:bodyPr wrap="square" anchor="ctr">
              <a:noAutofit/>
            </a:bodyPr>
            <a:lstStyle/>
            <a:p>
              <a:r>
                <a:rPr lang="en-CA" sz="2400" b="1" dirty="0" err="1"/>
                <a:t>VisCollin</a:t>
              </a:r>
              <a:endParaRPr sz="2400" b="1" dirty="0"/>
            </a:p>
            <a:p>
              <a:r>
                <a:rPr lang="en-CA" sz="1800" dirty="0"/>
                <a:t>Understanding problems of collinearity thru visualization and reduced-rank views</a:t>
              </a:r>
              <a:endParaRPr sz="1800" dirty="0"/>
            </a:p>
          </p:txBody>
        </p:sp>
      </p:grpSp>
      <p:sp>
        <p:nvSpPr>
          <p:cNvPr id="19" name="Slide Number Placeholder 19"/>
          <p:cNvSpPr>
            <a:spLocks noGrp="1"/>
          </p:cNvSpPr>
          <p:nvPr>
            <p:ph type="sldNum" sz="quarter" idx="12"/>
          </p:nvPr>
        </p:nvSpPr>
        <p:spPr/>
        <p:txBody>
          <a:bodyPr/>
          <a:lstStyle/>
          <a:p>
            <a:fld id="{9BFB2853-4965-4727-91C4-384EB30D99A4}" type="slidenum">
              <a:rPr lang="en-CA"/>
              <a:t>3</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Ideas I’ll talk about today (thematic)</a:t>
            </a:r>
            <a:endParaRPr dirty="0"/>
          </a:p>
        </p:txBody>
      </p:sp>
      <p:sp>
        <p:nvSpPr>
          <p:cNvPr id="3" name="Content Placeholder 2"/>
          <p:cNvSpPr>
            <a:spLocks noGrp="1"/>
          </p:cNvSpPr>
          <p:nvPr>
            <p:ph idx="1"/>
          </p:nvPr>
        </p:nvSpPr>
        <p:spPr>
          <a:xfrm>
            <a:off x="838200" y="1309036"/>
            <a:ext cx="10515600" cy="4867927"/>
          </a:xfrm>
        </p:spPr>
        <p:txBody>
          <a:bodyPr/>
          <a:lstStyle/>
          <a:p>
            <a:r>
              <a:rPr dirty="0"/>
              <a:t>Why </a:t>
            </a:r>
            <a:r>
              <a:rPr lang="en-CA" dirty="0"/>
              <a:t>a romance in </a:t>
            </a:r>
            <a:r>
              <a:rPr dirty="0"/>
              <a:t>many dimensions?</a:t>
            </a:r>
          </a:p>
          <a:p>
            <a:r>
              <a:rPr lang="en-CA" dirty="0"/>
              <a:t>S</a:t>
            </a:r>
            <a:r>
              <a:rPr dirty="0" err="1"/>
              <a:t>eeing</a:t>
            </a:r>
            <a:r>
              <a:rPr dirty="0"/>
              <a:t> multivariate data</a:t>
            </a:r>
            <a:r>
              <a:rPr lang="en-CA" dirty="0"/>
              <a:t>: ellipses everywhere</a:t>
            </a:r>
            <a:endParaRPr dirty="0"/>
          </a:p>
          <a:p>
            <a:r>
              <a:rPr dirty="0"/>
              <a:t>Multivariate juicers: low-D views, and Waldo space</a:t>
            </a:r>
          </a:p>
          <a:p>
            <a:r>
              <a:rPr dirty="0"/>
              <a:t>Elliptical insights: models with one response</a:t>
            </a:r>
          </a:p>
          <a:p>
            <a:r>
              <a:rPr dirty="0"/>
              <a:t>The HE plot framework for multivariate models</a:t>
            </a:r>
          </a:p>
          <a:p>
            <a:r>
              <a:rPr dirty="0"/>
              <a:t>Checking multivariate models</a:t>
            </a:r>
          </a:p>
        </p:txBody>
      </p:sp>
      <p:pic>
        <p:nvPicPr>
          <p:cNvPr id="4" name="Picture 3" descr="fig-book-parts-1.png"/>
          <p:cNvPicPr>
            <a:picLocks noChangeAspect="1"/>
          </p:cNvPicPr>
          <p:nvPr/>
        </p:nvPicPr>
        <p:blipFill>
          <a:blip r:embed="rId3"/>
          <a:stretch>
            <a:fillRect/>
          </a:stretch>
        </p:blipFill>
        <p:spPr>
          <a:xfrm>
            <a:off x="1771886" y="5212080"/>
            <a:ext cx="8654323" cy="960120"/>
          </a:xfrm>
          <a:prstGeom prst="rect">
            <a:avLst/>
          </a:prstGeom>
        </p:spPr>
      </p:pic>
      <p:sp>
        <p:nvSpPr>
          <p:cNvPr id="5" name="TextBox 4">
            <a:extLst>
              <a:ext uri="{FF2B5EF4-FFF2-40B4-BE49-F238E27FC236}">
                <a16:creationId xmlns:a16="http://schemas.microsoft.com/office/drawing/2014/main" id="{05F1A3BA-35FB-D6D9-E220-ADE371743536}"/>
              </a:ext>
            </a:extLst>
          </p:cNvPr>
          <p:cNvSpPr txBox="1"/>
          <p:nvPr/>
        </p:nvSpPr>
        <p:spPr>
          <a:xfrm>
            <a:off x="838200" y="4146318"/>
            <a:ext cx="9843052" cy="646331"/>
          </a:xfrm>
          <a:prstGeom prst="rect">
            <a:avLst/>
          </a:prstGeom>
          <a:noFill/>
        </p:spPr>
        <p:txBody>
          <a:bodyPr wrap="square" rtlCol="0">
            <a:spAutoFit/>
          </a:bodyPr>
          <a:lstStyle/>
          <a:p>
            <a:r>
              <a:rPr lang="en-CA" sz="3600" dirty="0"/>
              <a:t>Road map of the book (linear)</a:t>
            </a:r>
          </a:p>
        </p:txBody>
      </p:sp>
      <p:sp>
        <p:nvSpPr>
          <p:cNvPr id="6" name="Slide Number Placeholder 6"/>
          <p:cNvSpPr>
            <a:spLocks noGrp="1"/>
          </p:cNvSpPr>
          <p:nvPr>
            <p:ph type="sldNum" sz="quarter" idx="12"/>
          </p:nvPr>
        </p:nvSpPr>
        <p:spPr/>
        <p:txBody>
          <a:bodyPr/>
          <a:lstStyle/>
          <a:p>
            <a:fld id="{9BFB2853-4965-4727-91C4-384EB30D99A4}" type="slidenum">
              <a:rPr lang="en-CA"/>
              <a:t>4</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31" presetClass="entr" presetSubtype="0" fill="hold" nodeType="click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 calcmode="lin" valueType="num">
                                      <p:cBhvr>
                                        <p:cTn id="11" dur="1000" fill="hold"/>
                                        <p:tgtEl>
                                          <p:spTgt spid="3">
                                            <p:txEl>
                                              <p:pRg st="0" end="0"/>
                                            </p:txEl>
                                          </p:spTgt>
                                        </p:tgtEl>
                                        <p:attrNameLst>
                                          <p:attrName>ppt_w</p:attrName>
                                        </p:attrNameLst>
                                      </p:cBhvr>
                                      <p:tavLst>
                                        <p:tav tm="0">
                                          <p:val>
                                            <p:fltVal val="0"/>
                                          </p:val>
                                        </p:tav>
                                        <p:tav tm="100000">
                                          <p:val>
                                            <p:strVal val="#ppt_w"/>
                                          </p:val>
                                        </p:tav>
                                      </p:tavLst>
                                    </p:anim>
                                    <p:anim calcmode="lin" valueType="num">
                                      <p:cBhvr>
                                        <p:cTn id="12" dur="1000" fill="hold"/>
                                        <p:tgtEl>
                                          <p:spTgt spid="3">
                                            <p:txEl>
                                              <p:pRg st="0" end="0"/>
                                            </p:txEl>
                                          </p:spTgt>
                                        </p:tgtEl>
                                        <p:attrNameLst>
                                          <p:attrName>ppt_h</p:attrName>
                                        </p:attrNameLst>
                                      </p:cBhvr>
                                      <p:tavLst>
                                        <p:tav tm="0">
                                          <p:val>
                                            <p:fltVal val="0"/>
                                          </p:val>
                                        </p:tav>
                                        <p:tav tm="100000">
                                          <p:val>
                                            <p:strVal val="#ppt_h"/>
                                          </p:val>
                                        </p:tav>
                                      </p:tavLst>
                                    </p:anim>
                                    <p:anim calcmode="lin" valueType="num">
                                      <p:cBhvr>
                                        <p:cTn id="13" dur="1000" fill="hold"/>
                                        <p:tgtEl>
                                          <p:spTgt spid="3">
                                            <p:txEl>
                                              <p:pRg st="0" end="0"/>
                                            </p:txEl>
                                          </p:spTgt>
                                        </p:tgtEl>
                                        <p:attrNameLst>
                                          <p:attrName>style.rotation</p:attrName>
                                        </p:attrNameLst>
                                      </p:cBhvr>
                                      <p:tavLst>
                                        <p:tav tm="0">
                                          <p:val>
                                            <p:fltVal val="90"/>
                                          </p:val>
                                        </p:tav>
                                        <p:tav tm="100000">
                                          <p:val>
                                            <p:fltVal val="0"/>
                                          </p:val>
                                        </p:tav>
                                      </p:tavLst>
                                    </p:anim>
                                    <p:animEffect transition="in" filter="fade">
                                      <p:cBhvr>
                                        <p:cTn id="14" dur="1000"/>
                                        <p:tgtEl>
                                          <p:spTgt spid="3">
                                            <p:txEl>
                                              <p:pRg st="0" end="0"/>
                                            </p:txEl>
                                          </p:spTgt>
                                        </p:tgtEl>
                                      </p:cBhvr>
                                    </p:animEffect>
                                  </p:childTnLst>
                                </p:cTn>
                              </p:par>
                              <p:par>
                                <p:cTn id="15" presetID="31" presetClass="entr" presetSubtype="0" fill="hold" nodeType="with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 calcmode="lin" valueType="num">
                                      <p:cBhvr>
                                        <p:cTn id="17" dur="1000" fill="hold"/>
                                        <p:tgtEl>
                                          <p:spTgt spid="3">
                                            <p:txEl>
                                              <p:pRg st="1" end="1"/>
                                            </p:txEl>
                                          </p:spTgt>
                                        </p:tgtEl>
                                        <p:attrNameLst>
                                          <p:attrName>ppt_w</p:attrName>
                                        </p:attrNameLst>
                                      </p:cBhvr>
                                      <p:tavLst>
                                        <p:tav tm="0">
                                          <p:val>
                                            <p:fltVal val="0"/>
                                          </p:val>
                                        </p:tav>
                                        <p:tav tm="100000">
                                          <p:val>
                                            <p:strVal val="#ppt_w"/>
                                          </p:val>
                                        </p:tav>
                                      </p:tavLst>
                                    </p:anim>
                                    <p:anim calcmode="lin" valueType="num">
                                      <p:cBhvr>
                                        <p:cTn id="18" dur="1000" fill="hold"/>
                                        <p:tgtEl>
                                          <p:spTgt spid="3">
                                            <p:txEl>
                                              <p:pRg st="1" end="1"/>
                                            </p:txEl>
                                          </p:spTgt>
                                        </p:tgtEl>
                                        <p:attrNameLst>
                                          <p:attrName>ppt_h</p:attrName>
                                        </p:attrNameLst>
                                      </p:cBhvr>
                                      <p:tavLst>
                                        <p:tav tm="0">
                                          <p:val>
                                            <p:fltVal val="0"/>
                                          </p:val>
                                        </p:tav>
                                        <p:tav tm="100000">
                                          <p:val>
                                            <p:strVal val="#ppt_h"/>
                                          </p:val>
                                        </p:tav>
                                      </p:tavLst>
                                    </p:anim>
                                    <p:anim calcmode="lin" valueType="num">
                                      <p:cBhvr>
                                        <p:cTn id="19" dur="1000" fill="hold"/>
                                        <p:tgtEl>
                                          <p:spTgt spid="3">
                                            <p:txEl>
                                              <p:pRg st="1" end="1"/>
                                            </p:txEl>
                                          </p:spTgt>
                                        </p:tgtEl>
                                        <p:attrNameLst>
                                          <p:attrName>style.rotation</p:attrName>
                                        </p:attrNameLst>
                                      </p:cBhvr>
                                      <p:tavLst>
                                        <p:tav tm="0">
                                          <p:val>
                                            <p:fltVal val="90"/>
                                          </p:val>
                                        </p:tav>
                                        <p:tav tm="100000">
                                          <p:val>
                                            <p:fltVal val="0"/>
                                          </p:val>
                                        </p:tav>
                                      </p:tavLst>
                                    </p:anim>
                                    <p:animEffect transition="in" filter="fade">
                                      <p:cBhvr>
                                        <p:cTn id="20" dur="1000"/>
                                        <p:tgtEl>
                                          <p:spTgt spid="3">
                                            <p:txEl>
                                              <p:pRg st="1" end="1"/>
                                            </p:txEl>
                                          </p:spTgt>
                                        </p:tgtEl>
                                      </p:cBhvr>
                                    </p:animEffect>
                                  </p:childTnLst>
                                </p:cTn>
                              </p:par>
                              <p:par>
                                <p:cTn id="21" presetID="31" presetClass="entr" presetSubtype="0" fill="hold" nodeType="withEffect">
                                  <p:stCondLst>
                                    <p:cond delay="0"/>
                                  </p:stCondLst>
                                  <p:childTnLst>
                                    <p:set>
                                      <p:cBhvr>
                                        <p:cTn id="22" dur="1" fill="hold">
                                          <p:stCondLst>
                                            <p:cond delay="0"/>
                                          </p:stCondLst>
                                        </p:cTn>
                                        <p:tgtEl>
                                          <p:spTgt spid="3">
                                            <p:txEl>
                                              <p:pRg st="2" end="2"/>
                                            </p:txEl>
                                          </p:spTgt>
                                        </p:tgtEl>
                                        <p:attrNameLst>
                                          <p:attrName>style.visibility</p:attrName>
                                        </p:attrNameLst>
                                      </p:cBhvr>
                                      <p:to>
                                        <p:strVal val="visible"/>
                                      </p:to>
                                    </p:set>
                                    <p:anim calcmode="lin" valueType="num">
                                      <p:cBhvr>
                                        <p:cTn id="23" dur="1000" fill="hold"/>
                                        <p:tgtEl>
                                          <p:spTgt spid="3">
                                            <p:txEl>
                                              <p:pRg st="2" end="2"/>
                                            </p:txEl>
                                          </p:spTgt>
                                        </p:tgtEl>
                                        <p:attrNameLst>
                                          <p:attrName>ppt_w</p:attrName>
                                        </p:attrNameLst>
                                      </p:cBhvr>
                                      <p:tavLst>
                                        <p:tav tm="0">
                                          <p:val>
                                            <p:fltVal val="0"/>
                                          </p:val>
                                        </p:tav>
                                        <p:tav tm="100000">
                                          <p:val>
                                            <p:strVal val="#ppt_w"/>
                                          </p:val>
                                        </p:tav>
                                      </p:tavLst>
                                    </p:anim>
                                    <p:anim calcmode="lin" valueType="num">
                                      <p:cBhvr>
                                        <p:cTn id="24" dur="1000" fill="hold"/>
                                        <p:tgtEl>
                                          <p:spTgt spid="3">
                                            <p:txEl>
                                              <p:pRg st="2" end="2"/>
                                            </p:txEl>
                                          </p:spTgt>
                                        </p:tgtEl>
                                        <p:attrNameLst>
                                          <p:attrName>ppt_h</p:attrName>
                                        </p:attrNameLst>
                                      </p:cBhvr>
                                      <p:tavLst>
                                        <p:tav tm="0">
                                          <p:val>
                                            <p:fltVal val="0"/>
                                          </p:val>
                                        </p:tav>
                                        <p:tav tm="100000">
                                          <p:val>
                                            <p:strVal val="#ppt_h"/>
                                          </p:val>
                                        </p:tav>
                                      </p:tavLst>
                                    </p:anim>
                                    <p:anim calcmode="lin" valueType="num">
                                      <p:cBhvr>
                                        <p:cTn id="25" dur="1000" fill="hold"/>
                                        <p:tgtEl>
                                          <p:spTgt spid="3">
                                            <p:txEl>
                                              <p:pRg st="2" end="2"/>
                                            </p:txEl>
                                          </p:spTgt>
                                        </p:tgtEl>
                                        <p:attrNameLst>
                                          <p:attrName>style.rotation</p:attrName>
                                        </p:attrNameLst>
                                      </p:cBhvr>
                                      <p:tavLst>
                                        <p:tav tm="0">
                                          <p:val>
                                            <p:fltVal val="90"/>
                                          </p:val>
                                        </p:tav>
                                        <p:tav tm="100000">
                                          <p:val>
                                            <p:fltVal val="0"/>
                                          </p:val>
                                        </p:tav>
                                      </p:tavLst>
                                    </p:anim>
                                    <p:animEffect transition="in" filter="fade">
                                      <p:cBhvr>
                                        <p:cTn id="26" dur="1000"/>
                                        <p:tgtEl>
                                          <p:spTgt spid="3">
                                            <p:txEl>
                                              <p:pRg st="2" end="2"/>
                                            </p:txEl>
                                          </p:spTgt>
                                        </p:tgtEl>
                                      </p:cBhvr>
                                    </p:animEffect>
                                  </p:childTnLst>
                                </p:cTn>
                              </p:par>
                              <p:par>
                                <p:cTn id="27" presetID="31" presetClass="entr" presetSubtype="0" fill="hold" nodeType="withEffect">
                                  <p:stCondLst>
                                    <p:cond delay="0"/>
                                  </p:stCondLst>
                                  <p:childTnLst>
                                    <p:set>
                                      <p:cBhvr>
                                        <p:cTn id="28" dur="1" fill="hold">
                                          <p:stCondLst>
                                            <p:cond delay="0"/>
                                          </p:stCondLst>
                                        </p:cTn>
                                        <p:tgtEl>
                                          <p:spTgt spid="3">
                                            <p:txEl>
                                              <p:pRg st="3" end="3"/>
                                            </p:txEl>
                                          </p:spTgt>
                                        </p:tgtEl>
                                        <p:attrNameLst>
                                          <p:attrName>style.visibility</p:attrName>
                                        </p:attrNameLst>
                                      </p:cBhvr>
                                      <p:to>
                                        <p:strVal val="visible"/>
                                      </p:to>
                                    </p:set>
                                    <p:anim calcmode="lin" valueType="num">
                                      <p:cBhvr>
                                        <p:cTn id="29" dur="1000" fill="hold"/>
                                        <p:tgtEl>
                                          <p:spTgt spid="3">
                                            <p:txEl>
                                              <p:pRg st="3" end="3"/>
                                            </p:txEl>
                                          </p:spTgt>
                                        </p:tgtEl>
                                        <p:attrNameLst>
                                          <p:attrName>ppt_w</p:attrName>
                                        </p:attrNameLst>
                                      </p:cBhvr>
                                      <p:tavLst>
                                        <p:tav tm="0">
                                          <p:val>
                                            <p:fltVal val="0"/>
                                          </p:val>
                                        </p:tav>
                                        <p:tav tm="100000">
                                          <p:val>
                                            <p:strVal val="#ppt_w"/>
                                          </p:val>
                                        </p:tav>
                                      </p:tavLst>
                                    </p:anim>
                                    <p:anim calcmode="lin" valueType="num">
                                      <p:cBhvr>
                                        <p:cTn id="30" dur="1000" fill="hold"/>
                                        <p:tgtEl>
                                          <p:spTgt spid="3">
                                            <p:txEl>
                                              <p:pRg st="3" end="3"/>
                                            </p:txEl>
                                          </p:spTgt>
                                        </p:tgtEl>
                                        <p:attrNameLst>
                                          <p:attrName>ppt_h</p:attrName>
                                        </p:attrNameLst>
                                      </p:cBhvr>
                                      <p:tavLst>
                                        <p:tav tm="0">
                                          <p:val>
                                            <p:fltVal val="0"/>
                                          </p:val>
                                        </p:tav>
                                        <p:tav tm="100000">
                                          <p:val>
                                            <p:strVal val="#ppt_h"/>
                                          </p:val>
                                        </p:tav>
                                      </p:tavLst>
                                    </p:anim>
                                    <p:anim calcmode="lin" valueType="num">
                                      <p:cBhvr>
                                        <p:cTn id="31" dur="1000" fill="hold"/>
                                        <p:tgtEl>
                                          <p:spTgt spid="3">
                                            <p:txEl>
                                              <p:pRg st="3" end="3"/>
                                            </p:txEl>
                                          </p:spTgt>
                                        </p:tgtEl>
                                        <p:attrNameLst>
                                          <p:attrName>style.rotation</p:attrName>
                                        </p:attrNameLst>
                                      </p:cBhvr>
                                      <p:tavLst>
                                        <p:tav tm="0">
                                          <p:val>
                                            <p:fltVal val="90"/>
                                          </p:val>
                                        </p:tav>
                                        <p:tav tm="100000">
                                          <p:val>
                                            <p:fltVal val="0"/>
                                          </p:val>
                                        </p:tav>
                                      </p:tavLst>
                                    </p:anim>
                                    <p:animEffect transition="in" filter="fade">
                                      <p:cBhvr>
                                        <p:cTn id="32" dur="1000"/>
                                        <p:tgtEl>
                                          <p:spTgt spid="3">
                                            <p:txEl>
                                              <p:pRg st="3" end="3"/>
                                            </p:txEl>
                                          </p:spTgt>
                                        </p:tgtEl>
                                      </p:cBhvr>
                                    </p:animEffect>
                                  </p:childTnLst>
                                </p:cTn>
                              </p:par>
                              <p:par>
                                <p:cTn id="33" presetID="31" presetClass="entr" presetSubtype="0" fill="hold" nodeType="withEffect">
                                  <p:stCondLst>
                                    <p:cond delay="0"/>
                                  </p:stCondLst>
                                  <p:childTnLst>
                                    <p:set>
                                      <p:cBhvr>
                                        <p:cTn id="34" dur="1" fill="hold">
                                          <p:stCondLst>
                                            <p:cond delay="0"/>
                                          </p:stCondLst>
                                        </p:cTn>
                                        <p:tgtEl>
                                          <p:spTgt spid="3">
                                            <p:txEl>
                                              <p:pRg st="4" end="4"/>
                                            </p:txEl>
                                          </p:spTgt>
                                        </p:tgtEl>
                                        <p:attrNameLst>
                                          <p:attrName>style.visibility</p:attrName>
                                        </p:attrNameLst>
                                      </p:cBhvr>
                                      <p:to>
                                        <p:strVal val="visible"/>
                                      </p:to>
                                    </p:set>
                                    <p:anim calcmode="lin" valueType="num">
                                      <p:cBhvr>
                                        <p:cTn id="35" dur="1000" fill="hold"/>
                                        <p:tgtEl>
                                          <p:spTgt spid="3">
                                            <p:txEl>
                                              <p:pRg st="4" end="4"/>
                                            </p:txEl>
                                          </p:spTgt>
                                        </p:tgtEl>
                                        <p:attrNameLst>
                                          <p:attrName>ppt_w</p:attrName>
                                        </p:attrNameLst>
                                      </p:cBhvr>
                                      <p:tavLst>
                                        <p:tav tm="0">
                                          <p:val>
                                            <p:fltVal val="0"/>
                                          </p:val>
                                        </p:tav>
                                        <p:tav tm="100000">
                                          <p:val>
                                            <p:strVal val="#ppt_w"/>
                                          </p:val>
                                        </p:tav>
                                      </p:tavLst>
                                    </p:anim>
                                    <p:anim calcmode="lin" valueType="num">
                                      <p:cBhvr>
                                        <p:cTn id="36" dur="1000" fill="hold"/>
                                        <p:tgtEl>
                                          <p:spTgt spid="3">
                                            <p:txEl>
                                              <p:pRg st="4" end="4"/>
                                            </p:txEl>
                                          </p:spTgt>
                                        </p:tgtEl>
                                        <p:attrNameLst>
                                          <p:attrName>ppt_h</p:attrName>
                                        </p:attrNameLst>
                                      </p:cBhvr>
                                      <p:tavLst>
                                        <p:tav tm="0">
                                          <p:val>
                                            <p:fltVal val="0"/>
                                          </p:val>
                                        </p:tav>
                                        <p:tav tm="100000">
                                          <p:val>
                                            <p:strVal val="#ppt_h"/>
                                          </p:val>
                                        </p:tav>
                                      </p:tavLst>
                                    </p:anim>
                                    <p:anim calcmode="lin" valueType="num">
                                      <p:cBhvr>
                                        <p:cTn id="37" dur="1000" fill="hold"/>
                                        <p:tgtEl>
                                          <p:spTgt spid="3">
                                            <p:txEl>
                                              <p:pRg st="4" end="4"/>
                                            </p:txEl>
                                          </p:spTgt>
                                        </p:tgtEl>
                                        <p:attrNameLst>
                                          <p:attrName>style.rotation</p:attrName>
                                        </p:attrNameLst>
                                      </p:cBhvr>
                                      <p:tavLst>
                                        <p:tav tm="0">
                                          <p:val>
                                            <p:fltVal val="90"/>
                                          </p:val>
                                        </p:tav>
                                        <p:tav tm="100000">
                                          <p:val>
                                            <p:fltVal val="0"/>
                                          </p:val>
                                        </p:tav>
                                      </p:tavLst>
                                    </p:anim>
                                    <p:animEffect transition="in" filter="fade">
                                      <p:cBhvr>
                                        <p:cTn id="38" dur="1000"/>
                                        <p:tgtEl>
                                          <p:spTgt spid="3">
                                            <p:txEl>
                                              <p:pRg st="4" end="4"/>
                                            </p:txEl>
                                          </p:spTgt>
                                        </p:tgtEl>
                                      </p:cBhvr>
                                    </p:animEffect>
                                  </p:childTnLst>
                                </p:cTn>
                              </p:par>
                              <p:par>
                                <p:cTn id="39" presetID="31" presetClass="entr" presetSubtype="0" fill="hold" nodeType="withEffect">
                                  <p:stCondLst>
                                    <p:cond delay="0"/>
                                  </p:stCondLst>
                                  <p:childTnLst>
                                    <p:set>
                                      <p:cBhvr>
                                        <p:cTn id="40" dur="1" fill="hold">
                                          <p:stCondLst>
                                            <p:cond delay="0"/>
                                          </p:stCondLst>
                                        </p:cTn>
                                        <p:tgtEl>
                                          <p:spTgt spid="3">
                                            <p:txEl>
                                              <p:pRg st="5" end="5"/>
                                            </p:txEl>
                                          </p:spTgt>
                                        </p:tgtEl>
                                        <p:attrNameLst>
                                          <p:attrName>style.visibility</p:attrName>
                                        </p:attrNameLst>
                                      </p:cBhvr>
                                      <p:to>
                                        <p:strVal val="visible"/>
                                      </p:to>
                                    </p:set>
                                    <p:anim calcmode="lin" valueType="num">
                                      <p:cBhvr>
                                        <p:cTn id="41" dur="1000" fill="hold"/>
                                        <p:tgtEl>
                                          <p:spTgt spid="3">
                                            <p:txEl>
                                              <p:pRg st="5" end="5"/>
                                            </p:txEl>
                                          </p:spTgt>
                                        </p:tgtEl>
                                        <p:attrNameLst>
                                          <p:attrName>ppt_w</p:attrName>
                                        </p:attrNameLst>
                                      </p:cBhvr>
                                      <p:tavLst>
                                        <p:tav tm="0">
                                          <p:val>
                                            <p:fltVal val="0"/>
                                          </p:val>
                                        </p:tav>
                                        <p:tav tm="100000">
                                          <p:val>
                                            <p:strVal val="#ppt_w"/>
                                          </p:val>
                                        </p:tav>
                                      </p:tavLst>
                                    </p:anim>
                                    <p:anim calcmode="lin" valueType="num">
                                      <p:cBhvr>
                                        <p:cTn id="42" dur="1000" fill="hold"/>
                                        <p:tgtEl>
                                          <p:spTgt spid="3">
                                            <p:txEl>
                                              <p:pRg st="5" end="5"/>
                                            </p:txEl>
                                          </p:spTgt>
                                        </p:tgtEl>
                                        <p:attrNameLst>
                                          <p:attrName>ppt_h</p:attrName>
                                        </p:attrNameLst>
                                      </p:cBhvr>
                                      <p:tavLst>
                                        <p:tav tm="0">
                                          <p:val>
                                            <p:fltVal val="0"/>
                                          </p:val>
                                        </p:tav>
                                        <p:tav tm="100000">
                                          <p:val>
                                            <p:strVal val="#ppt_h"/>
                                          </p:val>
                                        </p:tav>
                                      </p:tavLst>
                                    </p:anim>
                                    <p:anim calcmode="lin" valueType="num">
                                      <p:cBhvr>
                                        <p:cTn id="43" dur="1000" fill="hold"/>
                                        <p:tgtEl>
                                          <p:spTgt spid="3">
                                            <p:txEl>
                                              <p:pRg st="5" end="5"/>
                                            </p:txEl>
                                          </p:spTgt>
                                        </p:tgtEl>
                                        <p:attrNameLst>
                                          <p:attrName>style.rotation</p:attrName>
                                        </p:attrNameLst>
                                      </p:cBhvr>
                                      <p:tavLst>
                                        <p:tav tm="0">
                                          <p:val>
                                            <p:fltVal val="90"/>
                                          </p:val>
                                        </p:tav>
                                        <p:tav tm="100000">
                                          <p:val>
                                            <p:fltVal val="0"/>
                                          </p:val>
                                        </p:tav>
                                      </p:tavLst>
                                    </p:anim>
                                    <p:animEffect transition="in" filter="fade">
                                      <p:cBhvr>
                                        <p:cTn id="44" dur="10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2F3F6"/>
            </a:gs>
            <a:gs pos="100000">
              <a:srgbClr val="8EA1C2"/>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Why a romance in many dimensions?</a:t>
            </a:r>
          </a:p>
        </p:txBody>
      </p:sp>
      <p:sp>
        <p:nvSpPr>
          <p:cNvPr id="3" name="Text Placeholder 2"/>
          <p:cNvSpPr>
            <a:spLocks noGrp="1"/>
          </p:cNvSpPr>
          <p:nvPr>
            <p:ph type="body" idx="1"/>
          </p:nvPr>
        </p:nvSpPr>
        <p:spPr/>
        <p:txBody>
          <a:bodyPr/>
          <a:lstStyle/>
          <a:p>
            <a:r>
              <a:rPr lang="en-CA" dirty="0">
                <a:solidFill>
                  <a:srgbClr val="2F3B52"/>
                </a:solidFill>
              </a:rPr>
              <a:t>How can we understand important scientific phenomena?</a:t>
            </a:r>
          </a:p>
          <a:p>
            <a:r>
              <a:rPr lang="en-CA" dirty="0">
                <a:solidFill>
                  <a:srgbClr val="2F3B52"/>
                </a:solidFill>
              </a:rPr>
              <a:t>Our data</a:t>
            </a:r>
            <a:r>
              <a:rPr dirty="0">
                <a:solidFill>
                  <a:srgbClr val="2F3B52"/>
                </a:solidFill>
              </a:rPr>
              <a:t> live in </a:t>
            </a:r>
            <a:r>
              <a:rPr dirty="0" err="1">
                <a:solidFill>
                  <a:srgbClr val="2F3B52"/>
                </a:solidFill>
              </a:rPr>
              <a:t>Spaceland</a:t>
            </a:r>
            <a:r>
              <a:rPr dirty="0">
                <a:solidFill>
                  <a:srgbClr val="2F3B52"/>
                </a:solidFill>
              </a:rPr>
              <a:t>,</a:t>
            </a:r>
            <a:r>
              <a:rPr lang="en-CA" dirty="0">
                <a:solidFill>
                  <a:srgbClr val="2F3B52"/>
                </a:solidFill>
              </a:rPr>
              <a:t> sometimes high-D,</a:t>
            </a:r>
            <a:r>
              <a:rPr dirty="0">
                <a:solidFill>
                  <a:srgbClr val="2F3B52"/>
                </a:solidFill>
              </a:rPr>
              <a:t> but we plot in </a:t>
            </a:r>
            <a:r>
              <a:rPr lang="en-CA" dirty="0">
                <a:solidFill>
                  <a:srgbClr val="2F3B52"/>
                </a:solidFill>
              </a:rPr>
              <a:t>Plane</a:t>
            </a:r>
            <a:r>
              <a:rPr dirty="0">
                <a:solidFill>
                  <a:srgbClr val="2F3B52"/>
                </a:solidFill>
              </a:rPr>
              <a:t>land</a:t>
            </a:r>
          </a:p>
        </p:txBody>
      </p:sp>
      <p:sp>
        <p:nvSpPr>
          <p:cNvPr id="4" name="Slide Number Placeholder 4"/>
          <p:cNvSpPr>
            <a:spLocks noGrp="1"/>
          </p:cNvSpPr>
          <p:nvPr>
            <p:ph type="sldNum" sz="quarter" idx="12"/>
          </p:nvPr>
        </p:nvSpPr>
        <p:spPr/>
        <p:txBody>
          <a:bodyPr/>
          <a:lstStyle/>
          <a:p>
            <a:fld id="{9BFB2853-4965-4727-91C4-384EB30D99A4}" type="slidenum">
              <a:rPr lang="en-CA"/>
              <a:t>5</a:t>
            </a:fld>
            <a:endParaRPr lang="en-CA"/>
          </a:p>
        </p:txBody>
      </p:sp>
      <p:pic>
        <p:nvPicPr>
          <p:cNvPr id="6" name="Section 0 Flatland illustration" descr="Flatland illustration: a sphere rising through Planeland appears as circles of changing size.">
            <a:extLst>
              <a:ext uri="{FF2B5EF4-FFF2-40B4-BE49-F238E27FC236}">
                <a16:creationId xmlns:a16="http://schemas.microsoft.com/office/drawing/2014/main" id="{D9C3AAA9-CA9A-E23E-D92E-E6B699AD5756}"/>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714500" y="127000"/>
            <a:ext cx="8763000" cy="2667000"/>
          </a:xfrm>
          <a:prstGeom prst="rect">
            <a:avLst/>
          </a:prstGeom>
          <a:ln w="9525">
            <a:solidFill>
              <a:srgbClr val="3A3A3A"/>
            </a:solidFill>
          </a:ln>
          <a:effectLst>
            <a:outerShdw blurRad="101600" dist="45790" dir="3378598" rotWithShape="0">
              <a:srgbClr val="000000">
                <a:alpha val="40000"/>
              </a:srgbClr>
            </a:outerShdw>
          </a:effectLst>
        </p:spPr>
      </p:pic>
      <p:sp>
        <p:nvSpPr>
          <p:cNvPr id="5" name="Romance heart 1">
            <a:extLst>
              <a:ext uri="{FF2B5EF4-FFF2-40B4-BE49-F238E27FC236}">
                <a16:creationId xmlns:a16="http://schemas.microsoft.com/office/drawing/2014/main" id="{426CA7FD-9647-8165-499F-D7A885957C7D}"/>
              </a:ext>
            </a:extLst>
          </p:cNvPr>
          <p:cNvSpPr/>
          <p:nvPr/>
        </p:nvSpPr>
        <p:spPr>
          <a:xfrm rot="-720000">
            <a:off x="8763000" y="4038600"/>
            <a:ext cx="406400" cy="365760"/>
          </a:xfrm>
          <a:prstGeom prst="heart">
            <a:avLst/>
          </a:prstGeom>
          <a:solidFill>
            <a:srgbClr val="C8435A">
              <a:alpha val="95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8" name="Romance heart 2">
            <a:extLst>
              <a:ext uri="{FF2B5EF4-FFF2-40B4-BE49-F238E27FC236}">
                <a16:creationId xmlns:a16="http://schemas.microsoft.com/office/drawing/2014/main" id="{812E02F8-8FC9-2AE3-199F-01129875C9D5}"/>
              </a:ext>
            </a:extLst>
          </p:cNvPr>
          <p:cNvSpPr/>
          <p:nvPr/>
        </p:nvSpPr>
        <p:spPr>
          <a:xfrm rot="480000">
            <a:off x="9601200" y="3759200"/>
            <a:ext cx="342900" cy="308610"/>
          </a:xfrm>
          <a:prstGeom prst="heart">
            <a:avLst/>
          </a:prstGeom>
          <a:solidFill>
            <a:srgbClr val="C8435A">
              <a:alpha val="80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Romance heart 3">
            <a:extLst>
              <a:ext uri="{FF2B5EF4-FFF2-40B4-BE49-F238E27FC236}">
                <a16:creationId xmlns:a16="http://schemas.microsoft.com/office/drawing/2014/main" id="{6EF35381-212E-17DA-BFF7-0125FD7F031E}"/>
              </a:ext>
            </a:extLst>
          </p:cNvPr>
          <p:cNvSpPr/>
          <p:nvPr/>
        </p:nvSpPr>
        <p:spPr>
          <a:xfrm rot="-600000">
            <a:off x="10325100" y="3505200"/>
            <a:ext cx="279400" cy="251460"/>
          </a:xfrm>
          <a:prstGeom prst="heart">
            <a:avLst/>
          </a:prstGeom>
          <a:solidFill>
            <a:srgbClr val="C8435A">
              <a:alpha val="65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 name="Romance heart 4">
            <a:extLst>
              <a:ext uri="{FF2B5EF4-FFF2-40B4-BE49-F238E27FC236}">
                <a16:creationId xmlns:a16="http://schemas.microsoft.com/office/drawing/2014/main" id="{F774B454-8FE4-51DE-7FA0-577922E9289C}"/>
              </a:ext>
            </a:extLst>
          </p:cNvPr>
          <p:cNvSpPr/>
          <p:nvPr/>
        </p:nvSpPr>
        <p:spPr>
          <a:xfrm rot="720000">
            <a:off x="10947400" y="3276600"/>
            <a:ext cx="215900" cy="194310"/>
          </a:xfrm>
          <a:prstGeom prst="heart">
            <a:avLst/>
          </a:prstGeom>
          <a:solidFill>
            <a:srgbClr val="C8435A">
              <a:alpha val="50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Romance heart 5">
            <a:extLst>
              <a:ext uri="{FF2B5EF4-FFF2-40B4-BE49-F238E27FC236}">
                <a16:creationId xmlns:a16="http://schemas.microsoft.com/office/drawing/2014/main" id="{2FB4598B-37E6-F252-5321-4D909C2FF832}"/>
              </a:ext>
            </a:extLst>
          </p:cNvPr>
          <p:cNvSpPr/>
          <p:nvPr/>
        </p:nvSpPr>
        <p:spPr>
          <a:xfrm rot="-480000">
            <a:off x="11430000" y="3086100"/>
            <a:ext cx="165100" cy="148590"/>
          </a:xfrm>
          <a:prstGeom prst="heart">
            <a:avLst/>
          </a:prstGeom>
          <a:solidFill>
            <a:srgbClr val="C8435A">
              <a:alpha val="35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 name="Romance heart 6">
            <a:extLst>
              <a:ext uri="{FF2B5EF4-FFF2-40B4-BE49-F238E27FC236}">
                <a16:creationId xmlns:a16="http://schemas.microsoft.com/office/drawing/2014/main" id="{AA49D3B8-A9B0-2D7F-0D4B-4FBE9B9F8266}"/>
              </a:ext>
            </a:extLst>
          </p:cNvPr>
          <p:cNvSpPr/>
          <p:nvPr/>
        </p:nvSpPr>
        <p:spPr>
          <a:xfrm rot="600000">
            <a:off x="11811000" y="2946400"/>
            <a:ext cx="114300" cy="102870"/>
          </a:xfrm>
          <a:prstGeom prst="heart">
            <a:avLst/>
          </a:prstGeom>
          <a:solidFill>
            <a:srgbClr val="C8435A">
              <a:alpha val="22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Plane</a:t>
            </a:r>
            <a:r>
              <a:rPr dirty="0"/>
              <a:t>land: we only ever see </a:t>
            </a:r>
            <a:r>
              <a:rPr lang="en-CA" dirty="0"/>
              <a:t>2D </a:t>
            </a:r>
            <a:r>
              <a:rPr dirty="0"/>
              <a:t>projections</a:t>
            </a:r>
          </a:p>
        </p:txBody>
      </p:sp>
      <p:sp>
        <p:nvSpPr>
          <p:cNvPr id="3" name="Content Placeholder 2"/>
          <p:cNvSpPr>
            <a:spLocks noGrp="1"/>
          </p:cNvSpPr>
          <p:nvPr>
            <p:ph sz="half" idx="1"/>
          </p:nvPr>
        </p:nvSpPr>
        <p:spPr/>
        <p:txBody>
          <a:bodyPr/>
          <a:lstStyle/>
          <a:p>
            <a:r>
              <a:rPr dirty="0"/>
              <a:t>Abbott's Flatland (1884): a sphere passing through a 2D world is seen as a circle that grows and shrinks</a:t>
            </a:r>
          </a:p>
          <a:p>
            <a:r>
              <a:rPr dirty="0"/>
              <a:t>Our </a:t>
            </a:r>
            <a:r>
              <a:rPr lang="en-CA" dirty="0"/>
              <a:t>2D </a:t>
            </a:r>
            <a:r>
              <a:rPr dirty="0"/>
              <a:t>plots are Flatland views of data that live in many dimensions</a:t>
            </a:r>
          </a:p>
          <a:p>
            <a:r>
              <a:rPr dirty="0"/>
              <a:t>Multivariate visualization is the art of </a:t>
            </a:r>
            <a:r>
              <a:rPr b="1" dirty="0"/>
              <a:t>choosing good views</a:t>
            </a:r>
            <a:endParaRPr lang="en-CA" b="1" dirty="0"/>
          </a:p>
          <a:p>
            <a:r>
              <a:rPr lang="en-CA" dirty="0">
                <a:solidFill>
                  <a:srgbClr val="C00000"/>
                </a:solidFill>
              </a:rPr>
              <a:t>#dataviz </a:t>
            </a:r>
            <a:r>
              <a:rPr lang="en-CA" dirty="0"/>
              <a:t>is the art of making plots </a:t>
            </a:r>
            <a:r>
              <a:rPr lang="en-CA" b="1" dirty="0"/>
              <a:t>informative</a:t>
            </a:r>
            <a:r>
              <a:rPr lang="en-CA" dirty="0"/>
              <a:t> (&amp; pretty!)</a:t>
            </a:r>
          </a:p>
          <a:p>
            <a:r>
              <a:rPr lang="en-CA" b="1" dirty="0"/>
              <a:t>Truth &amp; Beauty</a:t>
            </a:r>
            <a:r>
              <a:rPr lang="en-CA" dirty="0"/>
              <a:t>: That’s the Romance!</a:t>
            </a:r>
            <a:endParaRPr dirty="0"/>
          </a:p>
        </p:txBody>
      </p:sp>
      <p:pic>
        <p:nvPicPr>
          <p:cNvPr id="4" name="Picture 3" descr="flatland-spheres.jpg"/>
          <p:cNvPicPr>
            <a:picLocks noChangeAspect="1"/>
          </p:cNvPicPr>
          <p:nvPr/>
        </p:nvPicPr>
        <p:blipFill>
          <a:blip r:embed="rId3"/>
          <a:stretch>
            <a:fillRect/>
          </a:stretch>
        </p:blipFill>
        <p:spPr>
          <a:xfrm>
            <a:off x="6169152" y="1752981"/>
            <a:ext cx="5184648" cy="1578296"/>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1.1</a:t>
            </a:r>
          </a:p>
        </p:txBody>
      </p:sp>
      <p:pic>
        <p:nvPicPr>
          <p:cNvPr id="7" name="Picture 6">
            <a:extLst>
              <a:ext uri="{FF2B5EF4-FFF2-40B4-BE49-F238E27FC236}">
                <a16:creationId xmlns:a16="http://schemas.microsoft.com/office/drawing/2014/main" id="{81E909CF-4995-827F-E9C7-23F0A1CE0088}"/>
              </a:ext>
            </a:extLst>
          </p:cNvPr>
          <p:cNvPicPr>
            <a:picLocks noChangeAspect="1"/>
          </p:cNvPicPr>
          <p:nvPr/>
        </p:nvPicPr>
        <p:blipFill>
          <a:blip r:embed="rId4"/>
          <a:stretch>
            <a:fillRect/>
          </a:stretch>
        </p:blipFill>
        <p:spPr>
          <a:xfrm>
            <a:off x="6325994" y="3695590"/>
            <a:ext cx="3947314" cy="2819510"/>
          </a:xfrm>
          <a:prstGeom prst="rect">
            <a:avLst/>
          </a:prstGeom>
        </p:spPr>
      </p:pic>
      <p:sp>
        <p:nvSpPr>
          <p:cNvPr id="8" name="Slide Number Placeholder 8"/>
          <p:cNvSpPr>
            <a:spLocks noGrp="1"/>
          </p:cNvSpPr>
          <p:nvPr>
            <p:ph type="sldNum" sz="quarter" idx="12"/>
          </p:nvPr>
        </p:nvSpPr>
        <p:spPr/>
        <p:txBody>
          <a:bodyPr/>
          <a:lstStyle/>
          <a:p>
            <a:fld id="{9BFB2853-4965-4727-91C4-384EB30D99A4}" type="slidenum">
              <a:rPr lang="en-CA"/>
              <a:t>6</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2" presetClass="entr" presetSubtype="4" fill="hold" nodeType="withEffect">
                                  <p:stCondLst>
                                    <p:cond delay="0"/>
                                  </p:stCondLst>
                                  <p:childTnLst>
                                    <p:set>
                                      <p:cBhvr>
                                        <p:cTn id="8" dur="1" fill="hold">
                                          <p:stCondLst>
                                            <p:cond delay="0"/>
                                          </p:stCondLst>
                                        </p:cTn>
                                        <p:tgtEl>
                                          <p:spTgt spid="7"/>
                                        </p:tgtEl>
                                        <p:attrNameLst>
                                          <p:attrName>style.visibility</p:attrName>
                                        </p:attrNameLst>
                                      </p:cBhvr>
                                      <p:to>
                                        <p:strVal val="visible"/>
                                      </p:to>
                                    </p:set>
                                    <p:anim calcmode="lin" valueType="num">
                                      <p:cBhvr additive="base">
                                        <p:cTn id="9" dur="500" fill="hold"/>
                                        <p:tgtEl>
                                          <p:spTgt spid="7"/>
                                        </p:tgtEl>
                                        <p:attrNameLst>
                                          <p:attrName>ppt_x</p:attrName>
                                        </p:attrNameLst>
                                      </p:cBhvr>
                                      <p:tavLst>
                                        <p:tav tm="0">
                                          <p:val>
                                            <p:strVal val="#ppt_x"/>
                                          </p:val>
                                        </p:tav>
                                        <p:tav tm="100000">
                                          <p:val>
                                            <p:strVal val="#ppt_x"/>
                                          </p:val>
                                        </p:tav>
                                      </p:tavLst>
                                    </p:anim>
                                    <p:anim calcmode="lin" valueType="num">
                                      <p:cBhvr additive="base">
                                        <p:cTn id="10" dur="50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EUREKA! Structure can hide in many dimensions</a:t>
            </a:r>
          </a:p>
        </p:txBody>
      </p:sp>
      <p:pic>
        <p:nvPicPr>
          <p:cNvPr id="3" name="Picture 2" descr="pollen-eureka.gif"/>
          <p:cNvPicPr>
            <a:picLocks noChangeAspect="1"/>
          </p:cNvPicPr>
          <p:nvPr/>
        </p:nvPicPr>
        <p:blipFill>
          <a:blip r:embed="rId3"/>
          <a:stretch>
            <a:fillRect/>
          </a:stretch>
        </p:blipFill>
        <p:spPr>
          <a:xfrm>
            <a:off x="950439" y="1603498"/>
            <a:ext cx="5095308" cy="465965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1.5</a:t>
            </a:r>
          </a:p>
        </p:txBody>
      </p:sp>
      <p:sp>
        <p:nvSpPr>
          <p:cNvPr id="6" name="TextBox 5">
            <a:extLst>
              <a:ext uri="{FF2B5EF4-FFF2-40B4-BE49-F238E27FC236}">
                <a16:creationId xmlns:a16="http://schemas.microsoft.com/office/drawing/2014/main" id="{8C3F38F2-2587-3C51-3889-B647D224D5F9}"/>
              </a:ext>
            </a:extLst>
          </p:cNvPr>
          <p:cNvSpPr txBox="1"/>
          <p:nvPr/>
        </p:nvSpPr>
        <p:spPr>
          <a:xfrm>
            <a:off x="6942025" y="1720645"/>
            <a:ext cx="4679704" cy="4154984"/>
          </a:xfrm>
          <a:prstGeom prst="rect">
            <a:avLst/>
          </a:prstGeom>
          <a:noFill/>
        </p:spPr>
        <p:txBody>
          <a:bodyPr wrap="square" rtlCol="0">
            <a:spAutoFit/>
          </a:bodyPr>
          <a:lstStyle/>
          <a:p>
            <a:r>
              <a:rPr lang="en-CA" sz="2400" dirty="0" err="1"/>
              <a:t>HistData</a:t>
            </a:r>
            <a:r>
              <a:rPr lang="en-CA" sz="2400" dirty="0"/>
              <a:t>::Pollen, 5D, from the 1986 JSM Data Exposition: “</a:t>
            </a:r>
            <a:r>
              <a:rPr lang="en-CA" sz="2400" dirty="0">
                <a:solidFill>
                  <a:schemeClr val="accent2">
                    <a:lumMod val="75000"/>
                  </a:schemeClr>
                </a:solidFill>
              </a:rPr>
              <a:t>Find something interesting here</a:t>
            </a:r>
            <a:r>
              <a:rPr lang="en-CA" sz="2400" dirty="0"/>
              <a:t>”</a:t>
            </a:r>
          </a:p>
          <a:p>
            <a:endParaRPr lang="en-CA" sz="2400" dirty="0"/>
          </a:p>
          <a:p>
            <a:r>
              <a:rPr lang="en-CA" sz="2400" dirty="0"/>
              <a:t>Zooming in on the </a:t>
            </a:r>
            <a:r>
              <a:rPr lang="en-CA" sz="2400" b="1" dirty="0"/>
              <a:t>right view </a:t>
            </a:r>
            <a:r>
              <a:rPr lang="en-CA" sz="2400" dirty="0"/>
              <a:t>reveals what no summary statistic could ever do</a:t>
            </a:r>
          </a:p>
          <a:p>
            <a:endParaRPr lang="en-CA" sz="2400" dirty="0"/>
          </a:p>
          <a:p>
            <a:r>
              <a:rPr lang="en-CA" sz="2400" dirty="0"/>
              <a:t>History of science gives many Eureka Moments revealed by graphs</a:t>
            </a:r>
          </a:p>
        </p:txBody>
      </p:sp>
      <p:sp>
        <p:nvSpPr>
          <p:cNvPr id="7" name="Slide Number Placeholder 7"/>
          <p:cNvSpPr>
            <a:spLocks noGrp="1"/>
          </p:cNvSpPr>
          <p:nvPr>
            <p:ph type="sldNum" sz="quarter" idx="12"/>
          </p:nvPr>
        </p:nvSpPr>
        <p:spPr/>
        <p:txBody>
          <a:bodyPr/>
          <a:lstStyle/>
          <a:p>
            <a:fld id="{9BFB2853-4965-4727-91C4-384EB30D99A4}" type="slidenum">
              <a:rPr lang="en-CA"/>
              <a:t>7</a:t>
            </a:fld>
            <a:endParaRPr lang="en-CA"/>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M</a:t>
            </a:r>
            <a:r>
              <a:rPr dirty="0" err="1"/>
              <a:t>ultivariate</a:t>
            </a:r>
            <a:r>
              <a:rPr dirty="0"/>
              <a:t> discovery: kinds of </a:t>
            </a:r>
            <a:r>
              <a:rPr lang="en-CA" dirty="0"/>
              <a:t>Type 2 </a:t>
            </a:r>
            <a:r>
              <a:rPr dirty="0"/>
              <a:t>diabetes</a:t>
            </a:r>
          </a:p>
        </p:txBody>
      </p:sp>
      <p:sp>
        <p:nvSpPr>
          <p:cNvPr id="3" name="Content Placeholder 2"/>
          <p:cNvSpPr>
            <a:spLocks noGrp="1"/>
          </p:cNvSpPr>
          <p:nvPr>
            <p:ph sz="half" idx="1"/>
          </p:nvPr>
        </p:nvSpPr>
        <p:spPr/>
        <p:txBody>
          <a:bodyPr/>
          <a:lstStyle/>
          <a:p>
            <a:r>
              <a:rPr dirty="0"/>
              <a:t>Reaven &amp; Miller (1979) viewed glucose and insulin measures in 3D with PRIM-9</a:t>
            </a:r>
            <a:endParaRPr lang="en-CA" dirty="0"/>
          </a:p>
          <a:p>
            <a:r>
              <a:rPr lang="en-CA" dirty="0"/>
              <a:t>Earlier 1968 study: murky in 2D</a:t>
            </a:r>
            <a:endParaRPr dirty="0"/>
          </a:p>
          <a:p>
            <a:r>
              <a:rPr dirty="0"/>
              <a:t>The 3D view showed distinct groups that 2D plots had obscured</a:t>
            </a:r>
          </a:p>
          <a:p>
            <a:r>
              <a:rPr dirty="0"/>
              <a:t>The picture changed how the disease was classified</a:t>
            </a:r>
            <a:r>
              <a:rPr lang="en-CA" dirty="0"/>
              <a:t>:</a:t>
            </a:r>
          </a:p>
          <a:p>
            <a:pPr lvl="1"/>
            <a:r>
              <a:rPr lang="en-CA" dirty="0"/>
              <a:t>Chemical (Prediabetes / Early Type 2)</a:t>
            </a:r>
          </a:p>
          <a:p>
            <a:pPr lvl="1"/>
            <a:r>
              <a:rPr lang="en-CA" dirty="0"/>
              <a:t>Overt (Advanced Type 2)</a:t>
            </a:r>
            <a:endParaRPr dirty="0"/>
          </a:p>
        </p:txBody>
      </p:sp>
      <p:pic>
        <p:nvPicPr>
          <p:cNvPr id="4" name="Picture 3" descr="ReavenMiller-3d-annotated.png"/>
          <p:cNvPicPr>
            <a:picLocks noChangeAspect="1"/>
          </p:cNvPicPr>
          <p:nvPr/>
        </p:nvPicPr>
        <p:blipFill>
          <a:blip r:embed="rId3"/>
          <a:stretch>
            <a:fillRect/>
          </a:stretch>
        </p:blipFill>
        <p:spPr>
          <a:xfrm>
            <a:off x="6172200" y="1915849"/>
            <a:ext cx="5184648" cy="412358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1.7</a:t>
            </a:r>
          </a:p>
        </p:txBody>
      </p:sp>
      <p:sp>
        <p:nvSpPr>
          <p:cNvPr id="6" name="Slide Number Placeholder 6"/>
          <p:cNvSpPr>
            <a:spLocks noGrp="1"/>
          </p:cNvSpPr>
          <p:nvPr>
            <p:ph type="sldNum" sz="quarter" idx="12"/>
          </p:nvPr>
        </p:nvSpPr>
        <p:spPr/>
        <p:txBody>
          <a:bodyPr/>
          <a:lstStyle/>
          <a:p>
            <a:fld id="{9BFB2853-4965-4727-91C4-384EB30D99A4}" type="slidenum">
              <a:rPr lang="en-CA"/>
              <a:t>8</a:t>
            </a:fld>
            <a:endParaRPr lang="en-CA"/>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MLM</a:t>
            </a:r>
            <a:r>
              <a:rPr dirty="0"/>
              <a:t> problem: easy to fit, hard to see</a:t>
            </a:r>
          </a:p>
        </p:txBody>
      </p:sp>
      <p:sp>
        <p:nvSpPr>
          <p:cNvPr id="3" name="Content Placeholder 2"/>
          <p:cNvSpPr>
            <a:spLocks noGrp="1"/>
          </p:cNvSpPr>
          <p:nvPr>
            <p:ph sz="half" idx="1"/>
          </p:nvPr>
        </p:nvSpPr>
        <p:spPr/>
        <p:txBody>
          <a:bodyPr/>
          <a:lstStyle/>
          <a:p>
            <a:r>
              <a:rPr dirty="0"/>
              <a:t>With one response, we have a rich toolkit of plots for linear models</a:t>
            </a:r>
          </a:p>
          <a:p>
            <a:r>
              <a:rPr dirty="0"/>
              <a:t>With several responses, </a:t>
            </a:r>
            <a:r>
              <a:rPr sz="2000" dirty="0" err="1">
                <a:solidFill>
                  <a:schemeClr val="accent2">
                    <a:lumMod val="50000"/>
                  </a:schemeClr>
                </a:solidFill>
                <a:latin typeface="Cascadia Code" panose="020B0609020000020004" pitchFamily="49" charset="0"/>
                <a:ea typeface="Cascadia Code" panose="020B0609020000020004" pitchFamily="49" charset="0"/>
                <a:cs typeface="Cascadia Code" panose="020B0609020000020004" pitchFamily="49" charset="0"/>
              </a:rPr>
              <a:t>lm</a:t>
            </a:r>
            <a:r>
              <a:rPr sz="2000" dirty="0">
                <a:solidFill>
                  <a:schemeClr val="accent2">
                    <a:lumMod val="50000"/>
                  </a:schemeClr>
                </a:solidFill>
                <a:latin typeface="Cascadia Code" panose="020B0609020000020004" pitchFamily="49" charset="0"/>
                <a:ea typeface="Cascadia Code" panose="020B0609020000020004" pitchFamily="49" charset="0"/>
                <a:cs typeface="Cascadia Code" panose="020B0609020000020004" pitchFamily="49" charset="0"/>
              </a:rPr>
              <a:t>(</a:t>
            </a:r>
            <a:r>
              <a:rPr sz="2000" dirty="0" err="1">
                <a:solidFill>
                  <a:schemeClr val="accent2">
                    <a:lumMod val="50000"/>
                  </a:schemeClr>
                </a:solidFill>
                <a:latin typeface="Cascadia Code" panose="020B0609020000020004" pitchFamily="49" charset="0"/>
                <a:ea typeface="Cascadia Code" panose="020B0609020000020004" pitchFamily="49" charset="0"/>
                <a:cs typeface="Cascadia Code" panose="020B0609020000020004" pitchFamily="49" charset="0"/>
              </a:rPr>
              <a:t>cbind</a:t>
            </a:r>
            <a:r>
              <a:rPr sz="2000" dirty="0">
                <a:solidFill>
                  <a:schemeClr val="accent2">
                    <a:lumMod val="50000"/>
                  </a:schemeClr>
                </a:solidFill>
                <a:latin typeface="Cascadia Code" panose="020B0609020000020004" pitchFamily="49" charset="0"/>
                <a:ea typeface="Cascadia Code" panose="020B0609020000020004" pitchFamily="49" charset="0"/>
                <a:cs typeface="Cascadia Code" panose="020B0609020000020004" pitchFamily="49" charset="0"/>
              </a:rPr>
              <a:t>(y1,y2,y3) ~ ...) </a:t>
            </a:r>
            <a:r>
              <a:rPr dirty="0"/>
              <a:t>is just as easy to fit</a:t>
            </a:r>
            <a:endParaRPr lang="en-CA" dirty="0"/>
          </a:p>
          <a:p>
            <a:r>
              <a:rPr lang="en-CA" dirty="0"/>
              <a:t>Math is beautiful &amp; easy too: y </a:t>
            </a:r>
            <a:r>
              <a:rPr lang="en-CA" dirty="0">
                <a:latin typeface="Cambria Math" panose="02040503050406030204" pitchFamily="18" charset="0"/>
                <a:ea typeface="Cambria Math" panose="02040503050406030204" pitchFamily="18" charset="0"/>
              </a:rPr>
              <a:t>⤳ </a:t>
            </a:r>
            <a:r>
              <a:rPr lang="en-CA" b="1" dirty="0">
                <a:latin typeface="Cambria Math" panose="02040503050406030204" pitchFamily="18" charset="0"/>
                <a:ea typeface="Cambria Math" panose="02040503050406030204" pitchFamily="18" charset="0"/>
              </a:rPr>
              <a:t>Y</a:t>
            </a:r>
            <a:endParaRPr b="1" dirty="0"/>
          </a:p>
          <a:p>
            <a:r>
              <a:rPr dirty="0"/>
              <a:t>But the results arrive as tables of multivariate tests</a:t>
            </a:r>
            <a:r>
              <a:rPr lang="en-CA" dirty="0"/>
              <a:t> </a:t>
            </a:r>
            <a:endParaRPr dirty="0"/>
          </a:p>
          <a:p>
            <a:r>
              <a:rPr dirty="0"/>
              <a:t>Goal: plots that show what those tests mean</a:t>
            </a:r>
            <a:r>
              <a:rPr lang="en-CA" dirty="0"/>
              <a:t>, visual inference?</a:t>
            </a:r>
            <a:endParaRPr dirty="0"/>
          </a:p>
        </p:txBody>
      </p:sp>
      <p:pic>
        <p:nvPicPr>
          <p:cNvPr id="4" name="Picture 3" descr="techniques-table.png"/>
          <p:cNvPicPr>
            <a:picLocks noChangeAspect="1"/>
          </p:cNvPicPr>
          <p:nvPr/>
        </p:nvPicPr>
        <p:blipFill>
          <a:blip r:embed="rId3"/>
          <a:stretch>
            <a:fillRect/>
          </a:stretch>
        </p:blipFill>
        <p:spPr>
          <a:xfrm>
            <a:off x="6068816" y="1508125"/>
            <a:ext cx="5926315" cy="345384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6.1</a:t>
            </a:r>
          </a:p>
        </p:txBody>
      </p:sp>
      <p:sp>
        <p:nvSpPr>
          <p:cNvPr id="6" name="Arrow: Right 5">
            <a:extLst>
              <a:ext uri="{FF2B5EF4-FFF2-40B4-BE49-F238E27FC236}">
                <a16:creationId xmlns:a16="http://schemas.microsoft.com/office/drawing/2014/main" id="{6D7CD635-CA86-50B5-DD23-04F9E0409321}"/>
              </a:ext>
            </a:extLst>
          </p:cNvPr>
          <p:cNvSpPr/>
          <p:nvPr/>
        </p:nvSpPr>
        <p:spPr>
          <a:xfrm>
            <a:off x="7194174" y="4961965"/>
            <a:ext cx="1452285" cy="389965"/>
          </a:xfrm>
          <a:prstGeom prst="right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Rectangle: Rounded Corners 8">
            <a:extLst>
              <a:ext uri="{FF2B5EF4-FFF2-40B4-BE49-F238E27FC236}">
                <a16:creationId xmlns:a16="http://schemas.microsoft.com/office/drawing/2014/main" id="{E613832E-1EF0-5E3E-044A-946E739AFD84}"/>
              </a:ext>
            </a:extLst>
          </p:cNvPr>
          <p:cNvSpPr/>
          <p:nvPr/>
        </p:nvSpPr>
        <p:spPr>
          <a:xfrm>
            <a:off x="6683188" y="1761565"/>
            <a:ext cx="2911464" cy="3198345"/>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8" name="Graphic 7" descr="Angry face outline with solid fill">
            <a:extLst>
              <a:ext uri="{FF2B5EF4-FFF2-40B4-BE49-F238E27FC236}">
                <a16:creationId xmlns:a16="http://schemas.microsoft.com/office/drawing/2014/main" id="{C781B4D4-3EBB-3404-EA14-5C779757B8A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668337" y="4290460"/>
            <a:ext cx="467443" cy="467443"/>
          </a:xfrm>
          <a:prstGeom prst="rect">
            <a:avLst/>
          </a:prstGeom>
        </p:spPr>
      </p:pic>
      <p:pic>
        <p:nvPicPr>
          <p:cNvPr id="11" name="Graphic 10" descr="Angel face outline with solid fill">
            <a:extLst>
              <a:ext uri="{FF2B5EF4-FFF2-40B4-BE49-F238E27FC236}">
                <a16:creationId xmlns:a16="http://schemas.microsoft.com/office/drawing/2014/main" id="{1E4FE850-C800-2417-5B77-7A99C0129DE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109949" y="5117930"/>
            <a:ext cx="468000" cy="468000"/>
          </a:xfrm>
          <a:prstGeom prst="rect">
            <a:avLst/>
          </a:prstGeom>
        </p:spPr>
      </p:pic>
      <p:sp>
        <p:nvSpPr>
          <p:cNvPr id="12" name="Slide Number Placeholder 12"/>
          <p:cNvSpPr>
            <a:spLocks noGrp="1"/>
          </p:cNvSpPr>
          <p:nvPr>
            <p:ph type="sldNum" sz="quarter" idx="12"/>
          </p:nvPr>
        </p:nvSpPr>
        <p:spPr/>
        <p:txBody>
          <a:bodyPr/>
          <a:lstStyle/>
          <a:p>
            <a:fld id="{9BFB2853-4965-4727-91C4-384EB30D99A4}" type="slidenum">
              <a:rPr lang="en-CA"/>
              <a:t>9</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2" presetClass="entr" presetSubtype="4" fill="hold" nodeType="withEffect">
                                  <p:stCondLst>
                                    <p:cond delay="0"/>
                                  </p:stCondLst>
                                  <p:childTnLst>
                                    <p:set>
                                      <p:cBhvr>
                                        <p:cTn id="8" dur="1" fill="hold">
                                          <p:stCondLst>
                                            <p:cond delay="0"/>
                                          </p:stCondLst>
                                        </p:cTn>
                                        <p:tgtEl>
                                          <p:spTgt spid="8"/>
                                        </p:tgtEl>
                                        <p:attrNameLst>
                                          <p:attrName>style.visibility</p:attrName>
                                        </p:attrNameLst>
                                      </p:cBhvr>
                                      <p:to>
                                        <p:strVal val="visible"/>
                                      </p:to>
                                    </p:set>
                                    <p:anim calcmode="lin" valueType="num">
                                      <p:cBhvr additive="base">
                                        <p:cTn id="9" dur="500" fill="hold"/>
                                        <p:tgtEl>
                                          <p:spTgt spid="8"/>
                                        </p:tgtEl>
                                        <p:attrNameLst>
                                          <p:attrName>ppt_x</p:attrName>
                                        </p:attrNameLst>
                                      </p:cBhvr>
                                      <p:tavLst>
                                        <p:tav tm="0">
                                          <p:val>
                                            <p:strVal val="#ppt_x"/>
                                          </p:val>
                                        </p:tav>
                                        <p:tav tm="100000">
                                          <p:val>
                                            <p:strVal val="#ppt_x"/>
                                          </p:val>
                                        </p:tav>
                                      </p:tavLst>
                                    </p:anim>
                                    <p:anim calcmode="lin" valueType="num">
                                      <p:cBhvr additive="base">
                                        <p:cTn id="10" dur="500" fill="hold"/>
                                        <p:tgtEl>
                                          <p:spTgt spid="8"/>
                                        </p:tgtEl>
                                        <p:attrNameLst>
                                          <p:attrName>ppt_y</p:attrName>
                                        </p:attrNameLst>
                                      </p:cBhvr>
                                      <p:tavLst>
                                        <p:tav tm="0">
                                          <p:val>
                                            <p:strVal val="1+#ppt_h/2"/>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2" presetClass="entr" presetSubtype="4" fill="hold" nodeType="withEffect">
                                  <p:stCondLst>
                                    <p:cond delay="0"/>
                                  </p:stCondLst>
                                  <p:childTnLst>
                                    <p:set>
                                      <p:cBhvr>
                                        <p:cTn id="16" dur="1" fill="hold">
                                          <p:stCondLst>
                                            <p:cond delay="0"/>
                                          </p:stCondLst>
                                        </p:cTn>
                                        <p:tgtEl>
                                          <p:spTgt spid="11"/>
                                        </p:tgtEl>
                                        <p:attrNameLst>
                                          <p:attrName>style.visibility</p:attrName>
                                        </p:attrNameLst>
                                      </p:cBhvr>
                                      <p:to>
                                        <p:strVal val="visible"/>
                                      </p:to>
                                    </p:set>
                                    <p:anim calcmode="lin" valueType="num">
                                      <p:cBhvr additive="base">
                                        <p:cTn id="17" dur="500" fill="hold"/>
                                        <p:tgtEl>
                                          <p:spTgt spid="11"/>
                                        </p:tgtEl>
                                        <p:attrNameLst>
                                          <p:attrName>ppt_x</p:attrName>
                                        </p:attrNameLst>
                                      </p:cBhvr>
                                      <p:tavLst>
                                        <p:tav tm="0">
                                          <p:val>
                                            <p:strVal val="#ppt_x"/>
                                          </p:val>
                                        </p:tav>
                                        <p:tav tm="100000">
                                          <p:val>
                                            <p:strVal val="#ppt_x"/>
                                          </p:val>
                                        </p:tav>
                                      </p:tavLst>
                                    </p:anim>
                                    <p:anim calcmode="lin" valueType="num">
                                      <p:cBhvr additive="base">
                                        <p:cTn id="18"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E3E4EE"/>
        </a:solidFill>
        <a:effectLst/>
      </p:bgPr>
    </p:bg>
    <p:spTree>
      <p:nvGrpSpPr>
        <p:cNvPr id="1" name=""/>
        <p:cNvGrpSpPr/>
        <p:nvPr/>
      </p:nvGrpSpPr>
      <p:grpSpPr>
        <a:xfrm>
          <a:off x="0" y="0"/>
          <a:ext cx="0" cy="0"/>
          <a:chOff x="0" y="0"/>
          <a:chExt cx="0" cy="0"/>
        </a:xfrm>
      </p:grpSpPr>
      <p:pic>
        <p:nvPicPr>
          <p:cNvPr id="6" name="Penguin station">
            <a:extLst>
              <a:ext uri="{FF2B5EF4-FFF2-40B4-BE49-F238E27FC236}">
                <a16:creationId xmlns:a16="http://schemas.microsoft.com/office/drawing/2014/main" id="{413CB08B-C51F-703F-A1B4-7349204C82D3}"/>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0" y="0"/>
            <a:ext cx="12192000" cy="6096000"/>
          </a:xfrm>
          <a:prstGeom prst="rect">
            <a:avLst/>
          </a:prstGeom>
        </p:spPr>
      </p:pic>
      <p:sp>
        <p:nvSpPr>
          <p:cNvPr id="2" name="Title 1"/>
          <p:cNvSpPr>
            <a:spLocks noGrp="1"/>
          </p:cNvSpPr>
          <p:nvPr>
            <p:ph type="title"/>
          </p:nvPr>
        </p:nvSpPr>
        <p:spPr>
          <a:xfrm>
            <a:off x="5384800" y="76200"/>
            <a:ext cx="6705600" cy="1968500"/>
          </a:xfrm>
          <a:effectLst>
            <a:outerShdw blurRad="50800" dist="38100" dir="2700000" algn="tl" rotWithShape="0">
              <a:prstClr val="black">
                <a:alpha val="40000"/>
              </a:prstClr>
            </a:outerShdw>
          </a:effectLst>
        </p:spPr>
        <p:txBody>
          <a:bodyPr vert="horz" wrap="square" lIns="0" tIns="0" rIns="0" bIns="0" rtlCol="0" anchor="t">
            <a:noAutofit/>
          </a:bodyPr>
          <a:lstStyle/>
          <a:p>
            <a:pPr algn="ctr">
              <a:lnSpc>
                <a:spcPct val="85000"/>
              </a:lnSpc>
            </a:pPr>
            <a:r>
              <a:rPr lang="en-US" sz="7200" b="1" dirty="0">
                <a:solidFill>
                  <a:srgbClr val="1B2F4E"/>
                </a:solidFill>
                <a:effectLst>
                  <a:glow rad="101600">
                    <a:srgbClr val="FFFFFF">
                      <a:alpha val="65000"/>
                    </a:srgbClr>
                  </a:glow>
                </a:effectLst>
              </a:rPr>
              <a:t>Seeing multivariate data</a:t>
            </a:r>
          </a:p>
        </p:txBody>
      </p:sp>
      <p:sp>
        <p:nvSpPr>
          <p:cNvPr id="3" name="Text Placeholder 2"/>
          <p:cNvSpPr>
            <a:spLocks noGrp="1"/>
          </p:cNvSpPr>
          <p:nvPr>
            <p:ph type="body" idx="1"/>
          </p:nvPr>
        </p:nvSpPr>
        <p:spPr>
          <a:xfrm>
            <a:off x="381000" y="6146799"/>
            <a:ext cx="10541000" cy="660400"/>
          </a:xfrm>
          <a:effectLst>
            <a:outerShdw blurRad="50800" dist="38100" dir="2700000" algn="tl" rotWithShape="0">
              <a:prstClr val="black">
                <a:alpha val="40000"/>
              </a:prstClr>
            </a:outerShdw>
          </a:effectLst>
        </p:spPr>
        <p:txBody>
          <a:bodyPr vert="horz" lIns="91440" tIns="45720" rIns="91440" bIns="45720" rtlCol="0" anchor="ctr">
            <a:normAutofit/>
          </a:bodyPr>
          <a:lstStyle/>
          <a:p>
            <a:pPr algn="ctr"/>
            <a:r>
              <a:rPr lang="en-US" sz="2800" dirty="0">
                <a:solidFill>
                  <a:srgbClr val="1B2F4E"/>
                </a:solidFill>
              </a:rPr>
              <a:t>Data ellipses, penguins, and looking at many variables at once</a:t>
            </a:r>
          </a:p>
        </p:txBody>
      </p:sp>
      <p:sp>
        <p:nvSpPr>
          <p:cNvPr id="14" name="Slide Number Placeholder 14"/>
          <p:cNvSpPr>
            <a:spLocks noGrp="1"/>
          </p:cNvSpPr>
          <p:nvPr>
            <p:ph type="sldNum" sz="quarter" idx="12"/>
          </p:nvPr>
        </p:nvSpPr>
        <p:spPr>
          <a:xfrm>
            <a:off x="11049000" y="6299200"/>
            <a:ext cx="889000" cy="365125"/>
          </a:xfrm>
        </p:spPr>
        <p:txBody>
          <a:bodyPr/>
          <a:lstStyle/>
          <a:p>
            <a:fld id="{9BFB2853-4965-4727-91C4-384EB30D99A4}" type="slidenum">
              <a:rPr lang="en-CA"/>
              <a:t>10</a:t>
            </a:fld>
            <a:endParaRPr lang="en-CA"/>
          </a:p>
        </p:txBody>
      </p:sp>
    </p:spTree>
    <p:extLst>
      <p:ext uri="{BB962C8B-B14F-4D97-AF65-F5344CB8AC3E}">
        <p14:creationId xmlns:p14="http://schemas.microsoft.com/office/powerpoint/2010/main" val="2393490728"/>
      </p:ext>
    </p:extLst>
  </p:cSld>
  <p:clrMapOvr>
    <a:masterClrMapping/>
  </p:clrMapOvr>
  <mc:AlternateContent xmlns:mc="http://schemas.openxmlformats.org/markup-compatibility/2006" xmlns:p14="http://schemas.microsoft.com/office/powerpoint/2010/main">
    <mc:Choice Requires="p14">
      <p:transition spd="slow" p14:dur="2000">
        <p14:prism isContent="1"/>
      </p:transition>
    </mc:Choice>
    <mc:Fallback xmlns="">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850" name="Rectangle 2"/>
          <p:cNvSpPr>
            <a:spLocks noGrp="1" noChangeArrowheads="1"/>
          </p:cNvSpPr>
          <p:nvPr>
            <p:ph type="title"/>
          </p:nvPr>
        </p:nvSpPr>
        <p:spPr>
          <a:xfrm>
            <a:off x="618781" y="331786"/>
            <a:ext cx="8229600" cy="838200"/>
          </a:xfrm>
        </p:spPr>
        <p:txBody>
          <a:bodyPr>
            <a:normAutofit fontScale="90000"/>
          </a:bodyPr>
          <a:lstStyle/>
          <a:p>
            <a:pPr>
              <a:lnSpc>
                <a:spcPct val="85000"/>
              </a:lnSpc>
            </a:pPr>
            <a:r>
              <a:rPr lang="en-US" altLang="en-US" sz="3200" dirty="0"/>
              <a:t>Galton’s visual discovery:</a:t>
            </a:r>
            <a:br>
              <a:rPr lang="en-US" altLang="en-US" sz="3200" dirty="0"/>
            </a:br>
            <a:r>
              <a:rPr lang="en-US" altLang="en-US" sz="3200" dirty="0"/>
              <a:t> </a:t>
            </a:r>
            <a:r>
              <a:rPr lang="en-US" altLang="en-US" sz="2400" dirty="0"/>
              <a:t>Bivariate normal correlation surface (1886)</a:t>
            </a:r>
          </a:p>
        </p:txBody>
      </p:sp>
      <p:pic>
        <p:nvPicPr>
          <p:cNvPr id="78851" name="Picture 3" descr="galton-table"/>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52483" y="1355797"/>
            <a:ext cx="8492935" cy="5148000"/>
          </a:xfrm>
          <a:prstGeom prst="rect">
            <a:avLst/>
          </a:prstGeom>
          <a:noFill/>
          <a:extLst>
            <a:ext uri="{909E8E84-426E-40DD-AFC4-6F175D3DCCD1}">
              <a14:hiddenFill xmlns:a14="http://schemas.microsoft.com/office/drawing/2010/main">
                <a:solidFill>
                  <a:srgbClr val="FFFFFF"/>
                </a:solidFill>
              </a14:hiddenFill>
            </a:ext>
          </a:extLst>
        </p:spPr>
      </p:pic>
      <p:sp>
        <p:nvSpPr>
          <p:cNvPr id="78852" name="Slide Number Placeholder 78852"/>
          <p:cNvSpPr>
            <a:spLocks noGrp="1"/>
          </p:cNvSpPr>
          <p:nvPr>
            <p:ph type="sldNum" sz="quarter" idx="12"/>
          </p:nvPr>
        </p:nvSpPr>
        <p:spPr/>
        <p:txBody>
          <a:bodyPr/>
          <a:lstStyle/>
          <a:p>
            <a:fld id="{9BFB2853-4965-4727-91C4-384EB30D99A4}" type="slidenum">
              <a:rPr lang="en-CA"/>
              <a:t>11</a:t>
            </a:fld>
            <a:endParaRPr lang="en-CA"/>
          </a:p>
        </p:txBody>
      </p:sp>
    </p:spTree>
    <p:extLst>
      <p:ext uri="{BB962C8B-B14F-4D97-AF65-F5344CB8AC3E}">
        <p14:creationId xmlns:p14="http://schemas.microsoft.com/office/powerpoint/2010/main" val="73394684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898" name="Rectangle 2"/>
          <p:cNvSpPr>
            <a:spLocks noGrp="1" noChangeArrowheads="1"/>
          </p:cNvSpPr>
          <p:nvPr>
            <p:ph type="title"/>
          </p:nvPr>
        </p:nvSpPr>
        <p:spPr>
          <a:xfrm>
            <a:off x="684882" y="327024"/>
            <a:ext cx="8229600" cy="793438"/>
          </a:xfrm>
        </p:spPr>
        <p:txBody>
          <a:bodyPr/>
          <a:lstStyle/>
          <a:p>
            <a:pPr>
              <a:lnSpc>
                <a:spcPct val="85000"/>
              </a:lnSpc>
            </a:pPr>
            <a:r>
              <a:rPr lang="en-US" altLang="en-US" sz="3200" dirty="0"/>
              <a:t>Visual smoothing </a:t>
            </a:r>
            <a:r>
              <a:rPr lang="en-US" altLang="en-US" sz="3200" dirty="0">
                <a:sym typeface="Symbol" panose="05050102010706020507" pitchFamily="18" charset="2"/>
              </a:rPr>
              <a:t></a:t>
            </a:r>
            <a:r>
              <a:rPr lang="en-US" altLang="en-US" sz="3200" dirty="0"/>
              <a:t> Insight</a:t>
            </a:r>
          </a:p>
        </p:txBody>
      </p:sp>
      <p:pic>
        <p:nvPicPr>
          <p:cNvPr id="80899" name="Picture 3" descr="galton-table-merged"/>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52800" y="1213200"/>
            <a:ext cx="8578876" cy="5148000"/>
          </a:xfrm>
          <a:prstGeom prst="rect">
            <a:avLst/>
          </a:prstGeom>
          <a:noFill/>
          <a:extLst>
            <a:ext uri="{909E8E84-426E-40DD-AFC4-6F175D3DCCD1}">
              <a14:hiddenFill xmlns:a14="http://schemas.microsoft.com/office/drawing/2010/main">
                <a:solidFill>
                  <a:srgbClr val="FFFFFF"/>
                </a:solidFill>
              </a14:hiddenFill>
            </a:ext>
          </a:extLst>
        </p:spPr>
      </p:pic>
      <p:sp>
        <p:nvSpPr>
          <p:cNvPr id="80900" name="Slide Number Placeholder 80900"/>
          <p:cNvSpPr>
            <a:spLocks noGrp="1"/>
          </p:cNvSpPr>
          <p:nvPr>
            <p:ph type="sldNum" sz="quarter" idx="12"/>
          </p:nvPr>
        </p:nvSpPr>
        <p:spPr/>
        <p:txBody>
          <a:bodyPr/>
          <a:lstStyle/>
          <a:p>
            <a:fld id="{9BFB2853-4965-4727-91C4-384EB30D99A4}" type="slidenum">
              <a:rPr lang="en-CA"/>
              <a:t>12</a:t>
            </a:fld>
            <a:endParaRPr lang="en-CA"/>
          </a:p>
        </p:txBody>
      </p:sp>
    </p:spTree>
    <p:extLst>
      <p:ext uri="{BB962C8B-B14F-4D97-AF65-F5344CB8AC3E}">
        <p14:creationId xmlns:p14="http://schemas.microsoft.com/office/powerpoint/2010/main" val="190479060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946" name="Rectangle 2"/>
          <p:cNvSpPr>
            <a:spLocks noGrp="1" noChangeArrowheads="1"/>
          </p:cNvSpPr>
          <p:nvPr>
            <p:ph type="title"/>
          </p:nvPr>
        </p:nvSpPr>
        <p:spPr>
          <a:xfrm>
            <a:off x="650082" y="466726"/>
            <a:ext cx="8229600" cy="731372"/>
          </a:xfrm>
        </p:spPr>
        <p:txBody>
          <a:bodyPr/>
          <a:lstStyle/>
          <a:p>
            <a:pPr>
              <a:lnSpc>
                <a:spcPct val="85000"/>
              </a:lnSpc>
            </a:pPr>
            <a:r>
              <a:rPr lang="en-US" altLang="en-US" sz="3200" dirty="0"/>
              <a:t>Visual insight </a:t>
            </a:r>
            <a:r>
              <a:rPr lang="en-US" altLang="en-US" sz="3200" dirty="0">
                <a:sym typeface="Symbol" panose="05050102010706020507" pitchFamily="18" charset="2"/>
              </a:rPr>
              <a:t></a:t>
            </a:r>
            <a:r>
              <a:rPr lang="en-US" altLang="en-US" sz="3200" dirty="0"/>
              <a:t> Theory (the OMG! moment)</a:t>
            </a:r>
          </a:p>
        </p:txBody>
      </p:sp>
      <p:pic>
        <p:nvPicPr>
          <p:cNvPr id="82947" name="Picture 3" descr="galton-corr"/>
          <p:cNvPicPr>
            <a:picLocks noGrp="1" noChangeAspect="1" noChangeArrowheads="1"/>
          </p:cNvPicPr>
          <p:nvPr>
            <p:ph idx="1"/>
          </p:nvPr>
        </p:nvPicPr>
        <p:blipFill>
          <a:blip r:embed="rId3">
            <a:extLst>
              <a:ext uri="{28A0092B-C50C-407E-A947-70E740481C1C}">
                <a14:useLocalDpi xmlns:a14="http://schemas.microsoft.com/office/drawing/2010/main" val="0"/>
              </a:ext>
            </a:extLst>
          </a:blip>
          <a:srcRect/>
          <a:stretch>
            <a:fillRect/>
          </a:stretch>
        </p:blipFill>
        <p:spPr>
          <a:xfrm>
            <a:off x="6294438" y="1643063"/>
            <a:ext cx="5416550" cy="459105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82948" name="Text Box 4"/>
          <p:cNvSpPr txBox="1">
            <a:spLocks noChangeArrowheads="1"/>
          </p:cNvSpPr>
          <p:nvPr/>
        </p:nvSpPr>
        <p:spPr bwMode="auto">
          <a:xfrm>
            <a:off x="816072" y="1320335"/>
            <a:ext cx="5478366" cy="1015663"/>
          </a:xfrm>
          <a:prstGeom prst="rect">
            <a:avLst/>
          </a:prstGeom>
          <a:noFill/>
          <a:ln>
            <a:noFill/>
          </a:ln>
          <a:effectLst/>
          <a:extLst>
            <a:ext uri="{909E8E84-426E-40DD-AFC4-6F175D3DCCD1}">
              <a14:hiddenFill xmlns:a14="http://schemas.microsoft.com/office/drawing/2010/main">
                <a:solidFill>
                  <a:srgbClr val="CCFFFF"/>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buFontTx/>
              <a:buChar char="•"/>
            </a:pPr>
            <a:r>
              <a:rPr lang="en-US" altLang="en-US" sz="2000" dirty="0">
                <a:solidFill>
                  <a:schemeClr val="tx2"/>
                </a:solidFill>
                <a:cs typeface="Arial" charset="0"/>
              </a:rPr>
              <a:t> 3D Level curves are </a:t>
            </a:r>
            <a:r>
              <a:rPr lang="en-US" altLang="en-US" sz="2000" b="1" dirty="0">
                <a:solidFill>
                  <a:schemeClr val="tx2"/>
                </a:solidFill>
                <a:cs typeface="Arial" charset="0"/>
              </a:rPr>
              <a:t>ellipses</a:t>
            </a:r>
          </a:p>
          <a:p>
            <a:pPr algn="l">
              <a:buFontTx/>
              <a:buChar char="•"/>
            </a:pPr>
            <a:r>
              <a:rPr lang="en-US" altLang="en-US" sz="2000" dirty="0">
                <a:solidFill>
                  <a:schemeClr val="tx2"/>
                </a:solidFill>
                <a:cs typeface="Arial" charset="0"/>
              </a:rPr>
              <a:t> Regression lines are loci of conjugate </a:t>
            </a:r>
            <a:r>
              <a:rPr lang="en-US" altLang="en-US" sz="2000" b="1" dirty="0">
                <a:solidFill>
                  <a:schemeClr val="tx2"/>
                </a:solidFill>
                <a:cs typeface="Arial" charset="0"/>
              </a:rPr>
              <a:t>tangents</a:t>
            </a:r>
          </a:p>
          <a:p>
            <a:pPr algn="l">
              <a:buFontTx/>
              <a:buChar char="•"/>
            </a:pPr>
            <a:r>
              <a:rPr lang="en-US" altLang="en-US" sz="2000" b="1" dirty="0">
                <a:solidFill>
                  <a:schemeClr val="tx2"/>
                </a:solidFill>
                <a:cs typeface="Arial" charset="0"/>
              </a:rPr>
              <a:t> </a:t>
            </a:r>
            <a:r>
              <a:rPr lang="en-US" altLang="en-US" sz="2000" dirty="0">
                <a:solidFill>
                  <a:schemeClr val="tx2"/>
                </a:solidFill>
                <a:cs typeface="Arial" charset="0"/>
              </a:rPr>
              <a:t>PCA dims are </a:t>
            </a:r>
            <a:r>
              <a:rPr lang="en-US" altLang="en-US" sz="2000" b="1" dirty="0">
                <a:solidFill>
                  <a:schemeClr val="tx2"/>
                </a:solidFill>
                <a:cs typeface="Arial" charset="0"/>
              </a:rPr>
              <a:t>major / minor axes</a:t>
            </a:r>
          </a:p>
        </p:txBody>
      </p:sp>
      <p:sp>
        <p:nvSpPr>
          <p:cNvPr id="82949" name="Text Box 5"/>
          <p:cNvSpPr txBox="1">
            <a:spLocks noChangeArrowheads="1"/>
          </p:cNvSpPr>
          <p:nvPr/>
        </p:nvSpPr>
        <p:spPr bwMode="auto">
          <a:xfrm>
            <a:off x="816072" y="5054600"/>
            <a:ext cx="4777904" cy="1077218"/>
          </a:xfrm>
          <a:prstGeom prst="rect">
            <a:avLst/>
          </a:prstGeom>
          <a:noFill/>
          <a:ln>
            <a:noFill/>
          </a:ln>
          <a:effectLst/>
          <a:extLst>
            <a:ext uri="{909E8E84-426E-40DD-AFC4-6F175D3DCCD1}">
              <a14:hiddenFill xmlns:a14="http://schemas.microsoft.com/office/drawing/2010/main">
                <a:solidFill>
                  <a:srgbClr val="CCFFFF"/>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r>
              <a:rPr lang="en-US" altLang="en-US" sz="1600" i="1" dirty="0">
                <a:solidFill>
                  <a:schemeClr val="tx2"/>
                </a:solidFill>
                <a:cs typeface="Arial" charset="0"/>
              </a:rPr>
              <a:t>… that Galton should have evolved all this … is to my mind one of the most note-worthy scientific discoveries arising from analysis of pure observation</a:t>
            </a:r>
            <a:r>
              <a:rPr lang="en-US" altLang="en-US" sz="1600" dirty="0">
                <a:solidFill>
                  <a:schemeClr val="tx2"/>
                </a:solidFill>
                <a:cs typeface="Arial" charset="0"/>
              </a:rPr>
              <a:t> (Pearson 1920, p37) </a:t>
            </a:r>
          </a:p>
        </p:txBody>
      </p:sp>
      <p:sp>
        <p:nvSpPr>
          <p:cNvPr id="82950" name="Text Box 6"/>
          <p:cNvSpPr txBox="1">
            <a:spLocks noChangeArrowheads="1"/>
          </p:cNvSpPr>
          <p:nvPr/>
        </p:nvSpPr>
        <p:spPr bwMode="auto">
          <a:xfrm>
            <a:off x="6294439" y="6367464"/>
            <a:ext cx="5170487" cy="274637"/>
          </a:xfrm>
          <a:prstGeom prst="rect">
            <a:avLst/>
          </a:prstGeom>
          <a:noFill/>
          <a:ln>
            <a:noFill/>
          </a:ln>
          <a:effectLst/>
          <a:extLst>
            <a:ext uri="{909E8E84-426E-40DD-AFC4-6F175D3DCCD1}">
              <a14:hiddenFill xmlns:a14="http://schemas.microsoft.com/office/drawing/2010/main">
                <a:solidFill>
                  <a:srgbClr val="CCFFFF"/>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en-US" sz="1200">
                <a:solidFill>
                  <a:schemeClr val="tx2"/>
                </a:solidFill>
                <a:cs typeface="Arial" charset="0"/>
              </a:rPr>
              <a:t>Galton (1886, Pl X): Smoothed contours of heights of parents and children</a:t>
            </a:r>
          </a:p>
        </p:txBody>
      </p:sp>
      <p:pic>
        <p:nvPicPr>
          <p:cNvPr id="82951" name="Picture 7" descr="galton-kdes-c"/>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775952" y="2477995"/>
            <a:ext cx="2843213" cy="2319338"/>
          </a:xfrm>
          <a:prstGeom prst="rect">
            <a:avLst/>
          </a:prstGeom>
          <a:noFill/>
          <a:extLst>
            <a:ext uri="{909E8E84-426E-40DD-AFC4-6F175D3DCCD1}">
              <a14:hiddenFill xmlns:a14="http://schemas.microsoft.com/office/drawing/2010/main">
                <a:solidFill>
                  <a:srgbClr val="FFFFFF"/>
                </a:solidFill>
              </a14:hiddenFill>
            </a:ext>
          </a:extLst>
        </p:spPr>
      </p:pic>
      <p:sp>
        <p:nvSpPr>
          <p:cNvPr id="82952" name="Slide Number Placeholder 82952"/>
          <p:cNvSpPr>
            <a:spLocks noGrp="1"/>
          </p:cNvSpPr>
          <p:nvPr>
            <p:ph type="sldNum" sz="quarter" idx="12"/>
          </p:nvPr>
        </p:nvSpPr>
        <p:spPr/>
        <p:txBody>
          <a:bodyPr/>
          <a:lstStyle/>
          <a:p>
            <a:fld id="{9BFB2853-4965-4727-91C4-384EB30D99A4}" type="slidenum">
              <a:rPr lang="en-CA"/>
              <a:t>13</a:t>
            </a:fld>
            <a:endParaRPr lang="en-CA"/>
          </a:p>
        </p:txBody>
      </p:sp>
    </p:spTree>
    <p:extLst>
      <p:ext uri="{BB962C8B-B14F-4D97-AF65-F5344CB8AC3E}">
        <p14:creationId xmlns:p14="http://schemas.microsoft.com/office/powerpoint/2010/main" val="411861954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182880"/>
            <a:ext cx="10972800" cy="1143000"/>
          </a:xfrm>
        </p:spPr>
        <p:txBody>
          <a:bodyPr>
            <a:normAutofit fontScale="90000"/>
          </a:bodyPr>
          <a:lstStyle/>
          <a:p>
            <a:r>
              <a:rPr lang="en-CA" dirty="0"/>
              <a:t>The data ellipse summarizes means, spread &amp; correlation – a </a:t>
            </a:r>
            <a:r>
              <a:rPr lang="en-CA" b="1" dirty="0"/>
              <a:t>sufficient visual summary </a:t>
            </a:r>
            <a:r>
              <a:rPr lang="en-CA" dirty="0"/>
              <a:t>for </a:t>
            </a:r>
            <a:r>
              <a:rPr lang="en-CA" i="1" dirty="0"/>
              <a:t>N</a:t>
            </a:r>
            <a:r>
              <a:rPr lang="en-CA" dirty="0"/>
              <a:t>(µ, </a:t>
            </a:r>
            <a:r>
              <a:rPr lang="el-GR" dirty="0">
                <a:latin typeface="Cambria Math" panose="02040503050406030204" pitchFamily="18" charset="0"/>
                <a:ea typeface="Cambria Math" panose="02040503050406030204" pitchFamily="18" charset="0"/>
              </a:rPr>
              <a:t>Σ</a:t>
            </a:r>
            <a:r>
              <a:rPr lang="en-CA" dirty="0">
                <a:latin typeface="Cambria Math" panose="02040503050406030204" pitchFamily="18" charset="0"/>
                <a:ea typeface="Cambria Math" panose="02040503050406030204" pitchFamily="18" charset="0"/>
              </a:rPr>
              <a:t>)</a:t>
            </a:r>
            <a:endParaRPr lang="en-US" dirty="0"/>
          </a:p>
        </p:txBody>
      </p:sp>
      <p:sp>
        <p:nvSpPr>
          <p:cNvPr id="3" name="Content Placeholder 2"/>
          <p:cNvSpPr>
            <a:spLocks noGrp="1"/>
          </p:cNvSpPr>
          <p:nvPr>
            <p:ph idx="1"/>
          </p:nvPr>
        </p:nvSpPr>
        <p:spPr>
          <a:xfrm>
            <a:off x="838200" y="1635386"/>
            <a:ext cx="10515600" cy="4533900"/>
          </a:xfrm>
        </p:spPr>
        <p:txBody>
          <a:bodyPr/>
          <a:lstStyle/>
          <a:p>
            <a:r>
              <a:rPr lang="en-US" dirty="0"/>
              <a:t>Ellipsoid boundary: </a:t>
            </a:r>
            <a:r>
              <a:rPr lang="en-US" dirty="0" err="1"/>
              <a:t>Mahalanobis</a:t>
            </a:r>
            <a:r>
              <a:rPr lang="en-US" dirty="0"/>
              <a:t>  </a:t>
            </a:r>
            <a:r>
              <a:rPr lang="en-US" i="1" dirty="0"/>
              <a:t>D</a:t>
            </a:r>
            <a:r>
              <a:rPr lang="en-US" i="1" baseline="-25000" dirty="0"/>
              <a:t>M</a:t>
            </a:r>
            <a:r>
              <a:rPr lang="en-US" baseline="30000" dirty="0"/>
              <a:t>2</a:t>
            </a:r>
            <a:r>
              <a:rPr lang="en-US" dirty="0"/>
              <a:t> (</a:t>
            </a:r>
            <a:r>
              <a:rPr lang="en-US" dirty="0" err="1"/>
              <a:t>y</a:t>
            </a:r>
            <a:r>
              <a:rPr lang="en-US" baseline="-25000" dirty="0" err="1"/>
              <a:t>i</a:t>
            </a:r>
            <a:r>
              <a:rPr lang="en-US" dirty="0"/>
              <a:t>)  ~ </a:t>
            </a:r>
            <a:r>
              <a:rPr lang="en-US" dirty="0">
                <a:sym typeface="Symbol"/>
              </a:rPr>
              <a:t></a:t>
            </a:r>
            <a:r>
              <a:rPr lang="en-US" baseline="-25000" dirty="0">
                <a:sym typeface="Symbol"/>
              </a:rPr>
              <a:t>p</a:t>
            </a:r>
            <a:r>
              <a:rPr lang="en-US" baseline="30000" dirty="0">
                <a:sym typeface="Symbol"/>
              </a:rPr>
              <a:t>2</a:t>
            </a:r>
            <a:endParaRPr lang="en-US" baseline="30000" dirty="0"/>
          </a:p>
          <a:p>
            <a:pPr lvl="1"/>
            <a:r>
              <a:rPr lang="en-US" i="1" dirty="0"/>
              <a:t>p</a:t>
            </a:r>
            <a:r>
              <a:rPr lang="en-US" dirty="0"/>
              <a:t>=2: shadows generalize </a:t>
            </a:r>
            <a:r>
              <a:rPr lang="en-US" dirty="0" err="1"/>
              <a:t>univariate</a:t>
            </a:r>
            <a:r>
              <a:rPr lang="en-US" dirty="0"/>
              <a:t> </a:t>
            </a:r>
            <a:r>
              <a:rPr lang="en-US" dirty="0">
                <a:solidFill>
                  <a:srgbClr val="FF0000"/>
                </a:solidFill>
              </a:rPr>
              <a:t>confidence intervals</a:t>
            </a:r>
          </a:p>
          <a:p>
            <a:pPr lvl="1"/>
            <a:r>
              <a:rPr lang="en-US" dirty="0"/>
              <a:t>eccentricity: </a:t>
            </a:r>
            <a:r>
              <a:rPr lang="en-US" dirty="0">
                <a:solidFill>
                  <a:srgbClr val="FF0000"/>
                </a:solidFill>
              </a:rPr>
              <a:t>precision</a:t>
            </a:r>
            <a:r>
              <a:rPr lang="en-US" dirty="0"/>
              <a:t> </a:t>
            </a:r>
            <a:r>
              <a:rPr lang="en-US" dirty="0">
                <a:sym typeface="Symbol" panose="05050102010706020507" pitchFamily="18" charset="2"/>
              </a:rPr>
              <a:t></a:t>
            </a:r>
            <a:r>
              <a:rPr lang="en-US" dirty="0"/>
              <a:t> </a:t>
            </a:r>
            <a:r>
              <a:rPr lang="en-US" dirty="0">
                <a:solidFill>
                  <a:srgbClr val="FF0000"/>
                </a:solidFill>
              </a:rPr>
              <a:t>visual estimate </a:t>
            </a:r>
            <a:r>
              <a:rPr lang="en-US" dirty="0"/>
              <a:t>of correlation</a:t>
            </a: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760201" y="2819400"/>
            <a:ext cx="6442667" cy="3669334"/>
          </a:xfrm>
          <a:prstGeom prst="rect">
            <a:avLst/>
          </a:prstGeom>
        </p:spPr>
      </p:pic>
      <p:sp>
        <p:nvSpPr>
          <p:cNvPr id="6" name="TextBox 5"/>
          <p:cNvSpPr txBox="1"/>
          <p:nvPr/>
        </p:nvSpPr>
        <p:spPr>
          <a:xfrm>
            <a:off x="10638696" y="3996098"/>
            <a:ext cx="1143000" cy="307777"/>
          </a:xfrm>
          <a:prstGeom prst="rect">
            <a:avLst/>
          </a:prstGeom>
          <a:noFill/>
        </p:spPr>
        <p:txBody>
          <a:bodyPr wrap="square" rtlCol="0">
            <a:spAutoFit/>
          </a:bodyPr>
          <a:lstStyle/>
          <a:p>
            <a:r>
              <a:rPr lang="en-US" sz="1400" dirty="0"/>
              <a:t>r </a:t>
            </a:r>
            <a:r>
              <a:rPr lang="en-US" sz="1400" dirty="0">
                <a:sym typeface="Symbol"/>
              </a:rPr>
              <a:t> 0.5 here</a:t>
            </a:r>
            <a:endParaRPr lang="en-US" sz="1400" dirty="0"/>
          </a:p>
        </p:txBody>
      </p:sp>
      <p:sp>
        <p:nvSpPr>
          <p:cNvPr id="7" name="Right Brace 6"/>
          <p:cNvSpPr/>
          <p:nvPr/>
        </p:nvSpPr>
        <p:spPr>
          <a:xfrm>
            <a:off x="10287000" y="3902336"/>
            <a:ext cx="274320" cy="495300"/>
          </a:xfrm>
          <a:prstGeom prst="rightBrace">
            <a:avLst>
              <a:gd name="adj1" fmla="val 65000"/>
              <a:gd name="adj2" fmla="val 50000"/>
            </a:avLst>
          </a:prstGeom>
          <a:ln w="31750">
            <a:solidFill>
              <a:srgbClr val="FF0000"/>
            </a:solidFill>
            <a:tailEnd type="none"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8" name="Slide Number Placeholder 8"/>
          <p:cNvSpPr>
            <a:spLocks noGrp="1"/>
          </p:cNvSpPr>
          <p:nvPr>
            <p:ph type="sldNum" sz="quarter" idx="12"/>
          </p:nvPr>
        </p:nvSpPr>
        <p:spPr/>
        <p:txBody>
          <a:bodyPr/>
          <a:lstStyle/>
          <a:p>
            <a:fld id="{9BFB2853-4965-4727-91C4-384EB30D99A4}" type="slidenum">
              <a:rPr lang="en-CA"/>
              <a:t>14</a:t>
            </a:fld>
            <a:endParaRPr lang="en-CA"/>
          </a:p>
        </p:txBody>
      </p:sp>
      <p:sp>
        <p:nvSpPr>
          <p:cNvPr id="4" name="TextBox 3">
            <a:extLst>
              <a:ext uri="{FF2B5EF4-FFF2-40B4-BE49-F238E27FC236}">
                <a16:creationId xmlns:a16="http://schemas.microsoft.com/office/drawing/2014/main" id="{A77FE8ED-10AA-0457-1A28-238B03B528CD}"/>
              </a:ext>
            </a:extLst>
          </p:cNvPr>
          <p:cNvSpPr txBox="1"/>
          <p:nvPr/>
        </p:nvSpPr>
        <p:spPr>
          <a:xfrm>
            <a:off x="6646683" y="4059082"/>
            <a:ext cx="669702" cy="338554"/>
          </a:xfrm>
          <a:prstGeom prst="rect">
            <a:avLst/>
          </a:prstGeom>
          <a:noFill/>
        </p:spPr>
        <p:txBody>
          <a:bodyPr wrap="square" rtlCol="0">
            <a:spAutoFit/>
          </a:bodyPr>
          <a:lstStyle/>
          <a:p>
            <a:pPr algn="ctr"/>
            <a:r>
              <a:rPr lang="en-CA" sz="1600" b="1" dirty="0">
                <a:solidFill>
                  <a:srgbClr val="0070C0"/>
                </a:solidFill>
              </a:rPr>
              <a:t>40%</a:t>
            </a:r>
          </a:p>
        </p:txBody>
      </p:sp>
      <p:sp>
        <p:nvSpPr>
          <p:cNvPr id="10" name="TextBox 9">
            <a:extLst>
              <a:ext uri="{FF2B5EF4-FFF2-40B4-BE49-F238E27FC236}">
                <a16:creationId xmlns:a16="http://schemas.microsoft.com/office/drawing/2014/main" id="{A70DFDF0-1802-D0F9-BD4D-2F54630A83DC}"/>
              </a:ext>
            </a:extLst>
          </p:cNvPr>
          <p:cNvSpPr txBox="1"/>
          <p:nvPr/>
        </p:nvSpPr>
        <p:spPr>
          <a:xfrm>
            <a:off x="8019580" y="3811432"/>
            <a:ext cx="669702" cy="338554"/>
          </a:xfrm>
          <a:prstGeom prst="rect">
            <a:avLst/>
          </a:prstGeom>
          <a:noFill/>
        </p:spPr>
        <p:txBody>
          <a:bodyPr wrap="square" rtlCol="0">
            <a:spAutoFit/>
          </a:bodyPr>
          <a:lstStyle/>
          <a:p>
            <a:pPr algn="ctr"/>
            <a:r>
              <a:rPr lang="en-CA" sz="1600" b="1" dirty="0">
                <a:solidFill>
                  <a:srgbClr val="FF0000"/>
                </a:solidFill>
              </a:rPr>
              <a:t>68%</a:t>
            </a:r>
          </a:p>
        </p:txBody>
      </p:sp>
      <p:sp>
        <p:nvSpPr>
          <p:cNvPr id="12" name="TextBox 11">
            <a:extLst>
              <a:ext uri="{FF2B5EF4-FFF2-40B4-BE49-F238E27FC236}">
                <a16:creationId xmlns:a16="http://schemas.microsoft.com/office/drawing/2014/main" id="{CFA85B36-96D9-C8EB-B449-2D8C35545C83}"/>
              </a:ext>
            </a:extLst>
          </p:cNvPr>
          <p:cNvSpPr txBox="1"/>
          <p:nvPr/>
        </p:nvSpPr>
        <p:spPr>
          <a:xfrm>
            <a:off x="8853571" y="3429000"/>
            <a:ext cx="669702" cy="338554"/>
          </a:xfrm>
          <a:prstGeom prst="rect">
            <a:avLst/>
          </a:prstGeom>
          <a:noFill/>
        </p:spPr>
        <p:txBody>
          <a:bodyPr wrap="square" rtlCol="0">
            <a:spAutoFit/>
          </a:bodyPr>
          <a:lstStyle/>
          <a:p>
            <a:pPr algn="ctr"/>
            <a:r>
              <a:rPr lang="en-CA" sz="1600" b="1" dirty="0"/>
              <a:t>95%</a:t>
            </a:r>
          </a:p>
        </p:txBody>
      </p:sp>
      <p:pic>
        <p:nvPicPr>
          <p:cNvPr id="11" name="Picture 10">
            <a:extLst>
              <a:ext uri="{FF2B5EF4-FFF2-40B4-BE49-F238E27FC236}">
                <a16:creationId xmlns:a16="http://schemas.microsoft.com/office/drawing/2014/main" id="{C361A2FD-977D-93CE-CCEF-453410162483}"/>
              </a:ext>
            </a:extLst>
          </p:cNvPr>
          <p:cNvPicPr>
            <a:picLocks noChangeAspect="1"/>
          </p:cNvPicPr>
          <p:nvPr/>
        </p:nvPicPr>
        <p:blipFill>
          <a:blip r:embed="rId4"/>
          <a:stretch>
            <a:fillRect/>
          </a:stretch>
        </p:blipFill>
        <p:spPr>
          <a:xfrm>
            <a:off x="8496300" y="1635386"/>
            <a:ext cx="2989236" cy="401539"/>
          </a:xfrm>
          <a:prstGeom prst="rect">
            <a:avLst/>
          </a:prstGeom>
        </p:spPr>
      </p:pic>
    </p:spTree>
    <p:extLst>
      <p:ext uri="{BB962C8B-B14F-4D97-AF65-F5344CB8AC3E}">
        <p14:creationId xmlns:p14="http://schemas.microsoft.com/office/powerpoint/2010/main" val="9955109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par>
                          <p:cTn id="9" fill="hold">
                            <p:stCondLst>
                              <p:cond delay="0"/>
                            </p:stCondLst>
                            <p:childTnLst>
                              <p:par>
                                <p:cTn id="10" presetID="2" presetClass="entr" presetSubtype="2" fill="hold" grpId="0" nodeType="afterEffect">
                                  <p:stCondLst>
                                    <p:cond delay="1000"/>
                                  </p:stCondLst>
                                  <p:childTnLst>
                                    <p:set>
                                      <p:cBhvr>
                                        <p:cTn id="11" dur="1" fill="hold">
                                          <p:stCondLst>
                                            <p:cond delay="0"/>
                                          </p:stCondLst>
                                        </p:cTn>
                                        <p:tgtEl>
                                          <p:spTgt spid="6"/>
                                        </p:tgtEl>
                                        <p:attrNameLst>
                                          <p:attrName>style.visibility</p:attrName>
                                        </p:attrNameLst>
                                      </p:cBhvr>
                                      <p:to>
                                        <p:strVal val="visible"/>
                                      </p:to>
                                    </p:set>
                                    <p:anim calcmode="lin" valueType="num">
                                      <p:cBhvr additive="base">
                                        <p:cTn id="12" dur="500" fill="hold"/>
                                        <p:tgtEl>
                                          <p:spTgt spid="6"/>
                                        </p:tgtEl>
                                        <p:attrNameLst>
                                          <p:attrName>ppt_x</p:attrName>
                                        </p:attrNameLst>
                                      </p:cBhvr>
                                      <p:tavLst>
                                        <p:tav tm="0">
                                          <p:val>
                                            <p:strVal val="1+#ppt_w/2"/>
                                          </p:val>
                                        </p:tav>
                                        <p:tav tm="100000">
                                          <p:val>
                                            <p:strVal val="#ppt_x"/>
                                          </p:val>
                                        </p:tav>
                                      </p:tavLst>
                                    </p:anim>
                                    <p:anim calcmode="lin" valueType="num">
                                      <p:cBhvr additive="base">
                                        <p:cTn id="13" dur="500" fill="hold"/>
                                        <p:tgtEl>
                                          <p:spTgt spid="6"/>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E5E74599-60B8-D4F2-07BA-54E00DEC449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955793" y="594442"/>
            <a:ext cx="3083335" cy="1984693"/>
          </a:xfrm>
          <a:prstGeom prst="rect">
            <a:avLst/>
          </a:prstGeom>
        </p:spPr>
      </p:pic>
      <p:sp>
        <p:nvSpPr>
          <p:cNvPr id="2" name="Title 1"/>
          <p:cNvSpPr>
            <a:spLocks noGrp="1"/>
          </p:cNvSpPr>
          <p:nvPr>
            <p:ph type="title"/>
          </p:nvPr>
        </p:nvSpPr>
        <p:spPr>
          <a:xfrm>
            <a:off x="838200" y="365125"/>
            <a:ext cx="4789868" cy="1143000"/>
          </a:xfrm>
        </p:spPr>
        <p:txBody>
          <a:bodyPr/>
          <a:lstStyle/>
          <a:p>
            <a:r>
              <a:rPr dirty="0"/>
              <a:t>Meet the penguins</a:t>
            </a:r>
          </a:p>
        </p:txBody>
      </p:sp>
      <p:pic>
        <p:nvPicPr>
          <p:cNvPr id="3" name="Picture 2" descr="penguins-horst.png"/>
          <p:cNvPicPr>
            <a:picLocks noChangeAspect="1"/>
          </p:cNvPicPr>
          <p:nvPr/>
        </p:nvPicPr>
        <p:blipFill>
          <a:blip r:embed="rId4"/>
          <a:stretch>
            <a:fillRect/>
          </a:stretch>
        </p:blipFill>
        <p:spPr>
          <a:xfrm>
            <a:off x="725337" y="2129942"/>
            <a:ext cx="5120640" cy="3055315"/>
          </a:xfrm>
          <a:prstGeom prst="rect">
            <a:avLst/>
          </a:prstGeom>
        </p:spPr>
      </p:pic>
      <p:pic>
        <p:nvPicPr>
          <p:cNvPr id="4" name="Picture 3" descr="fig-peng-ggplot1-1.png"/>
          <p:cNvPicPr>
            <a:picLocks noChangeAspect="1"/>
          </p:cNvPicPr>
          <p:nvPr/>
        </p:nvPicPr>
        <p:blipFill>
          <a:blip r:embed="rId5"/>
          <a:stretch>
            <a:fillRect/>
          </a:stretch>
        </p:blipFill>
        <p:spPr>
          <a:xfrm>
            <a:off x="6236208" y="1828800"/>
            <a:ext cx="5120640" cy="3657600"/>
          </a:xfrm>
          <a:prstGeom prst="rect">
            <a:avLst/>
          </a:prstGeom>
        </p:spPr>
      </p:pic>
      <p:sp>
        <p:nvSpPr>
          <p:cNvPr id="5" name="TextBox 4"/>
          <p:cNvSpPr txBox="1"/>
          <p:nvPr/>
        </p:nvSpPr>
        <p:spPr>
          <a:xfrm>
            <a:off x="841248" y="5669280"/>
            <a:ext cx="10515600" cy="548640"/>
          </a:xfrm>
          <a:prstGeom prst="rect">
            <a:avLst/>
          </a:prstGeom>
          <a:noFill/>
        </p:spPr>
        <p:txBody>
          <a:bodyPr wrap="square">
            <a:spAutoFit/>
          </a:bodyPr>
          <a:lstStyle/>
          <a:p>
            <a:r>
              <a:rPr sz="1800"/>
              <a:t>Three species, four size measures: bill length, bill depth, flipper length, body mass. Artwork: Allison Horst.</a:t>
            </a:r>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4.17, 4.19</a:t>
            </a:r>
          </a:p>
        </p:txBody>
      </p:sp>
      <p:sp>
        <p:nvSpPr>
          <p:cNvPr id="7" name="Slide Number Placeholder 7"/>
          <p:cNvSpPr>
            <a:spLocks noGrp="1"/>
          </p:cNvSpPr>
          <p:nvPr>
            <p:ph type="sldNum" sz="quarter" idx="12"/>
          </p:nvPr>
        </p:nvSpPr>
        <p:spPr/>
        <p:txBody>
          <a:bodyPr/>
          <a:lstStyle/>
          <a:p>
            <a:fld id="{9BFB2853-4965-4727-91C4-384EB30D99A4}" type="slidenum">
              <a:rPr lang="en-CA"/>
              <a:t>15</a:t>
            </a:fld>
            <a:endParaRPr lang="en-CA"/>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1C9A55-FDC9-9AB1-4F6B-B5079890DBD7}"/>
              </a:ext>
            </a:extLst>
          </p:cNvPr>
          <p:cNvSpPr>
            <a:spLocks noGrp="1"/>
          </p:cNvSpPr>
          <p:nvPr>
            <p:ph type="title"/>
          </p:nvPr>
        </p:nvSpPr>
        <p:spPr/>
        <p:txBody>
          <a:bodyPr>
            <a:normAutofit/>
          </a:bodyPr>
          <a:lstStyle/>
          <a:p>
            <a:r>
              <a:rPr lang="en-CA" dirty="0"/>
              <a:t>Data ellipses: Sufficient visual summary</a:t>
            </a:r>
          </a:p>
        </p:txBody>
      </p:sp>
      <p:sp>
        <p:nvSpPr>
          <p:cNvPr id="11" name="TextBox 10">
            <a:extLst>
              <a:ext uri="{FF2B5EF4-FFF2-40B4-BE49-F238E27FC236}">
                <a16:creationId xmlns:a16="http://schemas.microsoft.com/office/drawing/2014/main" id="{F262F993-85E8-DA3F-AF57-8F6D5C5FB71C}"/>
              </a:ext>
            </a:extLst>
          </p:cNvPr>
          <p:cNvSpPr txBox="1"/>
          <p:nvPr/>
        </p:nvSpPr>
        <p:spPr>
          <a:xfrm>
            <a:off x="854839" y="1257032"/>
            <a:ext cx="10360007" cy="1323439"/>
          </a:xfrm>
          <a:prstGeom prst="rect">
            <a:avLst/>
          </a:prstGeom>
          <a:noFill/>
        </p:spPr>
        <p:txBody>
          <a:bodyPr wrap="square" rtlCol="0">
            <a:spAutoFit/>
          </a:bodyPr>
          <a:lstStyle/>
          <a:p>
            <a:r>
              <a:rPr lang="en-CA" sz="2000" dirty="0"/>
              <a:t>Plot annotations are </a:t>
            </a:r>
            <a:r>
              <a:rPr lang="en-CA" sz="2000" b="1" dirty="0"/>
              <a:t>visual summaries </a:t>
            </a:r>
            <a:r>
              <a:rPr lang="en-CA" sz="2000" dirty="0"/>
              <a:t>(ellipse, regression line, conf. band)</a:t>
            </a:r>
          </a:p>
          <a:p>
            <a:pPr marL="285750" indent="-285750">
              <a:buFont typeface="Arial" panose="020B0604020202020204" pitchFamily="34" charset="0"/>
              <a:buChar char="•"/>
            </a:pPr>
            <a:r>
              <a:rPr lang="en-CA" sz="2000" dirty="0"/>
              <a:t>Add </a:t>
            </a:r>
            <a:r>
              <a:rPr lang="en-CA" sz="2000" b="1" dirty="0"/>
              <a:t>data ellipses </a:t>
            </a:r>
            <a:r>
              <a:rPr lang="en-CA" sz="2000" dirty="0"/>
              <a:t>to show w/in group means &amp; scatter (sufficient for N(</a:t>
            </a:r>
            <a:r>
              <a:rPr lang="en-CA" sz="2000" b="1" dirty="0"/>
              <a:t>µ, </a:t>
            </a:r>
            <a:r>
              <a:rPr lang="el-GR" sz="2000" b="1" dirty="0">
                <a:latin typeface="Cambria Math" panose="02040503050406030204" pitchFamily="18" charset="0"/>
                <a:ea typeface="Cambria Math" panose="02040503050406030204" pitchFamily="18" charset="0"/>
              </a:rPr>
              <a:t>Σ</a:t>
            </a:r>
            <a:r>
              <a:rPr lang="en-CA" sz="2000" dirty="0">
                <a:latin typeface="Cambria Math" panose="02040503050406030204" pitchFamily="18" charset="0"/>
                <a:ea typeface="Cambria Math" panose="02040503050406030204" pitchFamily="18" charset="0"/>
              </a:rPr>
              <a:t>))</a:t>
            </a:r>
            <a:endParaRPr lang="en-CA" sz="2000" dirty="0"/>
          </a:p>
          <a:p>
            <a:pPr marL="285750" indent="-285750">
              <a:buFont typeface="Arial" panose="020B0604020202020204" pitchFamily="34" charset="0"/>
              <a:buChar char="•"/>
            </a:pPr>
            <a:r>
              <a:rPr lang="en-CA" sz="2000" dirty="0"/>
              <a:t>Remove the points to show the overall </a:t>
            </a:r>
            <a:r>
              <a:rPr lang="en-CA" sz="2000" b="1" dirty="0"/>
              <a:t>patterns</a:t>
            </a:r>
            <a:r>
              <a:rPr lang="en-CA" sz="2000" dirty="0"/>
              <a:t>: means, shape, corr., precision</a:t>
            </a:r>
          </a:p>
          <a:p>
            <a:pPr marL="285750" indent="-285750">
              <a:buFont typeface="Arial" panose="020B0604020202020204" pitchFamily="34" charset="0"/>
              <a:buChar char="•"/>
            </a:pPr>
            <a:r>
              <a:rPr lang="en-CA" sz="2000" dirty="0"/>
              <a:t>What remains is </a:t>
            </a:r>
            <a:r>
              <a:rPr lang="en-CA" sz="2000" b="1" dirty="0"/>
              <a:t>all that linear models care about </a:t>
            </a:r>
            <a:r>
              <a:rPr lang="en-CA" sz="2000" dirty="0"/>
              <a:t>(ellipses can be made robust!)</a:t>
            </a:r>
          </a:p>
        </p:txBody>
      </p:sp>
      <p:grpSp>
        <p:nvGrpSpPr>
          <p:cNvPr id="3" name="Group 2">
            <a:extLst>
              <a:ext uri="{FF2B5EF4-FFF2-40B4-BE49-F238E27FC236}">
                <a16:creationId xmlns:a16="http://schemas.microsoft.com/office/drawing/2014/main" id="{41E8FD65-CEE9-7835-E19B-452A0BFF3F5E}"/>
              </a:ext>
            </a:extLst>
          </p:cNvPr>
          <p:cNvGrpSpPr>
            <a:grpSpLocks noChangeAspect="1"/>
          </p:cNvGrpSpPr>
          <p:nvPr/>
        </p:nvGrpSpPr>
        <p:grpSpPr>
          <a:xfrm>
            <a:off x="1029718" y="2785942"/>
            <a:ext cx="3168000" cy="3948252"/>
            <a:chOff x="533400" y="2667000"/>
            <a:chExt cx="2599710" cy="2985995"/>
          </a:xfrm>
        </p:grpSpPr>
        <p:pic>
          <p:nvPicPr>
            <p:cNvPr id="6" name="Picture 5" descr="A diagram of different species&#10;&#10;Description automatically generated with medium confidence">
              <a:extLst>
                <a:ext uri="{FF2B5EF4-FFF2-40B4-BE49-F238E27FC236}">
                  <a16:creationId xmlns:a16="http://schemas.microsoft.com/office/drawing/2014/main" id="{C96AB326-5E7A-3AE2-EEB8-D258C5BC2B4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33400" y="2880995"/>
              <a:ext cx="2599710" cy="2772000"/>
            </a:xfrm>
            <a:prstGeom prst="rect">
              <a:avLst/>
            </a:prstGeom>
          </p:spPr>
        </p:pic>
        <p:sp>
          <p:nvSpPr>
            <p:cNvPr id="12" name="TextBox 11">
              <a:extLst>
                <a:ext uri="{FF2B5EF4-FFF2-40B4-BE49-F238E27FC236}">
                  <a16:creationId xmlns:a16="http://schemas.microsoft.com/office/drawing/2014/main" id="{B821E6C9-613E-6243-8896-1831A6B770B8}"/>
                </a:ext>
              </a:extLst>
            </p:cNvPr>
            <p:cNvSpPr txBox="1"/>
            <p:nvPr/>
          </p:nvSpPr>
          <p:spPr>
            <a:xfrm>
              <a:off x="914400" y="2667000"/>
              <a:ext cx="2057400" cy="338554"/>
            </a:xfrm>
            <a:prstGeom prst="rect">
              <a:avLst/>
            </a:prstGeom>
            <a:noFill/>
          </p:spPr>
          <p:txBody>
            <a:bodyPr wrap="square" rtlCol="0">
              <a:spAutoFit/>
            </a:bodyPr>
            <a:lstStyle/>
            <a:p>
              <a:r>
                <a:rPr lang="en-CA" sz="1600" dirty="0"/>
                <a:t>Standard scatterplot</a:t>
              </a:r>
            </a:p>
          </p:txBody>
        </p:sp>
      </p:grpSp>
      <p:grpSp>
        <p:nvGrpSpPr>
          <p:cNvPr id="5" name="Group 4">
            <a:extLst>
              <a:ext uri="{FF2B5EF4-FFF2-40B4-BE49-F238E27FC236}">
                <a16:creationId xmlns:a16="http://schemas.microsoft.com/office/drawing/2014/main" id="{AAEEE1DC-761F-3128-02B3-C5765465B0AF}"/>
              </a:ext>
            </a:extLst>
          </p:cNvPr>
          <p:cNvGrpSpPr/>
          <p:nvPr/>
        </p:nvGrpSpPr>
        <p:grpSpPr>
          <a:xfrm>
            <a:off x="4392764" y="2785942"/>
            <a:ext cx="3168000" cy="3960000"/>
            <a:chOff x="3301922" y="2667000"/>
            <a:chExt cx="2599713" cy="2985995"/>
          </a:xfrm>
        </p:grpSpPr>
        <p:pic>
          <p:nvPicPr>
            <p:cNvPr id="8" name="Picture 7" descr="A diagram of different colored circles&#10;&#10;Description automatically generated">
              <a:extLst>
                <a:ext uri="{FF2B5EF4-FFF2-40B4-BE49-F238E27FC236}">
                  <a16:creationId xmlns:a16="http://schemas.microsoft.com/office/drawing/2014/main" id="{638FAB1A-695F-034A-B921-8090B9240B8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301922" y="2880995"/>
              <a:ext cx="2599713" cy="2772000"/>
            </a:xfrm>
            <a:prstGeom prst="rect">
              <a:avLst/>
            </a:prstGeom>
          </p:spPr>
        </p:pic>
        <p:sp>
          <p:nvSpPr>
            <p:cNvPr id="13" name="TextBox 12">
              <a:extLst>
                <a:ext uri="{FF2B5EF4-FFF2-40B4-BE49-F238E27FC236}">
                  <a16:creationId xmlns:a16="http://schemas.microsoft.com/office/drawing/2014/main" id="{EF69B037-1D0F-358B-0951-E8D83C58972D}"/>
                </a:ext>
              </a:extLst>
            </p:cNvPr>
            <p:cNvSpPr txBox="1"/>
            <p:nvPr/>
          </p:nvSpPr>
          <p:spPr>
            <a:xfrm>
              <a:off x="3733800" y="2667000"/>
              <a:ext cx="2057400" cy="338554"/>
            </a:xfrm>
            <a:prstGeom prst="rect">
              <a:avLst/>
            </a:prstGeom>
            <a:noFill/>
          </p:spPr>
          <p:txBody>
            <a:bodyPr wrap="square" rtlCol="0">
              <a:spAutoFit/>
            </a:bodyPr>
            <a:lstStyle/>
            <a:p>
              <a:r>
                <a:rPr lang="en-CA" sz="1600" dirty="0"/>
                <a:t>Add data ellipses</a:t>
              </a:r>
            </a:p>
          </p:txBody>
        </p:sp>
      </p:grpSp>
      <p:grpSp>
        <p:nvGrpSpPr>
          <p:cNvPr id="7" name="Group 6">
            <a:extLst>
              <a:ext uri="{FF2B5EF4-FFF2-40B4-BE49-F238E27FC236}">
                <a16:creationId xmlns:a16="http://schemas.microsoft.com/office/drawing/2014/main" id="{BF5B620F-C3FA-F6B3-F441-F8DE91F20E8E}"/>
              </a:ext>
            </a:extLst>
          </p:cNvPr>
          <p:cNvGrpSpPr/>
          <p:nvPr/>
        </p:nvGrpSpPr>
        <p:grpSpPr>
          <a:xfrm>
            <a:off x="7755811" y="2785942"/>
            <a:ext cx="3168000" cy="3960000"/>
            <a:chOff x="6070447" y="2667000"/>
            <a:chExt cx="2599713" cy="2985995"/>
          </a:xfrm>
        </p:grpSpPr>
        <p:pic>
          <p:nvPicPr>
            <p:cNvPr id="10" name="Picture 9" descr="A graph of different colored circles&#10;&#10;Description automatically generated">
              <a:extLst>
                <a:ext uri="{FF2B5EF4-FFF2-40B4-BE49-F238E27FC236}">
                  <a16:creationId xmlns:a16="http://schemas.microsoft.com/office/drawing/2014/main" id="{3E5CC049-3D6F-1FD6-F533-6E17226CA13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070447" y="2880995"/>
              <a:ext cx="2599713" cy="2772000"/>
            </a:xfrm>
            <a:prstGeom prst="rect">
              <a:avLst/>
            </a:prstGeom>
          </p:spPr>
        </p:pic>
        <p:sp>
          <p:nvSpPr>
            <p:cNvPr id="14" name="TextBox 13">
              <a:extLst>
                <a:ext uri="{FF2B5EF4-FFF2-40B4-BE49-F238E27FC236}">
                  <a16:creationId xmlns:a16="http://schemas.microsoft.com/office/drawing/2014/main" id="{7ED490C7-517C-74BC-4FE5-137D1F681835}"/>
                </a:ext>
              </a:extLst>
            </p:cNvPr>
            <p:cNvSpPr txBox="1"/>
            <p:nvPr/>
          </p:nvSpPr>
          <p:spPr>
            <a:xfrm>
              <a:off x="6476414" y="2667000"/>
              <a:ext cx="2057400" cy="338554"/>
            </a:xfrm>
            <a:prstGeom prst="rect">
              <a:avLst/>
            </a:prstGeom>
            <a:noFill/>
          </p:spPr>
          <p:txBody>
            <a:bodyPr wrap="square" rtlCol="0">
              <a:spAutoFit/>
            </a:bodyPr>
            <a:lstStyle/>
            <a:p>
              <a:r>
                <a:rPr lang="en-CA" sz="1600" dirty="0"/>
                <a:t>Remove points</a:t>
              </a:r>
            </a:p>
          </p:txBody>
        </p:sp>
      </p:grpSp>
      <p:sp>
        <p:nvSpPr>
          <p:cNvPr id="15" name="Slide Number Placeholder 15"/>
          <p:cNvSpPr>
            <a:spLocks noGrp="1"/>
          </p:cNvSpPr>
          <p:nvPr>
            <p:ph type="sldNum" sz="quarter" idx="12"/>
          </p:nvPr>
        </p:nvSpPr>
        <p:spPr/>
        <p:txBody>
          <a:bodyPr/>
          <a:lstStyle/>
          <a:p>
            <a:fld id="{9BFB2853-4965-4727-91C4-384EB30D99A4}" type="slidenum">
              <a:rPr lang="en-CA"/>
              <a:t>16</a:t>
            </a:fld>
            <a:endParaRPr lang="en-CA"/>
          </a:p>
        </p:txBody>
      </p:sp>
    </p:spTree>
    <p:extLst>
      <p:ext uri="{BB962C8B-B14F-4D97-AF65-F5344CB8AC3E}">
        <p14:creationId xmlns:p14="http://schemas.microsoft.com/office/powerpoint/2010/main" val="40034219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xEl>
                                              <p:pRg st="0" end="0"/>
                                            </p:txEl>
                                          </p:spTgt>
                                        </p:tgtEl>
                                        <p:attrNameLst>
                                          <p:attrName>style.visibility</p:attrName>
                                        </p:attrNameLst>
                                      </p:cBhvr>
                                      <p:to>
                                        <p:strVal val="visible"/>
                                      </p:to>
                                    </p:set>
                                  </p:childTnLst>
                                </p:cTn>
                              </p:par>
                              <p:par>
                                <p:cTn id="11" presetID="42" presetClass="entr" presetSubtype="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1000"/>
                                        <p:tgtEl>
                                          <p:spTgt spid="5"/>
                                        </p:tgtEl>
                                      </p:cBhvr>
                                    </p:animEffect>
                                    <p:anim calcmode="lin" valueType="num">
                                      <p:cBhvr>
                                        <p:cTn id="14" dur="1000" fill="hold"/>
                                        <p:tgtEl>
                                          <p:spTgt spid="5"/>
                                        </p:tgtEl>
                                        <p:attrNameLst>
                                          <p:attrName>ppt_x</p:attrName>
                                        </p:attrNameLst>
                                      </p:cBhvr>
                                      <p:tavLst>
                                        <p:tav tm="0">
                                          <p:val>
                                            <p:strVal val="#ppt_x"/>
                                          </p:val>
                                        </p:tav>
                                        <p:tav tm="100000">
                                          <p:val>
                                            <p:strVal val="#ppt_x"/>
                                          </p:val>
                                        </p:tav>
                                      </p:tavLst>
                                    </p:anim>
                                    <p:anim calcmode="lin" valueType="num">
                                      <p:cBhvr>
                                        <p:cTn id="15" dur="10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6" fill="hold">
                      <p:stCondLst>
                        <p:cond delay="indefinite"/>
                      </p:stCondLst>
                      <p:childTnLst>
                        <p:par>
                          <p:cTn id="17" fill="hold">
                            <p:stCondLst>
                              <p:cond delay="0"/>
                            </p:stCondLst>
                            <p:childTnLst>
                              <p:par>
                                <p:cTn id="18" presetID="1" presetClass="entr" presetSubtype="0" fill="hold" nodeType="clickEffect">
                                  <p:stCondLst>
                                    <p:cond delay="0"/>
                                  </p:stCondLst>
                                  <p:childTnLst>
                                    <p:set>
                                      <p:cBhvr>
                                        <p:cTn id="19" dur="1" fill="hold">
                                          <p:stCondLst>
                                            <p:cond delay="0"/>
                                          </p:stCondLst>
                                        </p:cTn>
                                        <p:tgtEl>
                                          <p:spTgt spid="11">
                                            <p:txEl>
                                              <p:pRg st="2" end="2"/>
                                            </p:txEl>
                                          </p:spTgt>
                                        </p:tgtEl>
                                        <p:attrNameLst>
                                          <p:attrName>style.visibility</p:attrName>
                                        </p:attrNameLst>
                                      </p:cBhvr>
                                      <p:to>
                                        <p:strVal val="visible"/>
                                      </p:to>
                                    </p:set>
                                  </p:childTnLst>
                                </p:cTn>
                              </p:par>
                              <p:par>
                                <p:cTn id="20" presetID="1" presetClass="entr" presetSubtype="0" fill="hold" nodeType="withEffect">
                                  <p:stCondLst>
                                    <p:cond delay="0"/>
                                  </p:stCondLst>
                                  <p:childTnLst>
                                    <p:set>
                                      <p:cBhvr>
                                        <p:cTn id="21" dur="1" fill="hold">
                                          <p:stCondLst>
                                            <p:cond delay="0"/>
                                          </p:stCondLst>
                                        </p:cTn>
                                        <p:tgtEl>
                                          <p:spTgt spid="11">
                                            <p:txEl>
                                              <p:pRg st="3" end="3"/>
                                            </p:txEl>
                                          </p:spTgt>
                                        </p:tgtEl>
                                        <p:attrNameLst>
                                          <p:attrName>style.visibility</p:attrName>
                                        </p:attrNameLst>
                                      </p:cBhvr>
                                      <p:to>
                                        <p:strVal val="visible"/>
                                      </p:to>
                                    </p:set>
                                  </p:childTnLst>
                                </p:cTn>
                              </p:par>
                              <p:par>
                                <p:cTn id="22" presetID="42" presetClass="entr" presetSubtype="0" fill="hold" nodeType="withEffect">
                                  <p:stCondLst>
                                    <p:cond delay="0"/>
                                  </p:stCondLst>
                                  <p:childTnLst>
                                    <p:set>
                                      <p:cBhvr>
                                        <p:cTn id="23" dur="1" fill="hold">
                                          <p:stCondLst>
                                            <p:cond delay="0"/>
                                          </p:stCondLst>
                                        </p:cTn>
                                        <p:tgtEl>
                                          <p:spTgt spid="7"/>
                                        </p:tgtEl>
                                        <p:attrNameLst>
                                          <p:attrName>style.visibility</p:attrName>
                                        </p:attrNameLst>
                                      </p:cBhvr>
                                      <p:to>
                                        <p:strVal val="visible"/>
                                      </p:to>
                                    </p:set>
                                    <p:animEffect transition="in" filter="fade">
                                      <p:cBhvr>
                                        <p:cTn id="24" dur="1000"/>
                                        <p:tgtEl>
                                          <p:spTgt spid="7"/>
                                        </p:tgtEl>
                                      </p:cBhvr>
                                    </p:animEffect>
                                    <p:anim calcmode="lin" valueType="num">
                                      <p:cBhvr>
                                        <p:cTn id="25" dur="1000" fill="hold"/>
                                        <p:tgtEl>
                                          <p:spTgt spid="7"/>
                                        </p:tgtEl>
                                        <p:attrNameLst>
                                          <p:attrName>ppt_x</p:attrName>
                                        </p:attrNameLst>
                                      </p:cBhvr>
                                      <p:tavLst>
                                        <p:tav tm="0">
                                          <p:val>
                                            <p:strVal val="#ppt_x"/>
                                          </p:val>
                                        </p:tav>
                                        <p:tav tm="100000">
                                          <p:val>
                                            <p:strVal val="#ppt_x"/>
                                          </p:val>
                                        </p:tav>
                                      </p:tavLst>
                                    </p:anim>
                                    <p:anim calcmode="lin" valueType="num">
                                      <p:cBhvr>
                                        <p:cTn id="2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5471160" cy="610235"/>
          </a:xfrm>
        </p:spPr>
        <p:txBody>
          <a:bodyPr>
            <a:normAutofit fontScale="90000"/>
          </a:bodyPr>
          <a:lstStyle/>
          <a:p>
            <a:r>
              <a:rPr dirty="0"/>
              <a:t>What if I'm not Normal?</a:t>
            </a:r>
          </a:p>
        </p:txBody>
      </p:sp>
      <p:grpSp>
        <p:nvGrpSpPr>
          <p:cNvPr id="8" name="Group 7">
            <a:extLst>
              <a:ext uri="{FF2B5EF4-FFF2-40B4-BE49-F238E27FC236}">
                <a16:creationId xmlns:a16="http://schemas.microsoft.com/office/drawing/2014/main" id="{96FE6B5C-712E-4A04-D7B2-10CF77D7153A}"/>
              </a:ext>
            </a:extLst>
          </p:cNvPr>
          <p:cNvGrpSpPr/>
          <p:nvPr/>
        </p:nvGrpSpPr>
        <p:grpSpPr>
          <a:xfrm>
            <a:off x="841248" y="1264920"/>
            <a:ext cx="5568696" cy="4434839"/>
            <a:chOff x="841248" y="1600200"/>
            <a:chExt cx="5568696" cy="4434839"/>
          </a:xfrm>
        </p:grpSpPr>
        <p:pic>
          <p:nvPicPr>
            <p:cNvPr id="3" name="Bagplot" descr="fig-peng-bagplot-1.png"/>
            <p:cNvPicPr>
              <a:picLocks noChangeAspect="1"/>
            </p:cNvPicPr>
            <p:nvPr/>
          </p:nvPicPr>
          <p:blipFill>
            <a:blip r:embed="rId3"/>
            <a:stretch>
              <a:fillRect/>
            </a:stretch>
          </p:blipFill>
          <p:spPr>
            <a:xfrm>
              <a:off x="841248" y="2057400"/>
              <a:ext cx="5568696" cy="3977639"/>
            </a:xfrm>
            <a:prstGeom prst="rect">
              <a:avLst/>
            </a:prstGeom>
          </p:spPr>
        </p:pic>
        <p:sp>
          <p:nvSpPr>
            <p:cNvPr id="5" name="Label bagplot"/>
            <p:cNvSpPr txBox="1"/>
            <p:nvPr/>
          </p:nvSpPr>
          <p:spPr>
            <a:xfrm>
              <a:off x="841248" y="1600200"/>
              <a:ext cx="5568696" cy="411480"/>
            </a:xfrm>
            <a:prstGeom prst="rect">
              <a:avLst/>
            </a:prstGeom>
            <a:noFill/>
          </p:spPr>
          <p:txBody>
            <a:bodyPr wrap="none" lIns="0" rIns="0">
              <a:spAutoFit/>
            </a:bodyPr>
            <a:lstStyle/>
            <a:p>
              <a:pPr algn="ctr"/>
              <a:r>
                <a:rPr sz="2200" b="1" dirty="0" err="1">
                  <a:latin typeface="Consolas"/>
                </a:rPr>
                <a:t>gggda</a:t>
              </a:r>
              <a:r>
                <a:rPr sz="2200" b="1" dirty="0">
                  <a:latin typeface="Consolas"/>
                </a:rPr>
                <a:t>::</a:t>
              </a:r>
              <a:r>
                <a:rPr sz="2200" b="1" dirty="0" err="1">
                  <a:latin typeface="Consolas"/>
                </a:rPr>
                <a:t>geom_bagplot</a:t>
              </a:r>
              <a:r>
                <a:rPr sz="2200" b="1" dirty="0">
                  <a:latin typeface="Consolas"/>
                </a:rPr>
                <a:t>()</a:t>
              </a:r>
            </a:p>
          </p:txBody>
        </p:sp>
      </p:grpSp>
      <p:grpSp>
        <p:nvGrpSpPr>
          <p:cNvPr id="9" name="Group 8">
            <a:extLst>
              <a:ext uri="{FF2B5EF4-FFF2-40B4-BE49-F238E27FC236}">
                <a16:creationId xmlns:a16="http://schemas.microsoft.com/office/drawing/2014/main" id="{30FD26DA-DF6B-7E03-9FCB-CAAEAAA07D79}"/>
              </a:ext>
            </a:extLst>
          </p:cNvPr>
          <p:cNvGrpSpPr/>
          <p:nvPr/>
        </p:nvGrpSpPr>
        <p:grpSpPr>
          <a:xfrm>
            <a:off x="6775704" y="1264920"/>
            <a:ext cx="4387102" cy="4434839"/>
            <a:chOff x="6775704" y="1600200"/>
            <a:chExt cx="4387102" cy="4434839"/>
          </a:xfrm>
        </p:grpSpPr>
        <p:pic>
          <p:nvPicPr>
            <p:cNvPr id="4" name="HDR" descr="peng-hdr-panel.png"/>
            <p:cNvPicPr>
              <a:picLocks noChangeAspect="1"/>
            </p:cNvPicPr>
            <p:nvPr/>
          </p:nvPicPr>
          <p:blipFill>
            <a:blip r:embed="rId4"/>
            <a:stretch>
              <a:fillRect/>
            </a:stretch>
          </p:blipFill>
          <p:spPr>
            <a:xfrm>
              <a:off x="6775704" y="2057400"/>
              <a:ext cx="4387102" cy="3977639"/>
            </a:xfrm>
            <a:prstGeom prst="rect">
              <a:avLst/>
            </a:prstGeom>
          </p:spPr>
        </p:pic>
        <p:sp>
          <p:nvSpPr>
            <p:cNvPr id="6" name="Label hdr"/>
            <p:cNvSpPr txBox="1"/>
            <p:nvPr/>
          </p:nvSpPr>
          <p:spPr>
            <a:xfrm>
              <a:off x="6775704" y="1600200"/>
              <a:ext cx="4387102" cy="411480"/>
            </a:xfrm>
            <a:prstGeom prst="rect">
              <a:avLst/>
            </a:prstGeom>
            <a:noFill/>
          </p:spPr>
          <p:txBody>
            <a:bodyPr wrap="none" lIns="0" rIns="0">
              <a:spAutoFit/>
            </a:bodyPr>
            <a:lstStyle/>
            <a:p>
              <a:pPr algn="ctr"/>
              <a:r>
                <a:rPr sz="2200" b="1" dirty="0" err="1">
                  <a:latin typeface="Consolas"/>
                </a:rPr>
                <a:t>ggdensity</a:t>
              </a:r>
              <a:r>
                <a:rPr sz="2200" b="1" dirty="0">
                  <a:latin typeface="Consolas"/>
                </a:rPr>
                <a:t>::</a:t>
              </a:r>
              <a:r>
                <a:rPr sz="2200" b="1" dirty="0" err="1">
                  <a:latin typeface="Consolas"/>
                </a:rPr>
                <a:t>geom_hdr</a:t>
              </a:r>
              <a:r>
                <a:rPr sz="2200" b="1" dirty="0">
                  <a:latin typeface="Consolas"/>
                </a:rPr>
                <a:t>()</a:t>
              </a:r>
            </a:p>
          </p:txBody>
        </p:sp>
      </p:grpSp>
      <p:sp>
        <p:nvSpPr>
          <p:cNvPr id="7"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4.21, 4.22</a:t>
            </a:r>
          </a:p>
        </p:txBody>
      </p:sp>
      <p:sp>
        <p:nvSpPr>
          <p:cNvPr id="10" name="TextBox 9">
            <a:extLst>
              <a:ext uri="{FF2B5EF4-FFF2-40B4-BE49-F238E27FC236}">
                <a16:creationId xmlns:a16="http://schemas.microsoft.com/office/drawing/2014/main" id="{48F2FAAE-DE0D-5C94-D28A-0B87FDF080EE}"/>
              </a:ext>
            </a:extLst>
          </p:cNvPr>
          <p:cNvSpPr txBox="1"/>
          <p:nvPr/>
        </p:nvSpPr>
        <p:spPr>
          <a:xfrm>
            <a:off x="6409944" y="459740"/>
            <a:ext cx="5379720" cy="369332"/>
          </a:xfrm>
          <a:prstGeom prst="rect">
            <a:avLst/>
          </a:prstGeom>
          <a:noFill/>
        </p:spPr>
        <p:txBody>
          <a:bodyPr wrap="square" rtlCol="0">
            <a:spAutoFit/>
          </a:bodyPr>
          <a:lstStyle/>
          <a:p>
            <a:r>
              <a:rPr lang="en-CA" dirty="0"/>
              <a:t>Don’t worry: there are non-parametric alternatives</a:t>
            </a:r>
          </a:p>
        </p:txBody>
      </p:sp>
      <p:sp>
        <p:nvSpPr>
          <p:cNvPr id="11" name="TextBox 10">
            <a:extLst>
              <a:ext uri="{FF2B5EF4-FFF2-40B4-BE49-F238E27FC236}">
                <a16:creationId xmlns:a16="http://schemas.microsoft.com/office/drawing/2014/main" id="{6CF2FA7F-2D02-2C0C-6B3A-58CEA7D80EDF}"/>
              </a:ext>
            </a:extLst>
          </p:cNvPr>
          <p:cNvSpPr txBox="1"/>
          <p:nvPr/>
        </p:nvSpPr>
        <p:spPr>
          <a:xfrm>
            <a:off x="1290320" y="5699759"/>
            <a:ext cx="9692640" cy="655321"/>
          </a:xfrm>
          <a:prstGeom prst="rect">
            <a:avLst/>
          </a:prstGeom>
          <a:noFill/>
        </p:spPr>
        <p:txBody>
          <a:bodyPr wrap="square" rtlCol="0">
            <a:spAutoFit/>
          </a:bodyPr>
          <a:lstStyle/>
          <a:p>
            <a:r>
              <a:rPr lang="en-CA" dirty="0"/>
              <a:t>Bags and high-density regions don't assume normality, yet for the penguins they come out nearly elliptical</a:t>
            </a:r>
          </a:p>
        </p:txBody>
      </p:sp>
      <p:sp>
        <p:nvSpPr>
          <p:cNvPr id="12" name="Slide Number Placeholder 12"/>
          <p:cNvSpPr>
            <a:spLocks noGrp="1"/>
          </p:cNvSpPr>
          <p:nvPr>
            <p:ph type="sldNum" sz="quarter" idx="12"/>
          </p:nvPr>
        </p:nvSpPr>
        <p:spPr/>
        <p:txBody>
          <a:bodyPr/>
          <a:lstStyle/>
          <a:p>
            <a:fld id="{9BFB2853-4965-4727-91C4-384EB30D99A4}" type="slidenum">
              <a:rPr lang="en-CA"/>
              <a:t>17</a:t>
            </a:fld>
            <a:endParaRPr lang="en-CA"/>
          </a:p>
        </p:txBody>
      </p:sp>
      <p:sp>
        <p:nvSpPr>
          <p:cNvPr id="13" name="Worried face">
            <a:extLst>
              <a:ext uri="{FF2B5EF4-FFF2-40B4-BE49-F238E27FC236}">
                <a16:creationId xmlns:a16="http://schemas.microsoft.com/office/drawing/2014/main" id="{54066926-BAD8-9A1C-806A-1E0EFA284C07}"/>
              </a:ext>
            </a:extLst>
          </p:cNvPr>
          <p:cNvSpPr txBox="1"/>
          <p:nvPr/>
        </p:nvSpPr>
        <p:spPr>
          <a:xfrm>
            <a:off x="5039719" y="439410"/>
            <a:ext cx="528991" cy="461665"/>
          </a:xfrm>
          <a:prstGeom prst="rect">
            <a:avLst/>
          </a:prstGeom>
          <a:noFill/>
        </p:spPr>
        <p:txBody>
          <a:bodyPr vert="horz" wrap="none" lIns="0" tIns="0" rIns="0" bIns="0" rtlCol="0">
            <a:spAutoFit/>
          </a:bodyPr>
          <a:lstStyle/>
          <a:p>
            <a:r>
              <a:rPr lang="en-CA" sz="3000">
                <a:latin typeface="Segoe UI Emoji" panose="020B0502040204020203" pitchFamily="34" charset="0"/>
              </a:rPr>
              <a:t>😟</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Simpson's paradox: marginal </a:t>
            </a:r>
            <a:r>
              <a:rPr lang="en-CA" dirty="0"/>
              <a:t>&amp;</a:t>
            </a:r>
            <a:r>
              <a:rPr dirty="0"/>
              <a:t> conditional relations</a:t>
            </a:r>
          </a:p>
        </p:txBody>
      </p:sp>
      <p:pic>
        <p:nvPicPr>
          <p:cNvPr id="6" name="Ignoring species" descr="peng-simpsons-1-ignoring.png"/>
          <p:cNvPicPr>
            <a:picLocks noChangeAspect="1"/>
          </p:cNvPicPr>
          <p:nvPr/>
        </p:nvPicPr>
        <p:blipFill>
          <a:blip r:embed="rId3"/>
          <a:stretch>
            <a:fillRect/>
          </a:stretch>
        </p:blipFill>
        <p:spPr>
          <a:xfrm>
            <a:off x="841248" y="1639531"/>
            <a:ext cx="3505200" cy="3505199"/>
          </a:xfrm>
          <a:prstGeom prst="rect">
            <a:avLst/>
          </a:prstGeom>
        </p:spPr>
      </p:pic>
      <p:pic>
        <p:nvPicPr>
          <p:cNvPr id="7" name="By species" descr="peng-simpsons-2-by.png"/>
          <p:cNvPicPr>
            <a:picLocks noChangeAspect="1"/>
          </p:cNvPicPr>
          <p:nvPr/>
        </p:nvPicPr>
        <p:blipFill>
          <a:blip r:embed="rId4"/>
          <a:stretch>
            <a:fillRect/>
          </a:stretch>
        </p:blipFill>
        <p:spPr>
          <a:xfrm>
            <a:off x="4346448" y="1639531"/>
            <a:ext cx="3505200" cy="3505199"/>
          </a:xfrm>
          <a:prstGeom prst="rect">
            <a:avLst/>
          </a:prstGeom>
        </p:spPr>
      </p:pic>
      <p:pic>
        <p:nvPicPr>
          <p:cNvPr id="8" name="Within species" descr="peng-simpsons-3-within.png"/>
          <p:cNvPicPr>
            <a:picLocks noChangeAspect="1"/>
          </p:cNvPicPr>
          <p:nvPr/>
        </p:nvPicPr>
        <p:blipFill>
          <a:blip r:embed="rId5"/>
          <a:stretch>
            <a:fillRect/>
          </a:stretch>
        </p:blipFill>
        <p:spPr>
          <a:xfrm>
            <a:off x="7851648" y="1639531"/>
            <a:ext cx="3505200" cy="3505199"/>
          </a:xfrm>
          <a:prstGeom prst="rect">
            <a:avLst/>
          </a:prstGeom>
        </p:spPr>
      </p:pic>
      <p:sp>
        <p:nvSpPr>
          <p:cNvPr id="4" name="TextBox 3"/>
          <p:cNvSpPr txBox="1"/>
          <p:nvPr/>
        </p:nvSpPr>
        <p:spPr>
          <a:xfrm>
            <a:off x="1077222" y="5249690"/>
            <a:ext cx="3681591" cy="646331"/>
          </a:xfrm>
          <a:prstGeom prst="rect">
            <a:avLst/>
          </a:prstGeom>
          <a:noFill/>
        </p:spPr>
        <p:txBody>
          <a:bodyPr wrap="square">
            <a:spAutoFit/>
          </a:bodyPr>
          <a:lstStyle/>
          <a:p>
            <a:r>
              <a:rPr sz="1800" dirty="0"/>
              <a:t>Ignoring species, longer bills </a:t>
            </a:r>
            <a:r>
              <a:rPr lang="en-CA" dirty="0"/>
              <a:t>are</a:t>
            </a:r>
            <a:r>
              <a:rPr sz="1800" dirty="0"/>
              <a:t> shallower </a:t>
            </a:r>
            <a:endParaRPr lang="en-CA" sz="1800"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4.23</a:t>
            </a:r>
          </a:p>
        </p:txBody>
      </p:sp>
      <p:sp>
        <p:nvSpPr>
          <p:cNvPr id="3" name="TextBox 2">
            <a:extLst>
              <a:ext uri="{FF2B5EF4-FFF2-40B4-BE49-F238E27FC236}">
                <a16:creationId xmlns:a16="http://schemas.microsoft.com/office/drawing/2014/main" id="{88DD035A-BBF7-B55F-5790-B32F05AA7F39}"/>
              </a:ext>
            </a:extLst>
          </p:cNvPr>
          <p:cNvSpPr txBox="1"/>
          <p:nvPr/>
        </p:nvSpPr>
        <p:spPr>
          <a:xfrm>
            <a:off x="8318091" y="5249690"/>
            <a:ext cx="2920180" cy="646331"/>
          </a:xfrm>
          <a:prstGeom prst="rect">
            <a:avLst/>
          </a:prstGeom>
          <a:noFill/>
        </p:spPr>
        <p:txBody>
          <a:bodyPr wrap="square" rtlCol="0">
            <a:spAutoFit/>
          </a:bodyPr>
          <a:lstStyle/>
          <a:p>
            <a:r>
              <a:rPr lang="en-CA" dirty="0"/>
              <a:t>Within species shows diffs in slopes &amp; covariances</a:t>
            </a:r>
          </a:p>
        </p:txBody>
      </p:sp>
      <p:sp>
        <p:nvSpPr>
          <p:cNvPr id="9" name="TextBox 8">
            <a:extLst>
              <a:ext uri="{FF2B5EF4-FFF2-40B4-BE49-F238E27FC236}">
                <a16:creationId xmlns:a16="http://schemas.microsoft.com/office/drawing/2014/main" id="{84C0DE35-D87E-44B9-F0AB-884345159189}"/>
              </a:ext>
            </a:extLst>
          </p:cNvPr>
          <p:cNvSpPr txBox="1"/>
          <p:nvPr/>
        </p:nvSpPr>
        <p:spPr>
          <a:xfrm>
            <a:off x="4886629" y="5249690"/>
            <a:ext cx="3092835" cy="646331"/>
          </a:xfrm>
          <a:prstGeom prst="rect">
            <a:avLst/>
          </a:prstGeom>
          <a:noFill/>
        </p:spPr>
        <p:txBody>
          <a:bodyPr wrap="square" rtlCol="0">
            <a:spAutoFit/>
          </a:bodyPr>
          <a:lstStyle/>
          <a:p>
            <a:r>
              <a:rPr lang="en-CA" dirty="0"/>
              <a:t>By species, relation is positive for each</a:t>
            </a:r>
          </a:p>
        </p:txBody>
      </p:sp>
      <p:sp>
        <p:nvSpPr>
          <p:cNvPr id="10" name="Slide Number Placeholder 10"/>
          <p:cNvSpPr>
            <a:spLocks noGrp="1"/>
          </p:cNvSpPr>
          <p:nvPr>
            <p:ph type="sldNum" sz="quarter" idx="12"/>
          </p:nvPr>
        </p:nvSpPr>
        <p:spPr/>
        <p:txBody>
          <a:bodyPr/>
          <a:lstStyle/>
          <a:p>
            <a:fld id="{9BFB2853-4965-4727-91C4-384EB30D99A4}" type="slidenum">
              <a:rPr lang="en-CA"/>
              <a:t>18</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2" presetClass="entr" presetSubtype="4" fill="hold" nodeType="withEffect">
                                  <p:stCondLst>
                                    <p:cond delay="0"/>
                                  </p:stCondLst>
                                  <p:childTnLst>
                                    <p:set>
                                      <p:cBhvr>
                                        <p:cTn id="8" dur="1" fill="hold">
                                          <p:stCondLst>
                                            <p:cond delay="0"/>
                                          </p:stCondLst>
                                        </p:cTn>
                                        <p:tgtEl>
                                          <p:spTgt spid="4">
                                            <p:txEl>
                                              <p:pRg st="0" end="0"/>
                                            </p:txEl>
                                          </p:spTgt>
                                        </p:tgtEl>
                                        <p:attrNameLst>
                                          <p:attrName>style.visibility</p:attrName>
                                        </p:attrNameLst>
                                      </p:cBhvr>
                                      <p:to>
                                        <p:strVal val="visible"/>
                                      </p:to>
                                    </p:set>
                                    <p:anim calcmode="lin" valueType="num">
                                      <p:cBhvr additive="base">
                                        <p:cTn id="9" dur="500" fill="hold"/>
                                        <p:tgtEl>
                                          <p:spTgt spid="4">
                                            <p:txEl>
                                              <p:pRg st="0" end="0"/>
                                            </p:txEl>
                                          </p:spTgt>
                                        </p:tgtEl>
                                        <p:attrNameLst>
                                          <p:attrName>ppt_x</p:attrName>
                                        </p:attrNameLst>
                                      </p:cBhvr>
                                      <p:tavLst>
                                        <p:tav tm="0">
                                          <p:val>
                                            <p:strVal val="#ppt_x"/>
                                          </p:val>
                                        </p:tav>
                                        <p:tav tm="100000">
                                          <p:val>
                                            <p:strVal val="#ppt_x"/>
                                          </p:val>
                                        </p:tav>
                                      </p:tavLst>
                                    </p:anim>
                                    <p:anim calcmode="lin" valueType="num">
                                      <p:cBhvr additive="base">
                                        <p:cTn id="10" dur="500" fill="hold"/>
                                        <p:tgtEl>
                                          <p:spTgt spid="4">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2" presetClass="entr" presetSubtype="4"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anim calcmode="lin" valueType="num">
                                      <p:cBhvr additive="base">
                                        <p:cTn id="17" dur="500" fill="hold"/>
                                        <p:tgtEl>
                                          <p:spTgt spid="9"/>
                                        </p:tgtEl>
                                        <p:attrNameLst>
                                          <p:attrName>ppt_x</p:attrName>
                                        </p:attrNameLst>
                                      </p:cBhvr>
                                      <p:tavLst>
                                        <p:tav tm="0">
                                          <p:val>
                                            <p:strVal val="#ppt_x"/>
                                          </p:val>
                                        </p:tav>
                                        <p:tav tm="100000">
                                          <p:val>
                                            <p:strVal val="#ppt_x"/>
                                          </p:val>
                                        </p:tav>
                                      </p:tavLst>
                                    </p:anim>
                                    <p:anim calcmode="lin" valueType="num">
                                      <p:cBhvr additive="base">
                                        <p:cTn id="18" dur="500" fill="hold"/>
                                        <p:tgtEl>
                                          <p:spTgt spid="9"/>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8"/>
                                        </p:tgtEl>
                                        <p:attrNameLst>
                                          <p:attrName>style.visibility</p:attrName>
                                        </p:attrNameLst>
                                      </p:cBhvr>
                                      <p:to>
                                        <p:strVal val="visible"/>
                                      </p:to>
                                    </p:set>
                                  </p:childTnLst>
                                </p:cTn>
                              </p:par>
                              <p:par>
                                <p:cTn id="23" presetID="2" presetClass="entr" presetSubtype="4" fill="hold" grpId="0" nodeType="withEffect">
                                  <p:stCondLst>
                                    <p:cond delay="0"/>
                                  </p:stCondLst>
                                  <p:childTnLst>
                                    <p:set>
                                      <p:cBhvr>
                                        <p:cTn id="24" dur="1" fill="hold">
                                          <p:stCondLst>
                                            <p:cond delay="0"/>
                                          </p:stCondLst>
                                        </p:cTn>
                                        <p:tgtEl>
                                          <p:spTgt spid="3"/>
                                        </p:tgtEl>
                                        <p:attrNameLst>
                                          <p:attrName>style.visibility</p:attrName>
                                        </p:attrNameLst>
                                      </p:cBhvr>
                                      <p:to>
                                        <p:strVal val="visible"/>
                                      </p:to>
                                    </p:set>
                                    <p:anim calcmode="lin" valueType="num">
                                      <p:cBhvr additive="base">
                                        <p:cTn id="25" dur="500" fill="hold"/>
                                        <p:tgtEl>
                                          <p:spTgt spid="3"/>
                                        </p:tgtEl>
                                        <p:attrNameLst>
                                          <p:attrName>ppt_x</p:attrName>
                                        </p:attrNameLst>
                                      </p:cBhvr>
                                      <p:tavLst>
                                        <p:tav tm="0">
                                          <p:val>
                                            <p:strVal val="#ppt_x"/>
                                          </p:val>
                                        </p:tav>
                                        <p:tav tm="100000">
                                          <p:val>
                                            <p:strVal val="#ppt_x"/>
                                          </p:val>
                                        </p:tav>
                                      </p:tavLst>
                                    </p:anim>
                                    <p:anim calcmode="lin" valueType="num">
                                      <p:cBhvr additive="base">
                                        <p:cTn id="26" dur="500" fill="hold"/>
                                        <p:tgtEl>
                                          <p:spTgt spid="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9"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1792DA-38D0-0A13-18FE-D00C390BF6FE}"/>
              </a:ext>
            </a:extLst>
          </p:cNvPr>
          <p:cNvSpPr>
            <a:spLocks noGrp="1"/>
          </p:cNvSpPr>
          <p:nvPr>
            <p:ph type="title"/>
          </p:nvPr>
        </p:nvSpPr>
        <p:spPr/>
        <p:txBody>
          <a:bodyPr/>
          <a:lstStyle/>
          <a:p>
            <a:r>
              <a:rPr lang="en-CA"/>
              <a:t>Thinking about Penguin variables</a:t>
            </a:r>
          </a:p>
        </p:txBody>
      </p:sp>
      <p:sp>
        <p:nvSpPr>
          <p:cNvPr id="3" name="Intro text">
            <a:extLst>
              <a:ext uri="{FF2B5EF4-FFF2-40B4-BE49-F238E27FC236}">
                <a16:creationId xmlns:a16="http://schemas.microsoft.com/office/drawing/2014/main" id="{31270026-3357-36A1-2ABF-DA0EB1E72A7E}"/>
              </a:ext>
            </a:extLst>
          </p:cNvPr>
          <p:cNvSpPr txBox="1"/>
          <p:nvPr/>
        </p:nvSpPr>
        <p:spPr>
          <a:xfrm>
            <a:off x="889000" y="1244600"/>
            <a:ext cx="10414000" cy="697627"/>
          </a:xfrm>
          <a:prstGeom prst="rect">
            <a:avLst/>
          </a:prstGeom>
          <a:noFill/>
        </p:spPr>
        <p:txBody>
          <a:bodyPr vert="horz" wrap="square" rtlCol="0">
            <a:spAutoFit/>
          </a:bodyPr>
          <a:lstStyle/>
          <a:p>
            <a:pPr marL="203200" indent="-203200">
              <a:spcAft>
                <a:spcPts val="400"/>
              </a:spcAft>
              <a:buFont typeface="+mj-lt"/>
              <a:buChar char="•"/>
            </a:pPr>
            <a:r>
              <a:rPr lang="en-CA" dirty="0"/>
              <a:t>Bill length &amp; depth are two measurements of one object: a penguin’s</a:t>
            </a:r>
            <a:r>
              <a:rPr lang="en-CA" b="1" dirty="0"/>
              <a:t> beak</a:t>
            </a:r>
            <a:r>
              <a:rPr lang="en-CA" dirty="0"/>
              <a:t>.</a:t>
            </a:r>
          </a:p>
          <a:p>
            <a:pPr marL="203200" indent="-203200">
              <a:spcAft>
                <a:spcPts val="400"/>
              </a:spcAft>
              <a:buFont typeface="+mj-lt"/>
              <a:buChar char="•"/>
            </a:pPr>
            <a:r>
              <a:rPr lang="en-CA" dirty="0">
                <a:sym typeface="Symbol" panose="05050102010706020507" pitchFamily="18" charset="2"/>
              </a:rPr>
              <a:t> </a:t>
            </a:r>
            <a:r>
              <a:rPr lang="en-CA" dirty="0"/>
              <a:t>Re-express them as </a:t>
            </a:r>
            <a:r>
              <a:rPr lang="en-CA" b="1" dirty="0"/>
              <a:t>Size</a:t>
            </a:r>
            <a:r>
              <a:rPr lang="en-CA" dirty="0"/>
              <a:t> = L x D and </a:t>
            </a:r>
            <a:r>
              <a:rPr lang="en-CA" b="1" dirty="0"/>
              <a:t>Shape</a:t>
            </a:r>
            <a:r>
              <a:rPr lang="en-CA" dirty="0"/>
              <a:t> = L / D</a:t>
            </a:r>
          </a:p>
        </p:txBody>
      </p:sp>
      <p:sp>
        <p:nvSpPr>
          <p:cNvPr id="4" name="Reveal text">
            <a:extLst>
              <a:ext uri="{FF2B5EF4-FFF2-40B4-BE49-F238E27FC236}">
                <a16:creationId xmlns:a16="http://schemas.microsoft.com/office/drawing/2014/main" id="{F703DD8B-EC5B-F58C-61A5-6711CA9B85C5}"/>
              </a:ext>
            </a:extLst>
          </p:cNvPr>
          <p:cNvSpPr txBox="1"/>
          <p:nvPr/>
        </p:nvSpPr>
        <p:spPr>
          <a:xfrm>
            <a:off x="889000" y="1905000"/>
            <a:ext cx="10414000" cy="697627"/>
          </a:xfrm>
          <a:prstGeom prst="rect">
            <a:avLst/>
          </a:prstGeom>
          <a:noFill/>
        </p:spPr>
        <p:txBody>
          <a:bodyPr vert="horz" wrap="square" rtlCol="0">
            <a:spAutoFit/>
          </a:bodyPr>
          <a:lstStyle/>
          <a:p>
            <a:pPr marL="203200" indent="-203200">
              <a:spcAft>
                <a:spcPts val="400"/>
              </a:spcAft>
              <a:buFont typeface="+mj-lt"/>
              <a:buChar char="•"/>
            </a:pPr>
            <a:r>
              <a:rPr lang="en-CA" dirty="0"/>
              <a:t>On log scales, a </a:t>
            </a:r>
            <a:r>
              <a:rPr lang="en-CA" b="1" dirty="0"/>
              <a:t>45</a:t>
            </a:r>
            <a:r>
              <a:rPr lang="en-CA" dirty="0"/>
              <a:t>° rotation: equivalent data </a:t>
            </a:r>
            <a:r>
              <a:rPr lang="en-CA" dirty="0">
                <a:sym typeface="Symbol" panose="05050102010706020507" pitchFamily="18" charset="2"/>
              </a:rPr>
              <a:t> </a:t>
            </a:r>
            <a:r>
              <a:rPr lang="en-CA" dirty="0"/>
              <a:t>same multivariate tests</a:t>
            </a:r>
          </a:p>
          <a:p>
            <a:pPr marL="203200" indent="-203200">
              <a:spcAft>
                <a:spcPts val="400"/>
              </a:spcAft>
              <a:buFont typeface="+mj-lt"/>
              <a:buChar char="•"/>
            </a:pPr>
            <a:r>
              <a:rPr lang="en-CA" dirty="0"/>
              <a:t>Simpson's paradox </a:t>
            </a:r>
            <a:r>
              <a:rPr lang="en-CA" b="1" dirty="0"/>
              <a:t>disappears</a:t>
            </a:r>
            <a:r>
              <a:rPr lang="en-CA" dirty="0"/>
              <a:t>: species differ in </a:t>
            </a:r>
            <a:r>
              <a:rPr lang="en-CA" b="1" dirty="0"/>
              <a:t>shape</a:t>
            </a:r>
            <a:r>
              <a:rPr lang="en-CA" dirty="0"/>
              <a:t>; within species, bills vary in </a:t>
            </a:r>
            <a:r>
              <a:rPr lang="en-CA" b="1" dirty="0"/>
              <a:t>size</a:t>
            </a:r>
          </a:p>
        </p:txBody>
      </p:sp>
      <p:pic>
        <p:nvPicPr>
          <p:cNvPr id="6" name="Length depth plot">
            <a:extLst>
              <a:ext uri="{FF2B5EF4-FFF2-40B4-BE49-F238E27FC236}">
                <a16:creationId xmlns:a16="http://schemas.microsoft.com/office/drawing/2014/main" id="{96C66D9F-6088-AB1E-EEBA-362D07BAD369}"/>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2032000" y="2641600"/>
            <a:ext cx="3810000" cy="3810000"/>
          </a:xfrm>
          <a:prstGeom prst="rect">
            <a:avLst/>
          </a:prstGeom>
        </p:spPr>
      </p:pic>
      <p:pic>
        <p:nvPicPr>
          <p:cNvPr id="8" name="Size shape plot">
            <a:extLst>
              <a:ext uri="{FF2B5EF4-FFF2-40B4-BE49-F238E27FC236}">
                <a16:creationId xmlns:a16="http://schemas.microsoft.com/office/drawing/2014/main" id="{93E55A64-2715-101B-F7CB-0A9AA8B7A34C}"/>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6350000" y="2641600"/>
            <a:ext cx="3810000" cy="3810000"/>
          </a:xfrm>
          <a:prstGeom prst="rect">
            <a:avLst/>
          </a:prstGeom>
        </p:spPr>
      </p:pic>
      <p:sp>
        <p:nvSpPr>
          <p:cNvPr id="9" name="Source">
            <a:extLst>
              <a:ext uri="{FF2B5EF4-FFF2-40B4-BE49-F238E27FC236}">
                <a16:creationId xmlns:a16="http://schemas.microsoft.com/office/drawing/2014/main" id="{5E68144E-DFDA-5A5A-3A4B-EBC0F9920935}"/>
              </a:ext>
            </a:extLst>
          </p:cNvPr>
          <p:cNvSpPr txBox="1"/>
          <p:nvPr/>
        </p:nvSpPr>
        <p:spPr>
          <a:xfrm>
            <a:off x="838200" y="6453032"/>
            <a:ext cx="5080000" cy="276999"/>
          </a:xfrm>
          <a:prstGeom prst="rect">
            <a:avLst/>
          </a:prstGeom>
          <a:noFill/>
        </p:spPr>
        <p:txBody>
          <a:bodyPr vert="horz" wrap="square" rtlCol="0">
            <a:spAutoFit/>
          </a:bodyPr>
          <a:lstStyle/>
          <a:p>
            <a:pPr>
              <a:spcAft>
                <a:spcPts val="400"/>
              </a:spcAft>
            </a:pPr>
            <a:r>
              <a:rPr lang="en-CA" sz="1200" dirty="0"/>
              <a:t>Blog: </a:t>
            </a:r>
            <a:r>
              <a:rPr lang="en-CA" sz="1200" dirty="0">
                <a:hlinkClick r:id="rId5"/>
              </a:rPr>
              <a:t>friendly.github.io/blog/posts/2026-10-peng-altviews </a:t>
            </a:r>
            <a:endParaRPr lang="en-CA" sz="1200" dirty="0"/>
          </a:p>
        </p:txBody>
      </p:sp>
      <p:sp>
        <p:nvSpPr>
          <p:cNvPr id="5" name="Slide Number Placeholder 4">
            <a:extLst>
              <a:ext uri="{FF2B5EF4-FFF2-40B4-BE49-F238E27FC236}">
                <a16:creationId xmlns:a16="http://schemas.microsoft.com/office/drawing/2014/main" id="{48DA45CF-D7F2-6DA9-D84A-B98336211897}"/>
              </a:ext>
            </a:extLst>
          </p:cNvPr>
          <p:cNvSpPr>
            <a:spLocks noGrp="1"/>
          </p:cNvSpPr>
          <p:nvPr>
            <p:ph type="sldNum" sz="quarter" idx="12"/>
          </p:nvPr>
        </p:nvSpPr>
        <p:spPr/>
        <p:txBody>
          <a:bodyPr/>
          <a:lstStyle/>
          <a:p>
            <a:fld id="{9BFB2853-4965-4727-91C4-384EB30D99A4}" type="slidenum">
              <a:rPr lang="en-CA" smtClean="0"/>
              <a:t>19</a:t>
            </a:fld>
            <a:endParaRPr lang="en-CA"/>
          </a:p>
        </p:txBody>
      </p:sp>
      <p:pic>
        <p:nvPicPr>
          <p:cNvPr id="10" name="Picture 9">
            <a:extLst>
              <a:ext uri="{FF2B5EF4-FFF2-40B4-BE49-F238E27FC236}">
                <a16:creationId xmlns:a16="http://schemas.microsoft.com/office/drawing/2014/main" id="{7B8236D9-68E7-8749-BFF7-3E102C68689D}"/>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9626722" y="1090533"/>
            <a:ext cx="1990406" cy="1281192"/>
          </a:xfrm>
          <a:prstGeom prst="rect">
            <a:avLst/>
          </a:prstGeom>
        </p:spPr>
      </p:pic>
    </p:spTree>
    <p:extLst>
      <p:ext uri="{BB962C8B-B14F-4D97-AF65-F5344CB8AC3E}">
        <p14:creationId xmlns:p14="http://schemas.microsoft.com/office/powerpoint/2010/main" val="17637563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par>
                                <p:cTn id="9" presetID="2" presetClass="entr" presetSubtype="8" fill="hold" nodeType="withEffect">
                                  <p:stCondLst>
                                    <p:cond delay="500"/>
                                  </p:stCondLst>
                                  <p:childTnLst>
                                    <p:set>
                                      <p:cBhvr>
                                        <p:cTn id="10" dur="1" fill="hold">
                                          <p:stCondLst>
                                            <p:cond delay="0"/>
                                          </p:stCondLst>
                                        </p:cTn>
                                        <p:tgtEl>
                                          <p:spTgt spid="6"/>
                                        </p:tgtEl>
                                        <p:attrNameLst>
                                          <p:attrName>style.visibility</p:attrName>
                                        </p:attrNameLst>
                                      </p:cBhvr>
                                      <p:to>
                                        <p:strVal val="visible"/>
                                      </p:to>
                                    </p:set>
                                    <p:anim calcmode="lin" valueType="num">
                                      <p:cBhvr additive="base">
                                        <p:cTn id="11" dur="500" fill="hold"/>
                                        <p:tgtEl>
                                          <p:spTgt spid="6"/>
                                        </p:tgtEl>
                                        <p:attrNameLst>
                                          <p:attrName>ppt_x</p:attrName>
                                        </p:attrNameLst>
                                      </p:cBhvr>
                                      <p:tavLst>
                                        <p:tav tm="0">
                                          <p:val>
                                            <p:strVal val="0-#ppt_w/2"/>
                                          </p:val>
                                        </p:tav>
                                        <p:tav tm="100000">
                                          <p:val>
                                            <p:strVal val="#ppt_x"/>
                                          </p:val>
                                        </p:tav>
                                      </p:tavLst>
                                    </p:anim>
                                    <p:anim calcmode="lin" valueType="num">
                                      <p:cBhvr additive="base">
                                        <p:cTn id="12" dur="500" fill="hold"/>
                                        <p:tgtEl>
                                          <p:spTgt spid="6"/>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childTnLst>
                                </p:cTn>
                              </p:par>
                              <p:par>
                                <p:cTn id="17" presetID="2" presetClass="entr" presetSubtype="2" fill="hold" nodeType="withEffect">
                                  <p:stCondLst>
                                    <p:cond delay="500"/>
                                  </p:stCondLst>
                                  <p:childTnLst>
                                    <p:set>
                                      <p:cBhvr>
                                        <p:cTn id="18" dur="1" fill="hold">
                                          <p:stCondLst>
                                            <p:cond delay="0"/>
                                          </p:stCondLst>
                                        </p:cTn>
                                        <p:tgtEl>
                                          <p:spTgt spid="8"/>
                                        </p:tgtEl>
                                        <p:attrNameLst>
                                          <p:attrName>style.visibility</p:attrName>
                                        </p:attrNameLst>
                                      </p:cBhvr>
                                      <p:to>
                                        <p:strVal val="visible"/>
                                      </p:to>
                                    </p:set>
                                    <p:anim calcmode="lin" valueType="num">
                                      <p:cBhvr additive="base">
                                        <p:cTn id="19" dur="500" fill="hold"/>
                                        <p:tgtEl>
                                          <p:spTgt spid="8"/>
                                        </p:tgtEl>
                                        <p:attrNameLst>
                                          <p:attrName>ppt_x</p:attrName>
                                        </p:attrNameLst>
                                      </p:cBhvr>
                                      <p:tavLst>
                                        <p:tav tm="0">
                                          <p:val>
                                            <p:strVal val="1+#ppt_w/2"/>
                                          </p:val>
                                        </p:tav>
                                        <p:tav tm="100000">
                                          <p:val>
                                            <p:strVal val="#ppt_x"/>
                                          </p:val>
                                        </p:tav>
                                      </p:tavLst>
                                    </p:anim>
                                    <p:anim calcmode="lin" valueType="num">
                                      <p:cBhvr additive="base">
                                        <p:cTn id="20" dur="500" fill="hold"/>
                                        <p:tgtEl>
                                          <p:spTgt spid="8"/>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182880"/>
            <a:ext cx="10972800" cy="1143000"/>
          </a:xfrm>
        </p:spPr>
        <p:txBody>
          <a:bodyPr/>
          <a:lstStyle/>
          <a:p>
            <a:r>
              <a:rPr lang="en-CA" dirty="0"/>
              <a:t>How to visualize </a:t>
            </a:r>
            <a:r>
              <a:rPr lang="en-CA" i="1" dirty="0"/>
              <a:t>p</a:t>
            </a:r>
            <a:r>
              <a:rPr lang="en-CA" dirty="0"/>
              <a:t> &gt; 2 variables in </a:t>
            </a:r>
            <a:r>
              <a:rPr lang="en-CA" dirty="0" err="1"/>
              <a:t>Planeland</a:t>
            </a:r>
            <a:r>
              <a:rPr lang="en-CA" dirty="0"/>
              <a:t>?</a:t>
            </a:r>
            <a:br>
              <a:rPr lang="en-CA" dirty="0"/>
            </a:br>
            <a:r>
              <a:rPr sz="2800" dirty="0"/>
              <a:t>Scatterplot matrices: all pairs at once</a:t>
            </a:r>
          </a:p>
        </p:txBody>
      </p:sp>
      <p:sp>
        <p:nvSpPr>
          <p:cNvPr id="3" name="Content Placeholder 2"/>
          <p:cNvSpPr>
            <a:spLocks noGrp="1"/>
          </p:cNvSpPr>
          <p:nvPr>
            <p:ph sz="half" idx="1"/>
          </p:nvPr>
        </p:nvSpPr>
        <p:spPr>
          <a:xfrm>
            <a:off x="838200" y="1643063"/>
            <a:ext cx="4304071" cy="4533900"/>
          </a:xfrm>
        </p:spPr>
        <p:txBody>
          <a:bodyPr/>
          <a:lstStyle/>
          <a:p>
            <a:r>
              <a:rPr dirty="0"/>
              <a:t>Every pairwise view in one display</a:t>
            </a:r>
          </a:p>
          <a:p>
            <a:r>
              <a:rPr dirty="0"/>
              <a:t>Data ellipses </a:t>
            </a:r>
            <a:r>
              <a:rPr lang="en-CA" dirty="0"/>
              <a:t>&amp;</a:t>
            </a:r>
            <a:r>
              <a:rPr dirty="0"/>
              <a:t> regression lines </a:t>
            </a:r>
            <a:r>
              <a:rPr dirty="0">
                <a:solidFill>
                  <a:srgbClr val="FF0000"/>
                </a:solidFill>
              </a:rPr>
              <a:t>by species</a:t>
            </a:r>
          </a:p>
          <a:p>
            <a:r>
              <a:rPr dirty="0"/>
              <a:t>Works well up to a moderate number of variables</a:t>
            </a:r>
            <a:endParaRPr lang="en-CA" dirty="0"/>
          </a:p>
          <a:p>
            <a:r>
              <a:rPr lang="en-CA" b="1" dirty="0"/>
              <a:t>Visual thinning</a:t>
            </a:r>
            <a:r>
              <a:rPr lang="en-CA" dirty="0"/>
              <a:t>: data </a:t>
            </a:r>
            <a:r>
              <a:rPr lang="en-CA" dirty="0">
                <a:sym typeface="Symbol" panose="05050102010706020507" pitchFamily="18" charset="2"/>
              </a:rPr>
              <a:t></a:t>
            </a:r>
            <a:r>
              <a:rPr lang="en-CA" dirty="0"/>
              <a:t> ellipses + regression lines</a:t>
            </a:r>
            <a:endParaRPr dirty="0"/>
          </a:p>
        </p:txBody>
      </p:sp>
      <p:pic>
        <p:nvPicPr>
          <p:cNvPr id="4" name="Picture 3" descr="fig-peng-spm-1.png"/>
          <p:cNvPicPr>
            <a:picLocks noChangeAspect="1"/>
          </p:cNvPicPr>
          <p:nvPr/>
        </p:nvPicPr>
        <p:blipFill>
          <a:blip r:embed="rId3"/>
          <a:stretch>
            <a:fillRect/>
          </a:stretch>
        </p:blipFill>
        <p:spPr>
          <a:xfrm>
            <a:off x="5800853" y="1444625"/>
            <a:ext cx="5256000" cy="525600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4.31</a:t>
            </a:r>
          </a:p>
        </p:txBody>
      </p:sp>
      <p:sp>
        <p:nvSpPr>
          <p:cNvPr id="6" name="Slide Number Placeholder 6"/>
          <p:cNvSpPr>
            <a:spLocks noGrp="1"/>
          </p:cNvSpPr>
          <p:nvPr>
            <p:ph type="sldNum" sz="quarter" idx="12"/>
          </p:nvPr>
        </p:nvSpPr>
        <p:spPr/>
        <p:txBody>
          <a:bodyPr/>
          <a:lstStyle/>
          <a:p>
            <a:fld id="{9BFB2853-4965-4727-91C4-384EB30D99A4}" type="slidenum">
              <a:rPr lang="en-CA"/>
              <a:t>20</a:t>
            </a:fld>
            <a:endParaRPr lang="en-CA"/>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182880"/>
            <a:ext cx="10972800" cy="1143000"/>
          </a:xfrm>
        </p:spPr>
        <p:txBody>
          <a:bodyPr>
            <a:normAutofit fontScale="90000"/>
          </a:bodyPr>
          <a:lstStyle/>
          <a:p>
            <a:r>
              <a:rPr b="1" dirty="0"/>
              <a:t>Visual thinning</a:t>
            </a:r>
            <a:r>
              <a:rPr dirty="0"/>
              <a:t>: show less to see more</a:t>
            </a:r>
            <a:br>
              <a:rPr lang="en-CA" dirty="0"/>
            </a:br>
            <a:r>
              <a:rPr lang="en-CA" b="1" dirty="0"/>
              <a:t>Effect order</a:t>
            </a:r>
            <a:r>
              <a:rPr lang="en-CA" dirty="0"/>
              <a:t>: order variables to see what you want to show </a:t>
            </a:r>
            <a:endParaRPr dirty="0"/>
          </a:p>
        </p:txBody>
      </p:sp>
      <p:sp>
        <p:nvSpPr>
          <p:cNvPr id="3" name="Content Placeholder 2"/>
          <p:cNvSpPr>
            <a:spLocks noGrp="1"/>
          </p:cNvSpPr>
          <p:nvPr>
            <p:ph sz="half" idx="1"/>
          </p:nvPr>
        </p:nvSpPr>
        <p:spPr>
          <a:xfrm>
            <a:off x="838200" y="2046185"/>
            <a:ext cx="5181600" cy="3194408"/>
          </a:xfrm>
        </p:spPr>
        <p:txBody>
          <a:bodyPr/>
          <a:lstStyle/>
          <a:p>
            <a:r>
              <a:rPr lang="en-CA" dirty="0" err="1">
                <a:solidFill>
                  <a:schemeClr val="accent2">
                    <a:lumMod val="50000"/>
                  </a:schemeClr>
                </a:solidFill>
                <a:latin typeface="Consolas" panose="020B0609020204030204" pitchFamily="49" charset="0"/>
                <a:cs typeface="Courier New" panose="02070309020205020404" pitchFamily="49" charset="0"/>
              </a:rPr>
              <a:t>corrplot</a:t>
            </a:r>
            <a:r>
              <a:rPr lang="en-CA" dirty="0">
                <a:solidFill>
                  <a:schemeClr val="accent2">
                    <a:lumMod val="50000"/>
                  </a:schemeClr>
                </a:solidFill>
                <a:latin typeface="Consolas" panose="020B0609020204030204" pitchFamily="49" charset="0"/>
                <a:cs typeface="Courier New" panose="02070309020205020404" pitchFamily="49" charset="0"/>
              </a:rPr>
              <a:t>()</a:t>
            </a:r>
            <a:r>
              <a:rPr lang="en-CA" dirty="0"/>
              <a:t>: </a:t>
            </a:r>
            <a:r>
              <a:rPr dirty="0"/>
              <a:t>With many variables, replace the points by a rendering of each correlation</a:t>
            </a:r>
          </a:p>
          <a:p>
            <a:r>
              <a:rPr dirty="0"/>
              <a:t>Order the </a:t>
            </a:r>
            <a:r>
              <a:rPr dirty="0">
                <a:solidFill>
                  <a:schemeClr val="accent2">
                    <a:lumMod val="75000"/>
                  </a:schemeClr>
                </a:solidFill>
              </a:rPr>
              <a:t>variables</a:t>
            </a:r>
            <a:r>
              <a:rPr dirty="0"/>
              <a:t> so that similar ones are adjacent</a:t>
            </a:r>
          </a:p>
          <a:p>
            <a:r>
              <a:rPr dirty="0"/>
              <a:t>Here: ordered by the angles of the variable vectors from a PCA</a:t>
            </a:r>
          </a:p>
        </p:txBody>
      </p:sp>
      <p:pic>
        <p:nvPicPr>
          <p:cNvPr id="4" name="Picture 3" descr="fig-crime-corrplot-AOE-1.png"/>
          <p:cNvPicPr>
            <a:picLocks noChangeAspect="1"/>
          </p:cNvPicPr>
          <p:nvPr/>
        </p:nvPicPr>
        <p:blipFill>
          <a:blip r:embed="rId3"/>
          <a:stretch>
            <a:fillRect/>
          </a:stretch>
        </p:blipFill>
        <p:spPr>
          <a:xfrm>
            <a:off x="6569964" y="1783080"/>
            <a:ext cx="4389120" cy="4389120"/>
          </a:xfrm>
          <a:prstGeom prst="rect">
            <a:avLst/>
          </a:prstGeom>
        </p:spPr>
      </p:pic>
      <p:pic>
        <p:nvPicPr>
          <p:cNvPr id="7" name="Picture 6" descr="fig-mtcars-corrplot-pcaorder-1.png">
            <a:extLst>
              <a:ext uri="{FF2B5EF4-FFF2-40B4-BE49-F238E27FC236}">
                <a16:creationId xmlns:a16="http://schemas.microsoft.com/office/drawing/2014/main" id="{FFC74894-A605-75C8-700C-990AEB2E5F61}"/>
              </a:ext>
            </a:extLst>
          </p:cNvPr>
          <p:cNvPicPr>
            <a:picLocks noChangeAspect="1"/>
          </p:cNvPicPr>
          <p:nvPr/>
        </p:nvPicPr>
        <p:blipFill>
          <a:blip r:embed="rId4"/>
          <a:stretch>
            <a:fillRect/>
          </a:stretch>
        </p:blipFill>
        <p:spPr>
          <a:xfrm>
            <a:off x="6569964" y="1585800"/>
            <a:ext cx="5089320" cy="5089320"/>
          </a:xfrm>
          <a:prstGeom prst="rect">
            <a:avLst/>
          </a:prstGeom>
        </p:spPr>
      </p:pic>
      <p:sp>
        <p:nvSpPr>
          <p:cNvPr id="8" name="Slide Number Placeholder 8"/>
          <p:cNvSpPr>
            <a:spLocks noGrp="1"/>
          </p:cNvSpPr>
          <p:nvPr>
            <p:ph type="sldNum" sz="quarter" idx="12"/>
          </p:nvPr>
        </p:nvSpPr>
        <p:spPr/>
        <p:txBody>
          <a:bodyPr/>
          <a:lstStyle/>
          <a:p>
            <a:fld id="{9BFB2853-4965-4727-91C4-384EB30D99A4}" type="slidenum">
              <a:rPr lang="en-CA"/>
              <a:t>21</a:t>
            </a:fld>
            <a:endParaRPr lang="en-CA"/>
          </a:p>
        </p:txBody>
      </p:sp>
      <p:sp>
        <p:nvSpPr>
          <p:cNvPr id="5" name="Effect order reference">
            <a:extLst>
              <a:ext uri="{FF2B5EF4-FFF2-40B4-BE49-F238E27FC236}">
                <a16:creationId xmlns:a16="http://schemas.microsoft.com/office/drawing/2014/main" id="{34D87412-A7F8-50F8-156F-7433F2E336A4}"/>
              </a:ext>
            </a:extLst>
          </p:cNvPr>
          <p:cNvSpPr/>
          <p:nvPr/>
        </p:nvSpPr>
        <p:spPr>
          <a:xfrm>
            <a:off x="838200" y="5712460"/>
            <a:ext cx="5334000" cy="701040"/>
          </a:xfrm>
          <a:prstGeom prst="roundRect">
            <a:avLst>
              <a:gd name="adj" fmla="val 12000"/>
            </a:avLst>
          </a:prstGeom>
          <a:solidFill>
            <a:srgbClr val="2E5EAA">
              <a:alpha val="15000"/>
            </a:srgbClr>
          </a:solidFill>
          <a:ln w="9525">
            <a:solidFill>
              <a:srgbClr val="2E5EAA"/>
            </a:solidFill>
          </a:ln>
        </p:spPr>
        <p:style>
          <a:lnRef idx="2">
            <a:schemeClr val="accent1">
              <a:shade val="15000"/>
            </a:schemeClr>
          </a:lnRef>
          <a:fillRef idx="1">
            <a:schemeClr val="accent1"/>
          </a:fillRef>
          <a:effectRef idx="0">
            <a:schemeClr val="accent1"/>
          </a:effectRef>
          <a:fontRef idx="minor">
            <a:schemeClr val="lt1"/>
          </a:fontRef>
        </p:style>
        <p:txBody>
          <a:bodyPr wrap="square" lIns="88900" tIns="50800" rIns="88900" bIns="50800" rtlCol="0" anchor="ctr">
            <a:spAutoFit/>
          </a:bodyPr>
          <a:lstStyle/>
          <a:p>
            <a:r>
              <a:rPr lang="en-CA" sz="1200">
                <a:solidFill>
                  <a:srgbClr val="262626"/>
                </a:solidFill>
                <a:latin typeface="Aptos" panose="020B0004020202020204" pitchFamily="34" charset="0"/>
              </a:rPr>
              <a:t>Friendly &amp; Kwan (2003). Effect ordering for data displays. </a:t>
            </a:r>
            <a:r>
              <a:rPr lang="en-CA" sz="1200" i="1">
                <a:solidFill>
                  <a:srgbClr val="262626"/>
                </a:solidFill>
                <a:latin typeface="Aptos" panose="020B0004020202020204" pitchFamily="34" charset="0"/>
              </a:rPr>
              <a:t>Computational Statistics &amp; Data Analysis</a:t>
            </a:r>
            <a:r>
              <a:rPr lang="en-CA" sz="1200">
                <a:solidFill>
                  <a:srgbClr val="262626"/>
                </a:solidFill>
                <a:latin typeface="Aptos" panose="020B0004020202020204" pitchFamily="34" charset="0"/>
              </a:rPr>
              <a:t>, </a:t>
            </a:r>
            <a:r>
              <a:rPr lang="en-CA" sz="1200" i="1">
                <a:solidFill>
                  <a:srgbClr val="262626"/>
                </a:solidFill>
                <a:latin typeface="Aptos" panose="020B0004020202020204" pitchFamily="34" charset="0"/>
              </a:rPr>
              <a:t>43</a:t>
            </a:r>
            <a:r>
              <a:rPr lang="en-CA" sz="1200">
                <a:solidFill>
                  <a:srgbClr val="262626"/>
                </a:solidFill>
                <a:latin typeface="Aptos" panose="020B0004020202020204" pitchFamily="34" charset="0"/>
              </a:rPr>
              <a:t>, 509–539.</a:t>
            </a:r>
            <a:br>
              <a:rPr lang="en-CA" sz="1200">
                <a:solidFill>
                  <a:srgbClr val="262626"/>
                </a:solidFill>
                <a:latin typeface="Aptos" panose="020B0004020202020204" pitchFamily="34" charset="0"/>
              </a:rPr>
            </a:br>
            <a:r>
              <a:rPr lang="en-CA" sz="1200">
                <a:solidFill>
                  <a:srgbClr val="262626"/>
                </a:solidFill>
                <a:latin typeface="Aptos" panose="020B0004020202020204" pitchFamily="34" charset="0"/>
                <a:hlinkClick r:id="rId5"/>
              </a:rPr>
              <a:t>https://doi.org/10.1016/S0167-9473(02)00290-6</a:t>
            </a:r>
            <a:endParaRPr lang="en-CA" sz="1200">
              <a:solidFill>
                <a:srgbClr val="262626"/>
              </a:solidFill>
              <a:latin typeface="Aptos" panose="020B0004020202020204" pitchFamily="34" charset="0"/>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Parallel coordinates: one line per penguin</a:t>
            </a:r>
          </a:p>
        </p:txBody>
      </p:sp>
      <p:pic>
        <p:nvPicPr>
          <p:cNvPr id="3" name="Picture 2" descr="fig-peng-ggpcp2-1.png"/>
          <p:cNvPicPr>
            <a:picLocks noChangeAspect="1"/>
          </p:cNvPicPr>
          <p:nvPr/>
        </p:nvPicPr>
        <p:blipFill>
          <a:blip r:embed="rId3"/>
          <a:stretch>
            <a:fillRect/>
          </a:stretch>
        </p:blipFill>
        <p:spPr>
          <a:xfrm>
            <a:off x="345347" y="1352282"/>
            <a:ext cx="6742088" cy="4494726"/>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4.40</a:t>
            </a:r>
          </a:p>
        </p:txBody>
      </p:sp>
      <p:sp>
        <p:nvSpPr>
          <p:cNvPr id="6" name="TextBox 5">
            <a:extLst>
              <a:ext uri="{FF2B5EF4-FFF2-40B4-BE49-F238E27FC236}">
                <a16:creationId xmlns:a16="http://schemas.microsoft.com/office/drawing/2014/main" id="{99500E15-93E9-6301-71FE-84750F373D4D}"/>
              </a:ext>
            </a:extLst>
          </p:cNvPr>
          <p:cNvSpPr txBox="1"/>
          <p:nvPr/>
        </p:nvSpPr>
        <p:spPr>
          <a:xfrm>
            <a:off x="7276563" y="1352282"/>
            <a:ext cx="4246843" cy="3477875"/>
          </a:xfrm>
          <a:prstGeom prst="rect">
            <a:avLst/>
          </a:prstGeom>
          <a:noFill/>
        </p:spPr>
        <p:txBody>
          <a:bodyPr wrap="square" rtlCol="0">
            <a:spAutoFit/>
          </a:bodyPr>
          <a:lstStyle/>
          <a:p>
            <a:r>
              <a:rPr lang="en-CA" sz="2000" dirty="0"/>
              <a:t>Each observation is a line across the variable axes (</a:t>
            </a:r>
            <a:r>
              <a:rPr lang="en-CA" sz="2000" dirty="0" err="1">
                <a:latin typeface="Consolas" panose="020B0609020204030204" pitchFamily="49" charset="0"/>
              </a:rPr>
              <a:t>Ggally</a:t>
            </a:r>
            <a:r>
              <a:rPr lang="en-CA" sz="2000" dirty="0"/>
              <a:t> )</a:t>
            </a:r>
          </a:p>
          <a:p>
            <a:pPr marL="285750" indent="-285750">
              <a:buFont typeface="Arial" panose="020B0604020202020204" pitchFamily="34" charset="0"/>
              <a:buChar char="•"/>
            </a:pPr>
            <a:r>
              <a:rPr lang="en-CA" sz="2000" dirty="0"/>
              <a:t>Groups appear as bundles</a:t>
            </a:r>
          </a:p>
          <a:p>
            <a:pPr marL="285750" indent="-285750">
              <a:buFont typeface="Arial" panose="020B0604020202020204" pitchFamily="34" charset="0"/>
              <a:buChar char="•"/>
            </a:pPr>
            <a:r>
              <a:rPr lang="en-CA" sz="2000" dirty="0"/>
              <a:t>Easy to extend to more variables</a:t>
            </a:r>
          </a:p>
          <a:p>
            <a:pPr marL="285750" indent="-285750">
              <a:buFont typeface="Arial" panose="020B0604020202020204" pitchFamily="34" charset="0"/>
              <a:buChar char="•"/>
            </a:pPr>
            <a:endParaRPr lang="en-CA" sz="2000" dirty="0"/>
          </a:p>
          <a:p>
            <a:r>
              <a:rPr lang="en-CA" sz="2000" dirty="0"/>
              <a:t>Variable ordering is important here</a:t>
            </a:r>
          </a:p>
          <a:p>
            <a:r>
              <a:rPr lang="en-CA" sz="2000" dirty="0">
                <a:sym typeface="Symbol" panose="05050102010706020507" pitchFamily="18" charset="2"/>
              </a:rPr>
              <a:t> </a:t>
            </a:r>
            <a:r>
              <a:rPr lang="en-CA" sz="2000" dirty="0"/>
              <a:t>We see that penguins like particular islands</a:t>
            </a:r>
          </a:p>
          <a:p>
            <a:endParaRPr lang="en-CA" sz="2000" dirty="0"/>
          </a:p>
          <a:p>
            <a:r>
              <a:rPr lang="en-CA" sz="2000" dirty="0"/>
              <a:t>Using this interactively could make a tool for understanding (</a:t>
            </a:r>
            <a:r>
              <a:rPr lang="en-CA" sz="2000" dirty="0" err="1">
                <a:latin typeface="Consolas" panose="020B0609020204030204" pitchFamily="49" charset="0"/>
              </a:rPr>
              <a:t>plotly</a:t>
            </a:r>
            <a:r>
              <a:rPr lang="en-CA" sz="2000" dirty="0"/>
              <a:t>)</a:t>
            </a:r>
          </a:p>
        </p:txBody>
      </p:sp>
      <p:sp>
        <p:nvSpPr>
          <p:cNvPr id="7" name="Slide Number Placeholder 7"/>
          <p:cNvSpPr>
            <a:spLocks noGrp="1"/>
          </p:cNvSpPr>
          <p:nvPr>
            <p:ph type="sldNum" sz="quarter" idx="12"/>
          </p:nvPr>
        </p:nvSpPr>
        <p:spPr/>
        <p:txBody>
          <a:bodyPr/>
          <a:lstStyle/>
          <a:p>
            <a:fld id="{9BFB2853-4965-4727-91C4-384EB30D99A4}" type="slidenum">
              <a:rPr lang="en-CA"/>
              <a:t>22</a:t>
            </a:fld>
            <a:endParaRPr lang="en-CA"/>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Animated tours: </a:t>
            </a:r>
            <a:r>
              <a:rPr lang="en-CA" dirty="0"/>
              <a:t>flying</a:t>
            </a:r>
            <a:r>
              <a:rPr dirty="0"/>
              <a:t> through projections</a:t>
            </a:r>
            <a:r>
              <a:rPr lang="en-CA" dirty="0"/>
              <a:t> (</a:t>
            </a:r>
            <a:r>
              <a:rPr lang="en-CA" b="1" dirty="0" err="1">
                <a:latin typeface="Consolas" panose="020B0609020204030204" pitchFamily="49" charset="0"/>
              </a:rPr>
              <a:t>tourr</a:t>
            </a:r>
            <a:r>
              <a:rPr lang="en-CA" dirty="0"/>
              <a:t> pkg)</a:t>
            </a:r>
            <a:endParaRPr dirty="0"/>
          </a:p>
        </p:txBody>
      </p:sp>
      <p:pic>
        <p:nvPicPr>
          <p:cNvPr id="3" name="Picture 2" descr="peng-tourr-grand.gif"/>
          <p:cNvPicPr>
            <a:picLocks noChangeAspect="1"/>
          </p:cNvPicPr>
          <p:nvPr/>
        </p:nvPicPr>
        <p:blipFill>
          <a:blip r:embed="rId3"/>
          <a:stretch>
            <a:fillRect/>
          </a:stretch>
        </p:blipFill>
        <p:spPr>
          <a:xfrm>
            <a:off x="838200" y="1645285"/>
            <a:ext cx="4785852" cy="4785852"/>
          </a:xfrm>
          <a:prstGeom prst="rect">
            <a:avLst/>
          </a:prstGeom>
        </p:spPr>
      </p:pic>
      <p:sp>
        <p:nvSpPr>
          <p:cNvPr id="4" name="TextBox 3"/>
          <p:cNvSpPr txBox="1"/>
          <p:nvPr/>
        </p:nvSpPr>
        <p:spPr>
          <a:xfrm>
            <a:off x="5955300" y="1645285"/>
            <a:ext cx="5794248" cy="3477875"/>
          </a:xfrm>
          <a:prstGeom prst="rect">
            <a:avLst/>
          </a:prstGeom>
          <a:noFill/>
        </p:spPr>
        <p:txBody>
          <a:bodyPr wrap="square">
            <a:spAutoFit/>
          </a:bodyPr>
          <a:lstStyle/>
          <a:p>
            <a:r>
              <a:rPr lang="en-CA" sz="2000" dirty="0"/>
              <a:t>Animation adds one more dimension to what we can see from 2D projections</a:t>
            </a:r>
          </a:p>
          <a:p>
            <a:endParaRPr lang="en-CA" sz="2000" dirty="0"/>
          </a:p>
          <a:p>
            <a:r>
              <a:rPr sz="2000" dirty="0"/>
              <a:t>A </a:t>
            </a:r>
            <a:r>
              <a:rPr sz="2000" b="1" dirty="0"/>
              <a:t>grand tour </a:t>
            </a:r>
            <a:r>
              <a:rPr sz="2000" dirty="0"/>
              <a:t>shows a smooth sequence of 2D projections</a:t>
            </a:r>
            <a:endParaRPr lang="en-CA" sz="2000" dirty="0"/>
          </a:p>
          <a:p>
            <a:pPr marL="285750" indent="-285750">
              <a:buFont typeface="Arial" panose="020B0604020202020204" pitchFamily="34" charset="0"/>
              <a:buChar char="•"/>
            </a:pPr>
            <a:r>
              <a:rPr lang="en-CA" sz="2000" dirty="0"/>
              <a:t>Variable vectors show where you are in n-D space (as in biplot)</a:t>
            </a:r>
          </a:p>
          <a:p>
            <a:pPr marL="285750" indent="-285750">
              <a:buFont typeface="Arial" panose="020B0604020202020204" pitchFamily="34" charset="0"/>
              <a:buChar char="•"/>
            </a:pPr>
            <a:endParaRPr lang="en-CA" sz="2000" dirty="0"/>
          </a:p>
          <a:p>
            <a:r>
              <a:rPr lang="en-CA" sz="2000" dirty="0"/>
              <a:t>A</a:t>
            </a:r>
            <a:r>
              <a:rPr sz="2000" dirty="0"/>
              <a:t> </a:t>
            </a:r>
            <a:r>
              <a:rPr sz="2000" b="1" dirty="0"/>
              <a:t>guided tour </a:t>
            </a:r>
            <a:r>
              <a:rPr sz="2000" dirty="0"/>
              <a:t>steers toward interesting ones.</a:t>
            </a:r>
            <a:endParaRPr lang="en-CA" sz="2000" dirty="0"/>
          </a:p>
          <a:p>
            <a:pPr marL="285750" indent="-285750">
              <a:buFont typeface="Arial" panose="020B0604020202020204" pitchFamily="34" charset="0"/>
              <a:buChar char="•"/>
            </a:pPr>
            <a:r>
              <a:rPr lang="en-CA" sz="2000" dirty="0"/>
              <a:t>Optimize an index: separation of groups, anomalies (outliers)</a:t>
            </a:r>
            <a:endParaRPr sz="2000" dirty="0"/>
          </a:p>
        </p:txBody>
      </p:sp>
      <p:sp>
        <p:nvSpPr>
          <p:cNvPr id="5" name="Slide Number Placeholder 5"/>
          <p:cNvSpPr>
            <a:spLocks noGrp="1"/>
          </p:cNvSpPr>
          <p:nvPr>
            <p:ph type="sldNum" sz="quarter" idx="12"/>
          </p:nvPr>
        </p:nvSpPr>
        <p:spPr/>
        <p:txBody>
          <a:bodyPr/>
          <a:lstStyle/>
          <a:p>
            <a:fld id="{9BFB2853-4965-4727-91C4-384EB30D99A4}" type="slidenum">
              <a:rPr lang="en-CA"/>
              <a:t>23</a:t>
            </a:fld>
            <a:endParaRPr lang="en-CA"/>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2F6F6"/>
            </a:gs>
            <a:gs pos="100000">
              <a:srgbClr val="8EC0C0"/>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Flatland and </a:t>
            </a:r>
            <a:r>
              <a:rPr dirty="0" err="1"/>
              <a:t>Spaceland</a:t>
            </a:r>
            <a:r>
              <a:rPr dirty="0"/>
              <a:t>: dimension reduction</a:t>
            </a:r>
          </a:p>
        </p:txBody>
      </p:sp>
      <p:sp>
        <p:nvSpPr>
          <p:cNvPr id="3" name="Text Placeholder 2"/>
          <p:cNvSpPr>
            <a:spLocks noGrp="1"/>
          </p:cNvSpPr>
          <p:nvPr>
            <p:ph type="body" idx="1"/>
          </p:nvPr>
        </p:nvSpPr>
        <p:spPr/>
        <p:txBody>
          <a:bodyPr/>
          <a:lstStyle/>
          <a:p>
            <a:r>
              <a:t>PCA, biplots, and nonlinear methods</a:t>
            </a:r>
          </a:p>
        </p:txBody>
      </p:sp>
      <p:sp>
        <p:nvSpPr>
          <p:cNvPr id="4" name="Slide Number Placeholder 4"/>
          <p:cNvSpPr>
            <a:spLocks noGrp="1"/>
          </p:cNvSpPr>
          <p:nvPr>
            <p:ph type="sldNum" sz="quarter" idx="12"/>
          </p:nvPr>
        </p:nvSpPr>
        <p:spPr/>
        <p:txBody>
          <a:bodyPr/>
          <a:lstStyle/>
          <a:p>
            <a:fld id="{9BFB2853-4965-4727-91C4-384EB30D99A4}" type="slidenum">
              <a:rPr lang="en-CA"/>
              <a:t>24</a:t>
            </a:fld>
            <a:endParaRPr lang="en-CA"/>
          </a:p>
        </p:txBody>
      </p:sp>
      <p:pic>
        <p:nvPicPr>
          <p:cNvPr id="6" name="Section 2 PCA illustration">
            <a:extLst>
              <a:ext uri="{FF2B5EF4-FFF2-40B4-BE49-F238E27FC236}">
                <a16:creationId xmlns:a16="http://schemas.microsoft.com/office/drawing/2014/main" id="{0E381DE4-FBD8-26D3-77BF-02D3A0BA129B}"/>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800100" y="177800"/>
            <a:ext cx="2413000" cy="2413000"/>
          </a:xfrm>
          <a:prstGeom prst="rect">
            <a:avLst/>
          </a:prstGeom>
          <a:ln w="9525">
            <a:solidFill>
              <a:srgbClr val="3A3A3A"/>
            </a:solidFill>
          </a:ln>
          <a:effectLst>
            <a:outerShdw blurRad="101600" dist="45790" dir="3378598" rotWithShape="0">
              <a:srgbClr val="000000">
                <a:alpha val="40000"/>
              </a:srgbClr>
            </a:outerShdw>
          </a:effectLst>
        </p:spPr>
      </p:pic>
      <p:pic>
        <p:nvPicPr>
          <p:cNvPr id="8" name="Section 2 biplot illustration">
            <a:extLst>
              <a:ext uri="{FF2B5EF4-FFF2-40B4-BE49-F238E27FC236}">
                <a16:creationId xmlns:a16="http://schemas.microsoft.com/office/drawing/2014/main" id="{A381116F-44E9-5493-529B-32E88384128D}"/>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3492500" y="177800"/>
            <a:ext cx="2794000" cy="2413000"/>
          </a:xfrm>
          <a:prstGeom prst="rect">
            <a:avLst/>
          </a:prstGeom>
          <a:ln w="9525">
            <a:solidFill>
              <a:srgbClr val="3A3A3A"/>
            </a:solidFill>
          </a:ln>
          <a:effectLst>
            <a:outerShdw blurRad="101600" dist="45790" dir="3378598" rotWithShape="0">
              <a:srgbClr val="000000">
                <a:alpha val="40000"/>
              </a:srgbClr>
            </a:outerShdw>
          </a:effectLst>
        </p:spPr>
      </p:pic>
      <p:pic>
        <p:nvPicPr>
          <p:cNvPr id="10" name="Section 2 t-SNE illustration">
            <a:extLst>
              <a:ext uri="{FF2B5EF4-FFF2-40B4-BE49-F238E27FC236}">
                <a16:creationId xmlns:a16="http://schemas.microsoft.com/office/drawing/2014/main" id="{00821F38-1AD3-163D-3E8A-5D3240EEC09E}"/>
              </a:ext>
            </a:extLst>
          </p:cNvPr>
          <p:cNvPicPr>
            <a:picLocks/>
          </p:cNvPicPr>
          <p:nvPr/>
        </p:nvPicPr>
        <p:blipFill>
          <a:blip r:embed="rId5">
            <a:extLst>
              <a:ext uri="{28A0092B-C50C-407E-A947-70E740481C1C}">
                <a14:useLocalDpi xmlns:a14="http://schemas.microsoft.com/office/drawing/2010/main" val="0"/>
              </a:ext>
            </a:extLst>
          </a:blip>
          <a:stretch>
            <a:fillRect/>
          </a:stretch>
        </p:blipFill>
        <p:spPr>
          <a:xfrm>
            <a:off x="6565900" y="177800"/>
            <a:ext cx="4826000" cy="2413000"/>
          </a:xfrm>
          <a:prstGeom prst="rect">
            <a:avLst/>
          </a:prstGeom>
          <a:ln w="9525">
            <a:solidFill>
              <a:srgbClr val="3A3A3A"/>
            </a:solidFill>
          </a:ln>
          <a:effectLst>
            <a:outerShdw blurRad="101600" dist="45790" dir="3378598" rotWithShape="0">
              <a:srgbClr val="000000">
                <a:alpha val="40000"/>
              </a:srgbClr>
            </a:outerShdw>
          </a:effectLst>
        </p:spPr>
      </p:pic>
    </p:spTree>
  </p:cSld>
  <p:clrMapOvr>
    <a:masterClrMapping/>
  </p:clrMapOvr>
  <mc:AlternateContent xmlns:mc="http://schemas.openxmlformats.org/markup-compatibility/2006" xmlns:p14="http://schemas.microsoft.com/office/powerpoint/2010/main">
    <mc:Choice Requires="p14">
      <p:transition spd="slow" p14:dur="2000">
        <p14:prism isContent="1"/>
      </p:transition>
    </mc:Choice>
    <mc:Fallback xmlns="">
      <p:transition spd="slow">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9A080066-61B6-40D6-D08D-6460A5447ABF}"/>
              </a:ext>
            </a:extLst>
          </p:cNvPr>
          <p:cNvGrpSpPr>
            <a:grpSpLocks noChangeAspect="1"/>
          </p:cNvGrpSpPr>
          <p:nvPr/>
        </p:nvGrpSpPr>
        <p:grpSpPr>
          <a:xfrm>
            <a:off x="892366" y="1457510"/>
            <a:ext cx="2124000" cy="2124000"/>
            <a:chOff x="1366471" y="1486129"/>
            <a:chExt cx="1942871" cy="1942871"/>
          </a:xfrm>
        </p:grpSpPr>
        <p:pic>
          <p:nvPicPr>
            <p:cNvPr id="8" name="Picture 7" descr="A picture containing colorful, fresh&#10;&#10;Description automatically generated">
              <a:extLst>
                <a:ext uri="{FF2B5EF4-FFF2-40B4-BE49-F238E27FC236}">
                  <a16:creationId xmlns:a16="http://schemas.microsoft.com/office/drawing/2014/main" id="{11EC24D1-F4F5-4911-9BFA-87CD5F05C835}"/>
                </a:ext>
              </a:extLst>
            </p:cNvPr>
            <p:cNvPicPr>
              <a:picLocks noChangeAspect="1"/>
            </p:cNvPicPr>
            <p:nvPr/>
          </p:nvPicPr>
          <p:blipFill>
            <a:blip r:embed="rId3"/>
            <a:stretch>
              <a:fillRect/>
            </a:stretch>
          </p:blipFill>
          <p:spPr>
            <a:xfrm>
              <a:off x="1366471" y="1486129"/>
              <a:ext cx="1942871" cy="1942871"/>
            </a:xfrm>
            <a:prstGeom prst="rect">
              <a:avLst/>
            </a:prstGeom>
          </p:spPr>
        </p:pic>
        <p:sp>
          <p:nvSpPr>
            <p:cNvPr id="3" name="TextBox 2">
              <a:extLst>
                <a:ext uri="{FF2B5EF4-FFF2-40B4-BE49-F238E27FC236}">
                  <a16:creationId xmlns:a16="http://schemas.microsoft.com/office/drawing/2014/main" id="{9BE0B87A-62D7-88CE-0346-1AD2C9227512}"/>
                </a:ext>
              </a:extLst>
            </p:cNvPr>
            <p:cNvSpPr txBox="1"/>
            <p:nvPr/>
          </p:nvSpPr>
          <p:spPr>
            <a:xfrm>
              <a:off x="1407830" y="1548729"/>
              <a:ext cx="861687" cy="478601"/>
            </a:xfrm>
            <a:prstGeom prst="rect">
              <a:avLst/>
            </a:prstGeom>
            <a:noFill/>
          </p:spPr>
          <p:txBody>
            <a:bodyPr wrap="square" rtlCol="0">
              <a:spAutoFit/>
            </a:bodyPr>
            <a:lstStyle/>
            <a:p>
              <a:r>
                <a:rPr lang="en-CA" sz="2800" dirty="0"/>
                <a:t>data</a:t>
              </a:r>
            </a:p>
          </p:txBody>
        </p:sp>
      </p:grpSp>
      <p:grpSp>
        <p:nvGrpSpPr>
          <p:cNvPr id="13" name="Group 12">
            <a:extLst>
              <a:ext uri="{FF2B5EF4-FFF2-40B4-BE49-F238E27FC236}">
                <a16:creationId xmlns:a16="http://schemas.microsoft.com/office/drawing/2014/main" id="{D4946A77-5613-960F-AECE-7C7AF2109F0F}"/>
              </a:ext>
            </a:extLst>
          </p:cNvPr>
          <p:cNvGrpSpPr>
            <a:grpSpLocks noChangeAspect="1"/>
          </p:cNvGrpSpPr>
          <p:nvPr/>
        </p:nvGrpSpPr>
        <p:grpSpPr>
          <a:xfrm>
            <a:off x="3560633" y="2177510"/>
            <a:ext cx="3744000" cy="2808000"/>
            <a:chOff x="2946889" y="2338754"/>
            <a:chExt cx="3390900" cy="2543175"/>
          </a:xfrm>
        </p:grpSpPr>
        <p:pic>
          <p:nvPicPr>
            <p:cNvPr id="2" name="Picture 1" descr="Diagram, engineering drawing&#10;&#10;Description automatically generated with medium confidence">
              <a:extLst>
                <a:ext uri="{FF2B5EF4-FFF2-40B4-BE49-F238E27FC236}">
                  <a16:creationId xmlns:a16="http://schemas.microsoft.com/office/drawing/2014/main" id="{72FD6771-D775-4B9D-9F0D-498B99014C16}"/>
                </a:ext>
              </a:extLst>
            </p:cNvPr>
            <p:cNvPicPr>
              <a:picLocks noChangeAspect="1"/>
            </p:cNvPicPr>
            <p:nvPr/>
          </p:nvPicPr>
          <p:blipFill rotWithShape="1">
            <a:blip r:embed="rId4">
              <a:extLst>
                <a:ext uri="{BEBA8EAE-BF5A-486C-A8C5-ECC9F3942E4B}">
                  <a14:imgProps xmlns:a14="http://schemas.microsoft.com/office/drawing/2010/main">
                    <a14:imgLayer r:embed="rId5">
                      <a14:imgEffect>
                        <a14:backgroundRemoval t="3742" b="98597" l="2313" r="99563">
                          <a14:foregroundMark x1="8313" y1="11880" x2="9750" y2="24041"/>
                          <a14:foregroundMark x1="9750" y1="24041" x2="33500" y2="34892"/>
                          <a14:foregroundMark x1="33500" y1="34892" x2="52500" y2="84939"/>
                          <a14:foregroundMark x1="52500" y1="84939" x2="52500" y2="84939"/>
                          <a14:foregroundMark x1="52500" y1="84659" x2="87813" y2="66511"/>
                          <a14:foregroundMark x1="87813" y1="66511" x2="90000" y2="47521"/>
                          <a14:foregroundMark x1="90000" y1="47521" x2="90000" y2="47521"/>
                          <a14:foregroundMark x1="71875" y1="22544" x2="57563" y2="22451"/>
                          <a14:foregroundMark x1="57563" y1="22451" x2="37188" y2="34238"/>
                          <a14:foregroundMark x1="37188" y1="34238" x2="39688" y2="50889"/>
                          <a14:foregroundMark x1="39688" y1="50889" x2="67313" y2="49298"/>
                          <a14:foregroundMark x1="64699" y1="37180" x2="59562" y2="13377"/>
                          <a14:foregroundMark x1="44364" y1="47152" x2="32875" y2="72685"/>
                          <a14:foregroundMark x1="59562" y1="13377" x2="48449" y2="38073"/>
                          <a14:foregroundMark x1="32875" y1="72685" x2="83250" y2="57624"/>
                          <a14:foregroundMark x1="83250" y1="57624" x2="66066" y2="44375"/>
                          <a14:foregroundMark x1="21250" y1="21328" x2="14125" y2="26754"/>
                          <a14:foregroundMark x1="14125" y1="26754" x2="9625" y2="33489"/>
                          <a14:foregroundMark x1="9625" y1="33489" x2="43425" y2="44695"/>
                          <a14:foregroundMark x1="64569" y1="37137" x2="67813" y2="35360"/>
                          <a14:foregroundMark x1="67813" y1="35360" x2="69625" y2="12254"/>
                          <a14:foregroundMark x1="48283" y1="47579" x2="36563" y2="66978"/>
                          <a14:foregroundMark x1="69625" y1="12254" x2="55024" y2="36421"/>
                          <a14:foregroundMark x1="36563" y1="66978" x2="50000" y2="69317"/>
                          <a14:foregroundMark x1="50000" y1="69317" x2="62500" y2="48176"/>
                          <a14:foregroundMark x1="62500" y1="48176" x2="62625" y2="67166"/>
                          <a14:foregroundMark x1="62625" y1="67166" x2="72750" y2="69691"/>
                          <a14:foregroundMark x1="72750" y1="69691" x2="74875" y2="76894"/>
                          <a14:foregroundMark x1="74875" y1="76894" x2="75063" y2="85968"/>
                          <a14:foregroundMark x1="95813" y1="72404" x2="89500" y2="89804"/>
                          <a14:foregroundMark x1="89500" y1="89804" x2="94375" y2="84378"/>
                          <a14:foregroundMark x1="94375" y1="84378" x2="89188" y2="96632"/>
                          <a14:foregroundMark x1="89188" y1="96632" x2="95500" y2="90833"/>
                          <a14:foregroundMark x1="95500" y1="90833" x2="84875" y2="88400"/>
                          <a14:foregroundMark x1="84875" y1="88400" x2="84375" y2="80355"/>
                          <a14:foregroundMark x1="84375" y1="80355" x2="76250" y2="82226"/>
                          <a14:foregroundMark x1="76250" y1="82226" x2="80688" y2="63704"/>
                          <a14:foregroundMark x1="80688" y1="63704" x2="70625" y2="72030"/>
                          <a14:foregroundMark x1="70625" y1="72030" x2="66688" y2="59027"/>
                          <a14:foregroundMark x1="66688" y1="59027" x2="59688" y2="58653"/>
                          <a14:foregroundMark x1="59688" y1="58653" x2="52250" y2="70065"/>
                          <a14:foregroundMark x1="52250" y1="70065" x2="70000" y2="41534"/>
                          <a14:foregroundMark x1="57241" y1="46759" x2="44875" y2="51824"/>
                          <a14:foregroundMark x1="70000" y1="41534" x2="66313" y2="43043"/>
                          <a14:foregroundMark x1="44875" y1="51824" x2="34313" y2="47053"/>
                          <a14:foregroundMark x1="34313" y1="47053" x2="30500" y2="34799"/>
                          <a14:foregroundMark x1="30500" y1="34799" x2="27000" y2="29935"/>
                          <a14:foregroundMark x1="27000" y1="29935" x2="21750" y2="34331"/>
                          <a14:foregroundMark x1="21750" y1="34331" x2="18500" y2="17493"/>
                          <a14:foregroundMark x1="16313" y1="40879" x2="18500" y2="40879"/>
                          <a14:foregroundMark x1="20563" y1="42937" x2="29250" y2="55659"/>
                          <a14:foregroundMark x1="33313" y1="26660" x2="36688" y2="20767"/>
                          <a14:foregroundMark x1="36688" y1="20767" x2="31000" y2="26567"/>
                          <a14:foregroundMark x1="31000" y1="26567" x2="36063" y2="23480"/>
                          <a14:foregroundMark x1="36063" y1="23480" x2="37375" y2="27689"/>
                          <a14:foregroundMark x1="71688" y1="87933" x2="71688" y2="89242"/>
                          <a14:foregroundMark x1="43125" y1="87746" x2="41813" y2="92049"/>
                          <a14:foregroundMark x1="84438" y1="12442" x2="83750" y2="22077"/>
                          <a14:foregroundMark x1="83750" y1="22077" x2="85250" y2="30028"/>
                          <a14:foregroundMark x1="85250" y1="30028" x2="88375" y2="17961"/>
                          <a14:foregroundMark x1="88375" y1="17961" x2="87625" y2="26286"/>
                          <a14:foregroundMark x1="87625" y1="26286" x2="91563" y2="30496"/>
                          <a14:foregroundMark x1="9000" y1="60524" x2="8875" y2="86342"/>
                          <a14:foregroundMark x1="8875" y1="86342" x2="14750" y2="81197"/>
                          <a14:foregroundMark x1="14750" y1="81197" x2="22688" y2="78017"/>
                          <a14:foregroundMark x1="22688" y1="78017" x2="27187" y2="95136"/>
                          <a14:foregroundMark x1="27187" y1="95136" x2="31625" y2="98690"/>
                          <a14:foregroundMark x1="31625" y1="98690" x2="31625" y2="98690"/>
                          <a14:foregroundMark x1="5813" y1="87746" x2="1688" y2="94761"/>
                          <a14:foregroundMark x1="1688" y1="94761" x2="3938" y2="78391"/>
                          <a14:foregroundMark x1="3938" y1="78391" x2="2438" y2="51169"/>
                          <a14:foregroundMark x1="2438" y1="51169" x2="4188" y2="39196"/>
                          <a14:foregroundMark x1="4188" y1="39196" x2="375" y2="44715"/>
                          <a14:foregroundMark x1="375" y1="44715" x2="2313" y2="8419"/>
                          <a14:foregroundMark x1="2313" y1="8419" x2="13250" y2="16183"/>
                          <a14:foregroundMark x1="13250" y1="16183" x2="14438" y2="13938"/>
                          <a14:foregroundMark x1="97500" y1="95323" x2="98625" y2="83349"/>
                          <a14:foregroundMark x1="98625" y1="83349" x2="94750" y2="87278"/>
                          <a14:foregroundMark x1="94750" y1="87278" x2="98625" y2="10384"/>
                          <a14:foregroundMark x1="98625" y1="10384" x2="96250" y2="29280"/>
                          <a14:foregroundMark x1="96250" y1="29280" x2="96250" y2="21048"/>
                          <a14:foregroundMark x1="96250" y1="21048" x2="94750" y2="29747"/>
                          <a14:foregroundMark x1="94750" y1="29747" x2="90188" y2="34705"/>
                          <a14:foregroundMark x1="90188" y1="34705" x2="90250" y2="22825"/>
                          <a14:foregroundMark x1="90250" y1="22825" x2="85875" y2="26193"/>
                          <a14:foregroundMark x1="85875" y1="26193" x2="80938" y2="12909"/>
                          <a14:foregroundMark x1="80938" y1="12909" x2="76125" y2="17493"/>
                          <a14:foregroundMark x1="76125" y1="17493" x2="71063" y2="14406"/>
                          <a14:foregroundMark x1="71063" y1="14406" x2="60375" y2="15248"/>
                          <a14:foregroundMark x1="60375" y1="15248" x2="58938" y2="13190"/>
                          <a14:foregroundMark x1="97500" y1="61272" x2="98875" y2="98129"/>
                          <a14:foregroundMark x1="98875" y1="98129" x2="96375" y2="40692"/>
                          <a14:foregroundMark x1="96375" y1="40692" x2="99375" y2="65949"/>
                          <a14:foregroundMark x1="99375" y1="65949" x2="96938" y2="17399"/>
                          <a14:foregroundMark x1="96938" y1="17399" x2="99125" y2="38634"/>
                          <a14:foregroundMark x1="99125" y1="38634" x2="96938" y2="14125"/>
                          <a14:foregroundMark x1="96938" y1="14125" x2="97688" y2="6455"/>
                          <a14:foregroundMark x1="97688" y1="6455" x2="89250" y2="11880"/>
                          <a14:foregroundMark x1="89250" y1="11880" x2="86563" y2="5145"/>
                          <a14:foregroundMark x1="86563" y1="5145" x2="83250" y2="3742"/>
                          <a14:foregroundMark x1="98313" y1="69411" x2="98313" y2="91768"/>
                          <a14:foregroundMark x1="98313" y1="91768" x2="98250" y2="77923"/>
                          <a14:foregroundMark x1="98250" y1="77923" x2="99813" y2="84846"/>
                          <a14:foregroundMark x1="99813" y1="84846" x2="99563" y2="72498"/>
                          <a14:foregroundMark x1="99563" y1="72498" x2="98188" y2="69130"/>
                          <a14:foregroundMark x1="43313" y1="45557" x2="43500" y2="44341"/>
                          <a14:foregroundMark x1="43375" y1="44808" x2="43438" y2="44715"/>
                          <a14:foregroundMark x1="43313" y1="45370" x2="43563" y2="45744"/>
                          <a14:foregroundMark x1="43563" y1="46024" x2="43813" y2="46866"/>
                          <a14:backgroundMark x1="50813" y1="42470" x2="56688" y2="43312"/>
                          <a14:backgroundMark x1="56688" y1="43312" x2="50313" y2="42657"/>
                          <a14:backgroundMark x1="51125" y1="41908" x2="53000" y2="45276"/>
                          <a14:backgroundMark x1="52000" y1="42189" x2="57563" y2="43031"/>
                          <a14:backgroundMark x1="57563" y1="43031" x2="56875" y2="43966"/>
                          <a14:backgroundMark x1="57938" y1="43686" x2="59813" y2="43686"/>
                          <a14:backgroundMark x1="57938" y1="43218" x2="59813" y2="44434"/>
                          <a14:backgroundMark x1="56250" y1="41628" x2="57063" y2="39850"/>
                          <a14:backgroundMark x1="51625" y1="41628" x2="53312" y2="45276"/>
                          <a14:backgroundMark x1="52125" y1="40692" x2="50813" y2="41628"/>
                          <a14:backgroundMark x1="54875" y1="40131" x2="60875" y2="42657"/>
                          <a14:backgroundMark x1="60875" y1="42657" x2="61313" y2="43218"/>
                          <a14:backgroundMark x1="60500" y1="42657" x2="53938" y2="39850"/>
                          <a14:backgroundMark x1="53938" y1="39850" x2="48125" y2="41534"/>
                          <a14:backgroundMark x1="48125" y1="41534" x2="53312" y2="44715"/>
                          <a14:backgroundMark x1="53312" y1="44715" x2="53312" y2="44715"/>
                          <a14:backgroundMark x1="45375" y1="42657" x2="50063" y2="43312"/>
                          <a14:backgroundMark x1="50063" y1="43312" x2="48750" y2="44995"/>
                          <a14:backgroundMark x1="44875" y1="43966" x2="49063" y2="38634"/>
                          <a14:backgroundMark x1="49063" y1="38634" x2="49438" y2="38634"/>
                          <a14:backgroundMark x1="58250" y1="42189" x2="62750" y2="40225"/>
                          <a14:backgroundMark x1="62750" y1="40225" x2="63500" y2="44434"/>
                          <a14:backgroundMark x1="63188" y1="41908" x2="64875" y2="44715"/>
                          <a14:backgroundMark x1="58625" y1="45276" x2="57438" y2="45463"/>
                          <a14:backgroundMark x1="58750" y1="40131" x2="61000" y2="39850"/>
                          <a14:backgroundMark x1="59813" y1="45744" x2="61813" y2="44247"/>
                          <a14:backgroundMark x1="61313" y1="45744" x2="62000" y2="44434"/>
                          <a14:backgroundMark x1="58938" y1="46024" x2="58938" y2="45463"/>
                          <a14:backgroundMark x1="47750" y1="46211" x2="45188" y2="45744"/>
                          <a14:backgroundMark x1="46875" y1="45744" x2="47250" y2="43686"/>
                          <a14:backgroundMark x1="44660" y1="45804" x2="48250" y2="46024"/>
                          <a14:backgroundMark x1="49625" y1="45744" x2="47875" y2="46024"/>
                          <a14:backgroundMark x1="44688" y1="44247" x2="45375" y2="44434"/>
                          <a14:backgroundMark x1="63500" y1="39383" x2="65875" y2="40131"/>
                          <a14:backgroundMark x1="62687" y1="45276" x2="57438" y2="46024"/>
                          <a14:backgroundMark x1="46875" y1="38634" x2="47375" y2="38634"/>
                          <a14:backgroundMark x1="47750" y1="38073" x2="47750" y2="38354"/>
                          <a14:backgroundMark x1="47875" y1="38354" x2="48750" y2="37886"/>
                          <a14:backgroundMark x1="47875" y1="38915" x2="48438" y2="38354"/>
                          <a14:backgroundMark x1="53000" y1="39850" x2="58375" y2="40412"/>
                          <a14:backgroundMark x1="58375" y1="40412" x2="63500" y2="38915"/>
                          <a14:backgroundMark x1="63500" y1="38915" x2="56063" y2="38915"/>
                          <a14:backgroundMark x1="56063" y1="38915" x2="63313" y2="38354"/>
                          <a14:backgroundMark x1="63313" y1="38354" x2="53312" y2="37605"/>
                          <a14:backgroundMark x1="52500" y1="38634" x2="53688" y2="39102"/>
                          <a14:backgroundMark x1="47563" y1="38634" x2="48063" y2="38354"/>
                          <a14:backgroundMark x1="48063" y1="38354" x2="48563" y2="38073"/>
                          <a14:backgroundMark x1="64563" y1="41160" x2="65750" y2="40692"/>
                          <a14:backgroundMark x1="65563" y1="40692" x2="65375" y2="41441"/>
                          <a14:backgroundMark x1="65750" y1="45463" x2="65875" y2="43218"/>
                          <a14:backgroundMark x1="65563" y1="45744" x2="65563" y2="42189"/>
                          <a14:backgroundMark x1="65375" y1="45463" x2="65375" y2="42470"/>
                          <a14:backgroundMark x1="64875" y1="45276" x2="64875" y2="42189"/>
                          <a14:backgroundMark x1="64875" y1="44715" x2="64688" y2="42189"/>
                          <a14:backgroundMark x1="64375" y1="42189" x2="64375" y2="42189"/>
                          <a14:backgroundMark x1="64563" y1="43218" x2="65375" y2="44995"/>
                          <a14:backgroundMark x1="65063" y1="41441" x2="65250" y2="42470"/>
                          <a14:backgroundMark x1="65250" y1="42470" x2="65250" y2="44247"/>
                          <a14:backgroundMark x1="57375" y1="46399" x2="58438" y2="46024"/>
                          <a14:backgroundMark x1="65938" y1="43779" x2="66000" y2="44247"/>
                          <a14:backgroundMark x1="66000" y1="44621" x2="65938" y2="43779"/>
                          <a14:backgroundMark x1="66063" y1="44995" x2="66063" y2="44153"/>
                          <a14:backgroundMark x1="63188" y1="38167" x2="64875" y2="38728"/>
                          <a14:backgroundMark x1="48438" y1="38073" x2="48500" y2="37979"/>
                          <a14:backgroundMark x1="48375" y1="37979" x2="48188" y2="37792"/>
                          <a14:backgroundMark x1="48500" y1="37886" x2="48625" y2="37979"/>
                          <a14:backgroundMark x1="48500" y1="37792" x2="48188" y2="37792"/>
                          <a14:backgroundMark x1="48313" y1="37605" x2="49063" y2="37886"/>
                        </a14:backgroundRemoval>
                      </a14:imgEffect>
                    </a14:imgLayer>
                  </a14:imgProps>
                </a:ext>
              </a:extLst>
            </a:blip>
            <a:srcRect l="11000"/>
            <a:stretch/>
          </p:blipFill>
          <p:spPr>
            <a:xfrm>
              <a:off x="2946889" y="2338754"/>
              <a:ext cx="3390900" cy="2543175"/>
            </a:xfrm>
            <a:prstGeom prst="rect">
              <a:avLst/>
            </a:prstGeom>
          </p:spPr>
        </p:pic>
        <p:pic>
          <p:nvPicPr>
            <p:cNvPr id="9" name="Picture 8" descr="Diagram&#10;&#10;Description automatically generated">
              <a:extLst>
                <a:ext uri="{FF2B5EF4-FFF2-40B4-BE49-F238E27FC236}">
                  <a16:creationId xmlns:a16="http://schemas.microsoft.com/office/drawing/2014/main" id="{E4814DF3-06D3-4C35-9F20-1E6EBDD378E5}"/>
                </a:ext>
              </a:extLst>
            </p:cNvPr>
            <p:cNvPicPr>
              <a:picLocks noChangeAspect="1"/>
            </p:cNvPicPr>
            <p:nvPr/>
          </p:nvPicPr>
          <p:blipFill>
            <a:blip r:embed="rId6"/>
            <a:stretch>
              <a:fillRect/>
            </a:stretch>
          </p:blipFill>
          <p:spPr>
            <a:xfrm>
              <a:off x="4117480" y="3543300"/>
              <a:ext cx="1049718" cy="359601"/>
            </a:xfrm>
            <a:prstGeom prst="rect">
              <a:avLst/>
            </a:prstGeom>
          </p:spPr>
        </p:pic>
      </p:grpSp>
      <p:sp>
        <p:nvSpPr>
          <p:cNvPr id="10" name="TextBox 9">
            <a:extLst>
              <a:ext uri="{FF2B5EF4-FFF2-40B4-BE49-F238E27FC236}">
                <a16:creationId xmlns:a16="http://schemas.microsoft.com/office/drawing/2014/main" id="{2DB497BF-02CE-45A4-90D0-3FBF562109AE}"/>
              </a:ext>
            </a:extLst>
          </p:cNvPr>
          <p:cNvSpPr txBox="1"/>
          <p:nvPr/>
        </p:nvSpPr>
        <p:spPr>
          <a:xfrm>
            <a:off x="892366" y="353979"/>
            <a:ext cx="10540683" cy="830997"/>
          </a:xfrm>
          <a:prstGeom prst="rect">
            <a:avLst/>
          </a:prstGeom>
          <a:solidFill>
            <a:srgbClr val="008080">
              <a:alpha val="22000"/>
            </a:srgbClr>
          </a:solidFill>
          <a:ln w="19050">
            <a:solidFill>
              <a:srgbClr val="008080"/>
            </a:solidFill>
          </a:ln>
        </p:spPr>
        <p:txBody>
          <a:bodyPr wrap="square" rtlCol="0">
            <a:spAutoFit/>
          </a:bodyPr>
          <a:lstStyle/>
          <a:p>
            <a:r>
              <a:rPr lang="en-US" sz="4800" dirty="0">
                <a:solidFill>
                  <a:srgbClr val="000000"/>
                </a:solidFill>
              </a:rPr>
              <a:t>Multivariate Juicers</a:t>
            </a:r>
          </a:p>
        </p:txBody>
      </p:sp>
      <p:sp>
        <p:nvSpPr>
          <p:cNvPr id="11" name="TextBox 10">
            <a:extLst>
              <a:ext uri="{FF2B5EF4-FFF2-40B4-BE49-F238E27FC236}">
                <a16:creationId xmlns:a16="http://schemas.microsoft.com/office/drawing/2014/main" id="{1E6CEBBC-13DA-44D1-85B3-86960864DB49}"/>
              </a:ext>
            </a:extLst>
          </p:cNvPr>
          <p:cNvSpPr txBox="1"/>
          <p:nvPr/>
        </p:nvSpPr>
        <p:spPr>
          <a:xfrm>
            <a:off x="6858000" y="1398652"/>
            <a:ext cx="4648200" cy="954107"/>
          </a:xfrm>
          <a:prstGeom prst="rect">
            <a:avLst/>
          </a:prstGeom>
          <a:noFill/>
        </p:spPr>
        <p:txBody>
          <a:bodyPr wrap="square" rtlCol="0">
            <a:spAutoFit/>
          </a:bodyPr>
          <a:lstStyle/>
          <a:p>
            <a:r>
              <a:rPr lang="en-US" sz="2800" dirty="0"/>
              <a:t>Squeeze the most flavor from your data in low-D space</a:t>
            </a:r>
          </a:p>
        </p:txBody>
      </p:sp>
      <p:sp>
        <p:nvSpPr>
          <p:cNvPr id="12" name="TextBox 11">
            <a:extLst>
              <a:ext uri="{FF2B5EF4-FFF2-40B4-BE49-F238E27FC236}">
                <a16:creationId xmlns:a16="http://schemas.microsoft.com/office/drawing/2014/main" id="{021F364F-8409-4682-B75D-C19ED2684FDE}"/>
              </a:ext>
            </a:extLst>
          </p:cNvPr>
          <p:cNvSpPr txBox="1"/>
          <p:nvPr/>
        </p:nvSpPr>
        <p:spPr>
          <a:xfrm>
            <a:off x="1288897" y="4894817"/>
            <a:ext cx="5236465" cy="954107"/>
          </a:xfrm>
          <a:prstGeom prst="rect">
            <a:avLst/>
          </a:prstGeom>
          <a:noFill/>
        </p:spPr>
        <p:txBody>
          <a:bodyPr wrap="square" rtlCol="0">
            <a:spAutoFit/>
          </a:bodyPr>
          <a:lstStyle/>
          <a:p>
            <a:pPr marL="342900" indent="-342900">
              <a:buClr>
                <a:srgbClr val="FF0000"/>
              </a:buClr>
              <a:buSzPct val="110000"/>
              <a:buFont typeface="Wingdings" panose="05000000000000000000" pitchFamily="2" charset="2"/>
              <a:buChar char="v"/>
            </a:pPr>
            <a:r>
              <a:rPr lang="en-US" sz="2800" dirty="0"/>
              <a:t>Biplot: The data juicer</a:t>
            </a:r>
          </a:p>
          <a:p>
            <a:pPr marL="342900" indent="-342900">
              <a:buClr>
                <a:srgbClr val="FF0000"/>
              </a:buClr>
              <a:buSzPct val="110000"/>
              <a:buFont typeface="Wingdings" panose="05000000000000000000" pitchFamily="2" charset="2"/>
              <a:buChar char="v"/>
            </a:pPr>
            <a:r>
              <a:rPr lang="en-US" sz="2800" dirty="0"/>
              <a:t>CDA plots: The MANOVA juicer</a:t>
            </a:r>
          </a:p>
        </p:txBody>
      </p:sp>
      <p:grpSp>
        <p:nvGrpSpPr>
          <p:cNvPr id="7" name="Group 6">
            <a:extLst>
              <a:ext uri="{FF2B5EF4-FFF2-40B4-BE49-F238E27FC236}">
                <a16:creationId xmlns:a16="http://schemas.microsoft.com/office/drawing/2014/main" id="{78A900CB-AAED-D1C7-286D-675A1FA53DC9}"/>
              </a:ext>
            </a:extLst>
          </p:cNvPr>
          <p:cNvGrpSpPr>
            <a:grpSpLocks noChangeAspect="1"/>
          </p:cNvGrpSpPr>
          <p:nvPr/>
        </p:nvGrpSpPr>
        <p:grpSpPr>
          <a:xfrm>
            <a:off x="8477600" y="3955334"/>
            <a:ext cx="1880359" cy="1872000"/>
            <a:chOff x="6247759" y="3543300"/>
            <a:chExt cx="1607344" cy="1600200"/>
          </a:xfrm>
        </p:grpSpPr>
        <p:pic>
          <p:nvPicPr>
            <p:cNvPr id="4" name="Picture 3" descr="A picture containing text&#10;&#10;Description automatically generated">
              <a:extLst>
                <a:ext uri="{FF2B5EF4-FFF2-40B4-BE49-F238E27FC236}">
                  <a16:creationId xmlns:a16="http://schemas.microsoft.com/office/drawing/2014/main" id="{F91B85D0-E564-489F-B755-5DBEB0E53B71}"/>
                </a:ext>
              </a:extLst>
            </p:cNvPr>
            <p:cNvPicPr>
              <a:picLocks noChangeAspect="1"/>
            </p:cNvPicPr>
            <p:nvPr/>
          </p:nvPicPr>
          <p:blipFill>
            <a:blip r:embed="rId7"/>
            <a:stretch>
              <a:fillRect/>
            </a:stretch>
          </p:blipFill>
          <p:spPr>
            <a:xfrm>
              <a:off x="6247759" y="3543300"/>
              <a:ext cx="1607344" cy="1600200"/>
            </a:xfrm>
            <a:prstGeom prst="rect">
              <a:avLst/>
            </a:prstGeom>
          </p:spPr>
        </p:pic>
        <p:sp>
          <p:nvSpPr>
            <p:cNvPr id="5" name="TextBox 4">
              <a:extLst>
                <a:ext uri="{FF2B5EF4-FFF2-40B4-BE49-F238E27FC236}">
                  <a16:creationId xmlns:a16="http://schemas.microsoft.com/office/drawing/2014/main" id="{AFB16C60-4D7D-1973-96CA-0075D4FE1350}"/>
                </a:ext>
              </a:extLst>
            </p:cNvPr>
            <p:cNvSpPr txBox="1"/>
            <p:nvPr/>
          </p:nvSpPr>
          <p:spPr>
            <a:xfrm>
              <a:off x="6657501" y="4468361"/>
              <a:ext cx="1143000" cy="394635"/>
            </a:xfrm>
            <a:prstGeom prst="rect">
              <a:avLst/>
            </a:prstGeom>
            <a:noFill/>
          </p:spPr>
          <p:txBody>
            <a:bodyPr wrap="square" rtlCol="0">
              <a:spAutoFit/>
            </a:bodyPr>
            <a:lstStyle/>
            <a:p>
              <a:r>
                <a:rPr lang="en-CA" sz="2400" dirty="0">
                  <a:solidFill>
                    <a:schemeClr val="bg1"/>
                  </a:solidFill>
                </a:rPr>
                <a:t>insight</a:t>
              </a:r>
            </a:p>
          </p:txBody>
        </p:sp>
      </p:grpSp>
      <p:sp>
        <p:nvSpPr>
          <p:cNvPr id="14" name="Slide Number Placeholder 14"/>
          <p:cNvSpPr>
            <a:spLocks noGrp="1"/>
          </p:cNvSpPr>
          <p:nvPr>
            <p:ph type="sldNum" sz="quarter" idx="12"/>
          </p:nvPr>
        </p:nvSpPr>
        <p:spPr/>
        <p:txBody>
          <a:bodyPr/>
          <a:lstStyle/>
          <a:p>
            <a:fld id="{9BFB2853-4965-4727-91C4-384EB30D99A4}" type="slidenum">
              <a:rPr lang="en-CA"/>
              <a:t>25</a:t>
            </a:fld>
            <a:endParaRPr lang="en-CA"/>
          </a:p>
        </p:txBody>
      </p:sp>
    </p:spTree>
    <p:extLst>
      <p:ext uri="{BB962C8B-B14F-4D97-AF65-F5344CB8AC3E}">
        <p14:creationId xmlns:p14="http://schemas.microsoft.com/office/powerpoint/2010/main" val="17721700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1" presetClass="entr" presetSubtype="0" fill="hold" nodeType="withEffect">
                                  <p:stCondLst>
                                    <p:cond delay="1500"/>
                                  </p:stCondLst>
                                  <p:childTnLst>
                                    <p:set>
                                      <p:cBhvr>
                                        <p:cTn id="6" dur="1" fill="hold">
                                          <p:stCondLst>
                                            <p:cond delay="0"/>
                                          </p:stCondLst>
                                        </p:cTn>
                                        <p:tgtEl>
                                          <p:spTgt spid="6"/>
                                        </p:tgtEl>
                                        <p:attrNameLst>
                                          <p:attrName>style.visibility</p:attrName>
                                        </p:attrNameLst>
                                      </p:cBhvr>
                                      <p:to>
                                        <p:strVal val="visible"/>
                                      </p:to>
                                    </p:set>
                                    <p:anim calcmode="lin" valueType="num">
                                      <p:cBhvr>
                                        <p:cTn id="7" dur="1000" fill="hold"/>
                                        <p:tgtEl>
                                          <p:spTgt spid="6"/>
                                        </p:tgtEl>
                                        <p:attrNameLst>
                                          <p:attrName>ppt_w</p:attrName>
                                        </p:attrNameLst>
                                      </p:cBhvr>
                                      <p:tavLst>
                                        <p:tav tm="0">
                                          <p:val>
                                            <p:fltVal val="0"/>
                                          </p:val>
                                        </p:tav>
                                        <p:tav tm="100000">
                                          <p:val>
                                            <p:strVal val="#ppt_w"/>
                                          </p:val>
                                        </p:tav>
                                      </p:tavLst>
                                    </p:anim>
                                    <p:anim calcmode="lin" valueType="num">
                                      <p:cBhvr>
                                        <p:cTn id="8" dur="1000" fill="hold"/>
                                        <p:tgtEl>
                                          <p:spTgt spid="6"/>
                                        </p:tgtEl>
                                        <p:attrNameLst>
                                          <p:attrName>ppt_h</p:attrName>
                                        </p:attrNameLst>
                                      </p:cBhvr>
                                      <p:tavLst>
                                        <p:tav tm="0">
                                          <p:val>
                                            <p:fltVal val="0"/>
                                          </p:val>
                                        </p:tav>
                                        <p:tav tm="100000">
                                          <p:val>
                                            <p:strVal val="#ppt_h"/>
                                          </p:val>
                                        </p:tav>
                                      </p:tavLst>
                                    </p:anim>
                                    <p:anim calcmode="lin" valueType="num">
                                      <p:cBhvr>
                                        <p:cTn id="9" dur="1000" fill="hold"/>
                                        <p:tgtEl>
                                          <p:spTgt spid="6"/>
                                        </p:tgtEl>
                                        <p:attrNameLst>
                                          <p:attrName>style.rotation</p:attrName>
                                        </p:attrNameLst>
                                      </p:cBhvr>
                                      <p:tavLst>
                                        <p:tav tm="0">
                                          <p:val>
                                            <p:fltVal val="90"/>
                                          </p:val>
                                        </p:tav>
                                        <p:tav tm="100000">
                                          <p:val>
                                            <p:fltVal val="0"/>
                                          </p:val>
                                        </p:tav>
                                      </p:tavLst>
                                    </p:anim>
                                    <p:animEffect transition="in" filter="fade">
                                      <p:cBhvr>
                                        <p:cTn id="10" dur="1000"/>
                                        <p:tgtEl>
                                          <p:spTgt spid="6"/>
                                        </p:tgtEl>
                                      </p:cBhvr>
                                    </p:animEffect>
                                  </p:childTnLst>
                                </p:cTn>
                              </p:par>
                            </p:childTnLst>
                          </p:cTn>
                        </p:par>
                      </p:childTnLst>
                    </p:cTn>
                  </p:par>
                  <p:par>
                    <p:cTn id="11" fill="hold">
                      <p:stCondLst>
                        <p:cond delay="indefinite"/>
                      </p:stCondLst>
                      <p:childTnLst>
                        <p:par>
                          <p:cTn id="12" fill="hold">
                            <p:stCondLst>
                              <p:cond delay="0"/>
                            </p:stCondLst>
                            <p:childTnLst>
                              <p:par>
                                <p:cTn id="13" presetID="31"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anim calcmode="lin" valueType="num">
                                      <p:cBhvr>
                                        <p:cTn id="15" dur="1000" fill="hold"/>
                                        <p:tgtEl>
                                          <p:spTgt spid="7"/>
                                        </p:tgtEl>
                                        <p:attrNameLst>
                                          <p:attrName>ppt_w</p:attrName>
                                        </p:attrNameLst>
                                      </p:cBhvr>
                                      <p:tavLst>
                                        <p:tav tm="0">
                                          <p:val>
                                            <p:fltVal val="0"/>
                                          </p:val>
                                        </p:tav>
                                        <p:tav tm="100000">
                                          <p:val>
                                            <p:strVal val="#ppt_w"/>
                                          </p:val>
                                        </p:tav>
                                      </p:tavLst>
                                    </p:anim>
                                    <p:anim calcmode="lin" valueType="num">
                                      <p:cBhvr>
                                        <p:cTn id="16" dur="1000" fill="hold"/>
                                        <p:tgtEl>
                                          <p:spTgt spid="7"/>
                                        </p:tgtEl>
                                        <p:attrNameLst>
                                          <p:attrName>ppt_h</p:attrName>
                                        </p:attrNameLst>
                                      </p:cBhvr>
                                      <p:tavLst>
                                        <p:tav tm="0">
                                          <p:val>
                                            <p:fltVal val="0"/>
                                          </p:val>
                                        </p:tav>
                                        <p:tav tm="100000">
                                          <p:val>
                                            <p:strVal val="#ppt_h"/>
                                          </p:val>
                                        </p:tav>
                                      </p:tavLst>
                                    </p:anim>
                                    <p:anim calcmode="lin" valueType="num">
                                      <p:cBhvr>
                                        <p:cTn id="17" dur="1000" fill="hold"/>
                                        <p:tgtEl>
                                          <p:spTgt spid="7"/>
                                        </p:tgtEl>
                                        <p:attrNameLst>
                                          <p:attrName>style.rotation</p:attrName>
                                        </p:attrNameLst>
                                      </p:cBhvr>
                                      <p:tavLst>
                                        <p:tav tm="0">
                                          <p:val>
                                            <p:fltVal val="90"/>
                                          </p:val>
                                        </p:tav>
                                        <p:tav tm="100000">
                                          <p:val>
                                            <p:fltVal val="0"/>
                                          </p:val>
                                        </p:tav>
                                      </p:tavLst>
                                    </p:anim>
                                    <p:animEffect transition="in" filter="fade">
                                      <p:cBhvr>
                                        <p:cTn id="18" dur="1000"/>
                                        <p:tgtEl>
                                          <p:spTgt spid="7"/>
                                        </p:tgtEl>
                                      </p:cBhvr>
                                    </p:animEffec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
                                            <p:txEl>
                                              <p:pRg st="0" end="0"/>
                                            </p:txEl>
                                          </p:spTgt>
                                        </p:tgtEl>
                                        <p:attrNameLst>
                                          <p:attrName>style.visibility</p:attrName>
                                        </p:attrNameLst>
                                      </p:cBhvr>
                                      <p:to>
                                        <p:strVal val="visible"/>
                                      </p:to>
                                    </p:set>
                                  </p:childTnLst>
                                </p:cTn>
                              </p:par>
                              <p:par>
                                <p:cTn id="23" presetID="31" presetClass="entr" presetSubtype="0" fill="hold" nodeType="withEffect">
                                  <p:stCondLst>
                                    <p:cond delay="0"/>
                                  </p:stCondLst>
                                  <p:childTnLst>
                                    <p:set>
                                      <p:cBhvr>
                                        <p:cTn id="24" dur="1" fill="hold">
                                          <p:stCondLst>
                                            <p:cond delay="0"/>
                                          </p:stCondLst>
                                        </p:cTn>
                                        <p:tgtEl>
                                          <p:spTgt spid="13"/>
                                        </p:tgtEl>
                                        <p:attrNameLst>
                                          <p:attrName>style.visibility</p:attrName>
                                        </p:attrNameLst>
                                      </p:cBhvr>
                                      <p:to>
                                        <p:strVal val="visible"/>
                                      </p:to>
                                    </p:set>
                                    <p:anim calcmode="lin" valueType="num">
                                      <p:cBhvr>
                                        <p:cTn id="25" dur="1000" fill="hold"/>
                                        <p:tgtEl>
                                          <p:spTgt spid="13"/>
                                        </p:tgtEl>
                                        <p:attrNameLst>
                                          <p:attrName>ppt_w</p:attrName>
                                        </p:attrNameLst>
                                      </p:cBhvr>
                                      <p:tavLst>
                                        <p:tav tm="0">
                                          <p:val>
                                            <p:fltVal val="0"/>
                                          </p:val>
                                        </p:tav>
                                        <p:tav tm="100000">
                                          <p:val>
                                            <p:strVal val="#ppt_w"/>
                                          </p:val>
                                        </p:tav>
                                      </p:tavLst>
                                    </p:anim>
                                    <p:anim calcmode="lin" valueType="num">
                                      <p:cBhvr>
                                        <p:cTn id="26" dur="1000" fill="hold"/>
                                        <p:tgtEl>
                                          <p:spTgt spid="13"/>
                                        </p:tgtEl>
                                        <p:attrNameLst>
                                          <p:attrName>ppt_h</p:attrName>
                                        </p:attrNameLst>
                                      </p:cBhvr>
                                      <p:tavLst>
                                        <p:tav tm="0">
                                          <p:val>
                                            <p:fltVal val="0"/>
                                          </p:val>
                                        </p:tav>
                                        <p:tav tm="100000">
                                          <p:val>
                                            <p:strVal val="#ppt_h"/>
                                          </p:val>
                                        </p:tav>
                                      </p:tavLst>
                                    </p:anim>
                                    <p:anim calcmode="lin" valueType="num">
                                      <p:cBhvr>
                                        <p:cTn id="27" dur="1000" fill="hold"/>
                                        <p:tgtEl>
                                          <p:spTgt spid="13"/>
                                        </p:tgtEl>
                                        <p:attrNameLst>
                                          <p:attrName>style.rotation</p:attrName>
                                        </p:attrNameLst>
                                      </p:cBhvr>
                                      <p:tavLst>
                                        <p:tav tm="0">
                                          <p:val>
                                            <p:fltVal val="90"/>
                                          </p:val>
                                        </p:tav>
                                        <p:tav tm="100000">
                                          <p:val>
                                            <p:fltVal val="0"/>
                                          </p:val>
                                        </p:tav>
                                      </p:tavLst>
                                    </p:anim>
                                    <p:animEffect transition="in" filter="fade">
                                      <p:cBhvr>
                                        <p:cTn id="28" dur="1000"/>
                                        <p:tgtEl>
                                          <p:spTgt spid="13"/>
                                        </p:tgtEl>
                                      </p:cBhvr>
                                    </p:animEffect>
                                  </p:childTnLst>
                                </p:cTn>
                              </p:par>
                              <p:par>
                                <p:cTn id="29" presetID="42" presetClass="entr" presetSubtype="0" fill="hold" nodeType="withEffect">
                                  <p:stCondLst>
                                    <p:cond delay="0"/>
                                  </p:stCondLst>
                                  <p:childTnLst>
                                    <p:set>
                                      <p:cBhvr>
                                        <p:cTn id="30" dur="1" fill="hold">
                                          <p:stCondLst>
                                            <p:cond delay="0"/>
                                          </p:stCondLst>
                                        </p:cTn>
                                        <p:tgtEl>
                                          <p:spTgt spid="12">
                                            <p:txEl>
                                              <p:pRg st="0" end="0"/>
                                            </p:txEl>
                                          </p:spTgt>
                                        </p:tgtEl>
                                        <p:attrNameLst>
                                          <p:attrName>style.visibility</p:attrName>
                                        </p:attrNameLst>
                                      </p:cBhvr>
                                      <p:to>
                                        <p:strVal val="visible"/>
                                      </p:to>
                                    </p:set>
                                    <p:animEffect transition="in" filter="fade">
                                      <p:cBhvr>
                                        <p:cTn id="31" dur="1000"/>
                                        <p:tgtEl>
                                          <p:spTgt spid="12">
                                            <p:txEl>
                                              <p:pRg st="0" end="0"/>
                                            </p:txEl>
                                          </p:spTgt>
                                        </p:tgtEl>
                                      </p:cBhvr>
                                    </p:animEffect>
                                    <p:anim calcmode="lin" valueType="num">
                                      <p:cBhvr>
                                        <p:cTn id="32" dur="1000" fill="hold"/>
                                        <p:tgtEl>
                                          <p:spTgt spid="12">
                                            <p:txEl>
                                              <p:pRg st="0" end="0"/>
                                            </p:txEl>
                                          </p:spTgt>
                                        </p:tgtEl>
                                        <p:attrNameLst>
                                          <p:attrName>ppt_x</p:attrName>
                                        </p:attrNameLst>
                                      </p:cBhvr>
                                      <p:tavLst>
                                        <p:tav tm="0">
                                          <p:val>
                                            <p:strVal val="#ppt_x"/>
                                          </p:val>
                                        </p:tav>
                                        <p:tav tm="100000">
                                          <p:val>
                                            <p:strVal val="#ppt_x"/>
                                          </p:val>
                                        </p:tav>
                                      </p:tavLst>
                                    </p:anim>
                                    <p:anim calcmode="lin" valueType="num">
                                      <p:cBhvr>
                                        <p:cTn id="33" dur="1000" fill="hold"/>
                                        <p:tgtEl>
                                          <p:spTgt spid="12">
                                            <p:txEl>
                                              <p:pRg st="0" end="0"/>
                                            </p:txEl>
                                          </p:spTgt>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5" dur="1" fill="hold">
                                          <p:stCondLst>
                                            <p:cond delay="0"/>
                                          </p:stCondLst>
                                        </p:cTn>
                                        <p:tgtEl>
                                          <p:spTgt spid="12">
                                            <p:txEl>
                                              <p:pRg st="1" end="1"/>
                                            </p:txEl>
                                          </p:spTgt>
                                        </p:tgtEl>
                                        <p:attrNameLst>
                                          <p:attrName>style.visibility</p:attrName>
                                        </p:attrNameLst>
                                      </p:cBhvr>
                                      <p:to>
                                        <p:strVal val="visible"/>
                                      </p:to>
                                    </p:set>
                                    <p:animEffect transition="in" filter="fade">
                                      <p:cBhvr>
                                        <p:cTn id="36" dur="1000"/>
                                        <p:tgtEl>
                                          <p:spTgt spid="12">
                                            <p:txEl>
                                              <p:pRg st="1" end="1"/>
                                            </p:txEl>
                                          </p:spTgt>
                                        </p:tgtEl>
                                      </p:cBhvr>
                                    </p:animEffect>
                                    <p:anim calcmode="lin" valueType="num">
                                      <p:cBhvr>
                                        <p:cTn id="37" dur="1000" fill="hold"/>
                                        <p:tgtEl>
                                          <p:spTgt spid="12">
                                            <p:txEl>
                                              <p:pRg st="1" end="1"/>
                                            </p:txEl>
                                          </p:spTgt>
                                        </p:tgtEl>
                                        <p:attrNameLst>
                                          <p:attrName>ppt_x</p:attrName>
                                        </p:attrNameLst>
                                      </p:cBhvr>
                                      <p:tavLst>
                                        <p:tav tm="0">
                                          <p:val>
                                            <p:strVal val="#ppt_x"/>
                                          </p:val>
                                        </p:tav>
                                        <p:tav tm="100000">
                                          <p:val>
                                            <p:strVal val="#ppt_x"/>
                                          </p:val>
                                        </p:tav>
                                      </p:tavLst>
                                    </p:anim>
                                    <p:anim calcmode="lin" valueType="num">
                                      <p:cBhvr>
                                        <p:cTn id="38" dur="1000" fill="hold"/>
                                        <p:tgtEl>
                                          <p:spTgt spid="12">
                                            <p:txEl>
                                              <p:pRg st="1" end="1"/>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PCA: rotate to the views that show the most</a:t>
            </a:r>
            <a:r>
              <a:rPr lang="en-CA" dirty="0"/>
              <a:t> variance</a:t>
            </a:r>
            <a:endParaRPr dirty="0"/>
          </a:p>
        </p:txBody>
      </p:sp>
      <p:sp>
        <p:nvSpPr>
          <p:cNvPr id="4" name="TextBox 3"/>
          <p:cNvSpPr txBox="1"/>
          <p:nvPr/>
        </p:nvSpPr>
        <p:spPr>
          <a:xfrm>
            <a:off x="5943600" y="1838960"/>
            <a:ext cx="5394960" cy="2539157"/>
          </a:xfrm>
          <a:prstGeom prst="rect">
            <a:avLst/>
          </a:prstGeom>
          <a:noFill/>
        </p:spPr>
        <p:txBody>
          <a:bodyPr wrap="square">
            <a:spAutoFit/>
          </a:bodyPr>
          <a:lstStyle/>
          <a:p>
            <a:r>
              <a:rPr sz="2400" dirty="0"/>
              <a:t>PCA is a rotation of the axes: </a:t>
            </a:r>
            <a:endParaRPr lang="en-CA" sz="2400" dirty="0"/>
          </a:p>
          <a:p>
            <a:pPr marL="342900" indent="-342900">
              <a:buFont typeface="Arial" panose="020B0604020202020204" pitchFamily="34" charset="0"/>
              <a:buChar char="•"/>
            </a:pPr>
            <a:r>
              <a:rPr sz="2400" dirty="0"/>
              <a:t>PC1 lies along the direction of greatest variance, </a:t>
            </a:r>
            <a:endParaRPr lang="en-CA" sz="2400" dirty="0"/>
          </a:p>
          <a:p>
            <a:pPr marL="342900" indent="-342900">
              <a:buFont typeface="Arial" panose="020B0604020202020204" pitchFamily="34" charset="0"/>
              <a:buChar char="•"/>
            </a:pPr>
            <a:r>
              <a:rPr sz="2400" dirty="0"/>
              <a:t>PC2 is orthogonal to it.</a:t>
            </a:r>
          </a:p>
          <a:p>
            <a:pPr>
              <a:spcBef>
                <a:spcPts val="1800"/>
              </a:spcBef>
            </a:pPr>
            <a:r>
              <a:rPr sz="2400" b="0" dirty="0"/>
              <a:t>Outliers typically appear on the </a:t>
            </a:r>
            <a:r>
              <a:rPr sz="2400" b="1" dirty="0"/>
              <a:t>smallest</a:t>
            </a:r>
            <a:r>
              <a:rPr sz="2400" b="0" dirty="0"/>
              <a:t> dimensions</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5.35</a:t>
            </a:r>
          </a:p>
        </p:txBody>
      </p:sp>
      <p:pic>
        <p:nvPicPr>
          <p:cNvPr id="6" name="Picture 5" descr="outlier-demo.gif"/>
          <p:cNvPicPr>
            <a:picLocks noChangeAspect="1"/>
          </p:cNvPicPr>
          <p:nvPr/>
        </p:nvPicPr>
        <p:blipFill>
          <a:blip r:embed="rId3"/>
          <a:stretch>
            <a:fillRect/>
          </a:stretch>
        </p:blipFill>
        <p:spPr>
          <a:xfrm>
            <a:off x="841248" y="1600200"/>
            <a:ext cx="4663440" cy="4663440"/>
          </a:xfrm>
          <a:prstGeom prst="rect">
            <a:avLst/>
          </a:prstGeom>
        </p:spPr>
      </p:pic>
      <p:sp>
        <p:nvSpPr>
          <p:cNvPr id="7" name="Slide Number Placeholder 7"/>
          <p:cNvSpPr>
            <a:spLocks noGrp="1"/>
          </p:cNvSpPr>
          <p:nvPr>
            <p:ph type="sldNum" sz="quarter" idx="12"/>
          </p:nvPr>
        </p:nvSpPr>
        <p:spPr/>
        <p:txBody>
          <a:bodyPr/>
          <a:lstStyle/>
          <a:p>
            <a:fld id="{9BFB2853-4965-4727-91C4-384EB30D99A4}" type="slidenum">
              <a:rPr lang="en-CA"/>
              <a:t>26</a:t>
            </a:fld>
            <a:endParaRPr lang="en-CA"/>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PCA fitted by springs</a:t>
            </a:r>
            <a:r>
              <a:rPr lang="en-CA" dirty="0"/>
              <a:t>: Physical analog</a:t>
            </a:r>
            <a:endParaRPr dirty="0"/>
          </a:p>
        </p:txBody>
      </p:sp>
      <p:pic>
        <p:nvPicPr>
          <p:cNvPr id="3" name="Picture 2" descr="pca-springs-cropped.gif"/>
          <p:cNvPicPr>
            <a:picLocks noChangeAspect="1"/>
          </p:cNvPicPr>
          <p:nvPr/>
        </p:nvPicPr>
        <p:blipFill>
          <a:blip r:embed="rId3"/>
          <a:stretch>
            <a:fillRect/>
          </a:stretch>
        </p:blipFill>
        <p:spPr>
          <a:xfrm>
            <a:off x="641873" y="1522254"/>
            <a:ext cx="5454127" cy="4818696"/>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5.5</a:t>
            </a:r>
          </a:p>
        </p:txBody>
      </p:sp>
      <p:sp>
        <p:nvSpPr>
          <p:cNvPr id="6" name="TextBox 5">
            <a:extLst>
              <a:ext uri="{FF2B5EF4-FFF2-40B4-BE49-F238E27FC236}">
                <a16:creationId xmlns:a16="http://schemas.microsoft.com/office/drawing/2014/main" id="{698B2365-5A5E-F011-8658-438DB0B23149}"/>
              </a:ext>
            </a:extLst>
          </p:cNvPr>
          <p:cNvSpPr txBox="1"/>
          <p:nvPr/>
        </p:nvSpPr>
        <p:spPr>
          <a:xfrm>
            <a:off x="6702014" y="1222005"/>
            <a:ext cx="4875713" cy="3816429"/>
          </a:xfrm>
          <a:prstGeom prst="rect">
            <a:avLst/>
          </a:prstGeom>
          <a:noFill/>
        </p:spPr>
        <p:txBody>
          <a:bodyPr wrap="square" rtlCol="0">
            <a:spAutoFit/>
          </a:bodyPr>
          <a:lstStyle/>
          <a:p>
            <a:r>
              <a:rPr lang="en-CA" sz="2200" dirty="0">
                <a:solidFill>
                  <a:srgbClr val="FF0000"/>
                </a:solidFill>
              </a:rPr>
              <a:t>Least squares </a:t>
            </a:r>
            <a:r>
              <a:rPr lang="en-CA" sz="2200" dirty="0">
                <a:sym typeface="Symbol" panose="05050102010706020507" pitchFamily="18" charset="2"/>
              </a:rPr>
              <a:t> observations connected by springs </a:t>
            </a:r>
          </a:p>
          <a:p>
            <a:endParaRPr lang="en-CA" sz="2200" dirty="0">
              <a:sym typeface="Symbol" panose="05050102010706020507" pitchFamily="18" charset="2"/>
            </a:endParaRPr>
          </a:p>
          <a:p>
            <a:r>
              <a:rPr lang="en-CA" sz="2200" dirty="0">
                <a:sym typeface="Symbol" panose="05050102010706020507" pitchFamily="18" charset="2"/>
              </a:rPr>
              <a:t>For PCA, connect a rigid line to the points by </a:t>
            </a:r>
            <a:r>
              <a:rPr lang="en-CA" sz="2200" dirty="0">
                <a:solidFill>
                  <a:srgbClr val="FF0000"/>
                </a:solidFill>
                <a:sym typeface="Symbol" panose="05050102010706020507" pitchFamily="18" charset="2"/>
              </a:rPr>
              <a:t>springs, </a:t>
            </a:r>
            <a:r>
              <a:rPr lang="en-CA" sz="2200" dirty="0">
                <a:sym typeface="Symbol" panose="05050102010706020507" pitchFamily="18" charset="2"/>
              </a:rPr>
              <a:t>always </a:t>
            </a:r>
            <a:r>
              <a:rPr lang="en-CA" sz="2200" dirty="0">
                <a:latin typeface="Matura MT Script Capitals" panose="03020802060602070202" pitchFamily="66" charset="0"/>
                <a:sym typeface="Symbol" panose="05050102010706020507" pitchFamily="18" charset="2"/>
              </a:rPr>
              <a:t> </a:t>
            </a:r>
            <a:r>
              <a:rPr lang="en-CA" sz="2200" b="1" dirty="0">
                <a:latin typeface="Matura MT Script Capitals" panose="03020802060602070202" pitchFamily="66" charset="0"/>
                <a:sym typeface="Symbol" panose="05050102010706020507" pitchFamily="18" charset="2"/>
              </a:rPr>
              <a:t></a:t>
            </a:r>
            <a:r>
              <a:rPr lang="en-CA" sz="2200" dirty="0">
                <a:latin typeface="Matura MT Script Capitals" panose="03020802060602070202" pitchFamily="66" charset="0"/>
                <a:sym typeface="Symbol" panose="05050102010706020507" pitchFamily="18" charset="2"/>
              </a:rPr>
              <a:t> </a:t>
            </a:r>
            <a:r>
              <a:rPr lang="en-CA" sz="2200" dirty="0">
                <a:sym typeface="Symbol" panose="05050102010706020507" pitchFamily="18" charset="2"/>
              </a:rPr>
              <a:t>line</a:t>
            </a:r>
            <a:endParaRPr lang="en-CA" sz="2200" dirty="0">
              <a:solidFill>
                <a:srgbClr val="FF0000"/>
              </a:solidFill>
              <a:sym typeface="Symbol" panose="05050102010706020507" pitchFamily="18" charset="2"/>
            </a:endParaRPr>
          </a:p>
          <a:p>
            <a:endParaRPr lang="en-CA" sz="2200" dirty="0">
              <a:sym typeface="Symbol" panose="05050102010706020507" pitchFamily="18" charset="2"/>
            </a:endParaRPr>
          </a:p>
          <a:p>
            <a:r>
              <a:rPr lang="en-CA" sz="2200" dirty="0"/>
              <a:t>Springs pull the line ∝ </a:t>
            </a:r>
            <a:r>
              <a:rPr lang="en-CA" sz="2200" dirty="0">
                <a:solidFill>
                  <a:srgbClr val="FF0000"/>
                </a:solidFill>
              </a:rPr>
              <a:t>squared</a:t>
            </a:r>
            <a:r>
              <a:rPr lang="en-CA" sz="2200" dirty="0"/>
              <a:t> distance</a:t>
            </a:r>
          </a:p>
          <a:p>
            <a:endParaRPr lang="en-CA" sz="2200" dirty="0"/>
          </a:p>
          <a:p>
            <a:r>
              <a:rPr lang="en-CA" sz="2200" dirty="0"/>
              <a:t>It settles on the first </a:t>
            </a:r>
            <a:r>
              <a:rPr lang="en-CA" sz="2200" dirty="0">
                <a:solidFill>
                  <a:srgbClr val="FF0000"/>
                </a:solidFill>
              </a:rPr>
              <a:t>principal component: </a:t>
            </a:r>
            <a:r>
              <a:rPr lang="en-CA" sz="2200" dirty="0"/>
              <a:t>largest variance</a:t>
            </a:r>
            <a:r>
              <a:rPr lang="en-CA" sz="2200" dirty="0">
                <a:solidFill>
                  <a:srgbClr val="FF0000"/>
                </a:solidFill>
              </a:rPr>
              <a:t> </a:t>
            </a:r>
          </a:p>
        </p:txBody>
      </p:sp>
      <p:sp>
        <p:nvSpPr>
          <p:cNvPr id="7" name="Slide Number Placeholder 7"/>
          <p:cNvSpPr>
            <a:spLocks noGrp="1"/>
          </p:cNvSpPr>
          <p:nvPr>
            <p:ph type="sldNum" sz="quarter" idx="12"/>
          </p:nvPr>
        </p:nvSpPr>
        <p:spPr/>
        <p:txBody>
          <a:bodyPr/>
          <a:lstStyle/>
          <a:p>
            <a:fld id="{9BFB2853-4965-4727-91C4-384EB30D99A4}" type="slidenum">
              <a:rPr lang="en-CA"/>
              <a:t>27</a:t>
            </a:fld>
            <a:endParaRPr lang="en-CA"/>
          </a:p>
        </p:txBody>
      </p:sp>
      <p:sp>
        <p:nvSpPr>
          <p:cNvPr id="10" name="TextBox 9">
            <a:extLst>
              <a:ext uri="{FF2B5EF4-FFF2-40B4-BE49-F238E27FC236}">
                <a16:creationId xmlns:a16="http://schemas.microsoft.com/office/drawing/2014/main" id="{4AFFA5EF-2E03-E25E-4CF0-C6091F3D06A1}"/>
              </a:ext>
            </a:extLst>
          </p:cNvPr>
          <p:cNvSpPr txBox="1"/>
          <p:nvPr/>
        </p:nvSpPr>
        <p:spPr>
          <a:xfrm>
            <a:off x="6702014" y="5334000"/>
            <a:ext cx="4875713" cy="830997"/>
          </a:xfrm>
          <a:custGeom>
            <a:avLst/>
            <a:gdLst>
              <a:gd name="csX0" fmla="*/ 0 w 4875713"/>
              <a:gd name="csY0" fmla="*/ 0 h 830997"/>
              <a:gd name="csX1" fmla="*/ 639260 w 4875713"/>
              <a:gd name="csY1" fmla="*/ 0 h 830997"/>
              <a:gd name="csX2" fmla="*/ 1229763 w 4875713"/>
              <a:gd name="csY2" fmla="*/ 0 h 830997"/>
              <a:gd name="csX3" fmla="*/ 1771509 w 4875713"/>
              <a:gd name="csY3" fmla="*/ 0 h 830997"/>
              <a:gd name="csX4" fmla="*/ 2313255 w 4875713"/>
              <a:gd name="csY4" fmla="*/ 0 h 830997"/>
              <a:gd name="csX5" fmla="*/ 2952515 w 4875713"/>
              <a:gd name="csY5" fmla="*/ 0 h 830997"/>
              <a:gd name="csX6" fmla="*/ 3543018 w 4875713"/>
              <a:gd name="csY6" fmla="*/ 0 h 830997"/>
              <a:gd name="csX7" fmla="*/ 3938493 w 4875713"/>
              <a:gd name="csY7" fmla="*/ 0 h 830997"/>
              <a:gd name="csX8" fmla="*/ 4875713 w 4875713"/>
              <a:gd name="csY8" fmla="*/ 0 h 830997"/>
              <a:gd name="csX9" fmla="*/ 4875713 w 4875713"/>
              <a:gd name="csY9" fmla="*/ 432118 h 830997"/>
              <a:gd name="csX10" fmla="*/ 4875713 w 4875713"/>
              <a:gd name="csY10" fmla="*/ 830997 h 830997"/>
              <a:gd name="csX11" fmla="*/ 4431481 w 4875713"/>
              <a:gd name="csY11" fmla="*/ 830997 h 830997"/>
              <a:gd name="csX12" fmla="*/ 3792221 w 4875713"/>
              <a:gd name="csY12" fmla="*/ 830997 h 830997"/>
              <a:gd name="csX13" fmla="*/ 3299232 w 4875713"/>
              <a:gd name="csY13" fmla="*/ 830997 h 830997"/>
              <a:gd name="csX14" fmla="*/ 2659972 w 4875713"/>
              <a:gd name="csY14" fmla="*/ 830997 h 830997"/>
              <a:gd name="csX15" fmla="*/ 2215741 w 4875713"/>
              <a:gd name="csY15" fmla="*/ 830997 h 830997"/>
              <a:gd name="csX16" fmla="*/ 1820266 w 4875713"/>
              <a:gd name="csY16" fmla="*/ 830997 h 830997"/>
              <a:gd name="csX17" fmla="*/ 1424792 w 4875713"/>
              <a:gd name="csY17" fmla="*/ 830997 h 830997"/>
              <a:gd name="csX18" fmla="*/ 834289 w 4875713"/>
              <a:gd name="csY18" fmla="*/ 830997 h 830997"/>
              <a:gd name="csX19" fmla="*/ 0 w 4875713"/>
              <a:gd name="csY19" fmla="*/ 830997 h 830997"/>
              <a:gd name="csX20" fmla="*/ 0 w 4875713"/>
              <a:gd name="csY20" fmla="*/ 415499 h 830997"/>
              <a:gd name="csX21" fmla="*/ 0 w 4875713"/>
              <a:gd name="csY21" fmla="*/ 0 h 8309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4875713" h="830997" fill="none" extrusionOk="0">
                <a:moveTo>
                  <a:pt x="0" y="0"/>
                </a:moveTo>
                <a:cubicBezTo>
                  <a:pt x="247106" y="-71596"/>
                  <a:pt x="479984" y="70430"/>
                  <a:pt x="639260" y="0"/>
                </a:cubicBezTo>
                <a:cubicBezTo>
                  <a:pt x="798536" y="-70430"/>
                  <a:pt x="993891" y="20790"/>
                  <a:pt x="1229763" y="0"/>
                </a:cubicBezTo>
                <a:cubicBezTo>
                  <a:pt x="1465635" y="-20790"/>
                  <a:pt x="1521761" y="13769"/>
                  <a:pt x="1771509" y="0"/>
                </a:cubicBezTo>
                <a:cubicBezTo>
                  <a:pt x="2021257" y="-13769"/>
                  <a:pt x="2198926" y="22760"/>
                  <a:pt x="2313255" y="0"/>
                </a:cubicBezTo>
                <a:cubicBezTo>
                  <a:pt x="2427584" y="-22760"/>
                  <a:pt x="2676709" y="4611"/>
                  <a:pt x="2952515" y="0"/>
                </a:cubicBezTo>
                <a:cubicBezTo>
                  <a:pt x="3228321" y="-4611"/>
                  <a:pt x="3316906" y="64456"/>
                  <a:pt x="3543018" y="0"/>
                </a:cubicBezTo>
                <a:cubicBezTo>
                  <a:pt x="3769130" y="-64456"/>
                  <a:pt x="3757070" y="1759"/>
                  <a:pt x="3938493" y="0"/>
                </a:cubicBezTo>
                <a:cubicBezTo>
                  <a:pt x="4119917" y="-1759"/>
                  <a:pt x="4534484" y="64709"/>
                  <a:pt x="4875713" y="0"/>
                </a:cubicBezTo>
                <a:cubicBezTo>
                  <a:pt x="4900101" y="157668"/>
                  <a:pt x="4843863" y="240282"/>
                  <a:pt x="4875713" y="432118"/>
                </a:cubicBezTo>
                <a:cubicBezTo>
                  <a:pt x="4907563" y="623954"/>
                  <a:pt x="4841241" y="694528"/>
                  <a:pt x="4875713" y="830997"/>
                </a:cubicBezTo>
                <a:cubicBezTo>
                  <a:pt x="4689315" y="884177"/>
                  <a:pt x="4587200" y="807239"/>
                  <a:pt x="4431481" y="830997"/>
                </a:cubicBezTo>
                <a:cubicBezTo>
                  <a:pt x="4275762" y="854755"/>
                  <a:pt x="3965265" y="775446"/>
                  <a:pt x="3792221" y="830997"/>
                </a:cubicBezTo>
                <a:cubicBezTo>
                  <a:pt x="3619177" y="886548"/>
                  <a:pt x="3419687" y="826456"/>
                  <a:pt x="3299232" y="830997"/>
                </a:cubicBezTo>
                <a:cubicBezTo>
                  <a:pt x="3178777" y="835538"/>
                  <a:pt x="2912963" y="779019"/>
                  <a:pt x="2659972" y="830997"/>
                </a:cubicBezTo>
                <a:cubicBezTo>
                  <a:pt x="2406981" y="882975"/>
                  <a:pt x="2408625" y="814806"/>
                  <a:pt x="2215741" y="830997"/>
                </a:cubicBezTo>
                <a:cubicBezTo>
                  <a:pt x="2022857" y="847188"/>
                  <a:pt x="2006598" y="820554"/>
                  <a:pt x="1820266" y="830997"/>
                </a:cubicBezTo>
                <a:cubicBezTo>
                  <a:pt x="1633935" y="841440"/>
                  <a:pt x="1566381" y="808435"/>
                  <a:pt x="1424792" y="830997"/>
                </a:cubicBezTo>
                <a:cubicBezTo>
                  <a:pt x="1283203" y="853559"/>
                  <a:pt x="1045425" y="805212"/>
                  <a:pt x="834289" y="830997"/>
                </a:cubicBezTo>
                <a:cubicBezTo>
                  <a:pt x="623153" y="856782"/>
                  <a:pt x="359472" y="829112"/>
                  <a:pt x="0" y="830997"/>
                </a:cubicBezTo>
                <a:cubicBezTo>
                  <a:pt x="-47585" y="703953"/>
                  <a:pt x="19868" y="554803"/>
                  <a:pt x="0" y="415499"/>
                </a:cubicBezTo>
                <a:cubicBezTo>
                  <a:pt x="-19868" y="276195"/>
                  <a:pt x="19858" y="155802"/>
                  <a:pt x="0" y="0"/>
                </a:cubicBezTo>
                <a:close/>
              </a:path>
              <a:path w="4875713" h="830997" stroke="0" extrusionOk="0">
                <a:moveTo>
                  <a:pt x="0" y="0"/>
                </a:moveTo>
                <a:cubicBezTo>
                  <a:pt x="182246" y="-38654"/>
                  <a:pt x="295873" y="213"/>
                  <a:pt x="492989" y="0"/>
                </a:cubicBezTo>
                <a:cubicBezTo>
                  <a:pt x="690105" y="-213"/>
                  <a:pt x="798019" y="43002"/>
                  <a:pt x="888463" y="0"/>
                </a:cubicBezTo>
                <a:cubicBezTo>
                  <a:pt x="978907" y="-43002"/>
                  <a:pt x="1335294" y="29554"/>
                  <a:pt x="1527723" y="0"/>
                </a:cubicBezTo>
                <a:cubicBezTo>
                  <a:pt x="1720152" y="-29554"/>
                  <a:pt x="1814245" y="41251"/>
                  <a:pt x="2020712" y="0"/>
                </a:cubicBezTo>
                <a:cubicBezTo>
                  <a:pt x="2227179" y="-41251"/>
                  <a:pt x="2411108" y="26446"/>
                  <a:pt x="2513701" y="0"/>
                </a:cubicBezTo>
                <a:cubicBezTo>
                  <a:pt x="2616294" y="-26446"/>
                  <a:pt x="2992542" y="25665"/>
                  <a:pt x="3152961" y="0"/>
                </a:cubicBezTo>
                <a:cubicBezTo>
                  <a:pt x="3313380" y="-25665"/>
                  <a:pt x="3498804" y="11685"/>
                  <a:pt x="3597193" y="0"/>
                </a:cubicBezTo>
                <a:cubicBezTo>
                  <a:pt x="3695582" y="-11685"/>
                  <a:pt x="3990551" y="73299"/>
                  <a:pt x="4236453" y="0"/>
                </a:cubicBezTo>
                <a:cubicBezTo>
                  <a:pt x="4482355" y="-73299"/>
                  <a:pt x="4689467" y="53615"/>
                  <a:pt x="4875713" y="0"/>
                </a:cubicBezTo>
                <a:cubicBezTo>
                  <a:pt x="4919079" y="150474"/>
                  <a:pt x="4840189" y="224543"/>
                  <a:pt x="4875713" y="415499"/>
                </a:cubicBezTo>
                <a:cubicBezTo>
                  <a:pt x="4911237" y="606455"/>
                  <a:pt x="4831357" y="665240"/>
                  <a:pt x="4875713" y="830997"/>
                </a:cubicBezTo>
                <a:cubicBezTo>
                  <a:pt x="4654825" y="837654"/>
                  <a:pt x="4543189" y="804654"/>
                  <a:pt x="4285210" y="830997"/>
                </a:cubicBezTo>
                <a:cubicBezTo>
                  <a:pt x="4027231" y="857340"/>
                  <a:pt x="3798331" y="787223"/>
                  <a:pt x="3645950" y="830997"/>
                </a:cubicBezTo>
                <a:cubicBezTo>
                  <a:pt x="3493569" y="874771"/>
                  <a:pt x="3281992" y="830126"/>
                  <a:pt x="3006690" y="830997"/>
                </a:cubicBezTo>
                <a:cubicBezTo>
                  <a:pt x="2731388" y="831868"/>
                  <a:pt x="2780993" y="816226"/>
                  <a:pt x="2562458" y="830997"/>
                </a:cubicBezTo>
                <a:cubicBezTo>
                  <a:pt x="2343923" y="845768"/>
                  <a:pt x="2206766" y="821585"/>
                  <a:pt x="2020712" y="830997"/>
                </a:cubicBezTo>
                <a:cubicBezTo>
                  <a:pt x="1834658" y="840409"/>
                  <a:pt x="1648941" y="791502"/>
                  <a:pt x="1381452" y="830997"/>
                </a:cubicBezTo>
                <a:cubicBezTo>
                  <a:pt x="1113963" y="870492"/>
                  <a:pt x="1109057" y="820296"/>
                  <a:pt x="839706" y="830997"/>
                </a:cubicBezTo>
                <a:cubicBezTo>
                  <a:pt x="570355" y="841698"/>
                  <a:pt x="373571" y="747773"/>
                  <a:pt x="0" y="830997"/>
                </a:cubicBezTo>
                <a:cubicBezTo>
                  <a:pt x="-10421" y="746849"/>
                  <a:pt x="34790" y="620977"/>
                  <a:pt x="0" y="432118"/>
                </a:cubicBezTo>
                <a:cubicBezTo>
                  <a:pt x="-34790" y="243259"/>
                  <a:pt x="5423" y="107780"/>
                  <a:pt x="0" y="0"/>
                </a:cubicBezTo>
                <a:close/>
              </a:path>
            </a:pathLst>
          </a:custGeom>
          <a:solidFill>
            <a:srgbClr val="C7E3E3"/>
          </a:solidFill>
          <a:ln>
            <a:solidFill>
              <a:srgbClr val="2E5EAA"/>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txBody>
          <a:bodyPr wrap="square" rtlCol="0">
            <a:spAutoFit/>
          </a:bodyPr>
          <a:lstStyle/>
          <a:p>
            <a:r>
              <a:rPr lang="en-CA" sz="2400" dirty="0">
                <a:sym typeface="Symbol" panose="05050102010706020507" pitchFamily="18" charset="2"/>
              </a:rPr>
              <a:t></a:t>
            </a:r>
            <a:r>
              <a:rPr lang="en-CA" sz="2400" dirty="0"/>
              <a:t> Statistics, </a:t>
            </a:r>
            <a:r>
              <a:rPr lang="en-CA" sz="2400" dirty="0" err="1"/>
              <a:t>dataviz</a:t>
            </a:r>
            <a:r>
              <a:rPr lang="en-CA" sz="2400" dirty="0"/>
              <a:t>, geometry &amp; physics are tightly connected</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Biplots: observations and variables in one view</a:t>
            </a:r>
          </a:p>
        </p:txBody>
      </p:sp>
      <p:sp>
        <p:nvSpPr>
          <p:cNvPr id="3" name="Content Placeholder 2"/>
          <p:cNvSpPr>
            <a:spLocks noGrp="1"/>
          </p:cNvSpPr>
          <p:nvPr>
            <p:ph sz="half" idx="1"/>
          </p:nvPr>
        </p:nvSpPr>
        <p:spPr>
          <a:xfrm>
            <a:off x="838200" y="1643063"/>
            <a:ext cx="4754078" cy="4533900"/>
          </a:xfrm>
        </p:spPr>
        <p:txBody>
          <a:bodyPr/>
          <a:lstStyle/>
          <a:p>
            <a:r>
              <a:rPr b="1" dirty="0"/>
              <a:t>Points</a:t>
            </a:r>
            <a:r>
              <a:rPr dirty="0"/>
              <a:t>: observations (US states) in the PC1-PC2 plane</a:t>
            </a:r>
          </a:p>
          <a:p>
            <a:r>
              <a:rPr b="1" dirty="0"/>
              <a:t>Vectors</a:t>
            </a:r>
            <a:r>
              <a:rPr dirty="0"/>
              <a:t>: variables (crime rates)</a:t>
            </a:r>
          </a:p>
          <a:p>
            <a:pPr lvl="1"/>
            <a:r>
              <a:rPr b="1" dirty="0"/>
              <a:t>Angles</a:t>
            </a:r>
            <a:r>
              <a:rPr dirty="0"/>
              <a:t> between vectors approximate correlations</a:t>
            </a:r>
          </a:p>
          <a:p>
            <a:pPr lvl="1"/>
            <a:r>
              <a:rPr b="1" dirty="0"/>
              <a:t>Projecting</a:t>
            </a:r>
            <a:r>
              <a:rPr dirty="0"/>
              <a:t> a point on a vector approximates its value on that variable</a:t>
            </a:r>
            <a:endParaRPr lang="en-CA" dirty="0"/>
          </a:p>
          <a:p>
            <a:r>
              <a:rPr lang="en-CA" dirty="0"/>
              <a:t>Interpretation:</a:t>
            </a:r>
          </a:p>
          <a:p>
            <a:pPr lvl="1"/>
            <a:r>
              <a:rPr lang="en-CA" dirty="0"/>
              <a:t>PC1: Overall crime rate</a:t>
            </a:r>
          </a:p>
          <a:p>
            <a:pPr lvl="1"/>
            <a:r>
              <a:rPr lang="en-CA" dirty="0"/>
              <a:t>PC2: Personal vs. property crime</a:t>
            </a:r>
          </a:p>
          <a:p>
            <a:pPr lvl="1"/>
            <a:r>
              <a:rPr lang="en-CA" dirty="0"/>
              <a:t>Region: summarizes diffs</a:t>
            </a:r>
            <a:endParaRPr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5.14</a:t>
            </a:r>
          </a:p>
        </p:txBody>
      </p:sp>
      <p:pic>
        <p:nvPicPr>
          <p:cNvPr id="7" name="Picture 6" descr="ggbiplot-logo.png"/>
          <p:cNvPicPr>
            <a:picLocks noChangeAspect="1"/>
          </p:cNvPicPr>
          <p:nvPr/>
        </p:nvPicPr>
        <p:blipFill>
          <a:blip r:embed="rId3"/>
          <a:stretch>
            <a:fillRect/>
          </a:stretch>
        </p:blipFill>
        <p:spPr>
          <a:xfrm>
            <a:off x="10530840" y="280293"/>
            <a:ext cx="822960" cy="952051"/>
          </a:xfrm>
          <a:prstGeom prst="rect">
            <a:avLst/>
          </a:prstGeom>
        </p:spPr>
      </p:pic>
      <p:pic>
        <p:nvPicPr>
          <p:cNvPr id="6" name="Picture 5">
            <a:extLst>
              <a:ext uri="{FF2B5EF4-FFF2-40B4-BE49-F238E27FC236}">
                <a16:creationId xmlns:a16="http://schemas.microsoft.com/office/drawing/2014/main" id="{99D97459-E713-AD46-89DA-B4BCEAF4191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401602" y="1487891"/>
            <a:ext cx="4754078" cy="5008227"/>
          </a:xfrm>
          <a:prstGeom prst="rect">
            <a:avLst/>
          </a:prstGeom>
        </p:spPr>
      </p:pic>
      <p:sp>
        <p:nvSpPr>
          <p:cNvPr id="8" name="Slide Number Placeholder 8"/>
          <p:cNvSpPr>
            <a:spLocks noGrp="1"/>
          </p:cNvSpPr>
          <p:nvPr>
            <p:ph type="sldNum" sz="quarter" idx="12"/>
          </p:nvPr>
        </p:nvSpPr>
        <p:spPr/>
        <p:txBody>
          <a:bodyPr/>
          <a:lstStyle/>
          <a:p>
            <a:fld id="{9BFB2853-4965-4727-91C4-384EB30D99A4}" type="slidenum">
              <a:rPr lang="en-CA"/>
              <a:t>28</a:t>
            </a:fld>
            <a:endParaRPr lang="en-CA"/>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Biplot: The data juicer</a:t>
            </a:r>
          </a:p>
        </p:txBody>
      </p:sp>
      <p:sp>
        <p:nvSpPr>
          <p:cNvPr id="5" name="TextBox 4"/>
          <p:cNvSpPr txBox="1"/>
          <p:nvPr/>
        </p:nvSpPr>
        <p:spPr>
          <a:xfrm>
            <a:off x="838200" y="1361799"/>
            <a:ext cx="8160655" cy="646331"/>
          </a:xfrm>
          <a:prstGeom prst="rect">
            <a:avLst/>
          </a:prstGeom>
          <a:solidFill>
            <a:srgbClr val="FFFF00">
              <a:alpha val="10000"/>
            </a:srgbClr>
          </a:solidFill>
        </p:spPr>
        <p:txBody>
          <a:bodyPr wrap="square" rtlCol="0">
            <a:spAutoFit/>
          </a:bodyPr>
          <a:lstStyle/>
          <a:p>
            <a:r>
              <a:rPr lang="en-US" dirty="0" err="1"/>
              <a:t>peng.pca</a:t>
            </a:r>
            <a:r>
              <a:rPr lang="en-US" dirty="0"/>
              <a:t> &lt;- </a:t>
            </a:r>
            <a:r>
              <a:rPr lang="en-CA" dirty="0" err="1"/>
              <a:t>prcomp</a:t>
            </a:r>
            <a:r>
              <a:rPr lang="en-CA" dirty="0"/>
              <a:t> (~ </a:t>
            </a:r>
            <a:r>
              <a:rPr lang="en-CA" dirty="0" err="1"/>
              <a:t>bill_length</a:t>
            </a:r>
            <a:r>
              <a:rPr lang="en-CA" dirty="0"/>
              <a:t> + </a:t>
            </a:r>
            <a:r>
              <a:rPr lang="en-CA" dirty="0" err="1"/>
              <a:t>bill_depth</a:t>
            </a:r>
            <a:r>
              <a:rPr lang="en-CA" dirty="0"/>
              <a:t> + </a:t>
            </a:r>
            <a:r>
              <a:rPr lang="en-CA" dirty="0" err="1"/>
              <a:t>flipper_length</a:t>
            </a:r>
            <a:r>
              <a:rPr lang="en-CA" dirty="0"/>
              <a:t> + </a:t>
            </a:r>
            <a:r>
              <a:rPr lang="en-CA" dirty="0" err="1"/>
              <a:t>body_mass</a:t>
            </a:r>
            <a:r>
              <a:rPr lang="en-CA" dirty="0"/>
              <a:t>)</a:t>
            </a:r>
            <a:endParaRPr lang="en-US" dirty="0"/>
          </a:p>
          <a:p>
            <a:r>
              <a:rPr lang="en-US" dirty="0" err="1"/>
              <a:t>ggbiplot</a:t>
            </a:r>
            <a:r>
              <a:rPr lang="en-US" dirty="0"/>
              <a:t>(</a:t>
            </a:r>
            <a:r>
              <a:rPr lang="en-US" dirty="0" err="1"/>
              <a:t>peng.pca</a:t>
            </a:r>
            <a:r>
              <a:rPr lang="en-US" dirty="0"/>
              <a:t>, …) </a:t>
            </a:r>
          </a:p>
        </p:txBody>
      </p:sp>
      <p:sp>
        <p:nvSpPr>
          <p:cNvPr id="6" name="TextBox 5"/>
          <p:cNvSpPr txBox="1"/>
          <p:nvPr/>
        </p:nvSpPr>
        <p:spPr>
          <a:xfrm>
            <a:off x="609600" y="2635252"/>
            <a:ext cx="5935169" cy="2739211"/>
          </a:xfrm>
          <a:prstGeom prst="rect">
            <a:avLst/>
          </a:prstGeom>
          <a:noFill/>
        </p:spPr>
        <p:txBody>
          <a:bodyPr wrap="square" rtlCol="0">
            <a:spAutoFit/>
          </a:bodyPr>
          <a:lstStyle/>
          <a:p>
            <a:r>
              <a:rPr lang="en-US" sz="2400" dirty="0"/>
              <a:t>PC1, PC2 ~ 88.1% of variance </a:t>
            </a:r>
            <a:r>
              <a:rPr lang="en-US" sz="2400" dirty="0">
                <a:solidFill>
                  <a:srgbClr val="00B050"/>
                </a:solidFill>
                <a:sym typeface="Wingdings" panose="05000000000000000000" pitchFamily="2" charset="2"/>
              </a:rPr>
              <a:t></a:t>
            </a:r>
            <a:endParaRPr lang="en-US" sz="2400" dirty="0">
              <a:solidFill>
                <a:srgbClr val="00B050"/>
              </a:solidFill>
            </a:endParaRPr>
          </a:p>
          <a:p>
            <a:endParaRPr lang="en-US" sz="2000" dirty="0"/>
          </a:p>
          <a:p>
            <a:pPr marL="285750" indent="-285750">
              <a:buFont typeface="Arial" pitchFamily="34" charset="0"/>
              <a:buChar char="•"/>
            </a:pPr>
            <a:r>
              <a:rPr lang="en-US" sz="2000" dirty="0"/>
              <a:t>PC1: largely flipper length &amp; body mass: “penguin size”</a:t>
            </a:r>
          </a:p>
          <a:p>
            <a:pPr marL="285750" indent="-285750">
              <a:buFont typeface="Arial" pitchFamily="34" charset="0"/>
              <a:buChar char="•"/>
            </a:pPr>
            <a:r>
              <a:rPr lang="en-US" sz="2000" dirty="0"/>
              <a:t>PC2: relates to “bill shape”</a:t>
            </a:r>
          </a:p>
          <a:p>
            <a:endParaRPr lang="en-US" sz="2000" dirty="0"/>
          </a:p>
          <a:p>
            <a:r>
              <a:rPr lang="en-US" sz="2400" dirty="0"/>
              <a:t>Easy to characterize the species in terms of these variables</a:t>
            </a:r>
          </a:p>
        </p:txBody>
      </p:sp>
      <p:sp>
        <p:nvSpPr>
          <p:cNvPr id="10" name="Rectangle 9"/>
          <p:cNvSpPr/>
          <p:nvPr/>
        </p:nvSpPr>
        <p:spPr>
          <a:xfrm>
            <a:off x="609600" y="6275903"/>
            <a:ext cx="4158762" cy="307777"/>
          </a:xfrm>
          <a:prstGeom prst="rect">
            <a:avLst/>
          </a:prstGeom>
        </p:spPr>
        <p:txBody>
          <a:bodyPr wrap="square">
            <a:spAutoFit/>
          </a:bodyPr>
          <a:lstStyle/>
          <a:p>
            <a:r>
              <a:rPr lang="en-US" sz="1400" dirty="0"/>
              <a:t>See: </a:t>
            </a:r>
            <a:r>
              <a:rPr lang="en-US" sz="1400" dirty="0">
                <a:hlinkClick r:id="rId3"/>
              </a:rPr>
              <a:t>https://rpubs.com/friendly/penguin-biplots</a:t>
            </a:r>
            <a:r>
              <a:rPr lang="en-US" sz="1400" dirty="0"/>
              <a:t> </a:t>
            </a:r>
          </a:p>
        </p:txBody>
      </p:sp>
      <p:pic>
        <p:nvPicPr>
          <p:cNvPr id="4" name="Picture 6" descr="ggbiplot-logo.png">
            <a:extLst>
              <a:ext uri="{FF2B5EF4-FFF2-40B4-BE49-F238E27FC236}">
                <a16:creationId xmlns:a16="http://schemas.microsoft.com/office/drawing/2014/main" id="{2EB9E8A5-059D-D38A-5587-1C7FF6573BF4}"/>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10465159" y="292777"/>
            <a:ext cx="888641" cy="1028036"/>
          </a:xfrm>
          <a:prstGeom prst="rect">
            <a:avLst/>
          </a:prstGeom>
        </p:spPr>
      </p:pic>
      <p:pic>
        <p:nvPicPr>
          <p:cNvPr id="8" name="Picture 7">
            <a:extLst>
              <a:ext uri="{FF2B5EF4-FFF2-40B4-BE49-F238E27FC236}">
                <a16:creationId xmlns:a16="http://schemas.microsoft.com/office/drawing/2014/main" id="{5362A697-C83C-9B56-621B-3B63161F459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618681" y="2170700"/>
            <a:ext cx="4686559" cy="4045950"/>
          </a:xfrm>
          <a:prstGeom prst="rect">
            <a:avLst/>
          </a:prstGeom>
        </p:spPr>
      </p:pic>
      <p:sp>
        <p:nvSpPr>
          <p:cNvPr id="11" name="Slide Number Placeholder 11"/>
          <p:cNvSpPr>
            <a:spLocks noGrp="1"/>
          </p:cNvSpPr>
          <p:nvPr>
            <p:ph type="sldNum" sz="quarter" idx="12"/>
          </p:nvPr>
        </p:nvSpPr>
        <p:spPr/>
        <p:txBody>
          <a:bodyPr/>
          <a:lstStyle/>
          <a:p>
            <a:fld id="{9BFB2853-4965-4727-91C4-384EB30D99A4}" type="slidenum">
              <a:rPr lang="en-CA"/>
              <a:t>29</a:t>
            </a:fld>
            <a:endParaRPr lang="en-CA"/>
          </a:p>
        </p:txBody>
      </p:sp>
      <p:cxnSp>
        <p:nvCxnSpPr>
          <p:cNvPr id="7" name="Straight Arrow Connector 6">
            <a:extLst>
              <a:ext uri="{FF2B5EF4-FFF2-40B4-BE49-F238E27FC236}">
                <a16:creationId xmlns:a16="http://schemas.microsoft.com/office/drawing/2014/main" id="{FBCCC623-DA42-330D-6041-F2D59EE2F594}"/>
              </a:ext>
            </a:extLst>
          </p:cNvPr>
          <p:cNvCxnSpPr/>
          <p:nvPr/>
        </p:nvCxnSpPr>
        <p:spPr>
          <a:xfrm>
            <a:off x="6883400" y="6216650"/>
            <a:ext cx="4241800" cy="0"/>
          </a:xfrm>
          <a:prstGeom prst="straightConnector1">
            <a:avLst/>
          </a:prstGeom>
          <a:ln w="34925">
            <a:solidFill>
              <a:srgbClr val="FF0000"/>
            </a:solidFill>
            <a:tailEnd type="stealth" w="lg" len="lg"/>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DEFD19BC-4BAC-2E29-11C1-AF58D72F4EBF}"/>
              </a:ext>
            </a:extLst>
          </p:cNvPr>
          <p:cNvSpPr txBox="1"/>
          <p:nvPr/>
        </p:nvSpPr>
        <p:spPr>
          <a:xfrm>
            <a:off x="8337550" y="6049547"/>
            <a:ext cx="1333500" cy="338554"/>
          </a:xfrm>
          <a:prstGeom prst="rect">
            <a:avLst/>
          </a:prstGeom>
          <a:solidFill>
            <a:schemeClr val="bg1"/>
          </a:solidFill>
        </p:spPr>
        <p:txBody>
          <a:bodyPr wrap="square" rtlCol="0">
            <a:spAutoFit/>
          </a:bodyPr>
          <a:lstStyle/>
          <a:p>
            <a:pPr algn="ctr"/>
            <a:r>
              <a:rPr lang="en-CA" sz="1600" dirty="0"/>
              <a:t>Penguin size</a:t>
            </a:r>
          </a:p>
        </p:txBody>
      </p:sp>
      <p:cxnSp>
        <p:nvCxnSpPr>
          <p:cNvPr id="16" name="Straight Arrow Connector 15">
            <a:extLst>
              <a:ext uri="{FF2B5EF4-FFF2-40B4-BE49-F238E27FC236}">
                <a16:creationId xmlns:a16="http://schemas.microsoft.com/office/drawing/2014/main" id="{15078AC2-F803-479F-A51F-842DB07008CD}"/>
              </a:ext>
            </a:extLst>
          </p:cNvPr>
          <p:cNvCxnSpPr/>
          <p:nvPr/>
        </p:nvCxnSpPr>
        <p:spPr>
          <a:xfrm>
            <a:off x="11582400" y="2425700"/>
            <a:ext cx="0" cy="3543300"/>
          </a:xfrm>
          <a:prstGeom prst="straightConnector1">
            <a:avLst/>
          </a:prstGeom>
          <a:ln w="34925">
            <a:solidFill>
              <a:srgbClr val="FF0000"/>
            </a:solidFill>
            <a:headEnd type="stealth" w="lg" len="lg"/>
            <a:tailEnd type="stealth" w="lg" len="lg"/>
          </a:ln>
        </p:spPr>
        <p:style>
          <a:lnRef idx="2">
            <a:schemeClr val="accent1"/>
          </a:lnRef>
          <a:fillRef idx="0">
            <a:schemeClr val="accent1"/>
          </a:fillRef>
          <a:effectRef idx="1">
            <a:schemeClr val="accent1"/>
          </a:effectRef>
          <a:fontRef idx="minor">
            <a:schemeClr val="tx1"/>
          </a:fontRef>
        </p:style>
      </p:cxnSp>
      <p:sp>
        <p:nvSpPr>
          <p:cNvPr id="18" name="TextBox 17">
            <a:extLst>
              <a:ext uri="{FF2B5EF4-FFF2-40B4-BE49-F238E27FC236}">
                <a16:creationId xmlns:a16="http://schemas.microsoft.com/office/drawing/2014/main" id="{2DAAF83C-FC55-EC80-F472-EBAC408A43E0}"/>
              </a:ext>
            </a:extLst>
          </p:cNvPr>
          <p:cNvSpPr txBox="1"/>
          <p:nvPr/>
        </p:nvSpPr>
        <p:spPr>
          <a:xfrm rot="5400000">
            <a:off x="11009191" y="4024398"/>
            <a:ext cx="1146419" cy="338554"/>
          </a:xfrm>
          <a:prstGeom prst="rect">
            <a:avLst/>
          </a:prstGeom>
          <a:solidFill>
            <a:schemeClr val="bg1"/>
          </a:solidFill>
        </p:spPr>
        <p:txBody>
          <a:bodyPr wrap="square" rtlCol="0">
            <a:spAutoFit/>
          </a:bodyPr>
          <a:lstStyle/>
          <a:p>
            <a:pPr algn="ctr"/>
            <a:r>
              <a:rPr lang="en-CA" sz="1600" dirty="0"/>
              <a:t>Bill shape</a:t>
            </a:r>
          </a:p>
        </p:txBody>
      </p:sp>
    </p:spTree>
    <p:extLst>
      <p:ext uri="{BB962C8B-B14F-4D97-AF65-F5344CB8AC3E}">
        <p14:creationId xmlns:p14="http://schemas.microsoft.com/office/powerpoint/2010/main" val="180814440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When a linear view is not enough: PCA </a:t>
            </a:r>
            <a:r>
              <a:rPr lang="en-CA" dirty="0"/>
              <a:t>vs</a:t>
            </a:r>
            <a:r>
              <a:rPr dirty="0"/>
              <a:t> t-SNE</a:t>
            </a:r>
          </a:p>
        </p:txBody>
      </p:sp>
      <p:pic>
        <p:nvPicPr>
          <p:cNvPr id="3" name="Picture 2" descr="diabetes-pca-tsne.png"/>
          <p:cNvPicPr>
            <a:picLocks noChangeAspect="1"/>
          </p:cNvPicPr>
          <p:nvPr/>
        </p:nvPicPr>
        <p:blipFill>
          <a:blip r:embed="rId3"/>
          <a:stretch>
            <a:fillRect/>
          </a:stretch>
        </p:blipFill>
        <p:spPr>
          <a:xfrm>
            <a:off x="1536700" y="1240536"/>
            <a:ext cx="8857488" cy="4428744"/>
          </a:xfrm>
          <a:prstGeom prst="rect">
            <a:avLst/>
          </a:prstGeom>
        </p:spPr>
      </p:pic>
      <p:sp>
        <p:nvSpPr>
          <p:cNvPr id="4" name="TextBox 3"/>
          <p:cNvSpPr txBox="1"/>
          <p:nvPr/>
        </p:nvSpPr>
        <p:spPr>
          <a:xfrm>
            <a:off x="841248" y="5669280"/>
            <a:ext cx="10515600" cy="707886"/>
          </a:xfrm>
          <a:prstGeom prst="rect">
            <a:avLst/>
          </a:prstGeom>
          <a:noFill/>
        </p:spPr>
        <p:txBody>
          <a:bodyPr wrap="square">
            <a:spAutoFit/>
          </a:bodyPr>
          <a:lstStyle/>
          <a:p>
            <a:r>
              <a:rPr sz="2000" dirty="0"/>
              <a:t>t-SNE separates the Diabetes groups more cleanly, but distances </a:t>
            </a:r>
            <a:r>
              <a:rPr lang="en-CA" sz="2000" dirty="0"/>
              <a:t>&amp;</a:t>
            </a:r>
            <a:r>
              <a:rPr sz="2000" dirty="0"/>
              <a:t> axes no longer have a direct meaning.</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5.25</a:t>
            </a:r>
          </a:p>
        </p:txBody>
      </p:sp>
      <p:sp>
        <p:nvSpPr>
          <p:cNvPr id="6" name="Slide Number Placeholder 6"/>
          <p:cNvSpPr>
            <a:spLocks noGrp="1"/>
          </p:cNvSpPr>
          <p:nvPr>
            <p:ph type="sldNum" sz="quarter" idx="12"/>
          </p:nvPr>
        </p:nvSpPr>
        <p:spPr/>
        <p:txBody>
          <a:bodyPr/>
          <a:lstStyle/>
          <a:p>
            <a:fld id="{9BFB2853-4965-4727-91C4-384EB30D99A4}" type="slidenum">
              <a:rPr lang="en-CA"/>
              <a:t>30</a:t>
            </a:fld>
            <a:endParaRPr lang="en-CA"/>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From PCA to t-SNE, animated</a:t>
            </a:r>
          </a:p>
        </p:txBody>
      </p:sp>
      <p:pic>
        <p:nvPicPr>
          <p:cNvPr id="3" name="Picture 2" descr="diabetes-pca-tsne.gif"/>
          <p:cNvPicPr>
            <a:picLocks noChangeAspect="1"/>
          </p:cNvPicPr>
          <p:nvPr/>
        </p:nvPicPr>
        <p:blipFill>
          <a:blip r:embed="rId3"/>
          <a:stretch>
            <a:fillRect/>
          </a:stretch>
        </p:blipFill>
        <p:spPr>
          <a:xfrm>
            <a:off x="6333424" y="1327485"/>
            <a:ext cx="4861560" cy="486156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5.26</a:t>
            </a:r>
          </a:p>
        </p:txBody>
      </p:sp>
      <p:sp>
        <p:nvSpPr>
          <p:cNvPr id="6" name="TextBox 5">
            <a:extLst>
              <a:ext uri="{FF2B5EF4-FFF2-40B4-BE49-F238E27FC236}">
                <a16:creationId xmlns:a16="http://schemas.microsoft.com/office/drawing/2014/main" id="{309B4190-46A6-9C16-602C-E46B6788A35E}"/>
              </a:ext>
            </a:extLst>
          </p:cNvPr>
          <p:cNvSpPr txBox="1"/>
          <p:nvPr/>
        </p:nvSpPr>
        <p:spPr>
          <a:xfrm>
            <a:off x="838201" y="1665171"/>
            <a:ext cx="5379720" cy="4062651"/>
          </a:xfrm>
          <a:prstGeom prst="rect">
            <a:avLst/>
          </a:prstGeom>
          <a:noFill/>
        </p:spPr>
        <p:txBody>
          <a:bodyPr wrap="square" rtlCol="0">
            <a:spAutoFit/>
          </a:bodyPr>
          <a:lstStyle/>
          <a:p>
            <a:r>
              <a:rPr lang="en-CA" sz="2000" dirty="0"/>
              <a:t>We can better understand algorithms visually by animating a </a:t>
            </a:r>
            <a:r>
              <a:rPr lang="en-CA" sz="2000" b="1" dirty="0"/>
              <a:t>smooth interpolation </a:t>
            </a:r>
            <a:r>
              <a:rPr lang="en-CA" sz="2000" dirty="0"/>
              <a:t>from one to another</a:t>
            </a:r>
          </a:p>
          <a:p>
            <a:endParaRPr lang="en-CA" sz="2000" dirty="0"/>
          </a:p>
          <a:p>
            <a:r>
              <a:rPr lang="en-CA" sz="2000" dirty="0"/>
              <a:t>Here, the PCA configuration morphs into </a:t>
            </a:r>
            <a:r>
              <a:rPr lang="en-CA" sz="2000"/>
              <a:t>the t‑SNE </a:t>
            </a:r>
            <a:r>
              <a:rPr lang="en-CA" sz="2000" dirty="0"/>
              <a:t>one largely by a rotation.</a:t>
            </a:r>
          </a:p>
          <a:p>
            <a:endParaRPr lang="en-CA" sz="2000" dirty="0"/>
          </a:p>
          <a:p>
            <a:r>
              <a:rPr lang="en-CA" sz="2000"/>
              <a:t>But t‑SNE </a:t>
            </a:r>
            <a:r>
              <a:rPr lang="en-CA" sz="2000" dirty="0"/>
              <a:t>achieves </a:t>
            </a:r>
            <a:r>
              <a:rPr lang="en-CA" sz="2000"/>
              <a:t>wider separation among groups.</a:t>
            </a:r>
            <a:endParaRPr lang="en-CA" sz="2000" dirty="0"/>
          </a:p>
          <a:p>
            <a:endParaRPr lang="en-CA" sz="2000"/>
          </a:p>
          <a:p>
            <a:r>
              <a:rPr lang="en-CA" sz="2000"/>
              <a:t>The </a:t>
            </a:r>
            <a:r>
              <a:rPr lang="en-CA" sz="2000" dirty="0"/>
              <a:t>data ellipses here carry the visual message.</a:t>
            </a:r>
          </a:p>
          <a:p>
            <a:endParaRPr lang="en-CA" dirty="0"/>
          </a:p>
        </p:txBody>
      </p:sp>
      <p:sp>
        <p:nvSpPr>
          <p:cNvPr id="7" name="Slide Number Placeholder 7"/>
          <p:cNvSpPr>
            <a:spLocks noGrp="1"/>
          </p:cNvSpPr>
          <p:nvPr>
            <p:ph type="sldNum" sz="quarter" idx="12"/>
          </p:nvPr>
        </p:nvSpPr>
        <p:spPr/>
        <p:txBody>
          <a:bodyPr/>
          <a:lstStyle/>
          <a:p>
            <a:fld id="{9BFB2853-4965-4727-91C4-384EB30D99A4}" type="slidenum">
              <a:rPr lang="en-CA"/>
              <a:t>31</a:t>
            </a:fld>
            <a:endParaRPr lang="en-CA"/>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3F6F4"/>
            </a:gs>
            <a:gs pos="100000">
              <a:srgbClr val="9DC0AA"/>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831850" y="497883"/>
            <a:ext cx="10515600" cy="2852737"/>
          </a:xfrm>
        </p:spPr>
        <p:txBody>
          <a:bodyPr/>
          <a:lstStyle/>
          <a:p>
            <a:r>
              <a:rPr lang="en-CA" dirty="0"/>
              <a:t>Elliptical Insights</a:t>
            </a:r>
            <a:endParaRPr dirty="0"/>
          </a:p>
        </p:txBody>
      </p:sp>
      <p:sp>
        <p:nvSpPr>
          <p:cNvPr id="3" name="Text Placeholder 2"/>
          <p:cNvSpPr>
            <a:spLocks noGrp="1"/>
          </p:cNvSpPr>
          <p:nvPr>
            <p:ph type="body" idx="1"/>
          </p:nvPr>
        </p:nvSpPr>
        <p:spPr>
          <a:xfrm>
            <a:off x="831850" y="3664044"/>
            <a:ext cx="10515600" cy="3001161"/>
          </a:xfrm>
        </p:spPr>
        <p:txBody>
          <a:bodyPr/>
          <a:lstStyle/>
          <a:p>
            <a:r>
              <a:rPr lang="en-CA" dirty="0"/>
              <a:t>Visual understanding of problems in statistics that only confound us in tables &amp; formulas</a:t>
            </a:r>
          </a:p>
          <a:p>
            <a:pPr marL="342900" indent="-342900">
              <a:buFont typeface="Arial" panose="020B0604020202020204" pitchFamily="34" charset="0"/>
              <a:buChar char="•"/>
            </a:pPr>
            <a:r>
              <a:rPr lang="en-CA" dirty="0"/>
              <a:t>Outlier detection</a:t>
            </a:r>
          </a:p>
          <a:p>
            <a:pPr marL="342900" indent="-342900">
              <a:buFont typeface="Arial" panose="020B0604020202020204" pitchFamily="34" charset="0"/>
              <a:buChar char="•"/>
            </a:pPr>
            <a:r>
              <a:rPr lang="en-CA" dirty="0"/>
              <a:t>Measurement error</a:t>
            </a:r>
          </a:p>
          <a:p>
            <a:pPr marL="342900" indent="-342900">
              <a:buFont typeface="Arial" panose="020B0604020202020204" pitchFamily="34" charset="0"/>
              <a:buChar char="•"/>
            </a:pPr>
            <a:r>
              <a:rPr lang="en-CA" dirty="0"/>
              <a:t>Understanding collinearity</a:t>
            </a:r>
          </a:p>
          <a:p>
            <a:pPr marL="342900" indent="-342900">
              <a:buFont typeface="Arial" panose="020B0604020202020204" pitchFamily="34" charset="0"/>
              <a:buChar char="•"/>
            </a:pPr>
            <a:r>
              <a:rPr lang="en-CA" dirty="0"/>
              <a:t>Ridge regression</a:t>
            </a:r>
            <a:endParaRPr dirty="0"/>
          </a:p>
        </p:txBody>
      </p:sp>
      <p:sp>
        <p:nvSpPr>
          <p:cNvPr id="4" name="Slide Number Placeholder 4"/>
          <p:cNvSpPr>
            <a:spLocks noGrp="1"/>
          </p:cNvSpPr>
          <p:nvPr>
            <p:ph type="sldNum" sz="quarter" idx="12"/>
          </p:nvPr>
        </p:nvSpPr>
        <p:spPr/>
        <p:txBody>
          <a:bodyPr/>
          <a:lstStyle/>
          <a:p>
            <a:fld id="{9BFB2853-4965-4727-91C4-384EB30D99A4}" type="slidenum">
              <a:rPr lang="en-CA"/>
              <a:t>32</a:t>
            </a:fld>
            <a:endParaRPr lang="en-CA"/>
          </a:p>
        </p:txBody>
      </p:sp>
      <p:pic>
        <p:nvPicPr>
          <p:cNvPr id="6" name="Section 3 outlier illustration">
            <a:extLst>
              <a:ext uri="{FF2B5EF4-FFF2-40B4-BE49-F238E27FC236}">
                <a16:creationId xmlns:a16="http://schemas.microsoft.com/office/drawing/2014/main" id="{D9874DB1-9794-A74C-8677-BF4D8C7677EF}"/>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469900" y="177800"/>
            <a:ext cx="2057400" cy="1905000"/>
          </a:xfrm>
          <a:prstGeom prst="rect">
            <a:avLst/>
          </a:prstGeom>
          <a:ln w="9525">
            <a:solidFill>
              <a:srgbClr val="3A3A3A"/>
            </a:solidFill>
          </a:ln>
          <a:effectLst>
            <a:outerShdw blurRad="101600" dist="45790" dir="3378598" rotWithShape="0">
              <a:srgbClr val="000000">
                <a:alpha val="40000"/>
              </a:srgbClr>
            </a:outerShdw>
          </a:effectLst>
        </p:spPr>
      </p:pic>
      <p:pic>
        <p:nvPicPr>
          <p:cNvPr id="8" name="Section 3 measurement error illustration">
            <a:extLst>
              <a:ext uri="{FF2B5EF4-FFF2-40B4-BE49-F238E27FC236}">
                <a16:creationId xmlns:a16="http://schemas.microsoft.com/office/drawing/2014/main" id="{6436CD5E-74D1-4A25-DD57-A748B2B1C2A5}"/>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2806700" y="177800"/>
            <a:ext cx="4000500" cy="1905000"/>
          </a:xfrm>
          <a:prstGeom prst="rect">
            <a:avLst/>
          </a:prstGeom>
          <a:ln w="9525">
            <a:solidFill>
              <a:srgbClr val="3A3A3A"/>
            </a:solidFill>
          </a:ln>
          <a:effectLst>
            <a:outerShdw blurRad="101600" dist="45790" dir="3378598" rotWithShape="0">
              <a:srgbClr val="000000">
                <a:alpha val="40000"/>
              </a:srgbClr>
            </a:outerShdw>
          </a:effectLst>
        </p:spPr>
      </p:pic>
      <p:pic>
        <p:nvPicPr>
          <p:cNvPr id="10" name="Section 3 ridge illustration">
            <a:extLst>
              <a:ext uri="{FF2B5EF4-FFF2-40B4-BE49-F238E27FC236}">
                <a16:creationId xmlns:a16="http://schemas.microsoft.com/office/drawing/2014/main" id="{7FE5C6B1-2945-D860-D3B7-C44ECD2BABAB}"/>
              </a:ext>
            </a:extLst>
          </p:cNvPr>
          <p:cNvPicPr>
            <a:picLocks/>
          </p:cNvPicPr>
          <p:nvPr/>
        </p:nvPicPr>
        <p:blipFill>
          <a:blip r:embed="rId5">
            <a:extLst>
              <a:ext uri="{28A0092B-C50C-407E-A947-70E740481C1C}">
                <a14:useLocalDpi xmlns:a14="http://schemas.microsoft.com/office/drawing/2010/main" val="0"/>
              </a:ext>
            </a:extLst>
          </a:blip>
          <a:stretch>
            <a:fillRect/>
          </a:stretch>
        </p:blipFill>
        <p:spPr>
          <a:xfrm>
            <a:off x="7086600" y="177800"/>
            <a:ext cx="4635500" cy="1905000"/>
          </a:xfrm>
          <a:prstGeom prst="rect">
            <a:avLst/>
          </a:prstGeom>
          <a:ln w="9525">
            <a:solidFill>
              <a:srgbClr val="3A3A3A"/>
            </a:solidFill>
          </a:ln>
          <a:effectLst>
            <a:outerShdw blurRad="101600" dist="45790" dir="3378598" rotWithShape="0">
              <a:srgbClr val="000000">
                <a:alpha val="40000"/>
              </a:srgbClr>
            </a:outerShdw>
          </a:effectLst>
        </p:spPr>
      </p:pic>
      <p:pic>
        <p:nvPicPr>
          <p:cNvPr id="12" name="Section 3 Wally">
            <a:extLst>
              <a:ext uri="{FF2B5EF4-FFF2-40B4-BE49-F238E27FC236}">
                <a16:creationId xmlns:a16="http://schemas.microsoft.com/office/drawing/2014/main" id="{AEDF897F-DFC6-ED44-2B58-B03DA455DDA4}"/>
              </a:ext>
            </a:extLst>
          </p:cNvPr>
          <p:cNvPicPr>
            <a:picLocks/>
          </p:cNvPicPr>
          <p:nvPr/>
        </p:nvPicPr>
        <p:blipFill>
          <a:blip r:embed="rId6">
            <a:clrChange>
              <a:clrFrom>
                <a:srgbClr val="FFFFFF"/>
              </a:clrFrom>
              <a:clrTo>
                <a:srgbClr val="FFFFFF">
                  <a:alpha val="0"/>
                </a:srgbClr>
              </a:clrTo>
            </a:clrChange>
          </a:blip>
          <a:srcRect l="2228" t="2228" r="1114" b="1114"/>
          <a:stretch>
            <a:fillRect/>
          </a:stretch>
        </p:blipFill>
        <p:spPr>
          <a:xfrm>
            <a:off x="6364714" y="2503914"/>
            <a:ext cx="638329" cy="638329"/>
          </a:xfrm>
          <a:prstGeom prst="rect">
            <a:avLst/>
          </a:prstGeom>
          <a:solidFill>
            <a:schemeClr val="accent1">
              <a:alpha val="0"/>
            </a:schemeClr>
          </a:solidFill>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Outlier detection: </a:t>
            </a:r>
            <a:r>
              <a:rPr lang="en-CA" dirty="0" err="1"/>
              <a:t>Waar</a:t>
            </a:r>
            <a:r>
              <a:rPr lang="en-CA" dirty="0"/>
              <a:t> is Wally?</a:t>
            </a:r>
            <a:endParaRPr lang="en-US" dirty="0"/>
          </a:p>
        </p:txBody>
      </p:sp>
      <p:sp>
        <p:nvSpPr>
          <p:cNvPr id="3" name="Content Placeholder 2"/>
          <p:cNvSpPr>
            <a:spLocks noGrp="1"/>
          </p:cNvSpPr>
          <p:nvPr>
            <p:ph idx="1"/>
          </p:nvPr>
        </p:nvSpPr>
        <p:spPr>
          <a:xfrm>
            <a:off x="838200" y="1143000"/>
            <a:ext cx="10515600" cy="1600200"/>
          </a:xfrm>
        </p:spPr>
        <p:txBody>
          <a:bodyPr>
            <a:normAutofit/>
          </a:bodyPr>
          <a:lstStyle/>
          <a:p>
            <a:r>
              <a:rPr lang="en-US" dirty="0"/>
              <a:t>Multivariate outliers might be invisible in univariate views, but become readily apparent on the </a:t>
            </a:r>
            <a:r>
              <a:rPr lang="en-US" i="1" dirty="0">
                <a:solidFill>
                  <a:srgbClr val="FF0000"/>
                </a:solidFill>
              </a:rPr>
              <a:t>smallest</a:t>
            </a:r>
            <a:r>
              <a:rPr lang="en-US" dirty="0"/>
              <a:t> principal component(s)</a:t>
            </a:r>
          </a:p>
          <a:p>
            <a:pPr lvl="1"/>
            <a:r>
              <a:rPr lang="en-US" dirty="0"/>
              <a:t>100 observations on two correlated normal variables with two bivariate outliers near (2,2), (-2, -2)</a:t>
            </a: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86000" y="2895600"/>
            <a:ext cx="3335714" cy="3228572"/>
          </a:xfrm>
          <a:prstGeom prst="rect">
            <a:avLst/>
          </a:prstGeom>
        </p:spPr>
      </p:pic>
      <p:sp>
        <p:nvSpPr>
          <p:cNvPr id="7" name="TextBox 6"/>
          <p:cNvSpPr txBox="1"/>
          <p:nvPr/>
        </p:nvSpPr>
        <p:spPr>
          <a:xfrm>
            <a:off x="1134737" y="6170024"/>
            <a:ext cx="7933063" cy="369332"/>
          </a:xfrm>
          <a:prstGeom prst="rect">
            <a:avLst/>
          </a:prstGeom>
          <a:noFill/>
        </p:spPr>
        <p:txBody>
          <a:bodyPr wrap="square" rtlCol="0">
            <a:spAutoFit/>
          </a:bodyPr>
          <a:lstStyle/>
          <a:p>
            <a:r>
              <a:rPr lang="en-US" dirty="0"/>
              <a:t>Animation: </a:t>
            </a:r>
            <a:r>
              <a:rPr lang="en-US" dirty="0">
                <a:hlinkClick r:id="rId4"/>
              </a:rPr>
              <a:t>http://www.datavis.ca/gallery/animation/outlier-demo/</a:t>
            </a:r>
            <a:r>
              <a:rPr lang="en-US" dirty="0"/>
              <a:t> </a:t>
            </a:r>
          </a:p>
        </p:txBody>
      </p:sp>
      <p:sp>
        <p:nvSpPr>
          <p:cNvPr id="10" name="Oval 9">
            <a:extLst>
              <a:ext uri="{FF2B5EF4-FFF2-40B4-BE49-F238E27FC236}">
                <a16:creationId xmlns:a16="http://schemas.microsoft.com/office/drawing/2014/main" id="{BB337D7C-21AE-3280-AE87-D795CAF4F77B}"/>
              </a:ext>
            </a:extLst>
          </p:cNvPr>
          <p:cNvSpPr/>
          <p:nvPr/>
        </p:nvSpPr>
        <p:spPr>
          <a:xfrm>
            <a:off x="3243945" y="3505200"/>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Oval 10">
            <a:extLst>
              <a:ext uri="{FF2B5EF4-FFF2-40B4-BE49-F238E27FC236}">
                <a16:creationId xmlns:a16="http://schemas.microsoft.com/office/drawing/2014/main" id="{001ABCAC-63E1-2F1E-AD2A-BB18D9F3332D}"/>
              </a:ext>
            </a:extLst>
          </p:cNvPr>
          <p:cNvSpPr/>
          <p:nvPr/>
        </p:nvSpPr>
        <p:spPr>
          <a:xfrm>
            <a:off x="4724400" y="4876800"/>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6" name="Picture 5"/>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324601" y="2901045"/>
            <a:ext cx="3385715" cy="3221429"/>
          </a:xfrm>
          <a:prstGeom prst="rect">
            <a:avLst/>
          </a:prstGeom>
        </p:spPr>
      </p:pic>
      <p:grpSp>
        <p:nvGrpSpPr>
          <p:cNvPr id="14" name="Group 13">
            <a:extLst>
              <a:ext uri="{FF2B5EF4-FFF2-40B4-BE49-F238E27FC236}">
                <a16:creationId xmlns:a16="http://schemas.microsoft.com/office/drawing/2014/main" id="{30671532-BF30-807E-8298-B842C5155737}"/>
              </a:ext>
            </a:extLst>
          </p:cNvPr>
          <p:cNvGrpSpPr/>
          <p:nvPr/>
        </p:nvGrpSpPr>
        <p:grpSpPr>
          <a:xfrm>
            <a:off x="8010926" y="3133998"/>
            <a:ext cx="488934" cy="2581003"/>
            <a:chOff x="6486926" y="3133997"/>
            <a:chExt cx="488934" cy="2581003"/>
          </a:xfrm>
        </p:grpSpPr>
        <p:sp>
          <p:nvSpPr>
            <p:cNvPr id="9" name="Oval 8">
              <a:extLst>
                <a:ext uri="{FF2B5EF4-FFF2-40B4-BE49-F238E27FC236}">
                  <a16:creationId xmlns:a16="http://schemas.microsoft.com/office/drawing/2014/main" id="{ECB8E533-E97C-C8DF-C06A-008964E0F708}"/>
                </a:ext>
              </a:extLst>
            </p:cNvPr>
            <p:cNvSpPr/>
            <p:nvPr/>
          </p:nvSpPr>
          <p:spPr>
            <a:xfrm>
              <a:off x="6671060" y="5410200"/>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 name="Oval 11">
              <a:extLst>
                <a:ext uri="{FF2B5EF4-FFF2-40B4-BE49-F238E27FC236}">
                  <a16:creationId xmlns:a16="http://schemas.microsoft.com/office/drawing/2014/main" id="{8A759897-B997-4E5D-6B0E-E6ACE70AC9B7}"/>
                </a:ext>
              </a:extLst>
            </p:cNvPr>
            <p:cNvSpPr/>
            <p:nvPr/>
          </p:nvSpPr>
          <p:spPr>
            <a:xfrm>
              <a:off x="6486926" y="3133997"/>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13" name="Arrow: Right 12">
            <a:extLst>
              <a:ext uri="{FF2B5EF4-FFF2-40B4-BE49-F238E27FC236}">
                <a16:creationId xmlns:a16="http://schemas.microsoft.com/office/drawing/2014/main" id="{8AFCCD3D-C3CA-5C4D-647D-D576A42BF5B4}"/>
              </a:ext>
            </a:extLst>
          </p:cNvPr>
          <p:cNvSpPr/>
          <p:nvPr/>
        </p:nvSpPr>
        <p:spPr>
          <a:xfrm>
            <a:off x="5676900" y="2895600"/>
            <a:ext cx="838200" cy="293132"/>
          </a:xfrm>
          <a:prstGeom prst="rightArrow">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C1806E20-2B2C-7093-DC94-1E5418255902}"/>
              </a:ext>
            </a:extLst>
          </p:cNvPr>
          <p:cNvSpPr txBox="1"/>
          <p:nvPr/>
        </p:nvSpPr>
        <p:spPr>
          <a:xfrm>
            <a:off x="7506427" y="2541858"/>
            <a:ext cx="1655386" cy="369332"/>
          </a:xfrm>
          <a:prstGeom prst="rect">
            <a:avLst/>
          </a:prstGeom>
          <a:noFill/>
        </p:spPr>
        <p:txBody>
          <a:bodyPr wrap="square" rtlCol="0">
            <a:spAutoFit/>
          </a:bodyPr>
          <a:lstStyle/>
          <a:p>
            <a:r>
              <a:rPr lang="en-CA" dirty="0"/>
              <a:t>Waldo space</a:t>
            </a:r>
          </a:p>
        </p:txBody>
      </p:sp>
      <p:sp>
        <p:nvSpPr>
          <p:cNvPr id="15" name="TextBox 14">
            <a:extLst>
              <a:ext uri="{FF2B5EF4-FFF2-40B4-BE49-F238E27FC236}">
                <a16:creationId xmlns:a16="http://schemas.microsoft.com/office/drawing/2014/main" id="{8D4B3D34-1EC3-540D-C439-CF4C834763E1}"/>
              </a:ext>
            </a:extLst>
          </p:cNvPr>
          <p:cNvSpPr txBox="1"/>
          <p:nvPr/>
        </p:nvSpPr>
        <p:spPr>
          <a:xfrm>
            <a:off x="2286000" y="2581460"/>
            <a:ext cx="1655386" cy="369332"/>
          </a:xfrm>
          <a:prstGeom prst="rect">
            <a:avLst/>
          </a:prstGeom>
          <a:noFill/>
        </p:spPr>
        <p:txBody>
          <a:bodyPr wrap="square" rtlCol="0">
            <a:spAutoFit/>
          </a:bodyPr>
          <a:lstStyle/>
          <a:p>
            <a:r>
              <a:rPr lang="en-CA" dirty="0"/>
              <a:t>Data space</a:t>
            </a:r>
          </a:p>
        </p:txBody>
      </p:sp>
      <p:pic>
        <p:nvPicPr>
          <p:cNvPr id="17" name="Picture 16">
            <a:extLst>
              <a:ext uri="{FF2B5EF4-FFF2-40B4-BE49-F238E27FC236}">
                <a16:creationId xmlns:a16="http://schemas.microsoft.com/office/drawing/2014/main" id="{CC742673-A5D6-1F75-0409-79B0C4FA7BF1}"/>
              </a:ext>
            </a:extLst>
          </p:cNvPr>
          <p:cNvPicPr>
            <a:picLocks noChangeAspect="1"/>
          </p:cNvPicPr>
          <p:nvPr/>
        </p:nvPicPr>
        <p:blipFill>
          <a:blip r:embed="rId6"/>
          <a:stretch>
            <a:fillRect/>
          </a:stretch>
        </p:blipFill>
        <p:spPr>
          <a:xfrm>
            <a:off x="9066870" y="2515508"/>
            <a:ext cx="568780" cy="568780"/>
          </a:xfrm>
          <a:prstGeom prst="rect">
            <a:avLst/>
          </a:prstGeom>
        </p:spPr>
      </p:pic>
      <p:sp>
        <p:nvSpPr>
          <p:cNvPr id="18" name="Slide Number Placeholder 18"/>
          <p:cNvSpPr>
            <a:spLocks noGrp="1"/>
          </p:cNvSpPr>
          <p:nvPr>
            <p:ph type="sldNum" sz="quarter" idx="12"/>
          </p:nvPr>
        </p:nvSpPr>
        <p:spPr/>
        <p:txBody>
          <a:bodyPr/>
          <a:lstStyle/>
          <a:p>
            <a:fld id="{9BFB2853-4965-4727-91C4-384EB30D99A4}" type="slidenum">
              <a:rPr lang="en-CA"/>
              <a:t>33</a:t>
            </a:fld>
            <a:endParaRPr lang="en-CA"/>
          </a:p>
        </p:txBody>
      </p:sp>
    </p:spTree>
    <p:extLst>
      <p:ext uri="{BB962C8B-B14F-4D97-AF65-F5344CB8AC3E}">
        <p14:creationId xmlns:p14="http://schemas.microsoft.com/office/powerpoint/2010/main" val="42090565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2" presetClass="entr" presetSubtype="2" fill="hold" nodeType="withEffect">
                                  <p:stCondLst>
                                    <p:cond delay="0"/>
                                  </p:stCondLst>
                                  <p:childTnLst>
                                    <p:set>
                                      <p:cBhvr>
                                        <p:cTn id="8" dur="1" fill="hold">
                                          <p:stCondLst>
                                            <p:cond delay="0"/>
                                          </p:stCondLst>
                                        </p:cTn>
                                        <p:tgtEl>
                                          <p:spTgt spid="6"/>
                                        </p:tgtEl>
                                        <p:attrNameLst>
                                          <p:attrName>style.visibility</p:attrName>
                                        </p:attrNameLst>
                                      </p:cBhvr>
                                      <p:to>
                                        <p:strVal val="visible"/>
                                      </p:to>
                                    </p:set>
                                    <p:anim calcmode="lin" valueType="num">
                                      <p:cBhvr additive="base">
                                        <p:cTn id="9" dur="500" fill="hold"/>
                                        <p:tgtEl>
                                          <p:spTgt spid="6"/>
                                        </p:tgtEl>
                                        <p:attrNameLst>
                                          <p:attrName>ppt_x</p:attrName>
                                        </p:attrNameLst>
                                      </p:cBhvr>
                                      <p:tavLst>
                                        <p:tav tm="0">
                                          <p:val>
                                            <p:strVal val="1+#ppt_w/2"/>
                                          </p:val>
                                        </p:tav>
                                        <p:tav tm="100000">
                                          <p:val>
                                            <p:strVal val="#ppt_x"/>
                                          </p:val>
                                        </p:tav>
                                      </p:tavLst>
                                    </p:anim>
                                    <p:anim calcmode="lin" valueType="num">
                                      <p:cBhvr additive="base">
                                        <p:cTn id="10" dur="500" fill="hold"/>
                                        <p:tgtEl>
                                          <p:spTgt spid="6"/>
                                        </p:tgtEl>
                                        <p:attrNameLst>
                                          <p:attrName>ppt_y</p:attrName>
                                        </p:attrNameLst>
                                      </p:cBhvr>
                                      <p:tavLst>
                                        <p:tav tm="0">
                                          <p:val>
                                            <p:strVal val="#ppt_y"/>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2" presetClass="entr" presetSubtype="4" fill="hold" nodeType="clickEffect">
                                  <p:stCondLst>
                                    <p:cond delay="0"/>
                                  </p:stCondLst>
                                  <p:childTnLst>
                                    <p:set>
                                      <p:cBhvr>
                                        <p:cTn id="14" dur="1" fill="hold">
                                          <p:stCondLst>
                                            <p:cond delay="0"/>
                                          </p:stCondLst>
                                        </p:cTn>
                                        <p:tgtEl>
                                          <p:spTgt spid="14"/>
                                        </p:tgtEl>
                                        <p:attrNameLst>
                                          <p:attrName>style.visibility</p:attrName>
                                        </p:attrNameLst>
                                      </p:cBhvr>
                                      <p:to>
                                        <p:strVal val="visible"/>
                                      </p:to>
                                    </p:set>
                                    <p:anim calcmode="lin" valueType="num">
                                      <p:cBhvr additive="base">
                                        <p:cTn id="15" dur="500" fill="hold"/>
                                        <p:tgtEl>
                                          <p:spTgt spid="14"/>
                                        </p:tgtEl>
                                        <p:attrNameLst>
                                          <p:attrName>ppt_x</p:attrName>
                                        </p:attrNameLst>
                                      </p:cBhvr>
                                      <p:tavLst>
                                        <p:tav tm="0">
                                          <p:val>
                                            <p:strVal val="#ppt_x"/>
                                          </p:val>
                                        </p:tav>
                                        <p:tav tm="100000">
                                          <p:val>
                                            <p:strVal val="#ppt_x"/>
                                          </p:val>
                                        </p:tav>
                                      </p:tavLst>
                                    </p:anim>
                                    <p:anim calcmode="lin" valueType="num">
                                      <p:cBhvr additive="base">
                                        <p:cTn id="16" dur="500" fill="hold"/>
                                        <p:tgtEl>
                                          <p:spTgt spid="14"/>
                                        </p:tgtEl>
                                        <p:attrNameLst>
                                          <p:attrName>ppt_y</p:attrName>
                                        </p:attrNameLst>
                                      </p:cBhvr>
                                      <p:tavLst>
                                        <p:tav tm="0">
                                          <p:val>
                                            <p:strVal val="1+#ppt_h/2"/>
                                          </p:val>
                                        </p:tav>
                                        <p:tav tm="100000">
                                          <p:val>
                                            <p:strVal val="#ppt_y"/>
                                          </p:val>
                                        </p:tav>
                                      </p:tavLst>
                                    </p:anim>
                                  </p:childTnLst>
                                </p:cTn>
                              </p:par>
                              <p:par>
                                <p:cTn id="17" presetID="1"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8" grpId="0"/>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Multivariate outliers: which penguins are unusual?</a:t>
            </a:r>
          </a:p>
        </p:txBody>
      </p:sp>
      <p:pic>
        <p:nvPicPr>
          <p:cNvPr id="3" name="Picture 2" descr="fig-peng-cqplot-1.png"/>
          <p:cNvPicPr>
            <a:picLocks noChangeAspect="1"/>
          </p:cNvPicPr>
          <p:nvPr/>
        </p:nvPicPr>
        <p:blipFill>
          <a:blip r:embed="rId3"/>
          <a:stretch>
            <a:fillRect/>
          </a:stretch>
        </p:blipFill>
        <p:spPr>
          <a:xfrm>
            <a:off x="841248" y="1537256"/>
            <a:ext cx="5120640" cy="3657600"/>
          </a:xfrm>
          <a:prstGeom prst="rect">
            <a:avLst/>
          </a:prstGeom>
        </p:spPr>
      </p:pic>
      <p:sp>
        <p:nvSpPr>
          <p:cNvPr id="5" name="TextBox 4"/>
          <p:cNvSpPr txBox="1"/>
          <p:nvPr/>
        </p:nvSpPr>
        <p:spPr>
          <a:xfrm>
            <a:off x="841248" y="5271712"/>
            <a:ext cx="4923448" cy="646331"/>
          </a:xfrm>
          <a:prstGeom prst="rect">
            <a:avLst/>
          </a:prstGeom>
          <a:noFill/>
        </p:spPr>
        <p:txBody>
          <a:bodyPr wrap="square">
            <a:spAutoFit/>
          </a:bodyPr>
          <a:lstStyle/>
          <a:p>
            <a:r>
              <a:rPr sz="1800" dirty="0" err="1"/>
              <a:t>Mahalanobis</a:t>
            </a:r>
            <a:r>
              <a:rPr sz="1800" dirty="0"/>
              <a:t> </a:t>
            </a:r>
            <a:r>
              <a:rPr lang="en-CA" sz="1800" dirty="0"/>
              <a:t>D</a:t>
            </a:r>
            <a:r>
              <a:rPr lang="en-CA" sz="1800" baseline="30000" dirty="0"/>
              <a:t>2</a:t>
            </a:r>
            <a:r>
              <a:rPr lang="en-CA" sz="1800" dirty="0"/>
              <a:t> </a:t>
            </a:r>
            <a:r>
              <a:rPr sz="1800" dirty="0"/>
              <a:t>distances against </a:t>
            </a:r>
            <a:r>
              <a:rPr lang="el-GR" sz="1800" dirty="0">
                <a:latin typeface="Cambria Math" panose="02040503050406030204" pitchFamily="18" charset="0"/>
                <a:ea typeface="Cambria Math" panose="02040503050406030204" pitchFamily="18" charset="0"/>
              </a:rPr>
              <a:t>χ</a:t>
            </a:r>
            <a:r>
              <a:rPr lang="en-CA" sz="1800" baseline="30000" dirty="0">
                <a:latin typeface="Cambria Math" panose="02040503050406030204" pitchFamily="18" charset="0"/>
                <a:ea typeface="Cambria Math" panose="02040503050406030204" pitchFamily="18" charset="0"/>
              </a:rPr>
              <a:t>2</a:t>
            </a:r>
            <a:r>
              <a:rPr sz="1800" dirty="0"/>
              <a:t> quantiles</a:t>
            </a:r>
            <a:r>
              <a:rPr lang="en-CA" sz="1800" dirty="0"/>
              <a:t> shows which ones are unusual</a:t>
            </a:r>
            <a:r>
              <a:rPr sz="1800" dirty="0"/>
              <a:t> </a:t>
            </a:r>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4.26, 4.27</a:t>
            </a:r>
          </a:p>
        </p:txBody>
      </p:sp>
      <p:grpSp>
        <p:nvGrpSpPr>
          <p:cNvPr id="14" name="Group 13">
            <a:extLst>
              <a:ext uri="{FF2B5EF4-FFF2-40B4-BE49-F238E27FC236}">
                <a16:creationId xmlns:a16="http://schemas.microsoft.com/office/drawing/2014/main" id="{0728BF96-A0F7-C957-E62B-262E4BCB0347}"/>
              </a:ext>
            </a:extLst>
          </p:cNvPr>
          <p:cNvGrpSpPr/>
          <p:nvPr/>
        </p:nvGrpSpPr>
        <p:grpSpPr>
          <a:xfrm>
            <a:off x="6236208" y="1537256"/>
            <a:ext cx="5120640" cy="4380786"/>
            <a:chOff x="6236208" y="1537256"/>
            <a:chExt cx="5120640" cy="4380786"/>
          </a:xfrm>
        </p:grpSpPr>
        <p:pic>
          <p:nvPicPr>
            <p:cNvPr id="4" name="Picture 3" descr="fig-peng-ggplot-out-1.png"/>
            <p:cNvPicPr>
              <a:picLocks noChangeAspect="1"/>
            </p:cNvPicPr>
            <p:nvPr/>
          </p:nvPicPr>
          <p:blipFill>
            <a:blip r:embed="rId4"/>
            <a:stretch>
              <a:fillRect/>
            </a:stretch>
          </p:blipFill>
          <p:spPr>
            <a:xfrm>
              <a:off x="6236208" y="1537256"/>
              <a:ext cx="5120640" cy="3657600"/>
            </a:xfrm>
            <a:prstGeom prst="rect">
              <a:avLst/>
            </a:prstGeom>
          </p:spPr>
        </p:pic>
        <p:sp>
          <p:nvSpPr>
            <p:cNvPr id="10" name="TextBox 9">
              <a:extLst>
                <a:ext uri="{FF2B5EF4-FFF2-40B4-BE49-F238E27FC236}">
                  <a16:creationId xmlns:a16="http://schemas.microsoft.com/office/drawing/2014/main" id="{312E0EF4-E400-D653-CF4B-538E18E836DC}"/>
                </a:ext>
              </a:extLst>
            </p:cNvPr>
            <p:cNvSpPr txBox="1"/>
            <p:nvPr/>
          </p:nvSpPr>
          <p:spPr>
            <a:xfrm>
              <a:off x="6236208" y="5271711"/>
              <a:ext cx="4923448" cy="646331"/>
            </a:xfrm>
            <a:prstGeom prst="rect">
              <a:avLst/>
            </a:prstGeom>
            <a:noFill/>
          </p:spPr>
          <p:txBody>
            <a:bodyPr wrap="square">
              <a:spAutoFit/>
            </a:bodyPr>
            <a:lstStyle/>
            <a:p>
              <a:r>
                <a:rPr lang="en-CA" sz="1800" dirty="0"/>
                <a:t>We can try to understand why they are unusual in data space of some variables </a:t>
              </a:r>
              <a:endParaRPr sz="1800" dirty="0"/>
            </a:p>
          </p:txBody>
        </p:sp>
      </p:grpSp>
      <p:sp>
        <p:nvSpPr>
          <p:cNvPr id="11" name="TextBox 10">
            <a:extLst>
              <a:ext uri="{FF2B5EF4-FFF2-40B4-BE49-F238E27FC236}">
                <a16:creationId xmlns:a16="http://schemas.microsoft.com/office/drawing/2014/main" id="{B7B1B822-CDD6-B8D6-EA82-C5F2B658B34B}"/>
              </a:ext>
            </a:extLst>
          </p:cNvPr>
          <p:cNvSpPr txBox="1"/>
          <p:nvPr/>
        </p:nvSpPr>
        <p:spPr>
          <a:xfrm>
            <a:off x="10510789" y="2446269"/>
            <a:ext cx="839963" cy="307777"/>
          </a:xfrm>
          <a:prstGeom prst="rect">
            <a:avLst/>
          </a:prstGeom>
          <a:solidFill>
            <a:schemeClr val="accent5">
              <a:lumMod val="75000"/>
              <a:alpha val="20000"/>
            </a:schemeClr>
          </a:solidFill>
        </p:spPr>
        <p:txBody>
          <a:bodyPr wrap="square" rtlCol="0">
            <a:spAutoFit/>
          </a:bodyPr>
          <a:lstStyle/>
          <a:p>
            <a:pPr algn="ctr"/>
            <a:r>
              <a:rPr lang="en-CA" sz="1400" dirty="0"/>
              <a:t>Cyrano</a:t>
            </a:r>
          </a:p>
        </p:txBody>
      </p:sp>
      <p:sp>
        <p:nvSpPr>
          <p:cNvPr id="13" name="TextBox 12">
            <a:extLst>
              <a:ext uri="{FF2B5EF4-FFF2-40B4-BE49-F238E27FC236}">
                <a16:creationId xmlns:a16="http://schemas.microsoft.com/office/drawing/2014/main" id="{30A4AC45-70A4-F6BB-40CF-B12C51195345}"/>
              </a:ext>
            </a:extLst>
          </p:cNvPr>
          <p:cNvSpPr txBox="1"/>
          <p:nvPr/>
        </p:nvSpPr>
        <p:spPr>
          <a:xfrm>
            <a:off x="6827520" y="1959243"/>
            <a:ext cx="1155032" cy="307777"/>
          </a:xfrm>
          <a:prstGeom prst="rect">
            <a:avLst/>
          </a:prstGeom>
          <a:solidFill>
            <a:schemeClr val="accent2">
              <a:lumMod val="40000"/>
              <a:lumOff val="60000"/>
              <a:alpha val="50000"/>
            </a:schemeClr>
          </a:solidFill>
        </p:spPr>
        <p:txBody>
          <a:bodyPr wrap="square" rtlCol="0">
            <a:spAutoFit/>
          </a:bodyPr>
          <a:lstStyle/>
          <a:p>
            <a:pPr algn="ctr"/>
            <a:r>
              <a:rPr lang="en-CA" sz="1400"/>
              <a:t>Snub Nose</a:t>
            </a:r>
            <a:endParaRPr lang="en-CA" sz="1400" dirty="0"/>
          </a:p>
        </p:txBody>
      </p:sp>
      <p:sp>
        <p:nvSpPr>
          <p:cNvPr id="15" name="Slide Number Placeholder 15"/>
          <p:cNvSpPr>
            <a:spLocks noGrp="1"/>
          </p:cNvSpPr>
          <p:nvPr>
            <p:ph type="sldNum" sz="quarter" idx="12"/>
          </p:nvPr>
        </p:nvSpPr>
        <p:spPr/>
        <p:txBody>
          <a:bodyPr/>
          <a:lstStyle/>
          <a:p>
            <a:fld id="{9BFB2853-4965-4727-91C4-384EB30D99A4}" type="slidenum">
              <a:rPr lang="en-CA"/>
              <a:t>34</a:t>
            </a:fld>
            <a:endParaRPr lang="en-CA"/>
          </a:p>
        </p:txBody>
      </p:sp>
      <p:sp>
        <p:nvSpPr>
          <p:cNvPr id="7" name="Blog link">
            <a:extLst>
              <a:ext uri="{FF2B5EF4-FFF2-40B4-BE49-F238E27FC236}">
                <a16:creationId xmlns:a16="http://schemas.microsoft.com/office/drawing/2014/main" id="{5F2E6856-5EBD-FDB1-2467-0A219B7FF9A2}"/>
              </a:ext>
            </a:extLst>
          </p:cNvPr>
          <p:cNvSpPr txBox="1"/>
          <p:nvPr/>
        </p:nvSpPr>
        <p:spPr>
          <a:xfrm>
            <a:off x="2224587" y="6062990"/>
            <a:ext cx="7742825" cy="261610"/>
          </a:xfrm>
          <a:prstGeom prst="rect">
            <a:avLst/>
          </a:prstGeom>
          <a:noFill/>
          <a:ln w="9525">
            <a:solidFill>
              <a:srgbClr val="8C8C8C"/>
            </a:solidFill>
          </a:ln>
        </p:spPr>
        <p:txBody>
          <a:bodyPr vert="horz" wrap="none" lIns="88900" tIns="38100" rIns="88900" bIns="38100" rtlCol="0">
            <a:spAutoFit/>
          </a:bodyPr>
          <a:lstStyle/>
          <a:p>
            <a:r>
              <a:rPr lang="en-CA" sz="1200">
                <a:solidFill>
                  <a:srgbClr val="262626"/>
                </a:solidFill>
                <a:latin typeface="Aptos" panose="020B0004020202020204" pitchFamily="34" charset="0"/>
              </a:rPr>
              <a:t>Blog: </a:t>
            </a:r>
            <a:r>
              <a:rPr lang="en-CA" sz="1200" i="1">
                <a:solidFill>
                  <a:srgbClr val="262626"/>
                </a:solidFill>
                <a:latin typeface="Aptos" panose="020B0004020202020204" pitchFamily="34" charset="0"/>
              </a:rPr>
              <a:t>Palmer Penguins Cry Out: “Call Me by My Name”</a:t>
            </a:r>
            <a:r>
              <a:rPr lang="en-CA" sz="1200">
                <a:solidFill>
                  <a:srgbClr val="262626"/>
                </a:solidFill>
                <a:latin typeface="Aptos" panose="020B0004020202020204" pitchFamily="34" charset="0"/>
              </a:rPr>
              <a:t>   </a:t>
            </a:r>
            <a:r>
              <a:rPr lang="en-CA" sz="1200">
                <a:solidFill>
                  <a:srgbClr val="262626"/>
                </a:solidFill>
                <a:latin typeface="Aptos" panose="020B0004020202020204" pitchFamily="34" charset="0"/>
                <a:hlinkClick r:id="rId5"/>
              </a:rPr>
              <a:t>https://friendly.github.io/blog/posts/2026-10-peng-names/</a:t>
            </a:r>
            <a:endParaRPr lang="en-CA" sz="1200">
              <a:solidFill>
                <a:srgbClr val="262626"/>
              </a:solidFill>
              <a:latin typeface="Aptos" panose="020B0004020202020204" pitchFamily="34"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31" presetClass="entr" presetSubtype="0" fill="hold" grpId="0" nodeType="clickEffect">
                                  <p:stCondLst>
                                    <p:cond delay="0"/>
                                  </p:stCondLst>
                                  <p:childTnLst>
                                    <p:set>
                                      <p:cBhvr>
                                        <p:cTn id="10" dur="1" fill="hold">
                                          <p:stCondLst>
                                            <p:cond delay="0"/>
                                          </p:stCondLst>
                                        </p:cTn>
                                        <p:tgtEl>
                                          <p:spTgt spid="11"/>
                                        </p:tgtEl>
                                        <p:attrNameLst>
                                          <p:attrName>style.visibility</p:attrName>
                                        </p:attrNameLst>
                                      </p:cBhvr>
                                      <p:to>
                                        <p:strVal val="visible"/>
                                      </p:to>
                                    </p:set>
                                    <p:anim calcmode="lin" valueType="num">
                                      <p:cBhvr>
                                        <p:cTn id="11" dur="1000" fill="hold"/>
                                        <p:tgtEl>
                                          <p:spTgt spid="11"/>
                                        </p:tgtEl>
                                        <p:attrNameLst>
                                          <p:attrName>ppt_w</p:attrName>
                                        </p:attrNameLst>
                                      </p:cBhvr>
                                      <p:tavLst>
                                        <p:tav tm="0">
                                          <p:val>
                                            <p:fltVal val="0"/>
                                          </p:val>
                                        </p:tav>
                                        <p:tav tm="100000">
                                          <p:val>
                                            <p:strVal val="#ppt_w"/>
                                          </p:val>
                                        </p:tav>
                                      </p:tavLst>
                                    </p:anim>
                                    <p:anim calcmode="lin" valueType="num">
                                      <p:cBhvr>
                                        <p:cTn id="12" dur="1000" fill="hold"/>
                                        <p:tgtEl>
                                          <p:spTgt spid="11"/>
                                        </p:tgtEl>
                                        <p:attrNameLst>
                                          <p:attrName>ppt_h</p:attrName>
                                        </p:attrNameLst>
                                      </p:cBhvr>
                                      <p:tavLst>
                                        <p:tav tm="0">
                                          <p:val>
                                            <p:fltVal val="0"/>
                                          </p:val>
                                        </p:tav>
                                        <p:tav tm="100000">
                                          <p:val>
                                            <p:strVal val="#ppt_h"/>
                                          </p:val>
                                        </p:tav>
                                      </p:tavLst>
                                    </p:anim>
                                    <p:anim calcmode="lin" valueType="num">
                                      <p:cBhvr>
                                        <p:cTn id="13" dur="1000" fill="hold"/>
                                        <p:tgtEl>
                                          <p:spTgt spid="11"/>
                                        </p:tgtEl>
                                        <p:attrNameLst>
                                          <p:attrName>style.rotation</p:attrName>
                                        </p:attrNameLst>
                                      </p:cBhvr>
                                      <p:tavLst>
                                        <p:tav tm="0">
                                          <p:val>
                                            <p:fltVal val="90"/>
                                          </p:val>
                                        </p:tav>
                                        <p:tav tm="100000">
                                          <p:val>
                                            <p:fltVal val="0"/>
                                          </p:val>
                                        </p:tav>
                                      </p:tavLst>
                                    </p:anim>
                                    <p:animEffect transition="in" filter="fade">
                                      <p:cBhvr>
                                        <p:cTn id="14" dur="1000"/>
                                        <p:tgtEl>
                                          <p:spTgt spid="11"/>
                                        </p:tgtEl>
                                      </p:cBhvr>
                                    </p:animEffect>
                                  </p:childTnLst>
                                </p:cTn>
                              </p:par>
                            </p:childTnLst>
                          </p:cTn>
                        </p:par>
                      </p:childTnLst>
                    </p:cTn>
                  </p:par>
                  <p:par>
                    <p:cTn id="15" fill="hold">
                      <p:stCondLst>
                        <p:cond delay="indefinite"/>
                      </p:stCondLst>
                      <p:childTnLst>
                        <p:par>
                          <p:cTn id="16" fill="hold">
                            <p:stCondLst>
                              <p:cond delay="0"/>
                            </p:stCondLst>
                            <p:childTnLst>
                              <p:par>
                                <p:cTn id="17" presetID="31" presetClass="entr" presetSubtype="0" fill="hold" grpId="0" nodeType="clickEffect">
                                  <p:stCondLst>
                                    <p:cond delay="0"/>
                                  </p:stCondLst>
                                  <p:childTnLst>
                                    <p:set>
                                      <p:cBhvr>
                                        <p:cTn id="18" dur="1" fill="hold">
                                          <p:stCondLst>
                                            <p:cond delay="0"/>
                                          </p:stCondLst>
                                        </p:cTn>
                                        <p:tgtEl>
                                          <p:spTgt spid="13"/>
                                        </p:tgtEl>
                                        <p:attrNameLst>
                                          <p:attrName>style.visibility</p:attrName>
                                        </p:attrNameLst>
                                      </p:cBhvr>
                                      <p:to>
                                        <p:strVal val="visible"/>
                                      </p:to>
                                    </p:set>
                                    <p:anim calcmode="lin" valueType="num">
                                      <p:cBhvr>
                                        <p:cTn id="19" dur="1000" fill="hold"/>
                                        <p:tgtEl>
                                          <p:spTgt spid="13"/>
                                        </p:tgtEl>
                                        <p:attrNameLst>
                                          <p:attrName>ppt_w</p:attrName>
                                        </p:attrNameLst>
                                      </p:cBhvr>
                                      <p:tavLst>
                                        <p:tav tm="0">
                                          <p:val>
                                            <p:fltVal val="0"/>
                                          </p:val>
                                        </p:tav>
                                        <p:tav tm="100000">
                                          <p:val>
                                            <p:strVal val="#ppt_w"/>
                                          </p:val>
                                        </p:tav>
                                      </p:tavLst>
                                    </p:anim>
                                    <p:anim calcmode="lin" valueType="num">
                                      <p:cBhvr>
                                        <p:cTn id="20" dur="1000" fill="hold"/>
                                        <p:tgtEl>
                                          <p:spTgt spid="13"/>
                                        </p:tgtEl>
                                        <p:attrNameLst>
                                          <p:attrName>ppt_h</p:attrName>
                                        </p:attrNameLst>
                                      </p:cBhvr>
                                      <p:tavLst>
                                        <p:tav tm="0">
                                          <p:val>
                                            <p:fltVal val="0"/>
                                          </p:val>
                                        </p:tav>
                                        <p:tav tm="100000">
                                          <p:val>
                                            <p:strVal val="#ppt_h"/>
                                          </p:val>
                                        </p:tav>
                                      </p:tavLst>
                                    </p:anim>
                                    <p:anim calcmode="lin" valueType="num">
                                      <p:cBhvr>
                                        <p:cTn id="21" dur="1000" fill="hold"/>
                                        <p:tgtEl>
                                          <p:spTgt spid="13"/>
                                        </p:tgtEl>
                                        <p:attrNameLst>
                                          <p:attrName>style.rotation</p:attrName>
                                        </p:attrNameLst>
                                      </p:cBhvr>
                                      <p:tavLst>
                                        <p:tav tm="0">
                                          <p:val>
                                            <p:fltVal val="90"/>
                                          </p:val>
                                        </p:tav>
                                        <p:tav tm="100000">
                                          <p:val>
                                            <p:fltVal val="0"/>
                                          </p:val>
                                        </p:tav>
                                      </p:tavLst>
                                    </p:anim>
                                    <p:animEffect transition="in" filter="fade">
                                      <p:cBhvr>
                                        <p:cTn id="22" dur="1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3" grpId="0" animBg="1"/>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Outliers hide in the smallest dimensions</a:t>
            </a:r>
          </a:p>
        </p:txBody>
      </p:sp>
      <p:sp>
        <p:nvSpPr>
          <p:cNvPr id="3" name="Content Placeholder 2"/>
          <p:cNvSpPr>
            <a:spLocks noGrp="1"/>
          </p:cNvSpPr>
          <p:nvPr>
            <p:ph sz="half" idx="1"/>
          </p:nvPr>
        </p:nvSpPr>
        <p:spPr>
          <a:xfrm>
            <a:off x="838200" y="1643063"/>
            <a:ext cx="4752902" cy="4533900"/>
          </a:xfrm>
        </p:spPr>
        <p:txBody>
          <a:bodyPr/>
          <a:lstStyle/>
          <a:p>
            <a:r>
              <a:rPr dirty="0"/>
              <a:t>The first two dimensions show </a:t>
            </a:r>
            <a:r>
              <a:rPr lang="en-CA" dirty="0"/>
              <a:t>the </a:t>
            </a:r>
            <a:r>
              <a:rPr dirty="0"/>
              <a:t>typical</a:t>
            </a:r>
            <a:r>
              <a:rPr lang="en-CA" dirty="0"/>
              <a:t> penguins</a:t>
            </a:r>
            <a:endParaRPr dirty="0"/>
          </a:p>
          <a:p>
            <a:r>
              <a:rPr dirty="0"/>
              <a:t>The last dimensions show what </a:t>
            </a:r>
            <a:r>
              <a:rPr lang="en-CA" dirty="0"/>
              <a:t>remains</a:t>
            </a:r>
            <a:endParaRPr dirty="0"/>
          </a:p>
          <a:p>
            <a:r>
              <a:rPr dirty="0"/>
              <a:t>Biplot of dimensions 3-4 of the penguin data</a:t>
            </a:r>
            <a:endParaRPr lang="en-CA" dirty="0"/>
          </a:p>
          <a:p>
            <a:pPr lvl="1"/>
            <a:r>
              <a:rPr lang="en-CA" dirty="0"/>
              <a:t>Variable vectors show relations to dimensions</a:t>
            </a:r>
          </a:p>
          <a:p>
            <a:pPr lvl="1"/>
            <a:r>
              <a:rPr lang="en-CA" dirty="0"/>
              <a:t>Ellipses show diffs among groups</a:t>
            </a:r>
          </a:p>
          <a:p>
            <a:r>
              <a:rPr lang="en-CA" dirty="0"/>
              <a:t>Outliers are often extremes in Waldo space </a:t>
            </a:r>
          </a:p>
          <a:p>
            <a:pPr lvl="1"/>
            <a:r>
              <a:rPr lang="en-CA" dirty="0">
                <a:sym typeface="Symbol" panose="05050102010706020507" pitchFamily="18" charset="2"/>
              </a:rPr>
              <a:t> Biplot: </a:t>
            </a:r>
            <a:r>
              <a:rPr lang="en-CA" dirty="0">
                <a:solidFill>
                  <a:srgbClr val="FF0000"/>
                </a:solidFill>
                <a:sym typeface="Symbol" panose="05050102010706020507" pitchFamily="18" charset="2"/>
              </a:rPr>
              <a:t>why they’re weird</a:t>
            </a:r>
            <a:endParaRPr lang="en-CA" dirty="0">
              <a:solidFill>
                <a:srgbClr val="FF0000"/>
              </a:solidFill>
            </a:endParaRPr>
          </a:p>
        </p:txBody>
      </p:sp>
      <p:pic>
        <p:nvPicPr>
          <p:cNvPr id="4" name="Picture 3" descr="peng-out-biplot-34.png"/>
          <p:cNvPicPr>
            <a:picLocks noChangeAspect="1"/>
          </p:cNvPicPr>
          <p:nvPr/>
        </p:nvPicPr>
        <p:blipFill>
          <a:blip r:embed="rId3"/>
          <a:stretch>
            <a:fillRect/>
          </a:stretch>
        </p:blipFill>
        <p:spPr>
          <a:xfrm>
            <a:off x="5881036" y="1314851"/>
            <a:ext cx="5592278" cy="5164251"/>
          </a:xfrm>
          <a:prstGeom prst="rect">
            <a:avLst/>
          </a:prstGeom>
        </p:spPr>
      </p:pic>
      <p:sp>
        <p:nvSpPr>
          <p:cNvPr id="5" name="TextBox 4"/>
          <p:cNvSpPr txBox="1"/>
          <p:nvPr/>
        </p:nvSpPr>
        <p:spPr>
          <a:xfrm>
            <a:off x="10960488" y="6018906"/>
            <a:ext cx="1025652" cy="261610"/>
          </a:xfrm>
          <a:prstGeom prst="rect">
            <a:avLst/>
          </a:prstGeom>
          <a:noFill/>
        </p:spPr>
        <p:txBody>
          <a:bodyPr wrap="square">
            <a:spAutoFit/>
          </a:bodyPr>
          <a:lstStyle/>
          <a:p>
            <a:r>
              <a:rPr sz="1100" dirty="0">
                <a:solidFill>
                  <a:srgbClr val="707070"/>
                </a:solidFill>
              </a:rPr>
              <a:t>Figure 5.37</a:t>
            </a:r>
          </a:p>
        </p:txBody>
      </p:sp>
      <p:sp>
        <p:nvSpPr>
          <p:cNvPr id="6" name="TextBox 5">
            <a:extLst>
              <a:ext uri="{FF2B5EF4-FFF2-40B4-BE49-F238E27FC236}">
                <a16:creationId xmlns:a16="http://schemas.microsoft.com/office/drawing/2014/main" id="{261F3790-7C81-A423-611E-69850CE3B84D}"/>
              </a:ext>
            </a:extLst>
          </p:cNvPr>
          <p:cNvSpPr txBox="1"/>
          <p:nvPr/>
        </p:nvSpPr>
        <p:spPr>
          <a:xfrm>
            <a:off x="6439301" y="2194560"/>
            <a:ext cx="1155032" cy="338554"/>
          </a:xfrm>
          <a:prstGeom prst="rect">
            <a:avLst/>
          </a:prstGeom>
          <a:solidFill>
            <a:schemeClr val="accent5">
              <a:lumMod val="75000"/>
              <a:alpha val="20000"/>
            </a:schemeClr>
          </a:solidFill>
        </p:spPr>
        <p:txBody>
          <a:bodyPr wrap="square" rtlCol="0">
            <a:spAutoFit/>
          </a:bodyPr>
          <a:lstStyle/>
          <a:p>
            <a:pPr algn="ctr"/>
            <a:r>
              <a:rPr lang="en-CA" sz="1600" dirty="0"/>
              <a:t>Cyrano</a:t>
            </a:r>
          </a:p>
        </p:txBody>
      </p:sp>
      <p:sp>
        <p:nvSpPr>
          <p:cNvPr id="8" name="TextBox 7">
            <a:extLst>
              <a:ext uri="{FF2B5EF4-FFF2-40B4-BE49-F238E27FC236}">
                <a16:creationId xmlns:a16="http://schemas.microsoft.com/office/drawing/2014/main" id="{84FE8F6D-06F2-501D-DC84-24957B149041}"/>
              </a:ext>
            </a:extLst>
          </p:cNvPr>
          <p:cNvSpPr txBox="1"/>
          <p:nvPr/>
        </p:nvSpPr>
        <p:spPr>
          <a:xfrm>
            <a:off x="10539476" y="4149273"/>
            <a:ext cx="1155032" cy="338554"/>
          </a:xfrm>
          <a:prstGeom prst="rect">
            <a:avLst/>
          </a:prstGeom>
          <a:solidFill>
            <a:schemeClr val="accent2">
              <a:lumMod val="40000"/>
              <a:lumOff val="60000"/>
              <a:alpha val="50000"/>
            </a:schemeClr>
          </a:solidFill>
        </p:spPr>
        <p:txBody>
          <a:bodyPr wrap="square" rtlCol="0">
            <a:spAutoFit/>
          </a:bodyPr>
          <a:lstStyle/>
          <a:p>
            <a:pPr algn="ctr"/>
            <a:r>
              <a:rPr lang="en-CA" sz="1600" dirty="0"/>
              <a:t>Snub Nose</a:t>
            </a:r>
          </a:p>
        </p:txBody>
      </p:sp>
      <p:pic>
        <p:nvPicPr>
          <p:cNvPr id="7" name="Picture 6">
            <a:extLst>
              <a:ext uri="{FF2B5EF4-FFF2-40B4-BE49-F238E27FC236}">
                <a16:creationId xmlns:a16="http://schemas.microsoft.com/office/drawing/2014/main" id="{43C94EC3-1E5F-B9F0-E6DF-F78F37E16132}"/>
              </a:ext>
            </a:extLst>
          </p:cNvPr>
          <p:cNvPicPr>
            <a:picLocks noChangeAspect="1"/>
          </p:cNvPicPr>
          <p:nvPr/>
        </p:nvPicPr>
        <p:blipFill>
          <a:blip r:embed="rId4">
            <a:clrChange>
              <a:clrFrom>
                <a:srgbClr val="FFFFFF"/>
              </a:clrFrom>
              <a:clrTo>
                <a:srgbClr val="FFFFFF">
                  <a:alpha val="0"/>
                </a:srgbClr>
              </a:clrTo>
            </a:clrChange>
          </a:blip>
          <a:srcRect l="2228" t="2228" r="3342" b="1114"/>
          <a:stretch>
            <a:fillRect/>
          </a:stretch>
        </p:blipFill>
        <p:spPr>
          <a:xfrm>
            <a:off x="8477590" y="628416"/>
            <a:ext cx="568780" cy="568780"/>
          </a:xfrm>
          <a:prstGeom prst="rect">
            <a:avLst/>
          </a:prstGeom>
          <a:solidFill>
            <a:schemeClr val="accent1">
              <a:alpha val="0"/>
            </a:schemeClr>
          </a:solidFill>
        </p:spPr>
      </p:pic>
      <p:sp>
        <p:nvSpPr>
          <p:cNvPr id="9" name="Oval 8">
            <a:extLst>
              <a:ext uri="{FF2B5EF4-FFF2-40B4-BE49-F238E27FC236}">
                <a16:creationId xmlns:a16="http://schemas.microsoft.com/office/drawing/2014/main" id="{1EE4686E-46B0-015D-AEC7-4AB8205148C7}"/>
              </a:ext>
            </a:extLst>
          </p:cNvPr>
          <p:cNvSpPr/>
          <p:nvPr/>
        </p:nvSpPr>
        <p:spPr>
          <a:xfrm>
            <a:off x="6149367" y="1754982"/>
            <a:ext cx="1105408" cy="439578"/>
          </a:xfrm>
          <a:prstGeom prst="ellipse">
            <a:avLst/>
          </a:prstGeom>
          <a:no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Oval 10">
            <a:extLst>
              <a:ext uri="{FF2B5EF4-FFF2-40B4-BE49-F238E27FC236}">
                <a16:creationId xmlns:a16="http://schemas.microsoft.com/office/drawing/2014/main" id="{D29959FF-9D58-0D20-8146-01A5BF7DE215}"/>
              </a:ext>
            </a:extLst>
          </p:cNvPr>
          <p:cNvSpPr/>
          <p:nvPr/>
        </p:nvSpPr>
        <p:spPr>
          <a:xfrm>
            <a:off x="10564288" y="4385693"/>
            <a:ext cx="1105408" cy="439578"/>
          </a:xfrm>
          <a:prstGeom prst="ellipse">
            <a:avLst/>
          </a:prstGeom>
          <a:no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3" name="Oval 12">
            <a:extLst>
              <a:ext uri="{FF2B5EF4-FFF2-40B4-BE49-F238E27FC236}">
                <a16:creationId xmlns:a16="http://schemas.microsoft.com/office/drawing/2014/main" id="{90AEDFDF-B464-BFE6-6D44-4DC15C2BF7B1}"/>
              </a:ext>
            </a:extLst>
          </p:cNvPr>
          <p:cNvSpPr/>
          <p:nvPr/>
        </p:nvSpPr>
        <p:spPr>
          <a:xfrm>
            <a:off x="9338217" y="1974771"/>
            <a:ext cx="1105408" cy="439578"/>
          </a:xfrm>
          <a:prstGeom prst="ellipse">
            <a:avLst/>
          </a:prstGeom>
          <a:no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14" name="Picture 13">
            <a:extLst>
              <a:ext uri="{FF2B5EF4-FFF2-40B4-BE49-F238E27FC236}">
                <a16:creationId xmlns:a16="http://schemas.microsoft.com/office/drawing/2014/main" id="{B43C77F9-2A28-ED64-1B9B-EB53DE05DDBC}"/>
              </a:ext>
            </a:extLst>
          </p:cNvPr>
          <p:cNvPicPr>
            <a:picLocks noChangeAspect="1"/>
          </p:cNvPicPr>
          <p:nvPr/>
        </p:nvPicPr>
        <p:blipFill>
          <a:blip r:embed="rId4">
            <a:clrChange>
              <a:clrFrom>
                <a:srgbClr val="FFFFFF"/>
              </a:clrFrom>
              <a:clrTo>
                <a:srgbClr val="FFFFFF">
                  <a:alpha val="0"/>
                </a:srgbClr>
              </a:clrTo>
            </a:clrChange>
          </a:blip>
          <a:srcRect l="2228" t="2228" r="3342" b="1114"/>
          <a:stretch>
            <a:fillRect/>
          </a:stretch>
        </p:blipFill>
        <p:spPr>
          <a:xfrm>
            <a:off x="9053827" y="628416"/>
            <a:ext cx="568780" cy="568780"/>
          </a:xfrm>
          <a:prstGeom prst="rect">
            <a:avLst/>
          </a:prstGeom>
          <a:solidFill>
            <a:schemeClr val="accent1">
              <a:alpha val="0"/>
            </a:schemeClr>
          </a:solidFill>
        </p:spPr>
      </p:pic>
      <p:pic>
        <p:nvPicPr>
          <p:cNvPr id="15" name="Picture 14">
            <a:extLst>
              <a:ext uri="{FF2B5EF4-FFF2-40B4-BE49-F238E27FC236}">
                <a16:creationId xmlns:a16="http://schemas.microsoft.com/office/drawing/2014/main" id="{E6A1C750-3904-64B0-4EBF-F1A4C72D1606}"/>
              </a:ext>
            </a:extLst>
          </p:cNvPr>
          <p:cNvPicPr>
            <a:picLocks noChangeAspect="1"/>
          </p:cNvPicPr>
          <p:nvPr/>
        </p:nvPicPr>
        <p:blipFill>
          <a:blip r:embed="rId4">
            <a:clrChange>
              <a:clrFrom>
                <a:srgbClr val="FFFFFF"/>
              </a:clrFrom>
              <a:clrTo>
                <a:srgbClr val="FFFFFF">
                  <a:alpha val="0"/>
                </a:srgbClr>
              </a:clrTo>
            </a:clrChange>
          </a:blip>
          <a:srcRect l="2228" t="2228" r="3342" b="1114"/>
          <a:stretch>
            <a:fillRect/>
          </a:stretch>
        </p:blipFill>
        <p:spPr>
          <a:xfrm>
            <a:off x="9865952" y="628416"/>
            <a:ext cx="568780" cy="568780"/>
          </a:xfrm>
          <a:prstGeom prst="rect">
            <a:avLst/>
          </a:prstGeom>
          <a:solidFill>
            <a:schemeClr val="accent1">
              <a:alpha val="0"/>
            </a:schemeClr>
          </a:solidFill>
        </p:spPr>
      </p:pic>
      <p:sp>
        <p:nvSpPr>
          <p:cNvPr id="16" name="Slide Number Placeholder 16"/>
          <p:cNvSpPr>
            <a:spLocks noGrp="1"/>
          </p:cNvSpPr>
          <p:nvPr>
            <p:ph type="sldNum" sz="quarter" idx="12"/>
          </p:nvPr>
        </p:nvSpPr>
        <p:spPr/>
        <p:txBody>
          <a:bodyPr/>
          <a:lstStyle/>
          <a:p>
            <a:fld id="{9BFB2853-4965-4727-91C4-384EB30D99A4}" type="slidenum">
              <a:rPr lang="en-CA"/>
              <a:t>35</a:t>
            </a:fld>
            <a:endParaRPr lang="en-CA"/>
          </a:p>
        </p:txBody>
      </p:sp>
      <p:sp>
        <p:nvSpPr>
          <p:cNvPr id="12" name="TextBox 11">
            <a:extLst>
              <a:ext uri="{FF2B5EF4-FFF2-40B4-BE49-F238E27FC236}">
                <a16:creationId xmlns:a16="http://schemas.microsoft.com/office/drawing/2014/main" id="{43BB1E9E-D7B4-CDB3-AA22-4F70955E1299}"/>
              </a:ext>
            </a:extLst>
          </p:cNvPr>
          <p:cNvSpPr txBox="1"/>
          <p:nvPr/>
        </p:nvSpPr>
        <p:spPr>
          <a:xfrm>
            <a:off x="10156043" y="1974771"/>
            <a:ext cx="1155032" cy="338554"/>
          </a:xfrm>
          <a:prstGeom prst="rect">
            <a:avLst/>
          </a:prstGeom>
          <a:solidFill>
            <a:schemeClr val="accent2">
              <a:lumMod val="40000"/>
              <a:lumOff val="60000"/>
              <a:alpha val="50000"/>
            </a:schemeClr>
          </a:solidFill>
        </p:spPr>
        <p:txBody>
          <a:bodyPr wrap="square" rtlCol="0">
            <a:spAutoFit/>
          </a:bodyPr>
          <a:lstStyle/>
          <a:p>
            <a:pPr algn="ctr"/>
            <a:r>
              <a:rPr lang="en-CA" sz="1600" dirty="0"/>
              <a:t>Falstaff</a:t>
            </a:r>
          </a:p>
        </p:txBody>
      </p:sp>
    </p:spTree>
  </p:cSld>
  <p:clrMapOvr>
    <a:masterClrMapping/>
  </p:clrMapOvr>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withEffect">
                                      <p:stCondLst>
                                        <p:cond delay="75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1+#ppt_w/2"/>
                                              </p:val>
                                            </p:tav>
                                            <p:tav tm="100000">
                                              <p:val>
                                                <p:strVal val="#ppt_x"/>
                                              </p:val>
                                            </p:tav>
                                          </p:tavLst>
                                        </p:anim>
                                        <p:anim calcmode="lin" valueType="num">
                                          <p:cBhvr additive="base">
                                            <p:cTn id="8" dur="500" fill="hold"/>
                                            <p:tgtEl>
                                              <p:spTgt spid="7"/>
                                            </p:tgtEl>
                                            <p:attrNameLst>
                                              <p:attrName>ppt_y</p:attrName>
                                            </p:attrNameLst>
                                          </p:cBhvr>
                                          <p:tavLst>
                                            <p:tav tm="0">
                                              <p:val>
                                                <p:strVal val="#ppt_y"/>
                                              </p:val>
                                            </p:tav>
                                            <p:tav tm="100000">
                                              <p:val>
                                                <p:strVal val="#ppt_y"/>
                                              </p:val>
                                            </p:tav>
                                          </p:tavLst>
                                        </p:anim>
                                      </p:childTnLst>
                                    </p:cTn>
                                  </p:par>
                                  <p:par>
                                    <p:cTn id="9" presetID="2" presetClass="entr" presetSubtype="2" fill="hold" nodeType="withEffect" p14:presetBounceEnd="56000">
                                      <p:stCondLst>
                                        <p:cond delay="750"/>
                                      </p:stCondLst>
                                      <p:childTnLst>
                                        <p:set>
                                          <p:cBhvr>
                                            <p:cTn id="10" dur="1" fill="hold">
                                              <p:stCondLst>
                                                <p:cond delay="0"/>
                                              </p:stCondLst>
                                            </p:cTn>
                                            <p:tgtEl>
                                              <p:spTgt spid="14"/>
                                            </p:tgtEl>
                                            <p:attrNameLst>
                                              <p:attrName>style.visibility</p:attrName>
                                            </p:attrNameLst>
                                          </p:cBhvr>
                                          <p:to>
                                            <p:strVal val="visible"/>
                                          </p:to>
                                        </p:set>
                                        <p:anim calcmode="lin" valueType="num" p14:bounceEnd="56000">
                                          <p:cBhvr additive="base">
                                            <p:cTn id="11" dur="500" fill="hold"/>
                                            <p:tgtEl>
                                              <p:spTgt spid="14"/>
                                            </p:tgtEl>
                                            <p:attrNameLst>
                                              <p:attrName>ppt_x</p:attrName>
                                            </p:attrNameLst>
                                          </p:cBhvr>
                                          <p:tavLst>
                                            <p:tav tm="0">
                                              <p:val>
                                                <p:strVal val="1+#ppt_w/2"/>
                                              </p:val>
                                            </p:tav>
                                            <p:tav tm="100000">
                                              <p:val>
                                                <p:strVal val="#ppt_x"/>
                                              </p:val>
                                            </p:tav>
                                          </p:tavLst>
                                        </p:anim>
                                        <p:anim calcmode="lin" valueType="num" p14:bounceEnd="56000">
                                          <p:cBhvr additive="base">
                                            <p:cTn id="12" dur="500" fill="hold"/>
                                            <p:tgtEl>
                                              <p:spTgt spid="14"/>
                                            </p:tgtEl>
                                            <p:attrNameLst>
                                              <p:attrName>ppt_y</p:attrName>
                                            </p:attrNameLst>
                                          </p:cBhvr>
                                          <p:tavLst>
                                            <p:tav tm="0">
                                              <p:val>
                                                <p:strVal val="#ppt_y"/>
                                              </p:val>
                                            </p:tav>
                                            <p:tav tm="100000">
                                              <p:val>
                                                <p:strVal val="#ppt_y"/>
                                              </p:val>
                                            </p:tav>
                                          </p:tavLst>
                                        </p:anim>
                                      </p:childTnLst>
                                    </p:cTn>
                                  </p:par>
                                </p:childTnLst>
                              </p:cTn>
                            </p:par>
                            <p:par>
                              <p:cTn id="13" fill="hold">
                                <p:stCondLst>
                                  <p:cond delay="1250"/>
                                </p:stCondLst>
                                <p:childTnLst>
                                  <p:par>
                                    <p:cTn id="14" presetID="2" presetClass="entr" presetSubtype="6" fill="hold" nodeType="afterEffect">
                                      <p:stCondLst>
                                        <p:cond delay="1000"/>
                                      </p:stCondLst>
                                      <p:childTnLst>
                                        <p:set>
                                          <p:cBhvr>
                                            <p:cTn id="15" dur="1" fill="hold">
                                              <p:stCondLst>
                                                <p:cond delay="0"/>
                                              </p:stCondLst>
                                            </p:cTn>
                                            <p:tgtEl>
                                              <p:spTgt spid="15"/>
                                            </p:tgtEl>
                                            <p:attrNameLst>
                                              <p:attrName>style.visibility</p:attrName>
                                            </p:attrNameLst>
                                          </p:cBhvr>
                                          <p:to>
                                            <p:strVal val="visible"/>
                                          </p:to>
                                        </p:set>
                                        <p:anim calcmode="lin" valueType="num">
                                          <p:cBhvr additive="base">
                                            <p:cTn id="16" dur="500" fill="hold"/>
                                            <p:tgtEl>
                                              <p:spTgt spid="15"/>
                                            </p:tgtEl>
                                            <p:attrNameLst>
                                              <p:attrName>ppt_x</p:attrName>
                                            </p:attrNameLst>
                                          </p:cBhvr>
                                          <p:tavLst>
                                            <p:tav tm="0">
                                              <p:val>
                                                <p:strVal val="1+#ppt_w/2"/>
                                              </p:val>
                                            </p:tav>
                                            <p:tav tm="100000">
                                              <p:val>
                                                <p:strVal val="#ppt_x"/>
                                              </p:val>
                                            </p:tav>
                                          </p:tavLst>
                                        </p:anim>
                                        <p:anim calcmode="lin" valueType="num">
                                          <p:cBhvr additive="base">
                                            <p:cTn id="17" dur="500" fill="hold"/>
                                            <p:tgtEl>
                                              <p:spTgt spid="15"/>
                                            </p:tgtEl>
                                            <p:attrNameLst>
                                              <p:attrName>ppt_y</p:attrName>
                                            </p:attrNameLst>
                                          </p:cBhvr>
                                          <p:tavLst>
                                            <p:tav tm="0">
                                              <p:val>
                                                <p:strVal val="1+#ppt_h/2"/>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3">
                                                <p:txEl>
                                                  <p:pRg st="6" end="6"/>
                                                </p:txEl>
                                              </p:spTgt>
                                            </p:tgtEl>
                                            <p:attrNameLst>
                                              <p:attrName>style.visibility</p:attrName>
                                            </p:attrNameLst>
                                          </p:cBhvr>
                                          <p:to>
                                            <p:strVal val="visible"/>
                                          </p:to>
                                        </p:set>
                                      </p:childTnLst>
                                    </p:cTn>
                                  </p:par>
                                  <p:par>
                                    <p:cTn id="26" presetID="2" presetClass="entr" presetSubtype="4" fill="hold" grpId="0" nodeType="withEffect">
                                      <p:stCondLst>
                                        <p:cond delay="0"/>
                                      </p:stCondLst>
                                      <p:childTnLst>
                                        <p:set>
                                          <p:cBhvr>
                                            <p:cTn id="27" dur="1" fill="hold">
                                              <p:stCondLst>
                                                <p:cond delay="0"/>
                                              </p:stCondLst>
                                            </p:cTn>
                                            <p:tgtEl>
                                              <p:spTgt spid="9"/>
                                            </p:tgtEl>
                                            <p:attrNameLst>
                                              <p:attrName>style.visibility</p:attrName>
                                            </p:attrNameLst>
                                          </p:cBhvr>
                                          <p:to>
                                            <p:strVal val="visible"/>
                                          </p:to>
                                        </p:set>
                                        <p:anim calcmode="lin" valueType="num">
                                          <p:cBhvr additive="base">
                                            <p:cTn id="28" dur="500" fill="hold"/>
                                            <p:tgtEl>
                                              <p:spTgt spid="9"/>
                                            </p:tgtEl>
                                            <p:attrNameLst>
                                              <p:attrName>ppt_x</p:attrName>
                                            </p:attrNameLst>
                                          </p:cBhvr>
                                          <p:tavLst>
                                            <p:tav tm="0">
                                              <p:val>
                                                <p:strVal val="#ppt_x"/>
                                              </p:val>
                                            </p:tav>
                                            <p:tav tm="100000">
                                              <p:val>
                                                <p:strVal val="#ppt_x"/>
                                              </p:val>
                                            </p:tav>
                                          </p:tavLst>
                                        </p:anim>
                                        <p:anim calcmode="lin" valueType="num">
                                          <p:cBhvr additive="base">
                                            <p:cTn id="29" dur="500" fill="hold"/>
                                            <p:tgtEl>
                                              <p:spTgt spid="9"/>
                                            </p:tgtEl>
                                            <p:attrNameLst>
                                              <p:attrName>ppt_y</p:attrName>
                                            </p:attrNameLst>
                                          </p:cBhvr>
                                          <p:tavLst>
                                            <p:tav tm="0">
                                              <p:val>
                                                <p:strVal val="1+#ppt_h/2"/>
                                              </p:val>
                                            </p:tav>
                                            <p:tav tm="100000">
                                              <p:val>
                                                <p:strVal val="#ppt_y"/>
                                              </p:val>
                                            </p:tav>
                                          </p:tavLst>
                                        </p:anim>
                                      </p:childTnLst>
                                    </p:cTn>
                                  </p:par>
                                  <p:par>
                                    <p:cTn id="30" presetID="2" presetClass="entr" presetSubtype="4" fill="hold" grpId="0" nodeType="withEffect">
                                      <p:stCondLst>
                                        <p:cond delay="0"/>
                                      </p:stCondLst>
                                      <p:childTnLst>
                                        <p:set>
                                          <p:cBhvr>
                                            <p:cTn id="31" dur="1" fill="hold">
                                              <p:stCondLst>
                                                <p:cond delay="0"/>
                                              </p:stCondLst>
                                            </p:cTn>
                                            <p:tgtEl>
                                              <p:spTgt spid="13"/>
                                            </p:tgtEl>
                                            <p:attrNameLst>
                                              <p:attrName>style.visibility</p:attrName>
                                            </p:attrNameLst>
                                          </p:cBhvr>
                                          <p:to>
                                            <p:strVal val="visible"/>
                                          </p:to>
                                        </p:set>
                                        <p:anim calcmode="lin" valueType="num">
                                          <p:cBhvr additive="base">
                                            <p:cTn id="32" dur="500" fill="hold"/>
                                            <p:tgtEl>
                                              <p:spTgt spid="13"/>
                                            </p:tgtEl>
                                            <p:attrNameLst>
                                              <p:attrName>ppt_x</p:attrName>
                                            </p:attrNameLst>
                                          </p:cBhvr>
                                          <p:tavLst>
                                            <p:tav tm="0">
                                              <p:val>
                                                <p:strVal val="#ppt_x"/>
                                              </p:val>
                                            </p:tav>
                                            <p:tav tm="100000">
                                              <p:val>
                                                <p:strVal val="#ppt_x"/>
                                              </p:val>
                                            </p:tav>
                                          </p:tavLst>
                                        </p:anim>
                                        <p:anim calcmode="lin" valueType="num">
                                          <p:cBhvr additive="base">
                                            <p:cTn id="33" dur="500" fill="hold"/>
                                            <p:tgtEl>
                                              <p:spTgt spid="13"/>
                                            </p:tgtEl>
                                            <p:attrNameLst>
                                              <p:attrName>ppt_y</p:attrName>
                                            </p:attrNameLst>
                                          </p:cBhvr>
                                          <p:tavLst>
                                            <p:tav tm="0">
                                              <p:val>
                                                <p:strVal val="1+#ppt_h/2"/>
                                              </p:val>
                                            </p:tav>
                                            <p:tav tm="100000">
                                              <p:val>
                                                <p:strVal val="#ppt_y"/>
                                              </p:val>
                                            </p:tav>
                                          </p:tavLst>
                                        </p:anim>
                                      </p:childTnLst>
                                    </p:cTn>
                                  </p:par>
                                  <p:par>
                                    <p:cTn id="34" presetID="2" presetClass="entr" presetSubtype="1" fill="hold" grpId="0" nodeType="withEffect">
                                      <p:stCondLst>
                                        <p:cond delay="0"/>
                                      </p:stCondLst>
                                      <p:childTnLst>
                                        <p:set>
                                          <p:cBhvr>
                                            <p:cTn id="35" dur="1" fill="hold">
                                              <p:stCondLst>
                                                <p:cond delay="0"/>
                                              </p:stCondLst>
                                            </p:cTn>
                                            <p:tgtEl>
                                              <p:spTgt spid="11"/>
                                            </p:tgtEl>
                                            <p:attrNameLst>
                                              <p:attrName>style.visibility</p:attrName>
                                            </p:attrNameLst>
                                          </p:cBhvr>
                                          <p:to>
                                            <p:strVal val="visible"/>
                                          </p:to>
                                        </p:set>
                                        <p:anim calcmode="lin" valueType="num">
                                          <p:cBhvr additive="base">
                                            <p:cTn id="36" dur="500" fill="hold"/>
                                            <p:tgtEl>
                                              <p:spTgt spid="11"/>
                                            </p:tgtEl>
                                            <p:attrNameLst>
                                              <p:attrName>ppt_x</p:attrName>
                                            </p:attrNameLst>
                                          </p:cBhvr>
                                          <p:tavLst>
                                            <p:tav tm="0">
                                              <p:val>
                                                <p:strVal val="#ppt_x"/>
                                              </p:val>
                                            </p:tav>
                                            <p:tav tm="100000">
                                              <p:val>
                                                <p:strVal val="#ppt_x"/>
                                              </p:val>
                                            </p:tav>
                                          </p:tavLst>
                                        </p:anim>
                                        <p:anim calcmode="lin" valueType="num">
                                          <p:cBhvr additive="base">
                                            <p:cTn id="37" dur="500" fill="hold"/>
                                            <p:tgtEl>
                                              <p:spTgt spid="11"/>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animBg="1"/>
          <p:bldP spid="13" grpId="0" animBg="1"/>
        </p:bldLst>
      </p:timing>
    </mc:Choice>
    <mc:Fallback xmlns="">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withEffect">
                                      <p:stCondLst>
                                        <p:cond delay="75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1+#ppt_w/2"/>
                                              </p:val>
                                            </p:tav>
                                            <p:tav tm="100000">
                                              <p:val>
                                                <p:strVal val="#ppt_x"/>
                                              </p:val>
                                            </p:tav>
                                          </p:tavLst>
                                        </p:anim>
                                        <p:anim calcmode="lin" valueType="num">
                                          <p:cBhvr additive="base">
                                            <p:cTn id="8" dur="500" fill="hold"/>
                                            <p:tgtEl>
                                              <p:spTgt spid="7"/>
                                            </p:tgtEl>
                                            <p:attrNameLst>
                                              <p:attrName>ppt_y</p:attrName>
                                            </p:attrNameLst>
                                          </p:cBhvr>
                                          <p:tavLst>
                                            <p:tav tm="0">
                                              <p:val>
                                                <p:strVal val="#ppt_y"/>
                                              </p:val>
                                            </p:tav>
                                            <p:tav tm="100000">
                                              <p:val>
                                                <p:strVal val="#ppt_y"/>
                                              </p:val>
                                            </p:tav>
                                          </p:tavLst>
                                        </p:anim>
                                      </p:childTnLst>
                                    </p:cTn>
                                  </p:par>
                                  <p:par>
                                    <p:cTn id="9" presetID="2" presetClass="entr" presetSubtype="2" fill="hold" nodeType="withEffect">
                                      <p:stCondLst>
                                        <p:cond delay="750"/>
                                      </p:stCondLst>
                                      <p:childTnLst>
                                        <p:set>
                                          <p:cBhvr>
                                            <p:cTn id="10" dur="1" fill="hold">
                                              <p:stCondLst>
                                                <p:cond delay="0"/>
                                              </p:stCondLst>
                                            </p:cTn>
                                            <p:tgtEl>
                                              <p:spTgt spid="14"/>
                                            </p:tgtEl>
                                            <p:attrNameLst>
                                              <p:attrName>style.visibility</p:attrName>
                                            </p:attrNameLst>
                                          </p:cBhvr>
                                          <p:to>
                                            <p:strVal val="visible"/>
                                          </p:to>
                                        </p:set>
                                        <p:anim calcmode="lin" valueType="num">
                                          <p:cBhvr additive="base">
                                            <p:cTn id="11" dur="500" fill="hold"/>
                                            <p:tgtEl>
                                              <p:spTgt spid="14"/>
                                            </p:tgtEl>
                                            <p:attrNameLst>
                                              <p:attrName>ppt_x</p:attrName>
                                            </p:attrNameLst>
                                          </p:cBhvr>
                                          <p:tavLst>
                                            <p:tav tm="0">
                                              <p:val>
                                                <p:strVal val="1+#ppt_w/2"/>
                                              </p:val>
                                            </p:tav>
                                            <p:tav tm="100000">
                                              <p:val>
                                                <p:strVal val="#ppt_x"/>
                                              </p:val>
                                            </p:tav>
                                          </p:tavLst>
                                        </p:anim>
                                        <p:anim calcmode="lin" valueType="num">
                                          <p:cBhvr additive="base">
                                            <p:cTn id="12" dur="500" fill="hold"/>
                                            <p:tgtEl>
                                              <p:spTgt spid="14"/>
                                            </p:tgtEl>
                                            <p:attrNameLst>
                                              <p:attrName>ppt_y</p:attrName>
                                            </p:attrNameLst>
                                          </p:cBhvr>
                                          <p:tavLst>
                                            <p:tav tm="0">
                                              <p:val>
                                                <p:strVal val="#ppt_y"/>
                                              </p:val>
                                            </p:tav>
                                            <p:tav tm="100000">
                                              <p:val>
                                                <p:strVal val="#ppt_y"/>
                                              </p:val>
                                            </p:tav>
                                          </p:tavLst>
                                        </p:anim>
                                      </p:childTnLst>
                                    </p:cTn>
                                  </p:par>
                                </p:childTnLst>
                              </p:cTn>
                            </p:par>
                            <p:par>
                              <p:cTn id="13" fill="hold">
                                <p:stCondLst>
                                  <p:cond delay="1250"/>
                                </p:stCondLst>
                                <p:childTnLst>
                                  <p:par>
                                    <p:cTn id="14" presetID="2" presetClass="entr" presetSubtype="6" fill="hold" nodeType="afterEffect">
                                      <p:stCondLst>
                                        <p:cond delay="1000"/>
                                      </p:stCondLst>
                                      <p:childTnLst>
                                        <p:set>
                                          <p:cBhvr>
                                            <p:cTn id="15" dur="1" fill="hold">
                                              <p:stCondLst>
                                                <p:cond delay="0"/>
                                              </p:stCondLst>
                                            </p:cTn>
                                            <p:tgtEl>
                                              <p:spTgt spid="15"/>
                                            </p:tgtEl>
                                            <p:attrNameLst>
                                              <p:attrName>style.visibility</p:attrName>
                                            </p:attrNameLst>
                                          </p:cBhvr>
                                          <p:to>
                                            <p:strVal val="visible"/>
                                          </p:to>
                                        </p:set>
                                        <p:anim calcmode="lin" valueType="num">
                                          <p:cBhvr additive="base">
                                            <p:cTn id="16" dur="500" fill="hold"/>
                                            <p:tgtEl>
                                              <p:spTgt spid="15"/>
                                            </p:tgtEl>
                                            <p:attrNameLst>
                                              <p:attrName>ppt_x</p:attrName>
                                            </p:attrNameLst>
                                          </p:cBhvr>
                                          <p:tavLst>
                                            <p:tav tm="0">
                                              <p:val>
                                                <p:strVal val="1+#ppt_w/2"/>
                                              </p:val>
                                            </p:tav>
                                            <p:tav tm="100000">
                                              <p:val>
                                                <p:strVal val="#ppt_x"/>
                                              </p:val>
                                            </p:tav>
                                          </p:tavLst>
                                        </p:anim>
                                        <p:anim calcmode="lin" valueType="num">
                                          <p:cBhvr additive="base">
                                            <p:cTn id="17" dur="500" fill="hold"/>
                                            <p:tgtEl>
                                              <p:spTgt spid="15"/>
                                            </p:tgtEl>
                                            <p:attrNameLst>
                                              <p:attrName>ppt_y</p:attrName>
                                            </p:attrNameLst>
                                          </p:cBhvr>
                                          <p:tavLst>
                                            <p:tav tm="0">
                                              <p:val>
                                                <p:strVal val="1+#ppt_h/2"/>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3">
                                                <p:txEl>
                                                  <p:pRg st="6" end="6"/>
                                                </p:txEl>
                                              </p:spTgt>
                                            </p:tgtEl>
                                            <p:attrNameLst>
                                              <p:attrName>style.visibility</p:attrName>
                                            </p:attrNameLst>
                                          </p:cBhvr>
                                          <p:to>
                                            <p:strVal val="visible"/>
                                          </p:to>
                                        </p:set>
                                      </p:childTnLst>
                                    </p:cTn>
                                  </p:par>
                                  <p:par>
                                    <p:cTn id="26" presetID="2" presetClass="entr" presetSubtype="4" fill="hold" grpId="0" nodeType="withEffect">
                                      <p:stCondLst>
                                        <p:cond delay="0"/>
                                      </p:stCondLst>
                                      <p:childTnLst>
                                        <p:set>
                                          <p:cBhvr>
                                            <p:cTn id="27" dur="1" fill="hold">
                                              <p:stCondLst>
                                                <p:cond delay="0"/>
                                              </p:stCondLst>
                                            </p:cTn>
                                            <p:tgtEl>
                                              <p:spTgt spid="9"/>
                                            </p:tgtEl>
                                            <p:attrNameLst>
                                              <p:attrName>style.visibility</p:attrName>
                                            </p:attrNameLst>
                                          </p:cBhvr>
                                          <p:to>
                                            <p:strVal val="visible"/>
                                          </p:to>
                                        </p:set>
                                        <p:anim calcmode="lin" valueType="num">
                                          <p:cBhvr additive="base">
                                            <p:cTn id="28" dur="500" fill="hold"/>
                                            <p:tgtEl>
                                              <p:spTgt spid="9"/>
                                            </p:tgtEl>
                                            <p:attrNameLst>
                                              <p:attrName>ppt_x</p:attrName>
                                            </p:attrNameLst>
                                          </p:cBhvr>
                                          <p:tavLst>
                                            <p:tav tm="0">
                                              <p:val>
                                                <p:strVal val="#ppt_x"/>
                                              </p:val>
                                            </p:tav>
                                            <p:tav tm="100000">
                                              <p:val>
                                                <p:strVal val="#ppt_x"/>
                                              </p:val>
                                            </p:tav>
                                          </p:tavLst>
                                        </p:anim>
                                        <p:anim calcmode="lin" valueType="num">
                                          <p:cBhvr additive="base">
                                            <p:cTn id="29" dur="500" fill="hold"/>
                                            <p:tgtEl>
                                              <p:spTgt spid="9"/>
                                            </p:tgtEl>
                                            <p:attrNameLst>
                                              <p:attrName>ppt_y</p:attrName>
                                            </p:attrNameLst>
                                          </p:cBhvr>
                                          <p:tavLst>
                                            <p:tav tm="0">
                                              <p:val>
                                                <p:strVal val="1+#ppt_h/2"/>
                                              </p:val>
                                            </p:tav>
                                            <p:tav tm="100000">
                                              <p:val>
                                                <p:strVal val="#ppt_y"/>
                                              </p:val>
                                            </p:tav>
                                          </p:tavLst>
                                        </p:anim>
                                      </p:childTnLst>
                                    </p:cTn>
                                  </p:par>
                                  <p:par>
                                    <p:cTn id="30" presetID="2" presetClass="entr" presetSubtype="4" fill="hold" grpId="0" nodeType="withEffect">
                                      <p:stCondLst>
                                        <p:cond delay="0"/>
                                      </p:stCondLst>
                                      <p:childTnLst>
                                        <p:set>
                                          <p:cBhvr>
                                            <p:cTn id="31" dur="1" fill="hold">
                                              <p:stCondLst>
                                                <p:cond delay="0"/>
                                              </p:stCondLst>
                                            </p:cTn>
                                            <p:tgtEl>
                                              <p:spTgt spid="13"/>
                                            </p:tgtEl>
                                            <p:attrNameLst>
                                              <p:attrName>style.visibility</p:attrName>
                                            </p:attrNameLst>
                                          </p:cBhvr>
                                          <p:to>
                                            <p:strVal val="visible"/>
                                          </p:to>
                                        </p:set>
                                        <p:anim calcmode="lin" valueType="num">
                                          <p:cBhvr additive="base">
                                            <p:cTn id="32" dur="500" fill="hold"/>
                                            <p:tgtEl>
                                              <p:spTgt spid="13"/>
                                            </p:tgtEl>
                                            <p:attrNameLst>
                                              <p:attrName>ppt_x</p:attrName>
                                            </p:attrNameLst>
                                          </p:cBhvr>
                                          <p:tavLst>
                                            <p:tav tm="0">
                                              <p:val>
                                                <p:strVal val="#ppt_x"/>
                                              </p:val>
                                            </p:tav>
                                            <p:tav tm="100000">
                                              <p:val>
                                                <p:strVal val="#ppt_x"/>
                                              </p:val>
                                            </p:tav>
                                          </p:tavLst>
                                        </p:anim>
                                        <p:anim calcmode="lin" valueType="num">
                                          <p:cBhvr additive="base">
                                            <p:cTn id="33" dur="500" fill="hold"/>
                                            <p:tgtEl>
                                              <p:spTgt spid="13"/>
                                            </p:tgtEl>
                                            <p:attrNameLst>
                                              <p:attrName>ppt_y</p:attrName>
                                            </p:attrNameLst>
                                          </p:cBhvr>
                                          <p:tavLst>
                                            <p:tav tm="0">
                                              <p:val>
                                                <p:strVal val="1+#ppt_h/2"/>
                                              </p:val>
                                            </p:tav>
                                            <p:tav tm="100000">
                                              <p:val>
                                                <p:strVal val="#ppt_y"/>
                                              </p:val>
                                            </p:tav>
                                          </p:tavLst>
                                        </p:anim>
                                      </p:childTnLst>
                                    </p:cTn>
                                  </p:par>
                                  <p:par>
                                    <p:cTn id="34" presetID="2" presetClass="entr" presetSubtype="1" fill="hold" grpId="0" nodeType="withEffect">
                                      <p:stCondLst>
                                        <p:cond delay="0"/>
                                      </p:stCondLst>
                                      <p:childTnLst>
                                        <p:set>
                                          <p:cBhvr>
                                            <p:cTn id="35" dur="1" fill="hold">
                                              <p:stCondLst>
                                                <p:cond delay="0"/>
                                              </p:stCondLst>
                                            </p:cTn>
                                            <p:tgtEl>
                                              <p:spTgt spid="11"/>
                                            </p:tgtEl>
                                            <p:attrNameLst>
                                              <p:attrName>style.visibility</p:attrName>
                                            </p:attrNameLst>
                                          </p:cBhvr>
                                          <p:to>
                                            <p:strVal val="visible"/>
                                          </p:to>
                                        </p:set>
                                        <p:anim calcmode="lin" valueType="num">
                                          <p:cBhvr additive="base">
                                            <p:cTn id="36" dur="500" fill="hold"/>
                                            <p:tgtEl>
                                              <p:spTgt spid="11"/>
                                            </p:tgtEl>
                                            <p:attrNameLst>
                                              <p:attrName>ppt_x</p:attrName>
                                            </p:attrNameLst>
                                          </p:cBhvr>
                                          <p:tavLst>
                                            <p:tav tm="0">
                                              <p:val>
                                                <p:strVal val="#ppt_x"/>
                                              </p:val>
                                            </p:tav>
                                            <p:tav tm="100000">
                                              <p:val>
                                                <p:strVal val="#ppt_x"/>
                                              </p:val>
                                            </p:tav>
                                          </p:tavLst>
                                        </p:anim>
                                        <p:anim calcmode="lin" valueType="num">
                                          <p:cBhvr additive="base">
                                            <p:cTn id="37" dur="500" fill="hold"/>
                                            <p:tgtEl>
                                              <p:spTgt spid="11"/>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animBg="1"/>
          <p:bldP spid="13" grpId="0" animBg="1"/>
        </p:bldLst>
      </p:timing>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479427"/>
            <a:ext cx="10515599" cy="715962"/>
          </a:xfrm>
        </p:spPr>
        <p:txBody>
          <a:bodyPr>
            <a:normAutofit/>
          </a:bodyPr>
          <a:lstStyle/>
          <a:p>
            <a:r>
              <a:rPr lang="en-US" dirty="0"/>
              <a:t>Elliptical insights: Measurement error</a:t>
            </a:r>
          </a:p>
        </p:txBody>
      </p:sp>
      <p:sp>
        <p:nvSpPr>
          <p:cNvPr id="3" name="Content Placeholder 2"/>
          <p:cNvSpPr>
            <a:spLocks noGrp="1"/>
          </p:cNvSpPr>
          <p:nvPr>
            <p:ph idx="1"/>
          </p:nvPr>
        </p:nvSpPr>
        <p:spPr>
          <a:xfrm>
            <a:off x="838200" y="1643063"/>
            <a:ext cx="10515600" cy="3309937"/>
          </a:xfrm>
        </p:spPr>
        <p:txBody>
          <a:bodyPr>
            <a:normAutofit/>
          </a:bodyPr>
          <a:lstStyle/>
          <a:p>
            <a:r>
              <a:rPr lang="en-US" dirty="0"/>
              <a:t>In classical linear models, predictors (X) are usually assumed to be </a:t>
            </a:r>
            <a:r>
              <a:rPr lang="en-US" dirty="0">
                <a:solidFill>
                  <a:srgbClr val="FF0000"/>
                </a:solidFill>
              </a:rPr>
              <a:t>fixed</a:t>
            </a:r>
            <a:r>
              <a:rPr lang="en-US" dirty="0"/>
              <a:t> (non-random), or </a:t>
            </a:r>
            <a:r>
              <a:rPr lang="en-US" dirty="0">
                <a:solidFill>
                  <a:srgbClr val="FF0000"/>
                </a:solidFill>
              </a:rPr>
              <a:t>measured w/o error</a:t>
            </a:r>
          </a:p>
          <a:p>
            <a:pPr lvl="1"/>
            <a:r>
              <a:rPr lang="en-US" dirty="0"/>
              <a:t>Rarely true in social science, medicine, …</a:t>
            </a:r>
          </a:p>
          <a:p>
            <a:pPr lvl="1"/>
            <a:r>
              <a:rPr lang="en-US" dirty="0"/>
              <a:t>(Structural equation models often used to account for this)</a:t>
            </a:r>
          </a:p>
          <a:p>
            <a:pPr lvl="1"/>
            <a:r>
              <a:rPr lang="en-US" dirty="0"/>
              <a:t>What effects do errors in </a:t>
            </a:r>
            <a:r>
              <a:rPr lang="en-US" b="1" dirty="0"/>
              <a:t>predictors</a:t>
            </a:r>
            <a:r>
              <a:rPr lang="en-US" dirty="0"/>
              <a:t> have on typical regression models?</a:t>
            </a:r>
          </a:p>
          <a:p>
            <a:r>
              <a:rPr lang="en-US" dirty="0"/>
              <a:t>Main ideas:</a:t>
            </a:r>
          </a:p>
          <a:p>
            <a:pPr lvl="1"/>
            <a:r>
              <a:rPr lang="en-US" dirty="0"/>
              <a:t>Ellipses in </a:t>
            </a:r>
            <a:r>
              <a:rPr lang="en-US" dirty="0">
                <a:solidFill>
                  <a:srgbClr val="00B050"/>
                </a:solidFill>
              </a:rPr>
              <a:t>data space </a:t>
            </a:r>
            <a:r>
              <a:rPr lang="en-US" dirty="0"/>
              <a:t>show effects on </a:t>
            </a:r>
            <a:r>
              <a:rPr lang="en-US" dirty="0">
                <a:solidFill>
                  <a:srgbClr val="FF0000"/>
                </a:solidFill>
              </a:rPr>
              <a:t>bias</a:t>
            </a:r>
            <a:r>
              <a:rPr lang="en-US" dirty="0"/>
              <a:t> and </a:t>
            </a:r>
            <a:r>
              <a:rPr lang="en-US" dirty="0">
                <a:solidFill>
                  <a:srgbClr val="FF0000"/>
                </a:solidFill>
              </a:rPr>
              <a:t>precision </a:t>
            </a:r>
            <a:r>
              <a:rPr lang="en-US" dirty="0"/>
              <a:t>(variance</a:t>
            </a:r>
            <a:r>
              <a:rPr lang="en-US" baseline="30000" dirty="0"/>
              <a:t>-1</a:t>
            </a:r>
            <a:r>
              <a:rPr lang="en-US" dirty="0"/>
              <a:t>)</a:t>
            </a:r>
            <a:endParaRPr lang="en-US" dirty="0">
              <a:solidFill>
                <a:srgbClr val="FF0000"/>
              </a:solidFill>
            </a:endParaRPr>
          </a:p>
          <a:p>
            <a:pPr lvl="1"/>
            <a:r>
              <a:rPr lang="en-US" dirty="0"/>
              <a:t>The same effects can be seen in </a:t>
            </a:r>
            <a:r>
              <a:rPr lang="en-US" dirty="0">
                <a:solidFill>
                  <a:srgbClr val="00B050"/>
                </a:solidFill>
              </a:rPr>
              <a:t>parameter (</a:t>
            </a:r>
            <a:r>
              <a:rPr lang="el-GR" b="1" dirty="0">
                <a:solidFill>
                  <a:srgbClr val="00B050"/>
                </a:solidFill>
              </a:rPr>
              <a:t>β</a:t>
            </a:r>
            <a:r>
              <a:rPr lang="en-US" dirty="0">
                <a:solidFill>
                  <a:srgbClr val="00B050"/>
                </a:solidFill>
              </a:rPr>
              <a:t>) space</a:t>
            </a:r>
          </a:p>
        </p:txBody>
      </p:sp>
      <p:sp>
        <p:nvSpPr>
          <p:cNvPr id="5" name="TextBox 4">
            <a:extLst>
              <a:ext uri="{FF2B5EF4-FFF2-40B4-BE49-F238E27FC236}">
                <a16:creationId xmlns:a16="http://schemas.microsoft.com/office/drawing/2014/main" id="{635A9DAD-1188-B676-0CE8-BA39623413C1}"/>
              </a:ext>
            </a:extLst>
          </p:cNvPr>
          <p:cNvSpPr txBox="1"/>
          <p:nvPr/>
        </p:nvSpPr>
        <p:spPr>
          <a:xfrm>
            <a:off x="997527" y="6096001"/>
            <a:ext cx="8756073" cy="461665"/>
          </a:xfrm>
          <a:prstGeom prst="rect">
            <a:avLst/>
          </a:prstGeom>
          <a:noFill/>
        </p:spPr>
        <p:txBody>
          <a:bodyPr wrap="square" rtlCol="0">
            <a:spAutoFit/>
          </a:bodyPr>
          <a:lstStyle/>
          <a:p>
            <a:r>
              <a:rPr lang="en-CA" sz="1200" dirty="0">
                <a:solidFill>
                  <a:srgbClr val="000000"/>
                </a:solidFill>
              </a:rPr>
              <a:t>Friendly, Monette &amp; Fox (2013). Elliptical Insights: Understanding Statistical Methods Through Elliptical Geometry. </a:t>
            </a:r>
            <a:r>
              <a:rPr lang="en-CA" sz="1200" i="1" dirty="0">
                <a:solidFill>
                  <a:srgbClr val="000000"/>
                </a:solidFill>
              </a:rPr>
              <a:t>Statistical Science</a:t>
            </a:r>
            <a:r>
              <a:rPr lang="en-CA" sz="1200" dirty="0">
                <a:solidFill>
                  <a:srgbClr val="000000"/>
                </a:solidFill>
              </a:rPr>
              <a:t>, </a:t>
            </a:r>
            <a:r>
              <a:rPr lang="en-CA" sz="1200" i="1" dirty="0">
                <a:solidFill>
                  <a:srgbClr val="000000"/>
                </a:solidFill>
              </a:rPr>
              <a:t>28</a:t>
            </a:r>
            <a:r>
              <a:rPr lang="en-CA" sz="1200" dirty="0">
                <a:solidFill>
                  <a:srgbClr val="000000"/>
                </a:solidFill>
              </a:rPr>
              <a:t>, 1–39. </a:t>
            </a:r>
            <a:r>
              <a:rPr lang="en-CA" sz="1200" dirty="0">
                <a:solidFill>
                  <a:srgbClr val="000000"/>
                </a:solidFill>
                <a:hlinkClick r:id="rId3"/>
              </a:rPr>
              <a:t>https://www.datavis.ca/papers/ellipses-STS402.pdf</a:t>
            </a:r>
            <a:r>
              <a:rPr lang="en-CA" sz="1200" dirty="0">
                <a:solidFill>
                  <a:srgbClr val="000000"/>
                </a:solidFill>
              </a:rPr>
              <a:t> </a:t>
            </a:r>
            <a:endParaRPr lang="en-CA" sz="1200" dirty="0"/>
          </a:p>
        </p:txBody>
      </p:sp>
      <p:sp>
        <p:nvSpPr>
          <p:cNvPr id="6" name="Slide Number Placeholder 6"/>
          <p:cNvSpPr>
            <a:spLocks noGrp="1"/>
          </p:cNvSpPr>
          <p:nvPr>
            <p:ph type="sldNum" sz="quarter" idx="12"/>
          </p:nvPr>
        </p:nvSpPr>
        <p:spPr/>
        <p:txBody>
          <a:bodyPr/>
          <a:lstStyle/>
          <a:p>
            <a:fld id="{9BFB2853-4965-4727-91C4-384EB30D99A4}" type="slidenum">
              <a:rPr lang="en-CA"/>
              <a:t>36</a:t>
            </a:fld>
            <a:endParaRPr lang="en-CA"/>
          </a:p>
        </p:txBody>
      </p:sp>
    </p:spTree>
    <p:extLst>
      <p:ext uri="{BB962C8B-B14F-4D97-AF65-F5344CB8AC3E}">
        <p14:creationId xmlns:p14="http://schemas.microsoft.com/office/powerpoint/2010/main" val="21404008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Coffee, stress and heart disease</a:t>
            </a:r>
          </a:p>
        </p:txBody>
      </p:sp>
      <p:pic>
        <p:nvPicPr>
          <p:cNvPr id="7" name="Picture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02349" y="1465731"/>
            <a:ext cx="4420953" cy="4478572"/>
          </a:xfrm>
          <a:prstGeom prst="rect">
            <a:avLst/>
          </a:prstGeom>
        </p:spPr>
      </p:pic>
      <p:sp>
        <p:nvSpPr>
          <p:cNvPr id="3" name="TextBox 2"/>
          <p:cNvSpPr txBox="1"/>
          <p:nvPr/>
        </p:nvSpPr>
        <p:spPr>
          <a:xfrm>
            <a:off x="5755341" y="1219200"/>
            <a:ext cx="5927071" cy="1277273"/>
          </a:xfrm>
          <a:prstGeom prst="rect">
            <a:avLst/>
          </a:prstGeom>
          <a:noFill/>
        </p:spPr>
        <p:txBody>
          <a:bodyPr wrap="square" rtlCol="0">
            <a:spAutoFit/>
          </a:bodyPr>
          <a:lstStyle/>
          <a:p>
            <a:pPr>
              <a:spcAft>
                <a:spcPts val="600"/>
              </a:spcAft>
            </a:pPr>
            <a:r>
              <a:rPr lang="en-US" dirty="0"/>
              <a:t>Imagine a small study investigating the relation between a measure of heart disease (y), and coffee consumption (x</a:t>
            </a:r>
            <a:r>
              <a:rPr lang="en-US" baseline="-25000" dirty="0"/>
              <a:t>1</a:t>
            </a:r>
            <a:r>
              <a:rPr lang="en-US" dirty="0"/>
              <a:t>) and stress (x</a:t>
            </a:r>
            <a:r>
              <a:rPr lang="en-US" baseline="-25000" dirty="0"/>
              <a:t>2</a:t>
            </a:r>
            <a:r>
              <a:rPr lang="en-US" dirty="0"/>
              <a:t>)</a:t>
            </a:r>
          </a:p>
          <a:p>
            <a:pPr>
              <a:spcAft>
                <a:spcPts val="600"/>
              </a:spcAft>
            </a:pPr>
            <a:r>
              <a:rPr lang="en-US" dirty="0"/>
              <a:t>Results: lm(Heart ~ Coffee + Stress)</a:t>
            </a:r>
          </a:p>
        </p:txBody>
      </p:sp>
      <p:sp>
        <p:nvSpPr>
          <p:cNvPr id="5" name="TextBox 4"/>
          <p:cNvSpPr txBox="1"/>
          <p:nvPr/>
        </p:nvSpPr>
        <p:spPr>
          <a:xfrm>
            <a:off x="5755341" y="4826000"/>
            <a:ext cx="5927071" cy="1477328"/>
          </a:xfrm>
          <a:custGeom>
            <a:avLst/>
            <a:gdLst>
              <a:gd name="csX0" fmla="*/ 0 w 5927071"/>
              <a:gd name="csY0" fmla="*/ 0 h 1477328"/>
              <a:gd name="csX1" fmla="*/ 651978 w 5927071"/>
              <a:gd name="csY1" fmla="*/ 0 h 1477328"/>
              <a:gd name="csX2" fmla="*/ 1066873 w 5927071"/>
              <a:gd name="csY2" fmla="*/ 0 h 1477328"/>
              <a:gd name="csX3" fmla="*/ 1600309 w 5927071"/>
              <a:gd name="csY3" fmla="*/ 0 h 1477328"/>
              <a:gd name="csX4" fmla="*/ 2311558 w 5927071"/>
              <a:gd name="csY4" fmla="*/ 0 h 1477328"/>
              <a:gd name="csX5" fmla="*/ 2904265 w 5927071"/>
              <a:gd name="csY5" fmla="*/ 0 h 1477328"/>
              <a:gd name="csX6" fmla="*/ 3556243 w 5927071"/>
              <a:gd name="csY6" fmla="*/ 0 h 1477328"/>
              <a:gd name="csX7" fmla="*/ 4089679 w 5927071"/>
              <a:gd name="csY7" fmla="*/ 0 h 1477328"/>
              <a:gd name="csX8" fmla="*/ 4682386 w 5927071"/>
              <a:gd name="csY8" fmla="*/ 0 h 1477328"/>
              <a:gd name="csX9" fmla="*/ 5393635 w 5927071"/>
              <a:gd name="csY9" fmla="*/ 0 h 1477328"/>
              <a:gd name="csX10" fmla="*/ 5927071 w 5927071"/>
              <a:gd name="csY10" fmla="*/ 0 h 1477328"/>
              <a:gd name="csX11" fmla="*/ 5927071 w 5927071"/>
              <a:gd name="csY11" fmla="*/ 507216 h 1477328"/>
              <a:gd name="csX12" fmla="*/ 5927071 w 5927071"/>
              <a:gd name="csY12" fmla="*/ 970112 h 1477328"/>
              <a:gd name="csX13" fmla="*/ 5927071 w 5927071"/>
              <a:gd name="csY13" fmla="*/ 1477328 h 1477328"/>
              <a:gd name="csX14" fmla="*/ 5334364 w 5927071"/>
              <a:gd name="csY14" fmla="*/ 1477328 h 1477328"/>
              <a:gd name="csX15" fmla="*/ 4741657 w 5927071"/>
              <a:gd name="csY15" fmla="*/ 1477328 h 1477328"/>
              <a:gd name="csX16" fmla="*/ 4267491 w 5927071"/>
              <a:gd name="csY16" fmla="*/ 1477328 h 1477328"/>
              <a:gd name="csX17" fmla="*/ 3674784 w 5927071"/>
              <a:gd name="csY17" fmla="*/ 1477328 h 1477328"/>
              <a:gd name="csX18" fmla="*/ 3082077 w 5927071"/>
              <a:gd name="csY18" fmla="*/ 1477328 h 1477328"/>
              <a:gd name="csX19" fmla="*/ 2489370 w 5927071"/>
              <a:gd name="csY19" fmla="*/ 1477328 h 1477328"/>
              <a:gd name="csX20" fmla="*/ 1896663 w 5927071"/>
              <a:gd name="csY20" fmla="*/ 1477328 h 1477328"/>
              <a:gd name="csX21" fmla="*/ 1363226 w 5927071"/>
              <a:gd name="csY21" fmla="*/ 1477328 h 1477328"/>
              <a:gd name="csX22" fmla="*/ 711249 w 5927071"/>
              <a:gd name="csY22" fmla="*/ 1477328 h 1477328"/>
              <a:gd name="csX23" fmla="*/ 0 w 5927071"/>
              <a:gd name="csY23" fmla="*/ 1477328 h 1477328"/>
              <a:gd name="csX24" fmla="*/ 0 w 5927071"/>
              <a:gd name="csY24" fmla="*/ 955339 h 1477328"/>
              <a:gd name="csX25" fmla="*/ 0 w 5927071"/>
              <a:gd name="csY25" fmla="*/ 448123 h 1477328"/>
              <a:gd name="csX26" fmla="*/ 0 w 5927071"/>
              <a:gd name="csY26" fmla="*/ 0 h 147732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Lst>
            <a:rect l="l" t="t" r="r" b="b"/>
            <a:pathLst>
              <a:path w="5927071" h="1477328" fill="none" extrusionOk="0">
                <a:moveTo>
                  <a:pt x="0" y="0"/>
                </a:moveTo>
                <a:cubicBezTo>
                  <a:pt x="269989" y="-43369"/>
                  <a:pt x="349152" y="22592"/>
                  <a:pt x="651978" y="0"/>
                </a:cubicBezTo>
                <a:cubicBezTo>
                  <a:pt x="954804" y="-22592"/>
                  <a:pt x="961774" y="10943"/>
                  <a:pt x="1066873" y="0"/>
                </a:cubicBezTo>
                <a:cubicBezTo>
                  <a:pt x="1171972" y="-10943"/>
                  <a:pt x="1408903" y="1726"/>
                  <a:pt x="1600309" y="0"/>
                </a:cubicBezTo>
                <a:cubicBezTo>
                  <a:pt x="1791715" y="-1726"/>
                  <a:pt x="2102856" y="7883"/>
                  <a:pt x="2311558" y="0"/>
                </a:cubicBezTo>
                <a:cubicBezTo>
                  <a:pt x="2520260" y="-7883"/>
                  <a:pt x="2765343" y="5840"/>
                  <a:pt x="2904265" y="0"/>
                </a:cubicBezTo>
                <a:cubicBezTo>
                  <a:pt x="3043187" y="-5840"/>
                  <a:pt x="3391392" y="33181"/>
                  <a:pt x="3556243" y="0"/>
                </a:cubicBezTo>
                <a:cubicBezTo>
                  <a:pt x="3721094" y="-33181"/>
                  <a:pt x="3844283" y="2496"/>
                  <a:pt x="4089679" y="0"/>
                </a:cubicBezTo>
                <a:cubicBezTo>
                  <a:pt x="4335075" y="-2496"/>
                  <a:pt x="4545842" y="31497"/>
                  <a:pt x="4682386" y="0"/>
                </a:cubicBezTo>
                <a:cubicBezTo>
                  <a:pt x="4818930" y="-31497"/>
                  <a:pt x="5159542" y="53863"/>
                  <a:pt x="5393635" y="0"/>
                </a:cubicBezTo>
                <a:cubicBezTo>
                  <a:pt x="5627728" y="-53863"/>
                  <a:pt x="5816345" y="16423"/>
                  <a:pt x="5927071" y="0"/>
                </a:cubicBezTo>
                <a:cubicBezTo>
                  <a:pt x="5947345" y="159131"/>
                  <a:pt x="5925450" y="328376"/>
                  <a:pt x="5927071" y="507216"/>
                </a:cubicBezTo>
                <a:cubicBezTo>
                  <a:pt x="5928692" y="686056"/>
                  <a:pt x="5926571" y="857045"/>
                  <a:pt x="5927071" y="970112"/>
                </a:cubicBezTo>
                <a:cubicBezTo>
                  <a:pt x="5927571" y="1083179"/>
                  <a:pt x="5898057" y="1334746"/>
                  <a:pt x="5927071" y="1477328"/>
                </a:cubicBezTo>
                <a:cubicBezTo>
                  <a:pt x="5798598" y="1497755"/>
                  <a:pt x="5489698" y="1408582"/>
                  <a:pt x="5334364" y="1477328"/>
                </a:cubicBezTo>
                <a:cubicBezTo>
                  <a:pt x="5179030" y="1546074"/>
                  <a:pt x="5002491" y="1420613"/>
                  <a:pt x="4741657" y="1477328"/>
                </a:cubicBezTo>
                <a:cubicBezTo>
                  <a:pt x="4480823" y="1534043"/>
                  <a:pt x="4477923" y="1455649"/>
                  <a:pt x="4267491" y="1477328"/>
                </a:cubicBezTo>
                <a:cubicBezTo>
                  <a:pt x="4057059" y="1499007"/>
                  <a:pt x="3867401" y="1422956"/>
                  <a:pt x="3674784" y="1477328"/>
                </a:cubicBezTo>
                <a:cubicBezTo>
                  <a:pt x="3482167" y="1531700"/>
                  <a:pt x="3337221" y="1449322"/>
                  <a:pt x="3082077" y="1477328"/>
                </a:cubicBezTo>
                <a:cubicBezTo>
                  <a:pt x="2826933" y="1505334"/>
                  <a:pt x="2645381" y="1424620"/>
                  <a:pt x="2489370" y="1477328"/>
                </a:cubicBezTo>
                <a:cubicBezTo>
                  <a:pt x="2333359" y="1530036"/>
                  <a:pt x="2073914" y="1453990"/>
                  <a:pt x="1896663" y="1477328"/>
                </a:cubicBezTo>
                <a:cubicBezTo>
                  <a:pt x="1719412" y="1500666"/>
                  <a:pt x="1504472" y="1461281"/>
                  <a:pt x="1363226" y="1477328"/>
                </a:cubicBezTo>
                <a:cubicBezTo>
                  <a:pt x="1221980" y="1493375"/>
                  <a:pt x="971377" y="1462298"/>
                  <a:pt x="711249" y="1477328"/>
                </a:cubicBezTo>
                <a:cubicBezTo>
                  <a:pt x="451121" y="1492358"/>
                  <a:pt x="308405" y="1394364"/>
                  <a:pt x="0" y="1477328"/>
                </a:cubicBezTo>
                <a:cubicBezTo>
                  <a:pt x="-30381" y="1227152"/>
                  <a:pt x="39270" y="1168437"/>
                  <a:pt x="0" y="955339"/>
                </a:cubicBezTo>
                <a:cubicBezTo>
                  <a:pt x="-39270" y="742241"/>
                  <a:pt x="35032" y="612803"/>
                  <a:pt x="0" y="448123"/>
                </a:cubicBezTo>
                <a:cubicBezTo>
                  <a:pt x="-35032" y="283443"/>
                  <a:pt x="22040" y="114021"/>
                  <a:pt x="0" y="0"/>
                </a:cubicBezTo>
                <a:close/>
              </a:path>
              <a:path w="5927071" h="1477328" stroke="0" extrusionOk="0">
                <a:moveTo>
                  <a:pt x="0" y="0"/>
                </a:moveTo>
                <a:cubicBezTo>
                  <a:pt x="247419" y="-7442"/>
                  <a:pt x="371168" y="56243"/>
                  <a:pt x="533436" y="0"/>
                </a:cubicBezTo>
                <a:cubicBezTo>
                  <a:pt x="695704" y="-56243"/>
                  <a:pt x="746765" y="24298"/>
                  <a:pt x="948331" y="0"/>
                </a:cubicBezTo>
                <a:cubicBezTo>
                  <a:pt x="1149898" y="-24298"/>
                  <a:pt x="1475459" y="83594"/>
                  <a:pt x="1659580" y="0"/>
                </a:cubicBezTo>
                <a:cubicBezTo>
                  <a:pt x="1843701" y="-83594"/>
                  <a:pt x="1964021" y="63768"/>
                  <a:pt x="2193016" y="0"/>
                </a:cubicBezTo>
                <a:cubicBezTo>
                  <a:pt x="2422011" y="-63768"/>
                  <a:pt x="2512392" y="37965"/>
                  <a:pt x="2726453" y="0"/>
                </a:cubicBezTo>
                <a:cubicBezTo>
                  <a:pt x="2940514" y="-37965"/>
                  <a:pt x="3189459" y="58423"/>
                  <a:pt x="3437701" y="0"/>
                </a:cubicBezTo>
                <a:cubicBezTo>
                  <a:pt x="3685943" y="-58423"/>
                  <a:pt x="3691207" y="29999"/>
                  <a:pt x="3911867" y="0"/>
                </a:cubicBezTo>
                <a:cubicBezTo>
                  <a:pt x="4132527" y="-29999"/>
                  <a:pt x="4377622" y="65736"/>
                  <a:pt x="4623115" y="0"/>
                </a:cubicBezTo>
                <a:cubicBezTo>
                  <a:pt x="4868608" y="-65736"/>
                  <a:pt x="5063094" y="33271"/>
                  <a:pt x="5334364" y="0"/>
                </a:cubicBezTo>
                <a:cubicBezTo>
                  <a:pt x="5605634" y="-33271"/>
                  <a:pt x="5667747" y="28980"/>
                  <a:pt x="5927071" y="0"/>
                </a:cubicBezTo>
                <a:cubicBezTo>
                  <a:pt x="5928442" y="113323"/>
                  <a:pt x="5912672" y="308693"/>
                  <a:pt x="5927071" y="521989"/>
                </a:cubicBezTo>
                <a:cubicBezTo>
                  <a:pt x="5941470" y="735285"/>
                  <a:pt x="5926196" y="904943"/>
                  <a:pt x="5927071" y="1029205"/>
                </a:cubicBezTo>
                <a:cubicBezTo>
                  <a:pt x="5927946" y="1153467"/>
                  <a:pt x="5881418" y="1275045"/>
                  <a:pt x="5927071" y="1477328"/>
                </a:cubicBezTo>
                <a:cubicBezTo>
                  <a:pt x="5736127" y="1500554"/>
                  <a:pt x="5595044" y="1431778"/>
                  <a:pt x="5334364" y="1477328"/>
                </a:cubicBezTo>
                <a:cubicBezTo>
                  <a:pt x="5073684" y="1522878"/>
                  <a:pt x="5073294" y="1432595"/>
                  <a:pt x="4860198" y="1477328"/>
                </a:cubicBezTo>
                <a:cubicBezTo>
                  <a:pt x="4647102" y="1522061"/>
                  <a:pt x="4477436" y="1432138"/>
                  <a:pt x="4267491" y="1477328"/>
                </a:cubicBezTo>
                <a:cubicBezTo>
                  <a:pt x="4057546" y="1522518"/>
                  <a:pt x="3763720" y="1393223"/>
                  <a:pt x="3556243" y="1477328"/>
                </a:cubicBezTo>
                <a:cubicBezTo>
                  <a:pt x="3348766" y="1561433"/>
                  <a:pt x="3204603" y="1456927"/>
                  <a:pt x="2963536" y="1477328"/>
                </a:cubicBezTo>
                <a:cubicBezTo>
                  <a:pt x="2722469" y="1497729"/>
                  <a:pt x="2660382" y="1469292"/>
                  <a:pt x="2548641" y="1477328"/>
                </a:cubicBezTo>
                <a:cubicBezTo>
                  <a:pt x="2436901" y="1485364"/>
                  <a:pt x="2250415" y="1460932"/>
                  <a:pt x="2074475" y="1477328"/>
                </a:cubicBezTo>
                <a:cubicBezTo>
                  <a:pt x="1898535" y="1493724"/>
                  <a:pt x="1636839" y="1408084"/>
                  <a:pt x="1363226" y="1477328"/>
                </a:cubicBezTo>
                <a:cubicBezTo>
                  <a:pt x="1089613" y="1546572"/>
                  <a:pt x="912545" y="1414629"/>
                  <a:pt x="770519" y="1477328"/>
                </a:cubicBezTo>
                <a:cubicBezTo>
                  <a:pt x="628493" y="1540027"/>
                  <a:pt x="280134" y="1400344"/>
                  <a:pt x="0" y="1477328"/>
                </a:cubicBezTo>
                <a:cubicBezTo>
                  <a:pt x="-58372" y="1334956"/>
                  <a:pt x="26221" y="1132867"/>
                  <a:pt x="0" y="984885"/>
                </a:cubicBezTo>
                <a:cubicBezTo>
                  <a:pt x="-26221" y="836903"/>
                  <a:pt x="50450" y="657008"/>
                  <a:pt x="0" y="536763"/>
                </a:cubicBezTo>
                <a:cubicBezTo>
                  <a:pt x="-50450" y="416518"/>
                  <a:pt x="4748" y="127727"/>
                  <a:pt x="0" y="0"/>
                </a:cubicBezTo>
                <a:close/>
              </a:path>
            </a:pathLst>
          </a:custGeom>
          <a:solidFill>
            <a:schemeClr val="accent6">
              <a:lumMod val="20000"/>
              <a:lumOff val="80000"/>
              <a:alpha val="40000"/>
            </a:schemeClr>
          </a:solidFill>
          <a:ln>
            <a:solidFill>
              <a:schemeClr val="accent1"/>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txBody>
          <a:bodyPr wrap="square" rtlCol="0">
            <a:spAutoFit/>
          </a:bodyPr>
          <a:lstStyle/>
          <a:p>
            <a:r>
              <a:rPr lang="en-US" dirty="0"/>
              <a:t>Wow! That means I can drink all the coffee I want as long as I avoid stress.</a:t>
            </a:r>
          </a:p>
          <a:p>
            <a:endParaRPr lang="en-US" dirty="0"/>
          </a:p>
          <a:p>
            <a:r>
              <a:rPr lang="en-US" dirty="0"/>
              <a:t>But what happens if there is measurement error in y or x</a:t>
            </a:r>
            <a:r>
              <a:rPr lang="en-US" baseline="-25000" dirty="0"/>
              <a:t>1</a:t>
            </a:r>
            <a:r>
              <a:rPr lang="en-US" dirty="0"/>
              <a:t> , x</a:t>
            </a:r>
            <a:r>
              <a:rPr lang="en-US" baseline="-25000" dirty="0"/>
              <a:t>2</a:t>
            </a:r>
            <a:r>
              <a:rPr lang="en-US" dirty="0"/>
              <a:t> ?</a:t>
            </a:r>
          </a:p>
        </p:txBody>
      </p:sp>
      <p:grpSp>
        <p:nvGrpSpPr>
          <p:cNvPr id="9" name="Group 8">
            <a:extLst>
              <a:ext uri="{FF2B5EF4-FFF2-40B4-BE49-F238E27FC236}">
                <a16:creationId xmlns:a16="http://schemas.microsoft.com/office/drawing/2014/main" id="{E97C4BA4-60CF-97D7-47BF-9A616519B6BB}"/>
              </a:ext>
            </a:extLst>
          </p:cNvPr>
          <p:cNvGrpSpPr/>
          <p:nvPr/>
        </p:nvGrpSpPr>
        <p:grpSpPr>
          <a:xfrm>
            <a:off x="6185648" y="2608729"/>
            <a:ext cx="4666128" cy="1909483"/>
            <a:chOff x="8005355" y="2819401"/>
            <a:chExt cx="3958045" cy="1476375"/>
          </a:xfrm>
        </p:grpSpPr>
        <p:pic>
          <p:nvPicPr>
            <p:cNvPr id="8194"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005355" y="2819401"/>
              <a:ext cx="3629025" cy="14763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6" name="TextBox 5"/>
            <p:cNvSpPr txBox="1"/>
            <p:nvPr/>
          </p:nvSpPr>
          <p:spPr>
            <a:xfrm>
              <a:off x="11506200" y="3940294"/>
              <a:ext cx="457200" cy="307777"/>
            </a:xfrm>
            <a:prstGeom prst="rect">
              <a:avLst/>
            </a:prstGeom>
            <a:noFill/>
          </p:spPr>
          <p:txBody>
            <a:bodyPr wrap="square" rtlCol="0">
              <a:spAutoFit/>
            </a:bodyPr>
            <a:lstStyle/>
            <a:p>
              <a:pPr algn="ctr"/>
              <a:r>
                <a:rPr lang="en-US" sz="1400" dirty="0">
                  <a:solidFill>
                    <a:srgbClr val="00B050"/>
                  </a:solidFill>
                  <a:sym typeface="Wingdings"/>
                </a:rPr>
                <a:t></a:t>
              </a:r>
              <a:endParaRPr lang="en-US" sz="1400" dirty="0">
                <a:solidFill>
                  <a:srgbClr val="00B050"/>
                </a:solidFill>
              </a:endParaRPr>
            </a:p>
          </p:txBody>
        </p:sp>
        <p:sp>
          <p:nvSpPr>
            <p:cNvPr id="8" name="TextBox 7"/>
            <p:cNvSpPr txBox="1"/>
            <p:nvPr/>
          </p:nvSpPr>
          <p:spPr>
            <a:xfrm>
              <a:off x="11506200" y="3786405"/>
              <a:ext cx="457200" cy="307777"/>
            </a:xfrm>
            <a:prstGeom prst="rect">
              <a:avLst/>
            </a:prstGeom>
            <a:noFill/>
          </p:spPr>
          <p:txBody>
            <a:bodyPr wrap="square" rtlCol="0">
              <a:spAutoFit/>
            </a:bodyPr>
            <a:lstStyle/>
            <a:p>
              <a:pPr algn="ctr"/>
              <a:r>
                <a:rPr lang="en-US" sz="1400" dirty="0">
                  <a:solidFill>
                    <a:srgbClr val="FF0000"/>
                  </a:solidFill>
                  <a:sym typeface="Wingdings"/>
                </a:rPr>
                <a:t></a:t>
              </a:r>
              <a:endParaRPr lang="en-US" sz="1400" dirty="0">
                <a:solidFill>
                  <a:srgbClr val="FF0000"/>
                </a:solidFill>
              </a:endParaRPr>
            </a:p>
          </p:txBody>
        </p:sp>
      </p:grpSp>
      <p:sp>
        <p:nvSpPr>
          <p:cNvPr id="8195" name="Slide Number Placeholder 8195"/>
          <p:cNvSpPr>
            <a:spLocks noGrp="1"/>
          </p:cNvSpPr>
          <p:nvPr>
            <p:ph type="sldNum" sz="quarter" idx="12"/>
          </p:nvPr>
        </p:nvSpPr>
        <p:spPr/>
        <p:txBody>
          <a:bodyPr/>
          <a:lstStyle/>
          <a:p>
            <a:fld id="{9BFB2853-4965-4727-91C4-384EB30D99A4}" type="slidenum">
              <a:rPr lang="en-CA"/>
              <a:t>37</a:t>
            </a:fld>
            <a:endParaRPr lang="en-CA"/>
          </a:p>
        </p:txBody>
      </p:sp>
    </p:spTree>
    <p:extLst>
      <p:ext uri="{BB962C8B-B14F-4D97-AF65-F5344CB8AC3E}">
        <p14:creationId xmlns:p14="http://schemas.microsoft.com/office/powerpoint/2010/main" val="19636508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270996"/>
            <a:ext cx="10515600" cy="845110"/>
          </a:xfrm>
        </p:spPr>
        <p:txBody>
          <a:bodyPr/>
          <a:lstStyle/>
          <a:p>
            <a:r>
              <a:rPr dirty="0"/>
              <a:t>Data space and beta space are dual</a:t>
            </a:r>
          </a:p>
        </p:txBody>
      </p:sp>
      <p:pic>
        <p:nvPicPr>
          <p:cNvPr id="3" name="Picture 2" descr="coffee-data-beta-both.png"/>
          <p:cNvPicPr>
            <a:picLocks noChangeAspect="1"/>
          </p:cNvPicPr>
          <p:nvPr/>
        </p:nvPicPr>
        <p:blipFill>
          <a:blip r:embed="rId3"/>
          <a:stretch>
            <a:fillRect/>
          </a:stretch>
        </p:blipFill>
        <p:spPr>
          <a:xfrm>
            <a:off x="1197148" y="1324998"/>
            <a:ext cx="9033311" cy="4298562"/>
          </a:xfrm>
          <a:prstGeom prst="rect">
            <a:avLst/>
          </a:prstGeom>
        </p:spPr>
      </p:pic>
      <p:sp>
        <p:nvSpPr>
          <p:cNvPr id="4" name="TextBox 3"/>
          <p:cNvSpPr txBox="1"/>
          <p:nvPr/>
        </p:nvSpPr>
        <p:spPr>
          <a:xfrm>
            <a:off x="838200" y="5776856"/>
            <a:ext cx="10642600" cy="369332"/>
          </a:xfrm>
          <a:prstGeom prst="rect">
            <a:avLst/>
          </a:prstGeom>
          <a:noFill/>
        </p:spPr>
        <p:txBody>
          <a:bodyPr wrap="square">
            <a:spAutoFit/>
          </a:bodyPr>
          <a:lstStyle/>
          <a:p>
            <a:r>
              <a:rPr sz="1800" dirty="0"/>
              <a:t>The </a:t>
            </a:r>
            <a:r>
              <a:rPr lang="en-CA" sz="1800" b="1" dirty="0"/>
              <a:t>data ellipse </a:t>
            </a:r>
            <a:r>
              <a:rPr lang="en-CA" sz="1800" dirty="0"/>
              <a:t>for the predictors (</a:t>
            </a:r>
            <a:r>
              <a:rPr lang="en-CA" sz="1800" b="1" dirty="0"/>
              <a:t>X’X</a:t>
            </a:r>
            <a:r>
              <a:rPr lang="en-CA" sz="1800" dirty="0"/>
              <a:t>) is the inverse of the </a:t>
            </a:r>
            <a:r>
              <a:rPr sz="1800" b="1" dirty="0"/>
              <a:t>confidence ellipse </a:t>
            </a:r>
            <a:r>
              <a:rPr sz="1800" dirty="0"/>
              <a:t>for the coefficients</a:t>
            </a:r>
            <a:r>
              <a:rPr lang="en-CA" sz="1800" dirty="0"/>
              <a:t>, (</a:t>
            </a:r>
            <a:r>
              <a:rPr lang="en-CA" sz="1800" b="1" dirty="0"/>
              <a:t>X’X</a:t>
            </a:r>
            <a:r>
              <a:rPr lang="en-CA" sz="1800" dirty="0"/>
              <a:t>)</a:t>
            </a:r>
            <a:r>
              <a:rPr lang="en-CA" sz="1800" baseline="30000" dirty="0"/>
              <a:t>-1</a:t>
            </a:r>
            <a:endParaRPr sz="1800" baseline="30000"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8.3</a:t>
            </a:r>
          </a:p>
        </p:txBody>
      </p:sp>
      <p:sp>
        <p:nvSpPr>
          <p:cNvPr id="6" name="Slide Number Placeholder 6"/>
          <p:cNvSpPr>
            <a:spLocks noGrp="1"/>
          </p:cNvSpPr>
          <p:nvPr>
            <p:ph type="sldNum" sz="quarter" idx="12"/>
          </p:nvPr>
        </p:nvSpPr>
        <p:spPr/>
        <p:txBody>
          <a:bodyPr/>
          <a:lstStyle/>
          <a:p>
            <a:fld id="{9BFB2853-4965-4727-91C4-384EB30D99A4}" type="slidenum">
              <a:rPr lang="en-CA"/>
              <a:t>38</a:t>
            </a:fld>
            <a:endParaRPr lang="en-CA"/>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596714"/>
          </a:xfrm>
        </p:spPr>
        <p:txBody>
          <a:bodyPr>
            <a:normAutofit fontScale="90000"/>
          </a:bodyPr>
          <a:lstStyle/>
          <a:p>
            <a:r>
              <a:rPr lang="en-US" dirty="0"/>
              <a:t>Adding measurement error</a:t>
            </a:r>
          </a:p>
        </p:txBody>
      </p:sp>
      <p:sp>
        <p:nvSpPr>
          <p:cNvPr id="4" name="Content Placeholder 3"/>
          <p:cNvSpPr>
            <a:spLocks noGrp="1"/>
          </p:cNvSpPr>
          <p:nvPr>
            <p:ph idx="1"/>
          </p:nvPr>
        </p:nvSpPr>
        <p:spPr>
          <a:xfrm>
            <a:off x="838200" y="1196788"/>
            <a:ext cx="10896600" cy="1508760"/>
          </a:xfrm>
        </p:spPr>
        <p:txBody>
          <a:bodyPr>
            <a:normAutofit/>
          </a:bodyPr>
          <a:lstStyle/>
          <a:p>
            <a:r>
              <a:rPr lang="en-US" sz="2000" dirty="0"/>
              <a:t>Measurement error in </a:t>
            </a:r>
            <a:r>
              <a:rPr lang="en-US" sz="2000" b="1" dirty="0"/>
              <a:t>Heart</a:t>
            </a:r>
            <a:r>
              <a:rPr lang="en-US" sz="2000" dirty="0"/>
              <a:t> (y) </a:t>
            </a:r>
            <a:r>
              <a:rPr lang="en-US" sz="2000" dirty="0">
                <a:solidFill>
                  <a:srgbClr val="FF0000"/>
                </a:solidFill>
              </a:rPr>
              <a:t>decreases precision </a:t>
            </a:r>
            <a:r>
              <a:rPr lang="en-US" sz="2000" dirty="0"/>
              <a:t>(</a:t>
            </a:r>
            <a:r>
              <a:rPr lang="en-US" sz="2000" dirty="0">
                <a:sym typeface="Symbol" panose="05050102010706020507" pitchFamily="18" charset="2"/>
              </a:rPr>
              <a:t> std. errors)</a:t>
            </a:r>
            <a:endParaRPr lang="en-US" sz="2000" dirty="0"/>
          </a:p>
          <a:p>
            <a:r>
              <a:rPr lang="en-US" sz="2000" dirty="0"/>
              <a:t>Measurement error in </a:t>
            </a:r>
            <a:r>
              <a:rPr lang="en-US" sz="2000" b="1" dirty="0"/>
              <a:t>Stress</a:t>
            </a:r>
            <a:r>
              <a:rPr lang="en-US" sz="2000" dirty="0"/>
              <a:t> (x</a:t>
            </a:r>
            <a:r>
              <a:rPr lang="en-US" sz="2000" baseline="-25000" dirty="0"/>
              <a:t>2</a:t>
            </a:r>
            <a:r>
              <a:rPr lang="en-US" sz="2000" dirty="0"/>
              <a:t>) biases its effect </a:t>
            </a:r>
            <a:r>
              <a:rPr lang="el-GR" sz="2000" dirty="0">
                <a:solidFill>
                  <a:srgbClr val="FF0000"/>
                </a:solidFill>
              </a:rPr>
              <a:t>β</a:t>
            </a:r>
            <a:r>
              <a:rPr lang="en-US" sz="2000" baseline="-25000" dirty="0">
                <a:solidFill>
                  <a:srgbClr val="FF0000"/>
                </a:solidFill>
              </a:rPr>
              <a:t>Stress</a:t>
            </a:r>
            <a:r>
              <a:rPr lang="en-US" sz="2000" dirty="0">
                <a:solidFill>
                  <a:srgbClr val="FF0000"/>
                </a:solidFill>
              </a:rPr>
              <a:t> </a:t>
            </a:r>
            <a:r>
              <a:rPr lang="en-US" sz="2000" dirty="0">
                <a:solidFill>
                  <a:srgbClr val="FF0000"/>
                </a:solidFill>
                <a:sym typeface="Symbol"/>
              </a:rPr>
              <a:t> 0 </a:t>
            </a:r>
            <a:r>
              <a:rPr lang="en-US" sz="2000" dirty="0">
                <a:sym typeface="Symbol"/>
              </a:rPr>
              <a:t>(middle)</a:t>
            </a:r>
            <a:endParaRPr lang="en-US" sz="2000" dirty="0"/>
          </a:p>
          <a:p>
            <a:r>
              <a:rPr lang="en-US" sz="2000" dirty="0"/>
              <a:t>With Coffee in the model, it also drives </a:t>
            </a:r>
            <a:r>
              <a:rPr lang="en-US" sz="2000" dirty="0">
                <a:solidFill>
                  <a:srgbClr val="FF0000"/>
                </a:solidFill>
              </a:rPr>
              <a:t>β</a:t>
            </a:r>
            <a:r>
              <a:rPr lang="en-US" sz="2000" baseline="-25000" dirty="0">
                <a:solidFill>
                  <a:srgbClr val="FF0000"/>
                </a:solidFill>
              </a:rPr>
              <a:t>Coffee</a:t>
            </a:r>
            <a:r>
              <a:rPr lang="en-US" sz="2000" dirty="0">
                <a:solidFill>
                  <a:srgbClr val="FF0000"/>
                </a:solidFill>
              </a:rPr>
              <a:t> toward its marginal value</a:t>
            </a:r>
            <a:r>
              <a:rPr lang="en-US" sz="2000" dirty="0"/>
              <a:t> (right)</a:t>
            </a:r>
          </a:p>
        </p:txBody>
      </p:sp>
      <p:pic>
        <p:nvPicPr>
          <p:cNvPr id="6" name="Picture 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41248" y="2834640"/>
            <a:ext cx="3291840" cy="3291840"/>
          </a:xfrm>
          <a:prstGeom prst="rect">
            <a:avLst/>
          </a:prstGeom>
        </p:spPr>
      </p:pic>
      <p:pic>
        <p:nvPicPr>
          <p:cNvPr id="7" name="Picture 6"/>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53128" y="2834640"/>
            <a:ext cx="3291840" cy="3291840"/>
          </a:xfrm>
          <a:prstGeom prst="rect">
            <a:avLst/>
          </a:prstGeom>
        </p:spPr>
      </p:pic>
      <p:pic>
        <p:nvPicPr>
          <p:cNvPr id="8" name="Beta space coffee-stress" descr="image.gif"/>
          <p:cNvPicPr>
            <a:picLocks noChangeAspect="1"/>
          </p:cNvPicPr>
          <p:nvPr/>
        </p:nvPicPr>
        <p:blipFill>
          <a:blip r:embed="rId5"/>
          <a:stretch>
            <a:fillRect/>
          </a:stretch>
        </p:blipFill>
        <p:spPr>
          <a:xfrm>
            <a:off x="8065008" y="2834640"/>
            <a:ext cx="3291840" cy="3291840"/>
          </a:xfrm>
          <a:prstGeom prst="rect">
            <a:avLst/>
          </a:prstGeom>
        </p:spPr>
      </p:pic>
      <p:sp>
        <p:nvSpPr>
          <p:cNvPr id="9" name="Slide Number Placeholder 9"/>
          <p:cNvSpPr>
            <a:spLocks noGrp="1"/>
          </p:cNvSpPr>
          <p:nvPr>
            <p:ph type="sldNum" sz="quarter" idx="12"/>
          </p:nvPr>
        </p:nvSpPr>
        <p:spPr/>
        <p:txBody>
          <a:bodyPr/>
          <a:lstStyle/>
          <a:p>
            <a:fld id="{9BFB2853-4965-4727-91C4-384EB30D99A4}" type="slidenum">
              <a:rPr lang="en-CA"/>
              <a:t>39</a:t>
            </a:fld>
            <a:endParaRPr lang="en-CA"/>
          </a:p>
        </p:txBody>
      </p:sp>
    </p:spTree>
    <p:extLst>
      <p:ext uri="{BB962C8B-B14F-4D97-AF65-F5344CB8AC3E}">
        <p14:creationId xmlns:p14="http://schemas.microsoft.com/office/powerpoint/2010/main" val="261527958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5" name="Group 14">
            <a:extLst>
              <a:ext uri="{FF2B5EF4-FFF2-40B4-BE49-F238E27FC236}">
                <a16:creationId xmlns:a16="http://schemas.microsoft.com/office/drawing/2014/main" id="{2D51AE72-842B-4A4B-DC7D-AE4F2D561E63}"/>
              </a:ext>
            </a:extLst>
          </p:cNvPr>
          <p:cNvGrpSpPr/>
          <p:nvPr/>
        </p:nvGrpSpPr>
        <p:grpSpPr>
          <a:xfrm>
            <a:off x="6236208" y="1381125"/>
            <a:ext cx="5120640" cy="4105275"/>
            <a:chOff x="6236208" y="1381125"/>
            <a:chExt cx="5120640" cy="4105275"/>
          </a:xfrm>
        </p:grpSpPr>
        <p:pic>
          <p:nvPicPr>
            <p:cNvPr id="4" name="Picture 3" descr="fig-cars-collin-biplot-1.png"/>
            <p:cNvPicPr>
              <a:picLocks noChangeAspect="1"/>
            </p:cNvPicPr>
            <p:nvPr/>
          </p:nvPicPr>
          <p:blipFill>
            <a:blip r:embed="rId3"/>
            <a:stretch>
              <a:fillRect/>
            </a:stretch>
          </p:blipFill>
          <p:spPr>
            <a:xfrm>
              <a:off x="6236208" y="1828800"/>
              <a:ext cx="5120640" cy="3657600"/>
            </a:xfrm>
            <a:prstGeom prst="rect">
              <a:avLst/>
            </a:prstGeom>
          </p:spPr>
        </p:pic>
        <p:sp>
          <p:nvSpPr>
            <p:cNvPr id="13" name="TextBox 12">
              <a:extLst>
                <a:ext uri="{FF2B5EF4-FFF2-40B4-BE49-F238E27FC236}">
                  <a16:creationId xmlns:a16="http://schemas.microsoft.com/office/drawing/2014/main" id="{7891D371-0E92-FB60-6241-0361EBA4789D}"/>
                </a:ext>
              </a:extLst>
            </p:cNvPr>
            <p:cNvSpPr txBox="1"/>
            <p:nvPr/>
          </p:nvSpPr>
          <p:spPr>
            <a:xfrm>
              <a:off x="6667500" y="1381125"/>
              <a:ext cx="4521200" cy="369332"/>
            </a:xfrm>
            <a:prstGeom prst="rect">
              <a:avLst/>
            </a:prstGeom>
            <a:noFill/>
          </p:spPr>
          <p:txBody>
            <a:bodyPr wrap="square" rtlCol="0">
              <a:spAutoFit/>
            </a:bodyPr>
            <a:lstStyle/>
            <a:p>
              <a:r>
                <a:rPr lang="en-CA" dirty="0"/>
                <a:t>Collinearity problems live in Waldo space</a:t>
              </a:r>
            </a:p>
          </p:txBody>
        </p:sp>
      </p:grpSp>
      <p:sp>
        <p:nvSpPr>
          <p:cNvPr id="2" name="Title 1"/>
          <p:cNvSpPr>
            <a:spLocks noGrp="1"/>
          </p:cNvSpPr>
          <p:nvPr>
            <p:ph type="title"/>
          </p:nvPr>
        </p:nvSpPr>
        <p:spPr>
          <a:xfrm>
            <a:off x="838200" y="365125"/>
            <a:ext cx="10515600" cy="889635"/>
          </a:xfrm>
        </p:spPr>
        <p:txBody>
          <a:bodyPr/>
          <a:lstStyle/>
          <a:p>
            <a:r>
              <a:rPr lang="en-CA" dirty="0"/>
              <a:t>Understanding collinearity</a:t>
            </a:r>
            <a:endParaRPr dirty="0"/>
          </a:p>
        </p:txBody>
      </p:sp>
      <p:sp>
        <p:nvSpPr>
          <p:cNvPr id="5" name="TextBox 4"/>
          <p:cNvSpPr txBox="1"/>
          <p:nvPr/>
        </p:nvSpPr>
        <p:spPr>
          <a:xfrm>
            <a:off x="704088" y="108903"/>
            <a:ext cx="10515600" cy="369332"/>
          </a:xfrm>
          <a:prstGeom prst="rect">
            <a:avLst/>
          </a:prstGeom>
          <a:noFill/>
        </p:spPr>
        <p:txBody>
          <a:bodyPr wrap="square">
            <a:spAutoFit/>
          </a:bodyPr>
          <a:lstStyle/>
          <a:p>
            <a:endParaRPr sz="1800" dirty="0"/>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9.6, 9.7</a:t>
            </a:r>
          </a:p>
        </p:txBody>
      </p:sp>
      <p:pic>
        <p:nvPicPr>
          <p:cNvPr id="7" name="Picture 6">
            <a:extLst>
              <a:ext uri="{FF2B5EF4-FFF2-40B4-BE49-F238E27FC236}">
                <a16:creationId xmlns:a16="http://schemas.microsoft.com/office/drawing/2014/main" id="{56CED087-F66B-2266-D14C-EF56C91CA2CE}"/>
              </a:ext>
            </a:extLst>
          </p:cNvPr>
          <p:cNvPicPr>
            <a:picLocks noChangeAspect="1"/>
          </p:cNvPicPr>
          <p:nvPr/>
        </p:nvPicPr>
        <p:blipFill>
          <a:blip r:embed="rId4"/>
          <a:stretch>
            <a:fillRect/>
          </a:stretch>
        </p:blipFill>
        <p:spPr>
          <a:xfrm>
            <a:off x="11465513" y="4569594"/>
            <a:ext cx="568780" cy="568780"/>
          </a:xfrm>
          <a:prstGeom prst="rect">
            <a:avLst/>
          </a:prstGeom>
        </p:spPr>
      </p:pic>
      <p:sp>
        <p:nvSpPr>
          <p:cNvPr id="8" name="Oval 7">
            <a:extLst>
              <a:ext uri="{FF2B5EF4-FFF2-40B4-BE49-F238E27FC236}">
                <a16:creationId xmlns:a16="http://schemas.microsoft.com/office/drawing/2014/main" id="{EBDC8D63-15B0-2373-D30E-2317C37A7920}"/>
              </a:ext>
            </a:extLst>
          </p:cNvPr>
          <p:cNvSpPr/>
          <p:nvPr/>
        </p:nvSpPr>
        <p:spPr>
          <a:xfrm>
            <a:off x="10734262" y="4569594"/>
            <a:ext cx="731252" cy="568780"/>
          </a:xfrm>
          <a:prstGeom prst="ellipse">
            <a:avLst/>
          </a:prstGeom>
          <a:noFill/>
          <a:ln w="3492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10" name="Picture 9" descr="A hexagon with a diagram of different colored circles&#10;&#10;Description automatically generated">
            <a:extLst>
              <a:ext uri="{FF2B5EF4-FFF2-40B4-BE49-F238E27FC236}">
                <a16:creationId xmlns:a16="http://schemas.microsoft.com/office/drawing/2014/main" id="{6BAB72B0-CAD5-E775-B8B4-AEDE2955D2F4}"/>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0561147" y="340360"/>
            <a:ext cx="792653" cy="914400"/>
          </a:xfrm>
          <a:prstGeom prst="rect">
            <a:avLst/>
          </a:prstGeom>
        </p:spPr>
      </p:pic>
      <p:grpSp>
        <p:nvGrpSpPr>
          <p:cNvPr id="14" name="Group 13">
            <a:extLst>
              <a:ext uri="{FF2B5EF4-FFF2-40B4-BE49-F238E27FC236}">
                <a16:creationId xmlns:a16="http://schemas.microsoft.com/office/drawing/2014/main" id="{78A5A869-79C2-AAA6-EF97-0C22CA87FDB1}"/>
              </a:ext>
            </a:extLst>
          </p:cNvPr>
          <p:cNvGrpSpPr/>
          <p:nvPr/>
        </p:nvGrpSpPr>
        <p:grpSpPr>
          <a:xfrm>
            <a:off x="838200" y="1381125"/>
            <a:ext cx="5126736" cy="4105275"/>
            <a:chOff x="838200" y="1381125"/>
            <a:chExt cx="5126736" cy="4105275"/>
          </a:xfrm>
        </p:grpSpPr>
        <p:pic>
          <p:nvPicPr>
            <p:cNvPr id="3" name="Picture 2" descr="fig-cars-tableplot-1.png"/>
            <p:cNvPicPr>
              <a:picLocks noChangeAspect="1"/>
            </p:cNvPicPr>
            <p:nvPr/>
          </p:nvPicPr>
          <p:blipFill>
            <a:blip r:embed="rId6"/>
            <a:stretch>
              <a:fillRect/>
            </a:stretch>
          </p:blipFill>
          <p:spPr>
            <a:xfrm>
              <a:off x="841248" y="1828800"/>
              <a:ext cx="5120640" cy="3657600"/>
            </a:xfrm>
            <a:prstGeom prst="rect">
              <a:avLst/>
            </a:prstGeom>
          </p:spPr>
        </p:pic>
        <p:sp>
          <p:nvSpPr>
            <p:cNvPr id="12" name="TextBox 11">
              <a:extLst>
                <a:ext uri="{FF2B5EF4-FFF2-40B4-BE49-F238E27FC236}">
                  <a16:creationId xmlns:a16="http://schemas.microsoft.com/office/drawing/2014/main" id="{F4A91128-D889-6BD4-6A40-3AE7480AEDFF}"/>
                </a:ext>
              </a:extLst>
            </p:cNvPr>
            <p:cNvSpPr txBox="1"/>
            <p:nvPr/>
          </p:nvSpPr>
          <p:spPr>
            <a:xfrm>
              <a:off x="838200" y="1381125"/>
              <a:ext cx="5126736" cy="369332"/>
            </a:xfrm>
            <a:prstGeom prst="rect">
              <a:avLst/>
            </a:prstGeom>
            <a:noFill/>
          </p:spPr>
          <p:txBody>
            <a:bodyPr wrap="square" rtlCol="0">
              <a:spAutoFit/>
            </a:bodyPr>
            <a:lstStyle/>
            <a:p>
              <a:r>
                <a:rPr lang="en-CA" dirty="0"/>
                <a:t>Visualizing VIFs, condition indices, variance %</a:t>
              </a:r>
            </a:p>
          </p:txBody>
        </p:sp>
      </p:grpSp>
      <p:sp>
        <p:nvSpPr>
          <p:cNvPr id="9" name="Rectangle: Rounded Corners 8">
            <a:extLst>
              <a:ext uri="{FF2B5EF4-FFF2-40B4-BE49-F238E27FC236}">
                <a16:creationId xmlns:a16="http://schemas.microsoft.com/office/drawing/2014/main" id="{D3927502-F632-50FE-450B-56A90E4BBE19}"/>
              </a:ext>
            </a:extLst>
          </p:cNvPr>
          <p:cNvSpPr/>
          <p:nvPr/>
        </p:nvSpPr>
        <p:spPr>
          <a:xfrm>
            <a:off x="704088" y="2123441"/>
            <a:ext cx="4268745" cy="130556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6" name="Slide Number Placeholder 16"/>
          <p:cNvSpPr>
            <a:spLocks noGrp="1"/>
          </p:cNvSpPr>
          <p:nvPr>
            <p:ph type="sldNum" sz="quarter" idx="12"/>
          </p:nvPr>
        </p:nvSpPr>
        <p:spPr/>
        <p:txBody>
          <a:bodyPr/>
          <a:lstStyle/>
          <a:p>
            <a:fld id="{9BFB2853-4965-4727-91C4-384EB30D99A4}" type="slidenum">
              <a:rPr lang="en-CA"/>
              <a:t>40</a:t>
            </a:fld>
            <a:endParaRPr lang="en-CA"/>
          </a:p>
        </p:txBody>
      </p:sp>
      <p:sp>
        <p:nvSpPr>
          <p:cNvPr id="11" name="TextBox 10">
            <a:extLst>
              <a:ext uri="{FF2B5EF4-FFF2-40B4-BE49-F238E27FC236}">
                <a16:creationId xmlns:a16="http://schemas.microsoft.com/office/drawing/2014/main" id="{F61BB919-0FD5-32D0-E561-01CDB3546DA9}"/>
              </a:ext>
            </a:extLst>
          </p:cNvPr>
          <p:cNvSpPr txBox="1"/>
          <p:nvPr/>
        </p:nvSpPr>
        <p:spPr>
          <a:xfrm>
            <a:off x="6375399" y="5727700"/>
            <a:ext cx="5493793" cy="369332"/>
          </a:xfrm>
          <a:prstGeom prst="rect">
            <a:avLst/>
          </a:prstGeom>
          <a:noFill/>
        </p:spPr>
        <p:txBody>
          <a:bodyPr wrap="square" rtlCol="0">
            <a:spAutoFit/>
          </a:bodyPr>
          <a:lstStyle/>
          <a:p>
            <a:r>
              <a:rPr lang="en-CA" dirty="0">
                <a:sym typeface="Symbol" panose="05050102010706020507" pitchFamily="18" charset="2"/>
              </a:rPr>
              <a:t></a:t>
            </a:r>
            <a:r>
              <a:rPr lang="en-CA" dirty="0"/>
              <a:t> Engine size too highly correlated with #cylinders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2"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1+#ppt_w/2"/>
                                          </p:val>
                                        </p:tav>
                                        <p:tav tm="100000">
                                          <p:val>
                                            <p:strVal val="#ppt_x"/>
                                          </p:val>
                                        </p:tav>
                                      </p:tavLst>
                                    </p:anim>
                                    <p:anim calcmode="lin" valueType="num">
                                      <p:cBhvr additive="base">
                                        <p:cTn id="8" dur="500" fill="hold"/>
                                        <p:tgtEl>
                                          <p:spTgt spid="7"/>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31" presetClass="entr" presetSubtype="0" fill="hold" nodeType="clickEffect">
                                  <p:stCondLst>
                                    <p:cond delay="0"/>
                                  </p:stCondLst>
                                  <p:childTnLst>
                                    <p:set>
                                      <p:cBhvr>
                                        <p:cTn id="12" dur="1" fill="hold">
                                          <p:stCondLst>
                                            <p:cond delay="0"/>
                                          </p:stCondLst>
                                        </p:cTn>
                                        <p:tgtEl>
                                          <p:spTgt spid="15"/>
                                        </p:tgtEl>
                                        <p:attrNameLst>
                                          <p:attrName>style.visibility</p:attrName>
                                        </p:attrNameLst>
                                      </p:cBhvr>
                                      <p:to>
                                        <p:strVal val="visible"/>
                                      </p:to>
                                    </p:set>
                                    <p:anim calcmode="lin" valueType="num">
                                      <p:cBhvr>
                                        <p:cTn id="13" dur="1000" fill="hold"/>
                                        <p:tgtEl>
                                          <p:spTgt spid="15"/>
                                        </p:tgtEl>
                                        <p:attrNameLst>
                                          <p:attrName>ppt_w</p:attrName>
                                        </p:attrNameLst>
                                      </p:cBhvr>
                                      <p:tavLst>
                                        <p:tav tm="0">
                                          <p:val>
                                            <p:fltVal val="0"/>
                                          </p:val>
                                        </p:tav>
                                        <p:tav tm="100000">
                                          <p:val>
                                            <p:strVal val="#ppt_w"/>
                                          </p:val>
                                        </p:tav>
                                      </p:tavLst>
                                    </p:anim>
                                    <p:anim calcmode="lin" valueType="num">
                                      <p:cBhvr>
                                        <p:cTn id="14" dur="1000" fill="hold"/>
                                        <p:tgtEl>
                                          <p:spTgt spid="15"/>
                                        </p:tgtEl>
                                        <p:attrNameLst>
                                          <p:attrName>ppt_h</p:attrName>
                                        </p:attrNameLst>
                                      </p:cBhvr>
                                      <p:tavLst>
                                        <p:tav tm="0">
                                          <p:val>
                                            <p:fltVal val="0"/>
                                          </p:val>
                                        </p:tav>
                                        <p:tav tm="100000">
                                          <p:val>
                                            <p:strVal val="#ppt_h"/>
                                          </p:val>
                                        </p:tav>
                                      </p:tavLst>
                                    </p:anim>
                                    <p:anim calcmode="lin" valueType="num">
                                      <p:cBhvr>
                                        <p:cTn id="15" dur="1000" fill="hold"/>
                                        <p:tgtEl>
                                          <p:spTgt spid="15"/>
                                        </p:tgtEl>
                                        <p:attrNameLst>
                                          <p:attrName>style.rotation</p:attrName>
                                        </p:attrNameLst>
                                      </p:cBhvr>
                                      <p:tavLst>
                                        <p:tav tm="0">
                                          <p:val>
                                            <p:fltVal val="90"/>
                                          </p:val>
                                        </p:tav>
                                        <p:tav tm="100000">
                                          <p:val>
                                            <p:fltVal val="0"/>
                                          </p:val>
                                        </p:tav>
                                      </p:tavLst>
                                    </p:anim>
                                    <p:animEffect transition="in" filter="fade">
                                      <p:cBhvr>
                                        <p:cTn id="16" dur="1000"/>
                                        <p:tgtEl>
                                          <p:spTgt spid="15"/>
                                        </p:tgtEl>
                                      </p:cBhvr>
                                    </p:animEffect>
                                  </p:childTnLst>
                                </p:cTn>
                              </p:par>
                            </p:childTnLst>
                          </p:cTn>
                        </p:par>
                      </p:childTnLst>
                    </p:cTn>
                  </p:par>
                  <p:par>
                    <p:cTn id="17" fill="hold">
                      <p:stCondLst>
                        <p:cond delay="indefinite"/>
                      </p:stCondLst>
                      <p:childTnLst>
                        <p:par>
                          <p:cTn id="18" fill="hold">
                            <p:stCondLst>
                              <p:cond delay="0"/>
                            </p:stCondLst>
                            <p:childTnLst>
                              <p:par>
                                <p:cTn id="19" presetID="2" presetClass="entr" presetSubtype="4"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anim calcmode="lin" valueType="num">
                                      <p:cBhvr additive="base">
                                        <p:cTn id="21" dur="500" fill="hold"/>
                                        <p:tgtEl>
                                          <p:spTgt spid="8"/>
                                        </p:tgtEl>
                                        <p:attrNameLst>
                                          <p:attrName>ppt_x</p:attrName>
                                        </p:attrNameLst>
                                      </p:cBhvr>
                                      <p:tavLst>
                                        <p:tav tm="0">
                                          <p:val>
                                            <p:strVal val="#ppt_x"/>
                                          </p:val>
                                        </p:tav>
                                        <p:tav tm="100000">
                                          <p:val>
                                            <p:strVal val="#ppt_x"/>
                                          </p:val>
                                        </p:tav>
                                      </p:tavLst>
                                    </p:anim>
                                    <p:anim calcmode="lin" valueType="num">
                                      <p:cBhvr additive="base">
                                        <p:cTn id="22" dur="500" fill="hold"/>
                                        <p:tgtEl>
                                          <p:spTgt spid="8"/>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Ridge regression: shrink to gain precision</a:t>
            </a:r>
          </a:p>
        </p:txBody>
      </p:sp>
      <p:sp>
        <p:nvSpPr>
          <p:cNvPr id="3" name="Content Placeholder 2"/>
          <p:cNvSpPr>
            <a:spLocks noGrp="1"/>
          </p:cNvSpPr>
          <p:nvPr>
            <p:ph sz="half" idx="1"/>
          </p:nvPr>
        </p:nvSpPr>
        <p:spPr/>
        <p:txBody>
          <a:bodyPr/>
          <a:lstStyle/>
          <a:p>
            <a:r>
              <a:rPr lang="en-CA" dirty="0"/>
              <a:t>Penalize large </a:t>
            </a:r>
            <a:r>
              <a:rPr dirty="0"/>
              <a:t>coefficients</a:t>
            </a:r>
            <a:endParaRPr lang="en-CA" dirty="0"/>
          </a:p>
          <a:p>
            <a:endParaRPr lang="en-CA" dirty="0"/>
          </a:p>
          <a:p>
            <a:pPr marL="0" indent="0">
              <a:buNone/>
            </a:pPr>
            <a:endParaRPr dirty="0"/>
          </a:p>
          <a:p>
            <a:r>
              <a:rPr dirty="0"/>
              <a:t>The estimate moves from the OLS solution toward the origin</a:t>
            </a:r>
            <a:endParaRPr lang="en-CA" dirty="0"/>
          </a:p>
          <a:p>
            <a:pPr marL="0" indent="0">
              <a:buNone/>
            </a:pPr>
            <a:endParaRPr dirty="0"/>
          </a:p>
          <a:p>
            <a:endParaRPr lang="en-CA" dirty="0"/>
          </a:p>
          <a:p>
            <a:r>
              <a:rPr dirty="0"/>
              <a:t>A little bias buys a lot of precision</a:t>
            </a:r>
            <a:endParaRPr lang="en-CA" dirty="0"/>
          </a:p>
          <a:p>
            <a:r>
              <a:rPr lang="en-CA" dirty="0"/>
              <a:t>But how can we see this?</a:t>
            </a:r>
            <a:endParaRPr dirty="0"/>
          </a:p>
        </p:txBody>
      </p:sp>
      <p:pic>
        <p:nvPicPr>
          <p:cNvPr id="4" name="Picture 3" descr="ridge-demo.png"/>
          <p:cNvPicPr>
            <a:picLocks noChangeAspect="1"/>
          </p:cNvPicPr>
          <p:nvPr/>
        </p:nvPicPr>
        <p:blipFill>
          <a:blip r:embed="rId3"/>
          <a:stretch>
            <a:fillRect/>
          </a:stretch>
        </p:blipFill>
        <p:spPr>
          <a:xfrm>
            <a:off x="71541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9.9</a:t>
            </a:r>
          </a:p>
        </p:txBody>
      </p:sp>
      <p:pic>
        <p:nvPicPr>
          <p:cNvPr id="7" name="Picture 6" descr="logo.png">
            <a:extLst>
              <a:ext uri="{FF2B5EF4-FFF2-40B4-BE49-F238E27FC236}">
                <a16:creationId xmlns:a16="http://schemas.microsoft.com/office/drawing/2014/main" id="{0D4E33D8-FD24-E2AF-1168-8C9676AF6E34}"/>
              </a:ext>
            </a:extLst>
          </p:cNvPr>
          <p:cNvPicPr>
            <a:picLocks noChangeAspect="1"/>
          </p:cNvPicPr>
          <p:nvPr/>
        </p:nvPicPr>
        <p:blipFill>
          <a:blip r:embed="rId4"/>
          <a:stretch>
            <a:fillRect/>
          </a:stretch>
        </p:blipFill>
        <p:spPr>
          <a:xfrm>
            <a:off x="10567827" y="249214"/>
            <a:ext cx="785973" cy="914400"/>
          </a:xfrm>
          <a:prstGeom prst="rect">
            <a:avLst/>
          </a:prstGeom>
        </p:spPr>
      </p:pic>
      <p:sp>
        <p:nvSpPr>
          <p:cNvPr id="8" name="Slide Number Placeholder 8"/>
          <p:cNvSpPr>
            <a:spLocks noGrp="1"/>
          </p:cNvSpPr>
          <p:nvPr>
            <p:ph type="sldNum" sz="quarter" idx="12"/>
          </p:nvPr>
        </p:nvSpPr>
        <p:spPr/>
        <p:txBody>
          <a:bodyPr/>
          <a:lstStyle/>
          <a:p>
            <a:fld id="{9BFB2853-4965-4727-91C4-384EB30D99A4}" type="slidenum">
              <a:rPr lang="en-CA"/>
              <a:t>41</a:t>
            </a:fld>
            <a:endParaRPr lang="en-CA"/>
          </a:p>
        </p:txBody>
      </p:sp>
      <p:pic>
        <p:nvPicPr>
          <p:cNvPr id="9" name="Picture 8">
            <a:extLst>
              <a:ext uri="{FF2B5EF4-FFF2-40B4-BE49-F238E27FC236}">
                <a16:creationId xmlns:a16="http://schemas.microsoft.com/office/drawing/2014/main" id="{06BB3B1E-62D5-F501-2F5B-B0FE38DF84E2}"/>
              </a:ext>
            </a:extLst>
          </p:cNvPr>
          <p:cNvPicPr>
            <a:picLocks noChangeAspect="1"/>
          </p:cNvPicPr>
          <p:nvPr/>
        </p:nvPicPr>
        <p:blipFill>
          <a:blip r:embed="rId5"/>
          <a:stretch>
            <a:fillRect/>
          </a:stretch>
        </p:blipFill>
        <p:spPr>
          <a:xfrm>
            <a:off x="1109060" y="2166937"/>
            <a:ext cx="4639880" cy="512763"/>
          </a:xfrm>
          <a:prstGeom prst="rect">
            <a:avLst/>
          </a:prstGeom>
        </p:spPr>
      </p:pic>
      <p:pic>
        <p:nvPicPr>
          <p:cNvPr id="11" name="Picture 10">
            <a:extLst>
              <a:ext uri="{FF2B5EF4-FFF2-40B4-BE49-F238E27FC236}">
                <a16:creationId xmlns:a16="http://schemas.microsoft.com/office/drawing/2014/main" id="{1D9680AE-D87E-4B0F-4CB1-68B664499F24}"/>
              </a:ext>
            </a:extLst>
          </p:cNvPr>
          <p:cNvPicPr>
            <a:picLocks noChangeAspect="1"/>
          </p:cNvPicPr>
          <p:nvPr/>
        </p:nvPicPr>
        <p:blipFill>
          <a:blip r:embed="rId6"/>
          <a:stretch>
            <a:fillRect/>
          </a:stretch>
        </p:blipFill>
        <p:spPr>
          <a:xfrm>
            <a:off x="1506716" y="3717448"/>
            <a:ext cx="3844568" cy="710883"/>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usual ridge trace shows only the estimates</a:t>
            </a:r>
          </a:p>
        </p:txBody>
      </p:sp>
      <p:sp>
        <p:nvSpPr>
          <p:cNvPr id="3" name="Content Placeholder 2"/>
          <p:cNvSpPr>
            <a:spLocks noGrp="1"/>
          </p:cNvSpPr>
          <p:nvPr>
            <p:ph sz="half" idx="1"/>
          </p:nvPr>
        </p:nvSpPr>
        <p:spPr>
          <a:xfrm>
            <a:off x="838200" y="1643063"/>
            <a:ext cx="4470400" cy="4533900"/>
          </a:xfrm>
        </p:spPr>
        <p:txBody>
          <a:bodyPr/>
          <a:lstStyle/>
          <a:p>
            <a:r>
              <a:rPr dirty="0"/>
              <a:t>Longley data: six highly collinear economic predictors</a:t>
            </a:r>
          </a:p>
          <a:p>
            <a:r>
              <a:rPr dirty="0"/>
              <a:t>Coefficients plotted against shrinkage constant</a:t>
            </a:r>
            <a:r>
              <a:rPr lang="en-CA" dirty="0"/>
              <a:t> (k)</a:t>
            </a:r>
            <a:endParaRPr dirty="0"/>
          </a:p>
          <a:p>
            <a:r>
              <a:rPr dirty="0"/>
              <a:t>Shows the bias, but nothing about precision</a:t>
            </a:r>
            <a:endParaRPr lang="en-CA" dirty="0"/>
          </a:p>
          <a:p>
            <a:r>
              <a:rPr lang="en-CA" dirty="0"/>
              <a:t>The </a:t>
            </a:r>
            <a:r>
              <a:rPr lang="en-CA" b="1" dirty="0"/>
              <a:t>wrong plot </a:t>
            </a:r>
            <a:r>
              <a:rPr lang="en-CA" dirty="0"/>
              <a:t>for a </a:t>
            </a:r>
            <a:r>
              <a:rPr lang="en-CA" b="1" dirty="0"/>
              <a:t>multivariate</a:t>
            </a:r>
            <a:r>
              <a:rPr lang="en-CA" dirty="0"/>
              <a:t> problem</a:t>
            </a:r>
            <a:endParaRPr dirty="0"/>
          </a:p>
        </p:txBody>
      </p:sp>
      <p:pic>
        <p:nvPicPr>
          <p:cNvPr id="4" name="Picture 3" descr="fig-longley-traceplot1-1.png"/>
          <p:cNvPicPr>
            <a:picLocks noChangeAspect="1"/>
          </p:cNvPicPr>
          <p:nvPr/>
        </p:nvPicPr>
        <p:blipFill>
          <a:blip r:embed="rId3"/>
          <a:stretch>
            <a:fillRect/>
          </a:stretch>
        </p:blipFill>
        <p:spPr>
          <a:xfrm>
            <a:off x="5463958" y="1484021"/>
            <a:ext cx="6083390" cy="4345279"/>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dirty="0">
                <a:solidFill>
                  <a:srgbClr val="707070"/>
                </a:solidFill>
              </a:rPr>
              <a:t>Figure 9.10</a:t>
            </a:r>
          </a:p>
        </p:txBody>
      </p:sp>
      <p:sp>
        <p:nvSpPr>
          <p:cNvPr id="6" name="Slide Number Placeholder 6"/>
          <p:cNvSpPr>
            <a:spLocks noGrp="1"/>
          </p:cNvSpPr>
          <p:nvPr>
            <p:ph type="sldNum" sz="quarter" idx="12"/>
          </p:nvPr>
        </p:nvSpPr>
        <p:spPr/>
        <p:txBody>
          <a:bodyPr/>
          <a:lstStyle/>
          <a:p>
            <a:fld id="{9BFB2853-4965-4727-91C4-384EB30D99A4}" type="slidenum">
              <a:rPr lang="en-CA"/>
              <a:t>42</a:t>
            </a:fld>
            <a:endParaRPr lang="en-CA"/>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Generalized ridge trace plots</a:t>
            </a:r>
          </a:p>
        </p:txBody>
      </p:sp>
      <p:pic>
        <p:nvPicPr>
          <p:cNvPr id="5" name="Picture 4" descr="A hexagon with a diagram of different colored circles&#10;&#10;Description automatically generated">
            <a:extLst>
              <a:ext uri="{FF2B5EF4-FFF2-40B4-BE49-F238E27FC236}">
                <a16:creationId xmlns:a16="http://schemas.microsoft.com/office/drawing/2014/main" id="{32D3F16A-C57B-F52D-0588-2DF6EC723F51}"/>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846278" y="274493"/>
            <a:ext cx="748963" cy="864000"/>
          </a:xfrm>
          <a:prstGeom prst="rect">
            <a:avLst/>
          </a:prstGeom>
        </p:spPr>
      </p:pic>
      <p:pic>
        <p:nvPicPr>
          <p:cNvPr id="6" name="Picture 5" descr="A hexagon with colorful circles and dots&#10;&#10;Description automatically generated">
            <a:extLst>
              <a:ext uri="{FF2B5EF4-FFF2-40B4-BE49-F238E27FC236}">
                <a16:creationId xmlns:a16="http://schemas.microsoft.com/office/drawing/2014/main" id="{E1061739-8352-1D68-F9A7-4743B94F0A8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065102" y="274493"/>
            <a:ext cx="742652" cy="864000"/>
          </a:xfrm>
          <a:prstGeom prst="rect">
            <a:avLst/>
          </a:prstGeom>
        </p:spPr>
      </p:pic>
      <p:sp>
        <p:nvSpPr>
          <p:cNvPr id="7" name="Slide Number Placeholder 7"/>
          <p:cNvSpPr>
            <a:spLocks noGrp="1"/>
          </p:cNvSpPr>
          <p:nvPr>
            <p:ph type="sldNum" sz="quarter" idx="12"/>
          </p:nvPr>
        </p:nvSpPr>
        <p:spPr/>
        <p:txBody>
          <a:bodyPr/>
          <a:lstStyle/>
          <a:p>
            <a:fld id="{9BFB2853-4965-4727-91C4-384EB30D99A4}" type="slidenum">
              <a:rPr lang="en-CA"/>
              <a:t>43</a:t>
            </a:fld>
            <a:endParaRPr lang="en-CA"/>
          </a:p>
        </p:txBody>
      </p:sp>
      <p:sp>
        <p:nvSpPr>
          <p:cNvPr id="3" name="Ridge trace text">
            <a:extLst>
              <a:ext uri="{FF2B5EF4-FFF2-40B4-BE49-F238E27FC236}">
                <a16:creationId xmlns:a16="http://schemas.microsoft.com/office/drawing/2014/main" id="{EB4DA955-7513-38EC-BDAB-83557A336B2D}"/>
              </a:ext>
            </a:extLst>
          </p:cNvPr>
          <p:cNvSpPr txBox="1"/>
          <p:nvPr/>
        </p:nvSpPr>
        <p:spPr>
          <a:xfrm>
            <a:off x="838200" y="1168400"/>
            <a:ext cx="10541000" cy="1682512"/>
          </a:xfrm>
          <a:prstGeom prst="rect">
            <a:avLst/>
          </a:prstGeom>
          <a:noFill/>
        </p:spPr>
        <p:txBody>
          <a:bodyPr vert="horz" wrap="square" rtlCol="0">
            <a:spAutoFit/>
          </a:bodyPr>
          <a:lstStyle/>
          <a:p>
            <a:pPr>
              <a:spcAft>
                <a:spcPts val="800"/>
              </a:spcAft>
            </a:pPr>
            <a:r>
              <a:rPr lang="en-CA" dirty="0">
                <a:solidFill>
                  <a:srgbClr val="262626"/>
                </a:solidFill>
                <a:latin typeface="Aptos" panose="020B0004020202020204" pitchFamily="34" charset="0"/>
              </a:rPr>
              <a:t>Rather than plotting just the univariate trajectories of </a:t>
            </a:r>
            <a:r>
              <a:rPr lang="en-CA" b="1" dirty="0">
                <a:solidFill>
                  <a:srgbClr val="262626"/>
                </a:solidFill>
                <a:latin typeface="Cambria Math" panose="02040503050406030204" pitchFamily="18" charset="0"/>
              </a:rPr>
              <a:t>𝛽</a:t>
            </a:r>
            <a:r>
              <a:rPr lang="en-CA" baseline="-25000" dirty="0">
                <a:solidFill>
                  <a:srgbClr val="262626"/>
                </a:solidFill>
                <a:latin typeface="Cambria Math" panose="02040503050406030204" pitchFamily="18" charset="0"/>
              </a:rPr>
              <a:t>𝑘</a:t>
            </a:r>
            <a:r>
              <a:rPr lang="en-CA" dirty="0">
                <a:solidFill>
                  <a:srgbClr val="262626"/>
                </a:solidFill>
                <a:latin typeface="Aptos" panose="020B0004020202020204" pitchFamily="34" charset="0"/>
              </a:rPr>
              <a:t> vs. </a:t>
            </a:r>
            <a:r>
              <a:rPr lang="en-CA" dirty="0">
                <a:solidFill>
                  <a:srgbClr val="262626"/>
                </a:solidFill>
                <a:latin typeface="Cambria Math" panose="02040503050406030204" pitchFamily="18" charset="0"/>
              </a:rPr>
              <a:t>𝑘</a:t>
            </a:r>
            <a:r>
              <a:rPr lang="en-CA" dirty="0">
                <a:solidFill>
                  <a:srgbClr val="262626"/>
                </a:solidFill>
                <a:latin typeface="Aptos" panose="020B0004020202020204" pitchFamily="34" charset="0"/>
              </a:rPr>
              <a:t>, plot the covariance </a:t>
            </a:r>
            <a:r>
              <a:rPr lang="en-CA" dirty="0">
                <a:solidFill>
                  <a:srgbClr val="E8221B"/>
                </a:solidFill>
                <a:latin typeface="Aptos" panose="020B0004020202020204" pitchFamily="34" charset="0"/>
              </a:rPr>
              <a:t>ellipses</a:t>
            </a:r>
            <a:r>
              <a:rPr lang="en-CA" dirty="0">
                <a:solidFill>
                  <a:srgbClr val="262626"/>
                </a:solidFill>
                <a:latin typeface="Aptos" panose="020B0004020202020204" pitchFamily="34" charset="0"/>
              </a:rPr>
              <a:t> of </a:t>
            </a:r>
            <a:r>
              <a:rPr lang="el-GR" b="1" dirty="0">
                <a:solidFill>
                  <a:srgbClr val="262626"/>
                </a:solidFill>
                <a:latin typeface="Cambria Math" panose="02040503050406030204" pitchFamily="18" charset="0"/>
              </a:rPr>
              <a:t>Σ</a:t>
            </a:r>
            <a:r>
              <a:rPr lang="el-GR" baseline="-25000" dirty="0">
                <a:solidFill>
                  <a:srgbClr val="262626"/>
                </a:solidFill>
                <a:latin typeface="Cambria Math" panose="02040503050406030204" pitchFamily="18" charset="0"/>
              </a:rPr>
              <a:t>𝑘</a:t>
            </a:r>
            <a:r>
              <a:rPr lang="en-CA" dirty="0">
                <a:solidFill>
                  <a:srgbClr val="262626"/>
                </a:solidFill>
                <a:latin typeface="Cambria Math" panose="02040503050406030204" pitchFamily="18" charset="0"/>
              </a:rPr>
              <a:t> ≡ Var(</a:t>
            </a:r>
            <a:r>
              <a:rPr lang="en-CA" b="1" dirty="0">
                <a:solidFill>
                  <a:srgbClr val="262626"/>
                </a:solidFill>
                <a:latin typeface="Cambria Math" panose="02040503050406030204" pitchFamily="18" charset="0"/>
              </a:rPr>
              <a:t>𝛽</a:t>
            </a:r>
            <a:r>
              <a:rPr lang="en-CA" baseline="-25000" dirty="0">
                <a:solidFill>
                  <a:srgbClr val="262626"/>
                </a:solidFill>
                <a:latin typeface="Cambria Math" panose="02040503050406030204" pitchFamily="18" charset="0"/>
              </a:rPr>
              <a:t>𝑘</a:t>
            </a:r>
            <a:r>
              <a:rPr lang="en-CA" dirty="0">
                <a:solidFill>
                  <a:srgbClr val="262626"/>
                </a:solidFill>
                <a:latin typeface="Cambria Math" panose="02040503050406030204" pitchFamily="18" charset="0"/>
              </a:rPr>
              <a:t>)</a:t>
            </a:r>
            <a:r>
              <a:rPr lang="en-CA" dirty="0">
                <a:solidFill>
                  <a:srgbClr val="262626"/>
                </a:solidFill>
                <a:latin typeface="Aptos" panose="020B0004020202020204" pitchFamily="34" charset="0"/>
              </a:rPr>
              <a:t> over the range of </a:t>
            </a:r>
            <a:r>
              <a:rPr lang="en-CA" dirty="0">
                <a:solidFill>
                  <a:srgbClr val="262626"/>
                </a:solidFill>
                <a:latin typeface="Cambria Math" panose="02040503050406030204" pitchFamily="18" charset="0"/>
              </a:rPr>
              <a:t>𝑘</a:t>
            </a:r>
            <a:endParaRPr lang="en-CA" dirty="0">
              <a:solidFill>
                <a:srgbClr val="262626"/>
              </a:solidFill>
              <a:latin typeface="Aptos" panose="020B0004020202020204" pitchFamily="34" charset="0"/>
            </a:endParaRPr>
          </a:p>
          <a:p>
            <a:pPr marL="457200" indent="-228600">
              <a:spcAft>
                <a:spcPts val="400"/>
              </a:spcAft>
              <a:buSzPct val="100000"/>
              <a:buFont typeface="+mj-lt"/>
              <a:buChar char="•"/>
            </a:pPr>
            <a:r>
              <a:rPr lang="en-CA" dirty="0">
                <a:solidFill>
                  <a:srgbClr val="262626"/>
                </a:solidFill>
                <a:latin typeface="Aptos" panose="020B0004020202020204" pitchFamily="34" charset="0"/>
              </a:rPr>
              <a:t>Centers of the ellipses are </a:t>
            </a:r>
            <a:r>
              <a:rPr lang="en-CA" b="1" dirty="0">
                <a:solidFill>
                  <a:srgbClr val="262626"/>
                </a:solidFill>
                <a:latin typeface="Cambria Math" panose="02040503050406030204" pitchFamily="18" charset="0"/>
              </a:rPr>
              <a:t>𝛽</a:t>
            </a:r>
            <a:r>
              <a:rPr lang="en-CA" baseline="-25000" dirty="0">
                <a:solidFill>
                  <a:srgbClr val="262626"/>
                </a:solidFill>
                <a:latin typeface="Cambria Math" panose="02040503050406030204" pitchFamily="18" charset="0"/>
              </a:rPr>
              <a:t>𝑘</a:t>
            </a:r>
            <a:r>
              <a:rPr lang="en-CA" dirty="0">
                <a:solidFill>
                  <a:srgbClr val="262626"/>
                </a:solidFill>
                <a:latin typeface="Aptos" panose="020B0004020202020204" pitchFamily="34" charset="0"/>
              </a:rPr>
              <a:t> – same info as in the univariate plot</a:t>
            </a:r>
          </a:p>
          <a:p>
            <a:pPr marL="457200" indent="-228600">
              <a:spcAft>
                <a:spcPts val="400"/>
              </a:spcAft>
              <a:buSzPct val="100000"/>
              <a:buFont typeface="+mj-lt"/>
              <a:buChar char="•"/>
            </a:pPr>
            <a:r>
              <a:rPr lang="en-CA" dirty="0">
                <a:solidFill>
                  <a:srgbClr val="262626"/>
                </a:solidFill>
                <a:latin typeface="Aptos" panose="020B0004020202020204" pitchFamily="34" charset="0"/>
              </a:rPr>
              <a:t>Can see how change in one coefficient is related to changes in others</a:t>
            </a:r>
          </a:p>
          <a:p>
            <a:pPr marL="457200" indent="-228600">
              <a:spcAft>
                <a:spcPts val="400"/>
              </a:spcAft>
              <a:buSzPct val="100000"/>
              <a:buFont typeface="+mj-lt"/>
              <a:buChar char="•"/>
            </a:pPr>
            <a:r>
              <a:rPr lang="en-CA" dirty="0">
                <a:solidFill>
                  <a:srgbClr val="262626"/>
                </a:solidFill>
                <a:latin typeface="Aptos" panose="020B0004020202020204" pitchFamily="34" charset="0"/>
              </a:rPr>
              <a:t>Relative size &amp; shape of ellipsoids shows </a:t>
            </a:r>
            <a:r>
              <a:rPr lang="en-CA" dirty="0">
                <a:solidFill>
                  <a:srgbClr val="E8221B"/>
                </a:solidFill>
                <a:latin typeface="Aptos" panose="020B0004020202020204" pitchFamily="34" charset="0"/>
              </a:rPr>
              <a:t>directly</a:t>
            </a:r>
            <a:r>
              <a:rPr lang="en-CA" dirty="0">
                <a:solidFill>
                  <a:srgbClr val="262626"/>
                </a:solidFill>
                <a:latin typeface="Aptos" panose="020B0004020202020204" pitchFamily="34" charset="0"/>
              </a:rPr>
              <a:t> the effect on precision</a:t>
            </a:r>
          </a:p>
        </p:txBody>
      </p:sp>
      <p:pic>
        <p:nvPicPr>
          <p:cNvPr id="10" name="Fig 9.12 Unemployed">
            <a:extLst>
              <a:ext uri="{FF2B5EF4-FFF2-40B4-BE49-F238E27FC236}">
                <a16:creationId xmlns:a16="http://schemas.microsoft.com/office/drawing/2014/main" id="{E491A084-7F81-DB90-77FD-882552DC31C7}"/>
              </a:ext>
            </a:extLst>
          </p:cNvPr>
          <p:cNvPicPr>
            <a:picLocks/>
          </p:cNvPicPr>
          <p:nvPr/>
        </p:nvPicPr>
        <p:blipFill>
          <a:blip r:embed="rId5">
            <a:extLst>
              <a:ext uri="{28A0092B-C50C-407E-A947-70E740481C1C}">
                <a14:useLocalDpi xmlns:a14="http://schemas.microsoft.com/office/drawing/2010/main" val="0"/>
              </a:ext>
            </a:extLst>
          </a:blip>
          <a:stretch>
            <a:fillRect/>
          </a:stretch>
        </p:blipFill>
        <p:spPr>
          <a:xfrm>
            <a:off x="1778526" y="2927112"/>
            <a:ext cx="4165074" cy="3702288"/>
          </a:xfrm>
          <a:prstGeom prst="rect">
            <a:avLst/>
          </a:prstGeom>
        </p:spPr>
      </p:pic>
      <p:pic>
        <p:nvPicPr>
          <p:cNvPr id="12" name="Fig 9.12 Population">
            <a:extLst>
              <a:ext uri="{FF2B5EF4-FFF2-40B4-BE49-F238E27FC236}">
                <a16:creationId xmlns:a16="http://schemas.microsoft.com/office/drawing/2014/main" id="{BB33DA1C-51CA-BAFC-00F1-2746C30782A5}"/>
              </a:ext>
            </a:extLst>
          </p:cNvPr>
          <p:cNvPicPr>
            <a:picLocks/>
          </p:cNvPicPr>
          <p:nvPr/>
        </p:nvPicPr>
        <p:blipFill>
          <a:blip r:embed="rId6">
            <a:extLst>
              <a:ext uri="{28A0092B-C50C-407E-A947-70E740481C1C}">
                <a14:useLocalDpi xmlns:a14="http://schemas.microsoft.com/office/drawing/2010/main" val="0"/>
              </a:ext>
            </a:extLst>
          </a:blip>
          <a:stretch>
            <a:fillRect/>
          </a:stretch>
        </p:blipFill>
        <p:spPr>
          <a:xfrm>
            <a:off x="6248400" y="2927112"/>
            <a:ext cx="4165074" cy="3702288"/>
          </a:xfrm>
          <a:prstGeom prst="rect">
            <a:avLst/>
          </a:prstGeom>
        </p:spPr>
      </p:pic>
      <p:sp>
        <p:nvSpPr>
          <p:cNvPr id="14" name="Caption">
            <a:extLst>
              <a:ext uri="{FF2B5EF4-FFF2-40B4-BE49-F238E27FC236}">
                <a16:creationId xmlns:a16="http://schemas.microsoft.com/office/drawing/2014/main" id="{9C34379C-0DC1-061C-2B50-9D3437157689}"/>
              </a:ext>
            </a:extLst>
          </p:cNvPr>
          <p:cNvSpPr txBox="1"/>
          <p:nvPr/>
        </p:nvSpPr>
        <p:spPr>
          <a:xfrm>
            <a:off x="841248" y="6355080"/>
            <a:ext cx="854721" cy="261610"/>
          </a:xfrm>
          <a:prstGeom prst="rect">
            <a:avLst/>
          </a:prstGeom>
          <a:noFill/>
        </p:spPr>
        <p:txBody>
          <a:bodyPr vert="horz" wrap="none" rtlCol="0">
            <a:spAutoFit/>
          </a:bodyPr>
          <a:lstStyle/>
          <a:p>
            <a:r>
              <a:rPr lang="en-CA" sz="1100">
                <a:solidFill>
                  <a:srgbClr val="707070"/>
                </a:solidFill>
                <a:latin typeface="Aptos" panose="020B0004020202020204" pitchFamily="34" charset="0"/>
              </a:rPr>
              <a:t>Figure 9.12</a:t>
            </a:r>
          </a:p>
        </p:txBody>
      </p:sp>
    </p:spTree>
    <p:extLst>
      <p:ext uri="{BB962C8B-B14F-4D97-AF65-F5344CB8AC3E}">
        <p14:creationId xmlns:p14="http://schemas.microsoft.com/office/powerpoint/2010/main" val="31803307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6"/>
                                        </p:tgtEl>
                                        <p:attrNameLst>
                                          <p:attrName>style.visibility</p:attrName>
                                        </p:attrNameLst>
                                      </p:cBhvr>
                                      <p:to>
                                        <p:strVal val="visible"/>
                                      </p:to>
                                    </p:set>
                                    <p:anim calcmode="lin" valueType="num">
                                      <p:cBhvr additive="base">
                                        <p:cTn id="11" dur="500" fill="hold"/>
                                        <p:tgtEl>
                                          <p:spTgt spid="6"/>
                                        </p:tgtEl>
                                        <p:attrNameLst>
                                          <p:attrName>ppt_x</p:attrName>
                                        </p:attrNameLst>
                                      </p:cBhvr>
                                      <p:tavLst>
                                        <p:tav tm="0">
                                          <p:val>
                                            <p:strVal val="#ppt_x"/>
                                          </p:val>
                                        </p:tav>
                                        <p:tav tm="100000">
                                          <p:val>
                                            <p:strVal val="#ppt_x"/>
                                          </p:val>
                                        </p:tav>
                                      </p:tavLst>
                                    </p:anim>
                                    <p:anim calcmode="lin" valueType="num">
                                      <p:cBhvr additive="base">
                                        <p:cTn id="12" dur="500" fill="hold"/>
                                        <p:tgtEl>
                                          <p:spTgt spid="6"/>
                                        </p:tgtEl>
                                        <p:attrNameLst>
                                          <p:attrName>ppt_y</p:attrName>
                                        </p:attrNameLst>
                                      </p:cBhvr>
                                      <p:tavLst>
                                        <p:tav tm="0">
                                          <p:val>
                                            <p:strVal val="1+#ppt_h/2"/>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2" presetClass="entr" presetSubtype="2" fill="hold" nodeType="clickEffect">
                                  <p:stCondLst>
                                    <p:cond delay="0"/>
                                  </p:stCondLst>
                                  <p:childTnLst>
                                    <p:set>
                                      <p:cBhvr>
                                        <p:cTn id="20" dur="1" fill="hold">
                                          <p:stCondLst>
                                            <p:cond delay="0"/>
                                          </p:stCondLst>
                                        </p:cTn>
                                        <p:tgtEl>
                                          <p:spTgt spid="12"/>
                                        </p:tgtEl>
                                        <p:attrNameLst>
                                          <p:attrName>style.visibility</p:attrName>
                                        </p:attrNameLst>
                                      </p:cBhvr>
                                      <p:to>
                                        <p:strVal val="visible"/>
                                      </p:to>
                                    </p:set>
                                    <p:anim calcmode="lin" valueType="num">
                                      <p:cBhvr additive="base">
                                        <p:cTn id="21" dur="500" fill="hold"/>
                                        <p:tgtEl>
                                          <p:spTgt spid="12"/>
                                        </p:tgtEl>
                                        <p:attrNameLst>
                                          <p:attrName>ppt_x</p:attrName>
                                        </p:attrNameLst>
                                      </p:cBhvr>
                                      <p:tavLst>
                                        <p:tav tm="0">
                                          <p:val>
                                            <p:strVal val="1+#ppt_w/2"/>
                                          </p:val>
                                        </p:tav>
                                        <p:tav tm="100000">
                                          <p:val>
                                            <p:strVal val="#ppt_x"/>
                                          </p:val>
                                        </p:tav>
                                      </p:tavLst>
                                    </p:anim>
                                    <p:anim calcmode="lin" valueType="num">
                                      <p:cBhvr additive="base">
                                        <p:cTn id="22" dur="500" fill="hold"/>
                                        <p:tgtEl>
                                          <p:spTgt spid="1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 low-rank view of ridge regression</a:t>
            </a:r>
          </a:p>
        </p:txBody>
      </p:sp>
      <p:sp>
        <p:nvSpPr>
          <p:cNvPr id="3" name="Content Placeholder 2"/>
          <p:cNvSpPr>
            <a:spLocks noGrp="1"/>
          </p:cNvSpPr>
          <p:nvPr>
            <p:ph sz="half" idx="1"/>
          </p:nvPr>
        </p:nvSpPr>
        <p:spPr>
          <a:xfrm>
            <a:off x="838200" y="1414463"/>
            <a:ext cx="4597400" cy="4533900"/>
          </a:xfrm>
        </p:spPr>
        <p:txBody>
          <a:bodyPr/>
          <a:lstStyle/>
          <a:p>
            <a:r>
              <a:rPr dirty="0"/>
              <a:t>Transform to principal component space of the predictors</a:t>
            </a:r>
          </a:p>
          <a:p>
            <a:r>
              <a:rPr lang="en-CA" dirty="0">
                <a:sym typeface="Symbol" panose="05050102010706020507" pitchFamily="18" charset="2"/>
              </a:rPr>
              <a:t> </a:t>
            </a:r>
            <a:r>
              <a:rPr dirty="0"/>
              <a:t>Shrinkage happens mostly in the smallest dimensions</a:t>
            </a:r>
          </a:p>
        </p:txBody>
      </p:sp>
      <p:sp>
        <p:nvSpPr>
          <p:cNvPr id="5" name="TextBox 4"/>
          <p:cNvSpPr txBox="1"/>
          <p:nvPr/>
        </p:nvSpPr>
        <p:spPr>
          <a:xfrm>
            <a:off x="841248" y="6355080"/>
            <a:ext cx="2743200" cy="261610"/>
          </a:xfrm>
          <a:prstGeom prst="rect">
            <a:avLst/>
          </a:prstGeom>
          <a:noFill/>
        </p:spPr>
        <p:txBody>
          <a:bodyPr wrap="square">
            <a:spAutoFit/>
          </a:bodyPr>
          <a:lstStyle/>
          <a:p>
            <a:r>
              <a:rPr lang="en-CA" sz="1100">
                <a:solidFill>
                  <a:srgbClr val="707070"/>
                </a:solidFill>
              </a:rPr>
              <a:t>Figure 9.16</a:t>
            </a:r>
            <a:endParaRPr sz="1100">
              <a:solidFill>
                <a:srgbClr val="707070"/>
              </a:solidFill>
            </a:endParaRPr>
          </a:p>
        </p:txBody>
      </p:sp>
      <p:sp>
        <p:nvSpPr>
          <p:cNvPr id="8" name="Slide Number Placeholder 8"/>
          <p:cNvSpPr>
            <a:spLocks noGrp="1"/>
          </p:cNvSpPr>
          <p:nvPr>
            <p:ph type="sldNum" sz="quarter" idx="12"/>
          </p:nvPr>
        </p:nvSpPr>
        <p:spPr/>
        <p:txBody>
          <a:bodyPr/>
          <a:lstStyle/>
          <a:p>
            <a:fld id="{9BFB2853-4965-4727-91C4-384EB30D99A4}" type="slidenum">
              <a:rPr lang="en-CA"/>
              <a:t>44</a:t>
            </a:fld>
            <a:endParaRPr lang="en-CA"/>
          </a:p>
        </p:txBody>
      </p:sp>
      <p:pic>
        <p:nvPicPr>
          <p:cNvPr id="7" name="Fig 9.16 PCA pairs">
            <a:extLst>
              <a:ext uri="{FF2B5EF4-FFF2-40B4-BE49-F238E27FC236}">
                <a16:creationId xmlns:a16="http://schemas.microsoft.com/office/drawing/2014/main" id="{B383AC6A-BF1A-7CC4-48BE-C7E94330CB4C}"/>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5799836" y="1169416"/>
            <a:ext cx="5143500" cy="5143500"/>
          </a:xfrm>
          <a:prstGeom prst="rect">
            <a:avLst/>
          </a:prstGeom>
        </p:spPr>
      </p:pic>
      <p:sp>
        <p:nvSpPr>
          <p:cNvPr id="4" name="Rectangle 3">
            <a:extLst>
              <a:ext uri="{FF2B5EF4-FFF2-40B4-BE49-F238E27FC236}">
                <a16:creationId xmlns:a16="http://schemas.microsoft.com/office/drawing/2014/main" id="{580EC192-086A-F6CF-421A-001CD9968C77}"/>
              </a:ext>
            </a:extLst>
          </p:cNvPr>
          <p:cNvSpPr/>
          <p:nvPr/>
        </p:nvSpPr>
        <p:spPr>
          <a:xfrm>
            <a:off x="9236576" y="4570396"/>
            <a:ext cx="1706760" cy="1742520"/>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 low-rank view of ridge regression</a:t>
            </a:r>
          </a:p>
        </p:txBody>
      </p:sp>
      <p:sp>
        <p:nvSpPr>
          <p:cNvPr id="3" name="Content Placeholder 2"/>
          <p:cNvSpPr>
            <a:spLocks noGrp="1"/>
          </p:cNvSpPr>
          <p:nvPr>
            <p:ph sz="half" idx="1"/>
          </p:nvPr>
        </p:nvSpPr>
        <p:spPr>
          <a:xfrm>
            <a:off x="838200" y="1414463"/>
            <a:ext cx="4597400" cy="4533900"/>
          </a:xfrm>
        </p:spPr>
        <p:txBody>
          <a:bodyPr/>
          <a:lstStyle/>
          <a:p>
            <a:r>
              <a:rPr dirty="0">
                <a:solidFill>
                  <a:schemeClr val="bg1">
                    <a:lumMod val="50000"/>
                  </a:schemeClr>
                </a:solidFill>
              </a:rPr>
              <a:t>Transform to the principal component space of the predictors</a:t>
            </a:r>
          </a:p>
          <a:p>
            <a:r>
              <a:rPr dirty="0">
                <a:solidFill>
                  <a:schemeClr val="bg1">
                    <a:lumMod val="50000"/>
                  </a:schemeClr>
                </a:solidFill>
              </a:rPr>
              <a:t>Shrinkage happens mostly in the smallest dimensions</a:t>
            </a:r>
          </a:p>
          <a:p>
            <a:r>
              <a:rPr dirty="0"/>
              <a:t>A biplot shows how the variables relate to them</a:t>
            </a:r>
          </a:p>
        </p:txBody>
      </p:sp>
      <p:pic>
        <p:nvPicPr>
          <p:cNvPr id="4" name="Picture 3" descr="fig-longley-pca-biplot-1.png"/>
          <p:cNvPicPr>
            <a:picLocks noChangeAspect="1"/>
          </p:cNvPicPr>
          <p:nvPr/>
        </p:nvPicPr>
        <p:blipFill>
          <a:blip r:embed="rId3"/>
          <a:stretch>
            <a:fillRect/>
          </a:stretch>
        </p:blipFill>
        <p:spPr>
          <a:xfrm>
            <a:off x="5524500" y="1169416"/>
            <a:ext cx="5626100" cy="562610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9.18</a:t>
            </a:r>
          </a:p>
        </p:txBody>
      </p:sp>
      <p:sp>
        <p:nvSpPr>
          <p:cNvPr id="8" name="Slide Number Placeholder 8"/>
          <p:cNvSpPr>
            <a:spLocks noGrp="1"/>
          </p:cNvSpPr>
          <p:nvPr>
            <p:ph type="sldNum" sz="quarter" idx="12"/>
          </p:nvPr>
        </p:nvSpPr>
        <p:spPr/>
        <p:txBody>
          <a:bodyPr/>
          <a:lstStyle/>
          <a:p>
            <a:fld id="{9BFB2853-4965-4727-91C4-384EB30D99A4}" type="slidenum">
              <a:rPr lang="en-CA"/>
              <a:t>45</a:t>
            </a:fld>
            <a:endParaRPr lang="en-CA"/>
          </a:p>
        </p:txBody>
      </p:sp>
    </p:spTree>
    <p:extLst>
      <p:ext uri="{BB962C8B-B14F-4D97-AF65-F5344CB8AC3E}">
        <p14:creationId xmlns:p14="http://schemas.microsoft.com/office/powerpoint/2010/main" val="20240140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7F4F1"/>
            </a:gs>
            <a:gs pos="100000">
              <a:srgbClr val="E4C09E"/>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831850" y="1193801"/>
            <a:ext cx="10515600" cy="2852737"/>
          </a:xfrm>
        </p:spPr>
        <p:txBody>
          <a:bodyPr/>
          <a:lstStyle/>
          <a:p>
            <a:r>
              <a:rPr dirty="0"/>
              <a:t>The HE plot framework</a:t>
            </a:r>
          </a:p>
        </p:txBody>
      </p:sp>
      <p:sp>
        <p:nvSpPr>
          <p:cNvPr id="3" name="Text Placeholder 2"/>
          <p:cNvSpPr>
            <a:spLocks noGrp="1"/>
          </p:cNvSpPr>
          <p:nvPr>
            <p:ph type="body" idx="1"/>
          </p:nvPr>
        </p:nvSpPr>
        <p:spPr>
          <a:xfrm>
            <a:off x="831850" y="4203093"/>
            <a:ext cx="10515600" cy="1978762"/>
          </a:xfrm>
        </p:spPr>
        <p:txBody>
          <a:bodyPr/>
          <a:lstStyle/>
          <a:p>
            <a:r>
              <a:rPr dirty="0"/>
              <a:t>Seeing multivariate tests as ellipses</a:t>
            </a:r>
            <a:r>
              <a:rPr lang="en-CA" dirty="0"/>
              <a:t> for </a:t>
            </a:r>
            <a:r>
              <a:rPr lang="en-CA" b="1" dirty="0"/>
              <a:t>H</a:t>
            </a:r>
            <a:r>
              <a:rPr lang="en-CA" dirty="0"/>
              <a:t> and </a:t>
            </a:r>
            <a:r>
              <a:rPr lang="en-CA" b="1" dirty="0"/>
              <a:t>E</a:t>
            </a:r>
          </a:p>
          <a:p>
            <a:r>
              <a:rPr lang="en-CA" dirty="0"/>
              <a:t>Significance scaling, seeing contrasts</a:t>
            </a:r>
          </a:p>
          <a:p>
            <a:r>
              <a:rPr lang="en-CA" dirty="0"/>
              <a:t>Canonical space low-D views</a:t>
            </a:r>
          </a:p>
          <a:p>
            <a:r>
              <a:rPr lang="en-CA" dirty="0"/>
              <a:t>Discriminant analysis views</a:t>
            </a:r>
          </a:p>
          <a:p>
            <a:endParaRPr dirty="0"/>
          </a:p>
        </p:txBody>
      </p:sp>
      <p:sp>
        <p:nvSpPr>
          <p:cNvPr id="4" name="Slide Number Placeholder 4"/>
          <p:cNvSpPr>
            <a:spLocks noGrp="1"/>
          </p:cNvSpPr>
          <p:nvPr>
            <p:ph type="sldNum" sz="quarter" idx="12"/>
          </p:nvPr>
        </p:nvSpPr>
        <p:spPr/>
        <p:txBody>
          <a:bodyPr/>
          <a:lstStyle/>
          <a:p>
            <a:fld id="{9BFB2853-4965-4727-91C4-384EB30D99A4}" type="slidenum">
              <a:rPr lang="en-CA"/>
              <a:t>46</a:t>
            </a:fld>
            <a:endParaRPr lang="en-CA"/>
          </a:p>
        </p:txBody>
      </p:sp>
      <p:pic>
        <p:nvPicPr>
          <p:cNvPr id="6" name="Section 4 data ellipses illustration">
            <a:extLst>
              <a:ext uri="{FF2B5EF4-FFF2-40B4-BE49-F238E27FC236}">
                <a16:creationId xmlns:a16="http://schemas.microsoft.com/office/drawing/2014/main" id="{7B380FCD-7154-0B7D-A6E0-255C8DE0AB7B}"/>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403350" y="177800"/>
            <a:ext cx="2400300" cy="2540000"/>
          </a:xfrm>
          <a:prstGeom prst="rect">
            <a:avLst/>
          </a:prstGeom>
          <a:ln w="9525">
            <a:solidFill>
              <a:srgbClr val="3A3A3A"/>
            </a:solidFill>
          </a:ln>
          <a:effectLst>
            <a:outerShdw blurRad="101600" dist="45790" dir="3378598" rotWithShape="0">
              <a:srgbClr val="000000">
                <a:alpha val="40000"/>
              </a:srgbClr>
            </a:outerShdw>
          </a:effectLst>
        </p:spPr>
      </p:pic>
      <p:sp>
        <p:nvSpPr>
          <p:cNvPr id="7" name="Section 4 arrow 1">
            <a:extLst>
              <a:ext uri="{FF2B5EF4-FFF2-40B4-BE49-F238E27FC236}">
                <a16:creationId xmlns:a16="http://schemas.microsoft.com/office/drawing/2014/main" id="{1CCD92B6-26FB-013D-DC88-6FE826830CC4}"/>
              </a:ext>
            </a:extLst>
          </p:cNvPr>
          <p:cNvSpPr/>
          <p:nvPr/>
        </p:nvSpPr>
        <p:spPr>
          <a:xfrm>
            <a:off x="3930650" y="1308100"/>
            <a:ext cx="381000" cy="279400"/>
          </a:xfrm>
          <a:prstGeom prst="rightArrow">
            <a:avLst/>
          </a:prstGeom>
          <a:solidFill>
            <a:srgbClr val="CC660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9" name="Section 4 HE plot illustration">
            <a:extLst>
              <a:ext uri="{FF2B5EF4-FFF2-40B4-BE49-F238E27FC236}">
                <a16:creationId xmlns:a16="http://schemas.microsoft.com/office/drawing/2014/main" id="{B7F787AC-23AB-6B54-1E07-BCF3F6C72AC9}"/>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4438650" y="177800"/>
            <a:ext cx="2540000" cy="2540000"/>
          </a:xfrm>
          <a:prstGeom prst="rect">
            <a:avLst/>
          </a:prstGeom>
          <a:ln w="9525">
            <a:solidFill>
              <a:srgbClr val="3A3A3A"/>
            </a:solidFill>
          </a:ln>
          <a:effectLst>
            <a:outerShdw blurRad="101600" dist="45790" dir="3378598" rotWithShape="0">
              <a:srgbClr val="000000">
                <a:alpha val="40000"/>
              </a:srgbClr>
            </a:outerShdw>
          </a:effectLst>
        </p:spPr>
      </p:pic>
      <p:sp>
        <p:nvSpPr>
          <p:cNvPr id="10" name="Section 4 arrow 2">
            <a:extLst>
              <a:ext uri="{FF2B5EF4-FFF2-40B4-BE49-F238E27FC236}">
                <a16:creationId xmlns:a16="http://schemas.microsoft.com/office/drawing/2014/main" id="{5A1E5CEC-78ED-FB46-6D55-461E5DBBACD9}"/>
              </a:ext>
            </a:extLst>
          </p:cNvPr>
          <p:cNvSpPr/>
          <p:nvPr/>
        </p:nvSpPr>
        <p:spPr>
          <a:xfrm>
            <a:off x="7105650" y="1308100"/>
            <a:ext cx="381000" cy="279400"/>
          </a:xfrm>
          <a:prstGeom prst="rightArrow">
            <a:avLst/>
          </a:prstGeom>
          <a:solidFill>
            <a:srgbClr val="CC660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12" name="Section 4 canonical HE illustration">
            <a:extLst>
              <a:ext uri="{FF2B5EF4-FFF2-40B4-BE49-F238E27FC236}">
                <a16:creationId xmlns:a16="http://schemas.microsoft.com/office/drawing/2014/main" id="{D3EA4D17-E757-DEA3-A2FA-7C6C9450EA21}"/>
              </a:ext>
            </a:extLst>
          </p:cNvPr>
          <p:cNvPicPr>
            <a:picLocks/>
          </p:cNvPicPr>
          <p:nvPr/>
        </p:nvPicPr>
        <p:blipFill>
          <a:blip r:embed="rId5">
            <a:extLst>
              <a:ext uri="{28A0092B-C50C-407E-A947-70E740481C1C}">
                <a14:useLocalDpi xmlns:a14="http://schemas.microsoft.com/office/drawing/2010/main" val="0"/>
              </a:ext>
            </a:extLst>
          </a:blip>
          <a:stretch>
            <a:fillRect/>
          </a:stretch>
        </p:blipFill>
        <p:spPr>
          <a:xfrm>
            <a:off x="7613650" y="177800"/>
            <a:ext cx="3175000" cy="2540000"/>
          </a:xfrm>
          <a:prstGeom prst="rect">
            <a:avLst/>
          </a:prstGeom>
          <a:ln w="9525">
            <a:solidFill>
              <a:srgbClr val="3A3A3A"/>
            </a:solidFill>
          </a:ln>
          <a:effectLst>
            <a:outerShdw blurRad="101600" dist="45790" dir="3378598" rotWithShape="0">
              <a:srgbClr val="000000">
                <a:alpha val="40000"/>
              </a:srgbClr>
            </a:outerShdw>
          </a:effectLst>
        </p:spPr>
      </p:pic>
      <p:pic>
        <p:nvPicPr>
          <p:cNvPr id="8" name="Picture 7" descr="logo.png">
            <a:extLst>
              <a:ext uri="{FF2B5EF4-FFF2-40B4-BE49-F238E27FC236}">
                <a16:creationId xmlns:a16="http://schemas.microsoft.com/office/drawing/2014/main" id="{BC3BF6D1-6AE7-ECA1-86CB-536D5A53B829}"/>
              </a:ext>
            </a:extLst>
          </p:cNvPr>
          <p:cNvPicPr>
            <a:picLocks noChangeAspect="1"/>
          </p:cNvPicPr>
          <p:nvPr/>
        </p:nvPicPr>
        <p:blipFill>
          <a:blip r:embed="rId6"/>
          <a:stretch>
            <a:fillRect/>
          </a:stretch>
        </p:blipFill>
        <p:spPr>
          <a:xfrm>
            <a:off x="10788650" y="3114198"/>
            <a:ext cx="787790" cy="914400"/>
          </a:xfrm>
          <a:prstGeom prst="rect">
            <a:avLst/>
          </a:prstGeom>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CAA0AE-DBB2-AE3D-3076-61638ADA8B4B}"/>
              </a:ext>
            </a:extLst>
          </p:cNvPr>
          <p:cNvSpPr>
            <a:spLocks noGrp="1"/>
          </p:cNvSpPr>
          <p:nvPr>
            <p:ph type="title"/>
          </p:nvPr>
        </p:nvSpPr>
        <p:spPr>
          <a:xfrm>
            <a:off x="7916560" y="274638"/>
            <a:ext cx="3818240" cy="1781134"/>
          </a:xfrm>
        </p:spPr>
        <p:txBody>
          <a:bodyPr>
            <a:normAutofit/>
          </a:bodyPr>
          <a:lstStyle/>
          <a:p>
            <a:r>
              <a:rPr lang="en-CA" sz="3200" dirty="0"/>
              <a:t>HE plots: Visual overview</a:t>
            </a:r>
          </a:p>
        </p:txBody>
      </p:sp>
      <p:grpSp>
        <p:nvGrpSpPr>
          <p:cNvPr id="27" name="Group 26">
            <a:extLst>
              <a:ext uri="{FF2B5EF4-FFF2-40B4-BE49-F238E27FC236}">
                <a16:creationId xmlns:a16="http://schemas.microsoft.com/office/drawing/2014/main" id="{CA4E0976-94D6-BD14-0C25-42A03307EEAB}"/>
              </a:ext>
            </a:extLst>
          </p:cNvPr>
          <p:cNvGrpSpPr/>
          <p:nvPr/>
        </p:nvGrpSpPr>
        <p:grpSpPr>
          <a:xfrm>
            <a:off x="1310509" y="240268"/>
            <a:ext cx="2898951" cy="3429332"/>
            <a:chOff x="186309" y="240268"/>
            <a:chExt cx="2898951" cy="3429332"/>
          </a:xfrm>
        </p:grpSpPr>
        <p:pic>
          <p:nvPicPr>
            <p:cNvPr id="9" name="Picture 8" descr="A diagram of different colored circles&#10;&#10;Description automatically generated">
              <a:extLst>
                <a:ext uri="{FF2B5EF4-FFF2-40B4-BE49-F238E27FC236}">
                  <a16:creationId xmlns:a16="http://schemas.microsoft.com/office/drawing/2014/main" id="{2723CB26-B161-9E65-6863-59BA16DA048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6309" y="609600"/>
              <a:ext cx="2898951" cy="3060000"/>
            </a:xfrm>
            <a:prstGeom prst="rect">
              <a:avLst/>
            </a:prstGeom>
          </p:spPr>
        </p:pic>
        <p:sp>
          <p:nvSpPr>
            <p:cNvPr id="16" name="TextBox 15">
              <a:extLst>
                <a:ext uri="{FF2B5EF4-FFF2-40B4-BE49-F238E27FC236}">
                  <a16:creationId xmlns:a16="http://schemas.microsoft.com/office/drawing/2014/main" id="{01346B4E-1C2E-F5A9-8AE3-60863479CEFB}"/>
                </a:ext>
              </a:extLst>
            </p:cNvPr>
            <p:cNvSpPr txBox="1"/>
            <p:nvPr/>
          </p:nvSpPr>
          <p:spPr>
            <a:xfrm>
              <a:off x="751438" y="240268"/>
              <a:ext cx="1600200" cy="369332"/>
            </a:xfrm>
            <a:prstGeom prst="rect">
              <a:avLst/>
            </a:prstGeom>
            <a:noFill/>
          </p:spPr>
          <p:txBody>
            <a:bodyPr wrap="square" rtlCol="0">
              <a:spAutoFit/>
            </a:bodyPr>
            <a:lstStyle/>
            <a:p>
              <a:r>
                <a:rPr lang="en-CA" dirty="0"/>
                <a:t>Data ellipses</a:t>
              </a:r>
            </a:p>
          </p:txBody>
        </p:sp>
      </p:grpSp>
      <p:grpSp>
        <p:nvGrpSpPr>
          <p:cNvPr id="28" name="Group 27">
            <a:extLst>
              <a:ext uri="{FF2B5EF4-FFF2-40B4-BE49-F238E27FC236}">
                <a16:creationId xmlns:a16="http://schemas.microsoft.com/office/drawing/2014/main" id="{CDF3D762-7C82-66A5-CD3D-225CEC92305F}"/>
              </a:ext>
            </a:extLst>
          </p:cNvPr>
          <p:cNvGrpSpPr/>
          <p:nvPr/>
        </p:nvGrpSpPr>
        <p:grpSpPr>
          <a:xfrm>
            <a:off x="4399120" y="278182"/>
            <a:ext cx="2898958" cy="3391418"/>
            <a:chOff x="3274921" y="278182"/>
            <a:chExt cx="2898958" cy="3391418"/>
          </a:xfrm>
        </p:grpSpPr>
        <p:pic>
          <p:nvPicPr>
            <p:cNvPr id="11" name="Picture 10" descr="A diagram of different types of species&#10;&#10;Description automatically generated">
              <a:extLst>
                <a:ext uri="{FF2B5EF4-FFF2-40B4-BE49-F238E27FC236}">
                  <a16:creationId xmlns:a16="http://schemas.microsoft.com/office/drawing/2014/main" id="{23A0FC60-DA35-4DF2-EC09-D3C81BBE340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274921" y="609600"/>
              <a:ext cx="2898958" cy="3060000"/>
            </a:xfrm>
            <a:prstGeom prst="rect">
              <a:avLst/>
            </a:prstGeom>
          </p:spPr>
        </p:pic>
        <p:sp>
          <p:nvSpPr>
            <p:cNvPr id="17" name="TextBox 16">
              <a:extLst>
                <a:ext uri="{FF2B5EF4-FFF2-40B4-BE49-F238E27FC236}">
                  <a16:creationId xmlns:a16="http://schemas.microsoft.com/office/drawing/2014/main" id="{A31BD52C-6907-FEB7-82D6-16D2966F7429}"/>
                </a:ext>
              </a:extLst>
            </p:cNvPr>
            <p:cNvSpPr txBox="1"/>
            <p:nvPr/>
          </p:nvSpPr>
          <p:spPr>
            <a:xfrm>
              <a:off x="3771900" y="278182"/>
              <a:ext cx="1600200" cy="369332"/>
            </a:xfrm>
            <a:prstGeom prst="rect">
              <a:avLst/>
            </a:prstGeom>
            <a:noFill/>
          </p:spPr>
          <p:txBody>
            <a:bodyPr wrap="square" rtlCol="0">
              <a:spAutoFit/>
            </a:bodyPr>
            <a:lstStyle/>
            <a:p>
              <a:r>
                <a:rPr lang="en-CA" dirty="0"/>
                <a:t> HE plot</a:t>
              </a:r>
            </a:p>
          </p:txBody>
        </p:sp>
      </p:grpSp>
      <p:grpSp>
        <p:nvGrpSpPr>
          <p:cNvPr id="35" name="Group 34">
            <a:extLst>
              <a:ext uri="{FF2B5EF4-FFF2-40B4-BE49-F238E27FC236}">
                <a16:creationId xmlns:a16="http://schemas.microsoft.com/office/drawing/2014/main" id="{6AB93CCE-DAE8-55F2-06A2-4580521AA299}"/>
              </a:ext>
            </a:extLst>
          </p:cNvPr>
          <p:cNvGrpSpPr/>
          <p:nvPr/>
        </p:nvGrpSpPr>
        <p:grpSpPr>
          <a:xfrm>
            <a:off x="5848600" y="3798000"/>
            <a:ext cx="4064217" cy="2942968"/>
            <a:chOff x="4724400" y="3798000"/>
            <a:chExt cx="4064217" cy="2942968"/>
          </a:xfrm>
        </p:grpSpPr>
        <p:pic>
          <p:nvPicPr>
            <p:cNvPr id="13" name="Picture 12" descr="A diagram of a number of objects&#10;&#10;Description automatically generated with medium confidence">
              <a:extLst>
                <a:ext uri="{FF2B5EF4-FFF2-40B4-BE49-F238E27FC236}">
                  <a16:creationId xmlns:a16="http://schemas.microsoft.com/office/drawing/2014/main" id="{9CB9E4E5-278B-05BC-95EF-0A0860C6D9A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724400" y="4090392"/>
              <a:ext cx="4064217" cy="2650576"/>
            </a:xfrm>
            <a:prstGeom prst="rect">
              <a:avLst/>
            </a:prstGeom>
          </p:spPr>
        </p:pic>
        <p:sp>
          <p:nvSpPr>
            <p:cNvPr id="19" name="TextBox 18">
              <a:extLst>
                <a:ext uri="{FF2B5EF4-FFF2-40B4-BE49-F238E27FC236}">
                  <a16:creationId xmlns:a16="http://schemas.microsoft.com/office/drawing/2014/main" id="{9C3C4EF9-B1DF-F16D-0E9E-81CF349883AD}"/>
                </a:ext>
              </a:extLst>
            </p:cNvPr>
            <p:cNvSpPr txBox="1"/>
            <p:nvPr/>
          </p:nvSpPr>
          <p:spPr>
            <a:xfrm>
              <a:off x="5410200" y="3798000"/>
              <a:ext cx="2561973" cy="369332"/>
            </a:xfrm>
            <a:prstGeom prst="rect">
              <a:avLst/>
            </a:prstGeom>
            <a:noFill/>
          </p:spPr>
          <p:txBody>
            <a:bodyPr wrap="square" rtlCol="0">
              <a:spAutoFit/>
            </a:bodyPr>
            <a:lstStyle/>
            <a:p>
              <a:r>
                <a:rPr lang="en-CA" dirty="0"/>
                <a:t>Canonical space</a:t>
              </a:r>
            </a:p>
          </p:txBody>
        </p:sp>
      </p:grpSp>
      <p:sp>
        <p:nvSpPr>
          <p:cNvPr id="24" name="Arrow: Right 23">
            <a:extLst>
              <a:ext uri="{FF2B5EF4-FFF2-40B4-BE49-F238E27FC236}">
                <a16:creationId xmlns:a16="http://schemas.microsoft.com/office/drawing/2014/main" id="{91B6A1B1-3BB8-0829-6A35-27BC37FB53A7}"/>
              </a:ext>
            </a:extLst>
          </p:cNvPr>
          <p:cNvSpPr/>
          <p:nvPr/>
        </p:nvSpPr>
        <p:spPr>
          <a:xfrm>
            <a:off x="3980020" y="319527"/>
            <a:ext cx="838200" cy="293132"/>
          </a:xfrm>
          <a:prstGeom prst="rightArrow">
            <a:avLst/>
          </a:prstGeom>
          <a:solidFill>
            <a:schemeClr val="tx2">
              <a:lumMod val="40000"/>
              <a:lumOff val="60000"/>
              <a:alpha val="40000"/>
            </a:schemeClr>
          </a:solidFill>
          <a:ln w="31750">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Arrow: Right 25">
            <a:extLst>
              <a:ext uri="{FF2B5EF4-FFF2-40B4-BE49-F238E27FC236}">
                <a16:creationId xmlns:a16="http://schemas.microsoft.com/office/drawing/2014/main" id="{D7877107-2E00-2B32-40F8-537EE19284AF}"/>
              </a:ext>
            </a:extLst>
          </p:cNvPr>
          <p:cNvSpPr/>
          <p:nvPr/>
        </p:nvSpPr>
        <p:spPr>
          <a:xfrm>
            <a:off x="5552800" y="3811437"/>
            <a:ext cx="838200" cy="293132"/>
          </a:xfrm>
          <a:prstGeom prst="rightArrow">
            <a:avLst/>
          </a:prstGeom>
          <a:solidFill>
            <a:schemeClr val="tx2">
              <a:lumMod val="40000"/>
              <a:lumOff val="60000"/>
              <a:alpha val="40000"/>
            </a:schemeClr>
          </a:solidFill>
          <a:ln w="31750">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4" name="Group 33">
            <a:extLst>
              <a:ext uri="{FF2B5EF4-FFF2-40B4-BE49-F238E27FC236}">
                <a16:creationId xmlns:a16="http://schemas.microsoft.com/office/drawing/2014/main" id="{42110AAC-B411-20F6-93EE-1650EC7F84A5}"/>
              </a:ext>
            </a:extLst>
          </p:cNvPr>
          <p:cNvGrpSpPr/>
          <p:nvPr/>
        </p:nvGrpSpPr>
        <p:grpSpPr>
          <a:xfrm>
            <a:off x="1937107" y="3798000"/>
            <a:ext cx="3610050" cy="3060000"/>
            <a:chOff x="812908" y="3798000"/>
            <a:chExt cx="3610050" cy="3060000"/>
          </a:xfrm>
        </p:grpSpPr>
        <p:pic>
          <p:nvPicPr>
            <p:cNvPr id="15" name="Picture 14" descr="A diagram of different colored circles&#10;&#10;Description automatically generated">
              <a:extLst>
                <a:ext uri="{FF2B5EF4-FFF2-40B4-BE49-F238E27FC236}">
                  <a16:creationId xmlns:a16="http://schemas.microsoft.com/office/drawing/2014/main" id="{DF8FA137-1692-78D9-9BF5-ACAD058793F0}"/>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524000" y="3798000"/>
              <a:ext cx="2898958" cy="3060000"/>
            </a:xfrm>
            <a:prstGeom prst="rect">
              <a:avLst/>
            </a:prstGeom>
          </p:spPr>
        </p:pic>
        <p:sp>
          <p:nvSpPr>
            <p:cNvPr id="18" name="TextBox 17">
              <a:extLst>
                <a:ext uri="{FF2B5EF4-FFF2-40B4-BE49-F238E27FC236}">
                  <a16:creationId xmlns:a16="http://schemas.microsoft.com/office/drawing/2014/main" id="{288E692D-E918-7910-1DFF-C6B9B9C434E9}"/>
                </a:ext>
              </a:extLst>
            </p:cNvPr>
            <p:cNvSpPr txBox="1"/>
            <p:nvPr/>
          </p:nvSpPr>
          <p:spPr>
            <a:xfrm>
              <a:off x="812908" y="4030072"/>
              <a:ext cx="1015892" cy="646331"/>
            </a:xfrm>
            <a:prstGeom prst="rect">
              <a:avLst/>
            </a:prstGeom>
            <a:noFill/>
          </p:spPr>
          <p:txBody>
            <a:bodyPr wrap="square" rtlCol="0">
              <a:spAutoFit/>
            </a:bodyPr>
            <a:lstStyle/>
            <a:p>
              <a:r>
                <a:rPr lang="en-CA" dirty="0" err="1"/>
                <a:t>Discrim</a:t>
              </a:r>
              <a:r>
                <a:rPr lang="en-CA" dirty="0"/>
                <a:t> axes</a:t>
              </a:r>
            </a:p>
          </p:txBody>
        </p:sp>
        <p:cxnSp>
          <p:nvCxnSpPr>
            <p:cNvPr id="21" name="Straight Connector 20">
              <a:extLst>
                <a:ext uri="{FF2B5EF4-FFF2-40B4-BE49-F238E27FC236}">
                  <a16:creationId xmlns:a16="http://schemas.microsoft.com/office/drawing/2014/main" id="{1826A6F3-5C3B-30D6-DE90-B03343035FE3}"/>
                </a:ext>
              </a:extLst>
            </p:cNvPr>
            <p:cNvCxnSpPr>
              <a:cxnSpLocks/>
            </p:cNvCxnSpPr>
            <p:nvPr/>
          </p:nvCxnSpPr>
          <p:spPr>
            <a:xfrm>
              <a:off x="2764956" y="4167332"/>
              <a:ext cx="1143000" cy="1547668"/>
            </a:xfrm>
            <a:prstGeom prst="line">
              <a:avLst/>
            </a:prstGeom>
            <a:ln w="34925">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C85BFB4B-2236-F2CA-726B-BF6B54E1FF55}"/>
                </a:ext>
              </a:extLst>
            </p:cNvPr>
            <p:cNvCxnSpPr>
              <a:cxnSpLocks/>
            </p:cNvCxnSpPr>
            <p:nvPr/>
          </p:nvCxnSpPr>
          <p:spPr>
            <a:xfrm flipV="1">
              <a:off x="3332982" y="4353237"/>
              <a:ext cx="724183" cy="587929"/>
            </a:xfrm>
            <a:prstGeom prst="line">
              <a:avLst/>
            </a:prstGeom>
            <a:ln w="34925">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grpSp>
      <p:sp>
        <p:nvSpPr>
          <p:cNvPr id="25" name="Arrow: Right 24">
            <a:extLst>
              <a:ext uri="{FF2B5EF4-FFF2-40B4-BE49-F238E27FC236}">
                <a16:creationId xmlns:a16="http://schemas.microsoft.com/office/drawing/2014/main" id="{7E4FF141-783E-7B47-3969-A864601D8FE2}"/>
              </a:ext>
            </a:extLst>
          </p:cNvPr>
          <p:cNvSpPr/>
          <p:nvPr/>
        </p:nvSpPr>
        <p:spPr>
          <a:xfrm rot="6766895">
            <a:off x="3667210" y="2907061"/>
            <a:ext cx="1601892" cy="383179"/>
          </a:xfrm>
          <a:prstGeom prst="rightArrow">
            <a:avLst/>
          </a:prstGeom>
          <a:solidFill>
            <a:schemeClr val="tx2">
              <a:lumMod val="40000"/>
              <a:lumOff val="60000"/>
              <a:alpha val="40000"/>
            </a:schemeClr>
          </a:solidFill>
          <a:ln w="31750">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6" name="Picture 35">
            <a:extLst>
              <a:ext uri="{FF2B5EF4-FFF2-40B4-BE49-F238E27FC236}">
                <a16:creationId xmlns:a16="http://schemas.microsoft.com/office/drawing/2014/main" id="{F88A1C6E-4EDC-C549-C60B-5F3D16872043}"/>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0205472" y="2087119"/>
            <a:ext cx="1050420" cy="1188720"/>
          </a:xfrm>
          <a:prstGeom prst="rect">
            <a:avLst/>
          </a:prstGeom>
        </p:spPr>
      </p:pic>
      <p:pic>
        <p:nvPicPr>
          <p:cNvPr id="37" name="Picture 36" descr="A picture containing text&#10;&#10;Description automatically generated">
            <a:extLst>
              <a:ext uri="{FF2B5EF4-FFF2-40B4-BE49-F238E27FC236}">
                <a16:creationId xmlns:a16="http://schemas.microsoft.com/office/drawing/2014/main" id="{B6238DEA-3F8A-997D-D444-32088AA89A98}"/>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9121396" y="2087119"/>
            <a:ext cx="1024128" cy="1188720"/>
          </a:xfrm>
          <a:prstGeom prst="rect">
            <a:avLst/>
          </a:prstGeom>
        </p:spPr>
      </p:pic>
      <p:sp>
        <p:nvSpPr>
          <p:cNvPr id="38" name="Slide Number Placeholder 38"/>
          <p:cNvSpPr>
            <a:spLocks noGrp="1"/>
          </p:cNvSpPr>
          <p:nvPr>
            <p:ph type="sldNum" sz="quarter" idx="12"/>
          </p:nvPr>
        </p:nvSpPr>
        <p:spPr/>
        <p:txBody>
          <a:bodyPr/>
          <a:lstStyle/>
          <a:p>
            <a:fld id="{9BFB2853-4965-4727-91C4-384EB30D99A4}" type="slidenum">
              <a:rPr lang="en-CA"/>
              <a:t>47</a:t>
            </a:fld>
            <a:endParaRPr lang="en-CA"/>
          </a:p>
        </p:txBody>
      </p:sp>
    </p:spTree>
    <p:extLst>
      <p:ext uri="{BB962C8B-B14F-4D97-AF65-F5344CB8AC3E}">
        <p14:creationId xmlns:p14="http://schemas.microsoft.com/office/powerpoint/2010/main" val="40771410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4"/>
                                        </p:tgtEl>
                                        <p:attrNameLst>
                                          <p:attrName>style.visibility</p:attrName>
                                        </p:attrNameLst>
                                      </p:cBhvr>
                                      <p:to>
                                        <p:strVal val="visible"/>
                                      </p:to>
                                    </p:set>
                                  </p:childTnLst>
                                </p:cTn>
                              </p:par>
                              <p:par>
                                <p:cTn id="7" presetID="2" presetClass="entr" presetSubtype="2" fill="hold" nodeType="withEffect">
                                  <p:stCondLst>
                                    <p:cond delay="0"/>
                                  </p:stCondLst>
                                  <p:childTnLst>
                                    <p:set>
                                      <p:cBhvr>
                                        <p:cTn id="8" dur="1" fill="hold">
                                          <p:stCondLst>
                                            <p:cond delay="0"/>
                                          </p:stCondLst>
                                        </p:cTn>
                                        <p:tgtEl>
                                          <p:spTgt spid="28"/>
                                        </p:tgtEl>
                                        <p:attrNameLst>
                                          <p:attrName>style.visibility</p:attrName>
                                        </p:attrNameLst>
                                      </p:cBhvr>
                                      <p:to>
                                        <p:strVal val="visible"/>
                                      </p:to>
                                    </p:set>
                                    <p:anim calcmode="lin" valueType="num">
                                      <p:cBhvr additive="base">
                                        <p:cTn id="9" dur="500" fill="hold"/>
                                        <p:tgtEl>
                                          <p:spTgt spid="28"/>
                                        </p:tgtEl>
                                        <p:attrNameLst>
                                          <p:attrName>ppt_x</p:attrName>
                                        </p:attrNameLst>
                                      </p:cBhvr>
                                      <p:tavLst>
                                        <p:tav tm="0">
                                          <p:val>
                                            <p:strVal val="1+#ppt_w/2"/>
                                          </p:val>
                                        </p:tav>
                                        <p:tav tm="100000">
                                          <p:val>
                                            <p:strVal val="#ppt_x"/>
                                          </p:val>
                                        </p:tav>
                                      </p:tavLst>
                                    </p:anim>
                                    <p:anim calcmode="lin" valueType="num">
                                      <p:cBhvr additive="base">
                                        <p:cTn id="10" dur="500" fill="hold"/>
                                        <p:tgtEl>
                                          <p:spTgt spid="28"/>
                                        </p:tgtEl>
                                        <p:attrNameLst>
                                          <p:attrName>ppt_y</p:attrName>
                                        </p:attrNameLst>
                                      </p:cBhvr>
                                      <p:tavLst>
                                        <p:tav tm="0">
                                          <p:val>
                                            <p:strVal val="#ppt_y"/>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par>
                                <p:cTn id="15" presetID="2" presetClass="entr" presetSubtype="4" fill="hold" nodeType="withEffect">
                                  <p:stCondLst>
                                    <p:cond delay="0"/>
                                  </p:stCondLst>
                                  <p:childTnLst>
                                    <p:set>
                                      <p:cBhvr>
                                        <p:cTn id="16" dur="1" fill="hold">
                                          <p:stCondLst>
                                            <p:cond delay="0"/>
                                          </p:stCondLst>
                                        </p:cTn>
                                        <p:tgtEl>
                                          <p:spTgt spid="34"/>
                                        </p:tgtEl>
                                        <p:attrNameLst>
                                          <p:attrName>style.visibility</p:attrName>
                                        </p:attrNameLst>
                                      </p:cBhvr>
                                      <p:to>
                                        <p:strVal val="visible"/>
                                      </p:to>
                                    </p:set>
                                    <p:anim calcmode="lin" valueType="num">
                                      <p:cBhvr additive="base">
                                        <p:cTn id="17" dur="500" fill="hold"/>
                                        <p:tgtEl>
                                          <p:spTgt spid="34"/>
                                        </p:tgtEl>
                                        <p:attrNameLst>
                                          <p:attrName>ppt_x</p:attrName>
                                        </p:attrNameLst>
                                      </p:cBhvr>
                                      <p:tavLst>
                                        <p:tav tm="0">
                                          <p:val>
                                            <p:strVal val="#ppt_x"/>
                                          </p:val>
                                        </p:tav>
                                        <p:tav tm="100000">
                                          <p:val>
                                            <p:strVal val="#ppt_x"/>
                                          </p:val>
                                        </p:tav>
                                      </p:tavLst>
                                    </p:anim>
                                    <p:anim calcmode="lin" valueType="num">
                                      <p:cBhvr additive="base">
                                        <p:cTn id="18" dur="500" fill="hold"/>
                                        <p:tgtEl>
                                          <p:spTgt spid="34"/>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6"/>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6" grpId="0" animBg="1"/>
      <p:bldP spid="25" grpId="0" animBg="1"/>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Data </a:t>
            </a:r>
            <a:r>
              <a:rPr lang="en-US" dirty="0">
                <a:sym typeface="Symbol"/>
              </a:rPr>
              <a:t> </a:t>
            </a:r>
            <a:r>
              <a:rPr lang="en-US" dirty="0"/>
              <a:t>Data ellipses </a:t>
            </a:r>
            <a:r>
              <a:rPr lang="en-US" dirty="0">
                <a:sym typeface="Symbol"/>
              </a:rPr>
              <a:t></a:t>
            </a:r>
            <a:r>
              <a:rPr lang="en-US" dirty="0"/>
              <a:t> HE plot</a:t>
            </a:r>
          </a:p>
        </p:txBody>
      </p:sp>
      <p:sp>
        <p:nvSpPr>
          <p:cNvPr id="7" name="Content Placeholder 6"/>
          <p:cNvSpPr>
            <a:spLocks noGrp="1"/>
          </p:cNvSpPr>
          <p:nvPr>
            <p:ph idx="1"/>
          </p:nvPr>
        </p:nvSpPr>
        <p:spPr>
          <a:xfrm>
            <a:off x="927100" y="3962400"/>
            <a:ext cx="10515600" cy="2285999"/>
          </a:xfrm>
        </p:spPr>
        <p:txBody>
          <a:bodyPr>
            <a:normAutofit/>
          </a:bodyPr>
          <a:lstStyle/>
          <a:p>
            <a:r>
              <a:rPr lang="en-US" sz="2000" dirty="0"/>
              <a:t>Differences </a:t>
            </a:r>
            <a:r>
              <a:rPr lang="en-US" sz="2000" b="1" dirty="0"/>
              <a:t>between group </a:t>
            </a:r>
            <a:r>
              <a:rPr lang="en-US" sz="2000" dirty="0"/>
              <a:t>means are shown by the </a:t>
            </a:r>
            <a:r>
              <a:rPr lang="en-US" sz="2000" b="1" dirty="0"/>
              <a:t>H</a:t>
            </a:r>
            <a:r>
              <a:rPr lang="en-US" sz="2000" dirty="0"/>
              <a:t> ellipsoid– data ellipsoid of the </a:t>
            </a:r>
            <a:r>
              <a:rPr lang="en-US" sz="2000" dirty="0">
                <a:solidFill>
                  <a:srgbClr val="FF0000"/>
                </a:solidFill>
              </a:rPr>
              <a:t>fitted</a:t>
            </a:r>
            <a:r>
              <a:rPr lang="en-US" sz="2000" dirty="0"/>
              <a:t> values (w/ 1 </a:t>
            </a:r>
            <a:r>
              <a:rPr lang="en-US" sz="2000" dirty="0" err="1"/>
              <a:t>df</a:t>
            </a:r>
            <a:r>
              <a:rPr lang="en-US" sz="2000" dirty="0"/>
              <a:t>, degenerates to a line)</a:t>
            </a:r>
          </a:p>
          <a:p>
            <a:pPr lvl="1"/>
            <a:r>
              <a:rPr lang="en-US" sz="1800" dirty="0"/>
              <a:t>Direction shows relation of group means to response variables</a:t>
            </a:r>
          </a:p>
          <a:p>
            <a:pPr lvl="1"/>
            <a:r>
              <a:rPr lang="en-US" sz="1800" dirty="0"/>
              <a:t>Size shows “</a:t>
            </a:r>
            <a:r>
              <a:rPr lang="en-US" sz="1800" b="1" dirty="0"/>
              <a:t>how big is H relative to E</a:t>
            </a:r>
            <a:r>
              <a:rPr lang="en-US" sz="1800" dirty="0"/>
              <a:t>” – that’s all that Wilks’ </a:t>
            </a:r>
            <a:r>
              <a:rPr lang="el-GR" sz="1800" dirty="0"/>
              <a:t>Λ</a:t>
            </a:r>
            <a:r>
              <a:rPr lang="en-CA" sz="1800" dirty="0"/>
              <a:t> and other tests care about</a:t>
            </a:r>
            <a:endParaRPr lang="en-US" sz="1800" dirty="0"/>
          </a:p>
          <a:p>
            <a:r>
              <a:rPr lang="en-US" sz="2000" dirty="0"/>
              <a:t>Variation </a:t>
            </a:r>
            <a:r>
              <a:rPr lang="en-US" sz="2000" b="1" dirty="0"/>
              <a:t>within groups </a:t>
            </a:r>
            <a:r>
              <a:rPr lang="en-US" sz="2000" dirty="0"/>
              <a:t>is reflected in the </a:t>
            </a:r>
            <a:r>
              <a:rPr lang="en-US" sz="2000" b="1" dirty="0"/>
              <a:t>E</a:t>
            </a:r>
            <a:r>
              <a:rPr lang="en-US" sz="2000" dirty="0"/>
              <a:t> ellipsoid-- data ellipsoid of the </a:t>
            </a:r>
            <a:r>
              <a:rPr lang="en-US" sz="2000" dirty="0">
                <a:solidFill>
                  <a:srgbClr val="FF0000"/>
                </a:solidFill>
              </a:rPr>
              <a:t>residuals</a:t>
            </a:r>
          </a:p>
          <a:p>
            <a:pPr lvl="1"/>
            <a:r>
              <a:rPr lang="en-US" sz="1800" dirty="0"/>
              <a:t>Direction: residual (partial) correlation between BM &amp; WP</a:t>
            </a:r>
          </a:p>
          <a:p>
            <a:pPr lvl="1"/>
            <a:r>
              <a:rPr lang="en-US" sz="1800" dirty="0"/>
              <a:t>Size/shape: residual variance</a:t>
            </a:r>
          </a:p>
          <a:p>
            <a:endParaRPr lang="en-US" sz="1600" dirty="0"/>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35200" y="1447800"/>
            <a:ext cx="2286000" cy="2286000"/>
          </a:xfrm>
          <a:prstGeom prst="rect">
            <a:avLst/>
          </a:prstGeom>
        </p:spPr>
      </p:pic>
      <p:pic>
        <p:nvPicPr>
          <p:cNvPr id="5" name="Picture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940300" y="1447800"/>
            <a:ext cx="2286000" cy="2286000"/>
          </a:xfrm>
          <a:prstGeom prst="rect">
            <a:avLst/>
          </a:prstGeom>
        </p:spPr>
      </p:pic>
      <p:pic>
        <p:nvPicPr>
          <p:cNvPr id="6" name="Picture 5"/>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645400" y="1219200"/>
            <a:ext cx="2743200" cy="2743200"/>
          </a:xfrm>
          <a:prstGeom prst="rect">
            <a:avLst/>
          </a:prstGeom>
        </p:spPr>
      </p:pic>
      <p:cxnSp>
        <p:nvCxnSpPr>
          <p:cNvPr id="9" name="Straight Arrow Connector 8"/>
          <p:cNvCxnSpPr/>
          <p:nvPr/>
        </p:nvCxnSpPr>
        <p:spPr>
          <a:xfrm>
            <a:off x="4292600" y="1828800"/>
            <a:ext cx="10668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1" name="Straight Arrow Connector 10"/>
          <p:cNvCxnSpPr/>
          <p:nvPr/>
        </p:nvCxnSpPr>
        <p:spPr>
          <a:xfrm>
            <a:off x="6959600" y="1975336"/>
            <a:ext cx="12954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12" name="Slide Number Placeholder 12"/>
          <p:cNvSpPr>
            <a:spLocks noGrp="1"/>
          </p:cNvSpPr>
          <p:nvPr>
            <p:ph type="sldNum" sz="quarter" idx="12"/>
          </p:nvPr>
        </p:nvSpPr>
        <p:spPr/>
        <p:txBody>
          <a:bodyPr/>
          <a:lstStyle/>
          <a:p>
            <a:fld id="{9BFB2853-4965-4727-91C4-384EB30D99A4}" type="slidenum">
              <a:rPr lang="en-CA"/>
              <a:t>48</a:t>
            </a:fld>
            <a:endParaRPr lang="en-CA"/>
          </a:p>
        </p:txBody>
      </p:sp>
    </p:spTree>
    <p:extLst>
      <p:ext uri="{BB962C8B-B14F-4D97-AF65-F5344CB8AC3E}">
        <p14:creationId xmlns:p14="http://schemas.microsoft.com/office/powerpoint/2010/main" val="114728400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H ellipse</a:t>
            </a:r>
          </a:p>
        </p:txBody>
      </p:sp>
      <p:sp>
        <p:nvSpPr>
          <p:cNvPr id="6" name="Content Placeholder 5"/>
          <p:cNvSpPr>
            <a:spLocks noGrp="1"/>
          </p:cNvSpPr>
          <p:nvPr>
            <p:ph idx="1"/>
          </p:nvPr>
        </p:nvSpPr>
        <p:spPr>
          <a:xfrm>
            <a:off x="838200" y="4648200"/>
            <a:ext cx="10515600" cy="1828800"/>
          </a:xfrm>
        </p:spPr>
        <p:txBody>
          <a:bodyPr>
            <a:normAutofit/>
          </a:bodyPr>
          <a:lstStyle/>
          <a:p>
            <a:r>
              <a:rPr lang="en-US" dirty="0"/>
              <a:t>The </a:t>
            </a:r>
            <a:r>
              <a:rPr lang="en-US" b="1" dirty="0"/>
              <a:t>H</a:t>
            </a:r>
            <a:r>
              <a:rPr lang="en-US" dirty="0"/>
              <a:t> ellipse is the </a:t>
            </a:r>
            <a:r>
              <a:rPr lang="en-US" b="1" dirty="0"/>
              <a:t>data ellipse of the fitted values </a:t>
            </a:r>
            <a:r>
              <a:rPr lang="en-US" dirty="0"/>
              <a:t>(group means, here)</a:t>
            </a:r>
          </a:p>
          <a:p>
            <a:pPr lvl="1"/>
            <a:r>
              <a:rPr lang="en-US" dirty="0"/>
              <a:t>The </a:t>
            </a:r>
            <a:r>
              <a:rPr lang="en-US" b="1" dirty="0"/>
              <a:t>H</a:t>
            </a:r>
            <a:r>
              <a:rPr lang="en-US" dirty="0"/>
              <a:t> matrix is the sum of squares and </a:t>
            </a:r>
            <a:r>
              <a:rPr lang="en-US" dirty="0" err="1"/>
              <a:t>crossproducts</a:t>
            </a:r>
            <a:r>
              <a:rPr lang="en-US" dirty="0"/>
              <a:t> of the fitted values, corrected for the grand mean </a:t>
            </a: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86000" y="1244600"/>
            <a:ext cx="3200400" cy="3200400"/>
          </a:xfrm>
          <a:prstGeom prst="rect">
            <a:avLst/>
          </a:prstGeom>
        </p:spPr>
      </p:pic>
      <p:pic>
        <p:nvPicPr>
          <p:cNvPr id="5" name="Picture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477000" y="1244600"/>
            <a:ext cx="3200400" cy="3200400"/>
          </a:xfrm>
          <a:prstGeom prst="rect">
            <a:avLst/>
          </a:prstGeom>
        </p:spPr>
      </p:pic>
      <p:cxnSp>
        <p:nvCxnSpPr>
          <p:cNvPr id="7" name="Straight Arrow Connector 6"/>
          <p:cNvCxnSpPr/>
          <p:nvPr/>
        </p:nvCxnSpPr>
        <p:spPr>
          <a:xfrm>
            <a:off x="5334000" y="2082800"/>
            <a:ext cx="12954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8" name="TextBox 7"/>
          <p:cNvSpPr txBox="1"/>
          <p:nvPr/>
        </p:nvSpPr>
        <p:spPr>
          <a:xfrm>
            <a:off x="9677400" y="1641236"/>
            <a:ext cx="2006600" cy="1169551"/>
          </a:xfrm>
          <a:prstGeom prst="rect">
            <a:avLst/>
          </a:prstGeom>
          <a:noFill/>
        </p:spPr>
        <p:txBody>
          <a:bodyPr wrap="square" rtlCol="0">
            <a:spAutoFit/>
          </a:bodyPr>
          <a:lstStyle/>
          <a:p>
            <a:r>
              <a:rPr lang="en-US" sz="1400" dirty="0"/>
              <a:t>Jittered fitted values</a:t>
            </a:r>
          </a:p>
          <a:p>
            <a:r>
              <a:rPr lang="en-US" sz="1400" dirty="0"/>
              <a:t>(</a:t>
            </a:r>
            <a:r>
              <a:rPr lang="en-US" sz="1400" dirty="0" err="1"/>
              <a:t>gp</a:t>
            </a:r>
            <a:r>
              <a:rPr lang="en-US" sz="1400" dirty="0"/>
              <a:t> means)</a:t>
            </a:r>
          </a:p>
          <a:p>
            <a:endParaRPr lang="en-US" sz="1400" dirty="0"/>
          </a:p>
          <a:p>
            <a:r>
              <a:rPr lang="en-US" sz="1400" b="1" dirty="0"/>
              <a:t>H</a:t>
            </a:r>
            <a:r>
              <a:rPr lang="en-US" sz="1400" dirty="0"/>
              <a:t> ellipse is a line (1 </a:t>
            </a:r>
            <a:r>
              <a:rPr lang="en-US" sz="1400" dirty="0" err="1"/>
              <a:t>df</a:t>
            </a:r>
            <a:r>
              <a:rPr lang="en-US" sz="1400" dirty="0"/>
              <a:t>)</a:t>
            </a:r>
          </a:p>
          <a:p>
            <a:endParaRPr lang="en-US" sz="1400" dirty="0"/>
          </a:p>
        </p:txBody>
      </p:sp>
      <p:graphicFrame>
        <p:nvGraphicFramePr>
          <p:cNvPr id="9" name="Object 8"/>
          <p:cNvGraphicFramePr>
            <a:graphicFrameLocks noChangeAspect="1"/>
          </p:cNvGraphicFramePr>
          <p:nvPr>
            <p:extLst>
              <p:ext uri="{D42A27DB-BD31-4B8C-83A1-F6EECF244321}">
                <p14:modId xmlns:p14="http://schemas.microsoft.com/office/powerpoint/2010/main" val="1526914968"/>
              </p:ext>
            </p:extLst>
          </p:nvPr>
        </p:nvGraphicFramePr>
        <p:xfrm>
          <a:off x="4650424" y="5562600"/>
          <a:ext cx="2891151" cy="797559"/>
        </p:xfrm>
        <a:graphic>
          <a:graphicData uri="http://schemas.openxmlformats.org/presentationml/2006/ole">
            <mc:AlternateContent xmlns:mc="http://schemas.openxmlformats.org/markup-compatibility/2006">
              <mc:Choice xmlns:v="urn:schemas-microsoft-com:vml" Requires="v">
                <p:oleObj name="Equation" r:id="rId5" imgW="1104840" imgH="304560" progId="Equation.DSMT4">
                  <p:embed/>
                </p:oleObj>
              </mc:Choice>
              <mc:Fallback>
                <p:oleObj name="Equation" r:id="rId5" imgW="1104840" imgH="304560" progId="Equation.DSMT4">
                  <p:embed/>
                  <p:pic>
                    <p:nvPicPr>
                      <p:cNvPr id="9" name="Object 8"/>
                      <p:cNvPicPr/>
                      <p:nvPr/>
                    </p:nvPicPr>
                    <p:blipFill>
                      <a:blip r:embed="rId6"/>
                      <a:stretch>
                        <a:fillRect/>
                      </a:stretch>
                    </p:blipFill>
                    <p:spPr>
                      <a:xfrm>
                        <a:off x="4650424" y="5562600"/>
                        <a:ext cx="2891151" cy="797559"/>
                      </a:xfrm>
                      <a:prstGeom prst="rect">
                        <a:avLst/>
                      </a:prstGeom>
                    </p:spPr>
                  </p:pic>
                </p:oleObj>
              </mc:Fallback>
            </mc:AlternateContent>
          </a:graphicData>
        </a:graphic>
      </p:graphicFrame>
      <p:sp>
        <p:nvSpPr>
          <p:cNvPr id="10" name="Flowchart: Connector 9">
            <a:extLst>
              <a:ext uri="{FF2B5EF4-FFF2-40B4-BE49-F238E27FC236}">
                <a16:creationId xmlns:a16="http://schemas.microsoft.com/office/drawing/2014/main" id="{7784F65C-FE98-460D-BC76-73AC6D915D96}"/>
              </a:ext>
            </a:extLst>
          </p:cNvPr>
          <p:cNvSpPr>
            <a:spLocks noChangeAspect="1"/>
          </p:cNvSpPr>
          <p:nvPr/>
        </p:nvSpPr>
        <p:spPr>
          <a:xfrm>
            <a:off x="7620000" y="1785699"/>
            <a:ext cx="590702" cy="594201"/>
          </a:xfrm>
          <a:prstGeom prst="flowChartConnector">
            <a:avLst/>
          </a:prstGeom>
          <a:solidFill>
            <a:schemeClr val="tx2">
              <a:lumMod val="20000"/>
              <a:lumOff val="80000"/>
              <a:alpha val="20000"/>
            </a:schemeClr>
          </a:solidFill>
          <a:ln>
            <a:solidFill>
              <a:schemeClr val="accent1">
                <a:shade val="50000"/>
                <a:alpha val="9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lowchart: Connector 10">
            <a:extLst>
              <a:ext uri="{FF2B5EF4-FFF2-40B4-BE49-F238E27FC236}">
                <a16:creationId xmlns:a16="http://schemas.microsoft.com/office/drawing/2014/main" id="{27054BEF-17C4-42CD-BD3C-F07E37ED3804}"/>
              </a:ext>
            </a:extLst>
          </p:cNvPr>
          <p:cNvSpPr>
            <a:spLocks noChangeAspect="1"/>
          </p:cNvSpPr>
          <p:nvPr/>
        </p:nvSpPr>
        <p:spPr>
          <a:xfrm>
            <a:off x="8315249" y="3022758"/>
            <a:ext cx="590702" cy="594201"/>
          </a:xfrm>
          <a:prstGeom prst="flowChartConnector">
            <a:avLst/>
          </a:prstGeom>
          <a:solidFill>
            <a:srgbClr val="00B050">
              <a:alpha val="20000"/>
            </a:srgbClr>
          </a:solidFill>
          <a:ln>
            <a:solidFill>
              <a:srgbClr val="00B050">
                <a:alpha val="90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Slide Number Placeholder 12"/>
          <p:cNvSpPr>
            <a:spLocks noGrp="1"/>
          </p:cNvSpPr>
          <p:nvPr>
            <p:ph type="sldNum" sz="quarter" idx="12"/>
          </p:nvPr>
        </p:nvSpPr>
        <p:spPr/>
        <p:txBody>
          <a:bodyPr/>
          <a:lstStyle/>
          <a:p>
            <a:fld id="{9BFB2853-4965-4727-91C4-384EB30D99A4}" type="slidenum">
              <a:rPr lang="en-CA"/>
              <a:t>49</a:t>
            </a:fld>
            <a:endParaRPr lang="en-CA"/>
          </a:p>
        </p:txBody>
      </p:sp>
      <p:cxnSp>
        <p:nvCxnSpPr>
          <p:cNvPr id="13" name="Straight Arrow Connector 12">
            <a:extLst>
              <a:ext uri="{FF2B5EF4-FFF2-40B4-BE49-F238E27FC236}">
                <a16:creationId xmlns:a16="http://schemas.microsoft.com/office/drawing/2014/main" id="{2E2F7F2D-2F7A-0CD1-45C8-64CA415671A6}"/>
              </a:ext>
            </a:extLst>
          </p:cNvPr>
          <p:cNvCxnSpPr/>
          <p:nvPr/>
        </p:nvCxnSpPr>
        <p:spPr>
          <a:xfrm flipH="1">
            <a:off x="8407400" y="2443400"/>
            <a:ext cx="1270000" cy="3125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98801793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E ellipse</a:t>
            </a:r>
          </a:p>
        </p:txBody>
      </p:sp>
      <p:sp>
        <p:nvSpPr>
          <p:cNvPr id="7" name="Content Placeholder 6"/>
          <p:cNvSpPr>
            <a:spLocks noGrp="1"/>
          </p:cNvSpPr>
          <p:nvPr>
            <p:ph idx="1"/>
          </p:nvPr>
        </p:nvSpPr>
        <p:spPr>
          <a:xfrm>
            <a:off x="838200" y="4165600"/>
            <a:ext cx="10515600" cy="1377462"/>
          </a:xfrm>
        </p:spPr>
        <p:txBody>
          <a:bodyPr>
            <a:normAutofit/>
          </a:bodyPr>
          <a:lstStyle/>
          <a:p>
            <a:r>
              <a:rPr lang="en-US" dirty="0"/>
              <a:t>The </a:t>
            </a:r>
            <a:r>
              <a:rPr lang="en-US" b="1" dirty="0"/>
              <a:t>E</a:t>
            </a:r>
            <a:r>
              <a:rPr lang="en-US" dirty="0"/>
              <a:t> ellipse is the </a:t>
            </a:r>
            <a:r>
              <a:rPr lang="en-US" b="1" dirty="0"/>
              <a:t>data ellipse  of the residuals </a:t>
            </a:r>
          </a:p>
          <a:p>
            <a:pPr lvl="1"/>
            <a:r>
              <a:rPr lang="en-US" dirty="0"/>
              <a:t>What you get when you subtract the group means from all observations, shifting them to the grand means.</a:t>
            </a:r>
          </a:p>
          <a:p>
            <a:pPr lvl="1"/>
            <a:r>
              <a:rPr lang="en-US" b="1" dirty="0"/>
              <a:t>E</a:t>
            </a:r>
            <a:r>
              <a:rPr lang="en-US" dirty="0"/>
              <a:t> matrix is the “within-group </a:t>
            </a:r>
            <a:r>
              <a:rPr lang="en-US" b="1" dirty="0"/>
              <a:t>pooled</a:t>
            </a:r>
            <a:r>
              <a:rPr lang="en-US" dirty="0"/>
              <a:t> covariance matrix”</a:t>
            </a: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65300" y="1314938"/>
            <a:ext cx="2520000" cy="2520000"/>
          </a:xfrm>
          <a:prstGeom prst="rect">
            <a:avLst/>
          </a:prstGeom>
        </p:spPr>
      </p:pic>
      <p:pic>
        <p:nvPicPr>
          <p:cNvPr id="6" name="Picture 5"/>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895850" y="1314938"/>
            <a:ext cx="2520000" cy="2520000"/>
          </a:xfrm>
          <a:prstGeom prst="rect">
            <a:avLst/>
          </a:prstGeom>
        </p:spPr>
      </p:pic>
      <p:cxnSp>
        <p:nvCxnSpPr>
          <p:cNvPr id="8" name="Straight Arrow Connector 7"/>
          <p:cNvCxnSpPr/>
          <p:nvPr/>
        </p:nvCxnSpPr>
        <p:spPr>
          <a:xfrm>
            <a:off x="4064000" y="1883508"/>
            <a:ext cx="7620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pic>
        <p:nvPicPr>
          <p:cNvPr id="9" name="Picture 8"/>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026400" y="1314938"/>
            <a:ext cx="2520000" cy="2520000"/>
          </a:xfrm>
          <a:prstGeom prst="rect">
            <a:avLst/>
          </a:prstGeom>
        </p:spPr>
      </p:pic>
      <p:cxnSp>
        <p:nvCxnSpPr>
          <p:cNvPr id="11" name="Straight Arrow Connector 10"/>
          <p:cNvCxnSpPr/>
          <p:nvPr/>
        </p:nvCxnSpPr>
        <p:spPr>
          <a:xfrm>
            <a:off x="7416800" y="1892300"/>
            <a:ext cx="7620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graphicFrame>
        <p:nvGraphicFramePr>
          <p:cNvPr id="12" name="Object 11"/>
          <p:cNvGraphicFramePr>
            <a:graphicFrameLocks noChangeAspect="1"/>
          </p:cNvGraphicFramePr>
          <p:nvPr>
            <p:extLst>
              <p:ext uri="{D42A27DB-BD31-4B8C-83A1-F6EECF244321}">
                <p14:modId xmlns:p14="http://schemas.microsoft.com/office/powerpoint/2010/main" val="793821314"/>
              </p:ext>
            </p:extLst>
          </p:nvPr>
        </p:nvGraphicFramePr>
        <p:xfrm>
          <a:off x="4138800" y="5733562"/>
          <a:ext cx="4395600" cy="799200"/>
        </p:xfrm>
        <a:graphic>
          <a:graphicData uri="http://schemas.openxmlformats.org/presentationml/2006/ole">
            <mc:AlternateContent xmlns:mc="http://schemas.openxmlformats.org/markup-compatibility/2006">
              <mc:Choice xmlns:v="urn:schemas-microsoft-com:vml" Requires="v">
                <p:oleObj name="Equation" r:id="rId6" imgW="1676160" imgH="304560" progId="Equation.DSMT4">
                  <p:embed/>
                </p:oleObj>
              </mc:Choice>
              <mc:Fallback>
                <p:oleObj name="Equation" r:id="rId6" imgW="1676160" imgH="304560" progId="Equation.DSMT4">
                  <p:embed/>
                  <p:pic>
                    <p:nvPicPr>
                      <p:cNvPr id="12" name="Object 11"/>
                      <p:cNvPicPr/>
                      <p:nvPr/>
                    </p:nvPicPr>
                    <p:blipFill>
                      <a:blip r:embed="rId7"/>
                      <a:stretch>
                        <a:fillRect/>
                      </a:stretch>
                    </p:blipFill>
                    <p:spPr>
                      <a:xfrm>
                        <a:off x="4138800" y="5733562"/>
                        <a:ext cx="4395600" cy="799200"/>
                      </a:xfrm>
                      <a:prstGeom prst="rect">
                        <a:avLst/>
                      </a:prstGeom>
                    </p:spPr>
                  </p:pic>
                </p:oleObj>
              </mc:Fallback>
            </mc:AlternateContent>
          </a:graphicData>
        </a:graphic>
      </p:graphicFrame>
      <p:sp>
        <p:nvSpPr>
          <p:cNvPr id="13" name="Slide Number Placeholder 13"/>
          <p:cNvSpPr>
            <a:spLocks noGrp="1"/>
          </p:cNvSpPr>
          <p:nvPr>
            <p:ph type="sldNum" sz="quarter" idx="12"/>
          </p:nvPr>
        </p:nvSpPr>
        <p:spPr/>
        <p:txBody>
          <a:bodyPr/>
          <a:lstStyle/>
          <a:p>
            <a:fld id="{9BFB2853-4965-4727-91C4-384EB30D99A4}" type="slidenum">
              <a:rPr lang="en-CA"/>
              <a:t>50</a:t>
            </a:fld>
            <a:endParaRPr lang="en-CA"/>
          </a:p>
        </p:txBody>
      </p:sp>
    </p:spTree>
    <p:extLst>
      <p:ext uri="{BB962C8B-B14F-4D97-AF65-F5344CB8AC3E}">
        <p14:creationId xmlns:p14="http://schemas.microsoft.com/office/powerpoint/2010/main" val="3796749405"/>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HE plots: </a:t>
            </a:r>
            <a:r>
              <a:rPr lang="en-CA" dirty="0"/>
              <a:t>Effect scaling vs. Significance scaling</a:t>
            </a:r>
            <a:endParaRPr dirty="0"/>
          </a:p>
        </p:txBody>
      </p:sp>
      <p:pic>
        <p:nvPicPr>
          <p:cNvPr id="8" name="HE effect scaling" descr="peng-HE-signif-1-effect.png">
            <a:extLst>
              <a:ext uri="{FF2B5EF4-FFF2-40B4-BE49-F238E27FC236}">
                <a16:creationId xmlns:a16="http://schemas.microsoft.com/office/drawing/2014/main" id="{E52D8C80-6FB5-0801-CE7E-54F9C8C81976}"/>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556833" y="1579126"/>
            <a:ext cx="3931920" cy="3931920"/>
          </a:xfrm>
          <a:prstGeom prst="rect">
            <a:avLst/>
          </a:prstGeom>
        </p:spPr>
      </p:pic>
      <p:pic>
        <p:nvPicPr>
          <p:cNvPr id="10" name="HE significance scaling" descr="peng-HE-signif-2-signif.png">
            <a:extLst>
              <a:ext uri="{FF2B5EF4-FFF2-40B4-BE49-F238E27FC236}">
                <a16:creationId xmlns:a16="http://schemas.microsoft.com/office/drawing/2014/main" id="{BDA2070B-83BC-8C83-D612-81E98AD00E4E}"/>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4488753" y="1579126"/>
            <a:ext cx="3931920" cy="39319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cf. Figure 12.5</a:t>
            </a:r>
          </a:p>
        </p:txBody>
      </p:sp>
      <p:sp>
        <p:nvSpPr>
          <p:cNvPr id="6" name="TextBox 5">
            <a:extLst>
              <a:ext uri="{FF2B5EF4-FFF2-40B4-BE49-F238E27FC236}">
                <a16:creationId xmlns:a16="http://schemas.microsoft.com/office/drawing/2014/main" id="{23C41AFD-3F6A-F21D-7C85-4F057DF483B7}"/>
              </a:ext>
            </a:extLst>
          </p:cNvPr>
          <p:cNvSpPr txBox="1"/>
          <p:nvPr/>
        </p:nvSpPr>
        <p:spPr>
          <a:xfrm>
            <a:off x="8420673" y="1876301"/>
            <a:ext cx="3214494" cy="3139321"/>
          </a:xfrm>
          <a:prstGeom prst="rect">
            <a:avLst/>
          </a:prstGeom>
          <a:noFill/>
        </p:spPr>
        <p:txBody>
          <a:bodyPr wrap="square" rtlCol="0">
            <a:spAutoFit/>
          </a:bodyPr>
          <a:lstStyle/>
          <a:p>
            <a:r>
              <a:rPr lang="en-CA" b="1" dirty="0"/>
              <a:t>Effect scaling</a:t>
            </a:r>
            <a:r>
              <a:rPr lang="en-CA" dirty="0"/>
              <a:t>: Plot ellipses for H &amp; E directly, centering</a:t>
            </a:r>
          </a:p>
          <a:p>
            <a:endParaRPr lang="en-CA" dirty="0"/>
          </a:p>
          <a:p>
            <a:r>
              <a:rPr lang="en-CA" b="1" dirty="0"/>
              <a:t>Direction of H vs. E </a:t>
            </a:r>
            <a:r>
              <a:rPr lang="en-CA" dirty="0"/>
              <a:t>shows how groups differ in a data-space view</a:t>
            </a:r>
          </a:p>
          <a:p>
            <a:endParaRPr lang="en-CA" dirty="0"/>
          </a:p>
          <a:p>
            <a:r>
              <a:rPr lang="en-CA" b="1" dirty="0"/>
              <a:t>Significance scaling</a:t>
            </a:r>
            <a:r>
              <a:rPr lang="en-CA" dirty="0"/>
              <a:t>: Scale H so an H ellipse that projects </a:t>
            </a:r>
            <a:r>
              <a:rPr lang="en-CA" b="1" dirty="0"/>
              <a:t>outside</a:t>
            </a:r>
            <a:r>
              <a:rPr lang="en-CA" dirty="0"/>
              <a:t> E signals a significant effect (Roy's test).</a:t>
            </a:r>
          </a:p>
        </p:txBody>
      </p:sp>
      <p:sp>
        <p:nvSpPr>
          <p:cNvPr id="7" name="Slide Number Placeholder 7"/>
          <p:cNvSpPr>
            <a:spLocks noGrp="1"/>
          </p:cNvSpPr>
          <p:nvPr>
            <p:ph type="sldNum" sz="quarter" idx="12"/>
          </p:nvPr>
        </p:nvSpPr>
        <p:spPr/>
        <p:txBody>
          <a:bodyPr/>
          <a:lstStyle/>
          <a:p>
            <a:fld id="{9BFB2853-4965-4727-91C4-384EB30D99A4}" type="slidenum">
              <a:rPr lang="en-CA"/>
              <a:t>51</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1000"/>
                                        <p:tgtEl>
                                          <p:spTgt spid="10"/>
                                        </p:tgtEl>
                                      </p:cBhvr>
                                    </p:animEffect>
                                    <p:anim calcmode="lin" valueType="num">
                                      <p:cBhvr>
                                        <p:cTn id="8" dur="1000" fill="hold"/>
                                        <p:tgtEl>
                                          <p:spTgt spid="10"/>
                                        </p:tgtEl>
                                        <p:attrNameLst>
                                          <p:attrName>ppt_x</p:attrName>
                                        </p:attrNameLst>
                                      </p:cBhvr>
                                      <p:tavLst>
                                        <p:tav tm="0">
                                          <p:val>
                                            <p:strVal val="#ppt_x"/>
                                          </p:val>
                                        </p:tav>
                                        <p:tav tm="100000">
                                          <p:val>
                                            <p:strVal val="#ppt_x"/>
                                          </p:val>
                                        </p:tav>
                                      </p:tavLst>
                                    </p:anim>
                                    <p:anim calcmode="lin" valueType="num">
                                      <p:cBhvr>
                                        <p:cTn id="9" dur="1000" fill="hold"/>
                                        <p:tgtEl>
                                          <p:spTgt spid="10"/>
                                        </p:tgtEl>
                                        <p:attrNameLst>
                                          <p:attrName>ppt_y</p:attrName>
                                        </p:attrNameLst>
                                      </p:cBhvr>
                                      <p:tavLst>
                                        <p:tav tm="0">
                                          <p:val>
                                            <p:strVal val="#ppt_y+.1"/>
                                          </p:val>
                                        </p:tav>
                                        <p:tav tm="100000">
                                          <p:val>
                                            <p:strVal val="#ppt_y"/>
                                          </p:val>
                                        </p:tav>
                                      </p:tavLst>
                                    </p:anim>
                                  </p:childTnLst>
                                </p:cTn>
                              </p:par>
                              <p:par>
                                <p:cTn id="10" presetID="1" presetClass="entr" presetSubtype="0" fill="hold" nodeType="withEffect">
                                  <p:stCondLst>
                                    <p:cond delay="0"/>
                                  </p:stCondLst>
                                  <p:childTnLst>
                                    <p:set>
                                      <p:cBhvr>
                                        <p:cTn id="11" dur="1" fill="hold">
                                          <p:stCondLst>
                                            <p:cond delay="0"/>
                                          </p:stCondLst>
                                        </p:cTn>
                                        <p:tgtEl>
                                          <p:spTgt spid="6">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Contrasts </a:t>
            </a:r>
            <a:r>
              <a:rPr lang="en-CA" dirty="0"/>
              <a:t>&amp;</a:t>
            </a:r>
            <a:r>
              <a:rPr dirty="0"/>
              <a:t> linear hypotheses</a:t>
            </a:r>
            <a:r>
              <a:rPr lang="en-CA" dirty="0"/>
              <a:t>: What </a:t>
            </a:r>
            <a:r>
              <a:rPr lang="en-CA" dirty="0" err="1"/>
              <a:t>diff</a:t>
            </a:r>
            <a:r>
              <a:rPr lang="en-CA" baseline="30000" dirty="0" err="1"/>
              <a:t>ces</a:t>
            </a:r>
            <a:r>
              <a:rPr lang="en-CA" dirty="0"/>
              <a:t> make </a:t>
            </a:r>
            <a:r>
              <a:rPr lang="en-CA" b="1" dirty="0"/>
              <a:t>H</a:t>
            </a:r>
            <a:r>
              <a:rPr lang="en-CA" dirty="0"/>
              <a:t> big?</a:t>
            </a:r>
            <a:endParaRPr dirty="0"/>
          </a:p>
        </p:txBody>
      </p:sp>
      <p:sp>
        <p:nvSpPr>
          <p:cNvPr id="3" name="Content Placeholder 2"/>
          <p:cNvSpPr>
            <a:spLocks noGrp="1"/>
          </p:cNvSpPr>
          <p:nvPr>
            <p:ph sz="half" idx="1"/>
          </p:nvPr>
        </p:nvSpPr>
        <p:spPr/>
        <p:txBody>
          <a:bodyPr/>
          <a:lstStyle/>
          <a:p>
            <a:r>
              <a:rPr dirty="0"/>
              <a:t>Any linear hypothesis has its own </a:t>
            </a:r>
            <a:r>
              <a:rPr b="1" dirty="0"/>
              <a:t>H</a:t>
            </a:r>
          </a:p>
          <a:p>
            <a:pPr lvl="1"/>
            <a:r>
              <a:rPr dirty="0"/>
              <a:t>A 1 </a:t>
            </a:r>
            <a:r>
              <a:rPr dirty="0" err="1"/>
              <a:t>df</a:t>
            </a:r>
            <a:r>
              <a:rPr dirty="0"/>
              <a:t> hypothesis is a line</a:t>
            </a:r>
          </a:p>
          <a:p>
            <a:r>
              <a:rPr lang="en-CA" dirty="0"/>
              <a:t>Orthogonal c</a:t>
            </a:r>
            <a:r>
              <a:rPr dirty="0" err="1"/>
              <a:t>ontrasts</a:t>
            </a:r>
            <a:r>
              <a:rPr dirty="0"/>
              <a:t> decompose the overall effect</a:t>
            </a:r>
            <a:r>
              <a:rPr lang="en-CA" dirty="0"/>
              <a:t>: </a:t>
            </a:r>
            <a:r>
              <a:rPr lang="en-CA" b="1" dirty="0"/>
              <a:t>H</a:t>
            </a:r>
            <a:r>
              <a:rPr lang="en-CA" dirty="0"/>
              <a:t> = </a:t>
            </a:r>
            <a:r>
              <a:rPr lang="en-CA" b="1" dirty="0"/>
              <a:t>H</a:t>
            </a:r>
            <a:r>
              <a:rPr lang="en-CA" baseline="-25000" dirty="0"/>
              <a:t>1</a:t>
            </a:r>
            <a:r>
              <a:rPr lang="en-CA" dirty="0"/>
              <a:t> + </a:t>
            </a:r>
            <a:r>
              <a:rPr lang="en-CA" b="1" dirty="0"/>
              <a:t>H</a:t>
            </a:r>
            <a:r>
              <a:rPr lang="en-CA" baseline="-25000" dirty="0"/>
              <a:t>2</a:t>
            </a:r>
          </a:p>
          <a:p>
            <a:pPr lvl="1"/>
            <a:r>
              <a:rPr lang="en-CA" b="1" dirty="0"/>
              <a:t>H</a:t>
            </a:r>
            <a:r>
              <a:rPr lang="en-CA" baseline="-25000" dirty="0"/>
              <a:t>1</a:t>
            </a:r>
            <a:r>
              <a:rPr lang="en-CA" dirty="0"/>
              <a:t>: (Adelie, Chinstrap) vs Gentoo</a:t>
            </a:r>
          </a:p>
          <a:p>
            <a:pPr lvl="1"/>
            <a:r>
              <a:rPr lang="en-CA" b="1" dirty="0"/>
              <a:t>H</a:t>
            </a:r>
            <a:r>
              <a:rPr lang="en-CA" baseline="-25000" dirty="0"/>
              <a:t>2</a:t>
            </a:r>
            <a:r>
              <a:rPr lang="en-CA" dirty="0"/>
              <a:t>: Adelie vs Chinstrap</a:t>
            </a:r>
          </a:p>
          <a:p>
            <a:r>
              <a:rPr lang="en-CA" dirty="0"/>
              <a:t>These are conjugate axes of </a:t>
            </a:r>
            <a:r>
              <a:rPr lang="en-CA" b="1" dirty="0"/>
              <a:t>H</a:t>
            </a:r>
          </a:p>
          <a:p>
            <a:r>
              <a:rPr lang="en-CA" dirty="0"/>
              <a:t>Each “pushes” the </a:t>
            </a:r>
            <a:r>
              <a:rPr lang="en-CA" b="1" dirty="0"/>
              <a:t>H</a:t>
            </a:r>
            <a:r>
              <a:rPr lang="en-CA" dirty="0"/>
              <a:t> ellipse out in the direction of mean differences.</a:t>
            </a:r>
            <a:endParaRPr dirty="0"/>
          </a:p>
        </p:txBody>
      </p:sp>
      <p:pic>
        <p:nvPicPr>
          <p:cNvPr id="4" name="Picture 3" descr="peng-HE-contrasts.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cf. Figure 12.7</a:t>
            </a:r>
          </a:p>
        </p:txBody>
      </p:sp>
      <p:sp>
        <p:nvSpPr>
          <p:cNvPr id="6" name="Slide Number Placeholder 6"/>
          <p:cNvSpPr>
            <a:spLocks noGrp="1"/>
          </p:cNvSpPr>
          <p:nvPr>
            <p:ph type="sldNum" sz="quarter" idx="12"/>
          </p:nvPr>
        </p:nvSpPr>
        <p:spPr/>
        <p:txBody>
          <a:bodyPr/>
          <a:lstStyle/>
          <a:p>
            <a:fld id="{9BFB2853-4965-4727-91C4-384EB30D99A4}" type="slidenum">
              <a:rPr lang="en-CA"/>
              <a:t>52</a:t>
            </a:fld>
            <a:endParaRPr lang="en-CA"/>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HE pairs() plots</a:t>
            </a:r>
          </a:p>
        </p:txBody>
      </p:sp>
      <p:sp>
        <p:nvSpPr>
          <p:cNvPr id="4" name="TextBox 3"/>
          <p:cNvSpPr txBox="1"/>
          <p:nvPr/>
        </p:nvSpPr>
        <p:spPr>
          <a:xfrm>
            <a:off x="950026" y="1219201"/>
            <a:ext cx="10525050" cy="707886"/>
          </a:xfrm>
          <a:prstGeom prst="rect">
            <a:avLst/>
          </a:prstGeom>
          <a:noFill/>
        </p:spPr>
        <p:txBody>
          <a:bodyPr wrap="square" rtlCol="0">
            <a:spAutoFit/>
          </a:bodyPr>
          <a:lstStyle/>
          <a:p>
            <a:r>
              <a:rPr lang="en-US" sz="2000" dirty="0"/>
              <a:t>The </a:t>
            </a:r>
            <a:r>
              <a:rPr lang="en-US" sz="2000" dirty="0">
                <a:solidFill>
                  <a:schemeClr val="accent6">
                    <a:lumMod val="50000"/>
                  </a:schemeClr>
                </a:solidFill>
                <a:latin typeface="Lucida Console" panose="020B0609040504020204" pitchFamily="49" charset="0"/>
              </a:rPr>
              <a:t>pairs() </a:t>
            </a:r>
            <a:r>
              <a:rPr lang="en-US" sz="2000" dirty="0"/>
              <a:t>method for </a:t>
            </a:r>
            <a:r>
              <a:rPr lang="en-US" sz="2000" dirty="0" err="1"/>
              <a:t>mlm</a:t>
            </a:r>
            <a:r>
              <a:rPr lang="en-US" sz="2000" dirty="0"/>
              <a:t> objects gives all pairwise HE plots in a scatterplot matrix format in </a:t>
            </a:r>
            <a:r>
              <a:rPr lang="en-US" sz="2000" dirty="0">
                <a:solidFill>
                  <a:srgbClr val="FF0000"/>
                </a:solidFill>
              </a:rPr>
              <a:t>data space</a:t>
            </a:r>
            <a:r>
              <a:rPr lang="en-US" sz="2000" dirty="0"/>
              <a:t>.</a:t>
            </a: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73495" y="2172195"/>
            <a:ext cx="4001059" cy="4001059"/>
          </a:xfrm>
          <a:prstGeom prst="rect">
            <a:avLst/>
          </a:prstGeom>
        </p:spPr>
      </p:pic>
      <p:sp>
        <p:nvSpPr>
          <p:cNvPr id="6" name="TextBox 5"/>
          <p:cNvSpPr txBox="1"/>
          <p:nvPr/>
        </p:nvSpPr>
        <p:spPr>
          <a:xfrm>
            <a:off x="5664530" y="2114620"/>
            <a:ext cx="4999512" cy="400110"/>
          </a:xfrm>
          <a:prstGeom prst="rect">
            <a:avLst/>
          </a:prstGeom>
          <a:solidFill>
            <a:srgbClr val="FFFF00">
              <a:alpha val="10000"/>
            </a:srgbClr>
          </a:solidFill>
        </p:spPr>
        <p:txBody>
          <a:bodyPr wrap="square" rtlCol="0">
            <a:spAutoFit/>
          </a:bodyPr>
          <a:lstStyle/>
          <a:p>
            <a:r>
              <a:rPr lang="en-US" sz="2000" dirty="0">
                <a:latin typeface="Consolas" panose="020B0609020204030204" pitchFamily="49" charset="0"/>
              </a:rPr>
              <a:t>pairs(peng.mod, size="effect",  …) </a:t>
            </a:r>
          </a:p>
        </p:txBody>
      </p:sp>
      <p:sp>
        <p:nvSpPr>
          <p:cNvPr id="7" name="TextBox 6"/>
          <p:cNvSpPr txBox="1"/>
          <p:nvPr/>
        </p:nvSpPr>
        <p:spPr>
          <a:xfrm>
            <a:off x="5664530" y="2719608"/>
            <a:ext cx="5605153" cy="2893100"/>
          </a:xfrm>
          <a:prstGeom prst="rect">
            <a:avLst/>
          </a:prstGeom>
          <a:noFill/>
        </p:spPr>
        <p:txBody>
          <a:bodyPr wrap="square" rtlCol="0">
            <a:spAutoFit/>
          </a:bodyPr>
          <a:lstStyle/>
          <a:p>
            <a:r>
              <a:rPr lang="en-US" sz="2400" dirty="0"/>
              <a:t>Something new here:</a:t>
            </a:r>
          </a:p>
          <a:p>
            <a:pPr marL="285750" indent="-285750">
              <a:buFont typeface="Arial" pitchFamily="34" charset="0"/>
              <a:buChar char="•"/>
            </a:pPr>
            <a:r>
              <a:rPr lang="en-US" sz="2400" dirty="0"/>
              <a:t>avg. bill depth is negatively correlated with “size” variables – larger penguin species have smaller bill depths (curvature?)</a:t>
            </a:r>
          </a:p>
          <a:p>
            <a:pPr marL="285750" indent="-285750">
              <a:buFont typeface="Arial" pitchFamily="34" charset="0"/>
              <a:buChar char="•"/>
            </a:pPr>
            <a:r>
              <a:rPr lang="en-US" sz="2400" dirty="0"/>
              <a:t>correlation of avg. bill depth with body mass nearly -1</a:t>
            </a:r>
          </a:p>
          <a:p>
            <a:endParaRPr lang="en-US" sz="1400" dirty="0"/>
          </a:p>
        </p:txBody>
      </p:sp>
      <p:sp>
        <p:nvSpPr>
          <p:cNvPr id="8" name="Rectangle 7">
            <a:extLst>
              <a:ext uri="{FF2B5EF4-FFF2-40B4-BE49-F238E27FC236}">
                <a16:creationId xmlns:a16="http://schemas.microsoft.com/office/drawing/2014/main" id="{C1C2239F-4951-2804-9CBB-B30DB3EA8427}"/>
              </a:ext>
            </a:extLst>
          </p:cNvPr>
          <p:cNvSpPr/>
          <p:nvPr/>
        </p:nvSpPr>
        <p:spPr>
          <a:xfrm>
            <a:off x="3052949" y="3162794"/>
            <a:ext cx="990601"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Rectangle 8">
            <a:extLst>
              <a:ext uri="{FF2B5EF4-FFF2-40B4-BE49-F238E27FC236}">
                <a16:creationId xmlns:a16="http://schemas.microsoft.com/office/drawing/2014/main" id="{8DF7AE1B-459C-073D-2423-7CD81978C07B}"/>
              </a:ext>
            </a:extLst>
          </p:cNvPr>
          <p:cNvSpPr/>
          <p:nvPr/>
        </p:nvSpPr>
        <p:spPr>
          <a:xfrm>
            <a:off x="2062348" y="4172723"/>
            <a:ext cx="990600"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 name="Rectangle 9">
            <a:extLst>
              <a:ext uri="{FF2B5EF4-FFF2-40B4-BE49-F238E27FC236}">
                <a16:creationId xmlns:a16="http://schemas.microsoft.com/office/drawing/2014/main" id="{523F0C99-81FE-04DB-AA0F-B4F4076F4328}"/>
              </a:ext>
            </a:extLst>
          </p:cNvPr>
          <p:cNvSpPr/>
          <p:nvPr/>
        </p:nvSpPr>
        <p:spPr>
          <a:xfrm>
            <a:off x="4086433" y="3162794"/>
            <a:ext cx="990601"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Rectangle 10">
            <a:extLst>
              <a:ext uri="{FF2B5EF4-FFF2-40B4-BE49-F238E27FC236}">
                <a16:creationId xmlns:a16="http://schemas.microsoft.com/office/drawing/2014/main" id="{2DBE4D58-6967-598B-C33F-AB9C1BC9515B}"/>
              </a:ext>
            </a:extLst>
          </p:cNvPr>
          <p:cNvSpPr/>
          <p:nvPr/>
        </p:nvSpPr>
        <p:spPr>
          <a:xfrm>
            <a:off x="2062348" y="5164692"/>
            <a:ext cx="990601"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 name="Slide Number Placeholder 12"/>
          <p:cNvSpPr>
            <a:spLocks noGrp="1"/>
          </p:cNvSpPr>
          <p:nvPr>
            <p:ph type="sldNum" sz="quarter" idx="12"/>
          </p:nvPr>
        </p:nvSpPr>
        <p:spPr/>
        <p:txBody>
          <a:bodyPr/>
          <a:lstStyle/>
          <a:p>
            <a:fld id="{9BFB2853-4965-4727-91C4-384EB30D99A4}" type="slidenum">
              <a:rPr lang="en-CA"/>
              <a:t>53</a:t>
            </a:fld>
            <a:endParaRPr lang="en-CA"/>
          </a:p>
        </p:txBody>
      </p:sp>
    </p:spTree>
    <p:extLst>
      <p:ext uri="{BB962C8B-B14F-4D97-AF65-F5344CB8AC3E}">
        <p14:creationId xmlns:p14="http://schemas.microsoft.com/office/powerpoint/2010/main" val="9659346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par>
                                <p:cTn id="7" presetID="42"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fade">
                                      <p:cBhvr>
                                        <p:cTn id="9" dur="1000"/>
                                        <p:tgtEl>
                                          <p:spTgt spid="8"/>
                                        </p:tgtEl>
                                      </p:cBhvr>
                                    </p:animEffect>
                                    <p:anim calcmode="lin" valueType="num">
                                      <p:cBhvr>
                                        <p:cTn id="10" dur="1000" fill="hold"/>
                                        <p:tgtEl>
                                          <p:spTgt spid="8"/>
                                        </p:tgtEl>
                                        <p:attrNameLst>
                                          <p:attrName>ppt_x</p:attrName>
                                        </p:attrNameLst>
                                      </p:cBhvr>
                                      <p:tavLst>
                                        <p:tav tm="0">
                                          <p:val>
                                            <p:strVal val="#ppt_x"/>
                                          </p:val>
                                        </p:tav>
                                        <p:tav tm="100000">
                                          <p:val>
                                            <p:strVal val="#ppt_x"/>
                                          </p:val>
                                        </p:tav>
                                      </p:tavLst>
                                    </p:anim>
                                    <p:anim calcmode="lin" valueType="num">
                                      <p:cBhvr>
                                        <p:cTn id="11" dur="1000" fill="hold"/>
                                        <p:tgtEl>
                                          <p:spTgt spid="8"/>
                                        </p:tgtEl>
                                        <p:attrNameLst>
                                          <p:attrName>ppt_y</p:attrName>
                                        </p:attrNameLst>
                                      </p:cBhvr>
                                      <p:tavLst>
                                        <p:tav tm="0">
                                          <p:val>
                                            <p:strVal val="#ppt_y+.1"/>
                                          </p:val>
                                        </p:tav>
                                        <p:tav tm="100000">
                                          <p:val>
                                            <p:strVal val="#ppt_y"/>
                                          </p:val>
                                        </p:tav>
                                      </p:tavLst>
                                    </p:anim>
                                  </p:childTnLst>
                                </p:cTn>
                              </p:par>
                              <p:par>
                                <p:cTn id="12" presetID="42" presetClass="entr" presetSubtype="0"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1000"/>
                                        <p:tgtEl>
                                          <p:spTgt spid="9"/>
                                        </p:tgtEl>
                                      </p:cBhvr>
                                    </p:animEffect>
                                    <p:anim calcmode="lin" valueType="num">
                                      <p:cBhvr>
                                        <p:cTn id="15" dur="1000" fill="hold"/>
                                        <p:tgtEl>
                                          <p:spTgt spid="9"/>
                                        </p:tgtEl>
                                        <p:attrNameLst>
                                          <p:attrName>ppt_x</p:attrName>
                                        </p:attrNameLst>
                                      </p:cBhvr>
                                      <p:tavLst>
                                        <p:tav tm="0">
                                          <p:val>
                                            <p:strVal val="#ppt_x"/>
                                          </p:val>
                                        </p:tav>
                                        <p:tav tm="100000">
                                          <p:val>
                                            <p:strVal val="#ppt_x"/>
                                          </p:val>
                                        </p:tav>
                                      </p:tavLst>
                                    </p:anim>
                                    <p:anim calcmode="lin" valueType="num">
                                      <p:cBhvr>
                                        <p:cTn id="16" dur="10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7">
                                            <p:txEl>
                                              <p:pRg st="2" end="2"/>
                                            </p:txEl>
                                          </p:spTgt>
                                        </p:tgtEl>
                                        <p:attrNameLst>
                                          <p:attrName>style.visibility</p:attrName>
                                        </p:attrNameLst>
                                      </p:cBhvr>
                                      <p:to>
                                        <p:strVal val="visible"/>
                                      </p:to>
                                    </p:set>
                                  </p:childTnLst>
                                </p:cTn>
                              </p:par>
                              <p:par>
                                <p:cTn id="21" presetID="42" presetClass="entr" presetSubtype="0" fill="hold" grpId="0" nodeType="withEffect">
                                  <p:stCondLst>
                                    <p:cond delay="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1000"/>
                                        <p:tgtEl>
                                          <p:spTgt spid="10"/>
                                        </p:tgtEl>
                                      </p:cBhvr>
                                    </p:animEffect>
                                    <p:anim calcmode="lin" valueType="num">
                                      <p:cBhvr>
                                        <p:cTn id="24" dur="1000" fill="hold"/>
                                        <p:tgtEl>
                                          <p:spTgt spid="10"/>
                                        </p:tgtEl>
                                        <p:attrNameLst>
                                          <p:attrName>ppt_x</p:attrName>
                                        </p:attrNameLst>
                                      </p:cBhvr>
                                      <p:tavLst>
                                        <p:tav tm="0">
                                          <p:val>
                                            <p:strVal val="#ppt_x"/>
                                          </p:val>
                                        </p:tav>
                                        <p:tav tm="100000">
                                          <p:val>
                                            <p:strVal val="#ppt_x"/>
                                          </p:val>
                                        </p:tav>
                                      </p:tavLst>
                                    </p:anim>
                                    <p:anim calcmode="lin" valueType="num">
                                      <p:cBhvr>
                                        <p:cTn id="25" dur="1000" fill="hold"/>
                                        <p:tgtEl>
                                          <p:spTgt spid="10"/>
                                        </p:tgtEl>
                                        <p:attrNameLst>
                                          <p:attrName>ppt_y</p:attrName>
                                        </p:attrNameLst>
                                      </p:cBhvr>
                                      <p:tavLst>
                                        <p:tav tm="0">
                                          <p:val>
                                            <p:strVal val="#ppt_y+.1"/>
                                          </p:val>
                                        </p:tav>
                                        <p:tav tm="100000">
                                          <p:val>
                                            <p:strVal val="#ppt_y"/>
                                          </p:val>
                                        </p:tav>
                                      </p:tavLst>
                                    </p:anim>
                                  </p:childTnLst>
                                </p:cTn>
                              </p:par>
                              <p:par>
                                <p:cTn id="26" presetID="42" presetClass="entr" presetSubtype="0" fill="hold" grpId="0" nodeType="with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1000"/>
                                        <p:tgtEl>
                                          <p:spTgt spid="11"/>
                                        </p:tgtEl>
                                      </p:cBhvr>
                                    </p:animEffect>
                                    <p:anim calcmode="lin" valueType="num">
                                      <p:cBhvr>
                                        <p:cTn id="29" dur="1000" fill="hold"/>
                                        <p:tgtEl>
                                          <p:spTgt spid="11"/>
                                        </p:tgtEl>
                                        <p:attrNameLst>
                                          <p:attrName>ppt_x</p:attrName>
                                        </p:attrNameLst>
                                      </p:cBhvr>
                                      <p:tavLst>
                                        <p:tav tm="0">
                                          <p:val>
                                            <p:strVal val="#ppt_x"/>
                                          </p:val>
                                        </p:tav>
                                        <p:tav tm="100000">
                                          <p:val>
                                            <p:strVal val="#ppt_x"/>
                                          </p:val>
                                        </p:tav>
                                      </p:tavLst>
                                    </p:anim>
                                    <p:anim calcmode="lin" valueType="num">
                                      <p:cBhvr>
                                        <p:cTn id="30" dur="1000" fill="hold"/>
                                        <p:tgtEl>
                                          <p:spTgt spid="1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Quantitative predictors: each effect is a line</a:t>
            </a:r>
          </a:p>
        </p:txBody>
      </p:sp>
      <p:sp>
        <p:nvSpPr>
          <p:cNvPr id="3" name="Content Placeholder 2"/>
          <p:cNvSpPr>
            <a:spLocks noGrp="1"/>
          </p:cNvSpPr>
          <p:nvPr>
            <p:ph sz="half" idx="1"/>
          </p:nvPr>
        </p:nvSpPr>
        <p:spPr/>
        <p:txBody>
          <a:bodyPr>
            <a:normAutofit/>
          </a:bodyPr>
          <a:lstStyle/>
          <a:p>
            <a:r>
              <a:rPr lang="en-CA" dirty="0"/>
              <a:t>NLSY data: 243 children from the National Longitudinal Survey of Youth</a:t>
            </a:r>
            <a:endParaRPr dirty="0"/>
          </a:p>
          <a:p>
            <a:pPr lvl="1"/>
            <a:r>
              <a:rPr lang="en-CA" dirty="0"/>
              <a:t>Outcomes: reading, math</a:t>
            </a:r>
            <a:endParaRPr dirty="0"/>
          </a:p>
          <a:p>
            <a:pPr lvl="1"/>
            <a:r>
              <a:rPr lang="en-CA" dirty="0"/>
              <a:t>Predictors: father’s income &amp; education</a:t>
            </a:r>
            <a:endParaRPr dirty="0"/>
          </a:p>
          <a:p>
            <a:r>
              <a:rPr b="1" dirty="0"/>
              <a:t>Length</a:t>
            </a:r>
            <a:r>
              <a:rPr dirty="0"/>
              <a:t>: the strength of the relationship</a:t>
            </a:r>
          </a:p>
          <a:p>
            <a:r>
              <a:rPr b="1" dirty="0"/>
              <a:t>Direction</a:t>
            </a:r>
            <a:r>
              <a:rPr dirty="0"/>
              <a:t>: how the predictor relates to the two responses</a:t>
            </a:r>
          </a:p>
          <a:p>
            <a:r>
              <a:rPr lang="en-CA" b="1" dirty="0"/>
              <a:t>O</a:t>
            </a:r>
            <a:r>
              <a:rPr b="1" dirty="0" err="1"/>
              <a:t>verall</a:t>
            </a:r>
            <a:r>
              <a:rPr b="1" dirty="0"/>
              <a:t> test </a:t>
            </a:r>
            <a:r>
              <a:rPr dirty="0"/>
              <a:t>is the</a:t>
            </a:r>
            <a:r>
              <a:rPr lang="en-CA" dirty="0"/>
              <a:t> </a:t>
            </a:r>
            <a:r>
              <a:rPr lang="en-CA" b="1" dirty="0"/>
              <a:t>H</a:t>
            </a:r>
            <a:r>
              <a:rPr dirty="0"/>
              <a:t> ellipse for all predictors jointly</a:t>
            </a:r>
            <a:r>
              <a:rPr lang="en-CA" dirty="0"/>
              <a:t>, H</a:t>
            </a:r>
            <a:r>
              <a:rPr lang="en-CA" baseline="-25000" dirty="0"/>
              <a:t>0</a:t>
            </a:r>
            <a:r>
              <a:rPr lang="en-CA" dirty="0"/>
              <a:t> : </a:t>
            </a:r>
            <a:r>
              <a:rPr lang="en-CA" b="1" dirty="0"/>
              <a:t>B</a:t>
            </a:r>
            <a:r>
              <a:rPr lang="en-CA" dirty="0"/>
              <a:t> = </a:t>
            </a:r>
            <a:r>
              <a:rPr lang="en-CA" b="1" dirty="0"/>
              <a:t>0</a:t>
            </a:r>
            <a:endParaRPr b="1" dirty="0"/>
          </a:p>
        </p:txBody>
      </p:sp>
      <p:pic>
        <p:nvPicPr>
          <p:cNvPr id="7" name="NLSY HE overall" descr="NLSY-HE-overall.png">
            <a:extLst>
              <a:ext uri="{FF2B5EF4-FFF2-40B4-BE49-F238E27FC236}">
                <a16:creationId xmlns:a16="http://schemas.microsoft.com/office/drawing/2014/main" id="{FD320DB8-06C2-841C-E34C-8174AE36D5A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491224" y="1439863"/>
            <a:ext cx="4896000" cy="4896000"/>
          </a:xfrm>
          <a:prstGeom prst="rect">
            <a:avLst/>
          </a:prstGeom>
        </p:spPr>
      </p:pic>
      <p:sp>
        <p:nvSpPr>
          <p:cNvPr id="5" name="TextBox 4"/>
          <p:cNvSpPr txBox="1"/>
          <p:nvPr/>
        </p:nvSpPr>
        <p:spPr>
          <a:xfrm>
            <a:off x="841248" y="6355080"/>
            <a:ext cx="2743200" cy="261610"/>
          </a:xfrm>
          <a:prstGeom prst="rect">
            <a:avLst/>
          </a:prstGeom>
          <a:noFill/>
        </p:spPr>
        <p:txBody>
          <a:bodyPr wrap="square">
            <a:spAutoFit/>
          </a:bodyPr>
          <a:lstStyle/>
          <a:p>
            <a:r>
              <a:rPr lang="en-CA" sz="1100">
                <a:solidFill>
                  <a:srgbClr val="707070"/>
                </a:solidFill>
              </a:rPr>
              <a:t>Figure 12.16</a:t>
            </a:r>
            <a:endParaRPr sz="1100">
              <a:solidFill>
                <a:srgbClr val="707070"/>
              </a:solidFill>
            </a:endParaRPr>
          </a:p>
        </p:txBody>
      </p:sp>
      <p:sp>
        <p:nvSpPr>
          <p:cNvPr id="6" name="Slide Number Placeholder 6"/>
          <p:cNvSpPr>
            <a:spLocks noGrp="1"/>
          </p:cNvSpPr>
          <p:nvPr>
            <p:ph type="sldNum" sz="quarter" idx="12"/>
          </p:nvPr>
        </p:nvSpPr>
        <p:spPr/>
        <p:txBody>
          <a:bodyPr/>
          <a:lstStyle/>
          <a:p>
            <a:fld id="{9BFB2853-4965-4727-91C4-384EB30D99A4}" type="slidenum">
              <a:rPr lang="en-CA"/>
              <a:t>54</a:t>
            </a:fld>
            <a:endParaRPr lang="en-CA"/>
          </a:p>
        </p:txBody>
      </p:sp>
    </p:spTree>
    <p:extLst>
      <p:ext uri="{BB962C8B-B14F-4D97-AF65-F5344CB8AC3E}">
        <p14:creationId xmlns:p14="http://schemas.microsoft.com/office/powerpoint/2010/main" val="97344499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6A2678-4B78-8E16-B271-6B71F149BE44}"/>
              </a:ext>
            </a:extLst>
          </p:cNvPr>
          <p:cNvSpPr>
            <a:spLocks noGrp="1"/>
          </p:cNvSpPr>
          <p:nvPr>
            <p:ph type="title"/>
          </p:nvPr>
        </p:nvSpPr>
        <p:spPr>
          <a:xfrm>
            <a:off x="838200" y="52703"/>
            <a:ext cx="10515600" cy="831219"/>
          </a:xfrm>
        </p:spPr>
        <p:txBody>
          <a:bodyPr>
            <a:normAutofit/>
          </a:bodyPr>
          <a:lstStyle/>
          <a:p>
            <a:r>
              <a:rPr lang="en-CA" sz="2800" dirty="0"/>
              <a:t>Canonical discriminant plots: The MANOVA juicer</a:t>
            </a:r>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DE06A756-658D-C8F2-6A93-03A89E7F7BF1}"/>
                  </a:ext>
                </a:extLst>
              </p:cNvPr>
              <p:cNvSpPr>
                <a:spLocks noGrp="1"/>
              </p:cNvSpPr>
              <p:nvPr>
                <p:ph idx="1"/>
              </p:nvPr>
            </p:nvSpPr>
            <p:spPr>
              <a:xfrm>
                <a:off x="838200" y="1025591"/>
                <a:ext cx="9372600" cy="2011678"/>
              </a:xfrm>
            </p:spPr>
            <p:txBody>
              <a:bodyPr>
                <a:normAutofit/>
              </a:bodyPr>
              <a:lstStyle/>
              <a:p>
                <a:r>
                  <a:rPr lang="en-CA" sz="2000" dirty="0"/>
                  <a:t>As with biplot, we can visualize MLM for all responses by projecting H and E into low-rank space</a:t>
                </a:r>
              </a:p>
              <a:p>
                <a:pPr lvl="1"/>
                <a:r>
                  <a:rPr lang="en-CA" sz="1600" dirty="0"/>
                  <a:t>Canonical projection: </a:t>
                </a:r>
                <a14:m>
                  <m:oMath xmlns:m="http://schemas.openxmlformats.org/officeDocument/2006/math">
                    <m:r>
                      <a:rPr lang="en-CA" sz="1600" b="1" i="1">
                        <a:latin typeface="Cambria Math" panose="02040503050406030204" pitchFamily="18" charset="0"/>
                      </a:rPr>
                      <m:t>𝒀</m:t>
                    </m:r>
                    <m:r>
                      <a:rPr lang="en-CA" sz="1600" i="1">
                        <a:latin typeface="Cambria Math" panose="02040503050406030204" pitchFamily="18" charset="0"/>
                        <a:ea typeface="Cambria Math" panose="02040503050406030204" pitchFamily="18" charset="0"/>
                      </a:rPr>
                      <m:t>→</m:t>
                    </m:r>
                    <m:r>
                      <a:rPr lang="en-CA" sz="1600" b="1" i="1">
                        <a:latin typeface="Cambria Math" panose="02040503050406030204" pitchFamily="18" charset="0"/>
                        <a:ea typeface="Cambria Math" panose="02040503050406030204" pitchFamily="18" charset="0"/>
                      </a:rPr>
                      <m:t>𝒁</m:t>
                    </m:r>
                    <m:r>
                      <a:rPr lang="en-CA" sz="1600" i="1">
                        <a:latin typeface="Cambria Math" panose="02040503050406030204" pitchFamily="18" charset="0"/>
                        <a:ea typeface="Cambria Math" panose="02040503050406030204" pitchFamily="18" charset="0"/>
                      </a:rPr>
                      <m:t>=</m:t>
                    </m:r>
                    <m:r>
                      <a:rPr lang="en-CA" sz="1600" b="1" i="1">
                        <a:latin typeface="Cambria Math" panose="02040503050406030204" pitchFamily="18" charset="0"/>
                        <a:ea typeface="Cambria Math" panose="02040503050406030204" pitchFamily="18" charset="0"/>
                      </a:rPr>
                      <m:t>𝒀</m:t>
                    </m:r>
                    <m:sSup>
                      <m:sSupPr>
                        <m:ctrlPr>
                          <a:rPr lang="en-CA" sz="1600" b="1" i="1">
                            <a:latin typeface="Cambria Math" panose="02040503050406030204" pitchFamily="18" charset="0"/>
                            <a:ea typeface="Cambria Math" panose="02040503050406030204" pitchFamily="18" charset="0"/>
                          </a:rPr>
                        </m:ctrlPr>
                      </m:sSupPr>
                      <m:e>
                        <m:r>
                          <a:rPr lang="en-CA" sz="1600" b="1" i="1">
                            <a:latin typeface="Cambria Math" panose="02040503050406030204" pitchFamily="18" charset="0"/>
                            <a:ea typeface="Cambria Math" panose="02040503050406030204" pitchFamily="18" charset="0"/>
                          </a:rPr>
                          <m:t>𝑬</m:t>
                        </m:r>
                      </m:e>
                      <m:sup>
                        <m:r>
                          <a:rPr lang="en-CA" sz="1600" i="1">
                            <a:latin typeface="Cambria Math" panose="02040503050406030204" pitchFamily="18" charset="0"/>
                            <a:ea typeface="Cambria Math" panose="02040503050406030204" pitchFamily="18" charset="0"/>
                          </a:rPr>
                          <m:t>−1/2</m:t>
                        </m:r>
                      </m:sup>
                    </m:sSup>
                    <m:r>
                      <a:rPr lang="en-CA" sz="1600" b="1">
                        <a:latin typeface="Cambria Math" panose="02040503050406030204" pitchFamily="18" charset="0"/>
                        <a:ea typeface="Cambria Math" panose="02040503050406030204" pitchFamily="18" charset="0"/>
                      </a:rPr>
                      <m:t>𝐕</m:t>
                    </m:r>
                  </m:oMath>
                </a14:m>
                <a:r>
                  <a:rPr lang="en-CA" sz="1600" dirty="0"/>
                  <a:t> where </a:t>
                </a:r>
                <a:r>
                  <a:rPr lang="en-CA" sz="1600" b="1" dirty="0"/>
                  <a:t>V</a:t>
                </a:r>
                <a:r>
                  <a:rPr lang="en-CA" sz="1600" dirty="0"/>
                  <a:t> = eigenvectors of HE</a:t>
                </a:r>
                <a:r>
                  <a:rPr lang="en-CA" sz="1600" baseline="30000" dirty="0"/>
                  <a:t>-1 </a:t>
                </a:r>
              </a:p>
              <a:p>
                <a:r>
                  <a:rPr lang="en-CA" sz="2000" dirty="0"/>
                  <a:t>This is the view that maximally discriminates among groups</a:t>
                </a:r>
              </a:p>
              <a:p>
                <a:r>
                  <a:rPr lang="en-CA" sz="2000" dirty="0"/>
                  <a:t>CD HE plot: vectors show structure </a:t>
                </a:r>
                <a:r>
                  <a:rPr lang="en-CA" sz="2000" dirty="0" err="1"/>
                  <a:t>coefs</a:t>
                </a:r>
                <a:r>
                  <a:rPr lang="en-CA" sz="2000" dirty="0"/>
                  <a:t> (correlations) of variables w/ CD dimensions</a:t>
                </a:r>
              </a:p>
              <a:p>
                <a:pPr marL="0" indent="0">
                  <a:buNone/>
                </a:pPr>
                <a:endParaRPr lang="en-CA" baseline="-25000" dirty="0"/>
              </a:p>
            </p:txBody>
          </p:sp>
        </mc:Choice>
        <mc:Fallback xmlns="">
          <p:sp>
            <p:nvSpPr>
              <p:cNvPr id="4" name="Content Placeholder 3">
                <a:extLst>
                  <a:ext uri="{FF2B5EF4-FFF2-40B4-BE49-F238E27FC236}">
                    <a16:creationId xmlns:a16="http://schemas.microsoft.com/office/drawing/2014/main" id="{DE06A756-658D-C8F2-6A93-03A89E7F7BF1}"/>
                  </a:ext>
                </a:extLst>
              </p:cNvPr>
              <p:cNvSpPr>
                <a:spLocks noGrp="1" noRot="1" noChangeAspect="1" noMove="1" noResize="1" noEditPoints="1" noAdjustHandles="1" noChangeArrowheads="1" noChangeShapeType="1" noTextEdit="1"/>
              </p:cNvSpPr>
              <p:nvPr>
                <p:ph idx="1"/>
              </p:nvPr>
            </p:nvSpPr>
            <p:spPr>
              <a:xfrm>
                <a:off x="838200" y="1025591"/>
                <a:ext cx="9372600" cy="2011678"/>
              </a:xfrm>
              <a:blipFill>
                <a:blip r:embed="rId3"/>
                <a:stretch>
                  <a:fillRect l="-586" t="-2727" b="-5455"/>
                </a:stretch>
              </a:blipFill>
            </p:spPr>
            <p:txBody>
              <a:bodyPr/>
              <a:lstStyle/>
              <a:p>
                <a:r>
                  <a:rPr lang="en-CA">
                    <a:noFill/>
                  </a:rPr>
                  <a:t> </a:t>
                </a:r>
              </a:p>
            </p:txBody>
          </p:sp>
        </mc:Fallback>
      </mc:AlternateContent>
      <p:grpSp>
        <p:nvGrpSpPr>
          <p:cNvPr id="5" name="Group 4">
            <a:extLst>
              <a:ext uri="{FF2B5EF4-FFF2-40B4-BE49-F238E27FC236}">
                <a16:creationId xmlns:a16="http://schemas.microsoft.com/office/drawing/2014/main" id="{695628D6-2D2E-935C-F902-C312DE871F31}"/>
              </a:ext>
            </a:extLst>
          </p:cNvPr>
          <p:cNvGrpSpPr/>
          <p:nvPr/>
        </p:nvGrpSpPr>
        <p:grpSpPr>
          <a:xfrm>
            <a:off x="1676402" y="3109597"/>
            <a:ext cx="4195588" cy="3600000"/>
            <a:chOff x="609600" y="3048000"/>
            <a:chExt cx="3848098" cy="3383278"/>
          </a:xfrm>
        </p:grpSpPr>
        <p:pic>
          <p:nvPicPr>
            <p:cNvPr id="6" name="Picture 5">
              <a:extLst>
                <a:ext uri="{FF2B5EF4-FFF2-40B4-BE49-F238E27FC236}">
                  <a16:creationId xmlns:a16="http://schemas.microsoft.com/office/drawing/2014/main" id="{7A244B28-5061-7FF6-14F6-575B9702951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09600" y="3352800"/>
              <a:ext cx="3848098" cy="3078478"/>
            </a:xfrm>
            <a:prstGeom prst="rect">
              <a:avLst/>
            </a:prstGeom>
          </p:spPr>
        </p:pic>
        <p:sp>
          <p:nvSpPr>
            <p:cNvPr id="7" name="TextBox 6">
              <a:extLst>
                <a:ext uri="{FF2B5EF4-FFF2-40B4-BE49-F238E27FC236}">
                  <a16:creationId xmlns:a16="http://schemas.microsoft.com/office/drawing/2014/main" id="{48C2BA2B-B71B-8E52-DB74-8DFFDF3E2BF3}"/>
                </a:ext>
              </a:extLst>
            </p:cNvPr>
            <p:cNvSpPr txBox="1"/>
            <p:nvPr/>
          </p:nvSpPr>
          <p:spPr>
            <a:xfrm>
              <a:off x="990600" y="3048000"/>
              <a:ext cx="3352800" cy="369332"/>
            </a:xfrm>
            <a:prstGeom prst="rect">
              <a:avLst/>
            </a:prstGeom>
            <a:noFill/>
          </p:spPr>
          <p:txBody>
            <a:bodyPr wrap="square" rtlCol="0">
              <a:spAutoFit/>
            </a:bodyPr>
            <a:lstStyle/>
            <a:p>
              <a:r>
                <a:rPr lang="en-CA" dirty="0"/>
                <a:t>Biplot of canonical scores</a:t>
              </a:r>
            </a:p>
          </p:txBody>
        </p:sp>
      </p:grpSp>
      <p:grpSp>
        <p:nvGrpSpPr>
          <p:cNvPr id="8" name="Group 7">
            <a:extLst>
              <a:ext uri="{FF2B5EF4-FFF2-40B4-BE49-F238E27FC236}">
                <a16:creationId xmlns:a16="http://schemas.microsoft.com/office/drawing/2014/main" id="{1DBA765B-5EB1-2F74-65AC-844ACA9CA564}"/>
              </a:ext>
            </a:extLst>
          </p:cNvPr>
          <p:cNvGrpSpPr/>
          <p:nvPr/>
        </p:nvGrpSpPr>
        <p:grpSpPr>
          <a:xfrm>
            <a:off x="6448539" y="3109597"/>
            <a:ext cx="3848098" cy="3600000"/>
            <a:chOff x="5048252" y="3048000"/>
            <a:chExt cx="3848098" cy="3352800"/>
          </a:xfrm>
        </p:grpSpPr>
        <p:pic>
          <p:nvPicPr>
            <p:cNvPr id="9" name="Picture 8">
              <a:extLst>
                <a:ext uri="{FF2B5EF4-FFF2-40B4-BE49-F238E27FC236}">
                  <a16:creationId xmlns:a16="http://schemas.microsoft.com/office/drawing/2014/main" id="{481D13BC-C0F5-D55E-6BED-C228FD386F6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048252" y="3322322"/>
              <a:ext cx="3848098" cy="3078478"/>
            </a:xfrm>
            <a:prstGeom prst="rect">
              <a:avLst/>
            </a:prstGeom>
          </p:spPr>
        </p:pic>
        <p:sp>
          <p:nvSpPr>
            <p:cNvPr id="10" name="TextBox 9">
              <a:extLst>
                <a:ext uri="{FF2B5EF4-FFF2-40B4-BE49-F238E27FC236}">
                  <a16:creationId xmlns:a16="http://schemas.microsoft.com/office/drawing/2014/main" id="{55A51909-49FE-D007-E4C7-7B434C74E9FB}"/>
                </a:ext>
              </a:extLst>
            </p:cNvPr>
            <p:cNvSpPr txBox="1"/>
            <p:nvPr/>
          </p:nvSpPr>
          <p:spPr>
            <a:xfrm>
              <a:off x="5486400" y="3048000"/>
              <a:ext cx="3352800" cy="369332"/>
            </a:xfrm>
            <a:prstGeom prst="rect">
              <a:avLst/>
            </a:prstGeom>
            <a:noFill/>
          </p:spPr>
          <p:txBody>
            <a:bodyPr wrap="square" rtlCol="0">
              <a:spAutoFit/>
            </a:bodyPr>
            <a:lstStyle/>
            <a:p>
              <a:r>
                <a:rPr lang="en-CA" dirty="0"/>
                <a:t>HE plot of canonical scores</a:t>
              </a:r>
            </a:p>
          </p:txBody>
        </p:sp>
      </p:grpSp>
      <p:sp>
        <p:nvSpPr>
          <p:cNvPr id="11" name="Slide Number Placeholder 11"/>
          <p:cNvSpPr>
            <a:spLocks noGrp="1"/>
          </p:cNvSpPr>
          <p:nvPr>
            <p:ph type="sldNum" sz="quarter" idx="12"/>
          </p:nvPr>
        </p:nvSpPr>
        <p:spPr/>
        <p:txBody>
          <a:bodyPr/>
          <a:lstStyle/>
          <a:p>
            <a:fld id="{9BFB2853-4965-4727-91C4-384EB30D99A4}" type="slidenum">
              <a:rPr lang="en-CA"/>
              <a:t>55</a:t>
            </a:fld>
            <a:endParaRPr lang="en-CA"/>
          </a:p>
        </p:txBody>
      </p:sp>
    </p:spTree>
    <p:extLst>
      <p:ext uri="{BB962C8B-B14F-4D97-AF65-F5344CB8AC3E}">
        <p14:creationId xmlns:p14="http://schemas.microsoft.com/office/powerpoint/2010/main" val="20049989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3" end="3"/>
                                            </p:txEl>
                                          </p:spTgt>
                                        </p:tgtEl>
                                        <p:attrNameLst>
                                          <p:attrName>style.visibility</p:attrName>
                                        </p:attrNameLst>
                                      </p:cBhvr>
                                      <p:to>
                                        <p:strVal val="visible"/>
                                      </p:to>
                                    </p:set>
                                  </p:childTnLst>
                                </p:cTn>
                              </p:par>
                              <p:par>
                                <p:cTn id="7" presetID="42"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fade">
                                      <p:cBhvr>
                                        <p:cTn id="9" dur="1000"/>
                                        <p:tgtEl>
                                          <p:spTgt spid="8"/>
                                        </p:tgtEl>
                                      </p:cBhvr>
                                    </p:animEffect>
                                    <p:anim calcmode="lin" valueType="num">
                                      <p:cBhvr>
                                        <p:cTn id="10" dur="1000" fill="hold"/>
                                        <p:tgtEl>
                                          <p:spTgt spid="8"/>
                                        </p:tgtEl>
                                        <p:attrNameLst>
                                          <p:attrName>ppt_x</p:attrName>
                                        </p:attrNameLst>
                                      </p:cBhvr>
                                      <p:tavLst>
                                        <p:tav tm="0">
                                          <p:val>
                                            <p:strVal val="#ppt_x"/>
                                          </p:val>
                                        </p:tav>
                                        <p:tav tm="100000">
                                          <p:val>
                                            <p:strVal val="#ppt_x"/>
                                          </p:val>
                                        </p:tav>
                                      </p:tavLst>
                                    </p:anim>
                                    <p:anim calcmode="lin" valueType="num">
                                      <p:cBhvr>
                                        <p:cTn id="11"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Linear discriminant analysis: main ideas</a:t>
            </a:r>
          </a:p>
        </p:txBody>
      </p:sp>
      <p:pic>
        <p:nvPicPr>
          <p:cNvPr id="3" name="Picture 2" descr="discrim-demo-both.jpg"/>
          <p:cNvPicPr>
            <a:picLocks noChangeAspect="1"/>
          </p:cNvPicPr>
          <p:nvPr/>
        </p:nvPicPr>
        <p:blipFill>
          <a:blip r:embed="rId3"/>
          <a:stretch>
            <a:fillRect/>
          </a:stretch>
        </p:blipFill>
        <p:spPr>
          <a:xfrm>
            <a:off x="841248" y="1406303"/>
            <a:ext cx="5157003" cy="5212080"/>
          </a:xfrm>
          <a:prstGeom prst="rect">
            <a:avLst/>
          </a:prstGeom>
        </p:spPr>
      </p:pic>
      <p:sp>
        <p:nvSpPr>
          <p:cNvPr id="4" name="TextBox 3"/>
          <p:cNvSpPr txBox="1"/>
          <p:nvPr/>
        </p:nvSpPr>
        <p:spPr>
          <a:xfrm>
            <a:off x="6364011" y="1417320"/>
            <a:ext cx="4992837" cy="3942080"/>
          </a:xfrm>
          <a:prstGeom prst="rect">
            <a:avLst/>
          </a:prstGeom>
          <a:noFill/>
        </p:spPr>
        <p:txBody>
          <a:bodyPr wrap="square" anchor="ctr">
            <a:noAutofit/>
          </a:bodyPr>
          <a:lstStyle/>
          <a:p>
            <a:r>
              <a:rPr lang="en-CA" sz="2400" dirty="0"/>
              <a:t>Like a MANOVA flipped, so that group is the outcome, rather than a predictor.</a:t>
            </a:r>
          </a:p>
          <a:p>
            <a:endParaRPr lang="en-CA" sz="2400" dirty="0"/>
          </a:p>
          <a:p>
            <a:r>
              <a:rPr lang="en-CA" sz="2400" dirty="0"/>
              <a:t>Emphasis is on prediction</a:t>
            </a:r>
          </a:p>
          <a:p>
            <a:endParaRPr lang="en-CA" sz="2400" dirty="0"/>
          </a:p>
          <a:p>
            <a:r>
              <a:rPr sz="2400" dirty="0"/>
              <a:t>Find the directions that best separate the groups, then classify by distance to the group means.</a:t>
            </a:r>
          </a:p>
        </p:txBody>
      </p:sp>
      <p:sp>
        <p:nvSpPr>
          <p:cNvPr id="5" name="Slide Number Placeholder 5"/>
          <p:cNvSpPr>
            <a:spLocks noGrp="1"/>
          </p:cNvSpPr>
          <p:nvPr>
            <p:ph type="sldNum" sz="quarter" idx="12"/>
          </p:nvPr>
        </p:nvSpPr>
        <p:spPr/>
        <p:txBody>
          <a:bodyPr/>
          <a:lstStyle/>
          <a:p>
            <a:fld id="{9BFB2853-4965-4727-91C4-384EB30D99A4}" type="slidenum">
              <a:rPr lang="en-CA"/>
              <a:t>56</a:t>
            </a:fld>
            <a:endParaRPr lang="en-CA"/>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Prediction regions in data space</a:t>
            </a:r>
          </a:p>
        </p:txBody>
      </p:sp>
      <p:pic>
        <p:nvPicPr>
          <p:cNvPr id="3" name="Picture 2" descr="fig-peng-regions-1.png"/>
          <p:cNvPicPr>
            <a:picLocks noChangeAspect="1"/>
          </p:cNvPicPr>
          <p:nvPr/>
        </p:nvPicPr>
        <p:blipFill>
          <a:blip r:embed="rId3"/>
          <a:stretch>
            <a:fillRect/>
          </a:stretch>
        </p:blipFill>
        <p:spPr>
          <a:xfrm>
            <a:off x="1011936" y="1051560"/>
            <a:ext cx="10168128" cy="5084064"/>
          </a:xfrm>
          <a:prstGeom prst="rect">
            <a:avLst/>
          </a:prstGeom>
        </p:spPr>
      </p:pic>
      <p:sp>
        <p:nvSpPr>
          <p:cNvPr id="4" name="TextBox 3"/>
          <p:cNvSpPr txBox="1"/>
          <p:nvPr/>
        </p:nvSpPr>
        <p:spPr>
          <a:xfrm>
            <a:off x="841248" y="6181344"/>
            <a:ext cx="10515600" cy="548640"/>
          </a:xfrm>
          <a:prstGeom prst="rect">
            <a:avLst/>
          </a:prstGeom>
          <a:noFill/>
        </p:spPr>
        <p:txBody>
          <a:bodyPr wrap="square">
            <a:spAutoFit/>
          </a:bodyPr>
          <a:lstStyle/>
          <a:p>
            <a:r>
              <a:rPr sz="1800"/>
              <a:t>Classify every point in a grid of values: the LDA boundaries are linear.</a:t>
            </a:r>
          </a:p>
        </p:txBody>
      </p:sp>
      <p:sp>
        <p:nvSpPr>
          <p:cNvPr id="5" name="Slide Number Placeholder 5"/>
          <p:cNvSpPr>
            <a:spLocks noGrp="1"/>
          </p:cNvSpPr>
          <p:nvPr>
            <p:ph type="sldNum" sz="quarter" idx="12"/>
          </p:nvPr>
        </p:nvSpPr>
        <p:spPr/>
        <p:txBody>
          <a:bodyPr/>
          <a:lstStyle/>
          <a:p>
            <a:fld id="{9BFB2853-4965-4727-91C4-384EB30D99A4}" type="slidenum">
              <a:rPr lang="en-CA"/>
              <a:t>57</a:t>
            </a:fld>
            <a:endParaRPr lang="en-CA"/>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fig-peng-LD-biplot-1.png"/>
          <p:cNvPicPr>
            <a:picLocks noChangeAspect="1"/>
          </p:cNvPicPr>
          <p:nvPr/>
        </p:nvPicPr>
        <p:blipFill>
          <a:blip r:embed="rId3"/>
          <a:stretch>
            <a:fillRect/>
          </a:stretch>
        </p:blipFill>
        <p:spPr>
          <a:xfrm>
            <a:off x="5344668" y="913955"/>
            <a:ext cx="6148832" cy="6148832"/>
          </a:xfrm>
          <a:prstGeom prst="rect">
            <a:avLst/>
          </a:prstGeom>
        </p:spPr>
      </p:pic>
      <p:sp>
        <p:nvSpPr>
          <p:cNvPr id="2" name="Title 1"/>
          <p:cNvSpPr>
            <a:spLocks noGrp="1"/>
          </p:cNvSpPr>
          <p:nvPr>
            <p:ph type="title"/>
          </p:nvPr>
        </p:nvSpPr>
        <p:spPr/>
        <p:txBody>
          <a:bodyPr/>
          <a:lstStyle/>
          <a:p>
            <a:r>
              <a:rPr lang="en-CA" dirty="0"/>
              <a:t>Biplot version of</a:t>
            </a:r>
            <a:r>
              <a:rPr dirty="0"/>
              <a:t> discriminant space</a:t>
            </a:r>
          </a:p>
        </p:txBody>
      </p:sp>
      <p:sp>
        <p:nvSpPr>
          <p:cNvPr id="3" name="Content Placeholder 2"/>
          <p:cNvSpPr>
            <a:spLocks noGrp="1"/>
          </p:cNvSpPr>
          <p:nvPr>
            <p:ph sz="half" idx="1"/>
          </p:nvPr>
        </p:nvSpPr>
        <p:spPr>
          <a:xfrm>
            <a:off x="838200" y="1643063"/>
            <a:ext cx="4051300" cy="4533900"/>
          </a:xfrm>
        </p:spPr>
        <p:txBody>
          <a:bodyPr/>
          <a:lstStyle/>
          <a:p>
            <a:r>
              <a:rPr dirty="0"/>
              <a:t>With three species, two discriminant dimensions show everything</a:t>
            </a:r>
          </a:p>
          <a:p>
            <a:r>
              <a:rPr dirty="0"/>
              <a:t>Variable vectors show which</a:t>
            </a:r>
            <a:r>
              <a:rPr lang="en-CA" dirty="0"/>
              <a:t>/how</a:t>
            </a:r>
            <a:r>
              <a:rPr dirty="0"/>
              <a:t> measures separate the species</a:t>
            </a:r>
          </a:p>
        </p:txBody>
      </p:sp>
      <p:sp>
        <p:nvSpPr>
          <p:cNvPr id="5" name="Slide Number Placeholder 5"/>
          <p:cNvSpPr>
            <a:spLocks noGrp="1"/>
          </p:cNvSpPr>
          <p:nvPr>
            <p:ph type="sldNum" sz="quarter" idx="12"/>
          </p:nvPr>
        </p:nvSpPr>
        <p:spPr/>
        <p:txBody>
          <a:bodyPr/>
          <a:lstStyle/>
          <a:p>
            <a:fld id="{9BFB2853-4965-4727-91C4-384EB30D99A4}" type="slidenum">
              <a:rPr lang="en-CA"/>
              <a:t>58</a:t>
            </a:fld>
            <a:endParaRPr lang="en-CA"/>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7F3F2"/>
            </a:gs>
            <a:gs pos="100000">
              <a:srgbClr val="D5A79F"/>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Checking multivariate models</a:t>
            </a:r>
          </a:p>
        </p:txBody>
      </p:sp>
      <p:sp>
        <p:nvSpPr>
          <p:cNvPr id="3" name="Text Placeholder 2"/>
          <p:cNvSpPr>
            <a:spLocks noGrp="1"/>
          </p:cNvSpPr>
          <p:nvPr>
            <p:ph type="body" idx="1"/>
          </p:nvPr>
        </p:nvSpPr>
        <p:spPr/>
        <p:txBody>
          <a:bodyPr/>
          <a:lstStyle/>
          <a:p>
            <a:r>
              <a:t>Outliers, influence and robust estimation</a:t>
            </a:r>
          </a:p>
        </p:txBody>
      </p:sp>
      <p:sp>
        <p:nvSpPr>
          <p:cNvPr id="4" name="Slide Number Placeholder 4"/>
          <p:cNvSpPr>
            <a:spLocks noGrp="1"/>
          </p:cNvSpPr>
          <p:nvPr>
            <p:ph type="sldNum" sz="quarter" idx="12"/>
          </p:nvPr>
        </p:nvSpPr>
        <p:spPr/>
        <p:txBody>
          <a:bodyPr/>
          <a:lstStyle/>
          <a:p>
            <a:fld id="{9BFB2853-4965-4727-91C4-384EB30D99A4}" type="slidenum">
              <a:rPr lang="en-CA"/>
              <a:t>59</a:t>
            </a:fld>
            <a:endParaRPr lang="en-CA"/>
          </a:p>
        </p:txBody>
      </p:sp>
      <p:pic>
        <p:nvPicPr>
          <p:cNvPr id="6" name="Section 5 distance plot illustration">
            <a:extLst>
              <a:ext uri="{FF2B5EF4-FFF2-40B4-BE49-F238E27FC236}">
                <a16:creationId xmlns:a16="http://schemas.microsoft.com/office/drawing/2014/main" id="{0777FA3B-8D44-90EA-D59D-839F74A26C3A}"/>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1498600" y="177800"/>
            <a:ext cx="2540000" cy="2540000"/>
          </a:xfrm>
          <a:prstGeom prst="rect">
            <a:avLst/>
          </a:prstGeom>
          <a:ln w="9525">
            <a:solidFill>
              <a:srgbClr val="3A3A3A"/>
            </a:solidFill>
          </a:ln>
          <a:effectLst>
            <a:outerShdw blurRad="101600" dist="45790" dir="3378598" rotWithShape="0">
              <a:srgbClr val="000000">
                <a:alpha val="40000"/>
              </a:srgbClr>
            </a:outerShdw>
          </a:effectLst>
        </p:spPr>
      </p:pic>
      <p:pic>
        <p:nvPicPr>
          <p:cNvPr id="8" name="Section 5 influence plot illustration">
            <a:extLst>
              <a:ext uri="{FF2B5EF4-FFF2-40B4-BE49-F238E27FC236}">
                <a16:creationId xmlns:a16="http://schemas.microsoft.com/office/drawing/2014/main" id="{03253DAC-5419-8E24-983A-467810AD806C}"/>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4318000" y="177800"/>
            <a:ext cx="2540000" cy="2540000"/>
          </a:xfrm>
          <a:prstGeom prst="rect">
            <a:avLst/>
          </a:prstGeom>
          <a:ln w="9525">
            <a:solidFill>
              <a:srgbClr val="3A3A3A"/>
            </a:solidFill>
          </a:ln>
          <a:effectLst>
            <a:outerShdw blurRad="101600" dist="45790" dir="3378598" rotWithShape="0">
              <a:srgbClr val="000000">
                <a:alpha val="40000"/>
              </a:srgbClr>
            </a:outerShdw>
          </a:effectLst>
        </p:spPr>
      </p:pic>
      <p:pic>
        <p:nvPicPr>
          <p:cNvPr id="10" name="Section 5 robust weights illustration">
            <a:extLst>
              <a:ext uri="{FF2B5EF4-FFF2-40B4-BE49-F238E27FC236}">
                <a16:creationId xmlns:a16="http://schemas.microsoft.com/office/drawing/2014/main" id="{7E28064A-8C94-8376-8B79-57AA4D3E0F28}"/>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7137400" y="177800"/>
            <a:ext cx="3556000" cy="2540000"/>
          </a:xfrm>
          <a:prstGeom prst="rect">
            <a:avLst/>
          </a:prstGeom>
          <a:ln w="9525">
            <a:solidFill>
              <a:srgbClr val="3A3A3A"/>
            </a:solidFill>
          </a:ln>
          <a:effectLst>
            <a:outerShdw blurRad="101600" dist="45790" dir="3378598" rotWithShape="0">
              <a:srgbClr val="000000">
                <a:alpha val="40000"/>
              </a:srgbClr>
            </a:outerShdw>
          </a:effectLst>
        </p:spPr>
      </p:pic>
      <p:sp>
        <p:nvSpPr>
          <p:cNvPr id="5" name="Skip button">
            <a:hlinkClick r:id="rId5" action="ppaction://hlinksldjump" tooltip="Skip to the Summary"/>
            <a:extLst>
              <a:ext uri="{FF2B5EF4-FFF2-40B4-BE49-F238E27FC236}">
                <a16:creationId xmlns:a16="http://schemas.microsoft.com/office/drawing/2014/main" id="{F78AA1F5-529E-396F-08FF-44854CACF41A}"/>
              </a:ext>
            </a:extLst>
          </p:cNvPr>
          <p:cNvSpPr/>
          <p:nvPr/>
        </p:nvSpPr>
        <p:spPr>
          <a:xfrm>
            <a:off x="177800" y="6426200"/>
            <a:ext cx="1219200" cy="304800"/>
          </a:xfrm>
          <a:prstGeom prst="roundRect">
            <a:avLst/>
          </a:prstGeom>
          <a:solidFill>
            <a:srgbClr val="FFFFFF">
              <a:alpha val="65000"/>
            </a:srgbClr>
          </a:solidFill>
          <a:ln w="9525">
            <a:solidFill>
              <a:srgbClr val="3A4A5C"/>
            </a:solidFill>
          </a:ln>
        </p:spPr>
        <p:style>
          <a:lnRef idx="2">
            <a:schemeClr val="accent1">
              <a:shade val="15000"/>
            </a:schemeClr>
          </a:lnRef>
          <a:fillRef idx="1">
            <a:schemeClr val="accent1"/>
          </a:fillRef>
          <a:effectRef idx="0">
            <a:schemeClr val="accent1"/>
          </a:effectRef>
          <a:fontRef idx="minor">
            <a:schemeClr val="lt1"/>
          </a:fontRef>
        </p:style>
        <p:txBody>
          <a:bodyPr wrap="none" lIns="50800" tIns="0" rIns="50800" bIns="0" rtlCol="0" anchor="ctr"/>
          <a:lstStyle/>
          <a:p>
            <a:pPr algn="ctr"/>
            <a:r>
              <a:rPr lang="en-CA" sz="1300">
                <a:solidFill>
                  <a:srgbClr val="3A4A5C"/>
                </a:solidFill>
                <a:latin typeface="Aptos" panose="020B0004020202020204" pitchFamily="34" charset="0"/>
              </a:rPr>
              <a:t>Skip this ⏭</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Unusual is not the same as influential</a:t>
            </a:r>
          </a:p>
        </p:txBody>
      </p:sp>
      <p:sp>
        <p:nvSpPr>
          <p:cNvPr id="3" name="Content Placeholder 2"/>
          <p:cNvSpPr>
            <a:spLocks noGrp="1"/>
          </p:cNvSpPr>
          <p:nvPr>
            <p:ph sz="half" idx="1"/>
          </p:nvPr>
        </p:nvSpPr>
        <p:spPr>
          <a:xfrm>
            <a:off x="502920" y="1600200"/>
            <a:ext cx="3429000" cy="2103120"/>
          </a:xfrm>
        </p:spPr>
        <p:txBody>
          <a:bodyPr/>
          <a:lstStyle/>
          <a:p>
            <a:r>
              <a:rPr sz="1800" dirty="0"/>
              <a:t>School data: 70 schools, 3 outcomes, 5 predictors</a:t>
            </a:r>
          </a:p>
          <a:p>
            <a:r>
              <a:rPr sz="1800" b="1" dirty="0"/>
              <a:t>Distance plot</a:t>
            </a:r>
            <a:r>
              <a:rPr sz="1800" dirty="0"/>
              <a:t>: predictor distance (leverage) vs. residual distance (outliers)</a:t>
            </a:r>
          </a:p>
          <a:p>
            <a:r>
              <a:rPr lang="en-CA" sz="1800" dirty="0"/>
              <a:t>Lines: cutoffs for “large”</a:t>
            </a:r>
          </a:p>
        </p:txBody>
      </p:sp>
      <p:pic>
        <p:nvPicPr>
          <p:cNvPr id="4" name="dist-pic" descr="fig-school-distplot-1.png"/>
          <p:cNvPicPr>
            <a:picLocks noChangeAspect="1"/>
          </p:cNvPicPr>
          <p:nvPr/>
        </p:nvPicPr>
        <p:blipFill>
          <a:blip r:embed="rId3"/>
          <a:stretch>
            <a:fillRect/>
          </a:stretch>
        </p:blipFill>
        <p:spPr>
          <a:xfrm>
            <a:off x="4023360" y="1783080"/>
            <a:ext cx="3931920" cy="39319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11.18, 11.19</a:t>
            </a:r>
          </a:p>
        </p:txBody>
      </p:sp>
      <p:pic>
        <p:nvPicPr>
          <p:cNvPr id="6" name="infl-pic" descr="school-diag-2-influence.png"/>
          <p:cNvPicPr>
            <a:picLocks noChangeAspect="1"/>
          </p:cNvPicPr>
          <p:nvPr/>
        </p:nvPicPr>
        <p:blipFill>
          <a:blip r:embed="rId4"/>
          <a:stretch>
            <a:fillRect/>
          </a:stretch>
        </p:blipFill>
        <p:spPr>
          <a:xfrm>
            <a:off x="8092440" y="1783080"/>
            <a:ext cx="3931920" cy="3931920"/>
          </a:xfrm>
          <a:prstGeom prst="rect">
            <a:avLst/>
          </a:prstGeom>
        </p:spPr>
      </p:pic>
      <p:sp>
        <p:nvSpPr>
          <p:cNvPr id="7" name="dist-cap"/>
          <p:cNvSpPr txBox="1"/>
          <p:nvPr/>
        </p:nvSpPr>
        <p:spPr>
          <a:xfrm>
            <a:off x="4023360" y="1371600"/>
            <a:ext cx="3931920" cy="365760"/>
          </a:xfrm>
          <a:prstGeom prst="rect">
            <a:avLst/>
          </a:prstGeom>
          <a:noFill/>
        </p:spPr>
        <p:txBody>
          <a:bodyPr wrap="none">
            <a:spAutoFit/>
          </a:bodyPr>
          <a:lstStyle/>
          <a:p>
            <a:pPr algn="ctr"/>
            <a:r>
              <a:rPr sz="1800" b="1"/>
              <a:t>Distance plot: where is it unusual?</a:t>
            </a:r>
          </a:p>
        </p:txBody>
      </p:sp>
      <p:sp>
        <p:nvSpPr>
          <p:cNvPr id="8" name="infl-cap"/>
          <p:cNvSpPr txBox="1"/>
          <p:nvPr/>
        </p:nvSpPr>
        <p:spPr>
          <a:xfrm>
            <a:off x="8092440" y="1371600"/>
            <a:ext cx="3931920" cy="365760"/>
          </a:xfrm>
          <a:prstGeom prst="rect">
            <a:avLst/>
          </a:prstGeom>
          <a:noFill/>
        </p:spPr>
        <p:txBody>
          <a:bodyPr wrap="none">
            <a:spAutoFit/>
          </a:bodyPr>
          <a:lstStyle/>
          <a:p>
            <a:pPr algn="ctr"/>
            <a:r>
              <a:rPr sz="1800" b="1"/>
              <a:t>Influence plot: does it matter?</a:t>
            </a:r>
          </a:p>
        </p:txBody>
      </p:sp>
      <p:sp>
        <p:nvSpPr>
          <p:cNvPr id="9" name="infl-text"/>
          <p:cNvSpPr txBox="1"/>
          <p:nvPr/>
        </p:nvSpPr>
        <p:spPr>
          <a:xfrm>
            <a:off x="502920" y="3703320"/>
            <a:ext cx="3429000" cy="2462213"/>
          </a:xfrm>
          <a:prstGeom prst="rect">
            <a:avLst/>
          </a:prstGeom>
          <a:noFill/>
        </p:spPr>
        <p:txBody>
          <a:bodyPr wrap="square">
            <a:spAutoFit/>
          </a:bodyPr>
          <a:lstStyle/>
          <a:p>
            <a:pPr marL="228600" indent="-228600">
              <a:spcAft>
                <a:spcPts val="400"/>
              </a:spcAft>
              <a:buFont typeface="Arial"/>
              <a:buChar char="•"/>
            </a:pPr>
            <a:r>
              <a:rPr sz="1800" b="1" dirty="0"/>
              <a:t>Influence plot</a:t>
            </a:r>
            <a:r>
              <a:rPr sz="1800" dirty="0"/>
              <a:t>: bubble size ~ multivariate Cook’s D</a:t>
            </a:r>
          </a:p>
          <a:p>
            <a:pPr marL="228600" indent="-228600">
              <a:spcAft>
                <a:spcPts val="400"/>
              </a:spcAft>
              <a:buFont typeface="Arial"/>
              <a:buChar char="•"/>
            </a:pPr>
            <a:r>
              <a:rPr sz="1800" b="1" dirty="0">
                <a:solidFill>
                  <a:srgbClr val="FF0000"/>
                </a:solidFill>
              </a:rPr>
              <a:t>44, 59</a:t>
            </a:r>
            <a:r>
              <a:rPr sz="1800" dirty="0"/>
              <a:t>: high leverage and influential</a:t>
            </a:r>
          </a:p>
          <a:p>
            <a:pPr marL="228600" indent="-228600">
              <a:spcAft>
                <a:spcPts val="400"/>
              </a:spcAft>
              <a:buFont typeface="Arial"/>
              <a:buChar char="•"/>
            </a:pPr>
            <a:r>
              <a:rPr sz="1800" b="1" dirty="0">
                <a:solidFill>
                  <a:srgbClr val="0000FF"/>
                </a:solidFill>
              </a:rPr>
              <a:t>35</a:t>
            </a:r>
            <a:r>
              <a:rPr sz="1800" dirty="0"/>
              <a:t>: an outlier, but little influence</a:t>
            </a:r>
          </a:p>
          <a:p>
            <a:pPr marL="228600" indent="-228600">
              <a:spcAft>
                <a:spcPts val="400"/>
              </a:spcAft>
              <a:buFont typeface="Arial"/>
              <a:buChar char="•"/>
            </a:pPr>
            <a:r>
              <a:rPr sz="1800" b="1" dirty="0">
                <a:solidFill>
                  <a:srgbClr val="006400"/>
                </a:solidFill>
              </a:rPr>
              <a:t>66</a:t>
            </a:r>
            <a:r>
              <a:rPr sz="1800" dirty="0"/>
              <a:t>: high leverage, but harmless</a:t>
            </a:r>
          </a:p>
        </p:txBody>
      </p:sp>
      <p:sp>
        <p:nvSpPr>
          <p:cNvPr id="10" name="sens-text"/>
          <p:cNvSpPr txBox="1"/>
          <p:nvPr/>
        </p:nvSpPr>
        <p:spPr>
          <a:xfrm>
            <a:off x="4023360" y="5760720"/>
            <a:ext cx="8001000" cy="640080"/>
          </a:xfrm>
          <a:prstGeom prst="rect">
            <a:avLst/>
          </a:prstGeom>
          <a:noFill/>
        </p:spPr>
        <p:txBody>
          <a:bodyPr wrap="square">
            <a:spAutoFit/>
          </a:bodyPr>
          <a:lstStyle/>
          <a:p>
            <a:pPr>
              <a:spcAft>
                <a:spcPts val="400"/>
              </a:spcAft>
            </a:pPr>
            <a:r>
              <a:rPr sz="1600"/>
              <a:t>Refit without </a:t>
            </a:r>
            <a:r>
              <a:rPr sz="1600" b="1">
                <a:solidFill>
                  <a:srgbClr val="FF0000"/>
                </a:solidFill>
              </a:rPr>
              <a:t>44</a:t>
            </a:r>
            <a:r>
              <a:rPr sz="1600"/>
              <a:t> and </a:t>
            </a:r>
            <a:r>
              <a:rPr sz="1600" b="1">
                <a:solidFill>
                  <a:srgbClr val="FF0000"/>
                </a:solidFill>
              </a:rPr>
              <a:t>59</a:t>
            </a:r>
            <a:r>
              <a:rPr sz="1600"/>
              <a:t>: the same three predictors stay significant, but the reading and mathematics coefficients change by 77–104% for visit and over 300% for counseling.</a:t>
            </a:r>
          </a:p>
        </p:txBody>
      </p:sp>
      <p:sp>
        <p:nvSpPr>
          <p:cNvPr id="11" name="Slide Number Placeholder 11"/>
          <p:cNvSpPr>
            <a:spLocks noGrp="1"/>
          </p:cNvSpPr>
          <p:nvPr>
            <p:ph type="sldNum" sz="quarter" idx="12"/>
          </p:nvPr>
        </p:nvSpPr>
        <p:spPr/>
        <p:txBody>
          <a:bodyPr/>
          <a:lstStyle/>
          <a:p>
            <a:fld id="{9BFB2853-4965-4727-91C4-384EB30D99A4}" type="slidenum">
              <a:rPr lang="en-CA"/>
              <a:t>60</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0" grpId="0"/>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Who are the influential penguins?</a:t>
            </a:r>
          </a:p>
        </p:txBody>
      </p:sp>
      <p:sp>
        <p:nvSpPr>
          <p:cNvPr id="3" name="Content Placeholder 2"/>
          <p:cNvSpPr>
            <a:spLocks noGrp="1"/>
          </p:cNvSpPr>
          <p:nvPr>
            <p:ph sz="half" idx="1"/>
          </p:nvPr>
        </p:nvSpPr>
        <p:spPr/>
        <p:txBody>
          <a:bodyPr/>
          <a:lstStyle/>
          <a:p>
            <a:r>
              <a:rPr dirty="0"/>
              <a:t>Multivariate influence plot </a:t>
            </a:r>
            <a:endParaRPr lang="en-CA" dirty="0"/>
          </a:p>
          <a:p>
            <a:r>
              <a:rPr dirty="0"/>
              <a:t>The most influential case is our Chinstrap friend 'Cyrano'</a:t>
            </a:r>
          </a:p>
          <a:p>
            <a:r>
              <a:t>'</a:t>
            </a:r>
            <a:r>
              <a:rPr lang="en-CA"/>
              <a:t>Snub Nose</a:t>
            </a:r>
            <a:r>
              <a:t>', </a:t>
            </a:r>
            <a:r>
              <a:rPr dirty="0"/>
              <a:t>an Adélie, is among the others</a:t>
            </a:r>
          </a:p>
          <a:p>
            <a:r>
              <a:rPr dirty="0"/>
              <a:t>One factor as predictor: hat values depend only on group size, so three columns</a:t>
            </a:r>
          </a:p>
        </p:txBody>
      </p:sp>
      <p:pic>
        <p:nvPicPr>
          <p:cNvPr id="4" name="Picture 3" descr="fig-peng-inflplot1-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14.8</a:t>
            </a:r>
          </a:p>
        </p:txBody>
      </p:sp>
      <p:sp>
        <p:nvSpPr>
          <p:cNvPr id="6" name="Slide Number Placeholder 6"/>
          <p:cNvSpPr>
            <a:spLocks noGrp="1"/>
          </p:cNvSpPr>
          <p:nvPr>
            <p:ph type="sldNum" sz="quarter" idx="12"/>
          </p:nvPr>
        </p:nvSpPr>
        <p:spPr/>
        <p:txBody>
          <a:bodyPr/>
          <a:lstStyle/>
          <a:p>
            <a:fld id="{9BFB2853-4965-4727-91C4-384EB30D99A4}" type="slidenum">
              <a:rPr lang="en-CA"/>
              <a:t>61</a:t>
            </a:fld>
            <a:endParaRPr lang="en-CA"/>
          </a:p>
        </p:txBody>
      </p:sp>
      <p:pic>
        <p:nvPicPr>
          <p:cNvPr id="8" name="Picture 7" descr="logo.png">
            <a:extLst>
              <a:ext uri="{FF2B5EF4-FFF2-40B4-BE49-F238E27FC236}">
                <a16:creationId xmlns:a16="http://schemas.microsoft.com/office/drawing/2014/main" id="{8C078AC7-B6BA-1224-6A60-13C7E3AC7D34}"/>
              </a:ext>
            </a:extLst>
          </p:cNvPr>
          <p:cNvPicPr>
            <a:picLocks noChangeAspect="1"/>
          </p:cNvPicPr>
          <p:nvPr/>
        </p:nvPicPr>
        <p:blipFill>
          <a:blip r:embed="rId4"/>
          <a:stretch>
            <a:fillRect/>
          </a:stretch>
        </p:blipFill>
        <p:spPr>
          <a:xfrm>
            <a:off x="10794221" y="228600"/>
            <a:ext cx="788179" cy="914400"/>
          </a:xfrm>
          <a:prstGeom prst="rect">
            <a:avLst/>
          </a:prstGeom>
        </p:spPr>
      </p:pic>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Robust MLMs: down-weight what does not fit</a:t>
            </a:r>
          </a:p>
        </p:txBody>
      </p:sp>
      <p:sp>
        <p:nvSpPr>
          <p:cNvPr id="3" name="Content Placeholder 2"/>
          <p:cNvSpPr>
            <a:spLocks noGrp="1"/>
          </p:cNvSpPr>
          <p:nvPr>
            <p:ph sz="half" idx="1"/>
          </p:nvPr>
        </p:nvSpPr>
        <p:spPr/>
        <p:txBody>
          <a:bodyPr/>
          <a:lstStyle/>
          <a:p>
            <a:r>
              <a:t>robmlm(): iteratively reweighted least squares for a multivariate model</a:t>
            </a:r>
          </a:p>
          <a:p>
            <a:r>
              <a:t>Index plot of the final observation weights</a:t>
            </a:r>
          </a:p>
          <a:p>
            <a:r>
              <a:t>Cyrano gets weight 0; </a:t>
            </a:r>
            <a:r>
              <a:rPr lang="en-CA"/>
              <a:t>Snub Nose</a:t>
            </a:r>
            <a:r>
              <a:t> gets 0.13</a:t>
            </a:r>
          </a:p>
        </p:txBody>
      </p:sp>
      <p:pic>
        <p:nvPicPr>
          <p:cNvPr id="9" name="Picture 3" descr="fig-peng-robmlm-plot-1.png">
            <a:extLst>
              <a:ext uri="{FF2B5EF4-FFF2-40B4-BE49-F238E27FC236}">
                <a16:creationId xmlns:a16="http://schemas.microsoft.com/office/drawing/2014/main" id="{5F48EC4D-C76D-2692-B5DC-0AE6EFE9081E}"/>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5818091" y="1643063"/>
            <a:ext cx="5860732" cy="4186237"/>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14.10</a:t>
            </a:r>
          </a:p>
        </p:txBody>
      </p:sp>
      <p:sp>
        <p:nvSpPr>
          <p:cNvPr id="6" name="Slide Number Placeholder 6"/>
          <p:cNvSpPr>
            <a:spLocks noGrp="1"/>
          </p:cNvSpPr>
          <p:nvPr>
            <p:ph type="sldNum" sz="quarter" idx="12"/>
          </p:nvPr>
        </p:nvSpPr>
        <p:spPr/>
        <p:txBody>
          <a:bodyPr/>
          <a:lstStyle/>
          <a:p>
            <a:fld id="{9BFB2853-4965-4727-91C4-384EB30D99A4}" type="slidenum">
              <a:rPr lang="en-CA"/>
              <a:t>62</a:t>
            </a:fld>
            <a:endParaRPr lang="en-CA"/>
          </a:p>
        </p:txBody>
      </p:sp>
      <p:pic>
        <p:nvPicPr>
          <p:cNvPr id="8" name="Picture 7" descr="logo.png">
            <a:extLst>
              <a:ext uri="{FF2B5EF4-FFF2-40B4-BE49-F238E27FC236}">
                <a16:creationId xmlns:a16="http://schemas.microsoft.com/office/drawing/2014/main" id="{8CEF84B3-671E-E514-73B1-77B869BE814F}"/>
              </a:ext>
            </a:extLst>
          </p:cNvPr>
          <p:cNvPicPr>
            <a:picLocks noChangeAspect="1"/>
          </p:cNvPicPr>
          <p:nvPr/>
        </p:nvPicPr>
        <p:blipFill>
          <a:blip r:embed="rId4"/>
          <a:stretch>
            <a:fillRect/>
          </a:stretch>
        </p:blipFill>
        <p:spPr>
          <a:xfrm>
            <a:off x="10794610" y="217170"/>
            <a:ext cx="787790" cy="914400"/>
          </a:xfrm>
          <a:prstGeom prst="rect">
            <a:avLst/>
          </a:prstGeom>
        </p:spPr>
      </p:pic>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FDF9E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Summary: </a:t>
            </a:r>
            <a:r>
              <a:rPr dirty="0"/>
              <a:t>A few </a:t>
            </a:r>
            <a:r>
              <a:rPr lang="en-CA" dirty="0"/>
              <a:t>visual </a:t>
            </a:r>
            <a:r>
              <a:rPr dirty="0"/>
              <a:t>ideas go a long way</a:t>
            </a:r>
          </a:p>
        </p:txBody>
      </p:sp>
      <p:sp>
        <p:nvSpPr>
          <p:cNvPr id="3" name="Content Placeholder 2"/>
          <p:cNvSpPr>
            <a:spLocks noGrp="1"/>
          </p:cNvSpPr>
          <p:nvPr>
            <p:ph idx="1"/>
          </p:nvPr>
        </p:nvSpPr>
        <p:spPr/>
        <p:txBody>
          <a:bodyPr/>
          <a:lstStyle/>
          <a:p>
            <a:r>
              <a:rPr b="1" dirty="0"/>
              <a:t>Ellipses</a:t>
            </a:r>
            <a:r>
              <a:rPr dirty="0"/>
              <a:t>: for data, for coefficients, and for hypotheses and error</a:t>
            </a:r>
            <a:endParaRPr lang="en-CA" dirty="0"/>
          </a:p>
          <a:p>
            <a:r>
              <a:rPr lang="en-CA" b="1" dirty="0"/>
              <a:t>Visual thinning</a:t>
            </a:r>
            <a:r>
              <a:rPr lang="en-CA" dirty="0"/>
              <a:t>: summarize, so the message can be seen</a:t>
            </a:r>
            <a:endParaRPr dirty="0"/>
          </a:p>
          <a:p>
            <a:r>
              <a:rPr b="1" dirty="0"/>
              <a:t>Projections</a:t>
            </a:r>
            <a:r>
              <a:rPr dirty="0"/>
              <a:t>: every plot is a view; choose the views that answer the question</a:t>
            </a:r>
            <a:endParaRPr lang="en-CA" dirty="0"/>
          </a:p>
          <a:p>
            <a:r>
              <a:rPr lang="en-CA" b="1" dirty="0"/>
              <a:t>Geometry</a:t>
            </a:r>
            <a:r>
              <a:rPr lang="en-CA" dirty="0"/>
              <a:t>: provides the connective tissue to understand relations in different, equivalent spaces.</a:t>
            </a:r>
            <a:endParaRPr dirty="0"/>
          </a:p>
          <a:p>
            <a:r>
              <a:rPr b="1" dirty="0"/>
              <a:t>Low-</a:t>
            </a:r>
            <a:r>
              <a:rPr lang="en-CA" b="1" dirty="0"/>
              <a:t>D</a:t>
            </a:r>
            <a:r>
              <a:rPr b="1" dirty="0"/>
              <a:t> views</a:t>
            </a:r>
            <a:r>
              <a:rPr dirty="0"/>
              <a:t>: biplots and canonical plots show many variables in the space that matters</a:t>
            </a:r>
          </a:p>
          <a:p>
            <a:r>
              <a:rPr dirty="0"/>
              <a:t>Multivariate models deserve graphs as good as those for a single response</a:t>
            </a:r>
          </a:p>
        </p:txBody>
      </p:sp>
      <p:sp>
        <p:nvSpPr>
          <p:cNvPr id="4" name="Slide Number Placeholder 4"/>
          <p:cNvSpPr>
            <a:spLocks noGrp="1"/>
          </p:cNvSpPr>
          <p:nvPr>
            <p:ph type="sldNum" sz="quarter" idx="12"/>
          </p:nvPr>
        </p:nvSpPr>
        <p:spPr/>
        <p:txBody>
          <a:bodyPr/>
          <a:lstStyle/>
          <a:p>
            <a:fld id="{9BFB2853-4965-4727-91C4-384EB30D99A4}" type="slidenum">
              <a:rPr lang="en-CA"/>
              <a:t>63</a:t>
            </a:fld>
            <a:endParaRPr lang="en-CA"/>
          </a:p>
        </p:txBody>
      </p:sp>
    </p:spTree>
  </p:cSld>
  <p:clrMapOvr>
    <a:masterClrMapping/>
  </p:clrMapOvr>
  <mc:AlternateContent xmlns:mc="http://schemas.openxmlformats.org/markup-compatibility/2006" xmlns:p14="http://schemas.microsoft.com/office/powerpoint/2010/main">
    <mc:Choice Requires="p14">
      <p:transition spd="slow" p14:dur="1600">
        <p14:prism isContent="1" isInverted="1"/>
      </p:transition>
    </mc:Choice>
    <mc:Fallback xmlns="">
      <p:transition spd="slow">
        <p:fade/>
      </p:transition>
    </mc:Fallback>
  </mc:AlternateContent>
</p:sld>
</file>

<file path=ppt/slides/slide64.xml><?xml version="1.0" encoding="utf-8"?>
<p:sld xmlns:a="http://schemas.openxmlformats.org/drawingml/2006/main" xmlns:r="http://schemas.openxmlformats.org/officeDocument/2006/relationships" xmlns:p="http://schemas.openxmlformats.org/presentationml/2006/main">
  <p:cSld>
    <p:bg>
      <p:bgPr>
        <a:solidFill>
          <a:srgbClr val="FDF9E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Book, code and packages</a:t>
            </a:r>
          </a:p>
        </p:txBody>
      </p:sp>
      <p:sp>
        <p:nvSpPr>
          <p:cNvPr id="3" name="Content Placeholder 2"/>
          <p:cNvSpPr>
            <a:spLocks noGrp="1"/>
          </p:cNvSpPr>
          <p:nvPr>
            <p:ph sz="half" idx="1"/>
          </p:nvPr>
        </p:nvSpPr>
        <p:spPr/>
        <p:txBody>
          <a:bodyPr/>
          <a:lstStyle/>
          <a:p>
            <a:r>
              <a:rPr dirty="0"/>
              <a:t>Online version: </a:t>
            </a:r>
            <a:r>
              <a:rPr dirty="0">
                <a:hlinkClick r:id="rId3"/>
              </a:rPr>
              <a:t>friendly.github.io/Vis-MLM-book</a:t>
            </a:r>
            <a:endParaRPr dirty="0"/>
          </a:p>
          <a:p>
            <a:r>
              <a:rPr dirty="0"/>
              <a:t>Source and R code: </a:t>
            </a:r>
            <a:r>
              <a:rPr dirty="0">
                <a:hlinkClick r:id="rId3"/>
              </a:rPr>
              <a:t>github.com/</a:t>
            </a:r>
            <a:r>
              <a:rPr dirty="0" err="1">
                <a:hlinkClick r:id="rId3"/>
              </a:rPr>
              <a:t>friendly/vis-MLM-book</a:t>
            </a:r>
            <a:endParaRPr dirty="0"/>
          </a:p>
          <a:p>
            <a:r>
              <a:rPr dirty="0"/>
              <a:t>R packages: </a:t>
            </a:r>
            <a:r>
              <a:rPr dirty="0" err="1"/>
              <a:t>heplots</a:t>
            </a:r>
            <a:r>
              <a:rPr dirty="0"/>
              <a:t>, </a:t>
            </a:r>
            <a:r>
              <a:rPr dirty="0" err="1"/>
              <a:t>candisc</a:t>
            </a:r>
            <a:r>
              <a:rPr dirty="0"/>
              <a:t>, </a:t>
            </a:r>
            <a:r>
              <a:rPr dirty="0" err="1"/>
              <a:t>mvinfluence</a:t>
            </a:r>
            <a:r>
              <a:rPr dirty="0"/>
              <a:t>, </a:t>
            </a:r>
            <a:r>
              <a:rPr dirty="0" err="1"/>
              <a:t>genridge</a:t>
            </a:r>
            <a:r>
              <a:rPr lang="en-CA" dirty="0"/>
              <a:t>, </a:t>
            </a:r>
            <a:r>
              <a:rPr lang="en-CA" dirty="0" err="1"/>
              <a:t>VisCollin</a:t>
            </a:r>
            <a:endParaRPr dirty="0"/>
          </a:p>
          <a:p>
            <a:r>
              <a:rPr dirty="0"/>
              <a:t>To appear with CRC Press / Chapman &amp; Hall</a:t>
            </a:r>
            <a:r>
              <a:rPr lang="en-CA" dirty="0"/>
              <a:t>, 2027</a:t>
            </a:r>
          </a:p>
          <a:p>
            <a:r>
              <a:rPr lang="en-CA" dirty="0"/>
              <a:t>Blogs &amp; random musings: </a:t>
            </a:r>
            <a:r>
              <a:rPr lang="en-CA" dirty="0">
                <a:hlinkClick r:id="rId4"/>
              </a:rPr>
              <a:t>https://friendly.github.io/blog/</a:t>
            </a:r>
            <a:r>
              <a:rPr lang="en-CA" dirty="0"/>
              <a:t> </a:t>
            </a:r>
            <a:endParaRPr dirty="0"/>
          </a:p>
        </p:txBody>
      </p:sp>
      <p:sp>
        <p:nvSpPr>
          <p:cNvPr id="5" name="Slide Number Placeholder 5"/>
          <p:cNvSpPr>
            <a:spLocks noGrp="1"/>
          </p:cNvSpPr>
          <p:nvPr>
            <p:ph type="sldNum" sz="quarter" idx="12"/>
          </p:nvPr>
        </p:nvSpPr>
        <p:spPr/>
        <p:txBody>
          <a:bodyPr/>
          <a:lstStyle/>
          <a:p>
            <a:fld id="{9BFB2853-4965-4727-91C4-384EB30D99A4}" type="slidenum">
              <a:rPr lang="en-CA"/>
              <a:t>64</a:t>
            </a:fld>
            <a:endParaRPr lang="en-CA"/>
          </a:p>
        </p:txBody>
      </p:sp>
      <p:pic>
        <p:nvPicPr>
          <p:cNvPr id="4" name="Picture 3" descr="cover-peng.jpg"/>
          <p:cNvPicPr>
            <a:picLocks noChangeAspect="1"/>
          </p:cNvPicPr>
          <p:nvPr/>
        </p:nvPicPr>
        <p:blipFill>
          <a:blip r:embed="rId5"/>
          <a:stretch>
            <a:fillRect/>
          </a:stretch>
        </p:blipFill>
        <p:spPr>
          <a:xfrm>
            <a:off x="8051923" y="1197734"/>
            <a:ext cx="3530477" cy="4858555"/>
          </a:xfrm>
          <a:prstGeom prst="rect">
            <a:avLst/>
          </a:prstGeom>
        </p:spPr>
      </p:pic>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rgbClr val="FDF9E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6675120" y="2103120"/>
            <a:ext cx="4754880" cy="2651760"/>
          </a:xfrm>
        </p:spPr>
        <p:txBody>
          <a:bodyPr anchor="ctr"/>
          <a:lstStyle/>
          <a:p>
            <a:r>
              <a:t>Questions?</a:t>
            </a:r>
            <a:br/>
            <a:r>
              <a:t>Discussion?</a:t>
            </a:r>
          </a:p>
        </p:txBody>
      </p:sp>
      <p:pic>
        <p:nvPicPr>
          <p:cNvPr id="4" name="Thank you (animated)" descr="thank-you.gif"/>
          <p:cNvPicPr>
            <a:picLocks noChangeAspect="1"/>
          </p:cNvPicPr>
          <p:nvPr/>
        </p:nvPicPr>
        <p:blipFill>
          <a:blip r:embed="rId2"/>
          <a:stretch>
            <a:fillRect/>
          </a:stretch>
        </p:blipFill>
        <p:spPr>
          <a:xfrm>
            <a:off x="822960" y="731520"/>
            <a:ext cx="5394960" cy="5394960"/>
          </a:xfrm>
          <a:prstGeom prst="rect">
            <a:avLst/>
          </a:prstGeom>
        </p:spPr>
      </p:pic>
      <p:sp>
        <p:nvSpPr>
          <p:cNvPr id="5" name="Slide Number Placeholder 5"/>
          <p:cNvSpPr>
            <a:spLocks noGrp="1"/>
          </p:cNvSpPr>
          <p:nvPr>
            <p:ph type="sldNum" sz="quarter" idx="12"/>
          </p:nvPr>
        </p:nvSpPr>
        <p:spPr/>
        <p:txBody>
          <a:bodyPr/>
          <a:lstStyle/>
          <a:p>
            <a:fld id="{9BFB2853-4965-4727-91C4-384EB30D99A4}" type="slidenum">
              <a:rPr lang="en-CA"/>
              <a:t>65</a:t>
            </a:fld>
            <a:endParaRPr lang="en-CA"/>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7220</TotalTime>
  <Words>6294</Words>
  <Application>Microsoft Office PowerPoint</Application>
  <PresentationFormat>Widescreen</PresentationFormat>
  <Paragraphs>653</Paragraphs>
  <Slides>65</Slides>
  <Notes>63</Notes>
  <HiddenSlides>0</HiddenSlides>
  <MMClips>0</MMClips>
  <ScaleCrop>false</ScaleCrop>
  <HeadingPairs>
    <vt:vector size="8" baseType="variant">
      <vt:variant>
        <vt:lpstr>Fonts Used</vt:lpstr>
      </vt:variant>
      <vt:variant>
        <vt:i4>11</vt:i4>
      </vt:variant>
      <vt:variant>
        <vt:lpstr>Theme</vt:lpstr>
      </vt:variant>
      <vt:variant>
        <vt:i4>1</vt:i4>
      </vt:variant>
      <vt:variant>
        <vt:lpstr>Embedded OLE Servers</vt:lpstr>
      </vt:variant>
      <vt:variant>
        <vt:i4>1</vt:i4>
      </vt:variant>
      <vt:variant>
        <vt:lpstr>Slide Titles</vt:lpstr>
      </vt:variant>
      <vt:variant>
        <vt:i4>65</vt:i4>
      </vt:variant>
    </vt:vector>
  </HeadingPairs>
  <TitlesOfParts>
    <vt:vector size="78" baseType="lpstr">
      <vt:lpstr>Aptos</vt:lpstr>
      <vt:lpstr>Aptos Display</vt:lpstr>
      <vt:lpstr>Arial</vt:lpstr>
      <vt:lpstr>Cambria Math</vt:lpstr>
      <vt:lpstr>Cascadia Code</vt:lpstr>
      <vt:lpstr>Consolas</vt:lpstr>
      <vt:lpstr>Lucida Console</vt:lpstr>
      <vt:lpstr>Matura MT Script Capitals</vt:lpstr>
      <vt:lpstr>Segoe UI Emoji</vt:lpstr>
      <vt:lpstr>Symbol</vt:lpstr>
      <vt:lpstr>Wingdings</vt:lpstr>
      <vt:lpstr>Office Theme</vt:lpstr>
      <vt:lpstr>Equation</vt:lpstr>
      <vt:lpstr>Visualizing Multivariate Data and Models in R</vt:lpstr>
      <vt:lpstr>My book</vt:lpstr>
      <vt:lpstr>R packages</vt:lpstr>
      <vt:lpstr>Ideas I’ll talk about today (thematic)</vt:lpstr>
      <vt:lpstr>Why a romance in many dimensions?</vt:lpstr>
      <vt:lpstr>Planeland: we only ever see 2D projections</vt:lpstr>
      <vt:lpstr>EUREKA! Structure can hide in many dimensions</vt:lpstr>
      <vt:lpstr>Multivariate discovery: kinds of Type 2 diabetes</vt:lpstr>
      <vt:lpstr>MLM problem: easy to fit, hard to see</vt:lpstr>
      <vt:lpstr>Seeing multivariate data</vt:lpstr>
      <vt:lpstr>Galton’s visual discovery:  Bivariate normal correlation surface (1886)</vt:lpstr>
      <vt:lpstr>Visual smoothing  Insight</vt:lpstr>
      <vt:lpstr>Visual insight  Theory (the OMG! moment)</vt:lpstr>
      <vt:lpstr>The data ellipse summarizes means, spread &amp; correlation – a sufficient visual summary for N(µ, Σ)</vt:lpstr>
      <vt:lpstr>Meet the penguins</vt:lpstr>
      <vt:lpstr>Data ellipses: Sufficient visual summary</vt:lpstr>
      <vt:lpstr>What if I'm not Normal?</vt:lpstr>
      <vt:lpstr>Simpson's paradox: marginal &amp; conditional relations</vt:lpstr>
      <vt:lpstr>Thinking about Penguin variables</vt:lpstr>
      <vt:lpstr>How to visualize p &gt; 2 variables in Planeland? Scatterplot matrices: all pairs at once</vt:lpstr>
      <vt:lpstr>Visual thinning: show less to see more Effect order: order variables to see what you want to show </vt:lpstr>
      <vt:lpstr>Parallel coordinates: one line per penguin</vt:lpstr>
      <vt:lpstr>Animated tours: flying through projections (tourr pkg)</vt:lpstr>
      <vt:lpstr>Flatland and Spaceland: dimension reduction</vt:lpstr>
      <vt:lpstr>PowerPoint Presentation</vt:lpstr>
      <vt:lpstr>PCA: rotate to the views that show the most variance</vt:lpstr>
      <vt:lpstr>PCA fitted by springs: Physical analog</vt:lpstr>
      <vt:lpstr>Biplots: observations and variables in one view</vt:lpstr>
      <vt:lpstr>Biplot: The data juicer</vt:lpstr>
      <vt:lpstr>When a linear view is not enough: PCA vs t-SNE</vt:lpstr>
      <vt:lpstr>From PCA to t-SNE, animated</vt:lpstr>
      <vt:lpstr>Elliptical Insights</vt:lpstr>
      <vt:lpstr>Outlier detection: Waar is Wally?</vt:lpstr>
      <vt:lpstr>Multivariate outliers: which penguins are unusual?</vt:lpstr>
      <vt:lpstr>Outliers hide in the smallest dimensions</vt:lpstr>
      <vt:lpstr>Elliptical insights: Measurement error</vt:lpstr>
      <vt:lpstr>Coffee, stress and heart disease</vt:lpstr>
      <vt:lpstr>Data space and beta space are dual</vt:lpstr>
      <vt:lpstr>Adding measurement error</vt:lpstr>
      <vt:lpstr>Understanding collinearity</vt:lpstr>
      <vt:lpstr>Ridge regression: shrink to gain precision</vt:lpstr>
      <vt:lpstr>The usual ridge trace shows only the estimates</vt:lpstr>
      <vt:lpstr>Generalized ridge trace plots</vt:lpstr>
      <vt:lpstr>A low-rank view of ridge regression</vt:lpstr>
      <vt:lpstr>A low-rank view of ridge regression</vt:lpstr>
      <vt:lpstr>The HE plot framework</vt:lpstr>
      <vt:lpstr>HE plots: Visual overview</vt:lpstr>
      <vt:lpstr>Data  Data ellipses  HE plot</vt:lpstr>
      <vt:lpstr>The H ellipse</vt:lpstr>
      <vt:lpstr>The E ellipse</vt:lpstr>
      <vt:lpstr>HE plots: Effect scaling vs. Significance scaling</vt:lpstr>
      <vt:lpstr>Contrasts &amp; linear hypotheses: What diffces make H big?</vt:lpstr>
      <vt:lpstr>HE pairs() plots</vt:lpstr>
      <vt:lpstr>Quantitative predictors: each effect is a line</vt:lpstr>
      <vt:lpstr>Canonical discriminant plots: The MANOVA juicer</vt:lpstr>
      <vt:lpstr>Linear discriminant analysis: main ideas</vt:lpstr>
      <vt:lpstr>Prediction regions in data space</vt:lpstr>
      <vt:lpstr>Biplot version of discriminant space</vt:lpstr>
      <vt:lpstr>Checking multivariate models</vt:lpstr>
      <vt:lpstr>Unusual is not the same as influential</vt:lpstr>
      <vt:lpstr>Who are the influential penguins?</vt:lpstr>
      <vt:lpstr>Robust MLMs: down-weight what does not fit</vt:lpstr>
      <vt:lpstr>Summary: A few visual ideas go a long way</vt:lpstr>
      <vt:lpstr>Book, code and packages</vt:lpstr>
      <vt:lpstr>Questions? Discussion?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Michael L Friendly</dc:creator>
  <cp:lastModifiedBy>Michael L Friendly</cp:lastModifiedBy>
  <cp:revision>124</cp:revision>
  <dcterms:created xsi:type="dcterms:W3CDTF">2026-10-06T18:00:03Z</dcterms:created>
  <dcterms:modified xsi:type="dcterms:W3CDTF">2026-10-28T18:11:37Z</dcterms:modified>
</cp:coreProperties>
</file>