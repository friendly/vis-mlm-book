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1596" y="66"/>
      </p:cViewPr>
      <p:guideLst/>
    </p:cSldViewPr>
  </p:slideViewPr>
  <p:notesTextViewPr>
    <p:cViewPr>
      <p:scale>
        <a:sx n="1" d="1"/>
        <a:sy n="1" d="1"/>
      </p:scale>
      <p:origin x="0" y="0"/>
    </p:cViewPr>
  </p:notesTextViewPr>
  <p:sorterViewPr>
    <p:cViewPr varScale="1">
      <p:scale>
        <a:sx n="100" d="100"/>
        <a:sy n="100" d="100"/>
      </p:scale>
      <p:origin x="0" y="-419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always be to help </a:t>
            </a:r>
            <a:r>
              <a:rPr lang="en-CA" b="1" dirty="0"/>
              <a:t>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book's subtitle is a nod to Abbott's 'Flatland: A Romance of Many Dimensions'. </a:t>
            </a:r>
            <a:endParaRPr lang="en-CA" dirty="0"/>
          </a:p>
          <a:p>
            <a:r>
              <a:rPr dirty="0"/>
              <a:t>The Flatlander sees only a slice of the sphere. </a:t>
            </a:r>
            <a:endParaRPr lang="en-CA" dirty="0"/>
          </a:p>
          <a:p>
            <a:r>
              <a:rPr dirty="0"/>
              <a:t>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example of a </a:t>
            </a:r>
            <a:r>
              <a:rPr lang="en-CA" dirty="0"/>
              <a:t>real </a:t>
            </a:r>
            <a:r>
              <a:rPr dirty="0"/>
              <a:t>scientific discovery that came from looking at data in more than two dimensions. </a:t>
            </a:r>
            <a:endParaRPr lang="en-CA" dirty="0"/>
          </a:p>
          <a:p>
            <a:r>
              <a:rPr dirty="0"/>
              <a:t>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table classifies linear model techniques by the number and type of responses and predictors. The right-hand column, multivariate responses, is where graphical methods have been thin.</a:t>
            </a:r>
            <a:endParaRPr lang="en-CA" dirty="0"/>
          </a:p>
          <a:p>
            <a:r>
              <a:rPr lang="en-CA" dirty="0"/>
              <a:t>The beauty of R formula notation is that it makes it easy to fit MLMs, just by adding additional responses to the LHS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by Pearson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40%, 68% and 95% coverage. </a:t>
            </a:r>
          </a:p>
          <a:p>
            <a:r>
              <a:rPr lang="en-CA" dirty="0"/>
              <a:t>The ellipse is the workhorse of the book: </a:t>
            </a:r>
          </a:p>
          <a:p>
            <a:r>
              <a:rPr lang="en-CA" dirty="0"/>
              <a:t>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a:p>
            <a:r>
              <a:rPr lang="en-CA" dirty="0"/>
              <a:t>Each is a useful visual summary under relaxed conditions</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Data comes to us as variables were measured: Height and weight, where maybe BMI is more important to your doctor.</a:t>
            </a:r>
          </a:p>
          <a:p>
            <a:r>
              <a:rPr lang="en-CA" dirty="0"/>
              <a:t>Thinking about what those variables really mean can help understanding</a:t>
            </a:r>
          </a:p>
        </p:txBody>
      </p:sp>
    </p:spTree>
    <p:extLst>
      <p:ext uri="{BB962C8B-B14F-4D97-AF65-F5344CB8AC3E}">
        <p14:creationId xmlns:p14="http://schemas.microsoft.com/office/powerpoint/2010/main" val="23709845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flavor in the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As I noted </a:t>
            </a:r>
            <a:r>
              <a:rPr dirty="0"/>
              <a:t>multivariate outliers often show up in the dimensions with the least variance.</a:t>
            </a:r>
            <a:endParaRPr lang="en-CA" dirty="0"/>
          </a:p>
          <a:p>
            <a:r>
              <a:rPr lang="en-CA" dirty="0"/>
              <a:t>In the biplot of dimensions 3-4 of the penguin data, variable vectors show how these dimensions relate to the data variables and also how outliers are unusual in the data</a:t>
            </a:r>
          </a:p>
          <a:p>
            <a:pPr marL="171450" indent="-171450">
              <a:buFont typeface="Arial" panose="020B0604020202020204" pitchFamily="34" charset="0"/>
              <a:buChar char="•"/>
            </a:pPr>
            <a:r>
              <a:rPr lang="en-CA" dirty="0"/>
              <a:t>PC3: largely bill length (right to left) – Cyrano &amp; Snub Nose are extremes</a:t>
            </a:r>
          </a:p>
          <a:p>
            <a:pPr marL="171450" indent="-171450">
              <a:buFont typeface="Arial" panose="020B0604020202020204" pitchFamily="34" charset="0"/>
              <a:buChar char="•"/>
            </a:pPr>
            <a:r>
              <a:rPr lang="en-CA" dirty="0"/>
              <a:t>PC4: body mass vs flipper length – Falstaff is the stoutest bird</a:t>
            </a:r>
          </a:p>
          <a:p>
            <a:pPr marL="171450" indent="-171450">
              <a:buFont typeface="Arial" panose="020B0604020202020204" pitchFamily="34" charset="0"/>
              <a:buChar char="•"/>
            </a:pPr>
            <a:endParaRPr lang="en-CA" dirty="0"/>
          </a:p>
          <a:p>
            <a:endParaRPr dirty="0"/>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lang="en-CA" dirty="0"/>
              <a:t>Covariance ellipses for the dimensions show how shrinkage affects each pair.</a:t>
            </a:r>
          </a:p>
          <a:p>
            <a:r>
              <a:rPr lang="en-CA" dirty="0"/>
              <a:t>Nothing of interest except in the last two dimensions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r>
              <a:rPr lang="en-CA" dirty="0"/>
              <a:t> shows clearly how precision is increased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my favorite topic for today--- how we can use these visual ideas to better understand the hypothesis tests we get in MLMs – MANOVA and MMRA</a:t>
            </a:r>
          </a:p>
        </p:txBody>
      </p:sp>
    </p:spTree>
    <p:extLst>
      <p:ext uri="{BB962C8B-B14F-4D97-AF65-F5344CB8AC3E}">
        <p14:creationId xmlns:p14="http://schemas.microsoft.com/office/powerpoint/2010/main" val="28056576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To simplify, I’ll use </a:t>
            </a:r>
            <a:r>
              <a:rPr lang="en-CA" dirty="0" err="1"/>
              <a:t>Mathscore</a:t>
            </a:r>
            <a:r>
              <a:rPr lang="en-CA" dirty="0"/>
              <a:t> data: two groups, basic math (BM) and word problems (WP). </a:t>
            </a:r>
          </a:p>
          <a:p>
            <a:r>
              <a:rPr lang="en-CA" dirty="0"/>
              <a:t>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H ellipse is the data ellipse of the fitted values; with 1 </a:t>
            </a:r>
            <a:r>
              <a:rPr lang="en-CA" dirty="0" err="1"/>
              <a:t>df</a:t>
            </a:r>
            <a:r>
              <a:rPr lang="en-CA" dirty="0"/>
              <a:t> it collapses to a line. </a:t>
            </a:r>
          </a:p>
        </p:txBody>
      </p:sp>
    </p:spTree>
    <p:extLst>
      <p:ext uri="{BB962C8B-B14F-4D97-AF65-F5344CB8AC3E}">
        <p14:creationId xmlns:p14="http://schemas.microsoft.com/office/powerpoint/2010/main" val="30671182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2026-10-27</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2026-10-27</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hyperlink" Target="https://friendly.github.io/blog/posts/2026-10-peng-altviews/" TargetMode="Externa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17.xml"/><Relationship Id="rId5" Type="http://schemas.openxmlformats.org/officeDocument/2006/relationships/hyperlink" Target="https://doi.org/10.1016/S0167-9473(02)00290-6" TargetMode="Externa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9.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57.wmf"/><Relationship Id="rId5" Type="http://schemas.openxmlformats.org/officeDocument/2006/relationships/image" Target="../media/image56.png"/><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5.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7.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9.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2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3.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7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77.png"/><Relationship Id="rId7" Type="http://schemas.openxmlformats.org/officeDocument/2006/relationships/image" Target="../media/image83.png"/><Relationship Id="rId2" Type="http://schemas.openxmlformats.org/officeDocument/2006/relationships/notesSlide" Target="../notesSlides/notesSlide47.xml"/><Relationship Id="rId1" Type="http://schemas.openxmlformats.org/officeDocument/2006/relationships/slideLayout" Target="../slideLayouts/slideLayout24.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4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8.xml"/><Relationship Id="rId1" Type="http://schemas.openxmlformats.org/officeDocument/2006/relationships/slideLayout" Target="../slideLayouts/slideLayout25.xml"/><Relationship Id="rId5" Type="http://schemas.openxmlformats.org/officeDocument/2006/relationships/image" Target="../media/image87.png"/><Relationship Id="rId4" Type="http://schemas.openxmlformats.org/officeDocument/2006/relationships/image" Target="../media/image86.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9.xml"/><Relationship Id="rId1" Type="http://schemas.openxmlformats.org/officeDocument/2006/relationships/slideLayout" Target="../slideLayouts/slideLayout25.xml"/><Relationship Id="rId6" Type="http://schemas.openxmlformats.org/officeDocument/2006/relationships/image" Target="../media/image89.wmf"/><Relationship Id="rId5" Type="http://schemas.openxmlformats.org/officeDocument/2006/relationships/oleObject" Target="../embeddings/oleObject1.bin"/><Relationship Id="rId4" Type="http://schemas.openxmlformats.org/officeDocument/2006/relationships/image" Target="../media/image88.png"/></Relationships>
</file>

<file path=ppt/slides/_rels/slide50.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2.wmf"/><Relationship Id="rId2" Type="http://schemas.openxmlformats.org/officeDocument/2006/relationships/notesSlide" Target="../notesSlides/notesSlide50.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1.png"/><Relationship Id="rId4" Type="http://schemas.openxmlformats.org/officeDocument/2006/relationships/image" Target="../media/image90.png"/></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5.xml"/><Relationship Id="rId1" Type="http://schemas.openxmlformats.org/officeDocument/2006/relationships/slideLayout" Target="../slideLayouts/slideLayout25.xml"/><Relationship Id="rId5" Type="http://schemas.openxmlformats.org/officeDocument/2006/relationships/image" Target="../media/image79.png"/><Relationship Id="rId4" Type="http://schemas.openxmlformats.org/officeDocument/2006/relationships/image" Target="../media/image96.png"/></Relationships>
</file>

<file path=ppt/slides/_rels/slide56.xml.rels><?xml version="1.0" encoding="UTF-8" standalone="yes"?>
<Relationships xmlns="http://schemas.openxmlformats.org/package/2006/relationships"><Relationship Id="rId3" Type="http://schemas.openxmlformats.org/officeDocument/2006/relationships/image" Target="../media/image97.jpg"/><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8.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2.png"/></Relationships>
</file>

<file path=ppt/slides/_rels/slide6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101.png"/></Relationships>
</file>

<file path=ppt/slides/_rels/slide61.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3.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5.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a:t>
            </a:r>
            <a:r>
              <a:rPr lang="en-CA" dirty="0"/>
              <a:t>Type 2 </a:t>
            </a:r>
            <a:r>
              <a:rPr dirty="0"/>
              <a:t>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r>
              <a:rPr lang="en-CA" dirty="0"/>
              <a:t>:</a:t>
            </a:r>
          </a:p>
          <a:p>
            <a:pPr lvl="1"/>
            <a:r>
              <a:rPr lang="en-CA" dirty="0"/>
              <a:t>Chemical (Prediabetes / Early Type 2)</a:t>
            </a:r>
          </a:p>
          <a:p>
            <a:pPr lvl="1"/>
            <a:r>
              <a:rPr lang="en-CA" dirty="0"/>
              <a:t>Overt (Advanced Type 2)</a:t>
            </a:r>
            <a:endParaRPr dirty="0"/>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sz="2800"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a:t>
            </a:r>
            <a:r>
              <a:rPr lang="en-US" dirty="0">
                <a:solidFill>
                  <a:srgbClr val="FF0000"/>
                </a:solidFill>
              </a:rPr>
              <a:t>precision</a:t>
            </a:r>
            <a:r>
              <a:rPr lang="en-US" dirty="0"/>
              <a:t> </a:t>
            </a:r>
            <a:r>
              <a:rPr lang="en-US" dirty="0">
                <a:sym typeface="Symbol" panose="05050102010706020507" pitchFamily="18" charset="2"/>
              </a:rPr>
              <a:t></a:t>
            </a:r>
            <a:r>
              <a:rPr lang="en-US" dirty="0"/>
              <a:t>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68000" cy="3948252"/>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392764" y="2785942"/>
            <a:ext cx="3168000"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1" y="2785942"/>
            <a:ext cx="3168000"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
        <p:nvSpPr>
          <p:cNvPr id="13" name="Worried face">
            <a:extLst>
              <a:ext uri="{FF2B5EF4-FFF2-40B4-BE49-F238E27FC236}">
                <a16:creationId xmlns:a16="http://schemas.microsoft.com/office/drawing/2014/main" id="{54066926-BAD8-9A1C-806A-1E0EFA284C07}"/>
              </a:ext>
            </a:extLst>
          </p:cNvPr>
          <p:cNvSpPr txBox="1"/>
          <p:nvPr/>
        </p:nvSpPr>
        <p:spPr>
          <a:xfrm>
            <a:off x="5039719" y="439410"/>
            <a:ext cx="528991" cy="461665"/>
          </a:xfrm>
          <a:prstGeom prst="rect">
            <a:avLst/>
          </a:prstGeom>
          <a:noFill/>
        </p:spPr>
        <p:txBody>
          <a:bodyPr vert="horz" wrap="none" lIns="0" tIns="0" rIns="0" bIns="0" rtlCol="0">
            <a:spAutoFit/>
          </a:bodyPr>
          <a:lstStyle/>
          <a:p>
            <a:r>
              <a:rPr lang="en-CA" sz="3000">
                <a:latin typeface="Segoe UI Emoji" panose="020B0502040204020203" pitchFamily="34" charset="0"/>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5"/>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a:t>
            </a:r>
            <a:r>
              <a:rPr dirty="0">
                <a:solidFill>
                  <a:srgbClr val="FF0000"/>
                </a:solidFill>
              </a:rPr>
              <a:t>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
        <p:nvSpPr>
          <p:cNvPr id="5" name="Effect order reference">
            <a:extLst>
              <a:ext uri="{FF2B5EF4-FFF2-40B4-BE49-F238E27FC236}">
                <a16:creationId xmlns:a16="http://schemas.microsoft.com/office/drawing/2014/main" id="{34D87412-A7F8-50F8-156F-7433F2E336A4}"/>
              </a:ext>
            </a:extLst>
          </p:cNvPr>
          <p:cNvSpPr/>
          <p:nvPr/>
        </p:nvSpPr>
        <p:spPr>
          <a:xfrm>
            <a:off x="838200" y="5712460"/>
            <a:ext cx="5334000" cy="701040"/>
          </a:xfrm>
          <a:prstGeom prst="roundRect">
            <a:avLst>
              <a:gd name="adj" fmla="val 12000"/>
            </a:avLst>
          </a:prstGeom>
          <a:solidFill>
            <a:srgbClr val="2E5EAA">
              <a:alpha val="22000"/>
            </a:srgbClr>
          </a:solidFill>
          <a:ln w="9525">
            <a:solidFill>
              <a:srgbClr val="2E5EAA"/>
            </a:solidFill>
          </a:ln>
        </p:spPr>
        <p:style>
          <a:lnRef idx="2">
            <a:schemeClr val="accent1">
              <a:shade val="15000"/>
            </a:schemeClr>
          </a:lnRef>
          <a:fillRef idx="1">
            <a:schemeClr val="accent1"/>
          </a:fillRef>
          <a:effectRef idx="0">
            <a:schemeClr val="accent1"/>
          </a:effectRef>
          <a:fontRef idx="minor">
            <a:schemeClr val="lt1"/>
          </a:fontRef>
        </p:style>
        <p:txBody>
          <a:bodyPr wrap="square" lIns="88900" tIns="50800" rIns="88900" bIns="50800" rtlCol="0" anchor="ctr">
            <a:spAutoFit/>
          </a:bodyPr>
          <a:lstStyle/>
          <a:p>
            <a:r>
              <a:rPr lang="en-CA" sz="1200">
                <a:solidFill>
                  <a:srgbClr val="262626"/>
                </a:solidFill>
                <a:latin typeface="Aptos" panose="020B0004020202020204" pitchFamily="34" charset="0"/>
              </a:rPr>
              <a:t>Friendly &amp; Kwan (2003). Effect ordering for data displays. </a:t>
            </a:r>
            <a:r>
              <a:rPr lang="en-CA" sz="1200" i="1">
                <a:solidFill>
                  <a:srgbClr val="262626"/>
                </a:solidFill>
                <a:latin typeface="Aptos" panose="020B0004020202020204" pitchFamily="34" charset="0"/>
              </a:rPr>
              <a:t>Computational Statistics &amp; Data Analysis</a:t>
            </a:r>
            <a:r>
              <a:rPr lang="en-CA" sz="1200">
                <a:solidFill>
                  <a:srgbClr val="262626"/>
                </a:solidFill>
                <a:latin typeface="Aptos" panose="020B0004020202020204" pitchFamily="34" charset="0"/>
              </a:rPr>
              <a:t>, </a:t>
            </a:r>
            <a:r>
              <a:rPr lang="en-CA" sz="1200" i="1">
                <a:solidFill>
                  <a:srgbClr val="262626"/>
                </a:solidFill>
                <a:latin typeface="Aptos" panose="020B0004020202020204" pitchFamily="34" charset="0"/>
              </a:rPr>
              <a:t>43</a:t>
            </a:r>
            <a:r>
              <a:rPr lang="en-CA" sz="1200">
                <a:solidFill>
                  <a:srgbClr val="262626"/>
                </a:solidFill>
                <a:latin typeface="Aptos" panose="020B0004020202020204" pitchFamily="34" charset="0"/>
              </a:rPr>
              <a:t>, 509–539.</a:t>
            </a:r>
            <a:br>
              <a:rPr lang="en-CA" sz="1200">
                <a:solidFill>
                  <a:srgbClr val="262626"/>
                </a:solidFill>
                <a:latin typeface="Aptos" panose="020B0004020202020204" pitchFamily="34" charset="0"/>
              </a:rPr>
            </a:br>
            <a:r>
              <a:rPr lang="en-CA" sz="1200">
                <a:solidFill>
                  <a:srgbClr val="262626"/>
                </a:solidFill>
                <a:latin typeface="Aptos" panose="020B0004020202020204" pitchFamily="34" charset="0"/>
                <a:hlinkClick r:id="rId5"/>
              </a:rPr>
              <a:t>https://doi.org/10.1016/S0167-9473(02)00290-6</a:t>
            </a:r>
            <a:endParaRPr lang="en-CA" sz="1200">
              <a:solidFill>
                <a:srgbClr val="262626"/>
              </a:solidFill>
              <a:latin typeface="Aptos" panose="020B00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1838960"/>
            <a:ext cx="5394960" cy="2539157"/>
          </a:xfrm>
          <a:prstGeom prst="rect">
            <a:avLst/>
          </a:prstGeom>
          <a:noFill/>
        </p:spPr>
        <p:txBody>
          <a:bodyPr wrap="square">
            <a:spAutoFit/>
          </a:bodyPr>
          <a:lstStyle/>
          <a:p>
            <a:r>
              <a:rPr sz="2400" dirty="0"/>
              <a:t>PCA is a rotation of the axes: </a:t>
            </a:r>
            <a:endParaRPr lang="en-CA" sz="2400" dirty="0"/>
          </a:p>
          <a:p>
            <a:pPr marL="342900" indent="-342900">
              <a:buFont typeface="Arial" panose="020B0604020202020204" pitchFamily="34" charset="0"/>
              <a:buChar char="•"/>
            </a:pPr>
            <a:r>
              <a:rPr sz="2400" dirty="0"/>
              <a:t>PC1 lies along the direction of greatest variance, </a:t>
            </a:r>
            <a:endParaRPr lang="en-CA" sz="2400" dirty="0"/>
          </a:p>
          <a:p>
            <a:pPr marL="342900" indent="-342900">
              <a:buFont typeface="Arial" panose="020B0604020202020204" pitchFamily="34" charset="0"/>
              <a:buChar char="•"/>
            </a:pPr>
            <a:r>
              <a:rPr sz="2400" dirty="0"/>
              <a:t>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4" name="Picture 6" descr="ggbiplot-logo.png">
            <a:extLst>
              <a:ext uri="{FF2B5EF4-FFF2-40B4-BE49-F238E27FC236}">
                <a16:creationId xmlns:a16="http://schemas.microsoft.com/office/drawing/2014/main" id="{2EB9E8A5-059D-D38A-5587-1C7FF6573BF4}"/>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lang="en-CA" dirty="0"/>
              <a:t>remains</a:t>
            </a:r>
            <a:endParaRPr dirty="0"/>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10960488" y="6018906"/>
            <a:ext cx="1025652" cy="261610"/>
          </a:xfrm>
          <a:prstGeom prst="rect">
            <a:avLst/>
          </a:prstGeom>
          <a:noFill/>
        </p:spPr>
        <p:txBody>
          <a:bodyPr wrap="square">
            <a:spAutoFit/>
          </a:bodyPr>
          <a:lstStyle/>
          <a:p>
            <a:r>
              <a:rPr sz="1100" dirty="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Snub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
        <p:nvSpPr>
          <p:cNvPr id="12" name="TextBox 11">
            <a:extLst>
              <a:ext uri="{FF2B5EF4-FFF2-40B4-BE49-F238E27FC236}">
                <a16:creationId xmlns:a16="http://schemas.microsoft.com/office/drawing/2014/main" id="{43BB1E9E-D7B4-CDB3-AA22-4F70955E1299}"/>
              </a:ext>
            </a:extLst>
          </p:cNvPr>
          <p:cNvSpPr txBox="1"/>
          <p:nvPr/>
        </p:nvSpPr>
        <p:spPr>
          <a:xfrm>
            <a:off x="10156043" y="1974771"/>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Falstaff</a:t>
            </a:r>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par>
                                    <p:cTn id="26" presetID="2" presetClass="entr" presetSubtype="4"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 calcmode="lin" valueType="num">
                                          <p:cBhvr additive="base">
                                            <p:cTn id="32" dur="500" fill="hold"/>
                                            <p:tgtEl>
                                              <p:spTgt spid="13"/>
                                            </p:tgtEl>
                                            <p:attrNameLst>
                                              <p:attrName>ppt_x</p:attrName>
                                            </p:attrNameLst>
                                          </p:cBhvr>
                                          <p:tavLst>
                                            <p:tav tm="0">
                                              <p:val>
                                                <p:strVal val="#ppt_x"/>
                                              </p:val>
                                            </p:tav>
                                            <p:tav tm="100000">
                                              <p:val>
                                                <p:strVal val="#ppt_x"/>
                                              </p:val>
                                            </p:tav>
                                          </p:tavLst>
                                        </p:anim>
                                        <p:anim calcmode="lin" valueType="num">
                                          <p:cBhvr additive="base">
                                            <p:cTn id="33" dur="500" fill="hold"/>
                                            <p:tgtEl>
                                              <p:spTgt spid="13"/>
                                            </p:tgtEl>
                                            <p:attrNameLst>
                                              <p:attrName>ppt_y</p:attrName>
                                            </p:attrNameLst>
                                          </p:cBhvr>
                                          <p:tavLst>
                                            <p:tav tm="0">
                                              <p:val>
                                                <p:strVal val="1+#ppt_h/2"/>
                                              </p:val>
                                            </p:tav>
                                            <p:tav tm="100000">
                                              <p:val>
                                                <p:strVal val="#ppt_y"/>
                                              </p:val>
                                            </p:tav>
                                          </p:tavLst>
                                        </p:anim>
                                      </p:childTnLst>
                                    </p:cTn>
                                  </p:par>
                                  <p:par>
                                    <p:cTn id="34" presetID="2" presetClass="entr" presetSubtype="1"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rPr lang="en-CA" dirty="0"/>
              <a:t>Penalize large </a:t>
            </a:r>
            <a:r>
              <a:rPr dirty="0"/>
              <a:t>coefficients</a:t>
            </a:r>
            <a:endParaRPr lang="en-CA" dirty="0"/>
          </a:p>
          <a:p>
            <a:endParaRPr lang="en-CA" dirty="0"/>
          </a:p>
          <a:p>
            <a:pPr marL="0" indent="0">
              <a:buNone/>
            </a:pPr>
            <a:endParaRPr dirty="0"/>
          </a:p>
          <a:p>
            <a:r>
              <a:rPr dirty="0"/>
              <a:t>The estimate moves from the OLS solution toward the origin</a:t>
            </a:r>
            <a:endParaRPr lang="en-CA" dirty="0"/>
          </a:p>
          <a:p>
            <a:pPr marL="0" indent="0">
              <a:buNone/>
            </a:pPr>
            <a:endParaRPr dirty="0"/>
          </a:p>
          <a:p>
            <a:endParaRPr lang="en-CA" dirty="0"/>
          </a:p>
          <a:p>
            <a:r>
              <a:rPr dirty="0"/>
              <a:t>A little bias buys a lot of precision</a:t>
            </a:r>
            <a:endParaRPr lang="en-CA" dirty="0"/>
          </a:p>
          <a:p>
            <a:r>
              <a:rPr lang="en-CA" dirty="0"/>
              <a:t>But how can we see this?</a:t>
            </a:r>
            <a:endParaRPr dirty="0"/>
          </a:p>
        </p:txBody>
      </p:sp>
      <p:pic>
        <p:nvPicPr>
          <p:cNvPr id="4" name="Picture 3" descr="ridge-demo.png"/>
          <p:cNvPicPr>
            <a:picLocks noChangeAspect="1"/>
          </p:cNvPicPr>
          <p:nvPr/>
        </p:nvPicPr>
        <p:blipFill>
          <a:blip r:embed="rId3"/>
          <a:stretch>
            <a:fillRect/>
          </a:stretch>
        </p:blipFill>
        <p:spPr>
          <a:xfrm>
            <a:off x="71541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pic>
        <p:nvPicPr>
          <p:cNvPr id="9" name="Picture 8">
            <a:extLst>
              <a:ext uri="{FF2B5EF4-FFF2-40B4-BE49-F238E27FC236}">
                <a16:creationId xmlns:a16="http://schemas.microsoft.com/office/drawing/2014/main" id="{06BB3B1E-62D5-F501-2F5B-B0FE38DF84E2}"/>
              </a:ext>
            </a:extLst>
          </p:cNvPr>
          <p:cNvPicPr>
            <a:picLocks noChangeAspect="1"/>
          </p:cNvPicPr>
          <p:nvPr/>
        </p:nvPicPr>
        <p:blipFill>
          <a:blip r:embed="rId5"/>
          <a:stretch>
            <a:fillRect/>
          </a:stretch>
        </p:blipFill>
        <p:spPr>
          <a:xfrm>
            <a:off x="1109060" y="2166937"/>
            <a:ext cx="4639880" cy="512763"/>
          </a:xfrm>
          <a:prstGeom prst="rect">
            <a:avLst/>
          </a:prstGeom>
        </p:spPr>
      </p:pic>
      <p:pic>
        <p:nvPicPr>
          <p:cNvPr id="11" name="Picture 10">
            <a:extLst>
              <a:ext uri="{FF2B5EF4-FFF2-40B4-BE49-F238E27FC236}">
                <a16:creationId xmlns:a16="http://schemas.microsoft.com/office/drawing/2014/main" id="{1D9680AE-D87E-4B0F-4CB1-68B664499F24}"/>
              </a:ext>
            </a:extLst>
          </p:cNvPr>
          <p:cNvPicPr>
            <a:picLocks noChangeAspect="1"/>
          </p:cNvPicPr>
          <p:nvPr/>
        </p:nvPicPr>
        <p:blipFill>
          <a:blip r:embed="rId6"/>
          <a:stretch>
            <a:fillRect/>
          </a:stretch>
        </p:blipFill>
        <p:spPr>
          <a:xfrm>
            <a:off x="1506716" y="3717448"/>
            <a:ext cx="3844568" cy="71088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470400" cy="4533900"/>
          </a:xfrm>
        </p:spPr>
        <p:txBody>
          <a:bodyPr/>
          <a:lstStyle/>
          <a:p>
            <a:r>
              <a:rPr dirty="0"/>
              <a:t>Longley data: six highly collinear economic predictors</a:t>
            </a:r>
          </a:p>
          <a:p>
            <a:r>
              <a:rPr dirty="0"/>
              <a:t>Coefficients plotted against shrinkage constant</a:t>
            </a:r>
            <a:r>
              <a:rPr lang="en-CA" dirty="0"/>
              <a:t> (k)</a:t>
            </a:r>
            <a:endParaRPr dirty="0"/>
          </a:p>
          <a:p>
            <a:r>
              <a:rPr dirty="0"/>
              <a:t>Shows the bias, but nothing about precision</a:t>
            </a:r>
            <a:endParaRPr lang="en-CA" dirty="0"/>
          </a:p>
          <a:p>
            <a:r>
              <a:rPr lang="en-CA" dirty="0"/>
              <a:t>The wrong plot for a multivariate problem</a:t>
            </a:r>
            <a:endParaRPr dirty="0"/>
          </a:p>
        </p:txBody>
      </p:sp>
      <p:pic>
        <p:nvPicPr>
          <p:cNvPr id="4" name="Picture 3" descr="fig-longley-traceplot1-1.png"/>
          <p:cNvPicPr>
            <a:picLocks noChangeAspect="1"/>
          </p:cNvPicPr>
          <p:nvPr/>
        </p:nvPicPr>
        <p:blipFill>
          <a:blip r:embed="rId3"/>
          <a:stretch>
            <a:fillRect/>
          </a:stretch>
        </p:blipFill>
        <p:spPr>
          <a:xfrm>
            <a:off x="54639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Picture 7" descr="logo.png">
            <a:extLst>
              <a:ext uri="{FF2B5EF4-FFF2-40B4-BE49-F238E27FC236}">
                <a16:creationId xmlns:a16="http://schemas.microsoft.com/office/drawing/2014/main" id="{BC3BF6D1-6AE7-ECA1-86CB-536D5A53B829}"/>
              </a:ext>
            </a:extLst>
          </p:cNvPr>
          <p:cNvPicPr>
            <a:picLocks noChangeAspect="1"/>
          </p:cNvPicPr>
          <p:nvPr/>
        </p:nvPicPr>
        <p:blipFill>
          <a:blip r:embed="rId6"/>
          <a:stretch>
            <a:fillRect/>
          </a:stretch>
        </p:blipFill>
        <p:spPr>
          <a:xfrm>
            <a:off x="10788650" y="3114198"/>
            <a:ext cx="787790" cy="9144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a:t>
            </a:r>
            <a:r>
              <a:rPr lang="en-US" sz="1800" b="1" dirty="0"/>
              <a:t>how big is H relative to E</a:t>
            </a:r>
            <a:r>
              <a:rPr lang="en-US" sz="1800" dirty="0"/>
              <a:t>” – that’s all that Wilks’ </a:t>
            </a:r>
            <a:r>
              <a:rPr lang="el-GR" sz="1800" dirty="0"/>
              <a:t>Λ</a:t>
            </a:r>
            <a:r>
              <a:rPr lang="en-CA" sz="1800" dirty="0"/>
              <a:t> and other tests care about</a:t>
            </a:r>
            <a:endParaRPr lang="en-US" sz="1800" dirty="0"/>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77400" y="1641236"/>
            <a:ext cx="2006600" cy="1169551"/>
          </a:xfrm>
          <a:prstGeom prst="rect">
            <a:avLst/>
          </a:prstGeom>
          <a:noFill/>
        </p:spPr>
        <p:txBody>
          <a:bodyPr wrap="square" rtlCol="0">
            <a:spAutoFit/>
          </a:bodyPr>
          <a:lstStyle/>
          <a:p>
            <a:r>
              <a:rPr lang="en-US" sz="1400" dirty="0"/>
              <a:t>Jittered fitted values</a:t>
            </a:r>
          </a:p>
          <a:p>
            <a:r>
              <a:rPr lang="en-US" sz="1400" dirty="0"/>
              <a:t>(</a:t>
            </a:r>
            <a:r>
              <a:rPr lang="en-US" sz="1400" dirty="0" err="1"/>
              <a:t>gp</a:t>
            </a:r>
            <a:r>
              <a:rPr lang="en-US" sz="1400" dirty="0"/>
              <a:t> means)</a:t>
            </a:r>
          </a:p>
          <a:p>
            <a:endParaRPr lang="en-US" sz="1400" dirty="0"/>
          </a:p>
          <a:p>
            <a:r>
              <a:rPr lang="en-US" sz="1400" b="1" dirty="0"/>
              <a:t>H</a:t>
            </a:r>
            <a:r>
              <a:rPr lang="en-US" sz="1400" dirty="0"/>
              <a:t> ellipse is a line (1 </a:t>
            </a:r>
            <a:r>
              <a:rPr lang="en-US" sz="1400" dirty="0" err="1"/>
              <a:t>df</a:t>
            </a:r>
            <a:r>
              <a:rPr lang="en-US" sz="1400" dirty="0"/>
              <a:t>)</a:t>
            </a:r>
          </a:p>
          <a:p>
            <a:endParaRPr lang="en-US" sz="1400" dirty="0"/>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cxnSp>
        <p:nvCxnSpPr>
          <p:cNvPr id="13" name="Straight Arrow Connector 12">
            <a:extLst>
              <a:ext uri="{FF2B5EF4-FFF2-40B4-BE49-F238E27FC236}">
                <a16:creationId xmlns:a16="http://schemas.microsoft.com/office/drawing/2014/main" id="{2E2F7F2D-2F7A-0CD1-45C8-64CA415671A6}"/>
              </a:ext>
            </a:extLst>
          </p:cNvPr>
          <p:cNvCxnSpPr/>
          <p:nvPr/>
        </p:nvCxnSpPr>
        <p:spPr>
          <a:xfrm flipH="1">
            <a:off x="8407400" y="2443400"/>
            <a:ext cx="1270000" cy="312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4165600"/>
            <a:ext cx="10515600" cy="1377462"/>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5300" y="1314938"/>
            <a:ext cx="2520000" cy="2520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0" y="1314938"/>
            <a:ext cx="2520000" cy="2520000"/>
          </a:xfrm>
          <a:prstGeom prst="rect">
            <a:avLst/>
          </a:prstGeom>
        </p:spPr>
      </p:pic>
      <p:cxnSp>
        <p:nvCxnSpPr>
          <p:cNvPr id="8" name="Straight Arrow Connector 7"/>
          <p:cNvCxnSpPr/>
          <p:nvPr/>
        </p:nvCxnSpPr>
        <p:spPr>
          <a:xfrm>
            <a:off x="40640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520000" cy="2520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793821314"/>
              </p:ext>
            </p:extLst>
          </p:nvPr>
        </p:nvGraphicFramePr>
        <p:xfrm>
          <a:off x="4138800" y="57335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7335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7037</TotalTime>
  <Words>6072</Words>
  <Application>Microsoft Office PowerPoint</Application>
  <PresentationFormat>Widescreen</PresentationFormat>
  <Paragraphs>625</Paragraphs>
  <Slides>65</Slides>
  <Notes>63</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8" baseType="lpstr">
      <vt:lpstr>Aptos</vt:lpstr>
      <vt:lpstr>Aptos Display</vt:lpstr>
      <vt:lpstr>Arial</vt:lpstr>
      <vt:lpstr>Cambria Math</vt:lpstr>
      <vt:lpstr>Consolas</vt:lpstr>
      <vt:lpstr>Courier New</vt:lpstr>
      <vt:lpstr>Lucida Console</vt:lpstr>
      <vt:lpstr>Matura MT Script Capitals</vt:lpstr>
      <vt:lpstr>Segoe UI Emoji</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Type 2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99</cp:revision>
  <dcterms:created xsi:type="dcterms:W3CDTF">2026-10-06T18:00:03Z</dcterms:created>
  <dcterms:modified xsi:type="dcterms:W3CDTF">2026-10-27T20:43:39Z</dcterms:modified>
</cp:coreProperties>
</file>