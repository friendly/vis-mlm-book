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1596" y="66"/>
      </p:cViewPr>
      <p:guideLst/>
    </p:cSldViewPr>
  </p:slideViewPr>
  <p:notesTextViewPr>
    <p:cViewPr>
      <p:scale>
        <a:sx n="1" d="1"/>
        <a:sy n="1" d="1"/>
      </p:scale>
      <p:origin x="0" y="0"/>
    </p:cViewPr>
  </p:notesTextViewPr>
  <p:sorterViewPr>
    <p:cViewPr varScale="1">
      <p:scale>
        <a:sx n="100" d="100"/>
        <a:sy n="100" d="100"/>
      </p:scale>
      <p:origin x="0" y="-978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flavor in the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a:t>
            </a:r>
            <a:r>
              <a:rPr lang="en-CA" b="1" dirty="0"/>
              <a:t>statistical practice </a:t>
            </a:r>
            <a:r>
              <a:rPr lang="en-CA" dirty="0"/>
              <a:t>–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0" indent="0">
              <a:buFont typeface="Arial" panose="020B0604020202020204" pitchFamily="34" charset="0"/>
              <a:buNone/>
            </a:pPr>
            <a:r>
              <a:rPr lang="en-CA" dirty="0"/>
              <a:t>That’s how they got their names!</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lang="en-CA" dirty="0"/>
              <a:t>This shows why stress is significant in the full model, but coffee is not</a:t>
            </a:r>
          </a:p>
          <a:p>
            <a:endParaRPr lang="en-CA" dirty="0"/>
          </a:p>
          <a:p>
            <a:r>
              <a:rPr lang="en-CA" dirty="0"/>
              <a:t>(</a:t>
            </a:r>
            <a:r>
              <a:rPr dirty="0"/>
              <a:t>This sets up collinearity.</a:t>
            </a:r>
            <a:r>
              <a:rPr lang="en-CA"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hyperlink" Target="https://friendly.github.io/blog/posts/2026-10-peng-altviews/" TargetMode="Externa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17.xml"/><Relationship Id="rId5" Type="http://schemas.openxmlformats.org/officeDocument/2006/relationships/hyperlink" Target="https://doi.org/10.1016/S0167-9473(02)00290-6" TargetMode="Externa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7.wmf"/><Relationship Id="rId5" Type="http://schemas.openxmlformats.org/officeDocument/2006/relationships/image" Target="../media/image56.png"/><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21.xml"/><Relationship Id="rId5" Type="http://schemas.openxmlformats.org/officeDocument/2006/relationships/hyperlink" Target="https://friendly.github.io/blog/posts/2026-10-peng-names/" TargetMode="External"/><Relationship Id="rId4" Type="http://schemas.openxmlformats.org/officeDocument/2006/relationships/image" Target="../media/image61.png"/></Relationships>
</file>

<file path=ppt/slides/_rels/slide3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7" Type="http://schemas.openxmlformats.org/officeDocument/2006/relationships/image" Target="../media/image76.png"/><Relationship Id="rId2" Type="http://schemas.openxmlformats.org/officeDocument/2006/relationships/notesSlide" Target="../notesSlides/notesSlide43.xml"/><Relationship Id="rId1" Type="http://schemas.openxmlformats.org/officeDocument/2006/relationships/slideLayout" Target="../slideLayouts/slideLayout21.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1.pn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79.png"/><Relationship Id="rId7" Type="http://schemas.openxmlformats.org/officeDocument/2006/relationships/image" Target="../media/image85.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4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9.png"/><Relationship Id="rId4" Type="http://schemas.openxmlformats.org/officeDocument/2006/relationships/image" Target="../media/image88.png"/></Relationships>
</file>

<file path=ppt/slides/_rels/slide4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91.wmf"/><Relationship Id="rId5" Type="http://schemas.openxmlformats.org/officeDocument/2006/relationships/oleObject" Target="../embeddings/oleObject1.bin"/><Relationship Id="rId4" Type="http://schemas.openxmlformats.org/officeDocument/2006/relationships/image" Target="../media/image90.png"/></Relationships>
</file>

<file path=ppt/slides/_rels/slide5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4.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3.png"/><Relationship Id="rId4" Type="http://schemas.openxmlformats.org/officeDocument/2006/relationships/image" Target="../media/image92.png"/></Relationships>
</file>

<file path=ppt/slides/_rels/slide5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81.png"/><Relationship Id="rId4" Type="http://schemas.openxmlformats.org/officeDocument/2006/relationships/image" Target="../media/image98.png"/></Relationships>
</file>

<file path=ppt/slides/_rels/slide56.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4.png"/></Relationships>
</file>

<file path=ppt/slides/_rels/slide6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3.png"/></Relationships>
</file>

<file path=ppt/slides/_rels/slide6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7.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sz="2800"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a:t>
            </a:r>
            <a:r>
              <a:rPr dirty="0">
                <a:solidFill>
                  <a:srgbClr val="FF0000"/>
                </a:solidFill>
              </a:rPr>
              <a:t>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
        <p:nvSpPr>
          <p:cNvPr id="5" name="Effect order reference">
            <a:extLst>
              <a:ext uri="{FF2B5EF4-FFF2-40B4-BE49-F238E27FC236}">
                <a16:creationId xmlns:a16="http://schemas.microsoft.com/office/drawing/2014/main" id="{34D87412-A7F8-50F8-156F-7433F2E336A4}"/>
              </a:ext>
            </a:extLst>
          </p:cNvPr>
          <p:cNvSpPr/>
          <p:nvPr/>
        </p:nvSpPr>
        <p:spPr>
          <a:xfrm>
            <a:off x="838200" y="5712460"/>
            <a:ext cx="5334000" cy="701040"/>
          </a:xfrm>
          <a:prstGeom prst="roundRect">
            <a:avLst>
              <a:gd name="adj" fmla="val 12000"/>
            </a:avLst>
          </a:prstGeom>
          <a:solidFill>
            <a:srgbClr val="2E5EAA">
              <a:alpha val="22000"/>
            </a:srgbClr>
          </a:solidFill>
          <a:ln w="9525">
            <a:solidFill>
              <a:srgbClr val="2E5EAA"/>
            </a:solidFill>
          </a:ln>
        </p:spPr>
        <p:style>
          <a:lnRef idx="2">
            <a:schemeClr val="accent1">
              <a:shade val="15000"/>
            </a:schemeClr>
          </a:lnRef>
          <a:fillRef idx="1">
            <a:schemeClr val="accent1"/>
          </a:fillRef>
          <a:effectRef idx="0">
            <a:schemeClr val="accent1"/>
          </a:effectRef>
          <a:fontRef idx="minor">
            <a:schemeClr val="lt1"/>
          </a:fontRef>
        </p:style>
        <p:txBody>
          <a:bodyPr wrap="square" lIns="88900" tIns="50800" rIns="88900" bIns="50800" rtlCol="0" anchor="ctr">
            <a:spAutoFit/>
          </a:bodyPr>
          <a:lstStyle/>
          <a:p>
            <a:r>
              <a:rPr lang="en-CA" sz="1200">
                <a:solidFill>
                  <a:srgbClr val="262626"/>
                </a:solidFill>
                <a:latin typeface="Aptos" panose="020B0004020202020204" pitchFamily="34" charset="0"/>
              </a:rPr>
              <a:t>Friendly &amp; Kwan (2003). Effect ordering for data displays. </a:t>
            </a:r>
            <a:r>
              <a:rPr lang="en-CA" sz="1200" i="1">
                <a:solidFill>
                  <a:srgbClr val="262626"/>
                </a:solidFill>
                <a:latin typeface="Aptos" panose="020B0004020202020204" pitchFamily="34" charset="0"/>
              </a:rPr>
              <a:t>Computational Statistics &amp; Data Analysis</a:t>
            </a:r>
            <a:r>
              <a:rPr lang="en-CA" sz="1200">
                <a:solidFill>
                  <a:srgbClr val="262626"/>
                </a:solidFill>
                <a:latin typeface="Aptos" panose="020B0004020202020204" pitchFamily="34" charset="0"/>
              </a:rPr>
              <a:t>, </a:t>
            </a:r>
            <a:r>
              <a:rPr lang="en-CA" sz="1200" i="1">
                <a:solidFill>
                  <a:srgbClr val="262626"/>
                </a:solidFill>
                <a:latin typeface="Aptos" panose="020B0004020202020204" pitchFamily="34" charset="0"/>
              </a:rPr>
              <a:t>43</a:t>
            </a:r>
            <a:r>
              <a:rPr lang="en-CA" sz="1200">
                <a:solidFill>
                  <a:srgbClr val="262626"/>
                </a:solidFill>
                <a:latin typeface="Aptos" panose="020B0004020202020204" pitchFamily="34" charset="0"/>
              </a:rPr>
              <a:t>, 509–539.</a:t>
            </a:r>
            <a:br>
              <a:rPr lang="en-CA" sz="1200">
                <a:solidFill>
                  <a:srgbClr val="262626"/>
                </a:solidFill>
                <a:latin typeface="Aptos" panose="020B0004020202020204" pitchFamily="34" charset="0"/>
              </a:rPr>
            </a:br>
            <a:r>
              <a:rPr lang="en-CA" sz="1200">
                <a:solidFill>
                  <a:srgbClr val="262626"/>
                </a:solidFill>
                <a:latin typeface="Aptos" panose="020B0004020202020204" pitchFamily="34" charset="0"/>
                <a:hlinkClick r:id="rId5"/>
              </a:rPr>
              <a:t>https://doi.org/10.1016/S0167-9473(02)00290-6</a:t>
            </a:r>
            <a:endParaRPr lang="en-CA" sz="1200">
              <a:solidFill>
                <a:srgbClr val="262626"/>
              </a:solidFill>
              <a:latin typeface="Aptos" panose="020B00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1838960"/>
            <a:ext cx="5394960" cy="2539157"/>
          </a:xfrm>
          <a:prstGeom prst="rect">
            <a:avLst/>
          </a:prstGeom>
          <a:noFill/>
        </p:spPr>
        <p:txBody>
          <a:bodyPr wrap="square">
            <a:spAutoFit/>
          </a:bodyPr>
          <a:lstStyle/>
          <a:p>
            <a:r>
              <a:rPr sz="2400" dirty="0"/>
              <a:t>PCA is a rotation of the axes: </a:t>
            </a:r>
            <a:endParaRPr lang="en-CA" sz="2400" dirty="0"/>
          </a:p>
          <a:p>
            <a:pPr marL="342900" indent="-342900">
              <a:buFont typeface="Arial" panose="020B0604020202020204" pitchFamily="34" charset="0"/>
              <a:buChar char="•"/>
            </a:pPr>
            <a:r>
              <a:rPr sz="2400" dirty="0"/>
              <a:t>PC1 lies along the direction of greatest variance, </a:t>
            </a:r>
            <a:endParaRPr lang="en-CA" sz="2400" dirty="0"/>
          </a:p>
          <a:p>
            <a:pPr marL="342900" indent="-342900">
              <a:buFont typeface="Arial" panose="020B0604020202020204" pitchFamily="34" charset="0"/>
              <a:buChar char="•"/>
            </a:pPr>
            <a:r>
              <a:rPr sz="2400" dirty="0"/>
              <a:t>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123658"/>
          </a:xfrm>
          <a:prstGeom prst="rect">
            <a:avLst/>
          </a:prstGeom>
          <a:noFill/>
        </p:spPr>
        <p:txBody>
          <a:bodyPr wrap="square" rtlCol="0">
            <a:spAutoFit/>
          </a:bodyPr>
          <a:lstStyle/>
          <a:p>
            <a:r>
              <a:rPr lang="en-US" dirty="0"/>
              <a:t>PC1, PC2 ~ 88.1% of variance </a:t>
            </a:r>
            <a:r>
              <a:rPr lang="en-US" sz="2400" dirty="0">
                <a:solidFill>
                  <a:srgbClr val="00B050"/>
                </a:solidFill>
                <a:sym typeface="Wingdings" panose="05000000000000000000" pitchFamily="2" charset="2"/>
              </a:rPr>
              <a:t></a:t>
            </a:r>
            <a:endParaRPr lang="en-US" sz="2400" dirty="0">
              <a:solidFill>
                <a:srgbClr val="00B050"/>
              </a:solidFill>
            </a:endParaRP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4" name="Picture 6" descr="ggbiplot-logo.png">
            <a:extLst>
              <a:ext uri="{FF2B5EF4-FFF2-40B4-BE49-F238E27FC236}">
                <a16:creationId xmlns:a16="http://schemas.microsoft.com/office/drawing/2014/main" id="{2EB9E8A5-059D-D38A-5587-1C7FF6573BF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univariate views, but become readily apparent on the </a:t>
            </a:r>
            <a:r>
              <a:rPr lang="en-US" i="1" dirty="0">
                <a:solidFill>
                  <a:srgbClr val="FF0000"/>
                </a:solidFill>
              </a:rPr>
              <a:t>smallest</a:t>
            </a:r>
            <a:r>
              <a:rPr lang="en-US" dirty="0"/>
              <a:t> principal component(s)</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
        <p:nvSpPr>
          <p:cNvPr id="7" name="Blog link">
            <a:extLst>
              <a:ext uri="{FF2B5EF4-FFF2-40B4-BE49-F238E27FC236}">
                <a16:creationId xmlns:a16="http://schemas.microsoft.com/office/drawing/2014/main" id="{5F2E6856-5EBD-FDB1-2467-0A219B7FF9A2}"/>
              </a:ext>
            </a:extLst>
          </p:cNvPr>
          <p:cNvSpPr txBox="1"/>
          <p:nvPr/>
        </p:nvSpPr>
        <p:spPr>
          <a:xfrm>
            <a:off x="2224587" y="6062990"/>
            <a:ext cx="7742825" cy="261610"/>
          </a:xfrm>
          <a:prstGeom prst="rect">
            <a:avLst/>
          </a:prstGeom>
          <a:noFill/>
          <a:ln w="9525">
            <a:solidFill>
              <a:srgbClr val="8C8C8C"/>
            </a:solidFill>
          </a:ln>
        </p:spPr>
        <p:txBody>
          <a:bodyPr vert="horz" wrap="none" lIns="88900" tIns="38100" rIns="88900" bIns="38100" rtlCol="0">
            <a:spAutoFit/>
          </a:bodyPr>
          <a:lstStyle/>
          <a:p>
            <a:r>
              <a:rPr lang="en-CA" sz="1200">
                <a:solidFill>
                  <a:srgbClr val="262626"/>
                </a:solidFill>
                <a:latin typeface="Aptos" panose="020B0004020202020204" pitchFamily="34" charset="0"/>
              </a:rPr>
              <a:t>Blog: </a:t>
            </a:r>
            <a:r>
              <a:rPr lang="en-CA" sz="1200" i="1">
                <a:solidFill>
                  <a:srgbClr val="262626"/>
                </a:solidFill>
                <a:latin typeface="Aptos" panose="020B0004020202020204" pitchFamily="34" charset="0"/>
              </a:rPr>
              <a:t>Palmer Penguins Cry Out: “Call Me by My Name”</a:t>
            </a:r>
            <a:r>
              <a:rPr lang="en-CA" sz="1200">
                <a:solidFill>
                  <a:srgbClr val="262626"/>
                </a:solidFill>
                <a:latin typeface="Aptos" panose="020B0004020202020204" pitchFamily="34" charset="0"/>
              </a:rPr>
              <a:t>   </a:t>
            </a:r>
            <a:r>
              <a:rPr lang="en-CA" sz="1200">
                <a:solidFill>
                  <a:srgbClr val="262626"/>
                </a:solidFill>
                <a:latin typeface="Aptos" panose="020B0004020202020204" pitchFamily="34" charset="0"/>
                <a:hlinkClick r:id="rId5"/>
              </a:rPr>
              <a:t>https://friendly.github.io/blog/posts/2026-10-peng-names/</a:t>
            </a:r>
            <a:endParaRPr lang="en-CA" sz="1200">
              <a:solidFill>
                <a:srgbClr val="262626"/>
              </a:solidFill>
              <a:latin typeface="Aptos" panose="020B00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Biplot: </a:t>
            </a:r>
            <a:r>
              <a:rPr lang="en-CA" dirty="0">
                <a:solidFill>
                  <a:srgbClr val="FF0000"/>
                </a:solidFill>
                <a:sym typeface="Symbol" panose="05050102010706020507" pitchFamily="18" charset="2"/>
              </a:rPr>
              <a:t>why they’re weird</a:t>
            </a:r>
            <a:endParaRPr lang="en-CA" dirty="0">
              <a:solidFill>
                <a:srgbClr val="FF0000"/>
              </a:solidFill>
            </a:endParaRPr>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a:t>
            </a:r>
            <a:r>
              <a:rPr lang="en-US" dirty="0">
                <a:solidFill>
                  <a:srgbClr val="FF0000"/>
                </a:solidFill>
              </a:rPr>
              <a:t>fixed</a:t>
            </a:r>
            <a:r>
              <a:rPr lang="en-US" dirty="0"/>
              <a:t> (non-random), or </a:t>
            </a:r>
            <a:r>
              <a:rPr lang="en-US" dirty="0">
                <a:solidFill>
                  <a:srgbClr val="FF0000"/>
                </a:solidFill>
              </a:rPr>
              <a:t>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 </a:t>
            </a:r>
            <a:r>
              <a:rPr lang="en-US" dirty="0"/>
              <a:t>(variance</a:t>
            </a:r>
            <a:r>
              <a:rPr lang="en-US" baseline="30000" dirty="0"/>
              <a:t>-1</a:t>
            </a:r>
            <a:r>
              <a:rPr lang="en-US" dirty="0"/>
              <a:t>)</a:t>
            </a:r>
            <a:endParaRPr lang="en-US" dirty="0">
              <a:solidFill>
                <a:srgbClr val="FF0000"/>
              </a:solidFill>
            </a:endParaRP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642600" cy="369332"/>
          </a:xfrm>
          <a:prstGeom prst="rect">
            <a:avLst/>
          </a:prstGeom>
          <a:noFill/>
        </p:spPr>
        <p:txBody>
          <a:bodyPr wrap="square">
            <a:spAutoFit/>
          </a:bodyPr>
          <a:lstStyle/>
          <a:p>
            <a:r>
              <a:rPr sz="1800" dirty="0"/>
              <a:t>The </a:t>
            </a:r>
            <a:r>
              <a:rPr lang="en-CA" sz="1800" b="1" dirty="0"/>
              <a:t>data ellipse </a:t>
            </a:r>
            <a:r>
              <a:rPr lang="en-CA" sz="1800" dirty="0"/>
              <a:t>for the predictors (</a:t>
            </a:r>
            <a:r>
              <a:rPr lang="en-CA" sz="1800" b="1" dirty="0"/>
              <a:t>X’X</a:t>
            </a:r>
            <a:r>
              <a:rPr lang="en-CA" sz="1800" dirty="0"/>
              <a:t>) is the inverse of the </a:t>
            </a:r>
            <a:r>
              <a:rPr sz="1800" b="1" dirty="0"/>
              <a:t>confidence ellipse </a:t>
            </a:r>
            <a:r>
              <a:rPr sz="1800" dirty="0"/>
              <a:t>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
        <p:nvSpPr>
          <p:cNvPr id="11" name="TextBox 10">
            <a:extLst>
              <a:ext uri="{FF2B5EF4-FFF2-40B4-BE49-F238E27FC236}">
                <a16:creationId xmlns:a16="http://schemas.microsoft.com/office/drawing/2014/main" id="{F61BB919-0FD5-32D0-E561-01CDB3546DA9}"/>
              </a:ext>
            </a:extLst>
          </p:cNvPr>
          <p:cNvSpPr txBox="1"/>
          <p:nvPr/>
        </p:nvSpPr>
        <p:spPr>
          <a:xfrm>
            <a:off x="6375399" y="5727700"/>
            <a:ext cx="5493793" cy="369332"/>
          </a:xfrm>
          <a:prstGeom prst="rect">
            <a:avLst/>
          </a:prstGeom>
          <a:noFill/>
        </p:spPr>
        <p:txBody>
          <a:bodyPr wrap="square" rtlCol="0">
            <a:spAutoFit/>
          </a:bodyPr>
          <a:lstStyle/>
          <a:p>
            <a:r>
              <a:rPr lang="en-CA" dirty="0">
                <a:sym typeface="Symbol" panose="05050102010706020507" pitchFamily="18" charset="2"/>
              </a:rPr>
              <a:t></a:t>
            </a:r>
            <a:r>
              <a:rPr lang="en-CA" dirty="0"/>
              <a:t> Engine size too highly correlated with #cylinders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wrong plot for a multivariate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Old Beamer screenshot"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
        <p:nvSpPr>
          <p:cNvPr id="3" name="Ridge trace text">
            <a:extLst>
              <a:ext uri="{FF2B5EF4-FFF2-40B4-BE49-F238E27FC236}">
                <a16:creationId xmlns:a16="http://schemas.microsoft.com/office/drawing/2014/main" id="{EB4DA955-7513-38EC-BDAB-83557A336B2D}"/>
              </a:ext>
            </a:extLst>
          </p:cNvPr>
          <p:cNvSpPr txBox="1"/>
          <p:nvPr/>
        </p:nvSpPr>
        <p:spPr>
          <a:xfrm>
            <a:off x="838200" y="1168400"/>
            <a:ext cx="10541000" cy="1682512"/>
          </a:xfrm>
          <a:prstGeom prst="rect">
            <a:avLst/>
          </a:prstGeom>
          <a:noFill/>
        </p:spPr>
        <p:txBody>
          <a:bodyPr vert="horz" wrap="square" rtlCol="0">
            <a:spAutoFit/>
          </a:bodyPr>
          <a:lstStyle/>
          <a:p>
            <a:pPr>
              <a:spcAft>
                <a:spcPts val="800"/>
              </a:spcAft>
            </a:pPr>
            <a:r>
              <a:rPr lang="en-CA">
                <a:solidFill>
                  <a:srgbClr val="262626"/>
                </a:solidFill>
                <a:latin typeface="Aptos" panose="020B0004020202020204" pitchFamily="34" charset="0"/>
              </a:rPr>
              <a:t>Rather than plotting just the univariate trajectories of </a:t>
            </a:r>
            <a:r>
              <a:rPr lang="en-CA">
                <a:solidFill>
                  <a:srgbClr val="262626"/>
                </a:solidFill>
                <a:latin typeface="Cambria Math" panose="02040503050406030204" pitchFamily="18" charset="0"/>
              </a:rPr>
              <a:t>𝛽</a:t>
            </a:r>
            <a:r>
              <a:rPr lang="en-CA" baseline="-25000">
                <a:solidFill>
                  <a:srgbClr val="262626"/>
                </a:solidFill>
                <a:latin typeface="Cambria Math" panose="02040503050406030204" pitchFamily="18" charset="0"/>
              </a:rPr>
              <a:t>𝑘</a:t>
            </a:r>
            <a:r>
              <a:rPr lang="en-CA">
                <a:solidFill>
                  <a:srgbClr val="262626"/>
                </a:solidFill>
                <a:latin typeface="Aptos" panose="020B0004020202020204" pitchFamily="34" charset="0"/>
              </a:rPr>
              <a:t> vs. </a:t>
            </a:r>
            <a:r>
              <a:rPr lang="en-CA">
                <a:solidFill>
                  <a:srgbClr val="262626"/>
                </a:solidFill>
                <a:latin typeface="Cambria Math" panose="02040503050406030204" pitchFamily="18" charset="0"/>
              </a:rPr>
              <a:t>𝑘</a:t>
            </a:r>
            <a:r>
              <a:rPr lang="en-CA">
                <a:solidFill>
                  <a:srgbClr val="262626"/>
                </a:solidFill>
                <a:latin typeface="Aptos" panose="020B0004020202020204" pitchFamily="34" charset="0"/>
              </a:rPr>
              <a:t>, plot the covariance </a:t>
            </a:r>
            <a:r>
              <a:rPr lang="en-CA">
                <a:solidFill>
                  <a:srgbClr val="E8221B"/>
                </a:solidFill>
                <a:latin typeface="Aptos" panose="020B0004020202020204" pitchFamily="34" charset="0"/>
              </a:rPr>
              <a:t>ellipsoids</a:t>
            </a:r>
            <a:r>
              <a:rPr lang="en-CA">
                <a:solidFill>
                  <a:srgbClr val="262626"/>
                </a:solidFill>
                <a:latin typeface="Aptos" panose="020B0004020202020204" pitchFamily="34" charset="0"/>
              </a:rPr>
              <a:t> of </a:t>
            </a:r>
            <a:r>
              <a:rPr lang="el-GR">
                <a:solidFill>
                  <a:srgbClr val="262626"/>
                </a:solidFill>
                <a:latin typeface="Cambria Math" panose="02040503050406030204" pitchFamily="18" charset="0"/>
              </a:rPr>
              <a:t>Σ</a:t>
            </a:r>
            <a:r>
              <a:rPr lang="el-GR" baseline="-25000">
                <a:solidFill>
                  <a:srgbClr val="262626"/>
                </a:solidFill>
                <a:latin typeface="Cambria Math" panose="02040503050406030204" pitchFamily="18" charset="0"/>
              </a:rPr>
              <a:t>𝑘</a:t>
            </a:r>
            <a:r>
              <a:rPr lang="en-CA">
                <a:solidFill>
                  <a:srgbClr val="262626"/>
                </a:solidFill>
                <a:latin typeface="Cambria Math" panose="02040503050406030204" pitchFamily="18" charset="0"/>
              </a:rPr>
              <a:t> ≡ Var(𝛽</a:t>
            </a:r>
            <a:r>
              <a:rPr lang="en-CA" baseline="-25000">
                <a:solidFill>
                  <a:srgbClr val="262626"/>
                </a:solidFill>
                <a:latin typeface="Cambria Math" panose="02040503050406030204" pitchFamily="18" charset="0"/>
              </a:rPr>
              <a:t>𝑘</a:t>
            </a:r>
            <a:r>
              <a:rPr lang="en-CA">
                <a:solidFill>
                  <a:srgbClr val="262626"/>
                </a:solidFill>
                <a:latin typeface="Cambria Math" panose="02040503050406030204" pitchFamily="18" charset="0"/>
              </a:rPr>
              <a:t>)</a:t>
            </a:r>
            <a:r>
              <a:rPr lang="en-CA">
                <a:solidFill>
                  <a:srgbClr val="262626"/>
                </a:solidFill>
                <a:latin typeface="Aptos" panose="020B0004020202020204" pitchFamily="34" charset="0"/>
              </a:rPr>
              <a:t> over the same range of </a:t>
            </a:r>
            <a:r>
              <a:rPr lang="en-CA">
                <a:solidFill>
                  <a:srgbClr val="262626"/>
                </a:solidFill>
                <a:latin typeface="Cambria Math" panose="02040503050406030204" pitchFamily="18" charset="0"/>
              </a:rPr>
              <a:t>𝑘</a:t>
            </a:r>
            <a:endParaRPr lang="en-CA">
              <a:solidFill>
                <a:srgbClr val="262626"/>
              </a:solidFill>
              <a:latin typeface="Aptos" panose="020B0004020202020204" pitchFamily="34" charset="0"/>
            </a:endParaRPr>
          </a:p>
          <a:p>
            <a:pPr marL="457200" indent="-228600">
              <a:spcAft>
                <a:spcPts val="400"/>
              </a:spcAft>
              <a:buSzPct val="100000"/>
              <a:buFont typeface="+mj-lt"/>
              <a:buChar char="•"/>
            </a:pPr>
            <a:r>
              <a:rPr lang="en-CA">
                <a:solidFill>
                  <a:srgbClr val="262626"/>
                </a:solidFill>
                <a:latin typeface="Aptos" panose="020B0004020202020204" pitchFamily="34" charset="0"/>
              </a:rPr>
              <a:t>Centers of the ellipsoids are </a:t>
            </a:r>
            <a:r>
              <a:rPr lang="en-CA">
                <a:solidFill>
                  <a:srgbClr val="262626"/>
                </a:solidFill>
                <a:latin typeface="Cambria Math" panose="02040503050406030204" pitchFamily="18" charset="0"/>
              </a:rPr>
              <a:t>𝛽</a:t>
            </a:r>
            <a:r>
              <a:rPr lang="en-CA" baseline="-25000">
                <a:solidFill>
                  <a:srgbClr val="262626"/>
                </a:solidFill>
                <a:latin typeface="Cambria Math" panose="02040503050406030204" pitchFamily="18" charset="0"/>
              </a:rPr>
              <a:t>𝑘</a:t>
            </a:r>
            <a:r>
              <a:rPr lang="en-CA">
                <a:solidFill>
                  <a:srgbClr val="262626"/>
                </a:solidFill>
                <a:latin typeface="Aptos" panose="020B0004020202020204" pitchFamily="34" charset="0"/>
              </a:rPr>
              <a:t> – same info as in the univariate plot</a:t>
            </a:r>
          </a:p>
          <a:p>
            <a:pPr marL="457200" indent="-228600">
              <a:spcAft>
                <a:spcPts val="400"/>
              </a:spcAft>
              <a:buSzPct val="100000"/>
              <a:buFont typeface="+mj-lt"/>
              <a:buChar char="•"/>
            </a:pPr>
            <a:r>
              <a:rPr lang="en-CA">
                <a:solidFill>
                  <a:srgbClr val="262626"/>
                </a:solidFill>
                <a:latin typeface="Aptos" panose="020B0004020202020204" pitchFamily="34" charset="0"/>
              </a:rPr>
              <a:t>Can see how change in one coefficient is related to changes in others</a:t>
            </a:r>
          </a:p>
          <a:p>
            <a:pPr marL="457200" indent="-228600">
              <a:spcAft>
                <a:spcPts val="400"/>
              </a:spcAft>
              <a:buSzPct val="100000"/>
              <a:buFont typeface="+mj-lt"/>
              <a:buChar char="•"/>
            </a:pPr>
            <a:r>
              <a:rPr lang="en-CA">
                <a:solidFill>
                  <a:srgbClr val="262626"/>
                </a:solidFill>
                <a:latin typeface="Aptos" panose="020B0004020202020204" pitchFamily="34" charset="0"/>
              </a:rPr>
              <a:t>Relative size &amp; shape of ellipsoids shows </a:t>
            </a:r>
            <a:r>
              <a:rPr lang="en-CA">
                <a:solidFill>
                  <a:srgbClr val="E8221B"/>
                </a:solidFill>
                <a:latin typeface="Aptos" panose="020B0004020202020204" pitchFamily="34" charset="0"/>
              </a:rPr>
              <a:t>directly</a:t>
            </a:r>
            <a:r>
              <a:rPr lang="en-CA">
                <a:solidFill>
                  <a:srgbClr val="262626"/>
                </a:solidFill>
                <a:latin typeface="Aptos" panose="020B0004020202020204" pitchFamily="34" charset="0"/>
              </a:rPr>
              <a:t> the effect on precision</a:t>
            </a:r>
          </a:p>
        </p:txBody>
      </p:sp>
      <p:pic>
        <p:nvPicPr>
          <p:cNvPr id="10" name="Fig 9.12 Unemployed">
            <a:extLst>
              <a:ext uri="{FF2B5EF4-FFF2-40B4-BE49-F238E27FC236}">
                <a16:creationId xmlns:a16="http://schemas.microsoft.com/office/drawing/2014/main" id="{E491A084-7F81-DB90-77FD-882552DC31C7}"/>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1778526" y="2927112"/>
            <a:ext cx="4165074" cy="3702288"/>
          </a:xfrm>
          <a:prstGeom prst="rect">
            <a:avLst/>
          </a:prstGeom>
        </p:spPr>
      </p:pic>
      <p:pic>
        <p:nvPicPr>
          <p:cNvPr id="12" name="Fig 9.12 Population">
            <a:extLst>
              <a:ext uri="{FF2B5EF4-FFF2-40B4-BE49-F238E27FC236}">
                <a16:creationId xmlns:a16="http://schemas.microsoft.com/office/drawing/2014/main" id="{BB33DA1C-51CA-BAFC-00F1-2746C30782A5}"/>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6248400" y="2927112"/>
            <a:ext cx="4165074" cy="3702288"/>
          </a:xfrm>
          <a:prstGeom prst="rect">
            <a:avLst/>
          </a:prstGeom>
        </p:spPr>
      </p:pic>
      <p:sp>
        <p:nvSpPr>
          <p:cNvPr id="14" name="Caption">
            <a:extLst>
              <a:ext uri="{FF2B5EF4-FFF2-40B4-BE49-F238E27FC236}">
                <a16:creationId xmlns:a16="http://schemas.microsoft.com/office/drawing/2014/main" id="{9C34379C-0DC1-061C-2B50-9D3437157689}"/>
              </a:ext>
            </a:extLst>
          </p:cNvPr>
          <p:cNvSpPr txBox="1"/>
          <p:nvPr/>
        </p:nvSpPr>
        <p:spPr>
          <a:xfrm>
            <a:off x="841248" y="6355080"/>
            <a:ext cx="854721" cy="261610"/>
          </a:xfrm>
          <a:prstGeom prst="rect">
            <a:avLst/>
          </a:prstGeom>
          <a:noFill/>
        </p:spPr>
        <p:txBody>
          <a:bodyPr vert="horz" wrap="none" rtlCol="0">
            <a:spAutoFit/>
          </a:bodyPr>
          <a:lstStyle/>
          <a:p>
            <a:r>
              <a:rPr lang="en-CA" sz="1100">
                <a:solidFill>
                  <a:srgbClr val="707070"/>
                </a:solidFill>
                <a:latin typeface="Aptos" panose="020B0004020202020204" pitchFamily="34" charset="0"/>
              </a:rPr>
              <a:t>Figure 9.12</a:t>
            </a:r>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7069</TotalTime>
  <Words>6214</Words>
  <Application>Microsoft Office PowerPoint</Application>
  <PresentationFormat>Widescreen</PresentationFormat>
  <Paragraphs>635</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Consolas</vt:lpstr>
      <vt:lpstr>Courier New</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105</cp:revision>
  <dcterms:created xsi:type="dcterms:W3CDTF">2026-10-06T18:00:03Z</dcterms:created>
  <dcterms:modified xsi:type="dcterms:W3CDTF">2026-10-27T21:40:29Z</dcterms:modified>
</cp:coreProperties>
</file>