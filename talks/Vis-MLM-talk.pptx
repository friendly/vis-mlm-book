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6" d="100"/>
          <a:sy n="76" d="100"/>
        </p:scale>
        <p:origin x="780" y="9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err="1"/>
              <a:t>Mathscore</a:t>
            </a:r>
            <a:r>
              <a:rPr lang="en-CA" dirty="0"/>
              <a:t> data: two groups, basic math (BM) and word problems (WP). 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2026-10-23</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2026-10-23</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1.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a:t>
            </a:r>
            <a:r>
              <a:rPr dirty="0">
                <a:solidFill>
                  <a:srgbClr val="FF0000"/>
                </a:solidFill>
              </a:rPr>
              <a:t>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33894" y="313954"/>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5141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919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childTnLst>
                                    </p:cTn>
                                  </p:par>
                                  <p:par>
                                    <p:cTn id="32" presetID="2" presetClass="entr" presetSubtype="4"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ppt_x</p:attrName>
                                            </p:attrNameLst>
                                          </p:cBhvr>
                                          <p:tavLst>
                                            <p:tav tm="0">
                                              <p:val>
                                                <p:strVal val="#ppt_x"/>
                                              </p:val>
                                            </p:tav>
                                            <p:tav tm="100000">
                                              <p:val>
                                                <p:strVal val="#ppt_x"/>
                                              </p:val>
                                            </p:tav>
                                          </p:tavLst>
                                        </p:anim>
                                        <p:anim calcmode="lin" valueType="num">
                                          <p:cBhvr additive="base">
                                            <p:cTn id="35" dur="500" fill="hold"/>
                                            <p:tgtEl>
                                              <p:spTgt spid="9"/>
                                            </p:tgtEl>
                                            <p:attrNameLst>
                                              <p:attrName>ppt_y</p:attrName>
                                            </p:attrNameLst>
                                          </p:cBhvr>
                                          <p:tavLst>
                                            <p:tav tm="0">
                                              <p:val>
                                                <p:strVal val="1+#ppt_h/2"/>
                                              </p:val>
                                            </p:tav>
                                            <p:tav tm="100000">
                                              <p:val>
                                                <p:strVal val="#ppt_y"/>
                                              </p:val>
                                            </p:tav>
                                          </p:tavLst>
                                        </p:anim>
                                      </p:childTnLst>
                                    </p:cTn>
                                  </p:par>
                                  <p:par>
                                    <p:cTn id="36" presetID="2" presetClass="entr" presetSubtype="4"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1+#ppt_h/2"/>
                                              </p:val>
                                            </p:tav>
                                            <p:tav tm="100000">
                                              <p:val>
                                                <p:strVal val="#ppt_y"/>
                                              </p:val>
                                            </p:tav>
                                          </p:tavLst>
                                        </p:anim>
                                      </p:childTnLst>
                                    </p:cTn>
                                  </p:par>
                                  <p:par>
                                    <p:cTn id="40" presetID="2" presetClass="entr" presetSubtype="1"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ppt_x</p:attrName>
                                            </p:attrNameLst>
                                          </p:cBhvr>
                                          <p:tavLst>
                                            <p:tav tm="0">
                                              <p:val>
                                                <p:strVal val="#ppt_x"/>
                                              </p:val>
                                            </p:tav>
                                            <p:tav tm="100000">
                                              <p:val>
                                                <p:strVal val="#ppt_x"/>
                                              </p:val>
                                            </p:tav>
                                          </p:tavLst>
                                        </p:anim>
                                        <p:anim calcmode="lin" valueType="num">
                                          <p:cBhvr additive="base">
                                            <p:cTn id="43"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childTnLst>
                                    </p:cTn>
                                  </p:par>
                                  <p:par>
                                    <p:cTn id="32" presetID="2" presetClass="entr" presetSubtype="4" fill="hold" grpId="0" nodeType="withEffect">
                                      <p:stCondLst>
                                        <p:cond delay="0"/>
                                      </p:stCondLst>
                                      <p:childTnLst>
                                        <p:set>
                                          <p:cBhvr>
                                            <p:cTn id="33" dur="1" fill="hold">
                                              <p:stCondLst>
                                                <p:cond delay="0"/>
                                              </p:stCondLst>
                                            </p:cTn>
                                            <p:tgtEl>
                                              <p:spTgt spid="9"/>
                                            </p:tgtEl>
                                            <p:attrNameLst>
                                              <p:attrName>style.visibility</p:attrName>
                                            </p:attrNameLst>
                                          </p:cBhvr>
                                          <p:to>
                                            <p:strVal val="visible"/>
                                          </p:to>
                                        </p:set>
                                        <p:anim calcmode="lin" valueType="num">
                                          <p:cBhvr additive="base">
                                            <p:cTn id="34" dur="500" fill="hold"/>
                                            <p:tgtEl>
                                              <p:spTgt spid="9"/>
                                            </p:tgtEl>
                                            <p:attrNameLst>
                                              <p:attrName>ppt_x</p:attrName>
                                            </p:attrNameLst>
                                          </p:cBhvr>
                                          <p:tavLst>
                                            <p:tav tm="0">
                                              <p:val>
                                                <p:strVal val="#ppt_x"/>
                                              </p:val>
                                            </p:tav>
                                            <p:tav tm="100000">
                                              <p:val>
                                                <p:strVal val="#ppt_x"/>
                                              </p:val>
                                            </p:tav>
                                          </p:tavLst>
                                        </p:anim>
                                        <p:anim calcmode="lin" valueType="num">
                                          <p:cBhvr additive="base">
                                            <p:cTn id="35" dur="500" fill="hold"/>
                                            <p:tgtEl>
                                              <p:spTgt spid="9"/>
                                            </p:tgtEl>
                                            <p:attrNameLst>
                                              <p:attrName>ppt_y</p:attrName>
                                            </p:attrNameLst>
                                          </p:cBhvr>
                                          <p:tavLst>
                                            <p:tav tm="0">
                                              <p:val>
                                                <p:strVal val="1+#ppt_h/2"/>
                                              </p:val>
                                            </p:tav>
                                            <p:tav tm="100000">
                                              <p:val>
                                                <p:strVal val="#ppt_y"/>
                                              </p:val>
                                            </p:tav>
                                          </p:tavLst>
                                        </p:anim>
                                      </p:childTnLst>
                                    </p:cTn>
                                  </p:par>
                                  <p:par>
                                    <p:cTn id="36" presetID="2" presetClass="entr" presetSubtype="4"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500" fill="hold"/>
                                            <p:tgtEl>
                                              <p:spTgt spid="13"/>
                                            </p:tgtEl>
                                            <p:attrNameLst>
                                              <p:attrName>ppt_x</p:attrName>
                                            </p:attrNameLst>
                                          </p:cBhvr>
                                          <p:tavLst>
                                            <p:tav tm="0">
                                              <p:val>
                                                <p:strVal val="#ppt_x"/>
                                              </p:val>
                                            </p:tav>
                                            <p:tav tm="100000">
                                              <p:val>
                                                <p:strVal val="#ppt_x"/>
                                              </p:val>
                                            </p:tav>
                                          </p:tavLst>
                                        </p:anim>
                                        <p:anim calcmode="lin" valueType="num">
                                          <p:cBhvr additive="base">
                                            <p:cTn id="39" dur="500" fill="hold"/>
                                            <p:tgtEl>
                                              <p:spTgt spid="13"/>
                                            </p:tgtEl>
                                            <p:attrNameLst>
                                              <p:attrName>ppt_y</p:attrName>
                                            </p:attrNameLst>
                                          </p:cBhvr>
                                          <p:tavLst>
                                            <p:tav tm="0">
                                              <p:val>
                                                <p:strVal val="1+#ppt_h/2"/>
                                              </p:val>
                                            </p:tav>
                                            <p:tav tm="100000">
                                              <p:val>
                                                <p:strVal val="#ppt_y"/>
                                              </p:val>
                                            </p:tav>
                                          </p:tavLst>
                                        </p:anim>
                                      </p:childTnLst>
                                    </p:cTn>
                                  </p:par>
                                  <p:par>
                                    <p:cTn id="40" presetID="2" presetClass="entr" presetSubtype="1"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 calcmode="lin" valueType="num">
                                          <p:cBhvr additive="base">
                                            <p:cTn id="42" dur="500" fill="hold"/>
                                            <p:tgtEl>
                                              <p:spTgt spid="11"/>
                                            </p:tgtEl>
                                            <p:attrNameLst>
                                              <p:attrName>ppt_x</p:attrName>
                                            </p:attrNameLst>
                                          </p:cBhvr>
                                          <p:tavLst>
                                            <p:tav tm="0">
                                              <p:val>
                                                <p:strVal val="#ppt_x"/>
                                              </p:val>
                                            </p:tav>
                                            <p:tav tm="100000">
                                              <p:val>
                                                <p:strVal val="#ppt_x"/>
                                              </p:val>
                                            </p:tav>
                                          </p:tavLst>
                                        </p:anim>
                                        <p:anim calcmode="lin" valueType="num">
                                          <p:cBhvr additive="base">
                                            <p:cTn id="43"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sz="2200" dirty="0"/>
              <a:t>Rarely true in social science, medicine, …</a:t>
            </a:r>
          </a:p>
          <a:p>
            <a:pPr lvl="1"/>
            <a:r>
              <a:rPr lang="en-US" sz="2200" dirty="0"/>
              <a:t>(Structural equation models often used to account for this)</a:t>
            </a:r>
          </a:p>
          <a:p>
            <a:pPr lvl="1"/>
            <a:r>
              <a:rPr lang="en-US" sz="2200" dirty="0"/>
              <a:t>What effects do errors in </a:t>
            </a:r>
            <a:r>
              <a:rPr lang="en-US" sz="2200" b="1" dirty="0"/>
              <a:t>predictors</a:t>
            </a:r>
            <a:r>
              <a:rPr lang="en-US" sz="2200" dirty="0"/>
              <a:t> have on typical regression models?</a:t>
            </a:r>
          </a:p>
          <a:p>
            <a:r>
              <a:rPr lang="en-US" dirty="0"/>
              <a:t>Main ideas:</a:t>
            </a:r>
          </a:p>
          <a:p>
            <a:pPr lvl="1"/>
            <a:r>
              <a:rPr lang="en-US" sz="2200" dirty="0"/>
              <a:t>Ellipses in </a:t>
            </a:r>
            <a:r>
              <a:rPr lang="en-US" sz="2200" dirty="0">
                <a:solidFill>
                  <a:srgbClr val="00B050"/>
                </a:solidFill>
              </a:rPr>
              <a:t>data space </a:t>
            </a:r>
            <a:r>
              <a:rPr lang="en-US" sz="2200" dirty="0"/>
              <a:t>show effects on </a:t>
            </a:r>
            <a:r>
              <a:rPr lang="en-US" sz="2200" dirty="0">
                <a:solidFill>
                  <a:srgbClr val="FF0000"/>
                </a:solidFill>
              </a:rPr>
              <a:t>bias</a:t>
            </a:r>
            <a:r>
              <a:rPr lang="en-US" sz="2200" dirty="0"/>
              <a:t> and </a:t>
            </a:r>
            <a:r>
              <a:rPr lang="en-US" sz="2200" dirty="0">
                <a:solidFill>
                  <a:srgbClr val="FF0000"/>
                </a:solidFill>
              </a:rPr>
              <a:t>precision</a:t>
            </a:r>
          </a:p>
          <a:p>
            <a:pPr lvl="1"/>
            <a:r>
              <a:rPr lang="en-US" sz="2200" dirty="0"/>
              <a:t>The same effects can be seen in </a:t>
            </a:r>
            <a:r>
              <a:rPr lang="en-US" sz="2200" dirty="0">
                <a:solidFill>
                  <a:srgbClr val="00B050"/>
                </a:solidFill>
              </a:rPr>
              <a:t>parameter (</a:t>
            </a:r>
            <a:r>
              <a:rPr lang="el-GR" sz="2200" b="1" dirty="0">
                <a:solidFill>
                  <a:srgbClr val="00B050"/>
                </a:solidFill>
              </a:rPr>
              <a:t>β</a:t>
            </a:r>
            <a:r>
              <a:rPr lang="en-US" sz="2200"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custGeom>
            <a:avLst/>
            <a:gdLst>
              <a:gd name="csX0" fmla="*/ 0 w 5927071"/>
              <a:gd name="csY0" fmla="*/ 0 h 1477328"/>
              <a:gd name="csX1" fmla="*/ 533436 w 5927071"/>
              <a:gd name="csY1" fmla="*/ 0 h 1477328"/>
              <a:gd name="csX2" fmla="*/ 948331 w 5927071"/>
              <a:gd name="csY2" fmla="*/ 0 h 1477328"/>
              <a:gd name="csX3" fmla="*/ 1659580 w 5927071"/>
              <a:gd name="csY3" fmla="*/ 0 h 1477328"/>
              <a:gd name="csX4" fmla="*/ 2193016 w 5927071"/>
              <a:gd name="csY4" fmla="*/ 0 h 1477328"/>
              <a:gd name="csX5" fmla="*/ 2726453 w 5927071"/>
              <a:gd name="csY5" fmla="*/ 0 h 1477328"/>
              <a:gd name="csX6" fmla="*/ 3437701 w 5927071"/>
              <a:gd name="csY6" fmla="*/ 0 h 1477328"/>
              <a:gd name="csX7" fmla="*/ 3911867 w 5927071"/>
              <a:gd name="csY7" fmla="*/ 0 h 1477328"/>
              <a:gd name="csX8" fmla="*/ 4623115 w 5927071"/>
              <a:gd name="csY8" fmla="*/ 0 h 1477328"/>
              <a:gd name="csX9" fmla="*/ 5334364 w 5927071"/>
              <a:gd name="csY9" fmla="*/ 0 h 1477328"/>
              <a:gd name="csX10" fmla="*/ 5927071 w 5927071"/>
              <a:gd name="csY10" fmla="*/ 0 h 1477328"/>
              <a:gd name="csX11" fmla="*/ 5927071 w 5927071"/>
              <a:gd name="csY11" fmla="*/ 521989 h 1477328"/>
              <a:gd name="csX12" fmla="*/ 5927071 w 5927071"/>
              <a:gd name="csY12" fmla="*/ 1029205 h 1477328"/>
              <a:gd name="csX13" fmla="*/ 5927071 w 5927071"/>
              <a:gd name="csY13" fmla="*/ 1477328 h 1477328"/>
              <a:gd name="csX14" fmla="*/ 5334364 w 5927071"/>
              <a:gd name="csY14" fmla="*/ 1477328 h 1477328"/>
              <a:gd name="csX15" fmla="*/ 4860198 w 5927071"/>
              <a:gd name="csY15" fmla="*/ 1477328 h 1477328"/>
              <a:gd name="csX16" fmla="*/ 4267491 w 5927071"/>
              <a:gd name="csY16" fmla="*/ 1477328 h 1477328"/>
              <a:gd name="csX17" fmla="*/ 3556243 w 5927071"/>
              <a:gd name="csY17" fmla="*/ 1477328 h 1477328"/>
              <a:gd name="csX18" fmla="*/ 2963536 w 5927071"/>
              <a:gd name="csY18" fmla="*/ 1477328 h 1477328"/>
              <a:gd name="csX19" fmla="*/ 2548641 w 5927071"/>
              <a:gd name="csY19" fmla="*/ 1477328 h 1477328"/>
              <a:gd name="csX20" fmla="*/ 2074475 w 5927071"/>
              <a:gd name="csY20" fmla="*/ 1477328 h 1477328"/>
              <a:gd name="csX21" fmla="*/ 1363226 w 5927071"/>
              <a:gd name="csY21" fmla="*/ 1477328 h 1477328"/>
              <a:gd name="csX22" fmla="*/ 770519 w 5927071"/>
              <a:gd name="csY22" fmla="*/ 1477328 h 1477328"/>
              <a:gd name="csX23" fmla="*/ 0 w 5927071"/>
              <a:gd name="csY23" fmla="*/ 1477328 h 1477328"/>
              <a:gd name="csX24" fmla="*/ 0 w 5927071"/>
              <a:gd name="csY24" fmla="*/ 984885 h 1477328"/>
              <a:gd name="csX25" fmla="*/ 0 w 5927071"/>
              <a:gd name="csY25" fmla="*/ 536763 h 1477328"/>
              <a:gd name="csX26" fmla="*/ 0 w 5927071"/>
              <a:gd name="csY26" fmla="*/ 0 h 1477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5927071" h="1477328" extrusionOk="0">
                <a:moveTo>
                  <a:pt x="0" y="0"/>
                </a:moveTo>
                <a:cubicBezTo>
                  <a:pt x="247419" y="-7442"/>
                  <a:pt x="371168" y="56243"/>
                  <a:pt x="533436" y="0"/>
                </a:cubicBezTo>
                <a:cubicBezTo>
                  <a:pt x="695704" y="-56243"/>
                  <a:pt x="746765" y="24298"/>
                  <a:pt x="948331" y="0"/>
                </a:cubicBezTo>
                <a:cubicBezTo>
                  <a:pt x="1149898" y="-24298"/>
                  <a:pt x="1475459" y="83594"/>
                  <a:pt x="1659580" y="0"/>
                </a:cubicBezTo>
                <a:cubicBezTo>
                  <a:pt x="1843701" y="-83594"/>
                  <a:pt x="1964021" y="63768"/>
                  <a:pt x="2193016" y="0"/>
                </a:cubicBezTo>
                <a:cubicBezTo>
                  <a:pt x="2422011" y="-63768"/>
                  <a:pt x="2512392" y="37965"/>
                  <a:pt x="2726453" y="0"/>
                </a:cubicBezTo>
                <a:cubicBezTo>
                  <a:pt x="2940514" y="-37965"/>
                  <a:pt x="3189459" y="58423"/>
                  <a:pt x="3437701" y="0"/>
                </a:cubicBezTo>
                <a:cubicBezTo>
                  <a:pt x="3685943" y="-58423"/>
                  <a:pt x="3691207" y="29999"/>
                  <a:pt x="3911867" y="0"/>
                </a:cubicBezTo>
                <a:cubicBezTo>
                  <a:pt x="4132527" y="-29999"/>
                  <a:pt x="4377622" y="65736"/>
                  <a:pt x="4623115" y="0"/>
                </a:cubicBezTo>
                <a:cubicBezTo>
                  <a:pt x="4868608" y="-65736"/>
                  <a:pt x="5063094" y="33271"/>
                  <a:pt x="5334364" y="0"/>
                </a:cubicBezTo>
                <a:cubicBezTo>
                  <a:pt x="5605634" y="-33271"/>
                  <a:pt x="5667747" y="28980"/>
                  <a:pt x="5927071" y="0"/>
                </a:cubicBezTo>
                <a:cubicBezTo>
                  <a:pt x="5928442" y="113323"/>
                  <a:pt x="5912672" y="308693"/>
                  <a:pt x="5927071" y="521989"/>
                </a:cubicBezTo>
                <a:cubicBezTo>
                  <a:pt x="5941470" y="735285"/>
                  <a:pt x="5926196" y="904943"/>
                  <a:pt x="5927071" y="1029205"/>
                </a:cubicBezTo>
                <a:cubicBezTo>
                  <a:pt x="5927946" y="1153467"/>
                  <a:pt x="5881418" y="1275045"/>
                  <a:pt x="5927071" y="1477328"/>
                </a:cubicBezTo>
                <a:cubicBezTo>
                  <a:pt x="5736127" y="1500554"/>
                  <a:pt x="5595044" y="1431778"/>
                  <a:pt x="5334364" y="1477328"/>
                </a:cubicBezTo>
                <a:cubicBezTo>
                  <a:pt x="5073684" y="1522878"/>
                  <a:pt x="5073294" y="1432595"/>
                  <a:pt x="4860198" y="1477328"/>
                </a:cubicBezTo>
                <a:cubicBezTo>
                  <a:pt x="4647102" y="1522061"/>
                  <a:pt x="4477436" y="1432138"/>
                  <a:pt x="4267491" y="1477328"/>
                </a:cubicBezTo>
                <a:cubicBezTo>
                  <a:pt x="4057546" y="1522518"/>
                  <a:pt x="3763720" y="1393223"/>
                  <a:pt x="3556243" y="1477328"/>
                </a:cubicBezTo>
                <a:cubicBezTo>
                  <a:pt x="3348766" y="1561433"/>
                  <a:pt x="3204603" y="1456927"/>
                  <a:pt x="2963536" y="1477328"/>
                </a:cubicBezTo>
                <a:cubicBezTo>
                  <a:pt x="2722469" y="1497729"/>
                  <a:pt x="2660382" y="1469292"/>
                  <a:pt x="2548641" y="1477328"/>
                </a:cubicBezTo>
                <a:cubicBezTo>
                  <a:pt x="2436901" y="1485364"/>
                  <a:pt x="2250415" y="1460932"/>
                  <a:pt x="2074475" y="1477328"/>
                </a:cubicBezTo>
                <a:cubicBezTo>
                  <a:pt x="1898535" y="1493724"/>
                  <a:pt x="1636839" y="1408084"/>
                  <a:pt x="1363226" y="1477328"/>
                </a:cubicBezTo>
                <a:cubicBezTo>
                  <a:pt x="1089613" y="1546572"/>
                  <a:pt x="912545" y="1414629"/>
                  <a:pt x="770519" y="1477328"/>
                </a:cubicBezTo>
                <a:cubicBezTo>
                  <a:pt x="628493" y="1540027"/>
                  <a:pt x="280134" y="1400344"/>
                  <a:pt x="0" y="1477328"/>
                </a:cubicBezTo>
                <a:cubicBezTo>
                  <a:pt x="-58372" y="1334956"/>
                  <a:pt x="26221" y="1132867"/>
                  <a:pt x="0" y="984885"/>
                </a:cubicBezTo>
                <a:cubicBezTo>
                  <a:pt x="-26221" y="836903"/>
                  <a:pt x="50450" y="657008"/>
                  <a:pt x="0" y="536763"/>
                </a:cubicBezTo>
                <a:cubicBezTo>
                  <a:pt x="-50450" y="416518"/>
                  <a:pt x="4748" y="127727"/>
                  <a:pt x="0" y="0"/>
                </a:cubicBezTo>
                <a:close/>
              </a:path>
            </a:pathLst>
          </a:custGeom>
          <a:solidFill>
            <a:schemeClr val="accent6">
              <a:lumMod val="20000"/>
              <a:lumOff val="80000"/>
              <a:alpha val="50000"/>
            </a:schemeClr>
          </a:solidFill>
          <a:ln>
            <a:solidFill>
              <a:schemeClr val="accent1"/>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txBody>
          <a:bodyPr wrap="square" rtlCol="0">
            <a:spAutoFit/>
          </a:bodyPr>
          <a:lstStyle/>
          <a:p>
            <a:r>
              <a:rPr lang="en-US" dirty="0"/>
              <a:t>Wow! That means I can drink all the coffee I want as long as I avoid stress.</a:t>
            </a:r>
          </a:p>
          <a:p>
            <a:endParaRPr lang="en-US" dirty="0"/>
          </a:p>
          <a:p>
            <a:r>
              <a:rPr lang="en-US" dirty="0"/>
              <a:t>But what happens if there is </a:t>
            </a:r>
            <a:r>
              <a:rPr lang="en-US" b="1" dirty="0"/>
              <a:t>measurement error </a:t>
            </a:r>
            <a:r>
              <a:rPr lang="en-US" dirty="0"/>
              <a:t>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9685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
        <p:nvSpPr>
          <p:cNvPr id="7" name="TextBox 6">
            <a:extLst>
              <a:ext uri="{FF2B5EF4-FFF2-40B4-BE49-F238E27FC236}">
                <a16:creationId xmlns:a16="http://schemas.microsoft.com/office/drawing/2014/main" id="{ACD7ED0A-8CFB-2426-4E6B-0D3AA40716D9}"/>
              </a:ext>
            </a:extLst>
          </p:cNvPr>
          <p:cNvSpPr txBox="1"/>
          <p:nvPr/>
        </p:nvSpPr>
        <p:spPr>
          <a:xfrm>
            <a:off x="7861300" y="4323528"/>
            <a:ext cx="1320800" cy="369332"/>
          </a:xfrm>
          <a:prstGeom prst="rect">
            <a:avLst/>
          </a:prstGeom>
          <a:noFill/>
        </p:spPr>
        <p:txBody>
          <a:bodyPr wrap="square" rtlCol="0">
            <a:spAutoFit/>
          </a:bodyPr>
          <a:lstStyle/>
          <a:p>
            <a:r>
              <a:rPr lang="en-CA" dirty="0"/>
              <a:t>Coffee NS</a:t>
            </a:r>
          </a:p>
        </p:txBody>
      </p:sp>
      <p:sp>
        <p:nvSpPr>
          <p:cNvPr id="8" name="TextBox 7">
            <a:extLst>
              <a:ext uri="{FF2B5EF4-FFF2-40B4-BE49-F238E27FC236}">
                <a16:creationId xmlns:a16="http://schemas.microsoft.com/office/drawing/2014/main" id="{A4822D31-070B-79D9-A898-CB0767980812}"/>
              </a:ext>
            </a:extLst>
          </p:cNvPr>
          <p:cNvSpPr txBox="1"/>
          <p:nvPr/>
        </p:nvSpPr>
        <p:spPr>
          <a:xfrm>
            <a:off x="8953500" y="2639597"/>
            <a:ext cx="1625600" cy="369332"/>
          </a:xfrm>
          <a:prstGeom prst="rect">
            <a:avLst/>
          </a:prstGeom>
          <a:noFill/>
        </p:spPr>
        <p:txBody>
          <a:bodyPr wrap="square" rtlCol="0">
            <a:spAutoFit/>
          </a:bodyPr>
          <a:lstStyle/>
          <a:p>
            <a:r>
              <a:rPr lang="en-CA" dirty="0"/>
              <a:t>Stress, p&lt;.001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01200" y="15494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92400" y="13149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9400" y="1329592"/>
            <a:ext cx="2286000" cy="2286000"/>
          </a:xfrm>
          <a:prstGeom prst="rect">
            <a:avLst/>
          </a:prstGeom>
        </p:spPr>
      </p:pic>
      <p:cxnSp>
        <p:nvCxnSpPr>
          <p:cNvPr id="8" name="Straight Arrow Connector 7"/>
          <p:cNvCxnSpPr/>
          <p:nvPr/>
        </p:nvCxnSpPr>
        <p:spPr>
          <a:xfrm>
            <a:off x="46736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286000" cy="2286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9861463"/>
              </p:ext>
            </p:extLst>
          </p:nvPr>
        </p:nvGraphicFramePr>
        <p:xfrm>
          <a:off x="4138800" y="55430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5430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6926</TotalTime>
  <Words>5835</Words>
  <Application>Microsoft Office PowerPoint</Application>
  <PresentationFormat>Widescreen</PresentationFormat>
  <Paragraphs>597</Paragraphs>
  <Slides>65</Slides>
  <Notes>61</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65</vt:i4>
      </vt:variant>
    </vt:vector>
  </HeadingPairs>
  <TitlesOfParts>
    <vt:vector size="77"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86</cp:revision>
  <dcterms:created xsi:type="dcterms:W3CDTF">2026-10-06T18:00:03Z</dcterms:created>
  <dcterms:modified xsi:type="dcterms:W3CDTF">2026-10-23T16:39:45Z</dcterms:modified>
</cp:coreProperties>
</file>