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477"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477"/>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5312"/>
    </p:cViewPr>
  </p:sorterViewPr>
  <p:notesViewPr>
    <p:cSldViewPr snapToGrid="0">
      <p:cViewPr varScale="1">
        <p:scale>
          <a:sx n="78" d="100"/>
          <a:sy n="78" d="100"/>
        </p:scale>
        <p:origin x="3678"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a:t>
            </a:r>
            <a:r>
              <a:rPr lang="en-CA"/>
              <a:t>press.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a:p>
            <a:r>
              <a:rPr lang="en-CA" dirty="0"/>
              <a:t>How can we do that?</a:t>
            </a:r>
          </a:p>
          <a:p>
            <a:r>
              <a:rPr lang="en-CA" dirty="0"/>
              <a:t>A primary visual device is an ellipsoid, used to represent multivariate location &amp; scatter</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a:t>
            </a:r>
            <a:r>
              <a:rPr lang="en-US" altLang="en-US" b="1" dirty="0"/>
              <a:t>semi-graphic table</a:t>
            </a:r>
            <a:r>
              <a:rPr lang="en-US" altLang="en-US" dirty="0"/>
              <a:t>, recording frequency in this bivariate distribution.  </a:t>
            </a:r>
          </a:p>
          <a:p>
            <a:pPr marL="285750" indent="-285750">
              <a:buFont typeface="Arial" panose="020B0604020202020204" pitchFamily="34" charset="0"/>
              <a:buChar char="•"/>
            </a:pPr>
            <a:r>
              <a:rPr lang="en-US" altLang="en-US" dirty="0"/>
              <a:t>Galton drew smoothed level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a:t>
            </a:r>
            <a:r>
              <a:rPr lang="en-US" altLang="en-US" b="1" dirty="0"/>
              <a:t>conjugate tangents</a:t>
            </a:r>
            <a:r>
              <a:rPr lang="en-US" altLang="en-US" dirty="0"/>
              <a:t>.</a:t>
            </a:r>
          </a:p>
          <a:p>
            <a:r>
              <a:rPr lang="en-US" altLang="en-US" dirty="0"/>
              <a:t>Equally remarkable,  he shows the </a:t>
            </a:r>
            <a:r>
              <a:rPr lang="en-US" altLang="en-US" b="1" dirty="0"/>
              <a:t>major and minor axes </a:t>
            </a:r>
            <a:r>
              <a:rPr lang="en-US" altLang="en-US" dirty="0"/>
              <a:t>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a:p>
            <a:pPr marL="171450" indent="-171450">
              <a:buFont typeface="Arial" panose="020B0604020202020204" pitchFamily="34" charset="0"/>
              <a:buChar char="•"/>
            </a:pPr>
            <a:r>
              <a:rPr lang="en-CA" dirty="0"/>
              <a:t>Bagplot: robust generalization of a boxplot </a:t>
            </a:r>
          </a:p>
          <a:p>
            <a:pPr marL="171450" indent="-171450">
              <a:buFont typeface="Arial" panose="020B0604020202020204" pitchFamily="34" charset="0"/>
              <a:buChar char="•"/>
            </a:pPr>
            <a:r>
              <a:rPr lang="en-CA" dirty="0"/>
              <a:t>High density regions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a:t>
            </a:r>
          </a:p>
          <a:p>
            <a:r>
              <a:rPr lang="en-CA" dirty="0"/>
              <a:t>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rotation from data space to PCA space, with two added points (101, 102). </a:t>
            </a:r>
            <a:endParaRPr lang="en-CA" dirty="0"/>
          </a:p>
          <a:p>
            <a:r>
              <a:rPr dirty="0"/>
              <a:t>They are not extreme on either original variable, but stand out on the smallest principal component. </a:t>
            </a:r>
            <a:endParaRPr lang="en-CA" dirty="0"/>
          </a:p>
          <a:p>
            <a:r>
              <a:rPr dirty="0"/>
              <a:t>Geometry of PCA as a rotation. </a:t>
            </a:r>
            <a:endParaRPr lang="en-CA" dirty="0"/>
          </a:p>
          <a:p>
            <a:r>
              <a:rPr dirty="0"/>
              <a:t>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Basic biplot of the crime data. </a:t>
            </a:r>
            <a:endParaRPr lang="en-CA" dirty="0"/>
          </a:p>
          <a:p>
            <a:r>
              <a:rPr dirty="0"/>
              <a:t>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Here’s the biplot for the penguin data</a:t>
            </a:r>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[Optional]</a:t>
            </a:r>
          </a:p>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r>
              <a:rPr lang="en-CA" dirty="0"/>
              <a:t>Beautiful relations between statistics, geometry &amp; matrix algebra</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E ellipse is the data ellipse of the residuals: the pooled within-group covariance. </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 </a:t>
            </a:r>
          </a:p>
          <a:p>
            <a:r>
              <a:rPr lang="en-CA" dirty="0"/>
              <a:t>HE plot for reading and math scores in the NLSY data, predicted from father's income and education. </a:t>
            </a:r>
          </a:p>
          <a:p>
            <a:r>
              <a:rPr lang="en-CA" dirty="0"/>
              <a:t>Each predictor has 1 </a:t>
            </a:r>
            <a:r>
              <a:rPr lang="en-CA" dirty="0" err="1"/>
              <a:t>df</a:t>
            </a:r>
            <a:r>
              <a:rPr lang="en-CA" dirty="0"/>
              <a:t>, so its H 'ellipse' collapses to a line: income relates mostly to math, education to both. </a:t>
            </a:r>
          </a:p>
          <a:p>
            <a:r>
              <a:rPr lang="en-CA" dirty="0"/>
              <a:t>The green ellipse is the overall test that both coefficients are zero; the lines for the separate predictors always lie within it.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1F4E9A"/>
        </a:buClr>
        <a:buSzPct val="120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6.png"/><Relationship Id="rId5" Type="http://schemas.openxmlformats.org/officeDocument/2006/relationships/hyperlink" Target="https://friendly.github.io/blog/posts/2026-10-peng-altviews/" TargetMode="Externa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 Id="rId4" Type="http://schemas.openxmlformats.org/officeDocument/2006/relationships/image" Target="../media/image96.png"/></Relationships>
</file>

<file path=ppt/slides/_rels/slide5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100.png"/></Relationships>
</file>

<file path=ppt/slides/_rels/slide56.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6.png"/></Relationships>
</file>

<file path=ppt/slides/_rels/slide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5.png"/></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5" Type="http://schemas.openxmlformats.org/officeDocument/2006/relationships/image" Target="../media/image5.jpg"/><Relationship Id="rId4" Type="http://schemas.openxmlformats.org/officeDocument/2006/relationships/hyperlink" Target="https://friendly.github.io/blog/"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109.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pPr marL="0" indent="0">
              <a:buNone/>
            </a:pPr>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lm</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cbind</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(y1,y2,y3) ~ ...) </a:t>
            </a:r>
            <a:r>
              <a:rPr dirty="0"/>
              <a:t>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a:t>
            </a:r>
            <a:r>
              <a:rPr lang="en-US" i="1" dirty="0"/>
              <a:t>D</a:t>
            </a:r>
            <a:r>
              <a:rPr lang="en-US" i="1"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pic>
        <p:nvPicPr>
          <p:cNvPr id="11" name="Picture 10">
            <a:extLst>
              <a:ext uri="{FF2B5EF4-FFF2-40B4-BE49-F238E27FC236}">
                <a16:creationId xmlns:a16="http://schemas.microsoft.com/office/drawing/2014/main" id="{C361A2FD-977D-93CE-CCEF-453410162483}"/>
              </a:ext>
            </a:extLst>
          </p:cNvPr>
          <p:cNvPicPr>
            <a:picLocks noChangeAspect="1"/>
          </p:cNvPicPr>
          <p:nvPr/>
        </p:nvPicPr>
        <p:blipFill>
          <a:blip r:embed="rId4"/>
          <a:stretch>
            <a:fillRect/>
          </a:stretch>
        </p:blipFill>
        <p:spPr>
          <a:xfrm>
            <a:off x="8496300" y="1635386"/>
            <a:ext cx="2989236" cy="401539"/>
          </a:xfrm>
          <a:prstGeom prst="rect">
            <a:avLst/>
          </a:prstGeom>
        </p:spPr>
      </p:pic>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t>
            </a:r>
            <a:r>
              <a:rPr lang="en-CA" sz="2000" b="1" dirty="0"/>
              <a:t>all that linear models care about </a:t>
            </a:r>
            <a:r>
              <a:rPr lang="en-CA" sz="2000" dirty="0"/>
              <a:t>(ellipses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00853" y="1444625"/>
            <a:ext cx="5256000" cy="52560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solidFill>
                  <a:schemeClr val="accent2">
                    <a:lumMod val="50000"/>
                  </a:schemeClr>
                </a:solidFill>
                <a:latin typeface="Consolas" panose="020B0609020204030204" pitchFamily="49" charset="0"/>
                <a:cs typeface="Courier New" panose="02070309020205020404" pitchFamily="49" charset="0"/>
              </a:rPr>
              <a:t>corrplot</a:t>
            </a:r>
            <a:r>
              <a:rPr lang="en-CA" dirty="0">
                <a:solidFill>
                  <a:schemeClr val="accent2">
                    <a:lumMod val="50000"/>
                  </a:schemeClr>
                </a:solidFill>
                <a:latin typeface="Consolas" panose="020B06090202040302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15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407830" y="1548729"/>
              <a:ext cx="861687" cy="478601"/>
            </a:xfrm>
            <a:prstGeom prst="rect">
              <a:avLst/>
            </a:prstGeom>
            <a:noFill/>
          </p:spPr>
          <p:txBody>
            <a:bodyPr wrap="square" rtlCol="0">
              <a:spAutoFit/>
            </a:bodyPr>
            <a:lstStyle/>
            <a:p>
              <a:r>
                <a:rPr lang="en-CA" sz="2800"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57501" y="4468361"/>
              <a:ext cx="1143000" cy="394635"/>
            </a:xfrm>
            <a:prstGeom prst="rect">
              <a:avLst/>
            </a:prstGeom>
            <a:noFill/>
          </p:spPr>
          <p:txBody>
            <a:bodyPr wrap="square" rtlCol="0">
              <a:spAutoFit/>
            </a:bodyPr>
            <a:lstStyle/>
            <a:p>
              <a:r>
                <a:rPr lang="en-CA" sz="2400"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custGeom>
            <a:avLst/>
            <a:gdLst>
              <a:gd name="csX0" fmla="*/ 0 w 4875713"/>
              <a:gd name="csY0" fmla="*/ 0 h 830997"/>
              <a:gd name="csX1" fmla="*/ 639260 w 4875713"/>
              <a:gd name="csY1" fmla="*/ 0 h 830997"/>
              <a:gd name="csX2" fmla="*/ 1229763 w 4875713"/>
              <a:gd name="csY2" fmla="*/ 0 h 830997"/>
              <a:gd name="csX3" fmla="*/ 1771509 w 4875713"/>
              <a:gd name="csY3" fmla="*/ 0 h 830997"/>
              <a:gd name="csX4" fmla="*/ 2313255 w 4875713"/>
              <a:gd name="csY4" fmla="*/ 0 h 830997"/>
              <a:gd name="csX5" fmla="*/ 2952515 w 4875713"/>
              <a:gd name="csY5" fmla="*/ 0 h 830997"/>
              <a:gd name="csX6" fmla="*/ 3543018 w 4875713"/>
              <a:gd name="csY6" fmla="*/ 0 h 830997"/>
              <a:gd name="csX7" fmla="*/ 3938493 w 4875713"/>
              <a:gd name="csY7" fmla="*/ 0 h 830997"/>
              <a:gd name="csX8" fmla="*/ 4875713 w 4875713"/>
              <a:gd name="csY8" fmla="*/ 0 h 830997"/>
              <a:gd name="csX9" fmla="*/ 4875713 w 4875713"/>
              <a:gd name="csY9" fmla="*/ 432118 h 830997"/>
              <a:gd name="csX10" fmla="*/ 4875713 w 4875713"/>
              <a:gd name="csY10" fmla="*/ 830997 h 830997"/>
              <a:gd name="csX11" fmla="*/ 4431481 w 4875713"/>
              <a:gd name="csY11" fmla="*/ 830997 h 830997"/>
              <a:gd name="csX12" fmla="*/ 3792221 w 4875713"/>
              <a:gd name="csY12" fmla="*/ 830997 h 830997"/>
              <a:gd name="csX13" fmla="*/ 3299232 w 4875713"/>
              <a:gd name="csY13" fmla="*/ 830997 h 830997"/>
              <a:gd name="csX14" fmla="*/ 2659972 w 4875713"/>
              <a:gd name="csY14" fmla="*/ 830997 h 830997"/>
              <a:gd name="csX15" fmla="*/ 2215741 w 4875713"/>
              <a:gd name="csY15" fmla="*/ 830997 h 830997"/>
              <a:gd name="csX16" fmla="*/ 1820266 w 4875713"/>
              <a:gd name="csY16" fmla="*/ 830997 h 830997"/>
              <a:gd name="csX17" fmla="*/ 1424792 w 4875713"/>
              <a:gd name="csY17" fmla="*/ 830997 h 830997"/>
              <a:gd name="csX18" fmla="*/ 834289 w 4875713"/>
              <a:gd name="csY18" fmla="*/ 830997 h 830997"/>
              <a:gd name="csX19" fmla="*/ 0 w 4875713"/>
              <a:gd name="csY19" fmla="*/ 830997 h 830997"/>
              <a:gd name="csX20" fmla="*/ 0 w 4875713"/>
              <a:gd name="csY20" fmla="*/ 415499 h 830997"/>
              <a:gd name="csX21" fmla="*/ 0 w 4875713"/>
              <a:gd name="csY21" fmla="*/ 0 h 83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875713" h="830997" fill="none" extrusionOk="0">
                <a:moveTo>
                  <a:pt x="0" y="0"/>
                </a:moveTo>
                <a:cubicBezTo>
                  <a:pt x="247106" y="-71596"/>
                  <a:pt x="479984" y="70430"/>
                  <a:pt x="639260" y="0"/>
                </a:cubicBezTo>
                <a:cubicBezTo>
                  <a:pt x="798536" y="-70430"/>
                  <a:pt x="993891" y="20790"/>
                  <a:pt x="1229763" y="0"/>
                </a:cubicBezTo>
                <a:cubicBezTo>
                  <a:pt x="1465635" y="-20790"/>
                  <a:pt x="1521761" y="13769"/>
                  <a:pt x="1771509" y="0"/>
                </a:cubicBezTo>
                <a:cubicBezTo>
                  <a:pt x="2021257" y="-13769"/>
                  <a:pt x="2198926" y="22760"/>
                  <a:pt x="2313255" y="0"/>
                </a:cubicBezTo>
                <a:cubicBezTo>
                  <a:pt x="2427584" y="-22760"/>
                  <a:pt x="2676709" y="4611"/>
                  <a:pt x="2952515" y="0"/>
                </a:cubicBezTo>
                <a:cubicBezTo>
                  <a:pt x="3228321" y="-4611"/>
                  <a:pt x="3316906" y="64456"/>
                  <a:pt x="3543018" y="0"/>
                </a:cubicBezTo>
                <a:cubicBezTo>
                  <a:pt x="3769130" y="-64456"/>
                  <a:pt x="3757070" y="1759"/>
                  <a:pt x="3938493" y="0"/>
                </a:cubicBezTo>
                <a:cubicBezTo>
                  <a:pt x="4119917" y="-1759"/>
                  <a:pt x="4534484" y="64709"/>
                  <a:pt x="4875713" y="0"/>
                </a:cubicBezTo>
                <a:cubicBezTo>
                  <a:pt x="4900101" y="157668"/>
                  <a:pt x="4843863" y="240282"/>
                  <a:pt x="4875713" y="432118"/>
                </a:cubicBezTo>
                <a:cubicBezTo>
                  <a:pt x="4907563" y="623954"/>
                  <a:pt x="4841241" y="694528"/>
                  <a:pt x="4875713" y="830997"/>
                </a:cubicBezTo>
                <a:cubicBezTo>
                  <a:pt x="4689315" y="884177"/>
                  <a:pt x="4587200" y="807239"/>
                  <a:pt x="4431481" y="830997"/>
                </a:cubicBezTo>
                <a:cubicBezTo>
                  <a:pt x="4275762" y="854755"/>
                  <a:pt x="3965265" y="775446"/>
                  <a:pt x="3792221" y="830997"/>
                </a:cubicBezTo>
                <a:cubicBezTo>
                  <a:pt x="3619177" y="886548"/>
                  <a:pt x="3419687" y="826456"/>
                  <a:pt x="3299232" y="830997"/>
                </a:cubicBezTo>
                <a:cubicBezTo>
                  <a:pt x="3178777" y="835538"/>
                  <a:pt x="2912963" y="779019"/>
                  <a:pt x="2659972" y="830997"/>
                </a:cubicBezTo>
                <a:cubicBezTo>
                  <a:pt x="2406981" y="882975"/>
                  <a:pt x="2408625" y="814806"/>
                  <a:pt x="2215741" y="830997"/>
                </a:cubicBezTo>
                <a:cubicBezTo>
                  <a:pt x="2022857" y="847188"/>
                  <a:pt x="2006598" y="820554"/>
                  <a:pt x="1820266" y="830997"/>
                </a:cubicBezTo>
                <a:cubicBezTo>
                  <a:pt x="1633935" y="841440"/>
                  <a:pt x="1566381" y="808435"/>
                  <a:pt x="1424792" y="830997"/>
                </a:cubicBezTo>
                <a:cubicBezTo>
                  <a:pt x="1283203" y="853559"/>
                  <a:pt x="1045425" y="805212"/>
                  <a:pt x="834289" y="830997"/>
                </a:cubicBezTo>
                <a:cubicBezTo>
                  <a:pt x="623153" y="856782"/>
                  <a:pt x="359472" y="829112"/>
                  <a:pt x="0" y="830997"/>
                </a:cubicBezTo>
                <a:cubicBezTo>
                  <a:pt x="-47585" y="703953"/>
                  <a:pt x="19868" y="554803"/>
                  <a:pt x="0" y="415499"/>
                </a:cubicBezTo>
                <a:cubicBezTo>
                  <a:pt x="-19868" y="276195"/>
                  <a:pt x="19858" y="155802"/>
                  <a:pt x="0" y="0"/>
                </a:cubicBezTo>
                <a:close/>
              </a:path>
              <a:path w="4875713" h="830997" stroke="0" extrusionOk="0">
                <a:moveTo>
                  <a:pt x="0" y="0"/>
                </a:moveTo>
                <a:cubicBezTo>
                  <a:pt x="182246" y="-38654"/>
                  <a:pt x="295873" y="213"/>
                  <a:pt x="492989" y="0"/>
                </a:cubicBezTo>
                <a:cubicBezTo>
                  <a:pt x="690105" y="-213"/>
                  <a:pt x="798019" y="43002"/>
                  <a:pt x="888463" y="0"/>
                </a:cubicBezTo>
                <a:cubicBezTo>
                  <a:pt x="978907" y="-43002"/>
                  <a:pt x="1335294" y="29554"/>
                  <a:pt x="1527723" y="0"/>
                </a:cubicBezTo>
                <a:cubicBezTo>
                  <a:pt x="1720152" y="-29554"/>
                  <a:pt x="1814245" y="41251"/>
                  <a:pt x="2020712" y="0"/>
                </a:cubicBezTo>
                <a:cubicBezTo>
                  <a:pt x="2227179" y="-41251"/>
                  <a:pt x="2411108" y="26446"/>
                  <a:pt x="2513701" y="0"/>
                </a:cubicBezTo>
                <a:cubicBezTo>
                  <a:pt x="2616294" y="-26446"/>
                  <a:pt x="2992542" y="25665"/>
                  <a:pt x="3152961" y="0"/>
                </a:cubicBezTo>
                <a:cubicBezTo>
                  <a:pt x="3313380" y="-25665"/>
                  <a:pt x="3498804" y="11685"/>
                  <a:pt x="3597193" y="0"/>
                </a:cubicBezTo>
                <a:cubicBezTo>
                  <a:pt x="3695582" y="-11685"/>
                  <a:pt x="3990551" y="73299"/>
                  <a:pt x="4236453" y="0"/>
                </a:cubicBezTo>
                <a:cubicBezTo>
                  <a:pt x="4482355" y="-73299"/>
                  <a:pt x="4689467" y="53615"/>
                  <a:pt x="4875713" y="0"/>
                </a:cubicBezTo>
                <a:cubicBezTo>
                  <a:pt x="4919079" y="150474"/>
                  <a:pt x="4840189" y="224543"/>
                  <a:pt x="4875713" y="415499"/>
                </a:cubicBezTo>
                <a:cubicBezTo>
                  <a:pt x="4911237" y="606455"/>
                  <a:pt x="4831357" y="665240"/>
                  <a:pt x="4875713" y="830997"/>
                </a:cubicBezTo>
                <a:cubicBezTo>
                  <a:pt x="4654825" y="837654"/>
                  <a:pt x="4543189" y="804654"/>
                  <a:pt x="4285210" y="830997"/>
                </a:cubicBezTo>
                <a:cubicBezTo>
                  <a:pt x="4027231" y="857340"/>
                  <a:pt x="3798331" y="787223"/>
                  <a:pt x="3645950" y="830997"/>
                </a:cubicBezTo>
                <a:cubicBezTo>
                  <a:pt x="3493569" y="874771"/>
                  <a:pt x="3281992" y="830126"/>
                  <a:pt x="3006690" y="830997"/>
                </a:cubicBezTo>
                <a:cubicBezTo>
                  <a:pt x="2731388" y="831868"/>
                  <a:pt x="2780993" y="816226"/>
                  <a:pt x="2562458" y="830997"/>
                </a:cubicBezTo>
                <a:cubicBezTo>
                  <a:pt x="2343923" y="845768"/>
                  <a:pt x="2206766" y="821585"/>
                  <a:pt x="2020712" y="830997"/>
                </a:cubicBezTo>
                <a:cubicBezTo>
                  <a:pt x="1834658" y="840409"/>
                  <a:pt x="1648941" y="791502"/>
                  <a:pt x="1381452" y="830997"/>
                </a:cubicBezTo>
                <a:cubicBezTo>
                  <a:pt x="1113963" y="870492"/>
                  <a:pt x="1109057" y="820296"/>
                  <a:pt x="839706" y="830997"/>
                </a:cubicBezTo>
                <a:cubicBezTo>
                  <a:pt x="570355" y="841698"/>
                  <a:pt x="373571" y="747773"/>
                  <a:pt x="0" y="830997"/>
                </a:cubicBezTo>
                <a:cubicBezTo>
                  <a:pt x="-10421" y="746849"/>
                  <a:pt x="34790" y="620977"/>
                  <a:pt x="0" y="432118"/>
                </a:cubicBezTo>
                <a:cubicBezTo>
                  <a:pt x="-34790" y="243259"/>
                  <a:pt x="5423" y="107780"/>
                  <a:pt x="0" y="0"/>
                </a:cubicBezTo>
                <a:close/>
              </a:path>
            </a:pathLst>
          </a:custGeom>
          <a:solidFill>
            <a:srgbClr val="C7E3E3"/>
          </a:solidFill>
          <a:ln>
            <a:solidFill>
              <a:srgbClr val="2E5EAA"/>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361799"/>
            <a:ext cx="8160655" cy="646331"/>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 </a:t>
            </a:r>
          </a:p>
        </p:txBody>
      </p:sp>
      <p:sp>
        <p:nvSpPr>
          <p:cNvPr id="6" name="TextBox 5"/>
          <p:cNvSpPr txBox="1"/>
          <p:nvPr/>
        </p:nvSpPr>
        <p:spPr>
          <a:xfrm>
            <a:off x="609600" y="2635252"/>
            <a:ext cx="5935169" cy="2739211"/>
          </a:xfrm>
          <a:prstGeom prst="rect">
            <a:avLst/>
          </a:prstGeom>
          <a:noFill/>
        </p:spPr>
        <p:txBody>
          <a:bodyPr wrap="square" rtlCol="0">
            <a:spAutoFit/>
          </a:bodyPr>
          <a:lstStyle/>
          <a:p>
            <a:r>
              <a:rPr lang="en-US" sz="2400"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sz="2000" dirty="0"/>
          </a:p>
          <a:p>
            <a:pPr marL="285750" indent="-285750">
              <a:buFont typeface="Arial" pitchFamily="34" charset="0"/>
              <a:buChar char="•"/>
            </a:pPr>
            <a:r>
              <a:rPr lang="en-US" sz="2000" dirty="0"/>
              <a:t>PC1: largely flipper length &amp; body mass: “penguin size”</a:t>
            </a:r>
          </a:p>
          <a:p>
            <a:pPr marL="285750" indent="-285750">
              <a:buFont typeface="Arial" pitchFamily="34" charset="0"/>
              <a:buChar char="•"/>
            </a:pPr>
            <a:r>
              <a:rPr lang="en-US" sz="2000" dirty="0"/>
              <a:t>PC2: relates to “bill shape”</a:t>
            </a:r>
          </a:p>
          <a:p>
            <a:endParaRPr lang="en-US" sz="2000" dirty="0"/>
          </a:p>
          <a:p>
            <a:r>
              <a:rPr lang="en-US" sz="2400"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8681" y="21707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cxnSp>
        <p:nvCxnSpPr>
          <p:cNvPr id="7" name="Straight Arrow Connector 6">
            <a:extLst>
              <a:ext uri="{FF2B5EF4-FFF2-40B4-BE49-F238E27FC236}">
                <a16:creationId xmlns:a16="http://schemas.microsoft.com/office/drawing/2014/main" id="{FBCCC623-DA42-330D-6041-F2D59EE2F594}"/>
              </a:ext>
            </a:extLst>
          </p:cNvPr>
          <p:cNvCxnSpPr/>
          <p:nvPr/>
        </p:nvCxnSpPr>
        <p:spPr>
          <a:xfrm>
            <a:off x="6883400" y="6216650"/>
            <a:ext cx="4241800" cy="0"/>
          </a:xfrm>
          <a:prstGeom prst="straightConnector1">
            <a:avLst/>
          </a:prstGeom>
          <a:ln w="34925">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DEFD19BC-4BAC-2E29-11C1-AF58D72F4EBF}"/>
              </a:ext>
            </a:extLst>
          </p:cNvPr>
          <p:cNvSpPr txBox="1"/>
          <p:nvPr/>
        </p:nvSpPr>
        <p:spPr>
          <a:xfrm>
            <a:off x="8337550" y="6049547"/>
            <a:ext cx="1333500" cy="338554"/>
          </a:xfrm>
          <a:prstGeom prst="rect">
            <a:avLst/>
          </a:prstGeom>
          <a:solidFill>
            <a:schemeClr val="bg1"/>
          </a:solidFill>
        </p:spPr>
        <p:txBody>
          <a:bodyPr wrap="square" rtlCol="0">
            <a:spAutoFit/>
          </a:bodyPr>
          <a:lstStyle/>
          <a:p>
            <a:pPr algn="ctr"/>
            <a:r>
              <a:rPr lang="en-CA" sz="1600" dirty="0"/>
              <a:t>Penguin size</a:t>
            </a:r>
          </a:p>
        </p:txBody>
      </p:sp>
      <p:cxnSp>
        <p:nvCxnSpPr>
          <p:cNvPr id="16" name="Straight Arrow Connector 15">
            <a:extLst>
              <a:ext uri="{FF2B5EF4-FFF2-40B4-BE49-F238E27FC236}">
                <a16:creationId xmlns:a16="http://schemas.microsoft.com/office/drawing/2014/main" id="{15078AC2-F803-479F-A51F-842DB07008CD}"/>
              </a:ext>
            </a:extLst>
          </p:cNvPr>
          <p:cNvCxnSpPr/>
          <p:nvPr/>
        </p:nvCxnSpPr>
        <p:spPr>
          <a:xfrm>
            <a:off x="11582400" y="2425700"/>
            <a:ext cx="0" cy="3543300"/>
          </a:xfrm>
          <a:prstGeom prst="straightConnector1">
            <a:avLst/>
          </a:prstGeom>
          <a:ln w="34925">
            <a:solidFill>
              <a:srgbClr val="FF0000"/>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2DAAF83C-FC55-EC80-F472-EBAC408A43E0}"/>
              </a:ext>
            </a:extLst>
          </p:cNvPr>
          <p:cNvSpPr txBox="1"/>
          <p:nvPr/>
        </p:nvSpPr>
        <p:spPr>
          <a:xfrm rot="5400000">
            <a:off x="11009191" y="4024398"/>
            <a:ext cx="1146419" cy="338554"/>
          </a:xfrm>
          <a:prstGeom prst="rect">
            <a:avLst/>
          </a:prstGeom>
          <a:solidFill>
            <a:schemeClr val="bg1"/>
          </a:solidFill>
        </p:spPr>
        <p:txBody>
          <a:bodyPr wrap="square" rtlCol="0">
            <a:spAutoFit/>
          </a:bodyPr>
          <a:lstStyle/>
          <a:p>
            <a:pPr algn="ctr"/>
            <a:r>
              <a:rPr lang="en-CA" sz="1600" dirty="0"/>
              <a:t>Bill shape</a:t>
            </a:r>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8477590" y="628416"/>
            <a:ext cx="568780" cy="568780"/>
          </a:xfrm>
          <a:prstGeom prst="rect">
            <a:avLst/>
          </a:prstGeom>
          <a:solidFill>
            <a:schemeClr val="accent1">
              <a:alpha val="0"/>
            </a:schemeClr>
          </a:solidFill>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053827" y="628416"/>
            <a:ext cx="568780" cy="568780"/>
          </a:xfrm>
          <a:prstGeom prst="rect">
            <a:avLst/>
          </a:prstGeom>
          <a:solidFill>
            <a:schemeClr val="accent1">
              <a:alpha val="0"/>
            </a:schemeClr>
          </a:solidFill>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865952" y="628416"/>
            <a:ext cx="568780" cy="568780"/>
          </a:xfrm>
          <a:prstGeom prst="rect">
            <a:avLst/>
          </a:prstGeom>
          <a:solidFill>
            <a:schemeClr val="accent1">
              <a:alpha val="0"/>
            </a:schemeClr>
          </a:solidFill>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826000"/>
            <a:ext cx="5927071" cy="1477328"/>
          </a:xfrm>
          <a:custGeom>
            <a:avLst/>
            <a:gdLst>
              <a:gd name="csX0" fmla="*/ 0 w 5927071"/>
              <a:gd name="csY0" fmla="*/ 0 h 1477328"/>
              <a:gd name="csX1" fmla="*/ 651978 w 5927071"/>
              <a:gd name="csY1" fmla="*/ 0 h 1477328"/>
              <a:gd name="csX2" fmla="*/ 1066873 w 5927071"/>
              <a:gd name="csY2" fmla="*/ 0 h 1477328"/>
              <a:gd name="csX3" fmla="*/ 1600309 w 5927071"/>
              <a:gd name="csY3" fmla="*/ 0 h 1477328"/>
              <a:gd name="csX4" fmla="*/ 2311558 w 5927071"/>
              <a:gd name="csY4" fmla="*/ 0 h 1477328"/>
              <a:gd name="csX5" fmla="*/ 2904265 w 5927071"/>
              <a:gd name="csY5" fmla="*/ 0 h 1477328"/>
              <a:gd name="csX6" fmla="*/ 3556243 w 5927071"/>
              <a:gd name="csY6" fmla="*/ 0 h 1477328"/>
              <a:gd name="csX7" fmla="*/ 4089679 w 5927071"/>
              <a:gd name="csY7" fmla="*/ 0 h 1477328"/>
              <a:gd name="csX8" fmla="*/ 4682386 w 5927071"/>
              <a:gd name="csY8" fmla="*/ 0 h 1477328"/>
              <a:gd name="csX9" fmla="*/ 5393635 w 5927071"/>
              <a:gd name="csY9" fmla="*/ 0 h 1477328"/>
              <a:gd name="csX10" fmla="*/ 5927071 w 5927071"/>
              <a:gd name="csY10" fmla="*/ 0 h 1477328"/>
              <a:gd name="csX11" fmla="*/ 5927071 w 5927071"/>
              <a:gd name="csY11" fmla="*/ 507216 h 1477328"/>
              <a:gd name="csX12" fmla="*/ 5927071 w 5927071"/>
              <a:gd name="csY12" fmla="*/ 970112 h 1477328"/>
              <a:gd name="csX13" fmla="*/ 5927071 w 5927071"/>
              <a:gd name="csY13" fmla="*/ 1477328 h 1477328"/>
              <a:gd name="csX14" fmla="*/ 5334364 w 5927071"/>
              <a:gd name="csY14" fmla="*/ 1477328 h 1477328"/>
              <a:gd name="csX15" fmla="*/ 4741657 w 5927071"/>
              <a:gd name="csY15" fmla="*/ 1477328 h 1477328"/>
              <a:gd name="csX16" fmla="*/ 4267491 w 5927071"/>
              <a:gd name="csY16" fmla="*/ 1477328 h 1477328"/>
              <a:gd name="csX17" fmla="*/ 3674784 w 5927071"/>
              <a:gd name="csY17" fmla="*/ 1477328 h 1477328"/>
              <a:gd name="csX18" fmla="*/ 3082077 w 5927071"/>
              <a:gd name="csY18" fmla="*/ 1477328 h 1477328"/>
              <a:gd name="csX19" fmla="*/ 2489370 w 5927071"/>
              <a:gd name="csY19" fmla="*/ 1477328 h 1477328"/>
              <a:gd name="csX20" fmla="*/ 1896663 w 5927071"/>
              <a:gd name="csY20" fmla="*/ 1477328 h 1477328"/>
              <a:gd name="csX21" fmla="*/ 1363226 w 5927071"/>
              <a:gd name="csY21" fmla="*/ 1477328 h 1477328"/>
              <a:gd name="csX22" fmla="*/ 711249 w 5927071"/>
              <a:gd name="csY22" fmla="*/ 1477328 h 1477328"/>
              <a:gd name="csX23" fmla="*/ 0 w 5927071"/>
              <a:gd name="csY23" fmla="*/ 1477328 h 1477328"/>
              <a:gd name="csX24" fmla="*/ 0 w 5927071"/>
              <a:gd name="csY24" fmla="*/ 955339 h 1477328"/>
              <a:gd name="csX25" fmla="*/ 0 w 5927071"/>
              <a:gd name="csY25" fmla="*/ 44812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fill="none" extrusionOk="0">
                <a:moveTo>
                  <a:pt x="0" y="0"/>
                </a:moveTo>
                <a:cubicBezTo>
                  <a:pt x="269989" y="-43369"/>
                  <a:pt x="349152" y="22592"/>
                  <a:pt x="651978" y="0"/>
                </a:cubicBezTo>
                <a:cubicBezTo>
                  <a:pt x="954804" y="-22592"/>
                  <a:pt x="961774" y="10943"/>
                  <a:pt x="1066873" y="0"/>
                </a:cubicBezTo>
                <a:cubicBezTo>
                  <a:pt x="1171972" y="-10943"/>
                  <a:pt x="1408903" y="1726"/>
                  <a:pt x="1600309" y="0"/>
                </a:cubicBezTo>
                <a:cubicBezTo>
                  <a:pt x="1791715" y="-1726"/>
                  <a:pt x="2102856" y="7883"/>
                  <a:pt x="2311558" y="0"/>
                </a:cubicBezTo>
                <a:cubicBezTo>
                  <a:pt x="2520260" y="-7883"/>
                  <a:pt x="2765343" y="5840"/>
                  <a:pt x="2904265" y="0"/>
                </a:cubicBezTo>
                <a:cubicBezTo>
                  <a:pt x="3043187" y="-5840"/>
                  <a:pt x="3391392" y="33181"/>
                  <a:pt x="3556243" y="0"/>
                </a:cubicBezTo>
                <a:cubicBezTo>
                  <a:pt x="3721094" y="-33181"/>
                  <a:pt x="3844283" y="2496"/>
                  <a:pt x="4089679" y="0"/>
                </a:cubicBezTo>
                <a:cubicBezTo>
                  <a:pt x="4335075" y="-2496"/>
                  <a:pt x="4545842" y="31497"/>
                  <a:pt x="4682386" y="0"/>
                </a:cubicBezTo>
                <a:cubicBezTo>
                  <a:pt x="4818930" y="-31497"/>
                  <a:pt x="5159542" y="53863"/>
                  <a:pt x="5393635" y="0"/>
                </a:cubicBezTo>
                <a:cubicBezTo>
                  <a:pt x="5627728" y="-53863"/>
                  <a:pt x="5816345" y="16423"/>
                  <a:pt x="5927071" y="0"/>
                </a:cubicBezTo>
                <a:cubicBezTo>
                  <a:pt x="5947345" y="159131"/>
                  <a:pt x="5925450" y="328376"/>
                  <a:pt x="5927071" y="507216"/>
                </a:cubicBezTo>
                <a:cubicBezTo>
                  <a:pt x="5928692" y="686056"/>
                  <a:pt x="5926571" y="857045"/>
                  <a:pt x="5927071" y="970112"/>
                </a:cubicBezTo>
                <a:cubicBezTo>
                  <a:pt x="5927571" y="1083179"/>
                  <a:pt x="5898057" y="1334746"/>
                  <a:pt x="5927071" y="1477328"/>
                </a:cubicBezTo>
                <a:cubicBezTo>
                  <a:pt x="5798598" y="1497755"/>
                  <a:pt x="5489698" y="1408582"/>
                  <a:pt x="5334364" y="1477328"/>
                </a:cubicBezTo>
                <a:cubicBezTo>
                  <a:pt x="5179030" y="1546074"/>
                  <a:pt x="5002491" y="1420613"/>
                  <a:pt x="4741657" y="1477328"/>
                </a:cubicBezTo>
                <a:cubicBezTo>
                  <a:pt x="4480823" y="1534043"/>
                  <a:pt x="4477923" y="1455649"/>
                  <a:pt x="4267491" y="1477328"/>
                </a:cubicBezTo>
                <a:cubicBezTo>
                  <a:pt x="4057059" y="1499007"/>
                  <a:pt x="3867401" y="1422956"/>
                  <a:pt x="3674784" y="1477328"/>
                </a:cubicBezTo>
                <a:cubicBezTo>
                  <a:pt x="3482167" y="1531700"/>
                  <a:pt x="3337221" y="1449322"/>
                  <a:pt x="3082077" y="1477328"/>
                </a:cubicBezTo>
                <a:cubicBezTo>
                  <a:pt x="2826933" y="1505334"/>
                  <a:pt x="2645381" y="1424620"/>
                  <a:pt x="2489370" y="1477328"/>
                </a:cubicBezTo>
                <a:cubicBezTo>
                  <a:pt x="2333359" y="1530036"/>
                  <a:pt x="2073914" y="1453990"/>
                  <a:pt x="1896663" y="1477328"/>
                </a:cubicBezTo>
                <a:cubicBezTo>
                  <a:pt x="1719412" y="1500666"/>
                  <a:pt x="1504472" y="1461281"/>
                  <a:pt x="1363226" y="1477328"/>
                </a:cubicBezTo>
                <a:cubicBezTo>
                  <a:pt x="1221980" y="1493375"/>
                  <a:pt x="971377" y="1462298"/>
                  <a:pt x="711249" y="1477328"/>
                </a:cubicBezTo>
                <a:cubicBezTo>
                  <a:pt x="451121" y="1492358"/>
                  <a:pt x="308405" y="1394364"/>
                  <a:pt x="0" y="1477328"/>
                </a:cubicBezTo>
                <a:cubicBezTo>
                  <a:pt x="-30381" y="1227152"/>
                  <a:pt x="39270" y="1168437"/>
                  <a:pt x="0" y="955339"/>
                </a:cubicBezTo>
                <a:cubicBezTo>
                  <a:pt x="-39270" y="742241"/>
                  <a:pt x="35032" y="612803"/>
                  <a:pt x="0" y="448123"/>
                </a:cubicBezTo>
                <a:cubicBezTo>
                  <a:pt x="-35032" y="283443"/>
                  <a:pt x="22040" y="114021"/>
                  <a:pt x="0" y="0"/>
                </a:cubicBezTo>
                <a:close/>
              </a:path>
              <a:path w="5927071" h="1477328" stroke="0"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4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a:t>
            </a:r>
            <a:r>
              <a:rPr lang="en-US" sz="2000" b="1" dirty="0"/>
              <a:t>Heart</a:t>
            </a:r>
            <a:r>
              <a:rPr lang="en-US" sz="2000" dirty="0"/>
              <a: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a:t>
            </a:r>
            <a:r>
              <a:rPr lang="en-US" sz="2000" b="1" dirty="0"/>
              <a:t>Stress</a:t>
            </a:r>
            <a:r>
              <a:rPr lang="en-US" sz="2000" dirty="0"/>
              <a:t>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sym typeface="Symbol"/>
              </a:rPr>
              <a:t>(middle)</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a:t>
            </a:r>
            <a:r>
              <a:rPr lang="en-CA" b="1" dirty="0"/>
              <a:t>wrong plot </a:t>
            </a:r>
            <a:r>
              <a:rPr lang="en-CA" dirty="0"/>
              <a:t>for a </a:t>
            </a:r>
            <a:r>
              <a:rPr lang="en-CA" b="1" dirty="0"/>
              <a:t>multivariate</a:t>
            </a:r>
            <a:r>
              <a:rPr lang="en-CA" dirty="0"/>
              <a:t>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46278" y="274493"/>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ellipses</a:t>
            </a:r>
            <a:r>
              <a:rPr lang="en-CA" dirty="0">
                <a:solidFill>
                  <a:srgbClr val="262626"/>
                </a:solidFill>
                <a:latin typeface="Aptos" panose="020B0004020202020204" pitchFamily="34" charset="0"/>
              </a:rPr>
              <a:t> of </a:t>
            </a:r>
            <a:r>
              <a:rPr lang="el-GR" b="1"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ellipses are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principal component space of the predictors</a:t>
            </a:r>
          </a:p>
          <a:p>
            <a:r>
              <a:rPr lang="en-CA" dirty="0">
                <a:sym typeface="Symbol" panose="05050102010706020507" pitchFamily="18" charset="2"/>
              </a:rPr>
              <a:t> </a:t>
            </a:r>
            <a:r>
              <a:rPr dirty="0"/>
              <a:t>Shrinkage happens mostly in the smallest dimensions</a:t>
            </a:r>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a:t>
            </a:r>
            <a:r>
              <a:rPr lang="en-US" b="1" dirty="0"/>
              <a:t>data ellipse of the fitted values </a:t>
            </a:r>
            <a:r>
              <a:rPr lang="en-US" dirty="0"/>
              <a:t>(group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a:t>
            </a:r>
            <a:r>
              <a:rPr lang="en-US" b="1" dirty="0"/>
              <a:t>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8" name="HE effect scaling" descr="peng-HE-signif-1-effect.png">
            <a:extLst>
              <a:ext uri="{FF2B5EF4-FFF2-40B4-BE49-F238E27FC236}">
                <a16:creationId xmlns:a16="http://schemas.microsoft.com/office/drawing/2014/main" id="{E52D8C80-6FB5-0801-CE7E-54F9C8C819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6833" y="1579126"/>
            <a:ext cx="3931920" cy="3931920"/>
          </a:xfrm>
          <a:prstGeom prst="rect">
            <a:avLst/>
          </a:prstGeom>
        </p:spPr>
      </p:pic>
      <p:pic>
        <p:nvPicPr>
          <p:cNvPr id="10" name="HE significance scaling" descr="peng-HE-signif-2-signif.png">
            <a:extLst>
              <a:ext uri="{FF2B5EF4-FFF2-40B4-BE49-F238E27FC236}">
                <a16:creationId xmlns:a16="http://schemas.microsoft.com/office/drawing/2014/main" id="{BDA2070B-83BC-8C83-D612-81E98AD00E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88753" y="1579126"/>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a:t>
            </a:r>
            <a:r>
              <a:rPr lang="en-CA" b="1" dirty="0"/>
              <a:t>outside</a:t>
            </a:r>
            <a:r>
              <a:rPr lang="en-CA" dirty="0"/>
              <a:t>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1" presetClass="entr" presetSubtype="0" fill="hold" nodeType="with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a:t>
            </a:r>
            <a:r>
              <a:rPr lang="en-CA" b="1" dirty="0"/>
              <a:t>H</a:t>
            </a:r>
            <a:r>
              <a:rPr lang="en-CA" dirty="0"/>
              <a:t>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latin typeface="Consolas" panose="020B0609020204030204" pitchFamily="49" charset="0"/>
              </a:rPr>
              <a:t>pairs(peng.mod,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a:bodyPr>
          <a:lstStyle/>
          <a:p>
            <a:r>
              <a:rPr lang="en-CA" dirty="0"/>
              <a:t>NLSY data: 243 children from the National Longitudinal Survey of Youth</a:t>
            </a:r>
            <a:endParaRPr dirty="0"/>
          </a:p>
          <a:p>
            <a:pPr lvl="1"/>
            <a:r>
              <a:rPr lang="en-CA" dirty="0"/>
              <a:t>Outcomes: reading, math</a:t>
            </a:r>
            <a:endParaRPr dirty="0"/>
          </a:p>
          <a:p>
            <a:pPr lvl="1"/>
            <a:r>
              <a:rPr lang="en-CA" dirty="0"/>
              <a:t>Predictors: father’s income &amp; education</a:t>
            </a:r>
            <a:endParaRPr dirty="0"/>
          </a:p>
          <a:p>
            <a:r>
              <a:rPr b="1" dirty="0"/>
              <a:t>Length</a:t>
            </a:r>
            <a:r>
              <a:rPr dirty="0"/>
              <a:t>: the strength of the relationship</a:t>
            </a:r>
          </a:p>
          <a:p>
            <a:r>
              <a:rPr b="1" dirty="0"/>
              <a:t>Direction</a:t>
            </a:r>
            <a:r>
              <a:rPr dirty="0"/>
              <a:t>: how the predictor relates to the two responses</a:t>
            </a:r>
          </a:p>
          <a:p>
            <a:r>
              <a:rPr lang="en-CA" b="1" dirty="0"/>
              <a:t>O</a:t>
            </a:r>
            <a:r>
              <a:rPr b="1" dirty="0" err="1"/>
              <a:t>verall</a:t>
            </a:r>
            <a:r>
              <a:rPr b="1" dirty="0"/>
              <a:t> test </a:t>
            </a:r>
            <a:r>
              <a:rPr dirty="0"/>
              <a:t>is the</a:t>
            </a:r>
            <a:r>
              <a:rPr lang="en-CA" dirty="0"/>
              <a:t> </a:t>
            </a:r>
            <a:r>
              <a:rPr lang="en-CA" b="1" dirty="0"/>
              <a:t>H</a:t>
            </a:r>
            <a:r>
              <a:rPr dirty="0"/>
              <a:t> ellipse for all predictors jointly</a:t>
            </a:r>
            <a:r>
              <a:rPr lang="en-CA" dirty="0"/>
              <a:t>, H</a:t>
            </a:r>
            <a:r>
              <a:rPr lang="en-CA" baseline="-25000" dirty="0"/>
              <a:t>0</a:t>
            </a:r>
            <a:r>
              <a:rPr lang="en-CA" dirty="0"/>
              <a:t> : </a:t>
            </a:r>
            <a:r>
              <a:rPr lang="en-CA" b="1" dirty="0"/>
              <a:t>B</a:t>
            </a:r>
            <a:r>
              <a:rPr lang="en-CA" dirty="0"/>
              <a:t> = </a:t>
            </a:r>
            <a:r>
              <a:rPr lang="en-CA" b="1" dirty="0"/>
              <a:t>0</a:t>
            </a:r>
            <a:endParaRPr b="1" dirty="0"/>
          </a:p>
        </p:txBody>
      </p:sp>
      <p:pic>
        <p:nvPicPr>
          <p:cNvPr id="7" name="NLSY HE overall" descr="NLSY-HE-overall.png">
            <a:extLst>
              <a:ext uri="{FF2B5EF4-FFF2-40B4-BE49-F238E27FC236}">
                <a16:creationId xmlns:a16="http://schemas.microsoft.com/office/drawing/2014/main" id="{FD320DB8-06C2-841C-E34C-8174AE36D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1224" y="1439863"/>
            <a:ext cx="4896000" cy="4896000"/>
          </a:xfrm>
          <a:prstGeom prst="rect">
            <a:avLst/>
          </a:prstGeom>
        </p:spPr>
      </p:pic>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12.16</a:t>
            </a:r>
            <a:endParaRPr sz="1100">
              <a:solidFill>
                <a:srgbClr val="707070"/>
              </a:solidFill>
            </a:endParaRP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9734449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rPr lang="en-CA" dirty="0"/>
              <a:t>Biplot version of</a:t>
            </a:r>
            <a:r>
              <a:rPr dirty="0"/>
              <a:t>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p>
          <a:p>
            <a:r>
              <a:rPr lang="en-CA" dirty="0"/>
              <a:t>Blogs &amp; random musings: </a:t>
            </a:r>
            <a:r>
              <a:rPr lang="en-CA" dirty="0">
                <a:hlinkClick r:id="rId4"/>
              </a:rPr>
              <a:t>https://friendly.github.io/blog/</a:t>
            </a:r>
            <a:r>
              <a:rPr lang="en-CA" dirty="0"/>
              <a:t> </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5"/>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7220</TotalTime>
  <Words>6268</Words>
  <Application>Microsoft Office PowerPoint</Application>
  <PresentationFormat>Widescreen</PresentationFormat>
  <Paragraphs>652</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Cascadia Code</vt:lpstr>
      <vt:lpstr>Consolas</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Biplot version of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125</cp:revision>
  <dcterms:created xsi:type="dcterms:W3CDTF">2026-10-06T18:00:03Z</dcterms:created>
  <dcterms:modified xsi:type="dcterms:W3CDTF">2026-10-28T21:10:19Z</dcterms:modified>
</cp:coreProperties>
</file>