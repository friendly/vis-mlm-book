
<file path=[Content_Types].xml><?xml version="1.0" encoding="utf-8"?>
<Types xmlns="http://schemas.openxmlformats.org/package/2006/content-types">
  <Default Extension="bin" ContentType="application/vnd.openxmlformats-officedocument.oleObject"/>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7"/>
  </p:notesMasterIdLst>
  <p:sldIdLst>
    <p:sldId id="256" r:id="rId2"/>
    <p:sldId id="257" r:id="rId3"/>
    <p:sldId id="325" r:id="rId4"/>
    <p:sldId id="258" r:id="rId5"/>
    <p:sldId id="259" r:id="rId6"/>
    <p:sldId id="260" r:id="rId7"/>
    <p:sldId id="261" r:id="rId8"/>
    <p:sldId id="262" r:id="rId9"/>
    <p:sldId id="263" r:id="rId10"/>
    <p:sldId id="475" r:id="rId11"/>
    <p:sldId id="456" r:id="rId12"/>
    <p:sldId id="457" r:id="rId13"/>
    <p:sldId id="458" r:id="rId14"/>
    <p:sldId id="326" r:id="rId15"/>
    <p:sldId id="266" r:id="rId16"/>
    <p:sldId id="470" r:id="rId17"/>
    <p:sldId id="473" r:id="rId18"/>
    <p:sldId id="267" r:id="rId19"/>
    <p:sldId id="474" r:id="rId20"/>
    <p:sldId id="268" r:id="rId21"/>
    <p:sldId id="269" r:id="rId22"/>
    <p:sldId id="270" r:id="rId23"/>
    <p:sldId id="271" r:id="rId24"/>
    <p:sldId id="273" r:id="rId25"/>
    <p:sldId id="467" r:id="rId26"/>
    <p:sldId id="274" r:id="rId27"/>
    <p:sldId id="275" r:id="rId28"/>
    <p:sldId id="276" r:id="rId29"/>
    <p:sldId id="468" r:id="rId30"/>
    <p:sldId id="277" r:id="rId31"/>
    <p:sldId id="278" r:id="rId32"/>
    <p:sldId id="282" r:id="rId33"/>
    <p:sldId id="471" r:id="rId34"/>
    <p:sldId id="272" r:id="rId35"/>
    <p:sldId id="281" r:id="rId36"/>
    <p:sldId id="472" r:id="rId37"/>
    <p:sldId id="460" r:id="rId38"/>
    <p:sldId id="289" r:id="rId39"/>
    <p:sldId id="461" r:id="rId40"/>
    <p:sldId id="293" r:id="rId41"/>
    <p:sldId id="294" r:id="rId42"/>
    <p:sldId id="295" r:id="rId43"/>
    <p:sldId id="465" r:id="rId44"/>
    <p:sldId id="297" r:id="rId45"/>
    <p:sldId id="476" r:id="rId46"/>
    <p:sldId id="298" r:id="rId47"/>
    <p:sldId id="466" r:id="rId48"/>
    <p:sldId id="327" r:id="rId49"/>
    <p:sldId id="328" r:id="rId50"/>
    <p:sldId id="329" r:id="rId51"/>
    <p:sldId id="302" r:id="rId52"/>
    <p:sldId id="303" r:id="rId53"/>
    <p:sldId id="449" r:id="rId54"/>
    <p:sldId id="477" r:id="rId55"/>
    <p:sldId id="469" r:id="rId56"/>
    <p:sldId id="318" r:id="rId57"/>
    <p:sldId id="319" r:id="rId58"/>
    <p:sldId id="320" r:id="rId59"/>
    <p:sldId id="310" r:id="rId60"/>
    <p:sldId id="311" r:id="rId61"/>
    <p:sldId id="313" r:id="rId62"/>
    <p:sldId id="314" r:id="rId63"/>
    <p:sldId id="322" r:id="rId64"/>
    <p:sldId id="323" r:id="rId65"/>
    <p:sldId id="324" r:id="rId6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0. Why a romance?" id="{1AEE5DC6-40B2-471D-9CB4-004A8392A312}">
          <p14:sldIdLst>
            <p14:sldId id="259"/>
            <p14:sldId id="260"/>
            <p14:sldId id="261"/>
            <p14:sldId id="262"/>
            <p14:sldId id="263"/>
          </p14:sldIdLst>
        </p14:section>
        <p14:section name="1. Ellipses everywhere: seeing multivariate data" id="{342421AD-6C42-4061-9440-37F93863C901}">
          <p14:sldIdLst>
            <p14:sldId id="475"/>
            <p14:sldId id="456"/>
            <p14:sldId id="457"/>
            <p14:sldId id="458"/>
            <p14:sldId id="326"/>
            <p14:sldId id="266"/>
            <p14:sldId id="470"/>
            <p14:sldId id="473"/>
            <p14:sldId id="267"/>
            <p14:sldId id="474"/>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293"/>
            <p14:sldId id="294"/>
            <p14:sldId id="295"/>
            <p14:sldId id="465"/>
            <p14:sldId id="297"/>
            <p14:sldId id="476"/>
          </p14:sldIdLst>
        </p14:section>
        <p14:section name="4. The HE plot framework" id="{19AF699C-459B-4008-BE93-C8454174BFDD}">
          <p14:sldIdLst>
            <p14:sldId id="298"/>
            <p14:sldId id="466"/>
            <p14:sldId id="327"/>
            <p14:sldId id="328"/>
            <p14:sldId id="329"/>
            <p14:sldId id="302"/>
            <p14:sldId id="303"/>
            <p14:sldId id="449"/>
            <p14:sldId id="477"/>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7E3E3"/>
    <a:srgbClr val="FFFFFF"/>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995" autoAdjust="0"/>
  </p:normalViewPr>
  <p:slideViewPr>
    <p:cSldViewPr snapToGrid="0">
      <p:cViewPr varScale="1">
        <p:scale>
          <a:sx n="75" d="100"/>
          <a:sy n="75" d="100"/>
        </p:scale>
        <p:origin x="870" y="66"/>
      </p:cViewPr>
      <p:guideLst/>
    </p:cSldViewPr>
  </p:slideViewPr>
  <p:notesTextViewPr>
    <p:cViewPr>
      <p:scale>
        <a:sx n="1" d="1"/>
        <a:sy n="1" d="1"/>
      </p:scale>
      <p:origin x="0" y="0"/>
    </p:cViewPr>
  </p:notesTextViewPr>
  <p:sorterViewPr>
    <p:cViewPr varScale="1">
      <p:scale>
        <a:sx n="100" d="100"/>
        <a:sy n="100" d="100"/>
      </p:scale>
      <p:origin x="0" y="-15312"/>
    </p:cViewPr>
  </p:sorterViewPr>
  <p:notesViewPr>
    <p:cSldViewPr snapToGrid="0">
      <p:cViewPr varScale="1">
        <p:scale>
          <a:sx n="78" d="100"/>
          <a:sy n="78" d="100"/>
        </p:scale>
        <p:origin x="3678" y="10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a:t>The R Project for Statistical Computing</a:t>
            </a:r>
            <a:r>
              <a:rPr lang="en-CA"/>
              <a:t> </a:t>
            </a:r>
            <a:r>
              <a:rPr lang="en-CA" dirty="0"/>
              <a:t>&amp;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a:t>
            </a:r>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a:t>
            </a:r>
            <a:r>
              <a:rPr lang="en-CA"/>
              <a:t>press.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 large part of my work reflects Chairman Mao’s assertion of </a:t>
            </a:r>
            <a:r>
              <a:rPr lang="en-CA" b="1" dirty="0"/>
              <a:t>Theory into Practice</a:t>
            </a:r>
            <a:r>
              <a:rPr lang="en-CA" dirty="0"/>
              <a:t>, and </a:t>
            </a:r>
            <a:r>
              <a:rPr lang="en-CA"/>
              <a:t>Tukey’s corollary </a:t>
            </a:r>
            <a:r>
              <a:rPr lang="en-CA" dirty="0"/>
              <a:t>that statistical / graphical methods are only useful if people can use them.</a:t>
            </a:r>
          </a:p>
          <a:p>
            <a:r>
              <a:rPr lang="en-CA" dirty="0"/>
              <a:t>In the work towards this book, I created a number of R packages to make these new graphical methods easily accessible.</a:t>
            </a:r>
          </a:p>
          <a:p>
            <a:r>
              <a:rPr lang="en-CA" dirty="0"/>
              <a:t>These five packages implement most of what follows: </a:t>
            </a:r>
            <a:r>
              <a:rPr lang="en-CA" dirty="0" err="1"/>
              <a:t>heplots</a:t>
            </a:r>
            <a:r>
              <a:rPr lang="en-CA" dirty="0"/>
              <a:t> (HE plots and related methods), </a:t>
            </a:r>
            <a:r>
              <a:rPr lang="en-CA" dirty="0" err="1"/>
              <a:t>candisc</a:t>
            </a:r>
            <a:r>
              <a:rPr lang="en-CA" dirty="0"/>
              <a:t> (canonical views), </a:t>
            </a:r>
            <a:r>
              <a:rPr lang="en-CA" dirty="0" err="1"/>
              <a:t>mvinfluence</a:t>
            </a:r>
            <a:r>
              <a:rPr lang="en-CA" dirty="0"/>
              <a:t> (multivariate influence), </a:t>
            </a:r>
            <a:r>
              <a:rPr lang="en-CA" dirty="0" err="1"/>
              <a:t>genridge</a:t>
            </a:r>
            <a:r>
              <a:rPr lang="en-CA" dirty="0"/>
              <a:t>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Roadmap</a:t>
            </a:r>
            <a:r>
              <a:rPr lang="en-CA" dirty="0"/>
              <a:t>:</a:t>
            </a:r>
            <a:r>
              <a:rPr dirty="0"/>
              <a:t> </a:t>
            </a:r>
            <a:r>
              <a:rPr lang="en-CA" dirty="0"/>
              <a:t>T</a:t>
            </a:r>
            <a:r>
              <a:rPr dirty="0"/>
              <a:t>he book</a:t>
            </a:r>
            <a:r>
              <a:rPr lang="en-CA" dirty="0"/>
              <a:t> follows a linear path</a:t>
            </a:r>
            <a:r>
              <a:rPr dirty="0"/>
              <a:t>: plots of data, then models with one response, then models with many responses. </a:t>
            </a:r>
            <a:endParaRPr lang="en-CA" dirty="0"/>
          </a:p>
          <a:p>
            <a:r>
              <a:rPr lang="en-CA" dirty="0"/>
              <a:t>Today, I want to talk about the main themes of the book.</a:t>
            </a:r>
          </a:p>
          <a:p>
            <a:r>
              <a:rPr lang="en-CA" dirty="0"/>
              <a:t>Themes: </a:t>
            </a:r>
          </a:p>
          <a:p>
            <a:pPr marL="171450" indent="-171450">
              <a:buFont typeface="Arial" panose="020B0604020202020204" pitchFamily="34" charset="0"/>
              <a:buChar char="•"/>
            </a:pPr>
            <a:r>
              <a:rPr dirty="0"/>
              <a:t>The ellipse is the recurring </a:t>
            </a:r>
            <a:r>
              <a:rPr lang="en-CA" dirty="0"/>
              <a:t>visual </a:t>
            </a:r>
            <a:r>
              <a:rPr dirty="0"/>
              <a:t>device</a:t>
            </a:r>
            <a:r>
              <a:rPr lang="en-CA" dirty="0"/>
              <a:t> I use to understand multivariate phenomena. </a:t>
            </a:r>
          </a:p>
          <a:p>
            <a:pPr marL="171450" indent="-171450">
              <a:buFont typeface="Arial" panose="020B0604020202020204" pitchFamily="34" charset="0"/>
              <a:buChar char="•"/>
            </a:pPr>
            <a:r>
              <a:rPr lang="en-CA" dirty="0"/>
              <a:t>I’ll try to show how a wide variety of multivariate problems can be understood with insightful visual tools.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a:t>
            </a:r>
            <a:r>
              <a:rPr lang="en-CA"/>
              <a:t>high-D phenomena </a:t>
            </a:r>
            <a:r>
              <a:rPr lang="en-CA" dirty="0"/>
              <a:t>data through the visual and analysis tools we have at our disposal</a:t>
            </a:r>
          </a:p>
          <a:p>
            <a:r>
              <a:rPr lang="en-CA" dirty="0"/>
              <a:t>Our goal in data analysis &amp; visualization should always be to help </a:t>
            </a:r>
            <a:r>
              <a:rPr lang="en-CA" b="1" dirty="0"/>
              <a:t>understand scientific phenomena</a:t>
            </a:r>
          </a:p>
          <a:p>
            <a:r>
              <a:rPr lang="en-CA" dirty="0"/>
              <a:t>Yet our </a:t>
            </a:r>
            <a:r>
              <a:rPr lang="en-CA"/>
              <a:t>data often live </a:t>
            </a:r>
            <a:r>
              <a:rPr lang="en-CA" dirty="0"/>
              <a:t>in </a:t>
            </a:r>
            <a:r>
              <a:rPr lang="en-CA" dirty="0" err="1"/>
              <a:t>Spaceland</a:t>
            </a:r>
            <a:r>
              <a:rPr lang="en-CA" dirty="0"/>
              <a:t>, sometimes high-D. </a:t>
            </a:r>
          </a:p>
          <a:p>
            <a:r>
              <a:rPr lang="en-CA" dirty="0"/>
              <a:t>But, we are forced to plot them in 2D space.</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book's subtitle is a nod to Abbott's 'Flatland: A Romance of Many Dimensions'. </a:t>
            </a:r>
            <a:endParaRPr lang="en-CA" dirty="0"/>
          </a:p>
          <a:p>
            <a:r>
              <a:rPr dirty="0"/>
              <a:t>The Flatlander sees only a slice of the sphere. </a:t>
            </a:r>
            <a:endParaRPr lang="en-CA" dirty="0"/>
          </a:p>
          <a:p>
            <a:r>
              <a:rPr dirty="0"/>
              <a:t>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a:t>
            </a:r>
            <a:r>
              <a:rPr lang="en-CA" dirty="0"/>
              <a:t>P</a:t>
            </a:r>
            <a:r>
              <a:rPr dirty="0" err="1"/>
              <a:t>ollen</a:t>
            </a:r>
            <a:r>
              <a:rPr dirty="0"/>
              <a:t> data</a:t>
            </a:r>
            <a:r>
              <a:rPr lang="en-CA" dirty="0"/>
              <a:t>set contains 5 variables measured on grains of pollen. It was created for the 1986 JSM Data Exposition:</a:t>
            </a:r>
          </a:p>
          <a:p>
            <a:r>
              <a:rPr lang="en-CA" dirty="0"/>
              <a:t>The invitation was “Show your stuff!”, “Find something interesting here”.</a:t>
            </a:r>
          </a:p>
          <a:p>
            <a:r>
              <a:rPr lang="en-CA" dirty="0"/>
              <a:t>It was a challenge, because, to most graphic methods of the day, it</a:t>
            </a:r>
            <a:r>
              <a:rPr dirty="0"/>
              <a:t> look</a:t>
            </a:r>
            <a:r>
              <a:rPr lang="en-CA" dirty="0"/>
              <a:t>s</a:t>
            </a:r>
            <a:r>
              <a:rPr dirty="0"/>
              <a:t> like a featureless cloud </a:t>
            </a:r>
            <a:r>
              <a:rPr lang="en-CA" dirty="0"/>
              <a:t>of points.</a:t>
            </a:r>
          </a:p>
          <a:p>
            <a:r>
              <a:rPr lang="en-CA" dirty="0"/>
              <a:t>The secret hidden there was only revealed from one orientation in 5D space when </a:t>
            </a:r>
            <a:r>
              <a:rPr dirty="0"/>
              <a:t>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 example of a </a:t>
            </a:r>
            <a:r>
              <a:rPr lang="en-CA" dirty="0"/>
              <a:t>real </a:t>
            </a:r>
            <a:r>
              <a:rPr dirty="0"/>
              <a:t>scientific discovery that came from looking at data in more than two dimensions. </a:t>
            </a:r>
            <a:endParaRPr lang="en-CA" dirty="0"/>
          </a:p>
          <a:p>
            <a:r>
              <a:rPr dirty="0"/>
              <a:t>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table classifies linear model techniques by the number and type of responses and predictors. The right-hand column, multivariate responses, is where graphical methods have been thin.</a:t>
            </a:r>
            <a:endParaRPr lang="en-CA" dirty="0"/>
          </a:p>
          <a:p>
            <a:r>
              <a:rPr lang="en-CA" dirty="0"/>
              <a:t>The beauty of R formula notation is that it makes it easy to fit MLMs, just by adding additional responses to the LHS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a:p>
            <a:r>
              <a:rPr lang="en-CA" dirty="0"/>
              <a:t>How can we do that?</a:t>
            </a:r>
          </a:p>
          <a:p>
            <a:r>
              <a:rPr lang="en-CA" dirty="0"/>
              <a:t>A primary visual device is an ellipsoid, used to represent multivariate location &amp; scatter</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a:t>
            </a:r>
            <a:r>
              <a:rPr lang="en-US" altLang="en-US" b="1" dirty="0"/>
              <a:t>semi-graphic table</a:t>
            </a:r>
            <a:r>
              <a:rPr lang="en-US" altLang="en-US" dirty="0"/>
              <a:t>, recording frequency in this bivariate distribution.  </a:t>
            </a:r>
          </a:p>
          <a:p>
            <a:pPr marL="285750" indent="-285750">
              <a:buFont typeface="Arial" panose="020B0604020202020204" pitchFamily="34" charset="0"/>
              <a:buChar char="•"/>
            </a:pPr>
            <a:r>
              <a:rPr lang="en-US" altLang="en-US" dirty="0"/>
              <a:t>Galton drew smoothed level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a:t>
            </a:r>
            <a:r>
              <a:rPr lang="en-US" altLang="en-US" b="1" dirty="0"/>
              <a:t>conjugate tangents</a:t>
            </a:r>
            <a:r>
              <a:rPr lang="en-US" altLang="en-US" dirty="0"/>
              <a:t>.</a:t>
            </a:r>
          </a:p>
          <a:p>
            <a:r>
              <a:rPr lang="en-US" altLang="en-US" dirty="0"/>
              <a:t>Equally remarkable,  he shows the </a:t>
            </a:r>
            <a:r>
              <a:rPr lang="en-US" altLang="en-US" b="1" dirty="0"/>
              <a:t>major and minor axes </a:t>
            </a:r>
            <a:r>
              <a:rPr lang="en-US" altLang="en-US" dirty="0"/>
              <a:t>of the ellipse, which would later be shown by Pearson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40%, 68% and 95% coverage. </a:t>
            </a:r>
          </a:p>
          <a:p>
            <a:r>
              <a:rPr lang="en-CA" dirty="0"/>
              <a:t>The ellipse is the workhorse of the book: </a:t>
            </a:r>
          </a:p>
          <a:p>
            <a:r>
              <a:rPr lang="en-CA" dirty="0"/>
              <a:t>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t>
            </a:r>
            <a:r>
              <a:rPr lang="en-CA" dirty="0"/>
              <a:t>data is a main</a:t>
            </a:r>
            <a:r>
              <a:rPr dirty="0"/>
              <a:t> running example</a:t>
            </a:r>
            <a:r>
              <a:rPr lang="en-CA" dirty="0"/>
              <a:t> in the book</a:t>
            </a:r>
          </a:p>
          <a:p>
            <a:endParaRPr lang="en-CA" dirty="0"/>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(The classic iris data seems to have been eclipsed b/c of Fisher’s association with the eugenics movement because often called “Fisher’s Iris data” even though it came from Edgar Anderson.)</a:t>
            </a:r>
          </a:p>
          <a:p>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To illustrate what I mean when I say “sufficient visual summary”– let’s start with an ordinary scatterplot…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a:p>
            <a:r>
              <a:rPr lang="en-CA" dirty="0"/>
              <a:t>Each is a useful visual summary under relaxed conditions</a:t>
            </a:r>
          </a:p>
          <a:p>
            <a:pPr marL="171450" indent="-171450">
              <a:buFont typeface="Arial" panose="020B0604020202020204" pitchFamily="34" charset="0"/>
              <a:buChar char="•"/>
            </a:pPr>
            <a:r>
              <a:rPr lang="en-CA" dirty="0"/>
              <a:t>Bagplot: robust generalization of a boxplot </a:t>
            </a:r>
          </a:p>
          <a:p>
            <a:pPr marL="171450" indent="-171450">
              <a:buFont typeface="Arial" panose="020B0604020202020204" pitchFamily="34" charset="0"/>
              <a:buChar char="•"/>
            </a:pPr>
            <a:r>
              <a:rPr lang="en-CA" dirty="0"/>
              <a:t>High density regions</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Data ellipses for the bill variables provide a beautiful example of Simpson’s paradox, and how data ellipses make that story clear</a:t>
            </a:r>
          </a:p>
          <a:p>
            <a:r>
              <a:rPr dirty="0"/>
              <a:t>Panels: </a:t>
            </a:r>
            <a:endParaRPr lang="en-CA" dirty="0"/>
          </a:p>
          <a:p>
            <a:r>
              <a:rPr dirty="0"/>
              <a:t>(a) ignoring species, </a:t>
            </a:r>
            <a:endParaRPr lang="en-CA" dirty="0"/>
          </a:p>
          <a:p>
            <a:r>
              <a:rPr dirty="0"/>
              <a:t>(b) by species, </a:t>
            </a:r>
            <a:endParaRPr lang="en-CA" dirty="0"/>
          </a:p>
          <a:p>
            <a:r>
              <a:rPr dirty="0"/>
              <a:t>(c) pooled within species. </a:t>
            </a:r>
            <a:endParaRPr lang="en-CA" dirty="0"/>
          </a:p>
          <a:p>
            <a:r>
              <a:rPr dirty="0"/>
              <a:t>The data ellipses</a:t>
            </a:r>
            <a:r>
              <a:rPr lang="en-CA" dirty="0"/>
              <a:t> &amp; regression lines</a:t>
            </a:r>
            <a:r>
              <a:rPr dirty="0"/>
              <a:t> make the reversal </a:t>
            </a:r>
            <a:r>
              <a:rPr lang="en-CA" dirty="0"/>
              <a:t>visually </a:t>
            </a:r>
            <a:r>
              <a:rPr dirty="0"/>
              <a:t>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Data comes to us as variables were measured: Height and weight, where maybe BMI is more important to your doctor.</a:t>
            </a:r>
          </a:p>
          <a:p>
            <a:r>
              <a:rPr lang="en-CA" dirty="0"/>
              <a:t>Thinking about what those variables really mean can help understanding</a:t>
            </a:r>
          </a:p>
        </p:txBody>
      </p:sp>
    </p:spTree>
    <p:extLst>
      <p:ext uri="{BB962C8B-B14F-4D97-AF65-F5344CB8AC3E}">
        <p14:creationId xmlns:p14="http://schemas.microsoft.com/office/powerpoint/2010/main" val="237098452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Now I’d like to turn to another main theme of the book: </a:t>
            </a:r>
          </a:p>
          <a:p>
            <a:r>
              <a:rPr lang="en-CA" dirty="0"/>
              <a:t>How dimension reduction techniques can help us to find the right views of multivariate data</a:t>
            </a:r>
          </a:p>
        </p:txBody>
      </p:sp>
    </p:spTree>
    <p:extLst>
      <p:ext uri="{BB962C8B-B14F-4D97-AF65-F5344CB8AC3E}">
        <p14:creationId xmlns:p14="http://schemas.microsoft.com/office/powerpoint/2010/main" val="20137402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One key to this is to consider the wide class of these methods as “Multivariate Juicers”</a:t>
            </a:r>
          </a:p>
          <a:p>
            <a:r>
              <a:rPr lang="en-CA" dirty="0"/>
              <a:t>I know this is SO cheesy! </a:t>
            </a:r>
          </a:p>
          <a:p>
            <a:r>
              <a:rPr lang="en-CA" dirty="0"/>
              <a:t>But I find this a nice analogy to explain what we do with low-D methods</a:t>
            </a:r>
          </a:p>
          <a:p>
            <a:r>
              <a:rPr lang="en-CA" dirty="0"/>
              <a:t>If we’re plotting in 2D space, we want the view with the most flavor in the juice</a:t>
            </a:r>
          </a:p>
        </p:txBody>
      </p:sp>
      <p:sp>
        <p:nvSpPr>
          <p:cNvPr id="4" name="Slide Number Placeholder 3"/>
          <p:cNvSpPr>
            <a:spLocks noGrp="1"/>
          </p:cNvSpPr>
          <p:nvPr>
            <p:ph type="sldNum" sz="quarter" idx="5"/>
          </p:nvPr>
        </p:nvSpPr>
        <p:spPr/>
        <p:txBody>
          <a:bodyPr/>
          <a:lstStyle/>
          <a:p>
            <a:fld id="{33E20828-1A1A-4225-BE3A-F8540A5E6146}" type="slidenum">
              <a:rPr lang="en-US" smtClean="0"/>
              <a:t>25</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rotation from data space to PCA space, with two added points (101, 102). </a:t>
            </a:r>
            <a:endParaRPr lang="en-CA" dirty="0"/>
          </a:p>
          <a:p>
            <a:r>
              <a:rPr dirty="0"/>
              <a:t>They are not extreme on either original variable, but stand out on the smallest principal component. </a:t>
            </a:r>
            <a:endParaRPr lang="en-CA" dirty="0"/>
          </a:p>
          <a:p>
            <a:r>
              <a:rPr dirty="0"/>
              <a:t>Geometry of PCA as a rotation. </a:t>
            </a:r>
            <a:endParaRPr lang="en-CA" dirty="0"/>
          </a:p>
          <a:p>
            <a:r>
              <a:rPr dirty="0"/>
              <a:t>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blue points are connected to their projections on the red line by springs perpendicular to that line. A physical intuition for least squares. </a:t>
            </a:r>
            <a:endParaRPr lang="en-CA" dirty="0"/>
          </a:p>
          <a:p>
            <a:r>
              <a:rPr lang="en-CA" dirty="0"/>
              <a:t>The point of this is that </a:t>
            </a:r>
            <a:r>
              <a:rPr lang="en-CA" sz="1200" dirty="0"/>
              <a:t>Statistics, </a:t>
            </a:r>
            <a:r>
              <a:rPr lang="en-CA" sz="1200" dirty="0" err="1"/>
              <a:t>dataviz</a:t>
            </a:r>
            <a:r>
              <a:rPr lang="en-CA" sz="1200" dirty="0"/>
              <a:t>, geometry &amp; physics are often tightly connected. We can learn from one, using ideas of another</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Basic biplot of the crime data. </a:t>
            </a:r>
            <a:endParaRPr lang="en-CA" dirty="0"/>
          </a:p>
          <a:p>
            <a:r>
              <a:rPr dirty="0"/>
              <a:t>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Here’s the biplot for the penguin data</a:t>
            </a:r>
          </a:p>
        </p:txBody>
      </p:sp>
      <p:sp>
        <p:nvSpPr>
          <p:cNvPr id="4" name="Slide Number Placeholder 3"/>
          <p:cNvSpPr>
            <a:spLocks noGrp="1"/>
          </p:cNvSpPr>
          <p:nvPr>
            <p:ph type="sldNum" sz="quarter" idx="5"/>
          </p:nvPr>
        </p:nvSpPr>
        <p:spPr/>
        <p:txBody>
          <a:bodyPr/>
          <a:lstStyle/>
          <a:p>
            <a:fld id="{33E20828-1A1A-4225-BE3A-F8540A5E6146}" type="slidenum">
              <a:rPr lang="en-US" smtClean="0"/>
              <a:t>29</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[Optional]</a:t>
            </a:r>
          </a:p>
          <a:p>
            <a:r>
              <a:rPr dirty="0"/>
              <a:t>Animation (plays in slide show mode): interpolating between the PCA and t-SNE solutions for the Diabetes data. </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Another topic for today is how these ideas relate to what we do in </a:t>
            </a:r>
            <a:r>
              <a:rPr lang="en-CA" b="1" dirty="0"/>
              <a:t>statistical practice </a:t>
            </a:r>
            <a:r>
              <a:rPr lang="en-CA" dirty="0"/>
              <a:t>– analysing data, understanding the models we fit, and dealing with murky problems we can only see in tables…</a:t>
            </a:r>
          </a:p>
          <a:p>
            <a:endParaRPr lang="en-CA" dirty="0"/>
          </a:p>
          <a:p>
            <a:r>
              <a:rPr lang="en-CA" dirty="0"/>
              <a:t>I’ll try to explain a few of these in terms of graphical methods based on ellipsoids</a:t>
            </a:r>
          </a:p>
          <a:p>
            <a:endParaRPr lang="en-CA" dirty="0"/>
          </a:p>
          <a:p>
            <a:endParaRPr lang="en-CA" dirty="0"/>
          </a:p>
        </p:txBody>
      </p:sp>
    </p:spTree>
    <p:extLst>
      <p:ext uri="{BB962C8B-B14F-4D97-AF65-F5344CB8AC3E}">
        <p14:creationId xmlns:p14="http://schemas.microsoft.com/office/powerpoint/2010/main" val="125966677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a:t>
            </a:r>
            <a:r>
              <a:rPr lang="en-CA"/>
              <a:t>Martin Handford’s </a:t>
            </a:r>
            <a:r>
              <a:rPr lang="en-CA" dirty="0"/>
              <a:t>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33</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lang="en-CA"/>
              <a:t>Snub Nose – stubbiest bill (short and deep)</a:t>
            </a:r>
            <a:endParaRPr lang="en-CA" dirty="0"/>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As I noted </a:t>
            </a:r>
            <a:r>
              <a:rPr dirty="0"/>
              <a:t>multivariate outliers often show up in the dimensions with the least variance.</a:t>
            </a:r>
            <a:endParaRPr lang="en-CA" dirty="0"/>
          </a:p>
          <a:p>
            <a:r>
              <a:rPr lang="en-CA" dirty="0"/>
              <a:t>In the biplot of dimensions 3-4 of the penguin data, variable vectors show how these dimensions relate to the data variables and also how outliers are unusual in the data</a:t>
            </a:r>
          </a:p>
          <a:p>
            <a:pPr marL="171450" indent="-171450">
              <a:buFont typeface="Arial" panose="020B0604020202020204" pitchFamily="34" charset="0"/>
              <a:buChar char="•"/>
            </a:pPr>
            <a:r>
              <a:rPr lang="en-CA" dirty="0"/>
              <a:t>PC3: largely bill length (right to left) – Cyrano &amp; Snub Nose are extremes</a:t>
            </a:r>
          </a:p>
          <a:p>
            <a:pPr marL="171450" indent="-171450">
              <a:buFont typeface="Arial" panose="020B0604020202020204" pitchFamily="34" charset="0"/>
              <a:buChar char="•"/>
            </a:pPr>
            <a:r>
              <a:rPr lang="en-CA" dirty="0"/>
              <a:t>PC4: body mass vs flipper length – Falstaff is the stoutest bird</a:t>
            </a:r>
          </a:p>
          <a:p>
            <a:pPr marL="0" indent="0">
              <a:buFont typeface="Arial" panose="020B0604020202020204" pitchFamily="34" charset="0"/>
              <a:buNone/>
            </a:pPr>
            <a:r>
              <a:rPr lang="en-CA" dirty="0"/>
              <a:t>That’s how they got their names!</a:t>
            </a:r>
          </a:p>
          <a:p>
            <a:pPr marL="171450" indent="-171450">
              <a:buFont typeface="Arial" panose="020B0604020202020204" pitchFamily="34" charset="0"/>
              <a:buChar char="•"/>
            </a:pPr>
            <a:endParaRPr lang="en-CA" dirty="0"/>
          </a:p>
          <a:p>
            <a:endParaRPr dirty="0"/>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37</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Data space and beta space for the coffee data. </a:t>
            </a:r>
            <a:endParaRPr lang="en-CA" dirty="0"/>
          </a:p>
          <a:p>
            <a:r>
              <a:rPr dirty="0"/>
              <a:t>Where the predictors have a wide spread, the coefficients are estimated precisely, and vice versa. </a:t>
            </a:r>
            <a:endParaRPr lang="en-CA" dirty="0"/>
          </a:p>
          <a:p>
            <a:r>
              <a:rPr lang="en-CA" dirty="0"/>
              <a:t>This shows why stress is significant in the full model, but coffee is not</a:t>
            </a:r>
          </a:p>
          <a:p>
            <a:r>
              <a:rPr lang="en-CA" dirty="0"/>
              <a:t>Beautiful relations between statistics, geometry &amp; matrix algebra</a:t>
            </a:r>
          </a:p>
          <a:p>
            <a:endParaRPr lang="en-CA" dirty="0"/>
          </a:p>
          <a:p>
            <a:r>
              <a:rPr lang="en-CA" dirty="0"/>
              <a:t>(</a:t>
            </a:r>
            <a:r>
              <a:rPr dirty="0"/>
              <a:t>This sets up collinearity.</a:t>
            </a:r>
            <a:r>
              <a:rPr lang="en-CA" dirty="0"/>
              <a: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39</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r>
              <a:rPr lang="en-CA" dirty="0"/>
              <a:t>– ordered by condition indices</a:t>
            </a:r>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Instead of plotting point estimates, we can see effects of ridge shrinkage by plotting bivariate ellipsoids for pairs of parameters</a:t>
            </a:r>
          </a:p>
        </p:txBody>
      </p:sp>
      <p:sp>
        <p:nvSpPr>
          <p:cNvPr id="4" name="Slide Number Placeholder 3"/>
          <p:cNvSpPr>
            <a:spLocks noGrp="1"/>
          </p:cNvSpPr>
          <p:nvPr>
            <p:ph type="sldNum" sz="quarter" idx="5"/>
          </p:nvPr>
        </p:nvSpPr>
        <p:spPr/>
        <p:txBody>
          <a:bodyPr/>
          <a:lstStyle/>
          <a:p>
            <a:fld id="{33E20828-1A1A-4225-BE3A-F8540A5E6146}" type="slidenum">
              <a:rPr lang="en-US" smtClean="0"/>
              <a:t>43</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lang="en-CA" dirty="0"/>
              <a:t>Covariance ellipses for the dimensions show how shrinkage affects each pair.</a:t>
            </a:r>
          </a:p>
          <a:p>
            <a:r>
              <a:rPr lang="en-CA" dirty="0"/>
              <a:t>Nothing of interest except in the last two dimensions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r>
              <a:rPr lang="en-CA" dirty="0"/>
              <a:t> shows clearly how precision is increased </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Now, my favorite topic for today--- how we can use these visual ideas to better understand the hypothesis tests we get in MLMs – MANOVA and MMRA</a:t>
            </a:r>
          </a:p>
        </p:txBody>
      </p:sp>
    </p:spTree>
    <p:extLst>
      <p:ext uri="{BB962C8B-B14F-4D97-AF65-F5344CB8AC3E}">
        <p14:creationId xmlns:p14="http://schemas.microsoft.com/office/powerpoint/2010/main" val="280565768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47</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To simplify, I’ll use </a:t>
            </a:r>
            <a:r>
              <a:rPr lang="en-CA" dirty="0" err="1"/>
              <a:t>Mathscore</a:t>
            </a:r>
            <a:r>
              <a:rPr lang="en-CA" dirty="0"/>
              <a:t> data: two groups, basic math (BM) and word problems (WP). </a:t>
            </a:r>
          </a:p>
          <a:p>
            <a:r>
              <a:rPr lang="en-CA" dirty="0"/>
              <a:t>From the data to data ellipses to the HE plot. </a:t>
            </a:r>
          </a:p>
        </p:txBody>
      </p:sp>
    </p:spTree>
    <p:extLst>
      <p:ext uri="{BB962C8B-B14F-4D97-AF65-F5344CB8AC3E}">
        <p14:creationId xmlns:p14="http://schemas.microsoft.com/office/powerpoint/2010/main" val="127060284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H ellipse is the data ellipse of the fitted values; with 1 </a:t>
            </a:r>
            <a:r>
              <a:rPr lang="en-CA" dirty="0" err="1"/>
              <a:t>df</a:t>
            </a:r>
            <a:r>
              <a:rPr lang="en-CA" dirty="0"/>
              <a:t> it collapses to a line. </a:t>
            </a:r>
          </a:p>
        </p:txBody>
      </p:sp>
    </p:spTree>
    <p:extLst>
      <p:ext uri="{BB962C8B-B14F-4D97-AF65-F5344CB8AC3E}">
        <p14:creationId xmlns:p14="http://schemas.microsoft.com/office/powerpoint/2010/main" val="306711821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E ellipse is the data ellipse of the residuals: the pooled within-group covariance. </a:t>
            </a:r>
          </a:p>
        </p:txBody>
      </p:sp>
    </p:spTree>
    <p:extLst>
      <p:ext uri="{BB962C8B-B14F-4D97-AF65-F5344CB8AC3E}">
        <p14:creationId xmlns:p14="http://schemas.microsoft.com/office/powerpoint/2010/main" val="121474266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53</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The same ideas are available for multivariate multiple regression. </a:t>
            </a:r>
          </a:p>
          <a:p>
            <a:r>
              <a:rPr lang="en-CA" dirty="0"/>
              <a:t>HE plot for reading and math scores in the NLSY data, predicted from father's income and education. </a:t>
            </a:r>
          </a:p>
          <a:p>
            <a:r>
              <a:rPr lang="en-CA" dirty="0"/>
              <a:t>Each predictor has 1 </a:t>
            </a:r>
            <a:r>
              <a:rPr lang="en-CA" dirty="0" err="1"/>
              <a:t>df</a:t>
            </a:r>
            <a:r>
              <a:rPr lang="en-CA" dirty="0"/>
              <a:t>, so its H 'ellipse' collapses to a line: income relates mostly to math, education to both. </a:t>
            </a:r>
          </a:p>
          <a:p>
            <a:r>
              <a:rPr lang="en-CA" dirty="0"/>
              <a:t>The green ellipse is the overall test that both coefficients are zero; the lines for the separate predictors always lie within it.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55</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en-CA" dirty="0"/>
          </a:p>
          <a:p>
            <a:r>
              <a:rPr dirty="0"/>
              <a:t>School data model: reading, mathematics and self-esteem on five predictors, 70 schools. Distance plot (</a:t>
            </a:r>
            <a:r>
              <a:rPr dirty="0" err="1"/>
              <a:t>heplots</a:t>
            </a:r>
            <a:r>
              <a:rPr dirty="0"/>
              <a:t>::</a:t>
            </a:r>
            <a:r>
              <a:rPr dirty="0" err="1"/>
              <a:t>distancePlot</a:t>
            </a:r>
            <a:r>
              <a:rPr dirty="0"/>
              <a:t>) and influence plot (</a:t>
            </a:r>
            <a:r>
              <a:rPr dirty="0" err="1"/>
              <a:t>mvinfluence</a:t>
            </a:r>
            <a:r>
              <a:rPr dirty="0"/>
              <a:t>::</a:t>
            </a:r>
            <a:r>
              <a:rPr dirty="0" err="1"/>
              <a:t>influencePlot</a:t>
            </a:r>
            <a:r>
              <a:rPr dirty="0"/>
              <a:t>), re-drawn as a matched pair with the same cases in the same colors (talks/R/school-</a:t>
            </a:r>
            <a:r>
              <a:rPr dirty="0" err="1"/>
              <a:t>diagnostics.R</a:t>
            </a:r>
            <a:r>
              <a:rPr dirty="0"/>
              <a:t>). </a:t>
            </a:r>
            <a:endParaRPr lang="en-CA" dirty="0"/>
          </a:p>
          <a:p>
            <a:r>
              <a:rPr dirty="0"/>
              <a:t>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rgbClr val="2F3B5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Title Only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itle and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15101161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Two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 preserve="1">
  <p:cSld name="Two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114759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2026-10-29</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8" r:id="rId29"/>
    <p:sldLayoutId id="2147483677" r:id="rId30"/>
    <p:sldLayoutId id="2147483679" r:id="rId31"/>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Clr>
          <a:srgbClr val="1F4E9A"/>
        </a:buClr>
        <a:buSzPct val="120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1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1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3.xml"/><Relationship Id="rId1" Type="http://schemas.openxmlformats.org/officeDocument/2006/relationships/slideLayout" Target="../slideLayouts/slideLayout16.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16.xml"/><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5.xml"/><Relationship Id="rId1" Type="http://schemas.openxmlformats.org/officeDocument/2006/relationships/slideLayout" Target="../slideLayouts/slideLayout15.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6.xml"/><Relationship Id="rId1" Type="http://schemas.openxmlformats.org/officeDocument/2006/relationships/slideLayout" Target="../slideLayouts/slideLayout15.xml"/><Relationship Id="rId5" Type="http://schemas.openxmlformats.org/officeDocument/2006/relationships/image" Target="../media/image31.png"/><Relationship Id="rId4" Type="http://schemas.openxmlformats.org/officeDocument/2006/relationships/image" Target="../media/image30.png"/></Relationships>
</file>

<file path=ppt/slides/_rels/slide1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33.png"/></Relationships>
</file>

<file path=ppt/slides/_rels/slide1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8.xml"/><Relationship Id="rId1" Type="http://schemas.openxmlformats.org/officeDocument/2006/relationships/slideLayout" Target="../slideLayouts/slideLayout15.xml"/><Relationship Id="rId5" Type="http://schemas.openxmlformats.org/officeDocument/2006/relationships/image" Target="../media/image35.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15.xml"/><Relationship Id="rId6" Type="http://schemas.openxmlformats.org/officeDocument/2006/relationships/image" Target="../media/image26.png"/><Relationship Id="rId5" Type="http://schemas.openxmlformats.org/officeDocument/2006/relationships/hyperlink" Target="https://friendly.github.io/blog/posts/2026-10-peng-altviews/" TargetMode="External"/><Relationship Id="rId4" Type="http://schemas.openxmlformats.org/officeDocument/2006/relationships/image" Target="../media/image37.png"/></Relationships>
</file>

<file path=ppt/slides/_rels/slide2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0.xml"/><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1.xml"/><Relationship Id="rId1" Type="http://schemas.openxmlformats.org/officeDocument/2006/relationships/slideLayout" Target="../slideLayouts/slideLayout17.xml"/><Relationship Id="rId5" Type="http://schemas.openxmlformats.org/officeDocument/2006/relationships/hyperlink" Target="https://doi.org/10.1016/S0167-9473(02)00290-6" TargetMode="External"/><Relationship Id="rId4" Type="http://schemas.openxmlformats.org/officeDocument/2006/relationships/image" Target="../media/image40.png"/></Relationships>
</file>

<file path=ppt/slides/_rels/slide2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42.gif"/><Relationship Id="rId2" Type="http://schemas.openxmlformats.org/officeDocument/2006/relationships/notesSlide" Target="../notesSlides/notesSlide23.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4.xml"/><Relationship Id="rId1" Type="http://schemas.openxmlformats.org/officeDocument/2006/relationships/slideLayout" Target="../slideLayouts/slideLayout3.xml"/><Relationship Id="rId5" Type="http://schemas.openxmlformats.org/officeDocument/2006/relationships/image" Target="../media/image45.png"/><Relationship Id="rId4" Type="http://schemas.openxmlformats.org/officeDocument/2006/relationships/image" Target="../media/image44.png"/></Relationships>
</file>

<file path=ppt/slides/_rels/slide25.xml.rels><?xml version="1.0" encoding="UTF-8" standalone="yes"?>
<Relationships xmlns="http://schemas.openxmlformats.org/package/2006/relationships"><Relationship Id="rId3" Type="http://schemas.openxmlformats.org/officeDocument/2006/relationships/image" Target="../media/image46.png"/><Relationship Id="rId7" Type="http://schemas.openxmlformats.org/officeDocument/2006/relationships/image" Target="../media/image49.jpg"/><Relationship Id="rId2" Type="http://schemas.openxmlformats.org/officeDocument/2006/relationships/notesSlide" Target="../notesSlides/notesSlide25.xml"/><Relationship Id="rId1" Type="http://schemas.openxmlformats.org/officeDocument/2006/relationships/slideLayout" Target="../slideLayouts/slideLayout7.xml"/><Relationship Id="rId6" Type="http://schemas.openxmlformats.org/officeDocument/2006/relationships/image" Target="../media/image48.png"/><Relationship Id="rId5" Type="http://schemas.microsoft.com/office/2007/relationships/hdphoto" Target="../media/hdphoto1.wdp"/><Relationship Id="rId4" Type="http://schemas.openxmlformats.org/officeDocument/2006/relationships/image" Target="../media/image47.png"/></Relationships>
</file>

<file path=ppt/slides/_rels/slide26.xml.rels><?xml version="1.0" encoding="UTF-8" standalone="yes"?>
<Relationships xmlns="http://schemas.openxmlformats.org/package/2006/relationships"><Relationship Id="rId3" Type="http://schemas.openxmlformats.org/officeDocument/2006/relationships/image" Target="../media/image50.gif"/><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51.gif"/><Relationship Id="rId2" Type="http://schemas.openxmlformats.org/officeDocument/2006/relationships/notesSlide" Target="../notesSlides/notesSlide27.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8.xml"/><Relationship Id="rId1" Type="http://schemas.openxmlformats.org/officeDocument/2006/relationships/slideLayout" Target="../slideLayouts/slideLayout20.xml"/><Relationship Id="rId4" Type="http://schemas.openxmlformats.org/officeDocument/2006/relationships/image" Target="../media/image53.png"/></Relationships>
</file>

<file path=ppt/slides/_rels/slide29.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9.xml"/><Relationship Id="rId1" Type="http://schemas.openxmlformats.org/officeDocument/2006/relationships/slideLayout" Target="../slideLayouts/slideLayout18.xml"/><Relationship Id="rId5" Type="http://schemas.openxmlformats.org/officeDocument/2006/relationships/image" Target="../media/image44.png"/><Relationship Id="rId4" Type="http://schemas.openxmlformats.org/officeDocument/2006/relationships/image" Target="../media/image52.png"/></Relationships>
</file>

<file path=ppt/slides/_rels/slide3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0.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3" Type="http://schemas.openxmlformats.org/officeDocument/2006/relationships/image" Target="../media/image54.gif"/><Relationship Id="rId2" Type="http://schemas.openxmlformats.org/officeDocument/2006/relationships/notesSlide" Target="../notesSlides/notesSlide31.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2.xml"/><Relationship Id="rId1" Type="http://schemas.openxmlformats.org/officeDocument/2006/relationships/slideLayout" Target="../slideLayouts/slideLayout3.xml"/><Relationship Id="rId6" Type="http://schemas.openxmlformats.org/officeDocument/2006/relationships/image" Target="../media/image58.wmf"/><Relationship Id="rId5" Type="http://schemas.openxmlformats.org/officeDocument/2006/relationships/image" Target="../media/image57.png"/><Relationship Id="rId4" Type="http://schemas.openxmlformats.org/officeDocument/2006/relationships/image" Target="../media/image56.png"/></Relationships>
</file>

<file path=ppt/slides/_rels/slide3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3.xml"/><Relationship Id="rId1" Type="http://schemas.openxmlformats.org/officeDocument/2006/relationships/slideLayout" Target="../slideLayouts/slideLayout22.xml"/><Relationship Id="rId6" Type="http://schemas.openxmlformats.org/officeDocument/2006/relationships/image" Target="../media/image58.wmf"/><Relationship Id="rId5" Type="http://schemas.openxmlformats.org/officeDocument/2006/relationships/image" Target="../media/image60.png"/><Relationship Id="rId4" Type="http://schemas.openxmlformats.org/officeDocument/2006/relationships/hyperlink" Target="http://www.datavis.ca/gallery/animation/outlier-demo/"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4.xml"/><Relationship Id="rId1" Type="http://schemas.openxmlformats.org/officeDocument/2006/relationships/slideLayout" Target="../slideLayouts/slideLayout21.xml"/><Relationship Id="rId5" Type="http://schemas.openxmlformats.org/officeDocument/2006/relationships/hyperlink" Target="https://friendly.github.io/blog/posts/2026-10-peng-names/" TargetMode="External"/><Relationship Id="rId4" Type="http://schemas.openxmlformats.org/officeDocument/2006/relationships/image" Target="../media/image62.png"/></Relationships>
</file>

<file path=ppt/slides/_rels/slide3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5.xml"/><Relationship Id="rId1" Type="http://schemas.openxmlformats.org/officeDocument/2006/relationships/slideLayout" Target="../slideLayouts/slideLayout23.xml"/><Relationship Id="rId4" Type="http://schemas.openxmlformats.org/officeDocument/2006/relationships/image" Target="../media/image58.wmf"/></Relationships>
</file>

<file path=ppt/slides/_rels/slide36.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6.xml"/><Relationship Id="rId1" Type="http://schemas.openxmlformats.org/officeDocument/2006/relationships/slideLayout" Target="../slideLayouts/slideLayout22.xml"/></Relationships>
</file>

<file path=ppt/slides/_rels/slide3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37.xml"/><Relationship Id="rId1" Type="http://schemas.openxmlformats.org/officeDocument/2006/relationships/slideLayout" Target="../slideLayouts/slideLayout21.xml"/><Relationship Id="rId4" Type="http://schemas.openxmlformats.org/officeDocument/2006/relationships/image" Target="../media/image64.png"/></Relationships>
</file>

<file path=ppt/slides/_rels/slide3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8.xml"/><Relationship Id="rId1" Type="http://schemas.openxmlformats.org/officeDocument/2006/relationships/slideLayout" Target="../slideLayouts/slideLayout21.xml"/></Relationships>
</file>

<file path=ppt/slides/_rels/slide39.xml.rels><?xml version="1.0" encoding="UTF-8" standalone="yes"?>
<Relationships xmlns="http://schemas.openxmlformats.org/package/2006/relationships"><Relationship Id="rId3" Type="http://schemas.openxmlformats.org/officeDocument/2006/relationships/image" Target="../media/image65.gif"/><Relationship Id="rId2" Type="http://schemas.openxmlformats.org/officeDocument/2006/relationships/notesSlide" Target="../notesSlides/notesSlide39.xml"/><Relationship Id="rId1" Type="http://schemas.openxmlformats.org/officeDocument/2006/relationships/slideLayout" Target="../slideLayouts/slideLayout22.xml"/><Relationship Id="rId5" Type="http://schemas.openxmlformats.org/officeDocument/2006/relationships/image" Target="../media/image67.gif"/><Relationship Id="rId4" Type="http://schemas.openxmlformats.org/officeDocument/2006/relationships/image" Target="../media/image66.gif"/></Relationships>
</file>

<file path=ppt/slides/_rels/slide4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40.xml"/><Relationship Id="rId1" Type="http://schemas.openxmlformats.org/officeDocument/2006/relationships/slideLayout" Target="../slideLayouts/slideLayout21.xml"/><Relationship Id="rId6" Type="http://schemas.openxmlformats.org/officeDocument/2006/relationships/image" Target="../media/image69.png"/><Relationship Id="rId5" Type="http://schemas.openxmlformats.org/officeDocument/2006/relationships/image" Target="../media/image10.png"/><Relationship Id="rId4" Type="http://schemas.openxmlformats.org/officeDocument/2006/relationships/image" Target="../media/image58.wmf"/></Relationships>
</file>

<file path=ppt/slides/_rels/slide4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1.xml"/><Relationship Id="rId1" Type="http://schemas.openxmlformats.org/officeDocument/2006/relationships/slideLayout" Target="../slideLayouts/slideLayout23.xml"/><Relationship Id="rId6" Type="http://schemas.openxmlformats.org/officeDocument/2006/relationships/image" Target="../media/image72.png"/><Relationship Id="rId5" Type="http://schemas.openxmlformats.org/officeDocument/2006/relationships/image" Target="../media/image71.png"/><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3.xml"/><Relationship Id="rId1" Type="http://schemas.openxmlformats.org/officeDocument/2006/relationships/slideLayout" Target="../slideLayouts/slideLayout21.xml"/><Relationship Id="rId6" Type="http://schemas.openxmlformats.org/officeDocument/2006/relationships/image" Target="../media/image76.png"/><Relationship Id="rId5" Type="http://schemas.openxmlformats.org/officeDocument/2006/relationships/image" Target="../media/image75.png"/><Relationship Id="rId4" Type="http://schemas.openxmlformats.org/officeDocument/2006/relationships/image" Target="../media/image74.png"/></Relationships>
</file>

<file path=ppt/slides/_rels/slide44.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46.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81.png"/><Relationship Id="rId4" Type="http://schemas.openxmlformats.org/officeDocument/2006/relationships/image" Target="../media/image80.png"/></Relationships>
</file>

<file path=ppt/slides/_rels/slide47.xml.rels><?xml version="1.0" encoding="UTF-8" standalone="yes"?>
<Relationships xmlns="http://schemas.openxmlformats.org/package/2006/relationships"><Relationship Id="rId8" Type="http://schemas.openxmlformats.org/officeDocument/2006/relationships/image" Target="../media/image86.png"/><Relationship Id="rId3" Type="http://schemas.openxmlformats.org/officeDocument/2006/relationships/image" Target="../media/image79.png"/><Relationship Id="rId7" Type="http://schemas.openxmlformats.org/officeDocument/2006/relationships/image" Target="../media/image85.png"/><Relationship Id="rId2" Type="http://schemas.openxmlformats.org/officeDocument/2006/relationships/notesSlide" Target="../notesSlides/notesSlide47.xml"/><Relationship Id="rId1" Type="http://schemas.openxmlformats.org/officeDocument/2006/relationships/slideLayout" Target="../slideLayouts/slideLayout24.xml"/><Relationship Id="rId6" Type="http://schemas.openxmlformats.org/officeDocument/2006/relationships/image" Target="../media/image84.png"/><Relationship Id="rId5" Type="http://schemas.openxmlformats.org/officeDocument/2006/relationships/image" Target="../media/image83.png"/><Relationship Id="rId4" Type="http://schemas.openxmlformats.org/officeDocument/2006/relationships/image" Target="../media/image82.png"/></Relationships>
</file>

<file path=ppt/slides/_rels/slide48.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48.xml"/><Relationship Id="rId1" Type="http://schemas.openxmlformats.org/officeDocument/2006/relationships/slideLayout" Target="../slideLayouts/slideLayout25.xml"/><Relationship Id="rId5" Type="http://schemas.openxmlformats.org/officeDocument/2006/relationships/image" Target="../media/image89.png"/><Relationship Id="rId4" Type="http://schemas.openxmlformats.org/officeDocument/2006/relationships/image" Target="../media/image88.png"/></Relationships>
</file>

<file path=ppt/slides/_rels/slide49.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49.xml"/><Relationship Id="rId1" Type="http://schemas.openxmlformats.org/officeDocument/2006/relationships/slideLayout" Target="../slideLayouts/slideLayout25.xml"/><Relationship Id="rId6" Type="http://schemas.openxmlformats.org/officeDocument/2006/relationships/image" Target="../media/image91.wmf"/><Relationship Id="rId5" Type="http://schemas.openxmlformats.org/officeDocument/2006/relationships/oleObject" Target="../embeddings/oleObject1.bin"/><Relationship Id="rId4" Type="http://schemas.openxmlformats.org/officeDocument/2006/relationships/image" Target="../media/image90.png"/></Relationships>
</file>

<file path=ppt/slides/_rels/slide50.xml.rels><?xml version="1.0" encoding="UTF-8" standalone="yes"?>
<Relationships xmlns="http://schemas.openxmlformats.org/package/2006/relationships"><Relationship Id="rId3" Type="http://schemas.openxmlformats.org/officeDocument/2006/relationships/image" Target="../media/image88.png"/><Relationship Id="rId7" Type="http://schemas.openxmlformats.org/officeDocument/2006/relationships/image" Target="../media/image94.wmf"/><Relationship Id="rId2" Type="http://schemas.openxmlformats.org/officeDocument/2006/relationships/notesSlide" Target="../notesSlides/notesSlide50.xml"/><Relationship Id="rId1" Type="http://schemas.openxmlformats.org/officeDocument/2006/relationships/slideLayout" Target="../slideLayouts/slideLayout25.xml"/><Relationship Id="rId6" Type="http://schemas.openxmlformats.org/officeDocument/2006/relationships/oleObject" Target="../embeddings/oleObject2.bin"/><Relationship Id="rId5" Type="http://schemas.openxmlformats.org/officeDocument/2006/relationships/image" Target="../media/image93.png"/><Relationship Id="rId4" Type="http://schemas.openxmlformats.org/officeDocument/2006/relationships/image" Target="../media/image92.png"/></Relationships>
</file>

<file path=ppt/slides/_rels/slide51.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51.xml"/><Relationship Id="rId1" Type="http://schemas.openxmlformats.org/officeDocument/2006/relationships/slideLayout" Target="../slideLayouts/slideLayout24.xml"/><Relationship Id="rId4" Type="http://schemas.openxmlformats.org/officeDocument/2006/relationships/image" Target="../media/image96.png"/></Relationships>
</file>

<file path=ppt/slides/_rels/slide52.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52.xml"/><Relationship Id="rId1" Type="http://schemas.openxmlformats.org/officeDocument/2006/relationships/slideLayout" Target="../slideLayouts/slideLayout26.xml"/></Relationships>
</file>

<file path=ppt/slides/_rels/slide53.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53.xml"/><Relationship Id="rId1" Type="http://schemas.openxmlformats.org/officeDocument/2006/relationships/slideLayout" Target="../slideLayouts/slideLayout24.xml"/></Relationships>
</file>

<file path=ppt/slides/_rels/slide54.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54.xml"/><Relationship Id="rId1" Type="http://schemas.openxmlformats.org/officeDocument/2006/relationships/slideLayout" Target="../slideLayouts/slideLayout26.xml"/></Relationships>
</file>

<file path=ppt/slides/_rels/slide55.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notesSlide" Target="../notesSlides/notesSlide55.xml"/><Relationship Id="rId1" Type="http://schemas.openxmlformats.org/officeDocument/2006/relationships/slideLayout" Target="../slideLayouts/slideLayout25.xml"/><Relationship Id="rId5" Type="http://schemas.openxmlformats.org/officeDocument/2006/relationships/image" Target="../media/image81.png"/><Relationship Id="rId4" Type="http://schemas.openxmlformats.org/officeDocument/2006/relationships/image" Target="../media/image100.png"/></Relationships>
</file>

<file path=ppt/slides/_rels/slide56.xml.rels><?xml version="1.0" encoding="UTF-8" standalone="yes"?>
<Relationships xmlns="http://schemas.openxmlformats.org/package/2006/relationships"><Relationship Id="rId3" Type="http://schemas.openxmlformats.org/officeDocument/2006/relationships/image" Target="../media/image101.jpg"/><Relationship Id="rId2" Type="http://schemas.openxmlformats.org/officeDocument/2006/relationships/notesSlide" Target="../notesSlides/notesSlide56.xml"/><Relationship Id="rId1" Type="http://schemas.openxmlformats.org/officeDocument/2006/relationships/slideLayout" Target="../slideLayouts/slideLayout24.xml"/></Relationships>
</file>

<file path=ppt/slides/_rels/slide57.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58.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58.xml"/><Relationship Id="rId1" Type="http://schemas.openxmlformats.org/officeDocument/2006/relationships/slideLayout" Target="../slideLayouts/slideLayout26.xml"/></Relationships>
</file>

<file path=ppt/slides/_rels/slide59.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3.xml"/><Relationship Id="rId5" Type="http://schemas.openxmlformats.org/officeDocument/2006/relationships/slide" Target="slide63.xml"/><Relationship Id="rId4" Type="http://schemas.openxmlformats.org/officeDocument/2006/relationships/image" Target="../media/image106.png"/></Relationships>
</file>

<file path=ppt/slides/_rels/slide60.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59.xml"/><Relationship Id="rId1" Type="http://schemas.openxmlformats.org/officeDocument/2006/relationships/slideLayout" Target="../slideLayouts/slideLayout30.xml"/><Relationship Id="rId4" Type="http://schemas.openxmlformats.org/officeDocument/2006/relationships/image" Target="../media/image105.png"/></Relationships>
</file>

<file path=ppt/slides/_rels/slide6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60.xml"/><Relationship Id="rId1" Type="http://schemas.openxmlformats.org/officeDocument/2006/relationships/slideLayout" Target="../slideLayouts/slideLayout30.xml"/><Relationship Id="rId4" Type="http://schemas.openxmlformats.org/officeDocument/2006/relationships/image" Target="../media/image8.png"/></Relationships>
</file>

<file path=ppt/slides/_rels/slide62.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61.xml"/><Relationship Id="rId1" Type="http://schemas.openxmlformats.org/officeDocument/2006/relationships/slideLayout" Target="../slideLayouts/slideLayout30.xml"/><Relationship Id="rId4" Type="http://schemas.openxmlformats.org/officeDocument/2006/relationships/image" Target="../media/image6.png"/></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9.xml"/></Relationships>
</file>

<file path=ppt/slides/_rels/slide64.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63.xml"/><Relationship Id="rId1" Type="http://schemas.openxmlformats.org/officeDocument/2006/relationships/slideLayout" Target="../slideLayouts/slideLayout31.xml"/><Relationship Id="rId5" Type="http://schemas.openxmlformats.org/officeDocument/2006/relationships/image" Target="../media/image5.jpg"/><Relationship Id="rId4" Type="http://schemas.openxmlformats.org/officeDocument/2006/relationships/hyperlink" Target="https://friendly.github.io/blog/" TargetMode="External"/></Relationships>
</file>

<file path=ppt/slides/_rels/slide65.xml.rels><?xml version="1.0" encoding="UTF-8" standalone="yes"?>
<Relationships xmlns="http://schemas.openxmlformats.org/package/2006/relationships"><Relationship Id="rId2" Type="http://schemas.openxmlformats.org/officeDocument/2006/relationships/image" Target="../media/image109.gif"/><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FFBEA"/>
            </a:gs>
            <a:gs pos="100000">
              <a:srgbClr val="E8C547"/>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305201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935634"/>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777131" y="317500"/>
            <a:ext cx="2652353" cy="2652353"/>
          </a:xfrm>
          <a:prstGeom prst="rect">
            <a:avLst/>
          </a:prstGeom>
          <a:ln w="9525">
            <a:solidFill>
              <a:srgbClr val="3A3A3A"/>
            </a:solidFill>
          </a:ln>
          <a:effectLst>
            <a:outerShdw blurRad="101600" dist="45790" dir="3378598" rotWithShape="0">
              <a:srgbClr val="000000">
                <a:alpha val="40000"/>
              </a:srgbClr>
            </a:outerShdw>
          </a:effectLst>
        </p:spPr>
      </p:pic>
      <p:pic>
        <p:nvPicPr>
          <p:cNvPr id="5" name="Thumbnail: biplot" descr="fig-diabetes-ggbiplot-1.png"/>
          <p:cNvPicPr>
            <a:picLocks noChangeAspect="1"/>
          </p:cNvPicPr>
          <p:nvPr/>
        </p:nvPicPr>
        <p:blipFill>
          <a:blip r:embed="rId6"/>
          <a:stretch>
            <a:fillRect/>
          </a:stretch>
        </p:blipFill>
        <p:spPr>
          <a:xfrm>
            <a:off x="3708884" y="317500"/>
            <a:ext cx="3713292" cy="2652351"/>
          </a:xfrm>
          <a:prstGeom prst="rect">
            <a:avLst/>
          </a:prstGeom>
          <a:ln w="9525">
            <a:solidFill>
              <a:srgbClr val="3A3A3A"/>
            </a:solidFill>
          </a:ln>
          <a:effectLst>
            <a:outerShdw blurRad="101600" dist="45790" dir="3378598" rotWithShape="0">
              <a:srgbClr val="000000">
                <a:alpha val="40000"/>
              </a:srgbClr>
            </a:outerShdw>
          </a:effectLst>
        </p:spPr>
      </p:pic>
      <p:pic>
        <p:nvPicPr>
          <p:cNvPr id="6" name="Thumbnail: HE plot" descr="image.png"/>
          <p:cNvPicPr>
            <a:picLocks noChangeAspect="1"/>
          </p:cNvPicPr>
          <p:nvPr/>
        </p:nvPicPr>
        <p:blipFill>
          <a:blip r:embed="rId7"/>
          <a:stretch>
            <a:fillRect/>
          </a:stretch>
        </p:blipFill>
        <p:spPr>
          <a:xfrm>
            <a:off x="7701576" y="317500"/>
            <a:ext cx="3713293" cy="2652352"/>
          </a:xfrm>
          <a:prstGeom prst="rect">
            <a:avLst/>
          </a:prstGeom>
          <a:ln w="9525">
            <a:solidFill>
              <a:srgbClr val="3A3A3A"/>
            </a:solidFill>
          </a:ln>
          <a:effectLst>
            <a:outerShdw blurRad="101600" dist="45790" dir="3378598" rotWithShape="0">
              <a:srgbClr val="000000">
                <a:alpha val="40000"/>
              </a:srgbClr>
            </a:outerShdw>
          </a:effectLst>
        </p:spPr>
      </p:pic>
      <p:pic>
        <p:nvPicPr>
          <p:cNvPr id="8" name="www icon">
            <a:extLst>
              <a:ext uri="{FF2B5EF4-FFF2-40B4-BE49-F238E27FC236}">
                <a16:creationId xmlns:a16="http://schemas.microsoft.com/office/drawing/2014/main" id="{E4802ABD-082F-BC7F-2791-4E06016AE1D7}"/>
              </a:ext>
            </a:extLst>
          </p:cNvPr>
          <p:cNvPicPr>
            <a:picLocks noChangeAspect="1"/>
          </p:cNvPicPr>
          <p:nvPr/>
        </p:nvPicPr>
        <p:blipFill>
          <a:blip r:embed="rId8">
            <a:clrChange>
              <a:clrFrom>
                <a:srgbClr val="FFFFFF"/>
              </a:clrFrom>
              <a:clrTo>
                <a:srgbClr val="FFFFFF">
                  <a:alpha val="0"/>
                </a:srgbClr>
              </a:clrTo>
            </a:clrChange>
          </a:blip>
          <a:stretch>
            <a:fillRect/>
          </a:stretch>
        </p:blipFill>
        <p:spPr>
          <a:xfrm>
            <a:off x="6229529" y="6197600"/>
            <a:ext cx="365760" cy="365760"/>
          </a:xfrm>
          <a:prstGeom prst="rect">
            <a:avLst/>
          </a:prstGeom>
          <a:solidFill>
            <a:schemeClr val="accent1">
              <a:alpha val="0"/>
            </a:schemeClr>
          </a:solidFill>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791200" cy="1143000"/>
          </a:xfrm>
        </p:spPr>
        <p:txBody>
          <a:bodyPr/>
          <a:lstStyle/>
          <a:p>
            <a:r>
              <a:rPr lang="en-CA" dirty="0"/>
              <a:t>My</a:t>
            </a:r>
            <a:r>
              <a:rPr dirty="0"/>
              <a:t> book</a:t>
            </a:r>
          </a:p>
        </p:txBody>
      </p:sp>
      <p:sp>
        <p:nvSpPr>
          <p:cNvPr id="3" name="Content Placeholder 2"/>
          <p:cNvSpPr>
            <a:spLocks noGrp="1"/>
          </p:cNvSpPr>
          <p:nvPr>
            <p:ph sz="half" idx="1"/>
          </p:nvPr>
        </p:nvSpPr>
        <p:spPr>
          <a:xfrm>
            <a:off x="838200" y="1643063"/>
            <a:ext cx="5791200" cy="4533900"/>
          </a:xfrm>
        </p:spPr>
        <p:txBody>
          <a:bodyPr/>
          <a:lstStyle/>
          <a:p>
            <a:pPr marL="0" indent="0">
              <a:buNone/>
            </a:pPr>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7144774" y="426823"/>
            <a:ext cx="4218039" cy="5804761"/>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2</a:t>
            </a:fld>
            <a:endParaRPr lang="en-CA"/>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
        <p:nvSpPr>
          <p:cNvPr id="19" name="Slide Number Placeholder 19"/>
          <p:cNvSpPr>
            <a:spLocks noGrp="1"/>
          </p:cNvSpPr>
          <p:nvPr>
            <p:ph type="sldNum" sz="quarter" idx="12"/>
          </p:nvPr>
        </p:nvSpPr>
        <p:spPr/>
        <p:txBody>
          <a:bodyPr/>
          <a:lstStyle/>
          <a:p>
            <a:fld id="{9BFB2853-4965-4727-91C4-384EB30D99A4}" type="slidenum">
              <a:rPr lang="en-CA"/>
              <a:t>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a:t>
            </a:r>
            <a:r>
              <a:rPr lang="en-CA" dirty="0"/>
              <a:t>a romance in </a:t>
            </a:r>
            <a:r>
              <a:rPr dirty="0"/>
              <a:t>many dimensions?</a:t>
            </a:r>
          </a:p>
          <a:p>
            <a:r>
              <a:rPr lang="en-CA" dirty="0"/>
              <a:t>S</a:t>
            </a:r>
            <a:r>
              <a:rPr dirty="0" err="1"/>
              <a:t>eeing</a:t>
            </a:r>
            <a:r>
              <a:rPr dirty="0"/>
              <a:t> multivariate data</a:t>
            </a:r>
            <a:r>
              <a:rPr lang="en-CA" dirty="0"/>
              <a:t>: ellipses everywhere</a:t>
            </a:r>
            <a:endParaRPr dirty="0"/>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
        <p:nvSpPr>
          <p:cNvPr id="6" name="Slide Number Placeholder 6"/>
          <p:cNvSpPr>
            <a:spLocks noGrp="1"/>
          </p:cNvSpPr>
          <p:nvPr>
            <p:ph type="sldNum" sz="quarter" idx="12"/>
          </p:nvPr>
        </p:nvSpPr>
        <p:spPr/>
        <p:txBody>
          <a:bodyPr/>
          <a:lstStyle/>
          <a:p>
            <a:fld id="{9BFB2853-4965-4727-91C4-384EB30D99A4}" type="slidenum">
              <a:rPr lang="en-CA"/>
              <a:t>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3F6"/>
            </a:gs>
            <a:gs pos="100000">
              <a:srgbClr val="8EA1C2"/>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solidFill>
                  <a:srgbClr val="2F3B52"/>
                </a:solidFill>
              </a:rPr>
              <a:t>How can we understand important scientific phenomena?</a:t>
            </a:r>
          </a:p>
          <a:p>
            <a:r>
              <a:rPr lang="en-CA" dirty="0">
                <a:solidFill>
                  <a:srgbClr val="2F3B52"/>
                </a:solidFill>
              </a:rPr>
              <a:t>Our data</a:t>
            </a:r>
            <a:r>
              <a:rPr dirty="0">
                <a:solidFill>
                  <a:srgbClr val="2F3B52"/>
                </a:solidFill>
              </a:rPr>
              <a:t> live in </a:t>
            </a:r>
            <a:r>
              <a:rPr dirty="0" err="1">
                <a:solidFill>
                  <a:srgbClr val="2F3B52"/>
                </a:solidFill>
              </a:rPr>
              <a:t>Spaceland</a:t>
            </a:r>
            <a:r>
              <a:rPr dirty="0">
                <a:solidFill>
                  <a:srgbClr val="2F3B52"/>
                </a:solidFill>
              </a:rPr>
              <a:t>,</a:t>
            </a:r>
            <a:r>
              <a:rPr lang="en-CA" dirty="0">
                <a:solidFill>
                  <a:srgbClr val="2F3B52"/>
                </a:solidFill>
              </a:rPr>
              <a:t> sometimes high-D,</a:t>
            </a:r>
            <a:r>
              <a:rPr dirty="0">
                <a:solidFill>
                  <a:srgbClr val="2F3B52"/>
                </a:solidFill>
              </a:rPr>
              <a:t> but we plot in </a:t>
            </a:r>
            <a:r>
              <a:rPr lang="en-CA" dirty="0">
                <a:solidFill>
                  <a:srgbClr val="2F3B52"/>
                </a:solidFill>
              </a:rPr>
              <a:t>Plane</a:t>
            </a:r>
            <a:r>
              <a:rPr dirty="0">
                <a:solidFill>
                  <a:srgbClr val="2F3B52"/>
                </a:solidFill>
              </a:rPr>
              <a:t>land</a:t>
            </a:r>
          </a:p>
        </p:txBody>
      </p:sp>
      <p:sp>
        <p:nvSpPr>
          <p:cNvPr id="4" name="Slide Number Placeholder 4"/>
          <p:cNvSpPr>
            <a:spLocks noGrp="1"/>
          </p:cNvSpPr>
          <p:nvPr>
            <p:ph type="sldNum" sz="quarter" idx="12"/>
          </p:nvPr>
        </p:nvSpPr>
        <p:spPr/>
        <p:txBody>
          <a:bodyPr/>
          <a:lstStyle/>
          <a:p>
            <a:fld id="{9BFB2853-4965-4727-91C4-384EB30D99A4}" type="slidenum">
              <a:rPr lang="en-CA"/>
              <a:t>5</a:t>
            </a:fld>
            <a:endParaRPr lang="en-CA"/>
          </a:p>
        </p:txBody>
      </p:sp>
      <p:pic>
        <p:nvPicPr>
          <p:cNvPr id="6" name="Section 0 Flatland illustration" descr="Flatland illustration: a sphere rising through Planeland appears as circles of changing size.">
            <a:extLst>
              <a:ext uri="{FF2B5EF4-FFF2-40B4-BE49-F238E27FC236}">
                <a16:creationId xmlns:a16="http://schemas.microsoft.com/office/drawing/2014/main" id="{D9C3AAA9-CA9A-E23E-D92E-E6B699AD57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714500" y="127000"/>
            <a:ext cx="8763000" cy="2667000"/>
          </a:xfrm>
          <a:prstGeom prst="rect">
            <a:avLst/>
          </a:prstGeom>
          <a:ln w="9525">
            <a:solidFill>
              <a:srgbClr val="3A3A3A"/>
            </a:solidFill>
          </a:ln>
          <a:effectLst>
            <a:outerShdw blurRad="101600" dist="45790" dir="3378598" rotWithShape="0">
              <a:srgbClr val="000000">
                <a:alpha val="40000"/>
              </a:srgbClr>
            </a:outerShdw>
          </a:effectLst>
        </p:spPr>
      </p:pic>
      <p:sp>
        <p:nvSpPr>
          <p:cNvPr id="5" name="Romance heart 1">
            <a:extLst>
              <a:ext uri="{FF2B5EF4-FFF2-40B4-BE49-F238E27FC236}">
                <a16:creationId xmlns:a16="http://schemas.microsoft.com/office/drawing/2014/main" id="{426CA7FD-9647-8165-499F-D7A885957C7D}"/>
              </a:ext>
            </a:extLst>
          </p:cNvPr>
          <p:cNvSpPr/>
          <p:nvPr/>
        </p:nvSpPr>
        <p:spPr>
          <a:xfrm rot="-720000">
            <a:off x="8763000" y="4038600"/>
            <a:ext cx="406400" cy="365760"/>
          </a:xfrm>
          <a:prstGeom prst="heart">
            <a:avLst/>
          </a:prstGeom>
          <a:solidFill>
            <a:srgbClr val="C8435A">
              <a:alpha val="9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Romance heart 2">
            <a:extLst>
              <a:ext uri="{FF2B5EF4-FFF2-40B4-BE49-F238E27FC236}">
                <a16:creationId xmlns:a16="http://schemas.microsoft.com/office/drawing/2014/main" id="{812E02F8-8FC9-2AE3-199F-01129875C9D5}"/>
              </a:ext>
            </a:extLst>
          </p:cNvPr>
          <p:cNvSpPr/>
          <p:nvPr/>
        </p:nvSpPr>
        <p:spPr>
          <a:xfrm rot="480000">
            <a:off x="9601200" y="3759200"/>
            <a:ext cx="342900" cy="308610"/>
          </a:xfrm>
          <a:prstGeom prst="heart">
            <a:avLst/>
          </a:prstGeom>
          <a:solidFill>
            <a:srgbClr val="C8435A">
              <a:alpha val="8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omance heart 3">
            <a:extLst>
              <a:ext uri="{FF2B5EF4-FFF2-40B4-BE49-F238E27FC236}">
                <a16:creationId xmlns:a16="http://schemas.microsoft.com/office/drawing/2014/main" id="{6EF35381-212E-17DA-BFF7-0125FD7F031E}"/>
              </a:ext>
            </a:extLst>
          </p:cNvPr>
          <p:cNvSpPr/>
          <p:nvPr/>
        </p:nvSpPr>
        <p:spPr>
          <a:xfrm rot="-600000">
            <a:off x="10325100" y="3505200"/>
            <a:ext cx="279400" cy="251460"/>
          </a:xfrm>
          <a:prstGeom prst="heart">
            <a:avLst/>
          </a:prstGeom>
          <a:solidFill>
            <a:srgbClr val="C8435A">
              <a:alpha val="6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omance heart 4">
            <a:extLst>
              <a:ext uri="{FF2B5EF4-FFF2-40B4-BE49-F238E27FC236}">
                <a16:creationId xmlns:a16="http://schemas.microsoft.com/office/drawing/2014/main" id="{F774B454-8FE4-51DE-7FA0-577922E9289C}"/>
              </a:ext>
            </a:extLst>
          </p:cNvPr>
          <p:cNvSpPr/>
          <p:nvPr/>
        </p:nvSpPr>
        <p:spPr>
          <a:xfrm rot="720000">
            <a:off x="10947400" y="3276600"/>
            <a:ext cx="215900" cy="194310"/>
          </a:xfrm>
          <a:prstGeom prst="heart">
            <a:avLst/>
          </a:prstGeom>
          <a:solidFill>
            <a:srgbClr val="C8435A">
              <a:alpha val="5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omance heart 5">
            <a:extLst>
              <a:ext uri="{FF2B5EF4-FFF2-40B4-BE49-F238E27FC236}">
                <a16:creationId xmlns:a16="http://schemas.microsoft.com/office/drawing/2014/main" id="{2FB4598B-37E6-F252-5321-4D909C2FF832}"/>
              </a:ext>
            </a:extLst>
          </p:cNvPr>
          <p:cNvSpPr/>
          <p:nvPr/>
        </p:nvSpPr>
        <p:spPr>
          <a:xfrm rot="-480000">
            <a:off x="11430000" y="3086100"/>
            <a:ext cx="165100" cy="148590"/>
          </a:xfrm>
          <a:prstGeom prst="heart">
            <a:avLst/>
          </a:prstGeom>
          <a:solidFill>
            <a:srgbClr val="C8435A">
              <a:alpha val="3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omance heart 6">
            <a:extLst>
              <a:ext uri="{FF2B5EF4-FFF2-40B4-BE49-F238E27FC236}">
                <a16:creationId xmlns:a16="http://schemas.microsoft.com/office/drawing/2014/main" id="{AA49D3B8-A9B0-2D7F-0D4B-4FBE9B9F8266}"/>
              </a:ext>
            </a:extLst>
          </p:cNvPr>
          <p:cNvSpPr/>
          <p:nvPr/>
        </p:nvSpPr>
        <p:spPr>
          <a:xfrm rot="600000">
            <a:off x="11811000" y="2946400"/>
            <a:ext cx="114300" cy="102870"/>
          </a:xfrm>
          <a:prstGeom prst="heart">
            <a:avLst/>
          </a:prstGeom>
          <a:solidFill>
            <a:srgbClr val="C8435A">
              <a:alpha val="22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a:t>
            </a:r>
            <a:r>
              <a:rPr lang="en-CA" b="1" dirty="0"/>
              <a:t>informative</a:t>
            </a:r>
            <a:r>
              <a:rPr lang="en-CA" dirty="0"/>
              <a:t>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6</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5D,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
        <p:nvSpPr>
          <p:cNvPr id="7" name="Slide Number Placeholder 7"/>
          <p:cNvSpPr>
            <a:spLocks noGrp="1"/>
          </p:cNvSpPr>
          <p:nvPr>
            <p:ph type="sldNum" sz="quarter" idx="12"/>
          </p:nvPr>
        </p:nvSpPr>
        <p:spPr/>
        <p:txBody>
          <a:bodyPr/>
          <a:lstStyle/>
          <a:p>
            <a:fld id="{9BFB2853-4965-4727-91C4-384EB30D99A4}" type="slidenum">
              <a:rPr lang="en-CA"/>
              <a:t>7</a:t>
            </a:fld>
            <a:endParaRPr lang="en-CA"/>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a:t>
            </a:r>
            <a:r>
              <a:rPr lang="en-CA" dirty="0"/>
              <a:t>Type 2 </a:t>
            </a:r>
            <a:r>
              <a:rPr dirty="0"/>
              <a:t>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r>
              <a:rPr lang="en-CA" dirty="0"/>
              <a:t>:</a:t>
            </a:r>
          </a:p>
          <a:p>
            <a:pPr lvl="1"/>
            <a:r>
              <a:rPr lang="en-CA" dirty="0"/>
              <a:t>Chemical (Prediabetes / Early Type 2)</a:t>
            </a:r>
          </a:p>
          <a:p>
            <a:pPr lvl="1"/>
            <a:r>
              <a:rPr lang="en-CA" dirty="0"/>
              <a:t>Overt (Advanced Type 2)</a:t>
            </a:r>
            <a:endParaRPr dirty="0"/>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
        <p:nvSpPr>
          <p:cNvPr id="6" name="Slide Number Placeholder 6"/>
          <p:cNvSpPr>
            <a:spLocks noGrp="1"/>
          </p:cNvSpPr>
          <p:nvPr>
            <p:ph type="sldNum" sz="quarter" idx="12"/>
          </p:nvPr>
        </p:nvSpPr>
        <p:spPr/>
        <p:txBody>
          <a:bodyPr/>
          <a:lstStyle/>
          <a:p>
            <a:fld id="{9BFB2853-4965-4727-91C4-384EB30D99A4}" type="slidenum">
              <a:rPr lang="en-CA"/>
              <a:t>8</a:t>
            </a:fld>
            <a:endParaRPr lang="en-CA"/>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sz="2000" dirty="0" err="1">
                <a:solidFill>
                  <a:schemeClr val="accent2">
                    <a:lumMod val="50000"/>
                  </a:schemeClr>
                </a:solidFill>
                <a:latin typeface="Cascadia Code" panose="020B0609020000020004" pitchFamily="49" charset="0"/>
                <a:ea typeface="Cascadia Code" panose="020B0609020000020004" pitchFamily="49" charset="0"/>
                <a:cs typeface="Cascadia Code" panose="020B0609020000020004" pitchFamily="49" charset="0"/>
              </a:rPr>
              <a:t>lm</a:t>
            </a:r>
            <a:r>
              <a:rPr sz="2000" dirty="0">
                <a:solidFill>
                  <a:schemeClr val="accent2">
                    <a:lumMod val="50000"/>
                  </a:schemeClr>
                </a:solidFill>
                <a:latin typeface="Cascadia Code" panose="020B0609020000020004" pitchFamily="49" charset="0"/>
                <a:ea typeface="Cascadia Code" panose="020B0609020000020004" pitchFamily="49" charset="0"/>
                <a:cs typeface="Cascadia Code" panose="020B0609020000020004" pitchFamily="49" charset="0"/>
              </a:rPr>
              <a:t>(</a:t>
            </a:r>
            <a:r>
              <a:rPr sz="2000" dirty="0" err="1">
                <a:solidFill>
                  <a:schemeClr val="accent2">
                    <a:lumMod val="50000"/>
                  </a:schemeClr>
                </a:solidFill>
                <a:latin typeface="Cascadia Code" panose="020B0609020000020004" pitchFamily="49" charset="0"/>
                <a:ea typeface="Cascadia Code" panose="020B0609020000020004" pitchFamily="49" charset="0"/>
                <a:cs typeface="Cascadia Code" panose="020B0609020000020004" pitchFamily="49" charset="0"/>
              </a:rPr>
              <a:t>cbind</a:t>
            </a:r>
            <a:r>
              <a:rPr sz="2000" dirty="0">
                <a:solidFill>
                  <a:schemeClr val="accent2">
                    <a:lumMod val="50000"/>
                  </a:schemeClr>
                </a:solidFill>
                <a:latin typeface="Cascadia Code" panose="020B0609020000020004" pitchFamily="49" charset="0"/>
                <a:ea typeface="Cascadia Code" panose="020B0609020000020004" pitchFamily="49" charset="0"/>
                <a:cs typeface="Cascadia Code" panose="020B0609020000020004" pitchFamily="49" charset="0"/>
              </a:rPr>
              <a:t>(y1,y2,y3) ~ ...) </a:t>
            </a:r>
            <a:r>
              <a:rPr dirty="0"/>
              <a:t>is just as easy to fit</a:t>
            </a:r>
            <a:endParaRPr lang="en-CA" dirty="0"/>
          </a:p>
          <a:p>
            <a:r>
              <a:rPr lang="en-CA" dirty="0"/>
              <a:t>Math is beautiful &amp;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
        <p:nvSpPr>
          <p:cNvPr id="12" name="Slide Number Placeholder 12"/>
          <p:cNvSpPr>
            <a:spLocks noGrp="1"/>
          </p:cNvSpPr>
          <p:nvPr>
            <p:ph type="sldNum" sz="quarter" idx="12"/>
          </p:nvPr>
        </p:nvSpPr>
        <p:spPr/>
        <p:txBody>
          <a:bodyPr/>
          <a:lstStyle/>
          <a:p>
            <a:fld id="{9BFB2853-4965-4727-91C4-384EB30D99A4}" type="slidenum">
              <a:rPr lang="en-CA"/>
              <a:t>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3E4EE"/>
        </a:solidFill>
        <a:effectLst/>
      </p:bgPr>
    </p:bg>
    <p:spTree>
      <p:nvGrpSpPr>
        <p:cNvPr id="1" name=""/>
        <p:cNvGrpSpPr/>
        <p:nvPr/>
      </p:nvGrpSpPr>
      <p:grpSpPr>
        <a:xfrm>
          <a:off x="0" y="0"/>
          <a:ext cx="0" cy="0"/>
          <a:chOff x="0" y="0"/>
          <a:chExt cx="0" cy="0"/>
        </a:xfrm>
      </p:grpSpPr>
      <p:pic>
        <p:nvPicPr>
          <p:cNvPr id="6" name="Penguin station">
            <a:extLst>
              <a:ext uri="{FF2B5EF4-FFF2-40B4-BE49-F238E27FC236}">
                <a16:creationId xmlns:a16="http://schemas.microsoft.com/office/drawing/2014/main" id="{413CB08B-C51F-703F-A1B4-7349204C82D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096000"/>
          </a:xfrm>
          <a:prstGeom prst="rect">
            <a:avLst/>
          </a:prstGeom>
        </p:spPr>
      </p:pic>
      <p:sp>
        <p:nvSpPr>
          <p:cNvPr id="2" name="Title 1"/>
          <p:cNvSpPr>
            <a:spLocks noGrp="1"/>
          </p:cNvSpPr>
          <p:nvPr>
            <p:ph type="title"/>
          </p:nvPr>
        </p:nvSpPr>
        <p:spPr>
          <a:xfrm>
            <a:off x="5384800" y="76200"/>
            <a:ext cx="6705600" cy="1968500"/>
          </a:xfrm>
          <a:effectLst>
            <a:outerShdw blurRad="50800" dist="38100" dir="2700000" algn="tl" rotWithShape="0">
              <a:prstClr val="black">
                <a:alpha val="40000"/>
              </a:prstClr>
            </a:outerShdw>
          </a:effectLst>
        </p:spPr>
        <p:txBody>
          <a:bodyPr vert="horz" wrap="square" lIns="0" tIns="0" rIns="0" bIns="0" rtlCol="0" anchor="t">
            <a:noAutofit/>
          </a:bodyPr>
          <a:lstStyle/>
          <a:p>
            <a:pPr algn="ctr">
              <a:lnSpc>
                <a:spcPct val="85000"/>
              </a:lnSpc>
            </a:pPr>
            <a:r>
              <a:rPr lang="en-US" sz="7200" b="1" dirty="0">
                <a:solidFill>
                  <a:srgbClr val="1B2F4E"/>
                </a:solidFill>
                <a:effectLst>
                  <a:glow rad="101600">
                    <a:srgbClr val="FFFFFF">
                      <a:alpha val="65000"/>
                    </a:srgbClr>
                  </a:glow>
                </a:effectLst>
              </a:rPr>
              <a:t>Seeing multivariate data</a:t>
            </a:r>
          </a:p>
        </p:txBody>
      </p:sp>
      <p:sp>
        <p:nvSpPr>
          <p:cNvPr id="3" name="Text Placeholder 2"/>
          <p:cNvSpPr>
            <a:spLocks noGrp="1"/>
          </p:cNvSpPr>
          <p:nvPr>
            <p:ph type="body" idx="1"/>
          </p:nvPr>
        </p:nvSpPr>
        <p:spPr>
          <a:xfrm>
            <a:off x="381000" y="6146799"/>
            <a:ext cx="10541000" cy="660400"/>
          </a:xfrm>
          <a:effectLst>
            <a:outerShdw blurRad="50800" dist="38100" dir="2700000" algn="tl" rotWithShape="0">
              <a:prstClr val="black">
                <a:alpha val="40000"/>
              </a:prstClr>
            </a:outerShdw>
          </a:effectLst>
        </p:spPr>
        <p:txBody>
          <a:bodyPr vert="horz" lIns="91440" tIns="45720" rIns="91440" bIns="45720" rtlCol="0" anchor="ctr">
            <a:normAutofit/>
          </a:bodyPr>
          <a:lstStyle/>
          <a:p>
            <a:pPr algn="ctr"/>
            <a:r>
              <a:rPr lang="en-US" sz="2800" dirty="0">
                <a:solidFill>
                  <a:srgbClr val="1B2F4E"/>
                </a:solidFill>
              </a:rPr>
              <a:t>Data ellipses, penguins, and looking at many variables at once</a:t>
            </a:r>
          </a:p>
        </p:txBody>
      </p:sp>
      <p:sp>
        <p:nvSpPr>
          <p:cNvPr id="14" name="Slide Number Placeholder 14"/>
          <p:cNvSpPr>
            <a:spLocks noGrp="1"/>
          </p:cNvSpPr>
          <p:nvPr>
            <p:ph type="sldNum" sz="quarter" idx="12"/>
          </p:nvPr>
        </p:nvSpPr>
        <p:spPr>
          <a:xfrm>
            <a:off x="11049000" y="6299200"/>
            <a:ext cx="889000" cy="365125"/>
          </a:xfrm>
        </p:spPr>
        <p:txBody>
          <a:bodyPr/>
          <a:lstStyle/>
          <a:p>
            <a:fld id="{9BFB2853-4965-4727-91C4-384EB30D99A4}" type="slidenum">
              <a:rPr lang="en-CA"/>
              <a:t>10</a:t>
            </a:fld>
            <a:endParaRPr lang="en-CA"/>
          </a:p>
        </p:txBody>
      </p:sp>
    </p:spTree>
    <p:extLst>
      <p:ext uri="{BB962C8B-B14F-4D97-AF65-F5344CB8AC3E}">
        <p14:creationId xmlns:p14="http://schemas.microsoft.com/office/powerpoint/2010/main" val="2393490728"/>
      </p:ext>
    </p:extLst>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
        <p:nvSpPr>
          <p:cNvPr id="78852" name="Slide Number Placeholder 78852"/>
          <p:cNvSpPr>
            <a:spLocks noGrp="1"/>
          </p:cNvSpPr>
          <p:nvPr>
            <p:ph type="sldNum" sz="quarter" idx="12"/>
          </p:nvPr>
        </p:nvSpPr>
        <p:spPr/>
        <p:txBody>
          <a:bodyPr/>
          <a:lstStyle/>
          <a:p>
            <a:fld id="{9BFB2853-4965-4727-91C4-384EB30D99A4}" type="slidenum">
              <a:rPr lang="en-CA"/>
              <a:t>11</a:t>
            </a:fld>
            <a:endParaRPr lang="en-CA"/>
          </a:p>
        </p:txBody>
      </p:sp>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684882" y="327024"/>
            <a:ext cx="8229600" cy="793438"/>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
        <p:nvSpPr>
          <p:cNvPr id="80900" name="Slide Number Placeholder 80900"/>
          <p:cNvSpPr>
            <a:spLocks noGrp="1"/>
          </p:cNvSpPr>
          <p:nvPr>
            <p:ph type="sldNum" sz="quarter" idx="12"/>
          </p:nvPr>
        </p:nvSpPr>
        <p:spPr/>
        <p:txBody>
          <a:bodyPr/>
          <a:lstStyle/>
          <a:p>
            <a:fld id="{9BFB2853-4965-4727-91C4-384EB30D99A4}" type="slidenum">
              <a:rPr lang="en-CA"/>
              <a:t>12</a:t>
            </a:fld>
            <a:endParaRPr lang="en-CA"/>
          </a:p>
        </p:txBody>
      </p:sp>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a:xfrm>
            <a:off x="650082" y="466726"/>
            <a:ext cx="8229600" cy="731372"/>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
        <p:nvSpPr>
          <p:cNvPr id="82952" name="Slide Number Placeholder 82952"/>
          <p:cNvSpPr>
            <a:spLocks noGrp="1"/>
          </p:cNvSpPr>
          <p:nvPr>
            <p:ph type="sldNum" sz="quarter" idx="12"/>
          </p:nvPr>
        </p:nvSpPr>
        <p:spPr/>
        <p:txBody>
          <a:bodyPr/>
          <a:lstStyle/>
          <a:p>
            <a:fld id="{9BFB2853-4965-4727-91C4-384EB30D99A4}" type="slidenum">
              <a:rPr lang="en-CA"/>
              <a:t>13</a:t>
            </a:fld>
            <a:endParaRPr lang="en-CA"/>
          </a:p>
        </p:txBody>
      </p:sp>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35386"/>
            <a:ext cx="10515600" cy="4533900"/>
          </a:xfrm>
        </p:spPr>
        <p:txBody>
          <a:bodyPr/>
          <a:lstStyle/>
          <a:p>
            <a:r>
              <a:rPr lang="en-US" dirty="0"/>
              <a:t>Ellipsoid boundary: </a:t>
            </a:r>
            <a:r>
              <a:rPr lang="en-US" dirty="0" err="1"/>
              <a:t>Mahalanobis</a:t>
            </a:r>
            <a:r>
              <a:rPr lang="en-US" dirty="0"/>
              <a:t>  </a:t>
            </a:r>
            <a:r>
              <a:rPr lang="en-US" i="1" dirty="0"/>
              <a:t>D</a:t>
            </a:r>
            <a:r>
              <a:rPr lang="en-US" i="1"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a:t>
            </a:r>
            <a:r>
              <a:rPr lang="en-US" dirty="0">
                <a:solidFill>
                  <a:srgbClr val="FF0000"/>
                </a:solidFill>
              </a:rPr>
              <a:t>precision</a:t>
            </a:r>
            <a:r>
              <a:rPr lang="en-US" dirty="0"/>
              <a:t> </a:t>
            </a:r>
            <a:r>
              <a:rPr lang="en-US" dirty="0">
                <a:sym typeface="Symbol" panose="05050102010706020507" pitchFamily="18" charset="2"/>
              </a:rPr>
              <a:t></a:t>
            </a:r>
            <a:r>
              <a:rPr lang="en-US" dirty="0"/>
              <a:t>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Slide Number Placeholder 8"/>
          <p:cNvSpPr>
            <a:spLocks noGrp="1"/>
          </p:cNvSpPr>
          <p:nvPr>
            <p:ph type="sldNum" sz="quarter" idx="12"/>
          </p:nvPr>
        </p:nvSpPr>
        <p:spPr/>
        <p:txBody>
          <a:bodyPr/>
          <a:lstStyle/>
          <a:p>
            <a:fld id="{9BFB2853-4965-4727-91C4-384EB30D99A4}" type="slidenum">
              <a:rPr lang="en-CA"/>
              <a:t>14</a:t>
            </a:fld>
            <a:endParaRPr lang="en-CA"/>
          </a:p>
        </p:txBody>
      </p:sp>
      <p:sp>
        <p:nvSpPr>
          <p:cNvPr id="4" name="TextBox 3">
            <a:extLst>
              <a:ext uri="{FF2B5EF4-FFF2-40B4-BE49-F238E27FC236}">
                <a16:creationId xmlns:a16="http://schemas.microsoft.com/office/drawing/2014/main" id="{A77FE8ED-10AA-0457-1A28-238B03B528CD}"/>
              </a:ext>
            </a:extLst>
          </p:cNvPr>
          <p:cNvSpPr txBox="1"/>
          <p:nvPr/>
        </p:nvSpPr>
        <p:spPr>
          <a:xfrm>
            <a:off x="6646683" y="4059082"/>
            <a:ext cx="669702" cy="338554"/>
          </a:xfrm>
          <a:prstGeom prst="rect">
            <a:avLst/>
          </a:prstGeom>
          <a:noFill/>
        </p:spPr>
        <p:txBody>
          <a:bodyPr wrap="square" rtlCol="0">
            <a:spAutoFit/>
          </a:bodyPr>
          <a:lstStyle/>
          <a:p>
            <a:pPr algn="ctr"/>
            <a:r>
              <a:rPr lang="en-CA" sz="1600" b="1" dirty="0">
                <a:solidFill>
                  <a:srgbClr val="0070C0"/>
                </a:solidFill>
              </a:rPr>
              <a:t>40%</a:t>
            </a:r>
          </a:p>
        </p:txBody>
      </p:sp>
      <p:sp>
        <p:nvSpPr>
          <p:cNvPr id="10" name="TextBox 9">
            <a:extLst>
              <a:ext uri="{FF2B5EF4-FFF2-40B4-BE49-F238E27FC236}">
                <a16:creationId xmlns:a16="http://schemas.microsoft.com/office/drawing/2014/main" id="{A70DFDF0-1802-D0F9-BD4D-2F54630A83DC}"/>
              </a:ext>
            </a:extLst>
          </p:cNvPr>
          <p:cNvSpPr txBox="1"/>
          <p:nvPr/>
        </p:nvSpPr>
        <p:spPr>
          <a:xfrm>
            <a:off x="8019580" y="3811432"/>
            <a:ext cx="669702" cy="338554"/>
          </a:xfrm>
          <a:prstGeom prst="rect">
            <a:avLst/>
          </a:prstGeom>
          <a:noFill/>
        </p:spPr>
        <p:txBody>
          <a:bodyPr wrap="square" rtlCol="0">
            <a:spAutoFit/>
          </a:bodyPr>
          <a:lstStyle/>
          <a:p>
            <a:pPr algn="ctr"/>
            <a:r>
              <a:rPr lang="en-CA" sz="1600" b="1" dirty="0">
                <a:solidFill>
                  <a:srgbClr val="FF0000"/>
                </a:solidFill>
              </a:rPr>
              <a:t>68%</a:t>
            </a:r>
          </a:p>
        </p:txBody>
      </p:sp>
      <p:sp>
        <p:nvSpPr>
          <p:cNvPr id="12" name="TextBox 11">
            <a:extLst>
              <a:ext uri="{FF2B5EF4-FFF2-40B4-BE49-F238E27FC236}">
                <a16:creationId xmlns:a16="http://schemas.microsoft.com/office/drawing/2014/main" id="{CFA85B36-96D9-C8EB-B449-2D8C35545C83}"/>
              </a:ext>
            </a:extLst>
          </p:cNvPr>
          <p:cNvSpPr txBox="1"/>
          <p:nvPr/>
        </p:nvSpPr>
        <p:spPr>
          <a:xfrm>
            <a:off x="8853571" y="3429000"/>
            <a:ext cx="669702" cy="338554"/>
          </a:xfrm>
          <a:prstGeom prst="rect">
            <a:avLst/>
          </a:prstGeom>
          <a:noFill/>
        </p:spPr>
        <p:txBody>
          <a:bodyPr wrap="square" rtlCol="0">
            <a:spAutoFit/>
          </a:bodyPr>
          <a:lstStyle/>
          <a:p>
            <a:pPr algn="ctr"/>
            <a:r>
              <a:rPr lang="en-CA" sz="1600" b="1" dirty="0"/>
              <a:t>95%</a:t>
            </a:r>
          </a:p>
        </p:txBody>
      </p:sp>
      <p:pic>
        <p:nvPicPr>
          <p:cNvPr id="11" name="Picture 10">
            <a:extLst>
              <a:ext uri="{FF2B5EF4-FFF2-40B4-BE49-F238E27FC236}">
                <a16:creationId xmlns:a16="http://schemas.microsoft.com/office/drawing/2014/main" id="{C361A2FD-977D-93CE-CCEF-453410162483}"/>
              </a:ext>
            </a:extLst>
          </p:cNvPr>
          <p:cNvPicPr>
            <a:picLocks noChangeAspect="1"/>
          </p:cNvPicPr>
          <p:nvPr/>
        </p:nvPicPr>
        <p:blipFill>
          <a:blip r:embed="rId4"/>
          <a:stretch>
            <a:fillRect/>
          </a:stretch>
        </p:blipFill>
        <p:spPr>
          <a:xfrm>
            <a:off x="8496300" y="1635386"/>
            <a:ext cx="2989236" cy="401539"/>
          </a:xfrm>
          <a:prstGeom prst="rect">
            <a:avLst/>
          </a:prstGeom>
        </p:spPr>
      </p:pic>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5E74599-60B8-D4F2-07BA-54E00DEC44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55793" y="594442"/>
            <a:ext cx="3083335" cy="1984693"/>
          </a:xfrm>
          <a:prstGeom prst="rect">
            <a:avLst/>
          </a:prstGeom>
        </p:spPr>
      </p:pic>
      <p:sp>
        <p:nvSpPr>
          <p:cNvPr id="2" name="Title 1"/>
          <p:cNvSpPr>
            <a:spLocks noGrp="1"/>
          </p:cNvSpPr>
          <p:nvPr>
            <p:ph type="title"/>
          </p:nvPr>
        </p:nvSpPr>
        <p:spPr>
          <a:xfrm>
            <a:off x="838200" y="365125"/>
            <a:ext cx="4789868" cy="1143000"/>
          </a:xfrm>
        </p:spPr>
        <p:txBody>
          <a:bodyPr/>
          <a:lstStyle/>
          <a:p>
            <a:r>
              <a:rPr dirty="0"/>
              <a:t>Meet the penguins</a:t>
            </a:r>
          </a:p>
        </p:txBody>
      </p:sp>
      <p:pic>
        <p:nvPicPr>
          <p:cNvPr id="3" name="Picture 2" descr="penguins-horst.png"/>
          <p:cNvPicPr>
            <a:picLocks noChangeAspect="1"/>
          </p:cNvPicPr>
          <p:nvPr/>
        </p:nvPicPr>
        <p:blipFill>
          <a:blip r:embed="rId4"/>
          <a:stretch>
            <a:fillRect/>
          </a:stretch>
        </p:blipFill>
        <p:spPr>
          <a:xfrm>
            <a:off x="725337" y="2129942"/>
            <a:ext cx="5120640" cy="3055315"/>
          </a:xfrm>
          <a:prstGeom prst="rect">
            <a:avLst/>
          </a:prstGeom>
        </p:spPr>
      </p:pic>
      <p:pic>
        <p:nvPicPr>
          <p:cNvPr id="4" name="Picture 3" descr="fig-peng-ggplot1-1.png"/>
          <p:cNvPicPr>
            <a:picLocks noChangeAspect="1"/>
          </p:cNvPicPr>
          <p:nvPr/>
        </p:nvPicPr>
        <p:blipFill>
          <a:blip r:embed="rId5"/>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
        <p:nvSpPr>
          <p:cNvPr id="7" name="Slide Number Placeholder 7"/>
          <p:cNvSpPr>
            <a:spLocks noGrp="1"/>
          </p:cNvSpPr>
          <p:nvPr>
            <p:ph type="sldNum" sz="quarter" idx="12"/>
          </p:nvPr>
        </p:nvSpPr>
        <p:spPr/>
        <p:txBody>
          <a:bodyPr/>
          <a:lstStyle/>
          <a:p>
            <a:fld id="{9BFB2853-4965-4727-91C4-384EB30D99A4}" type="slidenum">
              <a:rPr lang="en-CA"/>
              <a:t>15</a:t>
            </a:fld>
            <a:endParaRPr lang="en-CA"/>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257032"/>
            <a:ext cx="10360007" cy="1323439"/>
          </a:xfrm>
          <a:prstGeom prst="rect">
            <a:avLst/>
          </a:prstGeom>
          <a:noFill/>
        </p:spPr>
        <p:txBody>
          <a:bodyPr wrap="square" rtlCol="0">
            <a:spAutoFit/>
          </a:bodyPr>
          <a:lstStyle/>
          <a:p>
            <a:r>
              <a:rPr lang="en-CA" sz="2000" dirty="0"/>
              <a:t>Plot annotations are </a:t>
            </a:r>
            <a:r>
              <a:rPr lang="en-CA" sz="2000" b="1" dirty="0"/>
              <a:t>visual summaries </a:t>
            </a:r>
            <a:r>
              <a:rPr lang="en-CA" sz="2000" dirty="0"/>
              <a:t>(ellipse, regression line, conf. band)</a:t>
            </a:r>
          </a:p>
          <a:p>
            <a:pPr marL="285750" indent="-285750">
              <a:buFont typeface="Arial" panose="020B0604020202020204" pitchFamily="34" charset="0"/>
              <a:buChar char="•"/>
            </a:pPr>
            <a:r>
              <a:rPr lang="en-CA" sz="2000" dirty="0"/>
              <a:t>Add </a:t>
            </a:r>
            <a:r>
              <a:rPr lang="en-CA" sz="2000" b="1" dirty="0"/>
              <a:t>data ellipses </a:t>
            </a:r>
            <a:r>
              <a:rPr lang="en-CA" sz="2000" dirty="0"/>
              <a:t>to show w/in group means &amp; scatter (sufficient for N(</a:t>
            </a:r>
            <a:r>
              <a:rPr lang="en-CA" sz="2000" b="1" dirty="0"/>
              <a:t>µ, </a:t>
            </a:r>
            <a:r>
              <a:rPr lang="el-GR" sz="2000" b="1" dirty="0">
                <a:latin typeface="Cambria Math" panose="02040503050406030204" pitchFamily="18" charset="0"/>
                <a:ea typeface="Cambria Math" panose="02040503050406030204" pitchFamily="18" charset="0"/>
              </a:rPr>
              <a:t>Σ</a:t>
            </a:r>
            <a:r>
              <a:rPr lang="en-CA" sz="2000" dirty="0">
                <a:latin typeface="Cambria Math" panose="02040503050406030204" pitchFamily="18" charset="0"/>
                <a:ea typeface="Cambria Math" panose="02040503050406030204" pitchFamily="18" charset="0"/>
              </a:rPr>
              <a:t>))</a:t>
            </a:r>
            <a:endParaRPr lang="en-CA" sz="2000" dirty="0"/>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t>
            </a:r>
            <a:r>
              <a:rPr lang="en-CA" sz="2000" b="1" dirty="0"/>
              <a:t>all that linear models care about </a:t>
            </a:r>
            <a:r>
              <a:rPr lang="en-CA" sz="2000" dirty="0"/>
              <a:t>(ellipses can be made robust!)</a:t>
            </a:r>
          </a:p>
        </p:txBody>
      </p:sp>
      <p:grpSp>
        <p:nvGrpSpPr>
          <p:cNvPr id="3" name="Group 2">
            <a:extLst>
              <a:ext uri="{FF2B5EF4-FFF2-40B4-BE49-F238E27FC236}">
                <a16:creationId xmlns:a16="http://schemas.microsoft.com/office/drawing/2014/main" id="{41E8FD65-CEE9-7835-E19B-452A0BFF3F5E}"/>
              </a:ext>
            </a:extLst>
          </p:cNvPr>
          <p:cNvGrpSpPr>
            <a:grpSpLocks noChangeAspect="1"/>
          </p:cNvGrpSpPr>
          <p:nvPr/>
        </p:nvGrpSpPr>
        <p:grpSpPr>
          <a:xfrm>
            <a:off x="1029718" y="2785942"/>
            <a:ext cx="3168000" cy="3948252"/>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392764" y="2785942"/>
            <a:ext cx="3168000" cy="396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1" y="2785942"/>
            <a:ext cx="3168000" cy="396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
        <p:nvSpPr>
          <p:cNvPr id="15" name="Slide Number Placeholder 15"/>
          <p:cNvSpPr>
            <a:spLocks noGrp="1"/>
          </p:cNvSpPr>
          <p:nvPr>
            <p:ph type="sldNum" sz="quarter" idx="12"/>
          </p:nvPr>
        </p:nvSpPr>
        <p:spPr/>
        <p:txBody>
          <a:bodyPr/>
          <a:lstStyle/>
          <a:p>
            <a:fld id="{9BFB2853-4965-4727-91C4-384EB30D99A4}" type="slidenum">
              <a:rPr lang="en-CA"/>
              <a:t>16</a:t>
            </a:fld>
            <a:endParaRPr lang="en-CA"/>
          </a:p>
        </p:txBody>
      </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0" end="0"/>
                                            </p:txEl>
                                          </p:spTgt>
                                        </p:tgtEl>
                                        <p:attrNameLst>
                                          <p:attrName>style.visibility</p:attrName>
                                        </p:attrNameLst>
                                      </p:cBhvr>
                                      <p:to>
                                        <p:strVal val="visible"/>
                                      </p:to>
                                    </p:set>
                                  </p:childTnLst>
                                </p:cTn>
                              </p:par>
                              <p:par>
                                <p:cTn id="11" presetID="42"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ppt_x</p:attrName>
                                        </p:attrNameLst>
                                      </p:cBhvr>
                                      <p:tavLst>
                                        <p:tav tm="0">
                                          <p:val>
                                            <p:strVal val="#ppt_x"/>
                                          </p:val>
                                        </p:tav>
                                        <p:tav tm="100000">
                                          <p:val>
                                            <p:strVal val="#ppt_x"/>
                                          </p:val>
                                        </p:tav>
                                      </p:tavLst>
                                    </p:anim>
                                    <p:anim calcmode="lin" valueType="num">
                                      <p:cBhvr>
                                        <p:cTn id="15"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1">
                                            <p:txEl>
                                              <p:pRg st="2" end="2"/>
                                            </p:txEl>
                                          </p:spTgt>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childTnLst>
                                </p:cTn>
                              </p:par>
                              <p:par>
                                <p:cTn id="22" presetID="42"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1000"/>
                                        <p:tgtEl>
                                          <p:spTgt spid="7"/>
                                        </p:tgtEl>
                                      </p:cBhvr>
                                    </p:animEffect>
                                    <p:anim calcmode="lin" valueType="num">
                                      <p:cBhvr>
                                        <p:cTn id="25" dur="1000" fill="hold"/>
                                        <p:tgtEl>
                                          <p:spTgt spid="7"/>
                                        </p:tgtEl>
                                        <p:attrNameLst>
                                          <p:attrName>ppt_x</p:attrName>
                                        </p:attrNameLst>
                                      </p:cBhvr>
                                      <p:tavLst>
                                        <p:tav tm="0">
                                          <p:val>
                                            <p:strVal val="#ppt_x"/>
                                          </p:val>
                                        </p:tav>
                                        <p:tav tm="100000">
                                          <p:val>
                                            <p:strVal val="#ppt_x"/>
                                          </p:val>
                                        </p:tav>
                                      </p:tavLst>
                                    </p:anim>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normAutofit fontScale="90000"/>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
        <p:nvSpPr>
          <p:cNvPr id="12" name="Slide Number Placeholder 12"/>
          <p:cNvSpPr>
            <a:spLocks noGrp="1"/>
          </p:cNvSpPr>
          <p:nvPr>
            <p:ph type="sldNum" sz="quarter" idx="12"/>
          </p:nvPr>
        </p:nvSpPr>
        <p:spPr/>
        <p:txBody>
          <a:bodyPr/>
          <a:lstStyle/>
          <a:p>
            <a:fld id="{9BFB2853-4965-4727-91C4-384EB30D99A4}" type="slidenum">
              <a:rPr lang="en-CA"/>
              <a:t>17</a:t>
            </a:fld>
            <a:endParaRPr lang="en-CA"/>
          </a:p>
        </p:txBody>
      </p:sp>
      <p:sp>
        <p:nvSpPr>
          <p:cNvPr id="13" name="Worried face">
            <a:extLst>
              <a:ext uri="{FF2B5EF4-FFF2-40B4-BE49-F238E27FC236}">
                <a16:creationId xmlns:a16="http://schemas.microsoft.com/office/drawing/2014/main" id="{54066926-BAD8-9A1C-806A-1E0EFA284C07}"/>
              </a:ext>
            </a:extLst>
          </p:cNvPr>
          <p:cNvSpPr txBox="1"/>
          <p:nvPr/>
        </p:nvSpPr>
        <p:spPr>
          <a:xfrm>
            <a:off x="5039719" y="439410"/>
            <a:ext cx="528991" cy="461665"/>
          </a:xfrm>
          <a:prstGeom prst="rect">
            <a:avLst/>
          </a:prstGeom>
          <a:noFill/>
        </p:spPr>
        <p:txBody>
          <a:bodyPr vert="horz" wrap="none" lIns="0" tIns="0" rIns="0" bIns="0" rtlCol="0">
            <a:spAutoFit/>
          </a:bodyPr>
          <a:lstStyle/>
          <a:p>
            <a:r>
              <a:rPr lang="en-CA" sz="3000">
                <a:latin typeface="Segoe UI Emoji" panose="020B0502040204020203" pitchFamily="34" charset="0"/>
              </a:rPr>
              <a: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
        <p:nvSpPr>
          <p:cNvPr id="10" name="Slide Number Placeholder 10"/>
          <p:cNvSpPr>
            <a:spLocks noGrp="1"/>
          </p:cNvSpPr>
          <p:nvPr>
            <p:ph type="sldNum" sz="quarter" idx="12"/>
          </p:nvPr>
        </p:nvSpPr>
        <p:spPr/>
        <p:txBody>
          <a:bodyPr/>
          <a:lstStyle/>
          <a:p>
            <a:fld id="{9BFB2853-4965-4727-91C4-384EB30D99A4}" type="slidenum">
              <a:rPr lang="en-CA"/>
              <a:t>18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1792DA-38D0-0A13-18FE-D00C390BF6FE}"/>
              </a:ext>
            </a:extLst>
          </p:cNvPr>
          <p:cNvSpPr>
            <a:spLocks noGrp="1"/>
          </p:cNvSpPr>
          <p:nvPr>
            <p:ph type="title"/>
          </p:nvPr>
        </p:nvSpPr>
        <p:spPr/>
        <p:txBody>
          <a:bodyPr/>
          <a:lstStyle/>
          <a:p>
            <a:r>
              <a:rPr lang="en-CA"/>
              <a:t>Thinking about Penguin variables</a:t>
            </a:r>
          </a:p>
        </p:txBody>
      </p:sp>
      <p:sp>
        <p:nvSpPr>
          <p:cNvPr id="3" name="Intro text">
            <a:extLst>
              <a:ext uri="{FF2B5EF4-FFF2-40B4-BE49-F238E27FC236}">
                <a16:creationId xmlns:a16="http://schemas.microsoft.com/office/drawing/2014/main" id="{31270026-3357-36A1-2ABF-DA0EB1E72A7E}"/>
              </a:ext>
            </a:extLst>
          </p:cNvPr>
          <p:cNvSpPr txBox="1"/>
          <p:nvPr/>
        </p:nvSpPr>
        <p:spPr>
          <a:xfrm>
            <a:off x="889000" y="12446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Bill length &amp; depth are two measurements of one object: a penguin’s</a:t>
            </a:r>
            <a:r>
              <a:rPr lang="en-CA" b="1" dirty="0"/>
              <a:t> beak</a:t>
            </a:r>
            <a:r>
              <a:rPr lang="en-CA" dirty="0"/>
              <a:t>.</a:t>
            </a:r>
          </a:p>
          <a:p>
            <a:pPr marL="203200" indent="-203200">
              <a:spcAft>
                <a:spcPts val="400"/>
              </a:spcAft>
              <a:buFont typeface="+mj-lt"/>
              <a:buChar char="•"/>
            </a:pPr>
            <a:r>
              <a:rPr lang="en-CA" dirty="0">
                <a:sym typeface="Symbol" panose="05050102010706020507" pitchFamily="18" charset="2"/>
              </a:rPr>
              <a:t> </a:t>
            </a:r>
            <a:r>
              <a:rPr lang="en-CA" dirty="0"/>
              <a:t>Re-express them as </a:t>
            </a:r>
            <a:r>
              <a:rPr lang="en-CA" b="1" dirty="0"/>
              <a:t>Size</a:t>
            </a:r>
            <a:r>
              <a:rPr lang="en-CA" dirty="0"/>
              <a:t> = L x D and </a:t>
            </a:r>
            <a:r>
              <a:rPr lang="en-CA" b="1" dirty="0"/>
              <a:t>Shape</a:t>
            </a:r>
            <a:r>
              <a:rPr lang="en-CA" dirty="0"/>
              <a:t> = L / D</a:t>
            </a:r>
          </a:p>
        </p:txBody>
      </p:sp>
      <p:sp>
        <p:nvSpPr>
          <p:cNvPr id="4" name="Reveal text">
            <a:extLst>
              <a:ext uri="{FF2B5EF4-FFF2-40B4-BE49-F238E27FC236}">
                <a16:creationId xmlns:a16="http://schemas.microsoft.com/office/drawing/2014/main" id="{F703DD8B-EC5B-F58C-61A5-6711CA9B85C5}"/>
              </a:ext>
            </a:extLst>
          </p:cNvPr>
          <p:cNvSpPr txBox="1"/>
          <p:nvPr/>
        </p:nvSpPr>
        <p:spPr>
          <a:xfrm>
            <a:off x="889000" y="19050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On log scales, a </a:t>
            </a:r>
            <a:r>
              <a:rPr lang="en-CA" b="1" dirty="0"/>
              <a:t>45</a:t>
            </a:r>
            <a:r>
              <a:rPr lang="en-CA" dirty="0"/>
              <a:t>° rotation: equivalent data </a:t>
            </a:r>
            <a:r>
              <a:rPr lang="en-CA" dirty="0">
                <a:sym typeface="Symbol" panose="05050102010706020507" pitchFamily="18" charset="2"/>
              </a:rPr>
              <a:t> </a:t>
            </a:r>
            <a:r>
              <a:rPr lang="en-CA" dirty="0"/>
              <a:t>same multivariate tests</a:t>
            </a:r>
          </a:p>
          <a:p>
            <a:pPr marL="203200" indent="-203200">
              <a:spcAft>
                <a:spcPts val="400"/>
              </a:spcAft>
              <a:buFont typeface="+mj-lt"/>
              <a:buChar char="•"/>
            </a:pPr>
            <a:r>
              <a:rPr lang="en-CA" dirty="0"/>
              <a:t>Simpson's paradox </a:t>
            </a:r>
            <a:r>
              <a:rPr lang="en-CA" b="1" dirty="0"/>
              <a:t>disappears</a:t>
            </a:r>
            <a:r>
              <a:rPr lang="en-CA" dirty="0"/>
              <a:t>: species differ in </a:t>
            </a:r>
            <a:r>
              <a:rPr lang="en-CA" b="1" dirty="0"/>
              <a:t>shape</a:t>
            </a:r>
            <a:r>
              <a:rPr lang="en-CA" dirty="0"/>
              <a:t>; within species, bills vary in </a:t>
            </a:r>
            <a:r>
              <a:rPr lang="en-CA" b="1" dirty="0"/>
              <a:t>size</a:t>
            </a:r>
          </a:p>
        </p:txBody>
      </p:sp>
      <p:pic>
        <p:nvPicPr>
          <p:cNvPr id="6" name="Length depth plot">
            <a:extLst>
              <a:ext uri="{FF2B5EF4-FFF2-40B4-BE49-F238E27FC236}">
                <a16:creationId xmlns:a16="http://schemas.microsoft.com/office/drawing/2014/main" id="{96C66D9F-6088-AB1E-EEBA-362D07BAD36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2032000" y="2641600"/>
            <a:ext cx="3810000" cy="3810000"/>
          </a:xfrm>
          <a:prstGeom prst="rect">
            <a:avLst/>
          </a:prstGeom>
        </p:spPr>
      </p:pic>
      <p:pic>
        <p:nvPicPr>
          <p:cNvPr id="8" name="Size shape plot">
            <a:extLst>
              <a:ext uri="{FF2B5EF4-FFF2-40B4-BE49-F238E27FC236}">
                <a16:creationId xmlns:a16="http://schemas.microsoft.com/office/drawing/2014/main" id="{93E55A64-2715-101B-F7CB-0A9AA8B7A34C}"/>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6350000" y="2641600"/>
            <a:ext cx="3810000" cy="3810000"/>
          </a:xfrm>
          <a:prstGeom prst="rect">
            <a:avLst/>
          </a:prstGeom>
        </p:spPr>
      </p:pic>
      <p:sp>
        <p:nvSpPr>
          <p:cNvPr id="9" name="Source">
            <a:extLst>
              <a:ext uri="{FF2B5EF4-FFF2-40B4-BE49-F238E27FC236}">
                <a16:creationId xmlns:a16="http://schemas.microsoft.com/office/drawing/2014/main" id="{5E68144E-DFDA-5A5A-3A4B-EBC0F9920935}"/>
              </a:ext>
            </a:extLst>
          </p:cNvPr>
          <p:cNvSpPr txBox="1"/>
          <p:nvPr/>
        </p:nvSpPr>
        <p:spPr>
          <a:xfrm>
            <a:off x="838200" y="6453032"/>
            <a:ext cx="5080000" cy="276999"/>
          </a:xfrm>
          <a:prstGeom prst="rect">
            <a:avLst/>
          </a:prstGeom>
          <a:noFill/>
        </p:spPr>
        <p:txBody>
          <a:bodyPr vert="horz" wrap="square" rtlCol="0">
            <a:spAutoFit/>
          </a:bodyPr>
          <a:lstStyle/>
          <a:p>
            <a:pPr>
              <a:spcAft>
                <a:spcPts val="400"/>
              </a:spcAft>
            </a:pPr>
            <a:r>
              <a:rPr lang="en-CA" sz="1200" dirty="0"/>
              <a:t>Blog: </a:t>
            </a:r>
            <a:r>
              <a:rPr lang="en-CA" sz="1200" dirty="0">
                <a:hlinkClick r:id="rId5"/>
              </a:rPr>
              <a:t>friendly.github.io/blog/posts/2026-10-peng-altviews </a:t>
            </a:r>
            <a:endParaRPr lang="en-CA" sz="1200" dirty="0"/>
          </a:p>
        </p:txBody>
      </p:sp>
      <p:sp>
        <p:nvSpPr>
          <p:cNvPr id="5" name="Slide Number Placeholder 4">
            <a:extLst>
              <a:ext uri="{FF2B5EF4-FFF2-40B4-BE49-F238E27FC236}">
                <a16:creationId xmlns:a16="http://schemas.microsoft.com/office/drawing/2014/main" id="{48DA45CF-D7F2-6DA9-D84A-B98336211897}"/>
              </a:ext>
            </a:extLst>
          </p:cNvPr>
          <p:cNvSpPr>
            <a:spLocks noGrp="1"/>
          </p:cNvSpPr>
          <p:nvPr>
            <p:ph type="sldNum" sz="quarter" idx="12"/>
          </p:nvPr>
        </p:nvSpPr>
        <p:spPr/>
        <p:txBody>
          <a:bodyPr/>
          <a:lstStyle/>
          <a:p>
            <a:fld id="{9BFB2853-4965-4727-91C4-384EB30D99A4}" type="slidenum">
              <a:rPr lang="en-CA" smtClean="0"/>
              <a:t>19</a:t>
            </a:fld>
            <a:endParaRPr lang="en-CA"/>
          </a:p>
        </p:txBody>
      </p:sp>
      <p:pic>
        <p:nvPicPr>
          <p:cNvPr id="10" name="Picture 9">
            <a:extLst>
              <a:ext uri="{FF2B5EF4-FFF2-40B4-BE49-F238E27FC236}">
                <a16:creationId xmlns:a16="http://schemas.microsoft.com/office/drawing/2014/main" id="{7B8236D9-68E7-8749-BFF7-3E102C68689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626722" y="1090533"/>
            <a:ext cx="1990406" cy="1281192"/>
          </a:xfrm>
          <a:prstGeom prst="rect">
            <a:avLst/>
          </a:prstGeom>
        </p:spPr>
      </p:pic>
    </p:spTree>
    <p:extLst>
      <p:ext uri="{BB962C8B-B14F-4D97-AF65-F5344CB8AC3E}">
        <p14:creationId xmlns:p14="http://schemas.microsoft.com/office/powerpoint/2010/main" val="17637563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2" presetClass="entr" presetSubtype="8" fill="hold" nodeType="withEffect">
                                  <p:stCondLst>
                                    <p:cond delay="50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0-#ppt_w/2"/>
                                          </p:val>
                                        </p:tav>
                                        <p:tav tm="100000">
                                          <p:val>
                                            <p:strVal val="#ppt_x"/>
                                          </p:val>
                                        </p:tav>
                                      </p:tavLst>
                                    </p:anim>
                                    <p:anim calcmode="lin" valueType="num">
                                      <p:cBhvr additive="base">
                                        <p:cTn id="12"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2" presetClass="entr" presetSubtype="2" fill="hold" nodeType="withEffect">
                                  <p:stCondLst>
                                    <p:cond delay="50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1+#ppt_w/2"/>
                                          </p:val>
                                        </p:tav>
                                        <p:tav tm="100000">
                                          <p:val>
                                            <p:strVal val="#ppt_x"/>
                                          </p:val>
                                        </p:tav>
                                      </p:tavLst>
                                    </p:anim>
                                    <p:anim calcmode="lin" valueType="num">
                                      <p:cBhvr additive="base">
                                        <p:cTn id="20"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a:t>
            </a:r>
            <a:r>
              <a:rPr dirty="0">
                <a:solidFill>
                  <a:srgbClr val="FF0000"/>
                </a:solidFill>
              </a:rPr>
              <a:t>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00853" y="1444625"/>
            <a:ext cx="5256000" cy="525600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
        <p:nvSpPr>
          <p:cNvPr id="6" name="Slide Number Placeholder 6"/>
          <p:cNvSpPr>
            <a:spLocks noGrp="1"/>
          </p:cNvSpPr>
          <p:nvPr>
            <p:ph type="sldNum" sz="quarter" idx="12"/>
          </p:nvPr>
        </p:nvSpPr>
        <p:spPr/>
        <p:txBody>
          <a:bodyPr/>
          <a:lstStyle/>
          <a:p>
            <a:fld id="{9BFB2853-4965-4727-91C4-384EB30D99A4}" type="slidenum">
              <a:rPr lang="en-CA"/>
              <a:t>20</a:t>
            </a:fld>
            <a:endParaRPr lang="en-CA"/>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solidFill>
                  <a:schemeClr val="accent2">
                    <a:lumMod val="50000"/>
                  </a:schemeClr>
                </a:solidFill>
                <a:latin typeface="Consolas" panose="020B0609020204030204" pitchFamily="49" charset="0"/>
                <a:cs typeface="Courier New" panose="02070309020205020404" pitchFamily="49" charset="0"/>
              </a:rPr>
              <a:t>corrplot</a:t>
            </a:r>
            <a:r>
              <a:rPr lang="en-CA" dirty="0">
                <a:solidFill>
                  <a:schemeClr val="accent2">
                    <a:lumMod val="50000"/>
                  </a:schemeClr>
                </a:solidFill>
                <a:latin typeface="Consolas" panose="020B06090202040302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21</a:t>
            </a:fld>
            <a:endParaRPr lang="en-CA"/>
          </a:p>
        </p:txBody>
      </p:sp>
      <p:sp>
        <p:nvSpPr>
          <p:cNvPr id="5" name="Effect order reference">
            <a:extLst>
              <a:ext uri="{FF2B5EF4-FFF2-40B4-BE49-F238E27FC236}">
                <a16:creationId xmlns:a16="http://schemas.microsoft.com/office/drawing/2014/main" id="{34D87412-A7F8-50F8-156F-7433F2E336A4}"/>
              </a:ext>
            </a:extLst>
          </p:cNvPr>
          <p:cNvSpPr/>
          <p:nvPr/>
        </p:nvSpPr>
        <p:spPr>
          <a:xfrm>
            <a:off x="838200" y="5712460"/>
            <a:ext cx="5334000" cy="701040"/>
          </a:xfrm>
          <a:prstGeom prst="roundRect">
            <a:avLst>
              <a:gd name="adj" fmla="val 12000"/>
            </a:avLst>
          </a:prstGeom>
          <a:solidFill>
            <a:srgbClr val="2E5EAA">
              <a:alpha val="15000"/>
            </a:srgbClr>
          </a:solidFill>
          <a:ln w="9525">
            <a:solidFill>
              <a:srgbClr val="2E5EAA"/>
            </a:solidFill>
          </a:ln>
        </p:spPr>
        <p:style>
          <a:lnRef idx="2">
            <a:schemeClr val="accent1">
              <a:shade val="15000"/>
            </a:schemeClr>
          </a:lnRef>
          <a:fillRef idx="1">
            <a:schemeClr val="accent1"/>
          </a:fillRef>
          <a:effectRef idx="0">
            <a:schemeClr val="accent1"/>
          </a:effectRef>
          <a:fontRef idx="minor">
            <a:schemeClr val="lt1"/>
          </a:fontRef>
        </p:style>
        <p:txBody>
          <a:bodyPr wrap="square" lIns="88900" tIns="50800" rIns="88900" bIns="50800" rtlCol="0" anchor="ctr">
            <a:spAutoFit/>
          </a:bodyPr>
          <a:lstStyle/>
          <a:p>
            <a:r>
              <a:rPr lang="en-CA" sz="1200">
                <a:solidFill>
                  <a:srgbClr val="262626"/>
                </a:solidFill>
                <a:latin typeface="Aptos" panose="020B0004020202020204" pitchFamily="34" charset="0"/>
              </a:rPr>
              <a:t>Friendly &amp; Kwan (2003). Effect ordering for data displays. </a:t>
            </a:r>
            <a:r>
              <a:rPr lang="en-CA" sz="1200" i="1">
                <a:solidFill>
                  <a:srgbClr val="262626"/>
                </a:solidFill>
                <a:latin typeface="Aptos" panose="020B0004020202020204" pitchFamily="34" charset="0"/>
              </a:rPr>
              <a:t>Computational Statistics &amp; Data Analysis</a:t>
            </a:r>
            <a:r>
              <a:rPr lang="en-CA" sz="1200">
                <a:solidFill>
                  <a:srgbClr val="262626"/>
                </a:solidFill>
                <a:latin typeface="Aptos" panose="020B0004020202020204" pitchFamily="34" charset="0"/>
              </a:rPr>
              <a:t>, </a:t>
            </a:r>
            <a:r>
              <a:rPr lang="en-CA" sz="1200" i="1">
                <a:solidFill>
                  <a:srgbClr val="262626"/>
                </a:solidFill>
                <a:latin typeface="Aptos" panose="020B0004020202020204" pitchFamily="34" charset="0"/>
              </a:rPr>
              <a:t>43</a:t>
            </a:r>
            <a:r>
              <a:rPr lang="en-CA" sz="1200">
                <a:solidFill>
                  <a:srgbClr val="262626"/>
                </a:solidFill>
                <a:latin typeface="Aptos" panose="020B0004020202020204" pitchFamily="34" charset="0"/>
              </a:rPr>
              <a:t>, 509–539.</a:t>
            </a:r>
            <a:br>
              <a:rPr lang="en-CA" sz="1200">
                <a:solidFill>
                  <a:srgbClr val="262626"/>
                </a:solidFill>
                <a:latin typeface="Aptos" panose="020B0004020202020204" pitchFamily="34" charset="0"/>
              </a:rPr>
            </a:br>
            <a:r>
              <a:rPr lang="en-CA" sz="1200">
                <a:solidFill>
                  <a:srgbClr val="262626"/>
                </a:solidFill>
                <a:latin typeface="Aptos" panose="020B0004020202020204" pitchFamily="34" charset="0"/>
                <a:hlinkClick r:id="rId5"/>
              </a:rPr>
              <a:t>https://doi.org/10.1016/S0167-9473(02)00290-6</a:t>
            </a:r>
            <a:endParaRPr lang="en-CA" sz="1200">
              <a:solidFill>
                <a:srgbClr val="262626"/>
              </a:solidFill>
              <a:latin typeface="Aptos" panose="020B0004020202020204" pitchFamily="34"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345347" y="1352282"/>
            <a:ext cx="6742088" cy="449472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7276563" y="1352282"/>
            <a:ext cx="4246843" cy="3477875"/>
          </a:xfrm>
          <a:prstGeom prst="rect">
            <a:avLst/>
          </a:prstGeom>
          <a:noFill/>
        </p:spPr>
        <p:txBody>
          <a:bodyPr wrap="square" rtlCol="0">
            <a:spAutoFit/>
          </a:bodyPr>
          <a:lstStyle/>
          <a:p>
            <a:r>
              <a:rPr lang="en-CA" sz="2000" dirty="0"/>
              <a:t>Each observation is a line across the variable axes (</a:t>
            </a:r>
            <a:r>
              <a:rPr lang="en-CA" sz="2000" dirty="0" err="1">
                <a:latin typeface="Consolas" panose="020B0609020204030204" pitchFamily="49" charset="0"/>
              </a:rPr>
              <a:t>Ggally</a:t>
            </a:r>
            <a:r>
              <a:rPr lang="en-CA" sz="2000" dirty="0"/>
              <a:t> )</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r>
              <a:rPr lang="en-CA" sz="2000" dirty="0">
                <a:sym typeface="Symbol" panose="05050102010706020507" pitchFamily="18" charset="2"/>
              </a:rPr>
              <a:t> </a:t>
            </a:r>
            <a:r>
              <a:rPr lang="en-CA" sz="2000" dirty="0"/>
              <a:t>We see that penguins like particular islands</a:t>
            </a:r>
          </a:p>
          <a:p>
            <a:endParaRPr lang="en-CA" sz="2000" dirty="0"/>
          </a:p>
          <a:p>
            <a:r>
              <a:rPr lang="en-CA" sz="2000" dirty="0"/>
              <a:t>Using this interactively could make a tool for understanding (</a:t>
            </a:r>
            <a:r>
              <a:rPr lang="en-CA" sz="2000" dirty="0" err="1">
                <a:latin typeface="Consolas" panose="020B0609020204030204" pitchFamily="49" charset="0"/>
              </a:rPr>
              <a:t>plotly</a:t>
            </a:r>
            <a:r>
              <a:rPr lang="en-CA" sz="2000" dirty="0"/>
              <a:t>)</a:t>
            </a:r>
          </a:p>
        </p:txBody>
      </p:sp>
      <p:sp>
        <p:nvSpPr>
          <p:cNvPr id="7" name="Slide Number Placeholder 7"/>
          <p:cNvSpPr>
            <a:spLocks noGrp="1"/>
          </p:cNvSpPr>
          <p:nvPr>
            <p:ph type="sldNum" sz="quarter" idx="12"/>
          </p:nvPr>
        </p:nvSpPr>
        <p:spPr/>
        <p:txBody>
          <a:bodyPr/>
          <a:lstStyle/>
          <a:p>
            <a:fld id="{9BFB2853-4965-4727-91C4-384EB30D99A4}" type="slidenum">
              <a:rPr lang="en-CA"/>
              <a:t>22</a:t>
            </a:fld>
            <a:endParaRPr lang="en-CA"/>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
        <p:nvSpPr>
          <p:cNvPr id="5" name="Slide Number Placeholder 5"/>
          <p:cNvSpPr>
            <a:spLocks noGrp="1"/>
          </p:cNvSpPr>
          <p:nvPr>
            <p:ph type="sldNum" sz="quarter" idx="12"/>
          </p:nvPr>
        </p:nvSpPr>
        <p:spPr/>
        <p:txBody>
          <a:bodyPr/>
          <a:lstStyle/>
          <a:p>
            <a:fld id="{9BFB2853-4965-4727-91C4-384EB30D99A4}" type="slidenum">
              <a:rPr lang="en-CA"/>
              <a:t>23</a:t>
            </a:fld>
            <a:endParaRPr lang="en-CA"/>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6F6"/>
            </a:gs>
            <a:gs pos="100000">
              <a:srgbClr val="8EC0C0"/>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
        <p:nvSpPr>
          <p:cNvPr id="4" name="Slide Number Placeholder 4"/>
          <p:cNvSpPr>
            <a:spLocks noGrp="1"/>
          </p:cNvSpPr>
          <p:nvPr>
            <p:ph type="sldNum" sz="quarter" idx="12"/>
          </p:nvPr>
        </p:nvSpPr>
        <p:spPr/>
        <p:txBody>
          <a:bodyPr/>
          <a:lstStyle/>
          <a:p>
            <a:fld id="{9BFB2853-4965-4727-91C4-384EB30D99A4}" type="slidenum">
              <a:rPr lang="en-CA"/>
              <a:t>24</a:t>
            </a:fld>
            <a:endParaRPr lang="en-CA"/>
          </a:p>
        </p:txBody>
      </p:sp>
      <p:pic>
        <p:nvPicPr>
          <p:cNvPr id="6" name="Section 2 PCA illustration">
            <a:extLst>
              <a:ext uri="{FF2B5EF4-FFF2-40B4-BE49-F238E27FC236}">
                <a16:creationId xmlns:a16="http://schemas.microsoft.com/office/drawing/2014/main" id="{0E381DE4-FBD8-26D3-77BF-02D3A0BA129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800100" y="177800"/>
            <a:ext cx="2413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2 biplot illustration">
            <a:extLst>
              <a:ext uri="{FF2B5EF4-FFF2-40B4-BE49-F238E27FC236}">
                <a16:creationId xmlns:a16="http://schemas.microsoft.com/office/drawing/2014/main" id="{A381116F-44E9-5493-529B-32E88384128D}"/>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3492500" y="177800"/>
            <a:ext cx="2794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2 t-SNE illustration">
            <a:extLst>
              <a:ext uri="{FF2B5EF4-FFF2-40B4-BE49-F238E27FC236}">
                <a16:creationId xmlns:a16="http://schemas.microsoft.com/office/drawing/2014/main" id="{00821F38-1AD3-163D-3E8A-5D3240EEC09E}"/>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6565900" y="177800"/>
            <a:ext cx="4826000" cy="2413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a:grpSpLocks noChangeAspect="1"/>
          </p:cNvGrpSpPr>
          <p:nvPr/>
        </p:nvGrpSpPr>
        <p:grpSpPr>
          <a:xfrm>
            <a:off x="892366" y="1457510"/>
            <a:ext cx="2124000" cy="2124000"/>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407830" y="1548729"/>
              <a:ext cx="861687" cy="478601"/>
            </a:xfrm>
            <a:prstGeom prst="rect">
              <a:avLst/>
            </a:prstGeom>
            <a:noFill/>
          </p:spPr>
          <p:txBody>
            <a:bodyPr wrap="square" rtlCol="0">
              <a:spAutoFit/>
            </a:bodyPr>
            <a:lstStyle/>
            <a:p>
              <a:r>
                <a:rPr lang="en-CA" sz="2800" dirty="0"/>
                <a:t>data</a:t>
              </a:r>
            </a:p>
          </p:txBody>
        </p:sp>
      </p:grpSp>
      <p:grpSp>
        <p:nvGrpSpPr>
          <p:cNvPr id="13" name="Group 12">
            <a:extLst>
              <a:ext uri="{FF2B5EF4-FFF2-40B4-BE49-F238E27FC236}">
                <a16:creationId xmlns:a16="http://schemas.microsoft.com/office/drawing/2014/main" id="{D4946A77-5613-960F-AECE-7C7AF2109F0F}"/>
              </a:ext>
            </a:extLst>
          </p:cNvPr>
          <p:cNvGrpSpPr>
            <a:grpSpLocks noChangeAspect="1"/>
          </p:cNvGrpSpPr>
          <p:nvPr/>
        </p:nvGrpSpPr>
        <p:grpSpPr>
          <a:xfrm>
            <a:off x="3560633" y="2177510"/>
            <a:ext cx="3744000" cy="2808000"/>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rgbClr val="008080">
              <a:alpha val="22000"/>
            </a:srgbClr>
          </a:solidFill>
          <a:ln w="19050">
            <a:solidFill>
              <a:srgbClr val="008080"/>
            </a:solidFill>
          </a:ln>
        </p:spPr>
        <p:txBody>
          <a:bodyPr wrap="square" rtlCol="0">
            <a:spAutoFit/>
          </a:bodyPr>
          <a:lstStyle/>
          <a:p>
            <a:r>
              <a:rPr lang="en-US" sz="4800" dirty="0">
                <a:solidFill>
                  <a:srgbClr val="000000"/>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a:grpSpLocks noChangeAspect="1"/>
          </p:cNvGrpSpPr>
          <p:nvPr/>
        </p:nvGrpSpPr>
        <p:grpSpPr>
          <a:xfrm>
            <a:off x="8477600" y="3955334"/>
            <a:ext cx="1880359" cy="18720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57501" y="4468361"/>
              <a:ext cx="1143000" cy="394635"/>
            </a:xfrm>
            <a:prstGeom prst="rect">
              <a:avLst/>
            </a:prstGeom>
            <a:noFill/>
          </p:spPr>
          <p:txBody>
            <a:bodyPr wrap="square" rtlCol="0">
              <a:spAutoFit/>
            </a:bodyPr>
            <a:lstStyle/>
            <a:p>
              <a:r>
                <a:rPr lang="en-CA" sz="2400" dirty="0">
                  <a:solidFill>
                    <a:schemeClr val="bg1"/>
                  </a:solidFill>
                </a:rPr>
                <a:t>insight</a:t>
              </a:r>
            </a:p>
          </p:txBody>
        </p:sp>
      </p:grpSp>
      <p:sp>
        <p:nvSpPr>
          <p:cNvPr id="14" name="Slide Number Placeholder 14"/>
          <p:cNvSpPr>
            <a:spLocks noGrp="1"/>
          </p:cNvSpPr>
          <p:nvPr>
            <p:ph type="sldNum" sz="quarter" idx="12"/>
          </p:nvPr>
        </p:nvSpPr>
        <p:spPr/>
        <p:txBody>
          <a:bodyPr/>
          <a:lstStyle/>
          <a:p>
            <a:fld id="{9BFB2853-4965-4727-91C4-384EB30D99A4}" type="slidenum">
              <a:rPr lang="en-CA"/>
              <a:t>25</a:t>
            </a:fld>
            <a:endParaRPr lang="en-CA"/>
          </a:p>
        </p:txBody>
      </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1838960"/>
            <a:ext cx="5394960" cy="2539157"/>
          </a:xfrm>
          <a:prstGeom prst="rect">
            <a:avLst/>
          </a:prstGeom>
          <a:noFill/>
        </p:spPr>
        <p:txBody>
          <a:bodyPr wrap="square">
            <a:spAutoFit/>
          </a:bodyPr>
          <a:lstStyle/>
          <a:p>
            <a:r>
              <a:rPr sz="2400" dirty="0"/>
              <a:t>PCA is a rotation of the axes: </a:t>
            </a:r>
            <a:endParaRPr lang="en-CA" sz="2400" dirty="0"/>
          </a:p>
          <a:p>
            <a:pPr marL="342900" indent="-342900">
              <a:buFont typeface="Arial" panose="020B0604020202020204" pitchFamily="34" charset="0"/>
              <a:buChar char="•"/>
            </a:pPr>
            <a:r>
              <a:rPr sz="2400" dirty="0"/>
              <a:t>PC1 lies along the direction of greatest variance, </a:t>
            </a:r>
            <a:endParaRPr lang="en-CA" sz="2400" dirty="0"/>
          </a:p>
          <a:p>
            <a:pPr marL="342900" indent="-342900">
              <a:buFont typeface="Arial" panose="020B0604020202020204" pitchFamily="34" charset="0"/>
              <a:buChar char="•"/>
            </a:pPr>
            <a:r>
              <a:rPr sz="2400" dirty="0"/>
              <a:t>PC2 is orthogonal to it.</a:t>
            </a:r>
          </a:p>
          <a:p>
            <a:pPr>
              <a:spcBef>
                <a:spcPts val="1800"/>
              </a:spcBef>
            </a:pPr>
            <a:r>
              <a:rPr sz="2400" b="0" dirty="0"/>
              <a:t>Outliers typically appear on the </a:t>
            </a:r>
            <a:r>
              <a:rPr sz="2400" b="1" dirty="0"/>
              <a:t>smallest</a:t>
            </a:r>
            <a:r>
              <a:rPr sz="2400" b="0" dirty="0"/>
              <a:t> dimensions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26</a:t>
            </a:fld>
            <a:endParaRPr lang="en-CA"/>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222005"/>
            <a:ext cx="4875713" cy="3816429"/>
          </a:xfrm>
          <a:prstGeom prst="rect">
            <a:avLst/>
          </a:prstGeom>
          <a:noFill/>
        </p:spPr>
        <p:txBody>
          <a:bodyPr wrap="square" rtlCol="0">
            <a:spAutoFit/>
          </a:bodyPr>
          <a:lstStyle/>
          <a:p>
            <a:r>
              <a:rPr lang="en-CA" sz="2200" dirty="0">
                <a:solidFill>
                  <a:srgbClr val="FF0000"/>
                </a:solidFill>
              </a:rPr>
              <a:t>Least squares </a:t>
            </a:r>
            <a:r>
              <a:rPr lang="en-CA" sz="2200" dirty="0">
                <a:sym typeface="Symbol" panose="05050102010706020507" pitchFamily="18" charset="2"/>
              </a:rPr>
              <a:t> observations connected by springs </a:t>
            </a:r>
          </a:p>
          <a:p>
            <a:endParaRPr lang="en-CA" sz="2200" dirty="0">
              <a:sym typeface="Symbol" panose="05050102010706020507" pitchFamily="18" charset="2"/>
            </a:endParaRPr>
          </a:p>
          <a:p>
            <a:r>
              <a:rPr lang="en-CA" sz="2200" dirty="0">
                <a:sym typeface="Symbol" panose="05050102010706020507" pitchFamily="18" charset="2"/>
              </a:rPr>
              <a:t>For PCA, connect a rigid line to the points by </a:t>
            </a:r>
            <a:r>
              <a:rPr lang="en-CA" sz="2200" dirty="0">
                <a:solidFill>
                  <a:srgbClr val="FF0000"/>
                </a:solidFill>
                <a:sym typeface="Symbol" panose="05050102010706020507" pitchFamily="18" charset="2"/>
              </a:rPr>
              <a:t>springs, </a:t>
            </a:r>
            <a:r>
              <a:rPr lang="en-CA" sz="2200" dirty="0">
                <a:sym typeface="Symbol" panose="05050102010706020507" pitchFamily="18" charset="2"/>
              </a:rPr>
              <a:t>always </a:t>
            </a:r>
            <a:r>
              <a:rPr lang="en-CA" sz="2200" dirty="0">
                <a:latin typeface="Matura MT Script Capitals" panose="03020802060602070202" pitchFamily="66" charset="0"/>
                <a:sym typeface="Symbol" panose="05050102010706020507" pitchFamily="18" charset="2"/>
              </a:rPr>
              <a:t> </a:t>
            </a:r>
            <a:r>
              <a:rPr lang="en-CA" sz="2200" b="1" dirty="0">
                <a:latin typeface="Matura MT Script Capitals" panose="03020802060602070202" pitchFamily="66" charset="0"/>
                <a:sym typeface="Symbol" panose="05050102010706020507" pitchFamily="18" charset="2"/>
              </a:rPr>
              <a:t></a:t>
            </a:r>
            <a:r>
              <a:rPr lang="en-CA" sz="2200" dirty="0">
                <a:latin typeface="Matura MT Script Capitals" panose="03020802060602070202" pitchFamily="66" charset="0"/>
                <a:sym typeface="Symbol" panose="05050102010706020507" pitchFamily="18" charset="2"/>
              </a:rPr>
              <a:t> </a:t>
            </a:r>
            <a:r>
              <a:rPr lang="en-CA" sz="2200" dirty="0">
                <a:sym typeface="Symbol" panose="05050102010706020507" pitchFamily="18" charset="2"/>
              </a:rPr>
              <a:t>line</a:t>
            </a:r>
            <a:endParaRPr lang="en-CA" sz="2200" dirty="0">
              <a:solidFill>
                <a:srgbClr val="FF0000"/>
              </a:solidFill>
              <a:sym typeface="Symbol" panose="05050102010706020507" pitchFamily="18" charset="2"/>
            </a:endParaRPr>
          </a:p>
          <a:p>
            <a:endParaRPr lang="en-CA" sz="2200" dirty="0">
              <a:sym typeface="Symbol" panose="05050102010706020507" pitchFamily="18" charset="2"/>
            </a:endParaRPr>
          </a:p>
          <a:p>
            <a:r>
              <a:rPr lang="en-CA" sz="2200" dirty="0"/>
              <a:t>Springs pull the line ∝ </a:t>
            </a:r>
            <a:r>
              <a:rPr lang="en-CA" sz="2200" dirty="0">
                <a:solidFill>
                  <a:srgbClr val="FF0000"/>
                </a:solidFill>
              </a:rPr>
              <a:t>squared</a:t>
            </a:r>
            <a:r>
              <a:rPr lang="en-CA" sz="2200" dirty="0"/>
              <a:t> distance</a:t>
            </a:r>
          </a:p>
          <a:p>
            <a:endParaRPr lang="en-CA" sz="2200" dirty="0"/>
          </a:p>
          <a:p>
            <a:r>
              <a:rPr lang="en-CA" sz="2200" dirty="0"/>
              <a:t>It settles on the first </a:t>
            </a:r>
            <a:r>
              <a:rPr lang="en-CA" sz="2200" dirty="0">
                <a:solidFill>
                  <a:srgbClr val="FF0000"/>
                </a:solidFill>
              </a:rPr>
              <a:t>principal component: </a:t>
            </a:r>
            <a:r>
              <a:rPr lang="en-CA" sz="2200" dirty="0"/>
              <a:t>largest variance</a:t>
            </a:r>
            <a:r>
              <a:rPr lang="en-CA" sz="2200" dirty="0">
                <a:solidFill>
                  <a:srgbClr val="FF0000"/>
                </a:solidFill>
              </a:rPr>
              <a:t> </a:t>
            </a:r>
          </a:p>
        </p:txBody>
      </p:sp>
      <p:sp>
        <p:nvSpPr>
          <p:cNvPr id="7" name="Slide Number Placeholder 7"/>
          <p:cNvSpPr>
            <a:spLocks noGrp="1"/>
          </p:cNvSpPr>
          <p:nvPr>
            <p:ph type="sldNum" sz="quarter" idx="12"/>
          </p:nvPr>
        </p:nvSpPr>
        <p:spPr/>
        <p:txBody>
          <a:bodyPr/>
          <a:lstStyle/>
          <a:p>
            <a:fld id="{9BFB2853-4965-4727-91C4-384EB30D99A4}" type="slidenum">
              <a:rPr lang="en-CA"/>
              <a:t>27</a:t>
            </a:fld>
            <a:endParaRPr lang="en-CA"/>
          </a:p>
        </p:txBody>
      </p:sp>
      <p:sp>
        <p:nvSpPr>
          <p:cNvPr id="10" name="TextBox 9">
            <a:extLst>
              <a:ext uri="{FF2B5EF4-FFF2-40B4-BE49-F238E27FC236}">
                <a16:creationId xmlns:a16="http://schemas.microsoft.com/office/drawing/2014/main" id="{4AFFA5EF-2E03-E25E-4CF0-C6091F3D06A1}"/>
              </a:ext>
            </a:extLst>
          </p:cNvPr>
          <p:cNvSpPr txBox="1"/>
          <p:nvPr/>
        </p:nvSpPr>
        <p:spPr>
          <a:xfrm>
            <a:off x="6702014" y="5334000"/>
            <a:ext cx="4875713" cy="830997"/>
          </a:xfrm>
          <a:custGeom>
            <a:avLst/>
            <a:gdLst>
              <a:gd name="csX0" fmla="*/ 0 w 4875713"/>
              <a:gd name="csY0" fmla="*/ 0 h 830997"/>
              <a:gd name="csX1" fmla="*/ 639260 w 4875713"/>
              <a:gd name="csY1" fmla="*/ 0 h 830997"/>
              <a:gd name="csX2" fmla="*/ 1229763 w 4875713"/>
              <a:gd name="csY2" fmla="*/ 0 h 830997"/>
              <a:gd name="csX3" fmla="*/ 1771509 w 4875713"/>
              <a:gd name="csY3" fmla="*/ 0 h 830997"/>
              <a:gd name="csX4" fmla="*/ 2313255 w 4875713"/>
              <a:gd name="csY4" fmla="*/ 0 h 830997"/>
              <a:gd name="csX5" fmla="*/ 2952515 w 4875713"/>
              <a:gd name="csY5" fmla="*/ 0 h 830997"/>
              <a:gd name="csX6" fmla="*/ 3543018 w 4875713"/>
              <a:gd name="csY6" fmla="*/ 0 h 830997"/>
              <a:gd name="csX7" fmla="*/ 3938493 w 4875713"/>
              <a:gd name="csY7" fmla="*/ 0 h 830997"/>
              <a:gd name="csX8" fmla="*/ 4875713 w 4875713"/>
              <a:gd name="csY8" fmla="*/ 0 h 830997"/>
              <a:gd name="csX9" fmla="*/ 4875713 w 4875713"/>
              <a:gd name="csY9" fmla="*/ 432118 h 830997"/>
              <a:gd name="csX10" fmla="*/ 4875713 w 4875713"/>
              <a:gd name="csY10" fmla="*/ 830997 h 830997"/>
              <a:gd name="csX11" fmla="*/ 4431481 w 4875713"/>
              <a:gd name="csY11" fmla="*/ 830997 h 830997"/>
              <a:gd name="csX12" fmla="*/ 3792221 w 4875713"/>
              <a:gd name="csY12" fmla="*/ 830997 h 830997"/>
              <a:gd name="csX13" fmla="*/ 3299232 w 4875713"/>
              <a:gd name="csY13" fmla="*/ 830997 h 830997"/>
              <a:gd name="csX14" fmla="*/ 2659972 w 4875713"/>
              <a:gd name="csY14" fmla="*/ 830997 h 830997"/>
              <a:gd name="csX15" fmla="*/ 2215741 w 4875713"/>
              <a:gd name="csY15" fmla="*/ 830997 h 830997"/>
              <a:gd name="csX16" fmla="*/ 1820266 w 4875713"/>
              <a:gd name="csY16" fmla="*/ 830997 h 830997"/>
              <a:gd name="csX17" fmla="*/ 1424792 w 4875713"/>
              <a:gd name="csY17" fmla="*/ 830997 h 830997"/>
              <a:gd name="csX18" fmla="*/ 834289 w 4875713"/>
              <a:gd name="csY18" fmla="*/ 830997 h 830997"/>
              <a:gd name="csX19" fmla="*/ 0 w 4875713"/>
              <a:gd name="csY19" fmla="*/ 830997 h 830997"/>
              <a:gd name="csX20" fmla="*/ 0 w 4875713"/>
              <a:gd name="csY20" fmla="*/ 415499 h 830997"/>
              <a:gd name="csX21" fmla="*/ 0 w 4875713"/>
              <a:gd name="csY21" fmla="*/ 0 h 830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4875713" h="830997" fill="none" extrusionOk="0">
                <a:moveTo>
                  <a:pt x="0" y="0"/>
                </a:moveTo>
                <a:cubicBezTo>
                  <a:pt x="247106" y="-71596"/>
                  <a:pt x="479984" y="70430"/>
                  <a:pt x="639260" y="0"/>
                </a:cubicBezTo>
                <a:cubicBezTo>
                  <a:pt x="798536" y="-70430"/>
                  <a:pt x="993891" y="20790"/>
                  <a:pt x="1229763" y="0"/>
                </a:cubicBezTo>
                <a:cubicBezTo>
                  <a:pt x="1465635" y="-20790"/>
                  <a:pt x="1521761" y="13769"/>
                  <a:pt x="1771509" y="0"/>
                </a:cubicBezTo>
                <a:cubicBezTo>
                  <a:pt x="2021257" y="-13769"/>
                  <a:pt x="2198926" y="22760"/>
                  <a:pt x="2313255" y="0"/>
                </a:cubicBezTo>
                <a:cubicBezTo>
                  <a:pt x="2427584" y="-22760"/>
                  <a:pt x="2676709" y="4611"/>
                  <a:pt x="2952515" y="0"/>
                </a:cubicBezTo>
                <a:cubicBezTo>
                  <a:pt x="3228321" y="-4611"/>
                  <a:pt x="3316906" y="64456"/>
                  <a:pt x="3543018" y="0"/>
                </a:cubicBezTo>
                <a:cubicBezTo>
                  <a:pt x="3769130" y="-64456"/>
                  <a:pt x="3757070" y="1759"/>
                  <a:pt x="3938493" y="0"/>
                </a:cubicBezTo>
                <a:cubicBezTo>
                  <a:pt x="4119917" y="-1759"/>
                  <a:pt x="4534484" y="64709"/>
                  <a:pt x="4875713" y="0"/>
                </a:cubicBezTo>
                <a:cubicBezTo>
                  <a:pt x="4900101" y="157668"/>
                  <a:pt x="4843863" y="240282"/>
                  <a:pt x="4875713" y="432118"/>
                </a:cubicBezTo>
                <a:cubicBezTo>
                  <a:pt x="4907563" y="623954"/>
                  <a:pt x="4841241" y="694528"/>
                  <a:pt x="4875713" y="830997"/>
                </a:cubicBezTo>
                <a:cubicBezTo>
                  <a:pt x="4689315" y="884177"/>
                  <a:pt x="4587200" y="807239"/>
                  <a:pt x="4431481" y="830997"/>
                </a:cubicBezTo>
                <a:cubicBezTo>
                  <a:pt x="4275762" y="854755"/>
                  <a:pt x="3965265" y="775446"/>
                  <a:pt x="3792221" y="830997"/>
                </a:cubicBezTo>
                <a:cubicBezTo>
                  <a:pt x="3619177" y="886548"/>
                  <a:pt x="3419687" y="826456"/>
                  <a:pt x="3299232" y="830997"/>
                </a:cubicBezTo>
                <a:cubicBezTo>
                  <a:pt x="3178777" y="835538"/>
                  <a:pt x="2912963" y="779019"/>
                  <a:pt x="2659972" y="830997"/>
                </a:cubicBezTo>
                <a:cubicBezTo>
                  <a:pt x="2406981" y="882975"/>
                  <a:pt x="2408625" y="814806"/>
                  <a:pt x="2215741" y="830997"/>
                </a:cubicBezTo>
                <a:cubicBezTo>
                  <a:pt x="2022857" y="847188"/>
                  <a:pt x="2006598" y="820554"/>
                  <a:pt x="1820266" y="830997"/>
                </a:cubicBezTo>
                <a:cubicBezTo>
                  <a:pt x="1633935" y="841440"/>
                  <a:pt x="1566381" y="808435"/>
                  <a:pt x="1424792" y="830997"/>
                </a:cubicBezTo>
                <a:cubicBezTo>
                  <a:pt x="1283203" y="853559"/>
                  <a:pt x="1045425" y="805212"/>
                  <a:pt x="834289" y="830997"/>
                </a:cubicBezTo>
                <a:cubicBezTo>
                  <a:pt x="623153" y="856782"/>
                  <a:pt x="359472" y="829112"/>
                  <a:pt x="0" y="830997"/>
                </a:cubicBezTo>
                <a:cubicBezTo>
                  <a:pt x="-47585" y="703953"/>
                  <a:pt x="19868" y="554803"/>
                  <a:pt x="0" y="415499"/>
                </a:cubicBezTo>
                <a:cubicBezTo>
                  <a:pt x="-19868" y="276195"/>
                  <a:pt x="19858" y="155802"/>
                  <a:pt x="0" y="0"/>
                </a:cubicBezTo>
                <a:close/>
              </a:path>
              <a:path w="4875713" h="830997" stroke="0" extrusionOk="0">
                <a:moveTo>
                  <a:pt x="0" y="0"/>
                </a:moveTo>
                <a:cubicBezTo>
                  <a:pt x="182246" y="-38654"/>
                  <a:pt x="295873" y="213"/>
                  <a:pt x="492989" y="0"/>
                </a:cubicBezTo>
                <a:cubicBezTo>
                  <a:pt x="690105" y="-213"/>
                  <a:pt x="798019" y="43002"/>
                  <a:pt x="888463" y="0"/>
                </a:cubicBezTo>
                <a:cubicBezTo>
                  <a:pt x="978907" y="-43002"/>
                  <a:pt x="1335294" y="29554"/>
                  <a:pt x="1527723" y="0"/>
                </a:cubicBezTo>
                <a:cubicBezTo>
                  <a:pt x="1720152" y="-29554"/>
                  <a:pt x="1814245" y="41251"/>
                  <a:pt x="2020712" y="0"/>
                </a:cubicBezTo>
                <a:cubicBezTo>
                  <a:pt x="2227179" y="-41251"/>
                  <a:pt x="2411108" y="26446"/>
                  <a:pt x="2513701" y="0"/>
                </a:cubicBezTo>
                <a:cubicBezTo>
                  <a:pt x="2616294" y="-26446"/>
                  <a:pt x="2992542" y="25665"/>
                  <a:pt x="3152961" y="0"/>
                </a:cubicBezTo>
                <a:cubicBezTo>
                  <a:pt x="3313380" y="-25665"/>
                  <a:pt x="3498804" y="11685"/>
                  <a:pt x="3597193" y="0"/>
                </a:cubicBezTo>
                <a:cubicBezTo>
                  <a:pt x="3695582" y="-11685"/>
                  <a:pt x="3990551" y="73299"/>
                  <a:pt x="4236453" y="0"/>
                </a:cubicBezTo>
                <a:cubicBezTo>
                  <a:pt x="4482355" y="-73299"/>
                  <a:pt x="4689467" y="53615"/>
                  <a:pt x="4875713" y="0"/>
                </a:cubicBezTo>
                <a:cubicBezTo>
                  <a:pt x="4919079" y="150474"/>
                  <a:pt x="4840189" y="224543"/>
                  <a:pt x="4875713" y="415499"/>
                </a:cubicBezTo>
                <a:cubicBezTo>
                  <a:pt x="4911237" y="606455"/>
                  <a:pt x="4831357" y="665240"/>
                  <a:pt x="4875713" y="830997"/>
                </a:cubicBezTo>
                <a:cubicBezTo>
                  <a:pt x="4654825" y="837654"/>
                  <a:pt x="4543189" y="804654"/>
                  <a:pt x="4285210" y="830997"/>
                </a:cubicBezTo>
                <a:cubicBezTo>
                  <a:pt x="4027231" y="857340"/>
                  <a:pt x="3798331" y="787223"/>
                  <a:pt x="3645950" y="830997"/>
                </a:cubicBezTo>
                <a:cubicBezTo>
                  <a:pt x="3493569" y="874771"/>
                  <a:pt x="3281992" y="830126"/>
                  <a:pt x="3006690" y="830997"/>
                </a:cubicBezTo>
                <a:cubicBezTo>
                  <a:pt x="2731388" y="831868"/>
                  <a:pt x="2780993" y="816226"/>
                  <a:pt x="2562458" y="830997"/>
                </a:cubicBezTo>
                <a:cubicBezTo>
                  <a:pt x="2343923" y="845768"/>
                  <a:pt x="2206766" y="821585"/>
                  <a:pt x="2020712" y="830997"/>
                </a:cubicBezTo>
                <a:cubicBezTo>
                  <a:pt x="1834658" y="840409"/>
                  <a:pt x="1648941" y="791502"/>
                  <a:pt x="1381452" y="830997"/>
                </a:cubicBezTo>
                <a:cubicBezTo>
                  <a:pt x="1113963" y="870492"/>
                  <a:pt x="1109057" y="820296"/>
                  <a:pt x="839706" y="830997"/>
                </a:cubicBezTo>
                <a:cubicBezTo>
                  <a:pt x="570355" y="841698"/>
                  <a:pt x="373571" y="747773"/>
                  <a:pt x="0" y="830997"/>
                </a:cubicBezTo>
                <a:cubicBezTo>
                  <a:pt x="-10421" y="746849"/>
                  <a:pt x="34790" y="620977"/>
                  <a:pt x="0" y="432118"/>
                </a:cubicBezTo>
                <a:cubicBezTo>
                  <a:pt x="-34790" y="243259"/>
                  <a:pt x="5423" y="107780"/>
                  <a:pt x="0" y="0"/>
                </a:cubicBezTo>
                <a:close/>
              </a:path>
            </a:pathLst>
          </a:custGeom>
          <a:solidFill>
            <a:srgbClr val="C7E3E3"/>
          </a:solidFill>
          <a:ln>
            <a:solidFill>
              <a:srgbClr val="2E5EAA"/>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txBody>
          <a:bodyPr wrap="square" rtlCol="0">
            <a:spAutoFit/>
          </a:bodyPr>
          <a:lstStyle/>
          <a:p>
            <a:r>
              <a:rPr lang="en-CA" sz="2400" dirty="0">
                <a:sym typeface="Symbol" panose="05050102010706020507" pitchFamily="18" charset="2"/>
              </a:rPr>
              <a:t></a:t>
            </a:r>
            <a:r>
              <a:rPr lang="en-CA" sz="2400" dirty="0"/>
              <a:t> Statistics, </a:t>
            </a:r>
            <a:r>
              <a:rPr lang="en-CA" sz="2400" dirty="0" err="1"/>
              <a:t>dataviz</a:t>
            </a:r>
            <a:r>
              <a:rPr lang="en-CA" sz="2400" dirty="0"/>
              <a:t>, geometry &amp; physics are tightly connected</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280293"/>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28</a:t>
            </a:fld>
            <a:endParaRPr lang="en-CA"/>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5" name="TextBox 4"/>
          <p:cNvSpPr txBox="1"/>
          <p:nvPr/>
        </p:nvSpPr>
        <p:spPr>
          <a:xfrm>
            <a:off x="838200" y="1361799"/>
            <a:ext cx="8160655" cy="646331"/>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err="1"/>
              <a:t>ggbiplot</a:t>
            </a:r>
            <a:r>
              <a:rPr lang="en-US" dirty="0"/>
              <a:t>(</a:t>
            </a:r>
            <a:r>
              <a:rPr lang="en-US" dirty="0" err="1"/>
              <a:t>peng.pca</a:t>
            </a:r>
            <a:r>
              <a:rPr lang="en-US" dirty="0"/>
              <a:t>, …) </a:t>
            </a:r>
          </a:p>
        </p:txBody>
      </p:sp>
      <p:sp>
        <p:nvSpPr>
          <p:cNvPr id="6" name="TextBox 5"/>
          <p:cNvSpPr txBox="1"/>
          <p:nvPr/>
        </p:nvSpPr>
        <p:spPr>
          <a:xfrm>
            <a:off x="609600" y="2635252"/>
            <a:ext cx="5935169" cy="2739211"/>
          </a:xfrm>
          <a:prstGeom prst="rect">
            <a:avLst/>
          </a:prstGeom>
          <a:noFill/>
        </p:spPr>
        <p:txBody>
          <a:bodyPr wrap="square" rtlCol="0">
            <a:spAutoFit/>
          </a:bodyPr>
          <a:lstStyle/>
          <a:p>
            <a:r>
              <a:rPr lang="en-US" sz="2400" dirty="0"/>
              <a:t>PC1, PC2 ~ 88.1% of variance </a:t>
            </a:r>
            <a:r>
              <a:rPr lang="en-US" sz="2400" dirty="0">
                <a:solidFill>
                  <a:srgbClr val="00B050"/>
                </a:solidFill>
                <a:sym typeface="Wingdings" panose="05000000000000000000" pitchFamily="2" charset="2"/>
              </a:rPr>
              <a:t></a:t>
            </a:r>
            <a:endParaRPr lang="en-US" sz="2400" dirty="0">
              <a:solidFill>
                <a:srgbClr val="00B050"/>
              </a:solidFill>
            </a:endParaRPr>
          </a:p>
          <a:p>
            <a:endParaRPr lang="en-US" sz="2000" dirty="0"/>
          </a:p>
          <a:p>
            <a:pPr marL="285750" indent="-285750">
              <a:buFont typeface="Arial" pitchFamily="34" charset="0"/>
              <a:buChar char="•"/>
            </a:pPr>
            <a:r>
              <a:rPr lang="en-US" sz="2000" dirty="0"/>
              <a:t>PC1: largely flipper length &amp; body mass: “penguin size”</a:t>
            </a:r>
          </a:p>
          <a:p>
            <a:pPr marL="285750" indent="-285750">
              <a:buFont typeface="Arial" pitchFamily="34" charset="0"/>
              <a:buChar char="•"/>
            </a:pPr>
            <a:r>
              <a:rPr lang="en-US" sz="2000" dirty="0"/>
              <a:t>PC2: relates to “bill shape”</a:t>
            </a:r>
          </a:p>
          <a:p>
            <a:endParaRPr lang="en-US" sz="2000" dirty="0"/>
          </a:p>
          <a:p>
            <a:r>
              <a:rPr lang="en-US" sz="2400" dirty="0"/>
              <a:t>Easy to characterize the species in terms of these variables</a:t>
            </a:r>
          </a:p>
        </p:txBody>
      </p:sp>
      <p:sp>
        <p:nvSpPr>
          <p:cNvPr id="10" name="Rectangle 9"/>
          <p:cNvSpPr/>
          <p:nvPr/>
        </p:nvSpPr>
        <p:spPr>
          <a:xfrm>
            <a:off x="609600" y="6275903"/>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4" name="Picture 6" descr="ggbiplot-logo.png">
            <a:extLst>
              <a:ext uri="{FF2B5EF4-FFF2-40B4-BE49-F238E27FC236}">
                <a16:creationId xmlns:a16="http://schemas.microsoft.com/office/drawing/2014/main" id="{2EB9E8A5-059D-D38A-5587-1C7FF6573BF4}"/>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10465159" y="292777"/>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618681" y="2170700"/>
            <a:ext cx="4686559" cy="4045950"/>
          </a:xfrm>
          <a:prstGeom prst="rect">
            <a:avLst/>
          </a:prstGeom>
        </p:spPr>
      </p:pic>
      <p:sp>
        <p:nvSpPr>
          <p:cNvPr id="11" name="Slide Number Placeholder 11"/>
          <p:cNvSpPr>
            <a:spLocks noGrp="1"/>
          </p:cNvSpPr>
          <p:nvPr>
            <p:ph type="sldNum" sz="quarter" idx="12"/>
          </p:nvPr>
        </p:nvSpPr>
        <p:spPr/>
        <p:txBody>
          <a:bodyPr/>
          <a:lstStyle/>
          <a:p>
            <a:fld id="{9BFB2853-4965-4727-91C4-384EB30D99A4}" type="slidenum">
              <a:rPr lang="en-CA"/>
              <a:t>29</a:t>
            </a:fld>
            <a:endParaRPr lang="en-CA"/>
          </a:p>
        </p:txBody>
      </p:sp>
      <p:cxnSp>
        <p:nvCxnSpPr>
          <p:cNvPr id="7" name="Straight Arrow Connector 6">
            <a:extLst>
              <a:ext uri="{FF2B5EF4-FFF2-40B4-BE49-F238E27FC236}">
                <a16:creationId xmlns:a16="http://schemas.microsoft.com/office/drawing/2014/main" id="{FBCCC623-DA42-330D-6041-F2D59EE2F594}"/>
              </a:ext>
            </a:extLst>
          </p:cNvPr>
          <p:cNvCxnSpPr/>
          <p:nvPr/>
        </p:nvCxnSpPr>
        <p:spPr>
          <a:xfrm>
            <a:off x="6883400" y="6216650"/>
            <a:ext cx="4241800" cy="0"/>
          </a:xfrm>
          <a:prstGeom prst="straightConnector1">
            <a:avLst/>
          </a:prstGeom>
          <a:ln w="34925">
            <a:solidFill>
              <a:srgbClr val="FF0000"/>
            </a:solidFill>
            <a:tailEnd type="stealth" w="lg" len="lg"/>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DEFD19BC-4BAC-2E29-11C1-AF58D72F4EBF}"/>
              </a:ext>
            </a:extLst>
          </p:cNvPr>
          <p:cNvSpPr txBox="1"/>
          <p:nvPr/>
        </p:nvSpPr>
        <p:spPr>
          <a:xfrm>
            <a:off x="8337550" y="6049547"/>
            <a:ext cx="1333500" cy="338554"/>
          </a:xfrm>
          <a:prstGeom prst="rect">
            <a:avLst/>
          </a:prstGeom>
          <a:solidFill>
            <a:schemeClr val="bg1"/>
          </a:solidFill>
        </p:spPr>
        <p:txBody>
          <a:bodyPr wrap="square" rtlCol="0">
            <a:spAutoFit/>
          </a:bodyPr>
          <a:lstStyle/>
          <a:p>
            <a:pPr algn="ctr"/>
            <a:r>
              <a:rPr lang="en-CA" sz="1600" dirty="0"/>
              <a:t>Penguin size</a:t>
            </a:r>
          </a:p>
        </p:txBody>
      </p:sp>
      <p:cxnSp>
        <p:nvCxnSpPr>
          <p:cNvPr id="16" name="Straight Arrow Connector 15">
            <a:extLst>
              <a:ext uri="{FF2B5EF4-FFF2-40B4-BE49-F238E27FC236}">
                <a16:creationId xmlns:a16="http://schemas.microsoft.com/office/drawing/2014/main" id="{15078AC2-F803-479F-A51F-842DB07008CD}"/>
              </a:ext>
            </a:extLst>
          </p:cNvPr>
          <p:cNvCxnSpPr/>
          <p:nvPr/>
        </p:nvCxnSpPr>
        <p:spPr>
          <a:xfrm>
            <a:off x="11582400" y="2425700"/>
            <a:ext cx="0" cy="3543300"/>
          </a:xfrm>
          <a:prstGeom prst="straightConnector1">
            <a:avLst/>
          </a:prstGeom>
          <a:ln w="34925">
            <a:solidFill>
              <a:srgbClr val="FF0000"/>
            </a:solidFill>
            <a:headEnd type="stealth" w="lg" len="lg"/>
            <a:tailEnd type="stealth" w="lg" len="lg"/>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2DAAF83C-FC55-EC80-F472-EBAC408A43E0}"/>
              </a:ext>
            </a:extLst>
          </p:cNvPr>
          <p:cNvSpPr txBox="1"/>
          <p:nvPr/>
        </p:nvSpPr>
        <p:spPr>
          <a:xfrm rot="5400000">
            <a:off x="11009191" y="4024398"/>
            <a:ext cx="1146419" cy="338554"/>
          </a:xfrm>
          <a:prstGeom prst="rect">
            <a:avLst/>
          </a:prstGeom>
          <a:solidFill>
            <a:schemeClr val="bg1"/>
          </a:solidFill>
        </p:spPr>
        <p:txBody>
          <a:bodyPr wrap="square" rtlCol="0">
            <a:spAutoFit/>
          </a:bodyPr>
          <a:lstStyle/>
          <a:p>
            <a:pPr algn="ctr"/>
            <a:r>
              <a:rPr lang="en-CA" sz="1600" dirty="0"/>
              <a:t>Bill shape</a:t>
            </a:r>
          </a:p>
        </p:txBody>
      </p:sp>
    </p:spTree>
    <p:extLst>
      <p:ext uri="{BB962C8B-B14F-4D97-AF65-F5344CB8AC3E}">
        <p14:creationId xmlns:p14="http://schemas.microsoft.com/office/powerpoint/2010/main" val="18081444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1536700" y="1240536"/>
            <a:ext cx="8857488" cy="4428744"/>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
        <p:nvSpPr>
          <p:cNvPr id="6" name="Slide Number Placeholder 6"/>
          <p:cNvSpPr>
            <a:spLocks noGrp="1"/>
          </p:cNvSpPr>
          <p:nvPr>
            <p:ph type="sldNum" sz="quarter" idx="12"/>
          </p:nvPr>
        </p:nvSpPr>
        <p:spPr/>
        <p:txBody>
          <a:bodyPr/>
          <a:lstStyle/>
          <a:p>
            <a:fld id="{9BFB2853-4965-4727-91C4-384EB30D99A4}" type="slidenum">
              <a:rPr lang="en-CA"/>
              <a:t>30</a:t>
            </a:fld>
            <a:endParaRPr lang="en-CA"/>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4062651"/>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a:t>
            </a:r>
            <a:r>
              <a:rPr lang="en-CA" sz="2000"/>
              <a:t>the t‑SNE </a:t>
            </a:r>
            <a:r>
              <a:rPr lang="en-CA" sz="2000" dirty="0"/>
              <a:t>one largely by a rotation.</a:t>
            </a:r>
          </a:p>
          <a:p>
            <a:endParaRPr lang="en-CA" sz="2000" dirty="0"/>
          </a:p>
          <a:p>
            <a:r>
              <a:rPr lang="en-CA" sz="2000"/>
              <a:t>But t‑SNE </a:t>
            </a:r>
            <a:r>
              <a:rPr lang="en-CA" sz="2000" dirty="0"/>
              <a:t>achieves </a:t>
            </a:r>
            <a:r>
              <a:rPr lang="en-CA" sz="2000"/>
              <a:t>wider separation among groups.</a:t>
            </a:r>
            <a:endParaRPr lang="en-CA" sz="2000" dirty="0"/>
          </a:p>
          <a:p>
            <a:endParaRPr lang="en-CA" sz="2000"/>
          </a:p>
          <a:p>
            <a:r>
              <a:rPr lang="en-CA" sz="2000"/>
              <a:t>The </a:t>
            </a:r>
            <a:r>
              <a:rPr lang="en-CA" sz="2000" dirty="0"/>
              <a:t>data ellipses here carry the visual message.</a:t>
            </a: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31</a:t>
            </a:fld>
            <a:endParaRPr lang="en-CA"/>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3F6F4"/>
            </a:gs>
            <a:gs pos="100000">
              <a:srgbClr val="9DC0AA"/>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
        <p:nvSpPr>
          <p:cNvPr id="4" name="Slide Number Placeholder 4"/>
          <p:cNvSpPr>
            <a:spLocks noGrp="1"/>
          </p:cNvSpPr>
          <p:nvPr>
            <p:ph type="sldNum" sz="quarter" idx="12"/>
          </p:nvPr>
        </p:nvSpPr>
        <p:spPr/>
        <p:txBody>
          <a:bodyPr/>
          <a:lstStyle/>
          <a:p>
            <a:fld id="{9BFB2853-4965-4727-91C4-384EB30D99A4}" type="slidenum">
              <a:rPr lang="en-CA"/>
              <a:t>32</a:t>
            </a:fld>
            <a:endParaRPr lang="en-CA"/>
          </a:p>
        </p:txBody>
      </p:sp>
      <p:pic>
        <p:nvPicPr>
          <p:cNvPr id="6" name="Section 3 outlier illustration">
            <a:extLst>
              <a:ext uri="{FF2B5EF4-FFF2-40B4-BE49-F238E27FC236}">
                <a16:creationId xmlns:a16="http://schemas.microsoft.com/office/drawing/2014/main" id="{D9874DB1-9794-A74C-8677-BF4D8C7677E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69900" y="177800"/>
            <a:ext cx="20574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3 measurement error illustration">
            <a:extLst>
              <a:ext uri="{FF2B5EF4-FFF2-40B4-BE49-F238E27FC236}">
                <a16:creationId xmlns:a16="http://schemas.microsoft.com/office/drawing/2014/main" id="{6436CD5E-74D1-4A25-DD57-A748B2B1C2A5}"/>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2806700" y="177800"/>
            <a:ext cx="4000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3 ridge illustration">
            <a:extLst>
              <a:ext uri="{FF2B5EF4-FFF2-40B4-BE49-F238E27FC236}">
                <a16:creationId xmlns:a16="http://schemas.microsoft.com/office/drawing/2014/main" id="{7FE5C6B1-2945-D860-D3B7-C44ECD2BABAB}"/>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7086600" y="177800"/>
            <a:ext cx="4635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2" name="Section 3 Wally">
            <a:extLst>
              <a:ext uri="{FF2B5EF4-FFF2-40B4-BE49-F238E27FC236}">
                <a16:creationId xmlns:a16="http://schemas.microsoft.com/office/drawing/2014/main" id="{AEDF897F-DFC6-ED44-2B58-B03DA455DDA4}"/>
              </a:ext>
            </a:extLst>
          </p:cNvPr>
          <p:cNvPicPr>
            <a:picLocks/>
          </p:cNvPicPr>
          <p:nvPr/>
        </p:nvPicPr>
        <p:blipFill>
          <a:blip r:embed="rId6">
            <a:clrChange>
              <a:clrFrom>
                <a:srgbClr val="FFFFFF"/>
              </a:clrFrom>
              <a:clrTo>
                <a:srgbClr val="FFFFFF">
                  <a:alpha val="0"/>
                </a:srgbClr>
              </a:clrTo>
            </a:clrChange>
          </a:blip>
          <a:srcRect l="2228" t="2228" r="1114" b="1114"/>
          <a:stretch>
            <a:fillRect/>
          </a:stretch>
        </p:blipFill>
        <p:spPr>
          <a:xfrm>
            <a:off x="6364714" y="2503914"/>
            <a:ext cx="638329" cy="638329"/>
          </a:xfrm>
          <a:prstGeom prst="rect">
            <a:avLst/>
          </a:prstGeom>
          <a:solidFill>
            <a:schemeClr val="accent1">
              <a:alpha val="0"/>
            </a:schemeClr>
          </a:solidFill>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univariate views, but become readily apparent on the </a:t>
            </a:r>
            <a:r>
              <a:rPr lang="en-US" i="1" dirty="0">
                <a:solidFill>
                  <a:srgbClr val="FF0000"/>
                </a:solidFill>
              </a:rPr>
              <a:t>smallest</a:t>
            </a:r>
            <a:r>
              <a:rPr lang="en-US" dirty="0"/>
              <a:t> principal component(s)</a:t>
            </a:r>
          </a:p>
          <a:p>
            <a:pPr lvl="1"/>
            <a:r>
              <a:rPr lang="en-US" dirty="0"/>
              <a:t>100 observations on two correlated normal variables with two bivariate outliers near (2,2), (-2, -2)</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
        <p:nvSpPr>
          <p:cNvPr id="18" name="Slide Number Placeholder 18"/>
          <p:cNvSpPr>
            <a:spLocks noGrp="1"/>
          </p:cNvSpPr>
          <p:nvPr>
            <p:ph type="sldNum" sz="quarter" idx="12"/>
          </p:nvPr>
        </p:nvSpPr>
        <p:spPr/>
        <p:txBody>
          <a:bodyPr/>
          <a:lstStyle/>
          <a:p>
            <a:fld id="{9BFB2853-4965-4727-91C4-384EB30D99A4}" type="slidenum">
              <a:rPr lang="en-CA"/>
              <a:t>33</a:t>
            </a:fld>
            <a:endParaRPr lang="en-CA"/>
          </a:p>
        </p:txBody>
      </p:sp>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a:t>Snub Nose</a:t>
            </a:r>
            <a:endParaRPr lang="en-CA" sz="1400" dirty="0"/>
          </a:p>
        </p:txBody>
      </p:sp>
      <p:sp>
        <p:nvSpPr>
          <p:cNvPr id="15" name="Slide Number Placeholder 15"/>
          <p:cNvSpPr>
            <a:spLocks noGrp="1"/>
          </p:cNvSpPr>
          <p:nvPr>
            <p:ph type="sldNum" sz="quarter" idx="12"/>
          </p:nvPr>
        </p:nvSpPr>
        <p:spPr/>
        <p:txBody>
          <a:bodyPr/>
          <a:lstStyle/>
          <a:p>
            <a:fld id="{9BFB2853-4965-4727-91C4-384EB30D99A4}" type="slidenum">
              <a:rPr lang="en-CA"/>
              <a:t>34</a:t>
            </a:fld>
            <a:endParaRPr lang="en-CA"/>
          </a:p>
        </p:txBody>
      </p:sp>
      <p:sp>
        <p:nvSpPr>
          <p:cNvPr id="7" name="Blog link">
            <a:extLst>
              <a:ext uri="{FF2B5EF4-FFF2-40B4-BE49-F238E27FC236}">
                <a16:creationId xmlns:a16="http://schemas.microsoft.com/office/drawing/2014/main" id="{5F2E6856-5EBD-FDB1-2467-0A219B7FF9A2}"/>
              </a:ext>
            </a:extLst>
          </p:cNvPr>
          <p:cNvSpPr txBox="1"/>
          <p:nvPr/>
        </p:nvSpPr>
        <p:spPr>
          <a:xfrm>
            <a:off x="2224587" y="6062990"/>
            <a:ext cx="7742825" cy="261610"/>
          </a:xfrm>
          <a:prstGeom prst="rect">
            <a:avLst/>
          </a:prstGeom>
          <a:noFill/>
          <a:ln w="9525">
            <a:solidFill>
              <a:srgbClr val="8C8C8C"/>
            </a:solidFill>
          </a:ln>
        </p:spPr>
        <p:txBody>
          <a:bodyPr vert="horz" wrap="none" lIns="88900" tIns="38100" rIns="88900" bIns="38100" rtlCol="0">
            <a:spAutoFit/>
          </a:bodyPr>
          <a:lstStyle/>
          <a:p>
            <a:r>
              <a:rPr lang="en-CA" sz="1200">
                <a:solidFill>
                  <a:srgbClr val="262626"/>
                </a:solidFill>
                <a:latin typeface="Aptos" panose="020B0004020202020204" pitchFamily="34" charset="0"/>
              </a:rPr>
              <a:t>Blog: </a:t>
            </a:r>
            <a:r>
              <a:rPr lang="en-CA" sz="1200" i="1">
                <a:solidFill>
                  <a:srgbClr val="262626"/>
                </a:solidFill>
                <a:latin typeface="Aptos" panose="020B0004020202020204" pitchFamily="34" charset="0"/>
              </a:rPr>
              <a:t>Palmer Penguins Cry Out: “Call Me by My Name”</a:t>
            </a:r>
            <a:r>
              <a:rPr lang="en-CA" sz="1200">
                <a:solidFill>
                  <a:srgbClr val="262626"/>
                </a:solidFill>
                <a:latin typeface="Aptos" panose="020B0004020202020204" pitchFamily="34" charset="0"/>
              </a:rPr>
              <a:t>   </a:t>
            </a:r>
            <a:r>
              <a:rPr lang="en-CA" sz="1200">
                <a:solidFill>
                  <a:srgbClr val="262626"/>
                </a:solidFill>
                <a:latin typeface="Aptos" panose="020B0004020202020204" pitchFamily="34" charset="0"/>
                <a:hlinkClick r:id="rId5"/>
              </a:rPr>
              <a:t>https://friendly.github.io/blog/posts/2026-10-peng-names/</a:t>
            </a:r>
            <a:endParaRPr lang="en-CA" sz="1200">
              <a:solidFill>
                <a:srgbClr val="262626"/>
              </a:solidFill>
              <a:latin typeface="Aptos" panose="020B000402020202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a:t>
            </a:r>
            <a:r>
              <a:rPr lang="en-CA" dirty="0"/>
              <a:t>remains</a:t>
            </a:r>
            <a:endParaRPr dirty="0"/>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Biplot: </a:t>
            </a:r>
            <a:r>
              <a:rPr lang="en-CA" dirty="0">
                <a:solidFill>
                  <a:srgbClr val="FF0000"/>
                </a:solidFill>
                <a:sym typeface="Symbol" panose="05050102010706020507" pitchFamily="18" charset="2"/>
              </a:rPr>
              <a:t>why they’re weird</a:t>
            </a:r>
            <a:endParaRPr lang="en-CA" dirty="0">
              <a:solidFill>
                <a:srgbClr val="FF0000"/>
              </a:solidFill>
            </a:endParaRPr>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10960488" y="6018906"/>
            <a:ext cx="1025652" cy="261610"/>
          </a:xfrm>
          <a:prstGeom prst="rect">
            <a:avLst/>
          </a:prstGeom>
          <a:noFill/>
        </p:spPr>
        <p:txBody>
          <a:bodyPr wrap="square">
            <a:spAutoFit/>
          </a:bodyPr>
          <a:lstStyle/>
          <a:p>
            <a:r>
              <a:rPr sz="1100" dirty="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Snub Nose</a:t>
            </a:r>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clrChange>
              <a:clrFrom>
                <a:srgbClr val="FFFFFF"/>
              </a:clrFrom>
              <a:clrTo>
                <a:srgbClr val="FFFFFF">
                  <a:alpha val="0"/>
                </a:srgbClr>
              </a:clrTo>
            </a:clrChange>
          </a:blip>
          <a:srcRect l="2228" t="2228" r="3342" b="1114"/>
          <a:stretch>
            <a:fillRect/>
          </a:stretch>
        </p:blipFill>
        <p:spPr>
          <a:xfrm>
            <a:off x="8477590" y="628416"/>
            <a:ext cx="568780" cy="568780"/>
          </a:xfrm>
          <a:prstGeom prst="rect">
            <a:avLst/>
          </a:prstGeom>
          <a:solidFill>
            <a:schemeClr val="accent1">
              <a:alpha val="0"/>
            </a:schemeClr>
          </a:solidFill>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clrChange>
              <a:clrFrom>
                <a:srgbClr val="FFFFFF"/>
              </a:clrFrom>
              <a:clrTo>
                <a:srgbClr val="FFFFFF">
                  <a:alpha val="0"/>
                </a:srgbClr>
              </a:clrTo>
            </a:clrChange>
          </a:blip>
          <a:srcRect l="2228" t="2228" r="3342" b="1114"/>
          <a:stretch>
            <a:fillRect/>
          </a:stretch>
        </p:blipFill>
        <p:spPr>
          <a:xfrm>
            <a:off x="9053827" y="628416"/>
            <a:ext cx="568780" cy="568780"/>
          </a:xfrm>
          <a:prstGeom prst="rect">
            <a:avLst/>
          </a:prstGeom>
          <a:solidFill>
            <a:schemeClr val="accent1">
              <a:alpha val="0"/>
            </a:schemeClr>
          </a:solidFill>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clrChange>
              <a:clrFrom>
                <a:srgbClr val="FFFFFF"/>
              </a:clrFrom>
              <a:clrTo>
                <a:srgbClr val="FFFFFF">
                  <a:alpha val="0"/>
                </a:srgbClr>
              </a:clrTo>
            </a:clrChange>
          </a:blip>
          <a:srcRect l="2228" t="2228" r="3342" b="1114"/>
          <a:stretch>
            <a:fillRect/>
          </a:stretch>
        </p:blipFill>
        <p:spPr>
          <a:xfrm>
            <a:off x="9865952" y="628416"/>
            <a:ext cx="568780" cy="568780"/>
          </a:xfrm>
          <a:prstGeom prst="rect">
            <a:avLst/>
          </a:prstGeom>
          <a:solidFill>
            <a:schemeClr val="accent1">
              <a:alpha val="0"/>
            </a:schemeClr>
          </a:solidFill>
        </p:spPr>
      </p:pic>
      <p:sp>
        <p:nvSpPr>
          <p:cNvPr id="16" name="Slide Number Placeholder 16"/>
          <p:cNvSpPr>
            <a:spLocks noGrp="1"/>
          </p:cNvSpPr>
          <p:nvPr>
            <p:ph type="sldNum" sz="quarter" idx="12"/>
          </p:nvPr>
        </p:nvSpPr>
        <p:spPr/>
        <p:txBody>
          <a:bodyPr/>
          <a:lstStyle/>
          <a:p>
            <a:fld id="{9BFB2853-4965-4727-91C4-384EB30D99A4}" type="slidenum">
              <a:rPr lang="en-CA"/>
              <a:t>35</a:t>
            </a:fld>
            <a:endParaRPr lang="en-CA"/>
          </a:p>
        </p:txBody>
      </p:sp>
      <p:sp>
        <p:nvSpPr>
          <p:cNvPr id="12" name="TextBox 11">
            <a:extLst>
              <a:ext uri="{FF2B5EF4-FFF2-40B4-BE49-F238E27FC236}">
                <a16:creationId xmlns:a16="http://schemas.microsoft.com/office/drawing/2014/main" id="{43BB1E9E-D7B4-CDB3-AA22-4F70955E1299}"/>
              </a:ext>
            </a:extLst>
          </p:cNvPr>
          <p:cNvSpPr txBox="1"/>
          <p:nvPr/>
        </p:nvSpPr>
        <p:spPr>
          <a:xfrm>
            <a:off x="10156043" y="1974771"/>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Falstaff</a:t>
            </a:r>
          </a:p>
        </p:txBody>
      </p:sp>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par>
                                    <p:cTn id="26" presetID="2" presetClass="entr" presetSubtype="4"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 calcmode="lin" valueType="num">
                                          <p:cBhvr additive="base">
                                            <p:cTn id="32" dur="500" fill="hold"/>
                                            <p:tgtEl>
                                              <p:spTgt spid="13"/>
                                            </p:tgtEl>
                                            <p:attrNameLst>
                                              <p:attrName>ppt_x</p:attrName>
                                            </p:attrNameLst>
                                          </p:cBhvr>
                                          <p:tavLst>
                                            <p:tav tm="0">
                                              <p:val>
                                                <p:strVal val="#ppt_x"/>
                                              </p:val>
                                            </p:tav>
                                            <p:tav tm="100000">
                                              <p:val>
                                                <p:strVal val="#ppt_x"/>
                                              </p:val>
                                            </p:tav>
                                          </p:tavLst>
                                        </p:anim>
                                        <p:anim calcmode="lin" valueType="num">
                                          <p:cBhvr additive="base">
                                            <p:cTn id="33" dur="500" fill="hold"/>
                                            <p:tgtEl>
                                              <p:spTgt spid="13"/>
                                            </p:tgtEl>
                                            <p:attrNameLst>
                                              <p:attrName>ppt_y</p:attrName>
                                            </p:attrNameLst>
                                          </p:cBhvr>
                                          <p:tavLst>
                                            <p:tav tm="0">
                                              <p:val>
                                                <p:strVal val="1+#ppt_h/2"/>
                                              </p:val>
                                            </p:tav>
                                            <p:tav tm="100000">
                                              <p:val>
                                                <p:strVal val="#ppt_y"/>
                                              </p:val>
                                            </p:tav>
                                          </p:tavLst>
                                        </p:anim>
                                      </p:childTnLst>
                                    </p:cTn>
                                  </p:par>
                                  <p:par>
                                    <p:cTn id="34" presetID="2" presetClass="entr" presetSubtype="1"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par>
                                    <p:cTn id="26" presetID="2" presetClass="entr" presetSubtype="4"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 calcmode="lin" valueType="num">
                                          <p:cBhvr additive="base">
                                            <p:cTn id="32" dur="500" fill="hold"/>
                                            <p:tgtEl>
                                              <p:spTgt spid="13"/>
                                            </p:tgtEl>
                                            <p:attrNameLst>
                                              <p:attrName>ppt_x</p:attrName>
                                            </p:attrNameLst>
                                          </p:cBhvr>
                                          <p:tavLst>
                                            <p:tav tm="0">
                                              <p:val>
                                                <p:strVal val="#ppt_x"/>
                                              </p:val>
                                            </p:tav>
                                            <p:tav tm="100000">
                                              <p:val>
                                                <p:strVal val="#ppt_x"/>
                                              </p:val>
                                            </p:tav>
                                          </p:tavLst>
                                        </p:anim>
                                        <p:anim calcmode="lin" valueType="num">
                                          <p:cBhvr additive="base">
                                            <p:cTn id="33" dur="500" fill="hold"/>
                                            <p:tgtEl>
                                              <p:spTgt spid="13"/>
                                            </p:tgtEl>
                                            <p:attrNameLst>
                                              <p:attrName>ppt_y</p:attrName>
                                            </p:attrNameLst>
                                          </p:cBhvr>
                                          <p:tavLst>
                                            <p:tav tm="0">
                                              <p:val>
                                                <p:strVal val="1+#ppt_h/2"/>
                                              </p:val>
                                            </p:tav>
                                            <p:tav tm="100000">
                                              <p:val>
                                                <p:strVal val="#ppt_y"/>
                                              </p:val>
                                            </p:tav>
                                          </p:tavLst>
                                        </p:anim>
                                      </p:childTnLst>
                                    </p:cTn>
                                  </p:par>
                                  <p:par>
                                    <p:cTn id="34" presetID="2" presetClass="entr" presetSubtype="1"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479427"/>
            <a:ext cx="10515599" cy="715962"/>
          </a:xfrm>
        </p:spPr>
        <p:txBody>
          <a:bodyPr>
            <a:normAutofit/>
          </a:bodyPr>
          <a:lstStyle/>
          <a:p>
            <a:r>
              <a:rPr lang="en-US" dirty="0"/>
              <a:t>Elliptical insights: Measurement error</a:t>
            </a:r>
          </a:p>
        </p:txBody>
      </p:sp>
      <p:sp>
        <p:nvSpPr>
          <p:cNvPr id="3" name="Content Placeholder 2"/>
          <p:cNvSpPr>
            <a:spLocks noGrp="1"/>
          </p:cNvSpPr>
          <p:nvPr>
            <p:ph idx="1"/>
          </p:nvPr>
        </p:nvSpPr>
        <p:spPr>
          <a:xfrm>
            <a:off x="838200" y="1643063"/>
            <a:ext cx="10515600" cy="3309937"/>
          </a:xfrm>
        </p:spPr>
        <p:txBody>
          <a:bodyPr>
            <a:normAutofit/>
          </a:bodyPr>
          <a:lstStyle/>
          <a:p>
            <a:r>
              <a:rPr lang="en-US" dirty="0"/>
              <a:t>In classical linear models, predictors (X) are usually assumed to be </a:t>
            </a:r>
            <a:r>
              <a:rPr lang="en-US" dirty="0">
                <a:solidFill>
                  <a:srgbClr val="FF0000"/>
                </a:solidFill>
              </a:rPr>
              <a:t>fixed</a:t>
            </a:r>
            <a:r>
              <a:rPr lang="en-US" dirty="0"/>
              <a:t> (non-random), or </a:t>
            </a:r>
            <a:r>
              <a:rPr lang="en-US" dirty="0">
                <a:solidFill>
                  <a:srgbClr val="FF0000"/>
                </a:solidFill>
              </a:rPr>
              <a:t>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 </a:t>
            </a:r>
            <a:r>
              <a:rPr lang="en-US" dirty="0"/>
              <a:t>(variance</a:t>
            </a:r>
            <a:r>
              <a:rPr lang="en-US" baseline="30000" dirty="0"/>
              <a:t>-1</a:t>
            </a:r>
            <a:r>
              <a:rPr lang="en-US" dirty="0"/>
              <a:t>)</a:t>
            </a:r>
            <a:endParaRPr lang="en-US" dirty="0">
              <a:solidFill>
                <a:srgbClr val="FF0000"/>
              </a:solidFill>
            </a:endParaRP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
        <p:nvSpPr>
          <p:cNvPr id="6" name="Slide Number Placeholder 6"/>
          <p:cNvSpPr>
            <a:spLocks noGrp="1"/>
          </p:cNvSpPr>
          <p:nvPr>
            <p:ph type="sldNum" sz="quarter" idx="12"/>
          </p:nvPr>
        </p:nvSpPr>
        <p:spPr/>
        <p:txBody>
          <a:bodyPr/>
          <a:lstStyle/>
          <a:p>
            <a:fld id="{9BFB2853-4965-4727-91C4-384EB30D99A4}" type="slidenum">
              <a:rPr lang="en-CA"/>
              <a:t>36</a:t>
            </a:fld>
            <a:endParaRPr lang="en-CA"/>
          </a:p>
        </p:txBody>
      </p:sp>
    </p:spTree>
    <p:extLst>
      <p:ext uri="{BB962C8B-B14F-4D97-AF65-F5344CB8AC3E}">
        <p14:creationId xmlns:p14="http://schemas.microsoft.com/office/powerpoint/2010/main" val="2140400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826000"/>
            <a:ext cx="5927071" cy="1477328"/>
          </a:xfrm>
          <a:custGeom>
            <a:avLst/>
            <a:gdLst>
              <a:gd name="csX0" fmla="*/ 0 w 5927071"/>
              <a:gd name="csY0" fmla="*/ 0 h 1477328"/>
              <a:gd name="csX1" fmla="*/ 651978 w 5927071"/>
              <a:gd name="csY1" fmla="*/ 0 h 1477328"/>
              <a:gd name="csX2" fmla="*/ 1066873 w 5927071"/>
              <a:gd name="csY2" fmla="*/ 0 h 1477328"/>
              <a:gd name="csX3" fmla="*/ 1600309 w 5927071"/>
              <a:gd name="csY3" fmla="*/ 0 h 1477328"/>
              <a:gd name="csX4" fmla="*/ 2311558 w 5927071"/>
              <a:gd name="csY4" fmla="*/ 0 h 1477328"/>
              <a:gd name="csX5" fmla="*/ 2904265 w 5927071"/>
              <a:gd name="csY5" fmla="*/ 0 h 1477328"/>
              <a:gd name="csX6" fmla="*/ 3556243 w 5927071"/>
              <a:gd name="csY6" fmla="*/ 0 h 1477328"/>
              <a:gd name="csX7" fmla="*/ 4089679 w 5927071"/>
              <a:gd name="csY7" fmla="*/ 0 h 1477328"/>
              <a:gd name="csX8" fmla="*/ 4682386 w 5927071"/>
              <a:gd name="csY8" fmla="*/ 0 h 1477328"/>
              <a:gd name="csX9" fmla="*/ 5393635 w 5927071"/>
              <a:gd name="csY9" fmla="*/ 0 h 1477328"/>
              <a:gd name="csX10" fmla="*/ 5927071 w 5927071"/>
              <a:gd name="csY10" fmla="*/ 0 h 1477328"/>
              <a:gd name="csX11" fmla="*/ 5927071 w 5927071"/>
              <a:gd name="csY11" fmla="*/ 507216 h 1477328"/>
              <a:gd name="csX12" fmla="*/ 5927071 w 5927071"/>
              <a:gd name="csY12" fmla="*/ 970112 h 1477328"/>
              <a:gd name="csX13" fmla="*/ 5927071 w 5927071"/>
              <a:gd name="csY13" fmla="*/ 1477328 h 1477328"/>
              <a:gd name="csX14" fmla="*/ 5334364 w 5927071"/>
              <a:gd name="csY14" fmla="*/ 1477328 h 1477328"/>
              <a:gd name="csX15" fmla="*/ 4741657 w 5927071"/>
              <a:gd name="csY15" fmla="*/ 1477328 h 1477328"/>
              <a:gd name="csX16" fmla="*/ 4267491 w 5927071"/>
              <a:gd name="csY16" fmla="*/ 1477328 h 1477328"/>
              <a:gd name="csX17" fmla="*/ 3674784 w 5927071"/>
              <a:gd name="csY17" fmla="*/ 1477328 h 1477328"/>
              <a:gd name="csX18" fmla="*/ 3082077 w 5927071"/>
              <a:gd name="csY18" fmla="*/ 1477328 h 1477328"/>
              <a:gd name="csX19" fmla="*/ 2489370 w 5927071"/>
              <a:gd name="csY19" fmla="*/ 1477328 h 1477328"/>
              <a:gd name="csX20" fmla="*/ 1896663 w 5927071"/>
              <a:gd name="csY20" fmla="*/ 1477328 h 1477328"/>
              <a:gd name="csX21" fmla="*/ 1363226 w 5927071"/>
              <a:gd name="csY21" fmla="*/ 1477328 h 1477328"/>
              <a:gd name="csX22" fmla="*/ 711249 w 5927071"/>
              <a:gd name="csY22" fmla="*/ 1477328 h 1477328"/>
              <a:gd name="csX23" fmla="*/ 0 w 5927071"/>
              <a:gd name="csY23" fmla="*/ 1477328 h 1477328"/>
              <a:gd name="csX24" fmla="*/ 0 w 5927071"/>
              <a:gd name="csY24" fmla="*/ 955339 h 1477328"/>
              <a:gd name="csX25" fmla="*/ 0 w 5927071"/>
              <a:gd name="csY25" fmla="*/ 448123 h 1477328"/>
              <a:gd name="csX26" fmla="*/ 0 w 5927071"/>
              <a:gd name="csY26" fmla="*/ 0 h 14773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5927071" h="1477328" fill="none" extrusionOk="0">
                <a:moveTo>
                  <a:pt x="0" y="0"/>
                </a:moveTo>
                <a:cubicBezTo>
                  <a:pt x="269989" y="-43369"/>
                  <a:pt x="349152" y="22592"/>
                  <a:pt x="651978" y="0"/>
                </a:cubicBezTo>
                <a:cubicBezTo>
                  <a:pt x="954804" y="-22592"/>
                  <a:pt x="961774" y="10943"/>
                  <a:pt x="1066873" y="0"/>
                </a:cubicBezTo>
                <a:cubicBezTo>
                  <a:pt x="1171972" y="-10943"/>
                  <a:pt x="1408903" y="1726"/>
                  <a:pt x="1600309" y="0"/>
                </a:cubicBezTo>
                <a:cubicBezTo>
                  <a:pt x="1791715" y="-1726"/>
                  <a:pt x="2102856" y="7883"/>
                  <a:pt x="2311558" y="0"/>
                </a:cubicBezTo>
                <a:cubicBezTo>
                  <a:pt x="2520260" y="-7883"/>
                  <a:pt x="2765343" y="5840"/>
                  <a:pt x="2904265" y="0"/>
                </a:cubicBezTo>
                <a:cubicBezTo>
                  <a:pt x="3043187" y="-5840"/>
                  <a:pt x="3391392" y="33181"/>
                  <a:pt x="3556243" y="0"/>
                </a:cubicBezTo>
                <a:cubicBezTo>
                  <a:pt x="3721094" y="-33181"/>
                  <a:pt x="3844283" y="2496"/>
                  <a:pt x="4089679" y="0"/>
                </a:cubicBezTo>
                <a:cubicBezTo>
                  <a:pt x="4335075" y="-2496"/>
                  <a:pt x="4545842" y="31497"/>
                  <a:pt x="4682386" y="0"/>
                </a:cubicBezTo>
                <a:cubicBezTo>
                  <a:pt x="4818930" y="-31497"/>
                  <a:pt x="5159542" y="53863"/>
                  <a:pt x="5393635" y="0"/>
                </a:cubicBezTo>
                <a:cubicBezTo>
                  <a:pt x="5627728" y="-53863"/>
                  <a:pt x="5816345" y="16423"/>
                  <a:pt x="5927071" y="0"/>
                </a:cubicBezTo>
                <a:cubicBezTo>
                  <a:pt x="5947345" y="159131"/>
                  <a:pt x="5925450" y="328376"/>
                  <a:pt x="5927071" y="507216"/>
                </a:cubicBezTo>
                <a:cubicBezTo>
                  <a:pt x="5928692" y="686056"/>
                  <a:pt x="5926571" y="857045"/>
                  <a:pt x="5927071" y="970112"/>
                </a:cubicBezTo>
                <a:cubicBezTo>
                  <a:pt x="5927571" y="1083179"/>
                  <a:pt x="5898057" y="1334746"/>
                  <a:pt x="5927071" y="1477328"/>
                </a:cubicBezTo>
                <a:cubicBezTo>
                  <a:pt x="5798598" y="1497755"/>
                  <a:pt x="5489698" y="1408582"/>
                  <a:pt x="5334364" y="1477328"/>
                </a:cubicBezTo>
                <a:cubicBezTo>
                  <a:pt x="5179030" y="1546074"/>
                  <a:pt x="5002491" y="1420613"/>
                  <a:pt x="4741657" y="1477328"/>
                </a:cubicBezTo>
                <a:cubicBezTo>
                  <a:pt x="4480823" y="1534043"/>
                  <a:pt x="4477923" y="1455649"/>
                  <a:pt x="4267491" y="1477328"/>
                </a:cubicBezTo>
                <a:cubicBezTo>
                  <a:pt x="4057059" y="1499007"/>
                  <a:pt x="3867401" y="1422956"/>
                  <a:pt x="3674784" y="1477328"/>
                </a:cubicBezTo>
                <a:cubicBezTo>
                  <a:pt x="3482167" y="1531700"/>
                  <a:pt x="3337221" y="1449322"/>
                  <a:pt x="3082077" y="1477328"/>
                </a:cubicBezTo>
                <a:cubicBezTo>
                  <a:pt x="2826933" y="1505334"/>
                  <a:pt x="2645381" y="1424620"/>
                  <a:pt x="2489370" y="1477328"/>
                </a:cubicBezTo>
                <a:cubicBezTo>
                  <a:pt x="2333359" y="1530036"/>
                  <a:pt x="2073914" y="1453990"/>
                  <a:pt x="1896663" y="1477328"/>
                </a:cubicBezTo>
                <a:cubicBezTo>
                  <a:pt x="1719412" y="1500666"/>
                  <a:pt x="1504472" y="1461281"/>
                  <a:pt x="1363226" y="1477328"/>
                </a:cubicBezTo>
                <a:cubicBezTo>
                  <a:pt x="1221980" y="1493375"/>
                  <a:pt x="971377" y="1462298"/>
                  <a:pt x="711249" y="1477328"/>
                </a:cubicBezTo>
                <a:cubicBezTo>
                  <a:pt x="451121" y="1492358"/>
                  <a:pt x="308405" y="1394364"/>
                  <a:pt x="0" y="1477328"/>
                </a:cubicBezTo>
                <a:cubicBezTo>
                  <a:pt x="-30381" y="1227152"/>
                  <a:pt x="39270" y="1168437"/>
                  <a:pt x="0" y="955339"/>
                </a:cubicBezTo>
                <a:cubicBezTo>
                  <a:pt x="-39270" y="742241"/>
                  <a:pt x="35032" y="612803"/>
                  <a:pt x="0" y="448123"/>
                </a:cubicBezTo>
                <a:cubicBezTo>
                  <a:pt x="-35032" y="283443"/>
                  <a:pt x="22040" y="114021"/>
                  <a:pt x="0" y="0"/>
                </a:cubicBezTo>
                <a:close/>
              </a:path>
              <a:path w="5927071" h="1477328" stroke="0" extrusionOk="0">
                <a:moveTo>
                  <a:pt x="0" y="0"/>
                </a:moveTo>
                <a:cubicBezTo>
                  <a:pt x="247419" y="-7442"/>
                  <a:pt x="371168" y="56243"/>
                  <a:pt x="533436" y="0"/>
                </a:cubicBezTo>
                <a:cubicBezTo>
                  <a:pt x="695704" y="-56243"/>
                  <a:pt x="746765" y="24298"/>
                  <a:pt x="948331" y="0"/>
                </a:cubicBezTo>
                <a:cubicBezTo>
                  <a:pt x="1149898" y="-24298"/>
                  <a:pt x="1475459" y="83594"/>
                  <a:pt x="1659580" y="0"/>
                </a:cubicBezTo>
                <a:cubicBezTo>
                  <a:pt x="1843701" y="-83594"/>
                  <a:pt x="1964021" y="63768"/>
                  <a:pt x="2193016" y="0"/>
                </a:cubicBezTo>
                <a:cubicBezTo>
                  <a:pt x="2422011" y="-63768"/>
                  <a:pt x="2512392" y="37965"/>
                  <a:pt x="2726453" y="0"/>
                </a:cubicBezTo>
                <a:cubicBezTo>
                  <a:pt x="2940514" y="-37965"/>
                  <a:pt x="3189459" y="58423"/>
                  <a:pt x="3437701" y="0"/>
                </a:cubicBezTo>
                <a:cubicBezTo>
                  <a:pt x="3685943" y="-58423"/>
                  <a:pt x="3691207" y="29999"/>
                  <a:pt x="3911867" y="0"/>
                </a:cubicBezTo>
                <a:cubicBezTo>
                  <a:pt x="4132527" y="-29999"/>
                  <a:pt x="4377622" y="65736"/>
                  <a:pt x="4623115" y="0"/>
                </a:cubicBezTo>
                <a:cubicBezTo>
                  <a:pt x="4868608" y="-65736"/>
                  <a:pt x="5063094" y="33271"/>
                  <a:pt x="5334364" y="0"/>
                </a:cubicBezTo>
                <a:cubicBezTo>
                  <a:pt x="5605634" y="-33271"/>
                  <a:pt x="5667747" y="28980"/>
                  <a:pt x="5927071" y="0"/>
                </a:cubicBezTo>
                <a:cubicBezTo>
                  <a:pt x="5928442" y="113323"/>
                  <a:pt x="5912672" y="308693"/>
                  <a:pt x="5927071" y="521989"/>
                </a:cubicBezTo>
                <a:cubicBezTo>
                  <a:pt x="5941470" y="735285"/>
                  <a:pt x="5926196" y="904943"/>
                  <a:pt x="5927071" y="1029205"/>
                </a:cubicBezTo>
                <a:cubicBezTo>
                  <a:pt x="5927946" y="1153467"/>
                  <a:pt x="5881418" y="1275045"/>
                  <a:pt x="5927071" y="1477328"/>
                </a:cubicBezTo>
                <a:cubicBezTo>
                  <a:pt x="5736127" y="1500554"/>
                  <a:pt x="5595044" y="1431778"/>
                  <a:pt x="5334364" y="1477328"/>
                </a:cubicBezTo>
                <a:cubicBezTo>
                  <a:pt x="5073684" y="1522878"/>
                  <a:pt x="5073294" y="1432595"/>
                  <a:pt x="4860198" y="1477328"/>
                </a:cubicBezTo>
                <a:cubicBezTo>
                  <a:pt x="4647102" y="1522061"/>
                  <a:pt x="4477436" y="1432138"/>
                  <a:pt x="4267491" y="1477328"/>
                </a:cubicBezTo>
                <a:cubicBezTo>
                  <a:pt x="4057546" y="1522518"/>
                  <a:pt x="3763720" y="1393223"/>
                  <a:pt x="3556243" y="1477328"/>
                </a:cubicBezTo>
                <a:cubicBezTo>
                  <a:pt x="3348766" y="1561433"/>
                  <a:pt x="3204603" y="1456927"/>
                  <a:pt x="2963536" y="1477328"/>
                </a:cubicBezTo>
                <a:cubicBezTo>
                  <a:pt x="2722469" y="1497729"/>
                  <a:pt x="2660382" y="1469292"/>
                  <a:pt x="2548641" y="1477328"/>
                </a:cubicBezTo>
                <a:cubicBezTo>
                  <a:pt x="2436901" y="1485364"/>
                  <a:pt x="2250415" y="1460932"/>
                  <a:pt x="2074475" y="1477328"/>
                </a:cubicBezTo>
                <a:cubicBezTo>
                  <a:pt x="1898535" y="1493724"/>
                  <a:pt x="1636839" y="1408084"/>
                  <a:pt x="1363226" y="1477328"/>
                </a:cubicBezTo>
                <a:cubicBezTo>
                  <a:pt x="1089613" y="1546572"/>
                  <a:pt x="912545" y="1414629"/>
                  <a:pt x="770519" y="1477328"/>
                </a:cubicBezTo>
                <a:cubicBezTo>
                  <a:pt x="628493" y="1540027"/>
                  <a:pt x="280134" y="1400344"/>
                  <a:pt x="0" y="1477328"/>
                </a:cubicBezTo>
                <a:cubicBezTo>
                  <a:pt x="-58372" y="1334956"/>
                  <a:pt x="26221" y="1132867"/>
                  <a:pt x="0" y="984885"/>
                </a:cubicBezTo>
                <a:cubicBezTo>
                  <a:pt x="-26221" y="836903"/>
                  <a:pt x="50450" y="657008"/>
                  <a:pt x="0" y="536763"/>
                </a:cubicBezTo>
                <a:cubicBezTo>
                  <a:pt x="-50450" y="416518"/>
                  <a:pt x="4748" y="127727"/>
                  <a:pt x="0" y="0"/>
                </a:cubicBezTo>
                <a:close/>
              </a:path>
            </a:pathLst>
          </a:custGeom>
          <a:solidFill>
            <a:schemeClr val="accent6">
              <a:lumMod val="20000"/>
              <a:lumOff val="80000"/>
              <a:alpha val="40000"/>
            </a:schemeClr>
          </a:solidFill>
          <a:ln>
            <a:solidFill>
              <a:schemeClr val="accent1"/>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
        <p:nvSpPr>
          <p:cNvPr id="8195" name="Slide Number Placeholder 8195"/>
          <p:cNvSpPr>
            <a:spLocks noGrp="1"/>
          </p:cNvSpPr>
          <p:nvPr>
            <p:ph type="sldNum" sz="quarter" idx="12"/>
          </p:nvPr>
        </p:nvSpPr>
        <p:spPr/>
        <p:txBody>
          <a:bodyPr/>
          <a:lstStyle/>
          <a:p>
            <a:fld id="{9BFB2853-4965-4727-91C4-384EB30D99A4}" type="slidenum">
              <a:rPr lang="en-CA"/>
              <a:t>37</a:t>
            </a:fld>
            <a:endParaRPr lang="en-CA"/>
          </a:p>
        </p:txBody>
      </p:sp>
    </p:spTree>
    <p:extLst>
      <p:ext uri="{BB962C8B-B14F-4D97-AF65-F5344CB8AC3E}">
        <p14:creationId xmlns:p14="http://schemas.microsoft.com/office/powerpoint/2010/main" val="19636508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642600" cy="369332"/>
          </a:xfrm>
          <a:prstGeom prst="rect">
            <a:avLst/>
          </a:prstGeom>
          <a:noFill/>
        </p:spPr>
        <p:txBody>
          <a:bodyPr wrap="square">
            <a:spAutoFit/>
          </a:bodyPr>
          <a:lstStyle/>
          <a:p>
            <a:r>
              <a:rPr sz="1800" dirty="0"/>
              <a:t>The </a:t>
            </a:r>
            <a:r>
              <a:rPr lang="en-CA" sz="1800" b="1" dirty="0"/>
              <a:t>data ellipse </a:t>
            </a:r>
            <a:r>
              <a:rPr lang="en-CA" sz="1800" dirty="0"/>
              <a:t>for the predictors (</a:t>
            </a:r>
            <a:r>
              <a:rPr lang="en-CA" sz="1800" b="1" dirty="0"/>
              <a:t>X’X</a:t>
            </a:r>
            <a:r>
              <a:rPr lang="en-CA" sz="1800" dirty="0"/>
              <a:t>) is the inverse of the </a:t>
            </a:r>
            <a:r>
              <a:rPr sz="1800" b="1" dirty="0"/>
              <a:t>confidence ellipse </a:t>
            </a:r>
            <a:r>
              <a:rPr sz="1800" dirty="0"/>
              <a:t>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
        <p:nvSpPr>
          <p:cNvPr id="6" name="Slide Number Placeholder 6"/>
          <p:cNvSpPr>
            <a:spLocks noGrp="1"/>
          </p:cNvSpPr>
          <p:nvPr>
            <p:ph type="sldNum" sz="quarter" idx="12"/>
          </p:nvPr>
        </p:nvSpPr>
        <p:spPr/>
        <p:txBody>
          <a:bodyPr/>
          <a:lstStyle/>
          <a:p>
            <a:fld id="{9BFB2853-4965-4727-91C4-384EB30D99A4}" type="slidenum">
              <a:rPr lang="en-CA"/>
              <a:t>38</a:t>
            </a:fld>
            <a:endParaRPr lang="en-CA"/>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fontScale="90000"/>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a:t>
            </a:r>
            <a:r>
              <a:rPr lang="en-US" sz="2000" b="1" dirty="0"/>
              <a:t>Heart</a:t>
            </a:r>
            <a:r>
              <a:rPr lang="en-US" sz="2000" dirty="0"/>
              <a: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a:t>
            </a:r>
            <a:r>
              <a:rPr lang="en-US" sz="2000" b="1" dirty="0"/>
              <a:t>Stress</a:t>
            </a:r>
            <a:r>
              <a:rPr lang="en-US" sz="2000" dirty="0"/>
              <a:t>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 </a:t>
            </a:r>
            <a:r>
              <a:rPr lang="en-US" sz="2000" dirty="0">
                <a:sym typeface="Symbol"/>
              </a:rPr>
              <a:t>(middle)</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
        <p:nvSpPr>
          <p:cNvPr id="9" name="Slide Number Placeholder 9"/>
          <p:cNvSpPr>
            <a:spLocks noGrp="1"/>
          </p:cNvSpPr>
          <p:nvPr>
            <p:ph type="sldNum" sz="quarter" idx="12"/>
          </p:nvPr>
        </p:nvSpPr>
        <p:spPr/>
        <p:txBody>
          <a:bodyPr/>
          <a:lstStyle/>
          <a:p>
            <a:fld id="{9BFB2853-4965-4727-91C4-384EB30D99A4}" type="slidenum">
              <a:rPr lang="en-CA"/>
              <a:t>39</a:t>
            </a:fld>
            <a:endParaRPr lang="en-CA"/>
          </a:p>
        </p:txBody>
      </p:sp>
    </p:spTree>
    <p:extLst>
      <p:ext uri="{BB962C8B-B14F-4D97-AF65-F5344CB8AC3E}">
        <p14:creationId xmlns:p14="http://schemas.microsoft.com/office/powerpoint/2010/main" val="26152795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
        <p:nvSpPr>
          <p:cNvPr id="9" name="Rectangle: Rounded Corners 8">
            <a:extLst>
              <a:ext uri="{FF2B5EF4-FFF2-40B4-BE49-F238E27FC236}">
                <a16:creationId xmlns:a16="http://schemas.microsoft.com/office/drawing/2014/main" id="{D3927502-F632-50FE-450B-56A90E4BBE19}"/>
              </a:ext>
            </a:extLst>
          </p:cNvPr>
          <p:cNvSpPr/>
          <p:nvPr/>
        </p:nvSpPr>
        <p:spPr>
          <a:xfrm>
            <a:off x="704088" y="2123441"/>
            <a:ext cx="4268745" cy="130556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Slide Number Placeholder 16"/>
          <p:cNvSpPr>
            <a:spLocks noGrp="1"/>
          </p:cNvSpPr>
          <p:nvPr>
            <p:ph type="sldNum" sz="quarter" idx="12"/>
          </p:nvPr>
        </p:nvSpPr>
        <p:spPr/>
        <p:txBody>
          <a:bodyPr/>
          <a:lstStyle/>
          <a:p>
            <a:fld id="{9BFB2853-4965-4727-91C4-384EB30D99A4}" type="slidenum">
              <a:rPr lang="en-CA"/>
              <a:t>40</a:t>
            </a:fld>
            <a:endParaRPr lang="en-CA"/>
          </a:p>
        </p:txBody>
      </p:sp>
      <p:sp>
        <p:nvSpPr>
          <p:cNvPr id="11" name="TextBox 10">
            <a:extLst>
              <a:ext uri="{FF2B5EF4-FFF2-40B4-BE49-F238E27FC236}">
                <a16:creationId xmlns:a16="http://schemas.microsoft.com/office/drawing/2014/main" id="{F61BB919-0FD5-32D0-E561-01CDB3546DA9}"/>
              </a:ext>
            </a:extLst>
          </p:cNvPr>
          <p:cNvSpPr txBox="1"/>
          <p:nvPr/>
        </p:nvSpPr>
        <p:spPr>
          <a:xfrm>
            <a:off x="6375399" y="5727700"/>
            <a:ext cx="5493793" cy="369332"/>
          </a:xfrm>
          <a:prstGeom prst="rect">
            <a:avLst/>
          </a:prstGeom>
          <a:noFill/>
        </p:spPr>
        <p:txBody>
          <a:bodyPr wrap="square" rtlCol="0">
            <a:spAutoFit/>
          </a:bodyPr>
          <a:lstStyle/>
          <a:p>
            <a:r>
              <a:rPr lang="en-CA" dirty="0">
                <a:sym typeface="Symbol" panose="05050102010706020507" pitchFamily="18" charset="2"/>
              </a:rPr>
              <a:t></a:t>
            </a:r>
            <a:r>
              <a:rPr lang="en-CA" dirty="0"/>
              <a:t> Engine size too highly correlated with #cylinders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rPr lang="en-CA" dirty="0"/>
              <a:t>Penalize large </a:t>
            </a:r>
            <a:r>
              <a:rPr dirty="0"/>
              <a:t>coefficients</a:t>
            </a:r>
            <a:endParaRPr lang="en-CA" dirty="0"/>
          </a:p>
          <a:p>
            <a:endParaRPr lang="en-CA" dirty="0"/>
          </a:p>
          <a:p>
            <a:pPr marL="0" indent="0">
              <a:buNone/>
            </a:pPr>
            <a:endParaRPr dirty="0"/>
          </a:p>
          <a:p>
            <a:r>
              <a:rPr dirty="0"/>
              <a:t>The estimate moves from the OLS solution toward the origin</a:t>
            </a:r>
            <a:endParaRPr lang="en-CA" dirty="0"/>
          </a:p>
          <a:p>
            <a:pPr marL="0" indent="0">
              <a:buNone/>
            </a:pPr>
            <a:endParaRPr dirty="0"/>
          </a:p>
          <a:p>
            <a:endParaRPr lang="en-CA" dirty="0"/>
          </a:p>
          <a:p>
            <a:r>
              <a:rPr dirty="0"/>
              <a:t>A little bias buys a lot of precision</a:t>
            </a:r>
            <a:endParaRPr lang="en-CA" dirty="0"/>
          </a:p>
          <a:p>
            <a:r>
              <a:rPr lang="en-CA" dirty="0"/>
              <a:t>But how can we see this?</a:t>
            </a:r>
            <a:endParaRPr dirty="0"/>
          </a:p>
        </p:txBody>
      </p:sp>
      <p:pic>
        <p:nvPicPr>
          <p:cNvPr id="4" name="Picture 3" descr="ridge-demo.png"/>
          <p:cNvPicPr>
            <a:picLocks noChangeAspect="1"/>
          </p:cNvPicPr>
          <p:nvPr/>
        </p:nvPicPr>
        <p:blipFill>
          <a:blip r:embed="rId3"/>
          <a:stretch>
            <a:fillRect/>
          </a:stretch>
        </p:blipFill>
        <p:spPr>
          <a:xfrm>
            <a:off x="71541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249214"/>
            <a:ext cx="785973" cy="91440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41</a:t>
            </a:fld>
            <a:endParaRPr lang="en-CA"/>
          </a:p>
        </p:txBody>
      </p:sp>
      <p:pic>
        <p:nvPicPr>
          <p:cNvPr id="9" name="Picture 8">
            <a:extLst>
              <a:ext uri="{FF2B5EF4-FFF2-40B4-BE49-F238E27FC236}">
                <a16:creationId xmlns:a16="http://schemas.microsoft.com/office/drawing/2014/main" id="{06BB3B1E-62D5-F501-2F5B-B0FE38DF84E2}"/>
              </a:ext>
            </a:extLst>
          </p:cNvPr>
          <p:cNvPicPr>
            <a:picLocks noChangeAspect="1"/>
          </p:cNvPicPr>
          <p:nvPr/>
        </p:nvPicPr>
        <p:blipFill>
          <a:blip r:embed="rId5"/>
          <a:stretch>
            <a:fillRect/>
          </a:stretch>
        </p:blipFill>
        <p:spPr>
          <a:xfrm>
            <a:off x="1109060" y="2166937"/>
            <a:ext cx="4639880" cy="512763"/>
          </a:xfrm>
          <a:prstGeom prst="rect">
            <a:avLst/>
          </a:prstGeom>
        </p:spPr>
      </p:pic>
      <p:pic>
        <p:nvPicPr>
          <p:cNvPr id="11" name="Picture 10">
            <a:extLst>
              <a:ext uri="{FF2B5EF4-FFF2-40B4-BE49-F238E27FC236}">
                <a16:creationId xmlns:a16="http://schemas.microsoft.com/office/drawing/2014/main" id="{1D9680AE-D87E-4B0F-4CB1-68B664499F24}"/>
              </a:ext>
            </a:extLst>
          </p:cNvPr>
          <p:cNvPicPr>
            <a:picLocks noChangeAspect="1"/>
          </p:cNvPicPr>
          <p:nvPr/>
        </p:nvPicPr>
        <p:blipFill>
          <a:blip r:embed="rId6"/>
          <a:stretch>
            <a:fillRect/>
          </a:stretch>
        </p:blipFill>
        <p:spPr>
          <a:xfrm>
            <a:off x="1506716" y="3717448"/>
            <a:ext cx="3844568" cy="710883"/>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a:xfrm>
            <a:off x="838200" y="1643063"/>
            <a:ext cx="4470400" cy="4533900"/>
          </a:xfrm>
        </p:spPr>
        <p:txBody>
          <a:bodyPr/>
          <a:lstStyle/>
          <a:p>
            <a:r>
              <a:rPr dirty="0"/>
              <a:t>Longley data: six highly collinear economic predictors</a:t>
            </a:r>
          </a:p>
          <a:p>
            <a:r>
              <a:rPr dirty="0"/>
              <a:t>Coefficients plotted against shrinkage constant</a:t>
            </a:r>
            <a:r>
              <a:rPr lang="en-CA" dirty="0"/>
              <a:t> (k)</a:t>
            </a:r>
            <a:endParaRPr dirty="0"/>
          </a:p>
          <a:p>
            <a:r>
              <a:rPr dirty="0"/>
              <a:t>Shows the bias, but nothing about precision</a:t>
            </a:r>
            <a:endParaRPr lang="en-CA" dirty="0"/>
          </a:p>
          <a:p>
            <a:r>
              <a:rPr lang="en-CA" dirty="0"/>
              <a:t>The </a:t>
            </a:r>
            <a:r>
              <a:rPr lang="en-CA" b="1" dirty="0"/>
              <a:t>wrong plot </a:t>
            </a:r>
            <a:r>
              <a:rPr lang="en-CA" dirty="0"/>
              <a:t>for a </a:t>
            </a:r>
            <a:r>
              <a:rPr lang="en-CA" b="1" dirty="0"/>
              <a:t>multivariate</a:t>
            </a:r>
            <a:r>
              <a:rPr lang="en-CA" dirty="0"/>
              <a:t> problem</a:t>
            </a:r>
            <a:endParaRPr dirty="0"/>
          </a:p>
        </p:txBody>
      </p:sp>
      <p:pic>
        <p:nvPicPr>
          <p:cNvPr id="4" name="Picture 3" descr="fig-longley-traceplot1-1.png"/>
          <p:cNvPicPr>
            <a:picLocks noChangeAspect="1"/>
          </p:cNvPicPr>
          <p:nvPr/>
        </p:nvPicPr>
        <p:blipFill>
          <a:blip r:embed="rId3"/>
          <a:stretch>
            <a:fillRect/>
          </a:stretch>
        </p:blipFill>
        <p:spPr>
          <a:xfrm>
            <a:off x="5463958" y="1484021"/>
            <a:ext cx="6083390" cy="4345279"/>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dirty="0">
                <a:solidFill>
                  <a:srgbClr val="707070"/>
                </a:solidFill>
              </a:rPr>
              <a:t>Figure 9.10</a:t>
            </a:r>
          </a:p>
        </p:txBody>
      </p:sp>
      <p:sp>
        <p:nvSpPr>
          <p:cNvPr id="6" name="Slide Number Placeholder 6"/>
          <p:cNvSpPr>
            <a:spLocks noGrp="1"/>
          </p:cNvSpPr>
          <p:nvPr>
            <p:ph type="sldNum" sz="quarter" idx="12"/>
          </p:nvPr>
        </p:nvSpPr>
        <p:spPr/>
        <p:txBody>
          <a:bodyPr/>
          <a:lstStyle/>
          <a:p>
            <a:fld id="{9BFB2853-4965-4727-91C4-384EB30D99A4}" type="slidenum">
              <a:rPr lang="en-CA"/>
              <a:t>42</a:t>
            </a:fld>
            <a:endParaRPr lang="en-CA"/>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846278" y="274493"/>
            <a:ext cx="748963" cy="864000"/>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065102" y="274493"/>
            <a:ext cx="742652" cy="86400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43</a:t>
            </a:fld>
            <a:endParaRPr lang="en-CA"/>
          </a:p>
        </p:txBody>
      </p:sp>
      <p:sp>
        <p:nvSpPr>
          <p:cNvPr id="3" name="Ridge trace text">
            <a:extLst>
              <a:ext uri="{FF2B5EF4-FFF2-40B4-BE49-F238E27FC236}">
                <a16:creationId xmlns:a16="http://schemas.microsoft.com/office/drawing/2014/main" id="{EB4DA955-7513-38EC-BDAB-83557A336B2D}"/>
              </a:ext>
            </a:extLst>
          </p:cNvPr>
          <p:cNvSpPr txBox="1"/>
          <p:nvPr/>
        </p:nvSpPr>
        <p:spPr>
          <a:xfrm>
            <a:off x="838200" y="1168400"/>
            <a:ext cx="10541000" cy="1682512"/>
          </a:xfrm>
          <a:prstGeom prst="rect">
            <a:avLst/>
          </a:prstGeom>
          <a:noFill/>
        </p:spPr>
        <p:txBody>
          <a:bodyPr vert="horz" wrap="square" rtlCol="0">
            <a:spAutoFit/>
          </a:bodyPr>
          <a:lstStyle/>
          <a:p>
            <a:pPr>
              <a:spcAft>
                <a:spcPts val="800"/>
              </a:spcAft>
            </a:pPr>
            <a:r>
              <a:rPr lang="en-CA" dirty="0">
                <a:solidFill>
                  <a:srgbClr val="262626"/>
                </a:solidFill>
                <a:latin typeface="Aptos" panose="020B0004020202020204" pitchFamily="34" charset="0"/>
              </a:rPr>
              <a:t>Rather than plotting just the univariate trajectories of </a:t>
            </a:r>
            <a:r>
              <a:rPr lang="en-CA" b="1" dirty="0">
                <a:solidFill>
                  <a:srgbClr val="262626"/>
                </a:solidFill>
                <a:latin typeface="Cambria Math" panose="02040503050406030204" pitchFamily="18" charset="0"/>
              </a:rPr>
              <a:t>𝛽</a:t>
            </a:r>
            <a:r>
              <a:rPr lang="en-CA" baseline="-25000" dirty="0">
                <a:solidFill>
                  <a:srgbClr val="262626"/>
                </a:solidFill>
                <a:latin typeface="Cambria Math" panose="02040503050406030204" pitchFamily="18" charset="0"/>
              </a:rPr>
              <a:t>𝑘</a:t>
            </a:r>
            <a:r>
              <a:rPr lang="en-CA" dirty="0">
                <a:solidFill>
                  <a:srgbClr val="262626"/>
                </a:solidFill>
                <a:latin typeface="Aptos" panose="020B0004020202020204" pitchFamily="34" charset="0"/>
              </a:rPr>
              <a:t> vs. </a:t>
            </a:r>
            <a:r>
              <a:rPr lang="en-CA" dirty="0">
                <a:solidFill>
                  <a:srgbClr val="262626"/>
                </a:solidFill>
                <a:latin typeface="Cambria Math" panose="02040503050406030204" pitchFamily="18" charset="0"/>
              </a:rPr>
              <a:t>𝑘</a:t>
            </a:r>
            <a:r>
              <a:rPr lang="en-CA" dirty="0">
                <a:solidFill>
                  <a:srgbClr val="262626"/>
                </a:solidFill>
                <a:latin typeface="Aptos" panose="020B0004020202020204" pitchFamily="34" charset="0"/>
              </a:rPr>
              <a:t>, plot the covariance </a:t>
            </a:r>
            <a:r>
              <a:rPr lang="en-CA" dirty="0">
                <a:solidFill>
                  <a:srgbClr val="E8221B"/>
                </a:solidFill>
                <a:latin typeface="Aptos" panose="020B0004020202020204" pitchFamily="34" charset="0"/>
              </a:rPr>
              <a:t>ellipses</a:t>
            </a:r>
            <a:r>
              <a:rPr lang="en-CA" dirty="0">
                <a:solidFill>
                  <a:srgbClr val="262626"/>
                </a:solidFill>
                <a:latin typeface="Aptos" panose="020B0004020202020204" pitchFamily="34" charset="0"/>
              </a:rPr>
              <a:t> of </a:t>
            </a:r>
            <a:r>
              <a:rPr lang="el-GR" b="1" dirty="0">
                <a:solidFill>
                  <a:srgbClr val="262626"/>
                </a:solidFill>
                <a:latin typeface="Cambria Math" panose="02040503050406030204" pitchFamily="18" charset="0"/>
              </a:rPr>
              <a:t>Σ</a:t>
            </a:r>
            <a:r>
              <a:rPr lang="el-GR" baseline="-25000" dirty="0">
                <a:solidFill>
                  <a:srgbClr val="262626"/>
                </a:solidFill>
                <a:latin typeface="Cambria Math" panose="02040503050406030204" pitchFamily="18" charset="0"/>
              </a:rPr>
              <a:t>𝑘</a:t>
            </a:r>
            <a:r>
              <a:rPr lang="en-CA" dirty="0">
                <a:solidFill>
                  <a:srgbClr val="262626"/>
                </a:solidFill>
                <a:latin typeface="Cambria Math" panose="02040503050406030204" pitchFamily="18" charset="0"/>
              </a:rPr>
              <a:t> ≡ Var(</a:t>
            </a:r>
            <a:r>
              <a:rPr lang="en-CA" b="1" dirty="0">
                <a:solidFill>
                  <a:srgbClr val="262626"/>
                </a:solidFill>
                <a:latin typeface="Cambria Math" panose="02040503050406030204" pitchFamily="18" charset="0"/>
              </a:rPr>
              <a:t>𝛽</a:t>
            </a:r>
            <a:r>
              <a:rPr lang="en-CA" baseline="-25000" dirty="0">
                <a:solidFill>
                  <a:srgbClr val="262626"/>
                </a:solidFill>
                <a:latin typeface="Cambria Math" panose="02040503050406030204" pitchFamily="18" charset="0"/>
              </a:rPr>
              <a:t>𝑘</a:t>
            </a:r>
            <a:r>
              <a:rPr lang="en-CA" dirty="0">
                <a:solidFill>
                  <a:srgbClr val="262626"/>
                </a:solidFill>
                <a:latin typeface="Cambria Math" panose="02040503050406030204" pitchFamily="18" charset="0"/>
              </a:rPr>
              <a:t>)</a:t>
            </a:r>
            <a:r>
              <a:rPr lang="en-CA" dirty="0">
                <a:solidFill>
                  <a:srgbClr val="262626"/>
                </a:solidFill>
                <a:latin typeface="Aptos" panose="020B0004020202020204" pitchFamily="34" charset="0"/>
              </a:rPr>
              <a:t> over the range of </a:t>
            </a:r>
            <a:r>
              <a:rPr lang="en-CA" dirty="0">
                <a:solidFill>
                  <a:srgbClr val="262626"/>
                </a:solidFill>
                <a:latin typeface="Cambria Math" panose="02040503050406030204" pitchFamily="18" charset="0"/>
              </a:rPr>
              <a:t>𝑘</a:t>
            </a:r>
            <a:endParaRPr lang="en-CA" dirty="0">
              <a:solidFill>
                <a:srgbClr val="262626"/>
              </a:solidFill>
              <a:latin typeface="Aptos" panose="020B0004020202020204" pitchFamily="34" charset="0"/>
            </a:endParaRPr>
          </a:p>
          <a:p>
            <a:pPr marL="457200" indent="-228600">
              <a:spcAft>
                <a:spcPts val="400"/>
              </a:spcAft>
              <a:buSzPct val="100000"/>
              <a:buFont typeface="+mj-lt"/>
              <a:buChar char="•"/>
            </a:pPr>
            <a:r>
              <a:rPr lang="en-CA" dirty="0">
                <a:solidFill>
                  <a:srgbClr val="262626"/>
                </a:solidFill>
                <a:latin typeface="Aptos" panose="020B0004020202020204" pitchFamily="34" charset="0"/>
              </a:rPr>
              <a:t>Centers of the ellipses are </a:t>
            </a:r>
            <a:r>
              <a:rPr lang="en-CA" b="1" dirty="0">
                <a:solidFill>
                  <a:srgbClr val="262626"/>
                </a:solidFill>
                <a:latin typeface="Cambria Math" panose="02040503050406030204" pitchFamily="18" charset="0"/>
              </a:rPr>
              <a:t>𝛽</a:t>
            </a:r>
            <a:r>
              <a:rPr lang="en-CA" baseline="-25000" dirty="0">
                <a:solidFill>
                  <a:srgbClr val="262626"/>
                </a:solidFill>
                <a:latin typeface="Cambria Math" panose="02040503050406030204" pitchFamily="18" charset="0"/>
              </a:rPr>
              <a:t>𝑘</a:t>
            </a:r>
            <a:r>
              <a:rPr lang="en-CA" dirty="0">
                <a:solidFill>
                  <a:srgbClr val="262626"/>
                </a:solidFill>
                <a:latin typeface="Aptos" panose="020B0004020202020204" pitchFamily="34" charset="0"/>
              </a:rPr>
              <a:t> – same info as in the univariate plot</a:t>
            </a:r>
          </a:p>
          <a:p>
            <a:pPr marL="457200" indent="-228600">
              <a:spcAft>
                <a:spcPts val="400"/>
              </a:spcAft>
              <a:buSzPct val="100000"/>
              <a:buFont typeface="+mj-lt"/>
              <a:buChar char="•"/>
            </a:pPr>
            <a:r>
              <a:rPr lang="en-CA" dirty="0">
                <a:solidFill>
                  <a:srgbClr val="262626"/>
                </a:solidFill>
                <a:latin typeface="Aptos" panose="020B0004020202020204" pitchFamily="34" charset="0"/>
              </a:rPr>
              <a:t>Can see how change in one coefficient is related to changes in others</a:t>
            </a:r>
          </a:p>
          <a:p>
            <a:pPr marL="457200" indent="-228600">
              <a:spcAft>
                <a:spcPts val="400"/>
              </a:spcAft>
              <a:buSzPct val="100000"/>
              <a:buFont typeface="+mj-lt"/>
              <a:buChar char="•"/>
            </a:pPr>
            <a:r>
              <a:rPr lang="en-CA" dirty="0">
                <a:solidFill>
                  <a:srgbClr val="262626"/>
                </a:solidFill>
                <a:latin typeface="Aptos" panose="020B0004020202020204" pitchFamily="34" charset="0"/>
              </a:rPr>
              <a:t>Relative size &amp; shape of ellipsoids shows </a:t>
            </a:r>
            <a:r>
              <a:rPr lang="en-CA" dirty="0">
                <a:solidFill>
                  <a:srgbClr val="E8221B"/>
                </a:solidFill>
                <a:latin typeface="Aptos" panose="020B0004020202020204" pitchFamily="34" charset="0"/>
              </a:rPr>
              <a:t>directly</a:t>
            </a:r>
            <a:r>
              <a:rPr lang="en-CA" dirty="0">
                <a:solidFill>
                  <a:srgbClr val="262626"/>
                </a:solidFill>
                <a:latin typeface="Aptos" panose="020B0004020202020204" pitchFamily="34" charset="0"/>
              </a:rPr>
              <a:t> the effect on precision</a:t>
            </a:r>
          </a:p>
        </p:txBody>
      </p:sp>
      <p:pic>
        <p:nvPicPr>
          <p:cNvPr id="10" name="Fig 9.12 Unemployed">
            <a:extLst>
              <a:ext uri="{FF2B5EF4-FFF2-40B4-BE49-F238E27FC236}">
                <a16:creationId xmlns:a16="http://schemas.microsoft.com/office/drawing/2014/main" id="{E491A084-7F81-DB90-77FD-882552DC31C7}"/>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1778526" y="2927112"/>
            <a:ext cx="4165074" cy="3702288"/>
          </a:xfrm>
          <a:prstGeom prst="rect">
            <a:avLst/>
          </a:prstGeom>
        </p:spPr>
      </p:pic>
      <p:pic>
        <p:nvPicPr>
          <p:cNvPr id="12" name="Fig 9.12 Population">
            <a:extLst>
              <a:ext uri="{FF2B5EF4-FFF2-40B4-BE49-F238E27FC236}">
                <a16:creationId xmlns:a16="http://schemas.microsoft.com/office/drawing/2014/main" id="{BB33DA1C-51CA-BAFC-00F1-2746C30782A5}"/>
              </a:ext>
            </a:extLst>
          </p:cNvPr>
          <p:cNvPicPr>
            <a:picLocks/>
          </p:cNvPicPr>
          <p:nvPr/>
        </p:nvPicPr>
        <p:blipFill>
          <a:blip r:embed="rId6">
            <a:extLst>
              <a:ext uri="{28A0092B-C50C-407E-A947-70E740481C1C}">
                <a14:useLocalDpi xmlns:a14="http://schemas.microsoft.com/office/drawing/2010/main" val="0"/>
              </a:ext>
            </a:extLst>
          </a:blip>
          <a:stretch>
            <a:fillRect/>
          </a:stretch>
        </p:blipFill>
        <p:spPr>
          <a:xfrm>
            <a:off x="6248400" y="2927112"/>
            <a:ext cx="4165074" cy="3702288"/>
          </a:xfrm>
          <a:prstGeom prst="rect">
            <a:avLst/>
          </a:prstGeom>
        </p:spPr>
      </p:pic>
      <p:sp>
        <p:nvSpPr>
          <p:cNvPr id="14" name="Caption">
            <a:extLst>
              <a:ext uri="{FF2B5EF4-FFF2-40B4-BE49-F238E27FC236}">
                <a16:creationId xmlns:a16="http://schemas.microsoft.com/office/drawing/2014/main" id="{9C34379C-0DC1-061C-2B50-9D3437157689}"/>
              </a:ext>
            </a:extLst>
          </p:cNvPr>
          <p:cNvSpPr txBox="1"/>
          <p:nvPr/>
        </p:nvSpPr>
        <p:spPr>
          <a:xfrm>
            <a:off x="841248" y="6355080"/>
            <a:ext cx="854721" cy="261610"/>
          </a:xfrm>
          <a:prstGeom prst="rect">
            <a:avLst/>
          </a:prstGeom>
          <a:noFill/>
        </p:spPr>
        <p:txBody>
          <a:bodyPr vert="horz" wrap="none" rtlCol="0">
            <a:spAutoFit/>
          </a:bodyPr>
          <a:lstStyle/>
          <a:p>
            <a:r>
              <a:rPr lang="en-CA" sz="1100">
                <a:solidFill>
                  <a:srgbClr val="707070"/>
                </a:solidFill>
                <a:latin typeface="Aptos" panose="020B0004020202020204" pitchFamily="34" charset="0"/>
              </a:rPr>
              <a:t>Figure 9.12</a:t>
            </a:r>
          </a:p>
        </p:txBody>
      </p:sp>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2" presetClass="entr" presetSubtype="2"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anim calcmode="lin" valueType="num">
                                      <p:cBhvr additive="base">
                                        <p:cTn id="21" dur="500" fill="hold"/>
                                        <p:tgtEl>
                                          <p:spTgt spid="12"/>
                                        </p:tgtEl>
                                        <p:attrNameLst>
                                          <p:attrName>ppt_x</p:attrName>
                                        </p:attrNameLst>
                                      </p:cBhvr>
                                      <p:tavLst>
                                        <p:tav tm="0">
                                          <p:val>
                                            <p:strVal val="1+#ppt_w/2"/>
                                          </p:val>
                                        </p:tav>
                                        <p:tav tm="100000">
                                          <p:val>
                                            <p:strVal val="#ppt_x"/>
                                          </p:val>
                                        </p:tav>
                                      </p:tavLst>
                                    </p:anim>
                                    <p:anim calcmode="lin" valueType="num">
                                      <p:cBhvr additive="base">
                                        <p:cTn id="22" dur="500" fill="hold"/>
                                        <p:tgtEl>
                                          <p:spTgt spid="1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a:xfrm>
            <a:off x="838200" y="1414463"/>
            <a:ext cx="4597400" cy="4533900"/>
          </a:xfrm>
        </p:spPr>
        <p:txBody>
          <a:bodyPr/>
          <a:lstStyle/>
          <a:p>
            <a:r>
              <a:rPr dirty="0"/>
              <a:t>Transform to principal component space of the predictors</a:t>
            </a:r>
          </a:p>
          <a:p>
            <a:r>
              <a:rPr lang="en-CA" dirty="0">
                <a:sym typeface="Symbol" panose="05050102010706020507" pitchFamily="18" charset="2"/>
              </a:rPr>
              <a:t> </a:t>
            </a:r>
            <a:r>
              <a:rPr dirty="0"/>
              <a:t>Shrinkage happens mostly in the smallest dimensions</a:t>
            </a:r>
          </a:p>
        </p:txBody>
      </p:sp>
      <p:sp>
        <p:nvSpPr>
          <p:cNvPr id="5" name="TextBox 4"/>
          <p:cNvSpPr txBox="1"/>
          <p:nvPr/>
        </p:nvSpPr>
        <p:spPr>
          <a:xfrm>
            <a:off x="841248" y="6355080"/>
            <a:ext cx="2743200" cy="261610"/>
          </a:xfrm>
          <a:prstGeom prst="rect">
            <a:avLst/>
          </a:prstGeom>
          <a:noFill/>
        </p:spPr>
        <p:txBody>
          <a:bodyPr wrap="square">
            <a:spAutoFit/>
          </a:bodyPr>
          <a:lstStyle/>
          <a:p>
            <a:r>
              <a:rPr lang="en-CA" sz="1100">
                <a:solidFill>
                  <a:srgbClr val="707070"/>
                </a:solidFill>
              </a:rPr>
              <a:t>Figure 9.16</a:t>
            </a:r>
            <a:endParaRPr sz="1100">
              <a:solidFill>
                <a:srgbClr val="707070"/>
              </a:solidFill>
            </a:endParaRPr>
          </a:p>
        </p:txBody>
      </p:sp>
      <p:sp>
        <p:nvSpPr>
          <p:cNvPr id="8" name="Slide Number Placeholder 8"/>
          <p:cNvSpPr>
            <a:spLocks noGrp="1"/>
          </p:cNvSpPr>
          <p:nvPr>
            <p:ph type="sldNum" sz="quarter" idx="12"/>
          </p:nvPr>
        </p:nvSpPr>
        <p:spPr/>
        <p:txBody>
          <a:bodyPr/>
          <a:lstStyle/>
          <a:p>
            <a:fld id="{9BFB2853-4965-4727-91C4-384EB30D99A4}" type="slidenum">
              <a:rPr lang="en-CA"/>
              <a:t>44</a:t>
            </a:fld>
            <a:endParaRPr lang="en-CA"/>
          </a:p>
        </p:txBody>
      </p:sp>
      <p:pic>
        <p:nvPicPr>
          <p:cNvPr id="7" name="Fig 9.16 PCA pairs">
            <a:extLst>
              <a:ext uri="{FF2B5EF4-FFF2-40B4-BE49-F238E27FC236}">
                <a16:creationId xmlns:a16="http://schemas.microsoft.com/office/drawing/2014/main" id="{B383AC6A-BF1A-7CC4-48BE-C7E94330CB4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799836" y="1169416"/>
            <a:ext cx="5143500" cy="5143500"/>
          </a:xfrm>
          <a:prstGeom prst="rect">
            <a:avLst/>
          </a:prstGeom>
        </p:spPr>
      </p:pic>
      <p:sp>
        <p:nvSpPr>
          <p:cNvPr id="4" name="Rectangle 3">
            <a:extLst>
              <a:ext uri="{FF2B5EF4-FFF2-40B4-BE49-F238E27FC236}">
                <a16:creationId xmlns:a16="http://schemas.microsoft.com/office/drawing/2014/main" id="{580EC192-086A-F6CF-421A-001CD9968C77}"/>
              </a:ext>
            </a:extLst>
          </p:cNvPr>
          <p:cNvSpPr/>
          <p:nvPr/>
        </p:nvSpPr>
        <p:spPr>
          <a:xfrm>
            <a:off x="9236576" y="4570396"/>
            <a:ext cx="1706760" cy="174252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a:xfrm>
            <a:off x="838200" y="1414463"/>
            <a:ext cx="4597400" cy="4533900"/>
          </a:xfrm>
        </p:spPr>
        <p:txBody>
          <a:bodyPr/>
          <a:lstStyle/>
          <a:p>
            <a:r>
              <a:rPr dirty="0">
                <a:solidFill>
                  <a:schemeClr val="bg1">
                    <a:lumMod val="50000"/>
                  </a:schemeClr>
                </a:solidFill>
              </a:rPr>
              <a:t>Transform to the principal component space of the predictors</a:t>
            </a:r>
          </a:p>
          <a:p>
            <a:r>
              <a:rPr dirty="0">
                <a:solidFill>
                  <a:schemeClr val="bg1">
                    <a:lumMod val="50000"/>
                  </a:schemeClr>
                </a:solidFill>
              </a:rPr>
              <a:t>Shrinkage happens mostly in the smallest dimensions</a:t>
            </a:r>
          </a:p>
          <a:p>
            <a:r>
              <a:rPr dirty="0"/>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5524500" y="1169416"/>
            <a:ext cx="5626100" cy="562610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sp>
        <p:nvSpPr>
          <p:cNvPr id="8" name="Slide Number Placeholder 8"/>
          <p:cNvSpPr>
            <a:spLocks noGrp="1"/>
          </p:cNvSpPr>
          <p:nvPr>
            <p:ph type="sldNum" sz="quarter" idx="12"/>
          </p:nvPr>
        </p:nvSpPr>
        <p:spPr/>
        <p:txBody>
          <a:bodyPr/>
          <a:lstStyle/>
          <a:p>
            <a:fld id="{9BFB2853-4965-4727-91C4-384EB30D99A4}" type="slidenum">
              <a:rPr lang="en-CA"/>
              <a:t>45</a:t>
            </a:fld>
            <a:endParaRPr lang="en-CA"/>
          </a:p>
        </p:txBody>
      </p:sp>
    </p:spTree>
    <p:extLst>
      <p:ext uri="{BB962C8B-B14F-4D97-AF65-F5344CB8AC3E}">
        <p14:creationId xmlns:p14="http://schemas.microsoft.com/office/powerpoint/2010/main" val="20240140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4F1"/>
            </a:gs>
            <a:gs pos="100000">
              <a:srgbClr val="E4C09E"/>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1193801"/>
            <a:ext cx="10515600" cy="2852737"/>
          </a:xfrm>
        </p:spPr>
        <p:txBody>
          <a:bodyPr/>
          <a:lstStyle/>
          <a:p>
            <a:r>
              <a:rPr dirty="0"/>
              <a:t>The HE plot framework</a:t>
            </a:r>
          </a:p>
        </p:txBody>
      </p:sp>
      <p:sp>
        <p:nvSpPr>
          <p:cNvPr id="3" name="Text Placeholder 2"/>
          <p:cNvSpPr>
            <a:spLocks noGrp="1"/>
          </p:cNvSpPr>
          <p:nvPr>
            <p:ph type="body" idx="1"/>
          </p:nvPr>
        </p:nvSpPr>
        <p:spPr>
          <a:xfrm>
            <a:off x="831850" y="4203093"/>
            <a:ext cx="10515600" cy="1978762"/>
          </a:xfrm>
        </p:spPr>
        <p:txBody>
          <a:bodyPr/>
          <a:lstStyle/>
          <a:p>
            <a:r>
              <a:rPr dirty="0"/>
              <a:t>Seeing multivariate tests as ellipses</a:t>
            </a:r>
            <a:r>
              <a:rPr lang="en-CA" dirty="0"/>
              <a:t> for </a:t>
            </a:r>
            <a:r>
              <a:rPr lang="en-CA" b="1" dirty="0"/>
              <a:t>H</a:t>
            </a:r>
            <a:r>
              <a:rPr lang="en-CA" dirty="0"/>
              <a:t> and </a:t>
            </a:r>
            <a:r>
              <a:rPr lang="en-CA" b="1" dirty="0"/>
              <a:t>E</a:t>
            </a:r>
          </a:p>
          <a:p>
            <a:r>
              <a:rPr lang="en-CA" dirty="0"/>
              <a:t>Significance scaling, seeing contrasts</a:t>
            </a:r>
          </a:p>
          <a:p>
            <a:r>
              <a:rPr lang="en-CA" dirty="0"/>
              <a:t>Canonical space low-D views</a:t>
            </a:r>
          </a:p>
          <a:p>
            <a:r>
              <a:rPr lang="en-CA" dirty="0"/>
              <a:t>Discriminant analysis views</a:t>
            </a:r>
          </a:p>
          <a:p>
            <a:endParaRPr dirty="0"/>
          </a:p>
        </p:txBody>
      </p:sp>
      <p:sp>
        <p:nvSpPr>
          <p:cNvPr id="4" name="Slide Number Placeholder 4"/>
          <p:cNvSpPr>
            <a:spLocks noGrp="1"/>
          </p:cNvSpPr>
          <p:nvPr>
            <p:ph type="sldNum" sz="quarter" idx="12"/>
          </p:nvPr>
        </p:nvSpPr>
        <p:spPr/>
        <p:txBody>
          <a:bodyPr/>
          <a:lstStyle/>
          <a:p>
            <a:fld id="{9BFB2853-4965-4727-91C4-384EB30D99A4}" type="slidenum">
              <a:rPr lang="en-CA"/>
              <a:t>46</a:t>
            </a:fld>
            <a:endParaRPr lang="en-CA"/>
          </a:p>
        </p:txBody>
      </p:sp>
      <p:pic>
        <p:nvPicPr>
          <p:cNvPr id="6" name="Section 4 data ellipses illustration">
            <a:extLst>
              <a:ext uri="{FF2B5EF4-FFF2-40B4-BE49-F238E27FC236}">
                <a16:creationId xmlns:a16="http://schemas.microsoft.com/office/drawing/2014/main" id="{7B380FCD-7154-0B7D-A6E0-255C8DE0AB7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403350" y="177800"/>
            <a:ext cx="2400300" cy="2540000"/>
          </a:xfrm>
          <a:prstGeom prst="rect">
            <a:avLst/>
          </a:prstGeom>
          <a:ln w="9525">
            <a:solidFill>
              <a:srgbClr val="3A3A3A"/>
            </a:solidFill>
          </a:ln>
          <a:effectLst>
            <a:outerShdw blurRad="101600" dist="45790" dir="3378598" rotWithShape="0">
              <a:srgbClr val="000000">
                <a:alpha val="40000"/>
              </a:srgbClr>
            </a:outerShdw>
          </a:effectLst>
        </p:spPr>
      </p:pic>
      <p:sp>
        <p:nvSpPr>
          <p:cNvPr id="7" name="Section 4 arrow 1">
            <a:extLst>
              <a:ext uri="{FF2B5EF4-FFF2-40B4-BE49-F238E27FC236}">
                <a16:creationId xmlns:a16="http://schemas.microsoft.com/office/drawing/2014/main" id="{1CCD92B6-26FB-013D-DC88-6FE826830CC4}"/>
              </a:ext>
            </a:extLst>
          </p:cNvPr>
          <p:cNvSpPr/>
          <p:nvPr/>
        </p:nvSpPr>
        <p:spPr>
          <a:xfrm>
            <a:off x="3930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9" name="Section 4 HE plot illustration">
            <a:extLst>
              <a:ext uri="{FF2B5EF4-FFF2-40B4-BE49-F238E27FC236}">
                <a16:creationId xmlns:a16="http://schemas.microsoft.com/office/drawing/2014/main" id="{B7F787AC-23AB-6B54-1E07-BCF3F6C72AC9}"/>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443865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10" name="Section 4 arrow 2">
            <a:extLst>
              <a:ext uri="{FF2B5EF4-FFF2-40B4-BE49-F238E27FC236}">
                <a16:creationId xmlns:a16="http://schemas.microsoft.com/office/drawing/2014/main" id="{5A1E5CEC-78ED-FB46-6D55-461E5DBBACD9}"/>
              </a:ext>
            </a:extLst>
          </p:cNvPr>
          <p:cNvSpPr/>
          <p:nvPr/>
        </p:nvSpPr>
        <p:spPr>
          <a:xfrm>
            <a:off x="7105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2" name="Section 4 canonical HE illustration">
            <a:extLst>
              <a:ext uri="{FF2B5EF4-FFF2-40B4-BE49-F238E27FC236}">
                <a16:creationId xmlns:a16="http://schemas.microsoft.com/office/drawing/2014/main" id="{D3EA4D17-E757-DEA3-A2FA-7C6C9450EA21}"/>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7613650" y="177800"/>
            <a:ext cx="3175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Picture 7" descr="logo.png">
            <a:extLst>
              <a:ext uri="{FF2B5EF4-FFF2-40B4-BE49-F238E27FC236}">
                <a16:creationId xmlns:a16="http://schemas.microsoft.com/office/drawing/2014/main" id="{BC3BF6D1-6AE7-ECA1-86CB-536D5A53B829}"/>
              </a:ext>
            </a:extLst>
          </p:cNvPr>
          <p:cNvPicPr>
            <a:picLocks noChangeAspect="1"/>
          </p:cNvPicPr>
          <p:nvPr/>
        </p:nvPicPr>
        <p:blipFill>
          <a:blip r:embed="rId6"/>
          <a:stretch>
            <a:fillRect/>
          </a:stretch>
        </p:blipFill>
        <p:spPr>
          <a:xfrm>
            <a:off x="10788650" y="3114198"/>
            <a:ext cx="787790" cy="914400"/>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
        <p:nvSpPr>
          <p:cNvPr id="38" name="Slide Number Placeholder 38"/>
          <p:cNvSpPr>
            <a:spLocks noGrp="1"/>
          </p:cNvSpPr>
          <p:nvPr>
            <p:ph type="sldNum" sz="quarter" idx="12"/>
          </p:nvPr>
        </p:nvSpPr>
        <p:spPr/>
        <p:txBody>
          <a:bodyPr/>
          <a:lstStyle/>
          <a:p>
            <a:fld id="{9BFB2853-4965-4727-91C4-384EB30D99A4}" type="slidenum">
              <a:rPr lang="en-CA"/>
              <a:t>47</a:t>
            </a:fld>
            <a:endParaRPr lang="en-CA"/>
          </a:p>
        </p:txBody>
      </p:sp>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927100" y="3962400"/>
            <a:ext cx="10515600" cy="2285999"/>
          </a:xfrm>
        </p:spPr>
        <p:txBody>
          <a:bodyPr>
            <a:normAutofit/>
          </a:bodyPr>
          <a:lstStyle/>
          <a:p>
            <a:r>
              <a:rPr lang="en-US" sz="2000" dirty="0"/>
              <a:t>Differences </a:t>
            </a:r>
            <a:r>
              <a:rPr lang="en-US" sz="2000" b="1" dirty="0"/>
              <a:t>between group </a:t>
            </a:r>
            <a:r>
              <a:rPr lang="en-US" sz="2000" dirty="0"/>
              <a:t>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800" dirty="0"/>
              <a:t>Direction shows relation of group means to response variables</a:t>
            </a:r>
          </a:p>
          <a:p>
            <a:pPr lvl="1"/>
            <a:r>
              <a:rPr lang="en-US" sz="1800" dirty="0"/>
              <a:t>Size shows “</a:t>
            </a:r>
            <a:r>
              <a:rPr lang="en-US" sz="1800" b="1" dirty="0"/>
              <a:t>how big is H relative to E</a:t>
            </a:r>
            <a:r>
              <a:rPr lang="en-US" sz="1800" dirty="0"/>
              <a:t>” – that’s all that Wilks’ </a:t>
            </a:r>
            <a:r>
              <a:rPr lang="el-GR" sz="1800" dirty="0"/>
              <a:t>Λ</a:t>
            </a:r>
            <a:r>
              <a:rPr lang="en-CA" sz="1800" dirty="0"/>
              <a:t> and other tests care about</a:t>
            </a:r>
            <a:endParaRPr lang="en-US" sz="1800" dirty="0"/>
          </a:p>
          <a:p>
            <a:r>
              <a:rPr lang="en-US" sz="2000" dirty="0"/>
              <a:t>Variation </a:t>
            </a:r>
            <a:r>
              <a:rPr lang="en-US" sz="2000" b="1" dirty="0"/>
              <a:t>within groups </a:t>
            </a:r>
            <a:r>
              <a:rPr lang="en-US" sz="2000" dirty="0"/>
              <a:t>is reflected in the </a:t>
            </a:r>
            <a:r>
              <a:rPr lang="en-US" sz="2000" b="1" dirty="0"/>
              <a:t>E</a:t>
            </a:r>
            <a:r>
              <a:rPr lang="en-US" sz="2000" dirty="0"/>
              <a:t> ellipsoid-- data ellipsoid of the </a:t>
            </a:r>
            <a:r>
              <a:rPr lang="en-US" sz="2000" dirty="0">
                <a:solidFill>
                  <a:srgbClr val="FF0000"/>
                </a:solidFill>
              </a:rPr>
              <a:t>residuals</a:t>
            </a:r>
          </a:p>
          <a:p>
            <a:pPr lvl="1"/>
            <a:r>
              <a:rPr lang="en-US" sz="1800" dirty="0"/>
              <a:t>Direction: residual (partial) correlation between BM &amp; WP</a:t>
            </a:r>
          </a:p>
          <a:p>
            <a:pPr lvl="1"/>
            <a:r>
              <a:rPr lang="en-US" sz="18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5200" y="14478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40300" y="14478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45400" y="1219200"/>
            <a:ext cx="2743200" cy="2743200"/>
          </a:xfrm>
          <a:prstGeom prst="rect">
            <a:avLst/>
          </a:prstGeom>
        </p:spPr>
      </p:pic>
      <p:cxnSp>
        <p:nvCxnSpPr>
          <p:cNvPr id="9" name="Straight Arrow Connector 8"/>
          <p:cNvCxnSpPr/>
          <p:nvPr/>
        </p:nvCxnSpPr>
        <p:spPr>
          <a:xfrm>
            <a:off x="4292600" y="18288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6959600" y="19753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2" name="Slide Number Placeholder 12"/>
          <p:cNvSpPr>
            <a:spLocks noGrp="1"/>
          </p:cNvSpPr>
          <p:nvPr>
            <p:ph type="sldNum" sz="quarter" idx="12"/>
          </p:nvPr>
        </p:nvSpPr>
        <p:spPr/>
        <p:txBody>
          <a:bodyPr/>
          <a:lstStyle/>
          <a:p>
            <a:fld id="{9BFB2853-4965-4727-91C4-384EB30D99A4}" type="slidenum">
              <a:rPr lang="en-CA"/>
              <a:t>48</a:t>
            </a:fld>
            <a:endParaRPr lang="en-CA"/>
          </a:p>
        </p:txBody>
      </p:sp>
    </p:spTree>
    <p:extLst>
      <p:ext uri="{BB962C8B-B14F-4D97-AF65-F5344CB8AC3E}">
        <p14:creationId xmlns:p14="http://schemas.microsoft.com/office/powerpoint/2010/main" val="114728400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a:t>
            </a:r>
            <a:r>
              <a:rPr lang="en-US" b="1" dirty="0"/>
              <a:t>data ellipse of the fitted values </a:t>
            </a:r>
            <a:r>
              <a:rPr lang="en-US" dirty="0"/>
              <a:t>(group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12446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77000" y="1244600"/>
            <a:ext cx="3200400" cy="3200400"/>
          </a:xfrm>
          <a:prstGeom prst="rect">
            <a:avLst/>
          </a:prstGeom>
        </p:spPr>
      </p:pic>
      <p:cxnSp>
        <p:nvCxnSpPr>
          <p:cNvPr id="7" name="Straight Arrow Connector 6"/>
          <p:cNvCxnSpPr/>
          <p:nvPr/>
        </p:nvCxnSpPr>
        <p:spPr>
          <a:xfrm>
            <a:off x="5334000" y="20828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9677400" y="1641236"/>
            <a:ext cx="2006600" cy="1169551"/>
          </a:xfrm>
          <a:prstGeom prst="rect">
            <a:avLst/>
          </a:prstGeom>
          <a:noFill/>
        </p:spPr>
        <p:txBody>
          <a:bodyPr wrap="square" rtlCol="0">
            <a:spAutoFit/>
          </a:bodyPr>
          <a:lstStyle/>
          <a:p>
            <a:r>
              <a:rPr lang="en-US" sz="1400" dirty="0"/>
              <a:t>Jittered fitted values</a:t>
            </a:r>
          </a:p>
          <a:p>
            <a:r>
              <a:rPr lang="en-US" sz="1400" dirty="0"/>
              <a:t>(</a:t>
            </a:r>
            <a:r>
              <a:rPr lang="en-US" sz="1400" dirty="0" err="1"/>
              <a:t>gp</a:t>
            </a:r>
            <a:r>
              <a:rPr lang="en-US" sz="1400" dirty="0"/>
              <a:t> means)</a:t>
            </a:r>
          </a:p>
          <a:p>
            <a:endParaRPr lang="en-US" sz="1400" dirty="0"/>
          </a:p>
          <a:p>
            <a:r>
              <a:rPr lang="en-US" sz="1400" b="1" dirty="0"/>
              <a:t>H</a:t>
            </a:r>
            <a:r>
              <a:rPr lang="en-US" sz="1400" dirty="0"/>
              <a:t> ellipse is a line (1 </a:t>
            </a:r>
            <a:r>
              <a:rPr lang="en-US" sz="1400" dirty="0" err="1"/>
              <a:t>df</a:t>
            </a:r>
            <a:r>
              <a:rPr lang="en-US" sz="1400" dirty="0"/>
              <a:t>)</a:t>
            </a:r>
          </a:p>
          <a:p>
            <a:endParaRPr lang="en-US" sz="1400" dirty="0"/>
          </a:p>
        </p:txBody>
      </p:sp>
      <p:graphicFrame>
        <p:nvGraphicFramePr>
          <p:cNvPr id="9" name="Object 8"/>
          <p:cNvGraphicFramePr>
            <a:graphicFrameLocks noChangeAspect="1"/>
          </p:cNvGraphicFramePr>
          <p:nvPr>
            <p:extLst>
              <p:ext uri="{D42A27DB-BD31-4B8C-83A1-F6EECF244321}">
                <p14:modId xmlns:p14="http://schemas.microsoft.com/office/powerpoint/2010/main" val="1526914968"/>
              </p:ext>
            </p:extLst>
          </p:nvPr>
        </p:nvGraphicFramePr>
        <p:xfrm>
          <a:off x="4650424" y="5562600"/>
          <a:ext cx="2891151" cy="797559"/>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4650424" y="5562600"/>
                        <a:ext cx="2891151" cy="797559"/>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7620000" y="1785699"/>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8315249" y="3022758"/>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12"/>
          <p:cNvSpPr>
            <a:spLocks noGrp="1"/>
          </p:cNvSpPr>
          <p:nvPr>
            <p:ph type="sldNum" sz="quarter" idx="12"/>
          </p:nvPr>
        </p:nvSpPr>
        <p:spPr/>
        <p:txBody>
          <a:bodyPr/>
          <a:lstStyle/>
          <a:p>
            <a:fld id="{9BFB2853-4965-4727-91C4-384EB30D99A4}" type="slidenum">
              <a:rPr lang="en-CA"/>
              <a:t>49</a:t>
            </a:fld>
            <a:endParaRPr lang="en-CA"/>
          </a:p>
        </p:txBody>
      </p:sp>
      <p:cxnSp>
        <p:nvCxnSpPr>
          <p:cNvPr id="13" name="Straight Arrow Connector 12">
            <a:extLst>
              <a:ext uri="{FF2B5EF4-FFF2-40B4-BE49-F238E27FC236}">
                <a16:creationId xmlns:a16="http://schemas.microsoft.com/office/drawing/2014/main" id="{2E2F7F2D-2F7A-0CD1-45C8-64CA415671A6}"/>
              </a:ext>
            </a:extLst>
          </p:cNvPr>
          <p:cNvCxnSpPr/>
          <p:nvPr/>
        </p:nvCxnSpPr>
        <p:spPr>
          <a:xfrm flipH="1">
            <a:off x="8407400" y="2443400"/>
            <a:ext cx="1270000" cy="3125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88017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4165600"/>
            <a:ext cx="10515600" cy="1377462"/>
          </a:xfrm>
        </p:spPr>
        <p:txBody>
          <a:bodyPr>
            <a:normAutofit/>
          </a:bodyPr>
          <a:lstStyle/>
          <a:p>
            <a:r>
              <a:rPr lang="en-US" dirty="0"/>
              <a:t>The </a:t>
            </a:r>
            <a:r>
              <a:rPr lang="en-US" b="1" dirty="0"/>
              <a:t>E</a:t>
            </a:r>
            <a:r>
              <a:rPr lang="en-US" dirty="0"/>
              <a:t> ellipse is the </a:t>
            </a:r>
            <a:r>
              <a:rPr lang="en-US" b="1" dirty="0"/>
              <a:t>data ellipse  of the residuals </a:t>
            </a:r>
          </a:p>
          <a:p>
            <a:pPr lvl="1"/>
            <a:r>
              <a:rPr lang="en-US" dirty="0"/>
              <a:t>What you get when you subtract the group means from all observations, shifting them to the grand means.</a:t>
            </a:r>
          </a:p>
          <a:p>
            <a:pPr lvl="1"/>
            <a:r>
              <a:rPr lang="en-US" b="1" dirty="0"/>
              <a:t>E</a:t>
            </a:r>
            <a:r>
              <a:rPr lang="en-US" dirty="0"/>
              <a:t> matrix is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65300" y="1314938"/>
            <a:ext cx="2520000" cy="2520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895850" y="1314938"/>
            <a:ext cx="2520000" cy="2520000"/>
          </a:xfrm>
          <a:prstGeom prst="rect">
            <a:avLst/>
          </a:prstGeom>
        </p:spPr>
      </p:pic>
      <p:cxnSp>
        <p:nvCxnSpPr>
          <p:cNvPr id="8" name="Straight Arrow Connector 7"/>
          <p:cNvCxnSpPr/>
          <p:nvPr/>
        </p:nvCxnSpPr>
        <p:spPr>
          <a:xfrm>
            <a:off x="4064000" y="18835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026400" y="1314938"/>
            <a:ext cx="2520000" cy="2520000"/>
          </a:xfrm>
          <a:prstGeom prst="rect">
            <a:avLst/>
          </a:prstGeom>
        </p:spPr>
      </p:pic>
      <p:cxnSp>
        <p:nvCxnSpPr>
          <p:cNvPr id="11" name="Straight Arrow Connector 10"/>
          <p:cNvCxnSpPr/>
          <p:nvPr/>
        </p:nvCxnSpPr>
        <p:spPr>
          <a:xfrm>
            <a:off x="7416800" y="18923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793821314"/>
              </p:ext>
            </p:extLst>
          </p:nvPr>
        </p:nvGraphicFramePr>
        <p:xfrm>
          <a:off x="4138800" y="5733562"/>
          <a:ext cx="4395600" cy="799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4138800" y="5733562"/>
                        <a:ext cx="4395600" cy="799200"/>
                      </a:xfrm>
                      <a:prstGeom prst="rect">
                        <a:avLst/>
                      </a:prstGeom>
                    </p:spPr>
                  </p:pic>
                </p:oleObj>
              </mc:Fallback>
            </mc:AlternateContent>
          </a:graphicData>
        </a:graphic>
      </p:graphicFrame>
      <p:sp>
        <p:nvSpPr>
          <p:cNvPr id="13" name="Slide Number Placeholder 13"/>
          <p:cNvSpPr>
            <a:spLocks noGrp="1"/>
          </p:cNvSpPr>
          <p:nvPr>
            <p:ph type="sldNum" sz="quarter" idx="12"/>
          </p:nvPr>
        </p:nvSpPr>
        <p:spPr/>
        <p:txBody>
          <a:bodyPr/>
          <a:lstStyle/>
          <a:p>
            <a:fld id="{9BFB2853-4965-4727-91C4-384EB30D99A4}" type="slidenum">
              <a:rPr lang="en-CA"/>
              <a:t>50</a:t>
            </a:fld>
            <a:endParaRPr lang="en-CA"/>
          </a:p>
        </p:txBody>
      </p:sp>
    </p:spTree>
    <p:extLst>
      <p:ext uri="{BB962C8B-B14F-4D97-AF65-F5344CB8AC3E}">
        <p14:creationId xmlns:p14="http://schemas.microsoft.com/office/powerpoint/2010/main" val="379674940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8" name="HE effect scaling" descr="peng-HE-signif-1-effect.png">
            <a:extLst>
              <a:ext uri="{FF2B5EF4-FFF2-40B4-BE49-F238E27FC236}">
                <a16:creationId xmlns:a16="http://schemas.microsoft.com/office/drawing/2014/main" id="{E52D8C80-6FB5-0801-CE7E-54F9C8C8197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56833" y="1579126"/>
            <a:ext cx="3931920" cy="3931920"/>
          </a:xfrm>
          <a:prstGeom prst="rect">
            <a:avLst/>
          </a:prstGeom>
        </p:spPr>
      </p:pic>
      <p:pic>
        <p:nvPicPr>
          <p:cNvPr id="10" name="HE significance scaling" descr="peng-HE-signif-2-signif.png">
            <a:extLst>
              <a:ext uri="{FF2B5EF4-FFF2-40B4-BE49-F238E27FC236}">
                <a16:creationId xmlns:a16="http://schemas.microsoft.com/office/drawing/2014/main" id="{BDA2070B-83BC-8C83-D612-81E98AD00E4E}"/>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4488753" y="1579126"/>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 centering</a:t>
            </a:r>
          </a:p>
          <a:p>
            <a:endParaRPr lang="en-CA" dirty="0"/>
          </a:p>
          <a:p>
            <a:r>
              <a:rPr lang="en-CA" b="1" dirty="0"/>
              <a:t>Direction of H vs. E </a:t>
            </a:r>
            <a:r>
              <a:rPr lang="en-CA" dirty="0"/>
              <a:t>shows how groups differ in a data-space view</a:t>
            </a:r>
          </a:p>
          <a:p>
            <a:endParaRPr lang="en-CA" dirty="0"/>
          </a:p>
          <a:p>
            <a:r>
              <a:rPr lang="en-CA" b="1" dirty="0"/>
              <a:t>Significance scaling</a:t>
            </a:r>
            <a:r>
              <a:rPr lang="en-CA" dirty="0"/>
              <a:t>: Scale H so an H ellipse that projects </a:t>
            </a:r>
            <a:r>
              <a:rPr lang="en-CA" b="1" dirty="0"/>
              <a:t>outside</a:t>
            </a:r>
            <a:r>
              <a:rPr lang="en-CA" dirty="0"/>
              <a:t> E signals a significant effect (Roy's test).</a:t>
            </a:r>
          </a:p>
        </p:txBody>
      </p:sp>
      <p:sp>
        <p:nvSpPr>
          <p:cNvPr id="7" name="Slide Number Placeholder 7"/>
          <p:cNvSpPr>
            <a:spLocks noGrp="1"/>
          </p:cNvSpPr>
          <p:nvPr>
            <p:ph type="sldNum" sz="quarter" idx="12"/>
          </p:nvPr>
        </p:nvSpPr>
        <p:spPr/>
        <p:txBody>
          <a:bodyPr/>
          <a:lstStyle/>
          <a:p>
            <a:fld id="{9BFB2853-4965-4727-91C4-384EB30D99A4}" type="slidenum">
              <a:rPr lang="en-CA"/>
              <a:t>51</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000"/>
                                        <p:tgtEl>
                                          <p:spTgt spid="10"/>
                                        </p:tgtEl>
                                      </p:cBhvr>
                                    </p:animEffect>
                                    <p:anim calcmode="lin" valueType="num">
                                      <p:cBhvr>
                                        <p:cTn id="8" dur="1000" fill="hold"/>
                                        <p:tgtEl>
                                          <p:spTgt spid="10"/>
                                        </p:tgtEl>
                                        <p:attrNameLst>
                                          <p:attrName>ppt_x</p:attrName>
                                        </p:attrNameLst>
                                      </p:cBhvr>
                                      <p:tavLst>
                                        <p:tav tm="0">
                                          <p:val>
                                            <p:strVal val="#ppt_x"/>
                                          </p:val>
                                        </p:tav>
                                        <p:tav tm="100000">
                                          <p:val>
                                            <p:strVal val="#ppt_x"/>
                                          </p:val>
                                        </p:tav>
                                      </p:tavLst>
                                    </p:anim>
                                    <p:anim calcmode="lin" valueType="num">
                                      <p:cBhvr>
                                        <p:cTn id="9" dur="1000" fill="hold"/>
                                        <p:tgtEl>
                                          <p:spTgt spid="10"/>
                                        </p:tgtEl>
                                        <p:attrNameLst>
                                          <p:attrName>ppt_y</p:attrName>
                                        </p:attrNameLst>
                                      </p:cBhvr>
                                      <p:tavLst>
                                        <p:tav tm="0">
                                          <p:val>
                                            <p:strVal val="#ppt_y+.1"/>
                                          </p:val>
                                        </p:tav>
                                        <p:tav tm="100000">
                                          <p:val>
                                            <p:strVal val="#ppt_y"/>
                                          </p:val>
                                        </p:tav>
                                      </p:tavLst>
                                    </p:anim>
                                  </p:childTnLst>
                                </p:cTn>
                              </p:par>
                              <p:par>
                                <p:cTn id="10" presetID="1" presetClass="entr" presetSubtype="0" fill="hold" nodeType="withEffect">
                                  <p:stCondLst>
                                    <p:cond delay="0"/>
                                  </p:stCondLst>
                                  <p:childTnLst>
                                    <p:set>
                                      <p:cBhvr>
                                        <p:cTn id="11"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a:t>
            </a:r>
            <a:r>
              <a:rPr lang="en-CA" b="1" dirty="0"/>
              <a:t>H</a:t>
            </a:r>
            <a:r>
              <a:rPr lang="en-CA" dirty="0"/>
              <a:t>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pPr lvl="1"/>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
        <p:nvSpPr>
          <p:cNvPr id="6" name="Slide Number Placeholder 6"/>
          <p:cNvSpPr>
            <a:spLocks noGrp="1"/>
          </p:cNvSpPr>
          <p:nvPr>
            <p:ph type="sldNum" sz="quarter" idx="12"/>
          </p:nvPr>
        </p:nvSpPr>
        <p:spPr/>
        <p:txBody>
          <a:bodyPr/>
          <a:lstStyle/>
          <a:p>
            <a:fld id="{9BFB2853-4965-4727-91C4-384EB30D99A4}" type="slidenum">
              <a:rPr lang="en-CA"/>
              <a:t>52</a:t>
            </a:fld>
            <a:endParaRPr lang="en-CA"/>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4" name="TextBox 3"/>
          <p:cNvSpPr txBox="1"/>
          <p:nvPr/>
        </p:nvSpPr>
        <p:spPr>
          <a:xfrm>
            <a:off x="950026" y="1219201"/>
            <a:ext cx="10525050" cy="707886"/>
          </a:xfrm>
          <a:prstGeom prst="rect">
            <a:avLst/>
          </a:prstGeom>
          <a:noFill/>
        </p:spPr>
        <p:txBody>
          <a:bodyPr wrap="square" rtlCol="0">
            <a:spAutoFit/>
          </a:bodyPr>
          <a:lstStyle/>
          <a:p>
            <a:r>
              <a:rPr lang="en-US" sz="2000" dirty="0"/>
              <a:t>The </a:t>
            </a:r>
            <a:r>
              <a:rPr lang="en-US" sz="2000" dirty="0">
                <a:solidFill>
                  <a:schemeClr val="accent6">
                    <a:lumMod val="50000"/>
                  </a:schemeClr>
                </a:solidFill>
                <a:latin typeface="Lucida Console" panose="020B0609040504020204" pitchFamily="49" charset="0"/>
              </a:rPr>
              <a:t>pairs() </a:t>
            </a:r>
            <a:r>
              <a:rPr lang="en-US" sz="2000" dirty="0"/>
              <a:t>method for </a:t>
            </a:r>
            <a:r>
              <a:rPr lang="en-US" sz="2000" dirty="0" err="1"/>
              <a:t>mlm</a:t>
            </a:r>
            <a:r>
              <a:rPr lang="en-US" sz="2000" dirty="0"/>
              <a:t> objects gives all pairwise HE plots in a scatterplot matrix format in </a:t>
            </a:r>
            <a:r>
              <a:rPr lang="en-US" sz="2000" dirty="0">
                <a:solidFill>
                  <a:srgbClr val="FF0000"/>
                </a:solidFill>
              </a:rPr>
              <a:t>data space</a:t>
            </a:r>
            <a:r>
              <a:rPr lang="en-US" sz="2000"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latin typeface="Consolas" panose="020B0609020204030204" pitchFamily="49" charset="0"/>
              </a:rPr>
              <a:t>pairs(peng.mod,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lide Number Placeholder 12"/>
          <p:cNvSpPr>
            <a:spLocks noGrp="1"/>
          </p:cNvSpPr>
          <p:nvPr>
            <p:ph type="sldNum" sz="quarter" idx="12"/>
          </p:nvPr>
        </p:nvSpPr>
        <p:spPr/>
        <p:txBody>
          <a:bodyPr/>
          <a:lstStyle/>
          <a:p>
            <a:fld id="{9BFB2853-4965-4727-91C4-384EB30D99A4}" type="slidenum">
              <a:rPr lang="en-CA"/>
              <a:t>53</a:t>
            </a:fld>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a:bodyPr>
          <a:lstStyle/>
          <a:p>
            <a:r>
              <a:rPr lang="en-CA" dirty="0"/>
              <a:t>NLSY data: 243 children from the National Longitudinal Survey of Youth</a:t>
            </a:r>
            <a:endParaRPr dirty="0"/>
          </a:p>
          <a:p>
            <a:pPr lvl="1"/>
            <a:r>
              <a:rPr lang="en-CA" dirty="0"/>
              <a:t>Outcomes: reading, math</a:t>
            </a:r>
            <a:endParaRPr dirty="0"/>
          </a:p>
          <a:p>
            <a:pPr lvl="1"/>
            <a:r>
              <a:rPr lang="en-CA" dirty="0"/>
              <a:t>Predictors: father’s income &amp; education</a:t>
            </a:r>
            <a:endParaRPr dirty="0"/>
          </a:p>
          <a:p>
            <a:r>
              <a:rPr b="1" dirty="0"/>
              <a:t>Length</a:t>
            </a:r>
            <a:r>
              <a:rPr dirty="0"/>
              <a:t>: the strength of the relationship</a:t>
            </a:r>
          </a:p>
          <a:p>
            <a:r>
              <a:rPr b="1" dirty="0"/>
              <a:t>Direction</a:t>
            </a:r>
            <a:r>
              <a:rPr dirty="0"/>
              <a:t>: how the predictor relates to the two responses</a:t>
            </a:r>
          </a:p>
          <a:p>
            <a:r>
              <a:rPr lang="en-CA" b="1" dirty="0"/>
              <a:t>O</a:t>
            </a:r>
            <a:r>
              <a:rPr b="1" dirty="0" err="1"/>
              <a:t>verall</a:t>
            </a:r>
            <a:r>
              <a:rPr b="1" dirty="0"/>
              <a:t> test </a:t>
            </a:r>
            <a:r>
              <a:rPr dirty="0"/>
              <a:t>is the</a:t>
            </a:r>
            <a:r>
              <a:rPr lang="en-CA" dirty="0"/>
              <a:t> </a:t>
            </a:r>
            <a:r>
              <a:rPr lang="en-CA" b="1" dirty="0"/>
              <a:t>H</a:t>
            </a:r>
            <a:r>
              <a:rPr dirty="0"/>
              <a:t> ellipse for all predictors jointly</a:t>
            </a:r>
            <a:r>
              <a:rPr lang="en-CA" dirty="0"/>
              <a:t>, H</a:t>
            </a:r>
            <a:r>
              <a:rPr lang="en-CA" baseline="-25000" dirty="0"/>
              <a:t>0</a:t>
            </a:r>
            <a:r>
              <a:rPr lang="en-CA" dirty="0"/>
              <a:t> : </a:t>
            </a:r>
            <a:r>
              <a:rPr lang="en-CA" b="1" dirty="0"/>
              <a:t>B</a:t>
            </a:r>
            <a:r>
              <a:rPr lang="en-CA" dirty="0"/>
              <a:t> = </a:t>
            </a:r>
            <a:r>
              <a:rPr lang="en-CA" b="1" dirty="0"/>
              <a:t>0</a:t>
            </a:r>
            <a:endParaRPr b="1" dirty="0"/>
          </a:p>
        </p:txBody>
      </p:sp>
      <p:pic>
        <p:nvPicPr>
          <p:cNvPr id="7" name="NLSY HE overall" descr="NLSY-HE-overall.png">
            <a:extLst>
              <a:ext uri="{FF2B5EF4-FFF2-40B4-BE49-F238E27FC236}">
                <a16:creationId xmlns:a16="http://schemas.microsoft.com/office/drawing/2014/main" id="{FD320DB8-06C2-841C-E34C-8174AE36D5A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91224" y="1439863"/>
            <a:ext cx="4896000" cy="4896000"/>
          </a:xfrm>
          <a:prstGeom prst="rect">
            <a:avLst/>
          </a:prstGeom>
        </p:spPr>
      </p:pic>
      <p:sp>
        <p:nvSpPr>
          <p:cNvPr id="5" name="TextBox 4"/>
          <p:cNvSpPr txBox="1"/>
          <p:nvPr/>
        </p:nvSpPr>
        <p:spPr>
          <a:xfrm>
            <a:off x="841248" y="6355080"/>
            <a:ext cx="2743200" cy="261610"/>
          </a:xfrm>
          <a:prstGeom prst="rect">
            <a:avLst/>
          </a:prstGeom>
          <a:noFill/>
        </p:spPr>
        <p:txBody>
          <a:bodyPr wrap="square">
            <a:spAutoFit/>
          </a:bodyPr>
          <a:lstStyle/>
          <a:p>
            <a:r>
              <a:rPr lang="en-CA" sz="1100">
                <a:solidFill>
                  <a:srgbClr val="707070"/>
                </a:solidFill>
              </a:rPr>
              <a:t>Figure 12.16</a:t>
            </a:r>
            <a:endParaRPr sz="1100">
              <a:solidFill>
                <a:srgbClr val="707070"/>
              </a:solidFill>
            </a:endParaRPr>
          </a:p>
        </p:txBody>
      </p:sp>
      <p:sp>
        <p:nvSpPr>
          <p:cNvPr id="6" name="Slide Number Placeholder 6"/>
          <p:cNvSpPr>
            <a:spLocks noGrp="1"/>
          </p:cNvSpPr>
          <p:nvPr>
            <p:ph type="sldNum" sz="quarter" idx="12"/>
          </p:nvPr>
        </p:nvSpPr>
        <p:spPr/>
        <p:txBody>
          <a:bodyPr/>
          <a:lstStyle/>
          <a:p>
            <a:fld id="{9BFB2853-4965-4727-91C4-384EB30D99A4}" type="slidenum">
              <a:rPr lang="en-CA"/>
              <a:t>54</a:t>
            </a:fld>
            <a:endParaRPr lang="en-CA"/>
          </a:p>
        </p:txBody>
      </p:sp>
    </p:spTree>
    <p:extLst>
      <p:ext uri="{BB962C8B-B14F-4D97-AF65-F5344CB8AC3E}">
        <p14:creationId xmlns:p14="http://schemas.microsoft.com/office/powerpoint/2010/main" val="97344499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1025591"/>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1025591"/>
                <a:ext cx="9372600" cy="2011678"/>
              </a:xfrm>
              <a:blipFill>
                <a:blip r:embed="rId3"/>
                <a:stretch>
                  <a:fillRect l="-586" t="-2727" b="-5455"/>
                </a:stretch>
              </a:blipFill>
            </p:spPr>
            <p:txBody>
              <a:bodyPr/>
              <a:lstStyle/>
              <a:p>
                <a:r>
                  <a:rPr lang="en-CA">
                    <a:noFill/>
                  </a:rPr>
                  <a:t> </a:t>
                </a:r>
              </a:p>
            </p:txBody>
          </p:sp>
        </mc:Fallback>
      </mc:AlternateContent>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
        <p:nvSpPr>
          <p:cNvPr id="11" name="Slide Number Placeholder 11"/>
          <p:cNvSpPr>
            <a:spLocks noGrp="1"/>
          </p:cNvSpPr>
          <p:nvPr>
            <p:ph type="sldNum" sz="quarter" idx="12"/>
          </p:nvPr>
        </p:nvSpPr>
        <p:spPr/>
        <p:txBody>
          <a:bodyPr/>
          <a:lstStyle/>
          <a:p>
            <a:fld id="{9BFB2853-4965-4727-91C4-384EB30D99A4}" type="slidenum">
              <a:rPr lang="en-CA"/>
              <a:t>55</a:t>
            </a:fld>
            <a:endParaRPr lang="en-CA"/>
          </a:p>
        </p:txBody>
      </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3942080"/>
          </a:xfrm>
          <a:prstGeom prst="rect">
            <a:avLst/>
          </a:prstGeom>
          <a:noFill/>
        </p:spPr>
        <p:txBody>
          <a:bodyPr wrap="square" anchor="ctr">
            <a:noAutofit/>
          </a:bodyPr>
          <a:lstStyle/>
          <a:p>
            <a:r>
              <a:rPr lang="en-CA" sz="2400" dirty="0"/>
              <a:t>Like a MANOVA flipped, so that group is the outcome, rather than a predictor.</a:t>
            </a:r>
          </a:p>
          <a:p>
            <a:endParaRPr lang="en-CA" sz="2400" dirty="0"/>
          </a:p>
          <a:p>
            <a:r>
              <a:rPr lang="en-CA" sz="2400" dirty="0"/>
              <a:t>Emphasis is on prediction</a:t>
            </a:r>
          </a:p>
          <a:p>
            <a:endParaRPr lang="en-CA" sz="2400" dirty="0"/>
          </a:p>
          <a:p>
            <a:r>
              <a:rPr sz="2400" dirty="0"/>
              <a:t>Find the directions that best separate the groups, then classify by distance to the group means.</a:t>
            </a:r>
          </a:p>
        </p:txBody>
      </p:sp>
      <p:sp>
        <p:nvSpPr>
          <p:cNvPr id="5" name="Slide Number Placeholder 5"/>
          <p:cNvSpPr>
            <a:spLocks noGrp="1"/>
          </p:cNvSpPr>
          <p:nvPr>
            <p:ph type="sldNum" sz="quarter" idx="12"/>
          </p:nvPr>
        </p:nvSpPr>
        <p:spPr/>
        <p:txBody>
          <a:bodyPr/>
          <a:lstStyle/>
          <a:p>
            <a:fld id="{9BFB2853-4965-4727-91C4-384EB30D99A4}" type="slidenum">
              <a:rPr lang="en-CA"/>
              <a:t>56</a:t>
            </a:fld>
            <a:endParaRPr lang="en-CA"/>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011936" y="1051560"/>
            <a:ext cx="10168128" cy="508406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
        <p:nvSpPr>
          <p:cNvPr id="5" name="Slide Number Placeholder 5"/>
          <p:cNvSpPr>
            <a:spLocks noGrp="1"/>
          </p:cNvSpPr>
          <p:nvPr>
            <p:ph type="sldNum" sz="quarter" idx="12"/>
          </p:nvPr>
        </p:nvSpPr>
        <p:spPr/>
        <p:txBody>
          <a:bodyPr/>
          <a:lstStyle/>
          <a:p>
            <a:fld id="{9BFB2853-4965-4727-91C4-384EB30D99A4}" type="slidenum">
              <a:rPr lang="en-CA"/>
              <a:t>57</a:t>
            </a:fld>
            <a:endParaRPr lang="en-CA"/>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fig-peng-LD-biplot-1.png"/>
          <p:cNvPicPr>
            <a:picLocks noChangeAspect="1"/>
          </p:cNvPicPr>
          <p:nvPr/>
        </p:nvPicPr>
        <p:blipFill>
          <a:blip r:embed="rId3"/>
          <a:stretch>
            <a:fillRect/>
          </a:stretch>
        </p:blipFill>
        <p:spPr>
          <a:xfrm>
            <a:off x="5344668" y="913955"/>
            <a:ext cx="6148832" cy="6148832"/>
          </a:xfrm>
          <a:prstGeom prst="rect">
            <a:avLst/>
          </a:prstGeom>
        </p:spPr>
      </p:pic>
      <p:sp>
        <p:nvSpPr>
          <p:cNvPr id="2" name="Title 1"/>
          <p:cNvSpPr>
            <a:spLocks noGrp="1"/>
          </p:cNvSpPr>
          <p:nvPr>
            <p:ph type="title"/>
          </p:nvPr>
        </p:nvSpPr>
        <p:spPr/>
        <p:txBody>
          <a:bodyPr/>
          <a:lstStyle/>
          <a:p>
            <a:r>
              <a:rPr lang="en-CA" dirty="0"/>
              <a:t>Biplot version of</a:t>
            </a:r>
            <a:r>
              <a:rPr dirty="0"/>
              <a:t> discriminant space</a:t>
            </a:r>
          </a:p>
        </p:txBody>
      </p:sp>
      <p:sp>
        <p:nvSpPr>
          <p:cNvPr id="3" name="Content Placeholder 2"/>
          <p:cNvSpPr>
            <a:spLocks noGrp="1"/>
          </p:cNvSpPr>
          <p:nvPr>
            <p:ph sz="half" idx="1"/>
          </p:nvPr>
        </p:nvSpPr>
        <p:spPr>
          <a:xfrm>
            <a:off x="838200" y="1643063"/>
            <a:ext cx="4051300" cy="4533900"/>
          </a:xfrm>
        </p:spPr>
        <p:txBody>
          <a:bodyPr/>
          <a:lstStyle/>
          <a:p>
            <a:r>
              <a:rPr dirty="0"/>
              <a:t>With three species, two discriminant dimensions show everything</a:t>
            </a:r>
          </a:p>
          <a:p>
            <a:r>
              <a:rPr dirty="0"/>
              <a:t>Variable vectors show which</a:t>
            </a:r>
            <a:r>
              <a:rPr lang="en-CA" dirty="0"/>
              <a:t>/how</a:t>
            </a:r>
            <a:r>
              <a:rPr dirty="0"/>
              <a:t> measures separate the species</a:t>
            </a:r>
          </a:p>
        </p:txBody>
      </p:sp>
      <p:sp>
        <p:nvSpPr>
          <p:cNvPr id="5" name="Slide Number Placeholder 5"/>
          <p:cNvSpPr>
            <a:spLocks noGrp="1"/>
          </p:cNvSpPr>
          <p:nvPr>
            <p:ph type="sldNum" sz="quarter" idx="12"/>
          </p:nvPr>
        </p:nvSpPr>
        <p:spPr/>
        <p:txBody>
          <a:bodyPr/>
          <a:lstStyle/>
          <a:p>
            <a:fld id="{9BFB2853-4965-4727-91C4-384EB30D99A4}" type="slidenum">
              <a:rPr lang="en-CA"/>
              <a:t>58</a:t>
            </a:fld>
            <a:endParaRPr lang="en-CA"/>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3F2"/>
            </a:gs>
            <a:gs pos="100000">
              <a:srgbClr val="D5A79F"/>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Checking multivariate models</a:t>
            </a:r>
          </a:p>
        </p:txBody>
      </p:sp>
      <p:sp>
        <p:nvSpPr>
          <p:cNvPr id="3" name="Text Placeholder 2"/>
          <p:cNvSpPr>
            <a:spLocks noGrp="1"/>
          </p:cNvSpPr>
          <p:nvPr>
            <p:ph type="body" idx="1"/>
          </p:nvPr>
        </p:nvSpPr>
        <p:spPr/>
        <p:txBody>
          <a:bodyPr/>
          <a:lstStyle/>
          <a:p>
            <a:r>
              <a:t>Outliers, influence and robust estimation</a:t>
            </a:r>
          </a:p>
        </p:txBody>
      </p:sp>
      <p:sp>
        <p:nvSpPr>
          <p:cNvPr id="4" name="Slide Number Placeholder 4"/>
          <p:cNvSpPr>
            <a:spLocks noGrp="1"/>
          </p:cNvSpPr>
          <p:nvPr>
            <p:ph type="sldNum" sz="quarter" idx="12"/>
          </p:nvPr>
        </p:nvSpPr>
        <p:spPr/>
        <p:txBody>
          <a:bodyPr/>
          <a:lstStyle/>
          <a:p>
            <a:fld id="{9BFB2853-4965-4727-91C4-384EB30D99A4}" type="slidenum">
              <a:rPr lang="en-CA"/>
              <a:t>59</a:t>
            </a:fld>
            <a:endParaRPr lang="en-CA"/>
          </a:p>
        </p:txBody>
      </p:sp>
      <p:pic>
        <p:nvPicPr>
          <p:cNvPr id="6" name="Section 5 distance plot illustration">
            <a:extLst>
              <a:ext uri="{FF2B5EF4-FFF2-40B4-BE49-F238E27FC236}">
                <a16:creationId xmlns:a16="http://schemas.microsoft.com/office/drawing/2014/main" id="{0777FA3B-8D44-90EA-D59D-839F74A26C3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986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5 influence plot illustration">
            <a:extLst>
              <a:ext uri="{FF2B5EF4-FFF2-40B4-BE49-F238E27FC236}">
                <a16:creationId xmlns:a16="http://schemas.microsoft.com/office/drawing/2014/main" id="{03253DAC-5419-8E24-983A-467810AD806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3180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5 robust weights illustration">
            <a:extLst>
              <a:ext uri="{FF2B5EF4-FFF2-40B4-BE49-F238E27FC236}">
                <a16:creationId xmlns:a16="http://schemas.microsoft.com/office/drawing/2014/main" id="{7E28064A-8C94-8376-8B79-57AA4D3E0F28}"/>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137400" y="177800"/>
            <a:ext cx="3556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5" name="Skip button">
            <a:hlinkClick r:id="rId5" action="ppaction://hlinksldjump" tooltip="Skip to the Summary"/>
            <a:extLst>
              <a:ext uri="{FF2B5EF4-FFF2-40B4-BE49-F238E27FC236}">
                <a16:creationId xmlns:a16="http://schemas.microsoft.com/office/drawing/2014/main" id="{F78AA1F5-529E-396F-08FF-44854CACF41A}"/>
              </a:ext>
            </a:extLst>
          </p:cNvPr>
          <p:cNvSpPr/>
          <p:nvPr/>
        </p:nvSpPr>
        <p:spPr>
          <a:xfrm>
            <a:off x="177800" y="6426200"/>
            <a:ext cx="1219200" cy="304800"/>
          </a:xfrm>
          <a:prstGeom prst="roundRect">
            <a:avLst/>
          </a:prstGeom>
          <a:solidFill>
            <a:srgbClr val="FFFFFF">
              <a:alpha val="65000"/>
            </a:srgbClr>
          </a:solidFill>
          <a:ln w="9525">
            <a:solidFill>
              <a:srgbClr val="3A4A5C"/>
            </a:solidFill>
          </a:ln>
        </p:spPr>
        <p:style>
          <a:lnRef idx="2">
            <a:schemeClr val="accent1">
              <a:shade val="15000"/>
            </a:schemeClr>
          </a:lnRef>
          <a:fillRef idx="1">
            <a:schemeClr val="accent1"/>
          </a:fillRef>
          <a:effectRef idx="0">
            <a:schemeClr val="accent1"/>
          </a:effectRef>
          <a:fontRef idx="minor">
            <a:schemeClr val="lt1"/>
          </a:fontRef>
        </p:style>
        <p:txBody>
          <a:bodyPr wrap="none" lIns="50800" tIns="0" rIns="50800" bIns="0" rtlCol="0" anchor="ctr"/>
          <a:lstStyle/>
          <a:p>
            <a:pPr algn="ctr"/>
            <a:r>
              <a:rPr lang="en-CA" sz="1300">
                <a:solidFill>
                  <a:srgbClr val="3A4A5C"/>
                </a:solidFill>
                <a:latin typeface="Aptos" panose="020B0004020202020204" pitchFamily="34" charset="0"/>
              </a:rPr>
              <a:t>Skip this ⏭</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b="1" dirty="0"/>
              <a:t>Distance plot</a:t>
            </a:r>
            <a:r>
              <a:rPr sz="1800" dirty="0"/>
              <a: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462213"/>
          </a:xfrm>
          <a:prstGeom prst="rect">
            <a:avLst/>
          </a:prstGeom>
          <a:noFill/>
        </p:spPr>
        <p:txBody>
          <a:bodyPr wrap="square">
            <a:spAutoFit/>
          </a:bodyPr>
          <a:lstStyle/>
          <a:p>
            <a:pPr marL="228600" indent="-228600">
              <a:spcAft>
                <a:spcPts val="400"/>
              </a:spcAft>
              <a:buFont typeface="Arial"/>
              <a:buChar char="•"/>
            </a:pPr>
            <a:r>
              <a:rPr sz="1800" b="1" dirty="0"/>
              <a:t>Influence plot</a:t>
            </a:r>
            <a:r>
              <a:rPr sz="1800" dirty="0"/>
              <a:t>: bubble size ~ multivariate Cook’s D</a:t>
            </a:r>
          </a:p>
          <a:p>
            <a:pPr marL="228600" indent="-228600">
              <a:spcAft>
                <a:spcPts val="400"/>
              </a:spcAft>
              <a:buFont typeface="Arial"/>
              <a:buChar char="•"/>
            </a:pPr>
            <a:r>
              <a:rPr sz="1800" b="1" dirty="0">
                <a:solidFill>
                  <a:srgbClr val="FF0000"/>
                </a:solidFill>
              </a:rPr>
              <a:t>44, 59</a:t>
            </a:r>
            <a:r>
              <a:rPr sz="1800" dirty="0"/>
              <a:t>: high leverage and influential</a:t>
            </a:r>
          </a:p>
          <a:p>
            <a:pPr marL="228600" indent="-228600">
              <a:spcAft>
                <a:spcPts val="400"/>
              </a:spcAft>
              <a:buFont typeface="Arial"/>
              <a:buChar char="•"/>
            </a:pPr>
            <a:r>
              <a:rPr sz="1800" b="1" dirty="0">
                <a:solidFill>
                  <a:srgbClr val="0000FF"/>
                </a:solidFill>
              </a:rPr>
              <a:t>35</a:t>
            </a:r>
            <a:r>
              <a:rPr sz="1800" dirty="0"/>
              <a:t>: an outlier, but little influence</a:t>
            </a:r>
          </a:p>
          <a:p>
            <a:pPr marL="228600" indent="-228600">
              <a:spcAft>
                <a:spcPts val="400"/>
              </a:spcAft>
              <a:buFont typeface="Arial"/>
              <a:buChar char="•"/>
            </a:pPr>
            <a:r>
              <a:rPr sz="1800" b="1" dirty="0">
                <a:solidFill>
                  <a:srgbClr val="006400"/>
                </a:solidFill>
              </a:rPr>
              <a:t>66</a:t>
            </a:r>
            <a:r>
              <a:rPr sz="1800" dirty="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
        <p:nvSpPr>
          <p:cNvPr id="11" name="Slide Number Placeholder 11"/>
          <p:cNvSpPr>
            <a:spLocks noGrp="1"/>
          </p:cNvSpPr>
          <p:nvPr>
            <p:ph type="sldNum" sz="quarter" idx="12"/>
          </p:nvPr>
        </p:nvSpPr>
        <p:spPr/>
        <p:txBody>
          <a:bodyPr/>
          <a:lstStyle/>
          <a:p>
            <a:fld id="{9BFB2853-4965-4727-91C4-384EB30D99A4}" type="slidenum">
              <a:rPr lang="en-CA"/>
              <a:t>60</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endParaRPr lang="en-CA" dirty="0"/>
          </a:p>
          <a:p>
            <a:r>
              <a:rPr dirty="0"/>
              <a:t>The most influential case is our Chinstrap friend 'Cyrano'</a:t>
            </a:r>
          </a:p>
          <a:p>
            <a:r>
              <a:t>'</a:t>
            </a:r>
            <a:r>
              <a:rPr lang="en-CA"/>
              <a:t>Snub Nose</a:t>
            </a:r>
            <a:r>
              <a:t>', </a:t>
            </a:r>
            <a:r>
              <a:rPr dirty="0"/>
              <a:t>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
        <p:nvSpPr>
          <p:cNvPr id="6" name="Slide Number Placeholder 6"/>
          <p:cNvSpPr>
            <a:spLocks noGrp="1"/>
          </p:cNvSpPr>
          <p:nvPr>
            <p:ph type="sldNum" sz="quarter" idx="12"/>
          </p:nvPr>
        </p:nvSpPr>
        <p:spPr/>
        <p:txBody>
          <a:bodyPr/>
          <a:lstStyle/>
          <a:p>
            <a:fld id="{9BFB2853-4965-4727-91C4-384EB30D99A4}" type="slidenum">
              <a:rPr lang="en-CA"/>
              <a:t>61</a:t>
            </a:fld>
            <a:endParaRPr lang="en-CA"/>
          </a:p>
        </p:txBody>
      </p:sp>
      <p:pic>
        <p:nvPicPr>
          <p:cNvPr id="8" name="Picture 7" descr="logo.png">
            <a:extLst>
              <a:ext uri="{FF2B5EF4-FFF2-40B4-BE49-F238E27FC236}">
                <a16:creationId xmlns:a16="http://schemas.microsoft.com/office/drawing/2014/main" id="{8C078AC7-B6BA-1224-6A60-13C7E3AC7D34}"/>
              </a:ext>
            </a:extLst>
          </p:cNvPr>
          <p:cNvPicPr>
            <a:picLocks noChangeAspect="1"/>
          </p:cNvPicPr>
          <p:nvPr/>
        </p:nvPicPr>
        <p:blipFill>
          <a:blip r:embed="rId4"/>
          <a:stretch>
            <a:fillRect/>
          </a:stretch>
        </p:blipFill>
        <p:spPr>
          <a:xfrm>
            <a:off x="10794221" y="228600"/>
            <a:ext cx="788179" cy="91440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a:t>
            </a:r>
            <a:r>
              <a:rPr lang="en-CA"/>
              <a:t>Snub Nose</a:t>
            </a:r>
            <a:r>
              <a:t> gets 0.13</a:t>
            </a:r>
          </a:p>
        </p:txBody>
      </p:sp>
      <p:pic>
        <p:nvPicPr>
          <p:cNvPr id="9" name="Picture 3" descr="fig-peng-robmlm-plot-1.png">
            <a:extLst>
              <a:ext uri="{FF2B5EF4-FFF2-40B4-BE49-F238E27FC236}">
                <a16:creationId xmlns:a16="http://schemas.microsoft.com/office/drawing/2014/main" id="{5F48EC4D-C76D-2692-B5DC-0AE6EFE9081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818091" y="1643063"/>
            <a:ext cx="5860732" cy="418623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
        <p:nvSpPr>
          <p:cNvPr id="6" name="Slide Number Placeholder 6"/>
          <p:cNvSpPr>
            <a:spLocks noGrp="1"/>
          </p:cNvSpPr>
          <p:nvPr>
            <p:ph type="sldNum" sz="quarter" idx="12"/>
          </p:nvPr>
        </p:nvSpPr>
        <p:spPr/>
        <p:txBody>
          <a:bodyPr/>
          <a:lstStyle/>
          <a:p>
            <a:fld id="{9BFB2853-4965-4727-91C4-384EB30D99A4}" type="slidenum">
              <a:rPr lang="en-CA"/>
              <a:t>62</a:t>
            </a:fld>
            <a:endParaRPr lang="en-CA"/>
          </a:p>
        </p:txBody>
      </p:sp>
      <p:pic>
        <p:nvPicPr>
          <p:cNvPr id="8" name="Picture 7" descr="logo.png">
            <a:extLst>
              <a:ext uri="{FF2B5EF4-FFF2-40B4-BE49-F238E27FC236}">
                <a16:creationId xmlns:a16="http://schemas.microsoft.com/office/drawing/2014/main" id="{8CEF84B3-671E-E514-73B1-77B869BE814F}"/>
              </a:ext>
            </a:extLst>
          </p:cNvPr>
          <p:cNvPicPr>
            <a:picLocks noChangeAspect="1"/>
          </p:cNvPicPr>
          <p:nvPr/>
        </p:nvPicPr>
        <p:blipFill>
          <a:blip r:embed="rId4"/>
          <a:stretch>
            <a:fillRect/>
          </a:stretch>
        </p:blipFill>
        <p:spPr>
          <a:xfrm>
            <a:off x="10794610" y="217170"/>
            <a:ext cx="787790" cy="914400"/>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a:t>
            </a:r>
            <a:r>
              <a:rPr lang="en-CA" dirty="0"/>
              <a:t>visual </a:t>
            </a:r>
            <a:r>
              <a:rPr dirty="0"/>
              <a:t>ideas go a long way</a:t>
            </a:r>
          </a:p>
        </p:txBody>
      </p:sp>
      <p:sp>
        <p:nvSpPr>
          <p:cNvPr id="3" name="Content Placeholder 2"/>
          <p:cNvSpPr>
            <a:spLocks noGrp="1"/>
          </p:cNvSpPr>
          <p:nvPr>
            <p:ph idx="1"/>
          </p:nvPr>
        </p:nvSpPr>
        <p:spPr/>
        <p:txBody>
          <a:bodyPr/>
          <a:lstStyle/>
          <a:p>
            <a:r>
              <a:rPr b="1" dirty="0"/>
              <a:t>Ellipses</a:t>
            </a:r>
            <a:r>
              <a:rPr dirty="0"/>
              <a:t>: for data, for coefficients, and for hypotheses and error</a:t>
            </a:r>
            <a:endParaRPr lang="en-CA" dirty="0"/>
          </a:p>
          <a:p>
            <a:r>
              <a:rPr lang="en-CA" b="1" dirty="0"/>
              <a:t>Visual thinning</a:t>
            </a:r>
            <a:r>
              <a:rPr lang="en-CA" dirty="0"/>
              <a:t>: summarize, so the message can be seen</a:t>
            </a:r>
            <a:endParaRPr dirty="0"/>
          </a:p>
          <a:p>
            <a:r>
              <a:rPr b="1" dirty="0"/>
              <a:t>Projections</a:t>
            </a:r>
            <a:r>
              <a:rPr dirty="0"/>
              <a:t>: every plot is a view; choose the views that answer the question</a:t>
            </a:r>
            <a:endParaRPr lang="en-CA" dirty="0"/>
          </a:p>
          <a:p>
            <a:r>
              <a:rPr lang="en-CA" b="1" dirty="0"/>
              <a:t>Geometry</a:t>
            </a:r>
            <a:r>
              <a:rPr lang="en-CA" dirty="0"/>
              <a:t>: provides the connective tissue to understand relations in different, equivalent spaces.</a:t>
            </a:r>
            <a:endParaRPr dirty="0"/>
          </a:p>
          <a:p>
            <a:r>
              <a:rPr b="1" dirty="0"/>
              <a:t>Low-</a:t>
            </a:r>
            <a:r>
              <a:rPr lang="en-CA" b="1" dirty="0"/>
              <a:t>D</a:t>
            </a:r>
            <a:r>
              <a:rPr b="1" dirty="0"/>
              <a:t> views</a:t>
            </a:r>
            <a:r>
              <a:rPr dirty="0"/>
              <a:t>: biplots and canonical plots show many variables in the space that matters</a:t>
            </a:r>
          </a:p>
          <a:p>
            <a:r>
              <a:rPr dirty="0"/>
              <a:t>Multivariate models deserve graphs as good as those for a single response</a:t>
            </a:r>
          </a:p>
        </p:txBody>
      </p:sp>
      <p:sp>
        <p:nvSpPr>
          <p:cNvPr id="4" name="Slide Number Placeholder 4"/>
          <p:cNvSpPr>
            <a:spLocks noGrp="1"/>
          </p:cNvSpPr>
          <p:nvPr>
            <p:ph type="sldNum" sz="quarter" idx="12"/>
          </p:nvPr>
        </p:nvSpPr>
        <p:spPr/>
        <p:txBody>
          <a:bodyPr/>
          <a:lstStyle/>
          <a:p>
            <a:fld id="{9BFB2853-4965-4727-91C4-384EB30D99A4}" type="slidenum">
              <a:rPr lang="en-CA"/>
              <a:t>63</a:t>
            </a:fld>
            <a:endParaRPr lang="en-CA"/>
          </a:p>
        </p:txBody>
      </p:sp>
    </p:spTree>
  </p:cSld>
  <p:clrMapOvr>
    <a:masterClrMapping/>
  </p:clrMapOvr>
  <mc:AlternateContent xmlns:mc="http://schemas.openxmlformats.org/markup-compatibility/2006" xmlns:p14="http://schemas.microsoft.com/office/powerpoint/2010/main">
    <mc:Choice Requires="p14">
      <p:transition spd="slow" p14:dur="1600">
        <p14:prism isContent="1" isInverted="1"/>
      </p:transition>
    </mc:Choice>
    <mc:Fallback xmlns="">
      <p:transition spd="slow">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p>
          <a:p>
            <a:r>
              <a:rPr lang="en-CA" dirty="0"/>
              <a:t>Blogs &amp; random musings: </a:t>
            </a:r>
            <a:r>
              <a:rPr lang="en-CA" dirty="0">
                <a:hlinkClick r:id="rId4"/>
              </a:rPr>
              <a:t>https://friendly.github.io/blog/</a:t>
            </a:r>
            <a:r>
              <a:rPr lang="en-CA" dirty="0"/>
              <a:t> </a:t>
            </a:r>
            <a:endParaRPr dirty="0"/>
          </a:p>
        </p:txBody>
      </p:sp>
      <p:sp>
        <p:nvSpPr>
          <p:cNvPr id="5" name="Slide Number Placeholder 5"/>
          <p:cNvSpPr>
            <a:spLocks noGrp="1"/>
          </p:cNvSpPr>
          <p:nvPr>
            <p:ph type="sldNum" sz="quarter" idx="12"/>
          </p:nvPr>
        </p:nvSpPr>
        <p:spPr/>
        <p:txBody>
          <a:bodyPr/>
          <a:lstStyle/>
          <a:p>
            <a:fld id="{9BFB2853-4965-4727-91C4-384EB30D99A4}" type="slidenum">
              <a:rPr lang="en-CA"/>
              <a:t>64</a:t>
            </a:fld>
            <a:endParaRPr lang="en-CA"/>
          </a:p>
        </p:txBody>
      </p:sp>
      <p:pic>
        <p:nvPicPr>
          <p:cNvPr id="4" name="Picture 3" descr="cover-peng.jpg"/>
          <p:cNvPicPr>
            <a:picLocks noChangeAspect="1"/>
          </p:cNvPicPr>
          <p:nvPr/>
        </p:nvPicPr>
        <p:blipFill>
          <a:blip r:embed="rId5"/>
          <a:stretch>
            <a:fillRect/>
          </a:stretch>
        </p:blipFill>
        <p:spPr>
          <a:xfrm>
            <a:off x="8051923" y="1197734"/>
            <a:ext cx="3530477" cy="4858555"/>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65</a:t>
            </a:fld>
            <a:endParaRPr lang="en-CA"/>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7220</TotalTime>
  <Words>6268</Words>
  <Application>Microsoft Office PowerPoint</Application>
  <PresentationFormat>Widescreen</PresentationFormat>
  <Paragraphs>652</Paragraphs>
  <Slides>65</Slides>
  <Notes>63</Notes>
  <HiddenSlides>0</HiddenSlides>
  <MMClips>0</MMClips>
  <ScaleCrop>false</ScaleCrop>
  <HeadingPairs>
    <vt:vector size="8" baseType="variant">
      <vt:variant>
        <vt:lpstr>Fonts Used</vt:lpstr>
      </vt:variant>
      <vt:variant>
        <vt:i4>11</vt:i4>
      </vt:variant>
      <vt:variant>
        <vt:lpstr>Theme</vt:lpstr>
      </vt:variant>
      <vt:variant>
        <vt:i4>1</vt:i4>
      </vt:variant>
      <vt:variant>
        <vt:lpstr>Embedded OLE Servers</vt:lpstr>
      </vt:variant>
      <vt:variant>
        <vt:i4>1</vt:i4>
      </vt:variant>
      <vt:variant>
        <vt:lpstr>Slide Titles</vt:lpstr>
      </vt:variant>
      <vt:variant>
        <vt:i4>65</vt:i4>
      </vt:variant>
    </vt:vector>
  </HeadingPairs>
  <TitlesOfParts>
    <vt:vector size="78" baseType="lpstr">
      <vt:lpstr>Aptos</vt:lpstr>
      <vt:lpstr>Aptos Display</vt:lpstr>
      <vt:lpstr>Arial</vt:lpstr>
      <vt:lpstr>Cambria Math</vt:lpstr>
      <vt:lpstr>Cascadia Code</vt:lpstr>
      <vt:lpstr>Consolas</vt:lpstr>
      <vt:lpstr>Lucida Console</vt:lpstr>
      <vt:lpstr>Matura MT Script Capitals</vt:lpstr>
      <vt:lpstr>Segoe UI Emoji</vt:lpstr>
      <vt:lpstr>Symbol</vt:lpstr>
      <vt:lpstr>Wingdings</vt:lpstr>
      <vt:lpstr>Office Theme</vt:lpstr>
      <vt:lpstr>Equation</vt:lpstr>
      <vt:lpstr>Visualizing Multivariate Data and Models in R</vt:lpstr>
      <vt:lpstr>My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Type 2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Thinking about Penguin variables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Understanding collinearity</vt:lpstr>
      <vt:lpstr>Ridge regression: shrink to gain precision</vt:lpstr>
      <vt:lpstr>The usual ridge trace shows only the estimates</vt:lpstr>
      <vt:lpstr>Generalized ridge trace plots</vt:lpstr>
      <vt:lpstr>A low-rank view of ridge regression</vt:lpstr>
      <vt:lpstr>A low-rank view of ridge regression</vt:lpstr>
      <vt:lpstr>The HE plot framework</vt:lpstr>
      <vt:lpstr>HE plots: Visual overview</vt:lpstr>
      <vt:lpstr>Data  Data ellipses  HE plot</vt:lpstr>
      <vt:lpstr>The H ellipse</vt:lpstr>
      <vt:lpstr>The E ellipse</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Biplot version of discriminant space</vt:lpstr>
      <vt:lpstr>Checking multivariate models</vt:lpstr>
      <vt:lpstr>Unusual is not the same as influential</vt:lpstr>
      <vt:lpstr>Who are the influential penguins?</vt:lpstr>
      <vt:lpstr>Robust MLMs: down-weight what does not fit</vt:lpstr>
      <vt:lpstr>Summary: A few visual ideas go a long way</vt:lpstr>
      <vt:lpstr>Book, code and packages</vt:lpstr>
      <vt:lpstr>Questions? Discussion?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126</cp:revision>
  <dcterms:created xsi:type="dcterms:W3CDTF">2026-10-06T18:00:03Z</dcterms:created>
  <dcterms:modified xsi:type="dcterms:W3CDTF">2026-10-29T13:58:04Z</dcterms:modified>
</cp:coreProperties>
</file>