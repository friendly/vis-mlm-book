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6" d="100"/>
          <a:sy n="76" d="100"/>
        </p:scale>
        <p:origin x="780" y="96"/>
      </p:cViewPr>
      <p:guideLst/>
    </p:cSldViewPr>
  </p:slideViewPr>
  <p:notesTextViewPr>
    <p:cViewPr>
      <p:scale>
        <a:sx n="1" d="1"/>
        <a:sy n="1" d="1"/>
      </p:scale>
      <p:origin x="0" y="0"/>
    </p:cViewPr>
  </p:notesTextViewPr>
  <p:sorterViewPr>
    <p:cViewPr varScale="1">
      <p:scale>
        <a:sx n="100" d="100"/>
        <a:sy n="100" d="100"/>
      </p:scale>
      <p:origin x="0" y="-1258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 'elliptical insight': multivariate outliers often show up in the dimensions with the least variance.</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err="1"/>
              <a:t>Mathscore</a:t>
            </a:r>
            <a:r>
              <a:rPr lang="en-CA" dirty="0"/>
              <a:t> data: two groups, basic math (BM) and word problems (WP). 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5.xml"/><Relationship Id="rId5" Type="http://schemas.openxmlformats.org/officeDocument/2006/relationships/image" Target="../media/image25.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8.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2.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3.xml"/><Relationship Id="rId1" Type="http://schemas.openxmlformats.org/officeDocument/2006/relationships/slideLayout" Target="../slideLayouts/slideLayout21.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5.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8.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0.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21.xml"/><Relationship Id="rId5" Type="http://schemas.openxmlformats.org/officeDocument/2006/relationships/image" Target="../media/image73.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3.xml"/><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76.png"/><Relationship Id="rId7" Type="http://schemas.openxmlformats.org/officeDocument/2006/relationships/image" Target="../media/image82.png"/><Relationship Id="rId2" Type="http://schemas.openxmlformats.org/officeDocument/2006/relationships/notesSlide" Target="../notesSlides/notesSlide45.xml"/><Relationship Id="rId1" Type="http://schemas.openxmlformats.org/officeDocument/2006/relationships/slideLayout" Target="../slideLayouts/slideLayout24.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6.xml"/><Relationship Id="rId1" Type="http://schemas.openxmlformats.org/officeDocument/2006/relationships/slideLayout" Target="../slideLayouts/slideLayout25.xml"/><Relationship Id="rId5" Type="http://schemas.openxmlformats.org/officeDocument/2006/relationships/image" Target="../media/image86.png"/><Relationship Id="rId4" Type="http://schemas.openxmlformats.org/officeDocument/2006/relationships/image" Target="../media/image85.png"/></Relationships>
</file>

<file path=ppt/slides/_rels/slide4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7.xml"/><Relationship Id="rId1" Type="http://schemas.openxmlformats.org/officeDocument/2006/relationships/slideLayout" Target="../slideLayouts/slideLayout25.xml"/><Relationship Id="rId6" Type="http://schemas.openxmlformats.org/officeDocument/2006/relationships/image" Target="../media/image88.wmf"/><Relationship Id="rId5" Type="http://schemas.openxmlformats.org/officeDocument/2006/relationships/oleObject" Target="../embeddings/oleObject1.bin"/><Relationship Id="rId4" Type="http://schemas.openxmlformats.org/officeDocument/2006/relationships/image" Target="../media/image87.png"/></Relationships>
</file>

<file path=ppt/slides/_rels/slide50.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91.wmf"/><Relationship Id="rId2" Type="http://schemas.openxmlformats.org/officeDocument/2006/relationships/notesSlide" Target="../notesSlides/notesSlide48.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9.png"/></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9.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0.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3.xml"/><Relationship Id="rId1" Type="http://schemas.openxmlformats.org/officeDocument/2006/relationships/slideLayout" Target="../slideLayouts/slideLayout25.xml"/><Relationship Id="rId5" Type="http://schemas.openxmlformats.org/officeDocument/2006/relationships/image" Target="../media/image78.png"/><Relationship Id="rId4" Type="http://schemas.openxmlformats.org/officeDocument/2006/relationships/image" Target="../media/image95.png"/></Relationships>
</file>

<file path=ppt/slides/_rels/slide56.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6.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1.png"/></Relationships>
</file>

<file path=ppt/slides/_rels/slide6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7.xml"/><Relationship Id="rId1" Type="http://schemas.openxmlformats.org/officeDocument/2006/relationships/slideLayout" Target="../slideLayouts/slideLayout30.xml"/><Relationship Id="rId4" Type="http://schemas.openxmlformats.org/officeDocument/2006/relationships/image" Target="../media/image100.png"/></Relationships>
</file>

<file path=ppt/slides/_rels/slide6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8.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1.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4.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77426" cy="396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681621" y="2785942"/>
            <a:ext cx="2599713"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2785942"/>
            <a:ext cx="2599713"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4"/>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dirty="0">
                <a:solidFill>
                  <a:srgbClr val="FF0000"/>
                </a:solidFill>
              </a:rPr>
              <a:t>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a:t>Snub Nose</a:t>
            </a:r>
            <a:endParaRPr lang="en-CA" sz="1600" dirty="0"/>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33894" y="313954"/>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5141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919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childTnLst>
                                    </p:cTn>
                                  </p:par>
                                  <p:par>
                                    <p:cTn id="32" presetID="2" presetClass="entr" presetSubtype="4"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ppt_x</p:attrName>
                                            </p:attrNameLst>
                                          </p:cBhvr>
                                          <p:tavLst>
                                            <p:tav tm="0">
                                              <p:val>
                                                <p:strVal val="#ppt_x"/>
                                              </p:val>
                                            </p:tav>
                                            <p:tav tm="100000">
                                              <p:val>
                                                <p:strVal val="#ppt_x"/>
                                              </p:val>
                                            </p:tav>
                                          </p:tavLst>
                                        </p:anim>
                                        <p:anim calcmode="lin" valueType="num">
                                          <p:cBhvr additive="base">
                                            <p:cTn id="35" dur="500" fill="hold"/>
                                            <p:tgtEl>
                                              <p:spTgt spid="9"/>
                                            </p:tgtEl>
                                            <p:attrNameLst>
                                              <p:attrName>ppt_y</p:attrName>
                                            </p:attrNameLst>
                                          </p:cBhvr>
                                          <p:tavLst>
                                            <p:tav tm="0">
                                              <p:val>
                                                <p:strVal val="1+#ppt_h/2"/>
                                              </p:val>
                                            </p:tav>
                                            <p:tav tm="100000">
                                              <p:val>
                                                <p:strVal val="#ppt_y"/>
                                              </p:val>
                                            </p:tav>
                                          </p:tavLst>
                                        </p:anim>
                                      </p:childTnLst>
                                    </p:cTn>
                                  </p:par>
                                  <p:par>
                                    <p:cTn id="36" presetID="2" presetClass="entr" presetSubtype="4"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500" fill="hold"/>
                                            <p:tgtEl>
                                              <p:spTgt spid="13"/>
                                            </p:tgtEl>
                                            <p:attrNameLst>
                                              <p:attrName>ppt_x</p:attrName>
                                            </p:attrNameLst>
                                          </p:cBhvr>
                                          <p:tavLst>
                                            <p:tav tm="0">
                                              <p:val>
                                                <p:strVal val="#ppt_x"/>
                                              </p:val>
                                            </p:tav>
                                            <p:tav tm="100000">
                                              <p:val>
                                                <p:strVal val="#ppt_x"/>
                                              </p:val>
                                            </p:tav>
                                          </p:tavLst>
                                        </p:anim>
                                        <p:anim calcmode="lin" valueType="num">
                                          <p:cBhvr additive="base">
                                            <p:cTn id="39" dur="500" fill="hold"/>
                                            <p:tgtEl>
                                              <p:spTgt spid="13"/>
                                            </p:tgtEl>
                                            <p:attrNameLst>
                                              <p:attrName>ppt_y</p:attrName>
                                            </p:attrNameLst>
                                          </p:cBhvr>
                                          <p:tavLst>
                                            <p:tav tm="0">
                                              <p:val>
                                                <p:strVal val="1+#ppt_h/2"/>
                                              </p:val>
                                            </p:tav>
                                            <p:tav tm="100000">
                                              <p:val>
                                                <p:strVal val="#ppt_y"/>
                                              </p:val>
                                            </p:tav>
                                          </p:tavLst>
                                        </p:anim>
                                      </p:childTnLst>
                                    </p:cTn>
                                  </p:par>
                                  <p:par>
                                    <p:cTn id="40" presetID="2" presetClass="entr" presetSubtype="1"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additive="base">
                                            <p:cTn id="42" dur="500" fill="hold"/>
                                            <p:tgtEl>
                                              <p:spTgt spid="11"/>
                                            </p:tgtEl>
                                            <p:attrNameLst>
                                              <p:attrName>ppt_x</p:attrName>
                                            </p:attrNameLst>
                                          </p:cBhvr>
                                          <p:tavLst>
                                            <p:tav tm="0">
                                              <p:val>
                                                <p:strVal val="#ppt_x"/>
                                              </p:val>
                                            </p:tav>
                                            <p:tav tm="100000">
                                              <p:val>
                                                <p:strVal val="#ppt_x"/>
                                              </p:val>
                                            </p:tav>
                                          </p:tavLst>
                                        </p:anim>
                                        <p:anim calcmode="lin" valueType="num">
                                          <p:cBhvr additive="base">
                                            <p:cTn id="43"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childTnLst>
                                    </p:cTn>
                                  </p:par>
                                  <p:par>
                                    <p:cTn id="32" presetID="2" presetClass="entr" presetSubtype="4"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ppt_x</p:attrName>
                                            </p:attrNameLst>
                                          </p:cBhvr>
                                          <p:tavLst>
                                            <p:tav tm="0">
                                              <p:val>
                                                <p:strVal val="#ppt_x"/>
                                              </p:val>
                                            </p:tav>
                                            <p:tav tm="100000">
                                              <p:val>
                                                <p:strVal val="#ppt_x"/>
                                              </p:val>
                                            </p:tav>
                                          </p:tavLst>
                                        </p:anim>
                                        <p:anim calcmode="lin" valueType="num">
                                          <p:cBhvr additive="base">
                                            <p:cTn id="35" dur="500" fill="hold"/>
                                            <p:tgtEl>
                                              <p:spTgt spid="9"/>
                                            </p:tgtEl>
                                            <p:attrNameLst>
                                              <p:attrName>ppt_y</p:attrName>
                                            </p:attrNameLst>
                                          </p:cBhvr>
                                          <p:tavLst>
                                            <p:tav tm="0">
                                              <p:val>
                                                <p:strVal val="1+#ppt_h/2"/>
                                              </p:val>
                                            </p:tav>
                                            <p:tav tm="100000">
                                              <p:val>
                                                <p:strVal val="#ppt_y"/>
                                              </p:val>
                                            </p:tav>
                                          </p:tavLst>
                                        </p:anim>
                                      </p:childTnLst>
                                    </p:cTn>
                                  </p:par>
                                  <p:par>
                                    <p:cTn id="36" presetID="2" presetClass="entr" presetSubtype="4"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500" fill="hold"/>
                                            <p:tgtEl>
                                              <p:spTgt spid="13"/>
                                            </p:tgtEl>
                                            <p:attrNameLst>
                                              <p:attrName>ppt_x</p:attrName>
                                            </p:attrNameLst>
                                          </p:cBhvr>
                                          <p:tavLst>
                                            <p:tav tm="0">
                                              <p:val>
                                                <p:strVal val="#ppt_x"/>
                                              </p:val>
                                            </p:tav>
                                            <p:tav tm="100000">
                                              <p:val>
                                                <p:strVal val="#ppt_x"/>
                                              </p:val>
                                            </p:tav>
                                          </p:tavLst>
                                        </p:anim>
                                        <p:anim calcmode="lin" valueType="num">
                                          <p:cBhvr additive="base">
                                            <p:cTn id="39" dur="500" fill="hold"/>
                                            <p:tgtEl>
                                              <p:spTgt spid="13"/>
                                            </p:tgtEl>
                                            <p:attrNameLst>
                                              <p:attrName>ppt_y</p:attrName>
                                            </p:attrNameLst>
                                          </p:cBhvr>
                                          <p:tavLst>
                                            <p:tav tm="0">
                                              <p:val>
                                                <p:strVal val="1+#ppt_h/2"/>
                                              </p:val>
                                            </p:tav>
                                            <p:tav tm="100000">
                                              <p:val>
                                                <p:strVal val="#ppt_y"/>
                                              </p:val>
                                            </p:tav>
                                          </p:tavLst>
                                        </p:anim>
                                      </p:childTnLst>
                                    </p:cTn>
                                  </p:par>
                                  <p:par>
                                    <p:cTn id="40" presetID="2" presetClass="entr" presetSubtype="1"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additive="base">
                                            <p:cTn id="42" dur="500" fill="hold"/>
                                            <p:tgtEl>
                                              <p:spTgt spid="11"/>
                                            </p:tgtEl>
                                            <p:attrNameLst>
                                              <p:attrName>ppt_x</p:attrName>
                                            </p:attrNameLst>
                                          </p:cBhvr>
                                          <p:tavLst>
                                            <p:tav tm="0">
                                              <p:val>
                                                <p:strVal val="#ppt_x"/>
                                              </p:val>
                                            </p:tav>
                                            <p:tav tm="100000">
                                              <p:val>
                                                <p:strVal val="#ppt_x"/>
                                              </p:val>
                                            </p:tav>
                                          </p:tavLst>
                                        </p:anim>
                                        <p:anim calcmode="lin" valueType="num">
                                          <p:cBhvr additive="base">
                                            <p:cTn id="43"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sz="2200" dirty="0"/>
              <a:t>Rarely true in social science, medicine, …</a:t>
            </a:r>
          </a:p>
          <a:p>
            <a:pPr lvl="1"/>
            <a:r>
              <a:rPr lang="en-US" sz="2200" dirty="0"/>
              <a:t>(Structural equation models often used to account for this)</a:t>
            </a:r>
          </a:p>
          <a:p>
            <a:pPr lvl="1"/>
            <a:r>
              <a:rPr lang="en-US" sz="2200" dirty="0"/>
              <a:t>What effects do errors in </a:t>
            </a:r>
            <a:r>
              <a:rPr lang="en-US" sz="2200" b="1" dirty="0"/>
              <a:t>predictors</a:t>
            </a:r>
            <a:r>
              <a:rPr lang="en-US" sz="2200" dirty="0"/>
              <a:t> have on typical regression models?</a:t>
            </a:r>
          </a:p>
          <a:p>
            <a:r>
              <a:rPr lang="en-US" dirty="0"/>
              <a:t>Main ideas:</a:t>
            </a:r>
          </a:p>
          <a:p>
            <a:pPr lvl="1"/>
            <a:r>
              <a:rPr lang="en-US" sz="2200" dirty="0"/>
              <a:t>Ellipses in </a:t>
            </a:r>
            <a:r>
              <a:rPr lang="en-US" sz="2200" dirty="0">
                <a:solidFill>
                  <a:srgbClr val="00B050"/>
                </a:solidFill>
              </a:rPr>
              <a:t>data space </a:t>
            </a:r>
            <a:r>
              <a:rPr lang="en-US" sz="2200" dirty="0"/>
              <a:t>show effects on </a:t>
            </a:r>
            <a:r>
              <a:rPr lang="en-US" sz="2200" dirty="0">
                <a:solidFill>
                  <a:srgbClr val="FF0000"/>
                </a:solidFill>
              </a:rPr>
              <a:t>bias</a:t>
            </a:r>
            <a:r>
              <a:rPr lang="en-US" sz="2200" dirty="0"/>
              <a:t> and </a:t>
            </a:r>
            <a:r>
              <a:rPr lang="en-US" sz="2200" dirty="0">
                <a:solidFill>
                  <a:srgbClr val="FF0000"/>
                </a:solidFill>
              </a:rPr>
              <a:t>precision</a:t>
            </a:r>
          </a:p>
          <a:p>
            <a:pPr lvl="1"/>
            <a:r>
              <a:rPr lang="en-US" sz="2200" dirty="0"/>
              <a:t>The same effects can be seen in </a:t>
            </a:r>
            <a:r>
              <a:rPr lang="en-US" sz="2200" dirty="0">
                <a:solidFill>
                  <a:srgbClr val="00B050"/>
                </a:solidFill>
              </a:rPr>
              <a:t>parameter (</a:t>
            </a:r>
            <a:r>
              <a:rPr lang="el-GR" sz="2200" b="1" dirty="0">
                <a:solidFill>
                  <a:srgbClr val="00B050"/>
                </a:solidFill>
              </a:rPr>
              <a:t>β</a:t>
            </a:r>
            <a:r>
              <a:rPr lang="en-US" sz="2200"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custGeom>
            <a:avLst/>
            <a:gdLst>
              <a:gd name="csX0" fmla="*/ 0 w 5927071"/>
              <a:gd name="csY0" fmla="*/ 0 h 1477328"/>
              <a:gd name="csX1" fmla="*/ 651978 w 5927071"/>
              <a:gd name="csY1" fmla="*/ 0 h 1477328"/>
              <a:gd name="csX2" fmla="*/ 1066873 w 5927071"/>
              <a:gd name="csY2" fmla="*/ 0 h 1477328"/>
              <a:gd name="csX3" fmla="*/ 1600309 w 5927071"/>
              <a:gd name="csY3" fmla="*/ 0 h 1477328"/>
              <a:gd name="csX4" fmla="*/ 2311558 w 5927071"/>
              <a:gd name="csY4" fmla="*/ 0 h 1477328"/>
              <a:gd name="csX5" fmla="*/ 2904265 w 5927071"/>
              <a:gd name="csY5" fmla="*/ 0 h 1477328"/>
              <a:gd name="csX6" fmla="*/ 3556243 w 5927071"/>
              <a:gd name="csY6" fmla="*/ 0 h 1477328"/>
              <a:gd name="csX7" fmla="*/ 4089679 w 5927071"/>
              <a:gd name="csY7" fmla="*/ 0 h 1477328"/>
              <a:gd name="csX8" fmla="*/ 4682386 w 5927071"/>
              <a:gd name="csY8" fmla="*/ 0 h 1477328"/>
              <a:gd name="csX9" fmla="*/ 5393635 w 5927071"/>
              <a:gd name="csY9" fmla="*/ 0 h 1477328"/>
              <a:gd name="csX10" fmla="*/ 5927071 w 5927071"/>
              <a:gd name="csY10" fmla="*/ 0 h 1477328"/>
              <a:gd name="csX11" fmla="*/ 5927071 w 5927071"/>
              <a:gd name="csY11" fmla="*/ 507216 h 1477328"/>
              <a:gd name="csX12" fmla="*/ 5927071 w 5927071"/>
              <a:gd name="csY12" fmla="*/ 970112 h 1477328"/>
              <a:gd name="csX13" fmla="*/ 5927071 w 5927071"/>
              <a:gd name="csY13" fmla="*/ 1477328 h 1477328"/>
              <a:gd name="csX14" fmla="*/ 5334364 w 5927071"/>
              <a:gd name="csY14" fmla="*/ 1477328 h 1477328"/>
              <a:gd name="csX15" fmla="*/ 4741657 w 5927071"/>
              <a:gd name="csY15" fmla="*/ 1477328 h 1477328"/>
              <a:gd name="csX16" fmla="*/ 4267491 w 5927071"/>
              <a:gd name="csY16" fmla="*/ 1477328 h 1477328"/>
              <a:gd name="csX17" fmla="*/ 3674784 w 5927071"/>
              <a:gd name="csY17" fmla="*/ 1477328 h 1477328"/>
              <a:gd name="csX18" fmla="*/ 3082077 w 5927071"/>
              <a:gd name="csY18" fmla="*/ 1477328 h 1477328"/>
              <a:gd name="csX19" fmla="*/ 2489370 w 5927071"/>
              <a:gd name="csY19" fmla="*/ 1477328 h 1477328"/>
              <a:gd name="csX20" fmla="*/ 1896663 w 5927071"/>
              <a:gd name="csY20" fmla="*/ 1477328 h 1477328"/>
              <a:gd name="csX21" fmla="*/ 1363226 w 5927071"/>
              <a:gd name="csY21" fmla="*/ 1477328 h 1477328"/>
              <a:gd name="csX22" fmla="*/ 711249 w 5927071"/>
              <a:gd name="csY22" fmla="*/ 1477328 h 1477328"/>
              <a:gd name="csX23" fmla="*/ 0 w 5927071"/>
              <a:gd name="csY23" fmla="*/ 1477328 h 1477328"/>
              <a:gd name="csX24" fmla="*/ 0 w 5927071"/>
              <a:gd name="csY24" fmla="*/ 955339 h 1477328"/>
              <a:gd name="csX25" fmla="*/ 0 w 5927071"/>
              <a:gd name="csY25" fmla="*/ 448123 h 1477328"/>
              <a:gd name="csX26" fmla="*/ 0 w 5927071"/>
              <a:gd name="csY26" fmla="*/ 0 h 1477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5927071" h="1477328" fill="none" extrusionOk="0">
                <a:moveTo>
                  <a:pt x="0" y="0"/>
                </a:moveTo>
                <a:cubicBezTo>
                  <a:pt x="269989" y="-43369"/>
                  <a:pt x="349152" y="22592"/>
                  <a:pt x="651978" y="0"/>
                </a:cubicBezTo>
                <a:cubicBezTo>
                  <a:pt x="954804" y="-22592"/>
                  <a:pt x="961774" y="10943"/>
                  <a:pt x="1066873" y="0"/>
                </a:cubicBezTo>
                <a:cubicBezTo>
                  <a:pt x="1171972" y="-10943"/>
                  <a:pt x="1408903" y="1726"/>
                  <a:pt x="1600309" y="0"/>
                </a:cubicBezTo>
                <a:cubicBezTo>
                  <a:pt x="1791715" y="-1726"/>
                  <a:pt x="2102856" y="7883"/>
                  <a:pt x="2311558" y="0"/>
                </a:cubicBezTo>
                <a:cubicBezTo>
                  <a:pt x="2520260" y="-7883"/>
                  <a:pt x="2765343" y="5840"/>
                  <a:pt x="2904265" y="0"/>
                </a:cubicBezTo>
                <a:cubicBezTo>
                  <a:pt x="3043187" y="-5840"/>
                  <a:pt x="3391392" y="33181"/>
                  <a:pt x="3556243" y="0"/>
                </a:cubicBezTo>
                <a:cubicBezTo>
                  <a:pt x="3721094" y="-33181"/>
                  <a:pt x="3844283" y="2496"/>
                  <a:pt x="4089679" y="0"/>
                </a:cubicBezTo>
                <a:cubicBezTo>
                  <a:pt x="4335075" y="-2496"/>
                  <a:pt x="4545842" y="31497"/>
                  <a:pt x="4682386" y="0"/>
                </a:cubicBezTo>
                <a:cubicBezTo>
                  <a:pt x="4818930" y="-31497"/>
                  <a:pt x="5159542" y="53863"/>
                  <a:pt x="5393635" y="0"/>
                </a:cubicBezTo>
                <a:cubicBezTo>
                  <a:pt x="5627728" y="-53863"/>
                  <a:pt x="5816345" y="16423"/>
                  <a:pt x="5927071" y="0"/>
                </a:cubicBezTo>
                <a:cubicBezTo>
                  <a:pt x="5947345" y="159131"/>
                  <a:pt x="5925450" y="328376"/>
                  <a:pt x="5927071" y="507216"/>
                </a:cubicBezTo>
                <a:cubicBezTo>
                  <a:pt x="5928692" y="686056"/>
                  <a:pt x="5926571" y="857045"/>
                  <a:pt x="5927071" y="970112"/>
                </a:cubicBezTo>
                <a:cubicBezTo>
                  <a:pt x="5927571" y="1083179"/>
                  <a:pt x="5898057" y="1334746"/>
                  <a:pt x="5927071" y="1477328"/>
                </a:cubicBezTo>
                <a:cubicBezTo>
                  <a:pt x="5798598" y="1497755"/>
                  <a:pt x="5489698" y="1408582"/>
                  <a:pt x="5334364" y="1477328"/>
                </a:cubicBezTo>
                <a:cubicBezTo>
                  <a:pt x="5179030" y="1546074"/>
                  <a:pt x="5002491" y="1420613"/>
                  <a:pt x="4741657" y="1477328"/>
                </a:cubicBezTo>
                <a:cubicBezTo>
                  <a:pt x="4480823" y="1534043"/>
                  <a:pt x="4477923" y="1455649"/>
                  <a:pt x="4267491" y="1477328"/>
                </a:cubicBezTo>
                <a:cubicBezTo>
                  <a:pt x="4057059" y="1499007"/>
                  <a:pt x="3867401" y="1422956"/>
                  <a:pt x="3674784" y="1477328"/>
                </a:cubicBezTo>
                <a:cubicBezTo>
                  <a:pt x="3482167" y="1531700"/>
                  <a:pt x="3337221" y="1449322"/>
                  <a:pt x="3082077" y="1477328"/>
                </a:cubicBezTo>
                <a:cubicBezTo>
                  <a:pt x="2826933" y="1505334"/>
                  <a:pt x="2645381" y="1424620"/>
                  <a:pt x="2489370" y="1477328"/>
                </a:cubicBezTo>
                <a:cubicBezTo>
                  <a:pt x="2333359" y="1530036"/>
                  <a:pt x="2073914" y="1453990"/>
                  <a:pt x="1896663" y="1477328"/>
                </a:cubicBezTo>
                <a:cubicBezTo>
                  <a:pt x="1719412" y="1500666"/>
                  <a:pt x="1504472" y="1461281"/>
                  <a:pt x="1363226" y="1477328"/>
                </a:cubicBezTo>
                <a:cubicBezTo>
                  <a:pt x="1221980" y="1493375"/>
                  <a:pt x="971377" y="1462298"/>
                  <a:pt x="711249" y="1477328"/>
                </a:cubicBezTo>
                <a:cubicBezTo>
                  <a:pt x="451121" y="1492358"/>
                  <a:pt x="308405" y="1394364"/>
                  <a:pt x="0" y="1477328"/>
                </a:cubicBezTo>
                <a:cubicBezTo>
                  <a:pt x="-30381" y="1227152"/>
                  <a:pt x="39270" y="1168437"/>
                  <a:pt x="0" y="955339"/>
                </a:cubicBezTo>
                <a:cubicBezTo>
                  <a:pt x="-39270" y="742241"/>
                  <a:pt x="35032" y="612803"/>
                  <a:pt x="0" y="448123"/>
                </a:cubicBezTo>
                <a:cubicBezTo>
                  <a:pt x="-35032" y="283443"/>
                  <a:pt x="22040" y="114021"/>
                  <a:pt x="0" y="0"/>
                </a:cubicBezTo>
                <a:close/>
              </a:path>
              <a:path w="5927071" h="1477328" stroke="0" extrusionOk="0">
                <a:moveTo>
                  <a:pt x="0" y="0"/>
                </a:moveTo>
                <a:cubicBezTo>
                  <a:pt x="247419" y="-7442"/>
                  <a:pt x="371168" y="56243"/>
                  <a:pt x="533436" y="0"/>
                </a:cubicBezTo>
                <a:cubicBezTo>
                  <a:pt x="695704" y="-56243"/>
                  <a:pt x="746765" y="24298"/>
                  <a:pt x="948331" y="0"/>
                </a:cubicBezTo>
                <a:cubicBezTo>
                  <a:pt x="1149898" y="-24298"/>
                  <a:pt x="1475459" y="83594"/>
                  <a:pt x="1659580" y="0"/>
                </a:cubicBezTo>
                <a:cubicBezTo>
                  <a:pt x="1843701" y="-83594"/>
                  <a:pt x="1964021" y="63768"/>
                  <a:pt x="2193016" y="0"/>
                </a:cubicBezTo>
                <a:cubicBezTo>
                  <a:pt x="2422011" y="-63768"/>
                  <a:pt x="2512392" y="37965"/>
                  <a:pt x="2726453" y="0"/>
                </a:cubicBezTo>
                <a:cubicBezTo>
                  <a:pt x="2940514" y="-37965"/>
                  <a:pt x="3189459" y="58423"/>
                  <a:pt x="3437701" y="0"/>
                </a:cubicBezTo>
                <a:cubicBezTo>
                  <a:pt x="3685943" y="-58423"/>
                  <a:pt x="3691207" y="29999"/>
                  <a:pt x="3911867" y="0"/>
                </a:cubicBezTo>
                <a:cubicBezTo>
                  <a:pt x="4132527" y="-29999"/>
                  <a:pt x="4377622" y="65736"/>
                  <a:pt x="4623115" y="0"/>
                </a:cubicBezTo>
                <a:cubicBezTo>
                  <a:pt x="4868608" y="-65736"/>
                  <a:pt x="5063094" y="33271"/>
                  <a:pt x="5334364" y="0"/>
                </a:cubicBezTo>
                <a:cubicBezTo>
                  <a:pt x="5605634" y="-33271"/>
                  <a:pt x="5667747" y="28980"/>
                  <a:pt x="5927071" y="0"/>
                </a:cubicBezTo>
                <a:cubicBezTo>
                  <a:pt x="5928442" y="113323"/>
                  <a:pt x="5912672" y="308693"/>
                  <a:pt x="5927071" y="521989"/>
                </a:cubicBezTo>
                <a:cubicBezTo>
                  <a:pt x="5941470" y="735285"/>
                  <a:pt x="5926196" y="904943"/>
                  <a:pt x="5927071" y="1029205"/>
                </a:cubicBezTo>
                <a:cubicBezTo>
                  <a:pt x="5927946" y="1153467"/>
                  <a:pt x="5881418" y="1275045"/>
                  <a:pt x="5927071" y="1477328"/>
                </a:cubicBezTo>
                <a:cubicBezTo>
                  <a:pt x="5736127" y="1500554"/>
                  <a:pt x="5595044" y="1431778"/>
                  <a:pt x="5334364" y="1477328"/>
                </a:cubicBezTo>
                <a:cubicBezTo>
                  <a:pt x="5073684" y="1522878"/>
                  <a:pt x="5073294" y="1432595"/>
                  <a:pt x="4860198" y="1477328"/>
                </a:cubicBezTo>
                <a:cubicBezTo>
                  <a:pt x="4647102" y="1522061"/>
                  <a:pt x="4477436" y="1432138"/>
                  <a:pt x="4267491" y="1477328"/>
                </a:cubicBezTo>
                <a:cubicBezTo>
                  <a:pt x="4057546" y="1522518"/>
                  <a:pt x="3763720" y="1393223"/>
                  <a:pt x="3556243" y="1477328"/>
                </a:cubicBezTo>
                <a:cubicBezTo>
                  <a:pt x="3348766" y="1561433"/>
                  <a:pt x="3204603" y="1456927"/>
                  <a:pt x="2963536" y="1477328"/>
                </a:cubicBezTo>
                <a:cubicBezTo>
                  <a:pt x="2722469" y="1497729"/>
                  <a:pt x="2660382" y="1469292"/>
                  <a:pt x="2548641" y="1477328"/>
                </a:cubicBezTo>
                <a:cubicBezTo>
                  <a:pt x="2436901" y="1485364"/>
                  <a:pt x="2250415" y="1460932"/>
                  <a:pt x="2074475" y="1477328"/>
                </a:cubicBezTo>
                <a:cubicBezTo>
                  <a:pt x="1898535" y="1493724"/>
                  <a:pt x="1636839" y="1408084"/>
                  <a:pt x="1363226" y="1477328"/>
                </a:cubicBezTo>
                <a:cubicBezTo>
                  <a:pt x="1089613" y="1546572"/>
                  <a:pt x="912545" y="1414629"/>
                  <a:pt x="770519" y="1477328"/>
                </a:cubicBezTo>
                <a:cubicBezTo>
                  <a:pt x="628493" y="1540027"/>
                  <a:pt x="280134" y="1400344"/>
                  <a:pt x="0" y="1477328"/>
                </a:cubicBezTo>
                <a:cubicBezTo>
                  <a:pt x="-58372" y="1334956"/>
                  <a:pt x="26221" y="1132867"/>
                  <a:pt x="0" y="984885"/>
                </a:cubicBezTo>
                <a:cubicBezTo>
                  <a:pt x="-26221" y="836903"/>
                  <a:pt x="50450" y="657008"/>
                  <a:pt x="0" y="536763"/>
                </a:cubicBezTo>
                <a:cubicBezTo>
                  <a:pt x="-50450" y="416518"/>
                  <a:pt x="4748" y="127727"/>
                  <a:pt x="0" y="0"/>
                </a:cubicBezTo>
                <a:close/>
              </a:path>
            </a:pathLst>
          </a:custGeom>
          <a:solidFill>
            <a:schemeClr val="accent6">
              <a:lumMod val="20000"/>
              <a:lumOff val="80000"/>
              <a:alpha val="50000"/>
            </a:schemeClr>
          </a:solidFill>
          <a:ln>
            <a:solidFill>
              <a:schemeClr val="accent1"/>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p>
            <a:r>
              <a:rPr lang="en-US" dirty="0"/>
              <a:t>Wow! That means I can drink all the coffee I want as long as I avoid stress.</a:t>
            </a:r>
          </a:p>
          <a:p>
            <a:endParaRPr lang="en-US" dirty="0"/>
          </a:p>
          <a:p>
            <a:r>
              <a:rPr lang="en-US" dirty="0"/>
              <a:t>But what happens if there is </a:t>
            </a:r>
            <a:r>
              <a:rPr lang="en-US" b="1" dirty="0"/>
              <a:t>measurement error </a:t>
            </a:r>
            <a:r>
              <a:rPr lang="en-US" dirty="0"/>
              <a:t>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9685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
        <p:nvSpPr>
          <p:cNvPr id="7" name="TextBox 6">
            <a:extLst>
              <a:ext uri="{FF2B5EF4-FFF2-40B4-BE49-F238E27FC236}">
                <a16:creationId xmlns:a16="http://schemas.microsoft.com/office/drawing/2014/main" id="{ACD7ED0A-8CFB-2426-4E6B-0D3AA40716D9}"/>
              </a:ext>
            </a:extLst>
          </p:cNvPr>
          <p:cNvSpPr txBox="1"/>
          <p:nvPr/>
        </p:nvSpPr>
        <p:spPr>
          <a:xfrm>
            <a:off x="7861300" y="4323528"/>
            <a:ext cx="1320800" cy="369332"/>
          </a:xfrm>
          <a:prstGeom prst="rect">
            <a:avLst/>
          </a:prstGeom>
          <a:noFill/>
        </p:spPr>
        <p:txBody>
          <a:bodyPr wrap="square" rtlCol="0">
            <a:spAutoFit/>
          </a:bodyPr>
          <a:lstStyle/>
          <a:p>
            <a:r>
              <a:rPr lang="en-CA" dirty="0"/>
              <a:t>Coffee NS</a:t>
            </a:r>
          </a:p>
        </p:txBody>
      </p:sp>
      <p:sp>
        <p:nvSpPr>
          <p:cNvPr id="8" name="TextBox 7">
            <a:extLst>
              <a:ext uri="{FF2B5EF4-FFF2-40B4-BE49-F238E27FC236}">
                <a16:creationId xmlns:a16="http://schemas.microsoft.com/office/drawing/2014/main" id="{A4822D31-070B-79D9-A898-CB0767980812}"/>
              </a:ext>
            </a:extLst>
          </p:cNvPr>
          <p:cNvSpPr txBox="1"/>
          <p:nvPr/>
        </p:nvSpPr>
        <p:spPr>
          <a:xfrm>
            <a:off x="8953500" y="2639597"/>
            <a:ext cx="1625600" cy="369332"/>
          </a:xfrm>
          <a:prstGeom prst="rect">
            <a:avLst/>
          </a:prstGeom>
          <a:noFill/>
        </p:spPr>
        <p:txBody>
          <a:bodyPr wrap="square" rtlCol="0">
            <a:spAutoFit/>
          </a:bodyPr>
          <a:lstStyle/>
          <a:p>
            <a:r>
              <a:rPr lang="en-CA" dirty="0"/>
              <a:t>Stress, p&lt;.001</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01200" y="15494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92400" y="13149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59400" y="1329592"/>
            <a:ext cx="2286000" cy="2286000"/>
          </a:xfrm>
          <a:prstGeom prst="rect">
            <a:avLst/>
          </a:prstGeom>
        </p:spPr>
      </p:pic>
      <p:cxnSp>
        <p:nvCxnSpPr>
          <p:cNvPr id="8" name="Straight Arrow Connector 7"/>
          <p:cNvCxnSpPr/>
          <p:nvPr/>
        </p:nvCxnSpPr>
        <p:spPr>
          <a:xfrm>
            <a:off x="46736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286000" cy="2286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9861463"/>
              </p:ext>
            </p:extLst>
          </p:nvPr>
        </p:nvGraphicFramePr>
        <p:xfrm>
          <a:off x="4138800" y="55430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5430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AB2F40EF-E8E5-CD45-6CAD-00266C8CDD9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6926</TotalTime>
  <Words>5841</Words>
  <Application>Microsoft Office PowerPoint</Application>
  <PresentationFormat>Widescreen</PresentationFormat>
  <Paragraphs>597</Paragraphs>
  <Slides>65</Slides>
  <Notes>61</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7" baseType="lpstr">
      <vt:lpstr>Aptos</vt:lpstr>
      <vt:lpstr>Aptos Display</vt:lpstr>
      <vt:lpstr>Arial</vt:lpstr>
      <vt:lpstr>Cambria Math</vt:lpstr>
      <vt:lpstr>Consolas</vt:lpstr>
      <vt:lpstr>Courier New</vt:lpstr>
      <vt:lpstr>Lucida Console</vt:lpstr>
      <vt:lpstr>Matura MT Script Capitals</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88</cp:revision>
  <dcterms:created xsi:type="dcterms:W3CDTF">2026-10-06T18:00:03Z</dcterms:created>
  <dcterms:modified xsi:type="dcterms:W3CDTF">2026-10-26T14:30:56Z</dcterms:modified>
</cp:coreProperties>
</file>