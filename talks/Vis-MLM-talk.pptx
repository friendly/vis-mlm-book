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5"/>
  </p:notesMasterIdLst>
  <p:sldIdLst>
    <p:sldId id="256" r:id="rId2"/>
    <p:sldId id="257" r:id="rId3"/>
    <p:sldId id="325" r:id="rId4"/>
    <p:sldId id="258" r:id="rId5"/>
    <p:sldId id="259" r:id="rId6"/>
    <p:sldId id="260" r:id="rId7"/>
    <p:sldId id="261" r:id="rId8"/>
    <p:sldId id="262" r:id="rId9"/>
    <p:sldId id="263" r:id="rId10"/>
    <p:sldId id="475" r:id="rId11"/>
    <p:sldId id="456" r:id="rId12"/>
    <p:sldId id="457" r:id="rId13"/>
    <p:sldId id="458" r:id="rId14"/>
    <p:sldId id="326" r:id="rId15"/>
    <p:sldId id="266" r:id="rId16"/>
    <p:sldId id="470" r:id="rId17"/>
    <p:sldId id="473" r:id="rId18"/>
    <p:sldId id="267" r:id="rId19"/>
    <p:sldId id="474" r:id="rId20"/>
    <p:sldId id="268" r:id="rId21"/>
    <p:sldId id="269" r:id="rId22"/>
    <p:sldId id="270" r:id="rId23"/>
    <p:sldId id="271" r:id="rId24"/>
    <p:sldId id="273" r:id="rId25"/>
    <p:sldId id="467" r:id="rId26"/>
    <p:sldId id="274" r:id="rId27"/>
    <p:sldId id="275" r:id="rId28"/>
    <p:sldId id="276" r:id="rId29"/>
    <p:sldId id="468" r:id="rId30"/>
    <p:sldId id="277" r:id="rId31"/>
    <p:sldId id="278" r:id="rId32"/>
    <p:sldId id="282" r:id="rId33"/>
    <p:sldId id="471" r:id="rId34"/>
    <p:sldId id="272" r:id="rId35"/>
    <p:sldId id="281" r:id="rId36"/>
    <p:sldId id="472" r:id="rId37"/>
    <p:sldId id="460" r:id="rId38"/>
    <p:sldId id="289" r:id="rId39"/>
    <p:sldId id="461" r:id="rId40"/>
    <p:sldId id="293" r:id="rId41"/>
    <p:sldId id="294" r:id="rId42"/>
    <p:sldId id="295" r:id="rId43"/>
    <p:sldId id="465" r:id="rId44"/>
    <p:sldId id="297" r:id="rId45"/>
    <p:sldId id="476" r:id="rId46"/>
    <p:sldId id="298" r:id="rId47"/>
    <p:sldId id="466" r:id="rId48"/>
    <p:sldId id="327" r:id="rId49"/>
    <p:sldId id="328" r:id="rId50"/>
    <p:sldId id="329" r:id="rId51"/>
    <p:sldId id="302" r:id="rId52"/>
    <p:sldId id="303" r:id="rId53"/>
    <p:sldId id="449" r:id="rId54"/>
    <p:sldId id="306" r:id="rId55"/>
    <p:sldId id="469" r:id="rId56"/>
    <p:sldId id="318" r:id="rId57"/>
    <p:sldId id="319" r:id="rId58"/>
    <p:sldId id="320" r:id="rId59"/>
    <p:sldId id="310" r:id="rId60"/>
    <p:sldId id="311" r:id="rId61"/>
    <p:sldId id="313" r:id="rId62"/>
    <p:sldId id="314" r:id="rId63"/>
    <p:sldId id="322" r:id="rId64"/>
    <p:sldId id="323" r:id="rId65"/>
    <p:sldId id="324"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475"/>
            <p14:sldId id="456"/>
            <p14:sldId id="457"/>
            <p14:sldId id="458"/>
            <p14:sldId id="326"/>
            <p14:sldId id="266"/>
            <p14:sldId id="470"/>
            <p14:sldId id="473"/>
            <p14:sldId id="267"/>
            <p14:sldId id="474"/>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 id="476"/>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7E3E3"/>
    <a:srgbClr val="FFFFFF"/>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995" autoAdjust="0"/>
  </p:normalViewPr>
  <p:slideViewPr>
    <p:cSldViewPr snapToGrid="0">
      <p:cViewPr varScale="1">
        <p:scale>
          <a:sx n="75" d="100"/>
          <a:sy n="75" d="100"/>
        </p:scale>
        <p:origin x="870" y="66"/>
      </p:cViewPr>
      <p:guideLst/>
    </p:cSldViewPr>
  </p:slideViewPr>
  <p:notesTextViewPr>
    <p:cViewPr>
      <p:scale>
        <a:sx n="1" d="1"/>
        <a:sy n="1" d="1"/>
      </p:scale>
      <p:origin x="0" y="0"/>
    </p:cViewPr>
  </p:notesTextViewPr>
  <p:sorterViewPr>
    <p:cViewPr varScale="1">
      <p:scale>
        <a:sx n="100" d="100"/>
        <a:sy n="100" d="100"/>
      </p:scale>
      <p:origin x="0" y="-12582"/>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89"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8" Type="http://schemas.openxmlformats.org/officeDocument/2006/relationships/slide" Target="slides/slide7.xml"/><Relationship Id="rId51" Type="http://schemas.openxmlformats.org/officeDocument/2006/relationships/slide" Target="slides/slide50.xml"/><Relationship Id="rId85"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88"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86"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viewProps" Target="viewProps.xml"/><Relationship Id="rId61" Type="http://schemas.openxmlformats.org/officeDocument/2006/relationships/slide" Target="slides/slide60.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 large part of my work reflects Chairman Mao’s assertion of </a:t>
            </a:r>
            <a:r>
              <a:rPr lang="en-CA" b="1" dirty="0"/>
              <a:t>Theory into Practice</a:t>
            </a:r>
            <a:r>
              <a:rPr lang="en-CA" dirty="0"/>
              <a:t>, and Tukey’s </a:t>
            </a:r>
            <a:r>
              <a:rPr lang="en-CA" dirty="0" err="1"/>
              <a:t>collorary</a:t>
            </a:r>
            <a:r>
              <a:rPr lang="en-CA" dirty="0"/>
              <a:t> that statistical / graphical methods are only useful if people can use them.</a:t>
            </a:r>
          </a:p>
          <a:p>
            <a:r>
              <a:rPr lang="en-CA" dirty="0"/>
              <a:t>In the work towards this book, I created a number of R packages to make these new graphical methods easily accessible.</a:t>
            </a:r>
          </a:p>
          <a:p>
            <a:r>
              <a:rPr lang="en-CA" dirty="0"/>
              <a:t>These five packages implement most of what follows: </a:t>
            </a:r>
            <a:r>
              <a:rPr lang="en-CA" dirty="0" err="1"/>
              <a:t>heplots</a:t>
            </a:r>
            <a:r>
              <a:rPr lang="en-CA" dirty="0"/>
              <a:t> (HE plots and related methods), </a:t>
            </a:r>
            <a:r>
              <a:rPr lang="en-CA" dirty="0" err="1"/>
              <a:t>candisc</a:t>
            </a:r>
            <a:r>
              <a:rPr lang="en-CA" dirty="0"/>
              <a:t> (canonical views), </a:t>
            </a:r>
            <a:r>
              <a:rPr lang="en-CA" dirty="0" err="1"/>
              <a:t>mvinfluence</a:t>
            </a:r>
            <a:r>
              <a:rPr lang="en-CA" dirty="0"/>
              <a:t> (multivariate influence), </a:t>
            </a:r>
            <a:r>
              <a:rPr lang="en-CA" dirty="0" err="1"/>
              <a:t>genridge</a:t>
            </a:r>
            <a:r>
              <a:rPr lang="en-CA" dirty="0"/>
              <a:t>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be to help 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Data ellipses for the bill variables provide a beautiful example of Simpson’s paradox, and how data ellipses make that story clear</a:t>
            </a:r>
          </a:p>
          <a:p>
            <a:r>
              <a:rPr dirty="0"/>
              <a:t>Panels: </a:t>
            </a:r>
            <a:endParaRPr lang="en-CA" dirty="0"/>
          </a:p>
          <a:p>
            <a:r>
              <a:rPr dirty="0"/>
              <a:t>(a) ignoring species, </a:t>
            </a:r>
            <a:endParaRPr lang="en-CA" dirty="0"/>
          </a:p>
          <a:p>
            <a:r>
              <a:rPr dirty="0"/>
              <a:t>(b) by species, </a:t>
            </a:r>
            <a:endParaRPr lang="en-CA" dirty="0"/>
          </a:p>
          <a:p>
            <a:r>
              <a:rPr dirty="0"/>
              <a:t>(c) pooled within species. </a:t>
            </a:r>
            <a:endParaRPr lang="en-CA" dirty="0"/>
          </a:p>
          <a:p>
            <a:r>
              <a:rPr dirty="0"/>
              <a:t>The data ellipses</a:t>
            </a:r>
            <a:r>
              <a:rPr lang="en-CA" dirty="0"/>
              <a:t> &amp; regression lines</a:t>
            </a:r>
            <a:r>
              <a:rPr dirty="0"/>
              <a:t> make the reversal </a:t>
            </a:r>
            <a:r>
              <a:rPr lang="en-CA" dirty="0"/>
              <a:t>visually </a:t>
            </a:r>
            <a:r>
              <a:rPr dirty="0"/>
              <a:t>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I’d like to turn to another main theme of the book: </a:t>
            </a:r>
          </a:p>
          <a:p>
            <a:r>
              <a:rPr lang="en-CA" dirty="0"/>
              <a:t>How dimension reduction techniques can help us to find the right views of multivariate data</a:t>
            </a:r>
          </a:p>
        </p:txBody>
      </p:sp>
    </p:spTree>
    <p:extLst>
      <p:ext uri="{BB962C8B-B14F-4D97-AF65-F5344CB8AC3E}">
        <p14:creationId xmlns:p14="http://schemas.microsoft.com/office/powerpoint/2010/main" val="20137402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One key to this is to consider the wide class of these methods as “Multivariate Juicers”</a:t>
            </a:r>
          </a:p>
          <a:p>
            <a:r>
              <a:rPr lang="en-CA" dirty="0"/>
              <a:t>I know this is SO cheesy! But I find this a nice analogy to explain what we do with low-D methods</a:t>
            </a:r>
          </a:p>
          <a:p>
            <a:r>
              <a:rPr lang="en-CA" dirty="0"/>
              <a:t>If we’re plotting in 2D space, we want the view with the most juice.</a:t>
            </a:r>
          </a:p>
        </p:txBody>
      </p:sp>
      <p:sp>
        <p:nvSpPr>
          <p:cNvPr id="4" name="Slide Number Placeholder 3"/>
          <p:cNvSpPr>
            <a:spLocks noGrp="1"/>
          </p:cNvSpPr>
          <p:nvPr>
            <p:ph type="sldNum" sz="quarter" idx="5"/>
          </p:nvPr>
        </p:nvSpPr>
        <p:spPr/>
        <p:txBody>
          <a:bodyPr/>
          <a:lstStyle/>
          <a:p>
            <a:fld id="{33E20828-1A1A-4225-BE3A-F8540A5E6146}" type="slidenum">
              <a:rPr lang="en-US" smtClean="0"/>
              <a:t>25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blue points are connected to their projections on the red line by springs perpendicular to that line. A physical intuition for least squares. </a:t>
            </a:r>
            <a:endParaRPr lang="en-CA" dirty="0"/>
          </a:p>
          <a:p>
            <a:r>
              <a:rPr lang="en-CA" dirty="0"/>
              <a:t>The point of this is that </a:t>
            </a:r>
            <a:r>
              <a:rPr lang="en-CA" sz="1200" dirty="0"/>
              <a:t>Statistics, </a:t>
            </a:r>
            <a:r>
              <a:rPr lang="en-CA" sz="1200" dirty="0" err="1"/>
              <a:t>dataviz</a:t>
            </a:r>
            <a:r>
              <a:rPr lang="en-CA" sz="1200" dirty="0"/>
              <a:t>, geometry &amp; physics are often tightly connected. We can learn from one, using ideas of another</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Another topic for today is how these ideas relate to what we do in statistical practice – analysing data, understanding the models we fit, and dealing with murky problems we can only see in tables…</a:t>
            </a:r>
          </a:p>
          <a:p>
            <a:endParaRPr lang="en-CA" dirty="0"/>
          </a:p>
          <a:p>
            <a:r>
              <a:rPr lang="en-CA" dirty="0"/>
              <a:t>I’ll try to explain a few of these in terms of graphical methods based on ellipsoids</a:t>
            </a:r>
          </a:p>
          <a:p>
            <a:endParaRPr lang="en-CA" dirty="0"/>
          </a:p>
          <a:p>
            <a:endParaRPr lang="en-CA" dirty="0"/>
          </a:p>
        </p:txBody>
      </p:sp>
    </p:spTree>
    <p:extLst>
      <p:ext uri="{BB962C8B-B14F-4D97-AF65-F5344CB8AC3E}">
        <p14:creationId xmlns:p14="http://schemas.microsoft.com/office/powerpoint/2010/main" val="125966677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33</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dirty="0"/>
              <a:t>Hook Nose</a:t>
            </a:r>
            <a:r>
              <a:rPr lang="en-CA" dirty="0"/>
              <a:t> – largest curvature</a:t>
            </a:r>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37</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Data space and beta space for the coffee data. </a:t>
            </a:r>
            <a:endParaRPr lang="en-CA" dirty="0"/>
          </a:p>
          <a:p>
            <a:r>
              <a:rPr dirty="0"/>
              <a:t>Where the predictors have a wide spread, the coefficients are estimated precisely, and vice versa. </a:t>
            </a:r>
            <a:endParaRPr lang="en-CA" dirty="0"/>
          </a:p>
          <a:p>
            <a:r>
              <a:rPr dirty="0"/>
              <a:t>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43</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47</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err="1"/>
              <a:t>Mathscore</a:t>
            </a:r>
            <a:r>
              <a:rPr lang="en-CA" dirty="0"/>
              <a:t> data: two groups, basic math (BM) and word problems (WP). From the data to data ellipses to the HE plot. </a:t>
            </a:r>
          </a:p>
        </p:txBody>
      </p:sp>
    </p:spTree>
    <p:extLst>
      <p:ext uri="{BB962C8B-B14F-4D97-AF65-F5344CB8AC3E}">
        <p14:creationId xmlns:p14="http://schemas.microsoft.com/office/powerpoint/2010/main" val="127060284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The same ideas are available for multivariate multiple regression</a:t>
            </a:r>
          </a:p>
          <a:p>
            <a:r>
              <a:rPr dirty="0"/>
              <a:t>HE plot for the multivariate regression model for the school data. Each predictor has 1 </a:t>
            </a:r>
            <a:r>
              <a:rPr dirty="0" err="1"/>
              <a:t>df</a:t>
            </a:r>
            <a:r>
              <a:rPr dirty="0"/>
              <a:t>,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55</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CA" dirty="0"/>
          </a:p>
          <a:p>
            <a:r>
              <a:rPr dirty="0"/>
              <a:t>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15101161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11475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8" r:id="rId29"/>
    <p:sldLayoutId id="2147483677" r:id="rId30"/>
    <p:sldLayoutId id="2147483679" r:id="rId3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7.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4.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5.xml"/><Relationship Id="rId5" Type="http://schemas.openxmlformats.org/officeDocument/2006/relationships/image" Target="../media/image25.png"/><Relationship Id="rId4" Type="http://schemas.openxmlformats.org/officeDocument/2006/relationships/hyperlink" Target="https://friendly.github.io/blog/posts/2026-10-peng-altviews/"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0.xml"/><Relationship Id="rId1" Type="http://schemas.openxmlformats.org/officeDocument/2006/relationships/slideLayout" Target="../slideLayouts/slideLayout17.xml"/><Relationship Id="rId4" Type="http://schemas.openxmlformats.org/officeDocument/2006/relationships/image" Target="../media/image39.png"/></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1.gif"/><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3.xml"/><Relationship Id="rId1" Type="http://schemas.openxmlformats.org/officeDocument/2006/relationships/slideLayout" Target="../slideLayouts/slideLayout3.xml"/><Relationship Id="rId5" Type="http://schemas.openxmlformats.org/officeDocument/2006/relationships/image" Target="../media/image44.png"/><Relationship Id="rId4" Type="http://schemas.openxmlformats.org/officeDocument/2006/relationships/image" Target="../media/image43.png"/></Relationships>
</file>

<file path=ppt/slides/_rels/slide25.xml.rels><?xml version="1.0" encoding="UTF-8" standalone="yes"?>
<Relationships xmlns="http://schemas.openxmlformats.org/package/2006/relationships"><Relationship Id="rId3" Type="http://schemas.openxmlformats.org/officeDocument/2006/relationships/image" Target="../media/image45.png"/><Relationship Id="rId7" Type="http://schemas.openxmlformats.org/officeDocument/2006/relationships/image" Target="../media/image48.jp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47.png"/><Relationship Id="rId5" Type="http://schemas.microsoft.com/office/2007/relationships/hdphoto" Target="../media/hdphoto1.wdp"/><Relationship Id="rId4" Type="http://schemas.openxmlformats.org/officeDocument/2006/relationships/image" Target="../media/image46.png"/></Relationships>
</file>

<file path=ppt/slides/_rels/slide26.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0.gif"/><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7.xml"/><Relationship Id="rId1" Type="http://schemas.openxmlformats.org/officeDocument/2006/relationships/slideLayout" Target="../slideLayouts/slideLayout20.xml"/><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8.xml"/><Relationship Id="rId1" Type="http://schemas.openxmlformats.org/officeDocument/2006/relationships/slideLayout" Target="../slideLayouts/slideLayout18.xml"/><Relationship Id="rId5" Type="http://schemas.openxmlformats.org/officeDocument/2006/relationships/image" Target="../media/image43.png"/><Relationship Id="rId4" Type="http://schemas.openxmlformats.org/officeDocument/2006/relationships/image" Target="../media/image53.png"/></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4.gif"/><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1.xml"/><Relationship Id="rId1" Type="http://schemas.openxmlformats.org/officeDocument/2006/relationships/slideLayout" Target="../slideLayouts/slideLayout3.xml"/><Relationship Id="rId6" Type="http://schemas.openxmlformats.org/officeDocument/2006/relationships/image" Target="../media/image58.wmf"/><Relationship Id="rId5" Type="http://schemas.openxmlformats.org/officeDocument/2006/relationships/image" Target="../media/image57.png"/><Relationship Id="rId4" Type="http://schemas.openxmlformats.org/officeDocument/2006/relationships/image" Target="../media/image56.png"/></Relationships>
</file>

<file path=ppt/slides/_rels/slide3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2.xml"/><Relationship Id="rId1" Type="http://schemas.openxmlformats.org/officeDocument/2006/relationships/slideLayout" Target="../slideLayouts/slideLayout22.xml"/><Relationship Id="rId6" Type="http://schemas.openxmlformats.org/officeDocument/2006/relationships/image" Target="../media/image58.wmf"/><Relationship Id="rId5" Type="http://schemas.openxmlformats.org/officeDocument/2006/relationships/image" Target="../media/image60.png"/><Relationship Id="rId4" Type="http://schemas.openxmlformats.org/officeDocument/2006/relationships/hyperlink" Target="http://www.datavis.ca/gallery/animation/outlier-demo/"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3.xml"/><Relationship Id="rId1" Type="http://schemas.openxmlformats.org/officeDocument/2006/relationships/slideLayout" Target="../slideLayouts/slideLayout21.xml"/><Relationship Id="rId4" Type="http://schemas.openxmlformats.org/officeDocument/2006/relationships/image" Target="../media/image62.png"/></Relationships>
</file>

<file path=ppt/slides/_rels/slide3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4.xml"/><Relationship Id="rId1" Type="http://schemas.openxmlformats.org/officeDocument/2006/relationships/slideLayout" Target="../slideLayouts/slideLayout23.xml"/><Relationship Id="rId4" Type="http://schemas.openxmlformats.org/officeDocument/2006/relationships/image" Target="../media/image58.wmf"/></Relationships>
</file>

<file path=ppt/slides/_rels/slide36.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5.xml"/><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6.xml"/><Relationship Id="rId1" Type="http://schemas.openxmlformats.org/officeDocument/2006/relationships/slideLayout" Target="../slideLayouts/slideLayout21.xml"/><Relationship Id="rId4" Type="http://schemas.openxmlformats.org/officeDocument/2006/relationships/image" Target="../media/image64.png"/></Relationships>
</file>

<file path=ppt/slides/_rels/slide3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7.xml"/><Relationship Id="rId1" Type="http://schemas.openxmlformats.org/officeDocument/2006/relationships/slideLayout" Target="../slideLayouts/slideLayout21.xml"/></Relationships>
</file>

<file path=ppt/slides/_rels/slide39.xml.rels><?xml version="1.0" encoding="UTF-8" standalone="yes"?>
<Relationships xmlns="http://schemas.openxmlformats.org/package/2006/relationships"><Relationship Id="rId3" Type="http://schemas.openxmlformats.org/officeDocument/2006/relationships/image" Target="../media/image65.gif"/><Relationship Id="rId2" Type="http://schemas.openxmlformats.org/officeDocument/2006/relationships/notesSlide" Target="../notesSlides/notesSlide38.xml"/><Relationship Id="rId1" Type="http://schemas.openxmlformats.org/officeDocument/2006/relationships/slideLayout" Target="../slideLayouts/slideLayout22.xml"/><Relationship Id="rId5" Type="http://schemas.openxmlformats.org/officeDocument/2006/relationships/image" Target="../media/image67.gif"/><Relationship Id="rId4" Type="http://schemas.openxmlformats.org/officeDocument/2006/relationships/image" Target="../media/image66.gif"/></Relationships>
</file>

<file path=ppt/slides/_rels/slide4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9.xml"/><Relationship Id="rId1" Type="http://schemas.openxmlformats.org/officeDocument/2006/relationships/slideLayout" Target="../slideLayouts/slideLayout21.xml"/><Relationship Id="rId6" Type="http://schemas.openxmlformats.org/officeDocument/2006/relationships/image" Target="../media/image69.png"/><Relationship Id="rId5" Type="http://schemas.openxmlformats.org/officeDocument/2006/relationships/image" Target="../media/image10.png"/><Relationship Id="rId4" Type="http://schemas.openxmlformats.org/officeDocument/2006/relationships/image" Target="../media/image58.wmf"/></Relationships>
</file>

<file path=ppt/slides/_rels/slide4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0.xml"/><Relationship Id="rId1" Type="http://schemas.openxmlformats.org/officeDocument/2006/relationships/slideLayout" Target="../slideLayouts/slideLayout23.xml"/><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2.xml"/><Relationship Id="rId1" Type="http://schemas.openxmlformats.org/officeDocument/2006/relationships/slideLayout" Target="../slideLayouts/slideLayout21.xml"/><Relationship Id="rId5" Type="http://schemas.openxmlformats.org/officeDocument/2006/relationships/image" Target="../media/image73.png"/><Relationship Id="rId4" Type="http://schemas.openxmlformats.org/officeDocument/2006/relationships/image" Target="../media/image10.png"/></Relationships>
</file>

<file path=ppt/slides/_rels/slide44.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3.xml"/><Relationship Id="rId4" Type="http://schemas.openxmlformats.org/officeDocument/2006/relationships/image" Target="../media/image78.png"/></Relationships>
</file>

<file path=ppt/slides/_rels/slide47.xml.rels><?xml version="1.0" encoding="UTF-8" standalone="yes"?>
<Relationships xmlns="http://schemas.openxmlformats.org/package/2006/relationships"><Relationship Id="rId8" Type="http://schemas.openxmlformats.org/officeDocument/2006/relationships/image" Target="../media/image83.png"/><Relationship Id="rId3" Type="http://schemas.openxmlformats.org/officeDocument/2006/relationships/image" Target="../media/image76.png"/><Relationship Id="rId7" Type="http://schemas.openxmlformats.org/officeDocument/2006/relationships/image" Target="../media/image82.png"/><Relationship Id="rId2" Type="http://schemas.openxmlformats.org/officeDocument/2006/relationships/notesSlide" Target="../notesSlides/notesSlide45.xml"/><Relationship Id="rId1" Type="http://schemas.openxmlformats.org/officeDocument/2006/relationships/slideLayout" Target="../slideLayouts/slideLayout24.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4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46.xml"/><Relationship Id="rId1" Type="http://schemas.openxmlformats.org/officeDocument/2006/relationships/slideLayout" Target="../slideLayouts/slideLayout25.xml"/><Relationship Id="rId5" Type="http://schemas.openxmlformats.org/officeDocument/2006/relationships/image" Target="../media/image86.png"/><Relationship Id="rId4" Type="http://schemas.openxmlformats.org/officeDocument/2006/relationships/image" Target="../media/image85.png"/></Relationships>
</file>

<file path=ppt/slides/_rels/slide49.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47.xml"/><Relationship Id="rId1" Type="http://schemas.openxmlformats.org/officeDocument/2006/relationships/slideLayout" Target="../slideLayouts/slideLayout25.xml"/><Relationship Id="rId6" Type="http://schemas.openxmlformats.org/officeDocument/2006/relationships/image" Target="../media/image88.wmf"/><Relationship Id="rId5" Type="http://schemas.openxmlformats.org/officeDocument/2006/relationships/oleObject" Target="../embeddings/oleObject1.bin"/><Relationship Id="rId4" Type="http://schemas.openxmlformats.org/officeDocument/2006/relationships/image" Target="../media/image87.png"/></Relationships>
</file>

<file path=ppt/slides/_rels/slide50.xml.rels><?xml version="1.0" encoding="UTF-8" standalone="yes"?>
<Relationships xmlns="http://schemas.openxmlformats.org/package/2006/relationships"><Relationship Id="rId3" Type="http://schemas.openxmlformats.org/officeDocument/2006/relationships/image" Target="../media/image85.png"/><Relationship Id="rId7" Type="http://schemas.openxmlformats.org/officeDocument/2006/relationships/image" Target="../media/image91.wmf"/><Relationship Id="rId2" Type="http://schemas.openxmlformats.org/officeDocument/2006/relationships/notesSlide" Target="../notesSlides/notesSlide48.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90.png"/><Relationship Id="rId4" Type="http://schemas.openxmlformats.org/officeDocument/2006/relationships/image" Target="../media/image89.png"/></Relationships>
</file>

<file path=ppt/slides/_rels/slide51.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49.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0.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6.xml"/></Relationships>
</file>

<file path=ppt/slides/_rels/slide55.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3.xml"/><Relationship Id="rId1" Type="http://schemas.openxmlformats.org/officeDocument/2006/relationships/slideLayout" Target="../slideLayouts/slideLayout25.xml"/><Relationship Id="rId5" Type="http://schemas.openxmlformats.org/officeDocument/2006/relationships/image" Target="../media/image78.png"/><Relationship Id="rId4" Type="http://schemas.openxmlformats.org/officeDocument/2006/relationships/image" Target="../media/image95.png"/></Relationships>
</file>

<file path=ppt/slides/_rels/slide56.xml.rels><?xml version="1.0" encoding="UTF-8" standalone="yes"?>
<Relationships xmlns="http://schemas.openxmlformats.org/package/2006/relationships"><Relationship Id="rId3" Type="http://schemas.openxmlformats.org/officeDocument/2006/relationships/image" Target="../media/image96.jpg"/><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58.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6.xml"/><Relationship Id="rId1" Type="http://schemas.openxmlformats.org/officeDocument/2006/relationships/slideLayout" Target="../slideLayouts/slideLayout26.xml"/></Relationships>
</file>

<file path=ppt/slides/_rels/slide59.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3.xml"/><Relationship Id="rId5" Type="http://schemas.openxmlformats.org/officeDocument/2006/relationships/slide" Target="slide63.xml"/><Relationship Id="rId4" Type="http://schemas.openxmlformats.org/officeDocument/2006/relationships/image" Target="../media/image101.png"/></Relationships>
</file>

<file path=ppt/slides/_rels/slide60.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7.xml"/><Relationship Id="rId1" Type="http://schemas.openxmlformats.org/officeDocument/2006/relationships/slideLayout" Target="../slideLayouts/slideLayout30.xml"/><Relationship Id="rId4" Type="http://schemas.openxmlformats.org/officeDocument/2006/relationships/image" Target="../media/image100.png"/></Relationships>
</file>

<file path=ppt/slides/_rels/slide61.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58.xml"/><Relationship Id="rId1" Type="http://schemas.openxmlformats.org/officeDocument/2006/relationships/slideLayout" Target="../slideLayouts/slideLayout30.xml"/><Relationship Id="rId4" Type="http://schemas.openxmlformats.org/officeDocument/2006/relationships/image" Target="../media/image8.png"/></Relationships>
</file>

<file path=ppt/slides/_rels/slide62.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59.xml"/><Relationship Id="rId1" Type="http://schemas.openxmlformats.org/officeDocument/2006/relationships/slideLayout" Target="../slideLayouts/slideLayout30.xml"/><Relationship Id="rId4" Type="http://schemas.openxmlformats.org/officeDocument/2006/relationships/image" Target="../media/image6.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9.xml"/></Relationships>
</file>

<file path=ppt/slides/_rels/slide64.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61.xml"/><Relationship Id="rId1" Type="http://schemas.openxmlformats.org/officeDocument/2006/relationships/slideLayout" Target="../slideLayouts/slideLayout31.xml"/><Relationship Id="rId4" Type="http://schemas.openxmlformats.org/officeDocument/2006/relationships/image" Target="../media/image5.jpg"/></Relationships>
</file>

<file path=ppt/slides/_rels/slide65.xml.rels><?xml version="1.0" encoding="UTF-8" standalone="yes"?>
<Relationships xmlns="http://schemas.openxmlformats.org/package/2006/relationships"><Relationship Id="rId2" Type="http://schemas.openxmlformats.org/officeDocument/2006/relationships/image" Target="../media/image103.gif"/><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FFBEA"/>
            </a:gs>
            <a:gs pos="100000">
              <a:srgbClr val="E8C547"/>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77131" y="317500"/>
            <a:ext cx="2652353" cy="2652353"/>
          </a:xfrm>
          <a:prstGeom prst="rect">
            <a:avLst/>
          </a:prstGeom>
          <a:ln w="9525">
            <a:solidFill>
              <a:srgbClr val="3A3A3A"/>
            </a:solidFill>
          </a:ln>
          <a:effectLst>
            <a:outerShdw blurRad="101600" dist="45790" dir="3378598" rotWithShape="0">
              <a:srgbClr val="000000">
                <a:alpha val="40000"/>
              </a:srgbClr>
            </a:outerShdw>
          </a:effectLst>
        </p:spPr>
      </p:pic>
      <p:pic>
        <p:nvPicPr>
          <p:cNvPr id="5" name="Thumbnail: biplot" descr="fig-diabetes-ggbiplot-1.png"/>
          <p:cNvPicPr>
            <a:picLocks noChangeAspect="1"/>
          </p:cNvPicPr>
          <p:nvPr/>
        </p:nvPicPr>
        <p:blipFill>
          <a:blip r:embed="rId6"/>
          <a:stretch>
            <a:fillRect/>
          </a:stretch>
        </p:blipFill>
        <p:spPr>
          <a:xfrm>
            <a:off x="3708884" y="317500"/>
            <a:ext cx="3713292" cy="2652351"/>
          </a:xfrm>
          <a:prstGeom prst="rect">
            <a:avLst/>
          </a:prstGeom>
          <a:ln w="9525">
            <a:solidFill>
              <a:srgbClr val="3A3A3A"/>
            </a:solidFill>
          </a:ln>
          <a:effectLst>
            <a:outerShdw blurRad="101600" dist="45790" dir="3378598" rotWithShape="0">
              <a:srgbClr val="000000">
                <a:alpha val="40000"/>
              </a:srgbClr>
            </a:outerShdw>
          </a:effectLst>
        </p:spPr>
      </p:pic>
      <p:pic>
        <p:nvPicPr>
          <p:cNvPr id="6" name="Thumbnail: HE plot" descr="image.png"/>
          <p:cNvPicPr>
            <a:picLocks noChangeAspect="1"/>
          </p:cNvPicPr>
          <p:nvPr/>
        </p:nvPicPr>
        <p:blipFill>
          <a:blip r:embed="rId7"/>
          <a:stretch>
            <a:fillRect/>
          </a:stretch>
        </p:blipFill>
        <p:spPr>
          <a:xfrm>
            <a:off x="7701576" y="317500"/>
            <a:ext cx="3713293" cy="2652352"/>
          </a:xfrm>
          <a:prstGeom prst="rect">
            <a:avLst/>
          </a:prstGeom>
          <a:ln w="9525">
            <a:solidFill>
              <a:srgbClr val="3A3A3A"/>
            </a:solidFill>
          </a:ln>
          <a:effectLst>
            <a:outerShdw blurRad="101600" dist="45790" dir="3378598" rotWithShape="0">
              <a:srgbClr val="000000">
                <a:alpha val="40000"/>
              </a:srgbClr>
            </a:outerShdw>
          </a:effectLst>
        </p:spPr>
      </p:pic>
      <p:pic>
        <p:nvPicPr>
          <p:cNvPr id="8" name="www icon">
            <a:extLst>
              <a:ext uri="{FF2B5EF4-FFF2-40B4-BE49-F238E27FC236}">
                <a16:creationId xmlns:a16="http://schemas.microsoft.com/office/drawing/2014/main" id="{E4802ABD-082F-BC7F-2791-4E06016AE1D7}"/>
              </a:ext>
            </a:extLst>
          </p:cNvPr>
          <p:cNvPicPr>
            <a:picLocks noChangeAspect="1"/>
          </p:cNvPicPr>
          <p:nvPr/>
        </p:nvPicPr>
        <p:blipFill>
          <a:blip r:embed="rId8">
            <a:clrChange>
              <a:clrFrom>
                <a:srgbClr val="FFFFFF"/>
              </a:clrFrom>
              <a:clrTo>
                <a:srgbClr val="FFFFFF">
                  <a:alpha val="0"/>
                </a:srgbClr>
              </a:clrTo>
            </a:clrChange>
          </a:blip>
          <a:stretch>
            <a:fillRect/>
          </a:stretch>
        </p:blipFill>
        <p:spPr>
          <a:xfrm>
            <a:off x="6229529" y="6197600"/>
            <a:ext cx="365760" cy="365760"/>
          </a:xfrm>
          <a:prstGeom prst="rect">
            <a:avLst/>
          </a:prstGeom>
          <a:solidFill>
            <a:schemeClr val="accent1">
              <a:alpha val="0"/>
            </a:schemeClr>
          </a:solidFill>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791200" cy="1143000"/>
          </a:xfrm>
        </p:spPr>
        <p:txBody>
          <a:bodyPr/>
          <a:lstStyle/>
          <a:p>
            <a:r>
              <a:rPr lang="en-CA" dirty="0"/>
              <a:t>My</a:t>
            </a:r>
            <a:r>
              <a:rPr dirty="0"/>
              <a:t> book</a:t>
            </a:r>
          </a:p>
        </p:txBody>
      </p:sp>
      <p:sp>
        <p:nvSpPr>
          <p:cNvPr id="3" name="Content Placeholder 2"/>
          <p:cNvSpPr>
            <a:spLocks noGrp="1"/>
          </p:cNvSpPr>
          <p:nvPr>
            <p:ph sz="half" idx="1"/>
          </p:nvPr>
        </p:nvSpPr>
        <p:spPr>
          <a:xfrm>
            <a:off x="838200" y="1643063"/>
            <a:ext cx="5791200" cy="4533900"/>
          </a:xfrm>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7144774" y="4268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3E4EE"/>
        </a:solidFill>
        <a:effectLst/>
      </p:bgPr>
    </p:bg>
    <p:spTree>
      <p:nvGrpSpPr>
        <p:cNvPr id="1" name=""/>
        <p:cNvGrpSpPr/>
        <p:nvPr/>
      </p:nvGrpSpPr>
      <p:grpSpPr>
        <a:xfrm>
          <a:off x="0" y="0"/>
          <a:ext cx="0" cy="0"/>
          <a:chOff x="0" y="0"/>
          <a:chExt cx="0" cy="0"/>
        </a:xfrm>
      </p:grpSpPr>
      <p:pic>
        <p:nvPicPr>
          <p:cNvPr id="6" name="Penguin station">
            <a:extLst>
              <a:ext uri="{FF2B5EF4-FFF2-40B4-BE49-F238E27FC236}">
                <a16:creationId xmlns:a16="http://schemas.microsoft.com/office/drawing/2014/main" id="{413CB08B-C51F-703F-A1B4-7349204C82D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096000"/>
          </a:xfrm>
          <a:prstGeom prst="rect">
            <a:avLst/>
          </a:prstGeom>
        </p:spPr>
      </p:pic>
      <p:sp>
        <p:nvSpPr>
          <p:cNvPr id="2" name="Title 1"/>
          <p:cNvSpPr>
            <a:spLocks noGrp="1"/>
          </p:cNvSpPr>
          <p:nvPr>
            <p:ph type="title"/>
          </p:nvPr>
        </p:nvSpPr>
        <p:spPr>
          <a:xfrm>
            <a:off x="5384800" y="76200"/>
            <a:ext cx="6705600" cy="1968500"/>
          </a:xfrm>
          <a:effectLst>
            <a:outerShdw blurRad="50800" dist="38100" dir="2700000" algn="tl" rotWithShape="0">
              <a:prstClr val="black">
                <a:alpha val="40000"/>
              </a:prstClr>
            </a:outerShdw>
          </a:effectLst>
        </p:spPr>
        <p:txBody>
          <a:bodyPr vert="horz" wrap="square" lIns="0" tIns="0" rIns="0" bIns="0" rtlCol="0" anchor="t">
            <a:noAutofit/>
          </a:bodyPr>
          <a:lstStyle/>
          <a:p>
            <a:pPr algn="ctr">
              <a:lnSpc>
                <a:spcPct val="85000"/>
              </a:lnSpc>
            </a:pPr>
            <a:r>
              <a:rPr lang="en-US" sz="7200" b="1" dirty="0">
                <a:solidFill>
                  <a:srgbClr val="1B2F4E"/>
                </a:solidFill>
                <a:effectLst>
                  <a:glow rad="101600">
                    <a:srgbClr val="FFFFFF">
                      <a:alpha val="65000"/>
                    </a:srgbClr>
                  </a:glow>
                </a:effectLst>
              </a:rPr>
              <a:t>Seeing multivariate data</a:t>
            </a:r>
          </a:p>
        </p:txBody>
      </p:sp>
      <p:sp>
        <p:nvSpPr>
          <p:cNvPr id="3" name="Text Placeholder 2"/>
          <p:cNvSpPr>
            <a:spLocks noGrp="1"/>
          </p:cNvSpPr>
          <p:nvPr>
            <p:ph type="body" idx="1"/>
          </p:nvPr>
        </p:nvSpPr>
        <p:spPr>
          <a:xfrm>
            <a:off x="381000" y="6146799"/>
            <a:ext cx="10541000" cy="660400"/>
          </a:xfrm>
          <a:effectLst>
            <a:outerShdw blurRad="50800" dist="38100" dir="2700000" algn="tl" rotWithShape="0">
              <a:prstClr val="black">
                <a:alpha val="40000"/>
              </a:prstClr>
            </a:outerShdw>
          </a:effectLst>
        </p:spPr>
        <p:txBody>
          <a:bodyPr vert="horz" lIns="91440" tIns="45720" rIns="91440" bIns="45720" rtlCol="0" anchor="ctr">
            <a:normAutofit/>
          </a:bodyPr>
          <a:lstStyle/>
          <a:p>
            <a:pPr algn="ctr"/>
            <a:r>
              <a:rPr lang="en-US" dirty="0">
                <a:solidFill>
                  <a:srgbClr val="1B2F4E"/>
                </a:solidFill>
              </a:rPr>
              <a:t>Data ellipses, penguins, and looking at many variables at once</a:t>
            </a:r>
          </a:p>
        </p:txBody>
      </p:sp>
      <p:sp>
        <p:nvSpPr>
          <p:cNvPr id="14" name="Slide Number Placeholder 14"/>
          <p:cNvSpPr>
            <a:spLocks noGrp="1"/>
          </p:cNvSpPr>
          <p:nvPr>
            <p:ph type="sldNum" sz="quarter" idx="12"/>
          </p:nvPr>
        </p:nvSpPr>
        <p:spPr>
          <a:xfrm>
            <a:off x="11049000" y="6299200"/>
            <a:ext cx="889000" cy="365125"/>
          </a:xfrm>
        </p:spPr>
        <p:txBody>
          <a:bodyPr/>
          <a:lstStyle/>
          <a:p>
            <a:fld id="{9BFB2853-4965-4727-91C4-384EB30D99A4}" type="slidenum">
              <a:rPr lang="en-CA"/>
              <a:t>10</a:t>
            </a:fld>
            <a:endParaRPr lang="en-CA"/>
          </a:p>
        </p:txBody>
      </p:sp>
    </p:spTree>
    <p:extLst>
      <p:ext uri="{BB962C8B-B14F-4D97-AF65-F5344CB8AC3E}">
        <p14:creationId xmlns:p14="http://schemas.microsoft.com/office/powerpoint/2010/main" val="2393490728"/>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5793" y="594442"/>
            <a:ext cx="3083335" cy="1984693"/>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570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a:grpSpLocks noChangeAspect="1"/>
          </p:cNvGrpSpPr>
          <p:nvPr/>
        </p:nvGrpSpPr>
        <p:grpSpPr>
          <a:xfrm>
            <a:off x="1029718" y="2785942"/>
            <a:ext cx="3177426" cy="396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681621" y="2785942"/>
            <a:ext cx="2599713" cy="396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2785942"/>
            <a:ext cx="2599713" cy="396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792DA-38D0-0A13-18FE-D00C390BF6FE}"/>
              </a:ext>
            </a:extLst>
          </p:cNvPr>
          <p:cNvSpPr>
            <a:spLocks noGrp="1"/>
          </p:cNvSpPr>
          <p:nvPr>
            <p:ph type="title"/>
          </p:nvPr>
        </p:nvSpPr>
        <p:spPr/>
        <p:txBody>
          <a:bodyPr/>
          <a:lstStyle/>
          <a:p>
            <a:r>
              <a:rPr lang="en-CA"/>
              <a:t>Thinking about Penguin variables</a:t>
            </a:r>
          </a:p>
        </p:txBody>
      </p:sp>
      <p:sp>
        <p:nvSpPr>
          <p:cNvPr id="3" name="Intro text">
            <a:extLst>
              <a:ext uri="{FF2B5EF4-FFF2-40B4-BE49-F238E27FC236}">
                <a16:creationId xmlns:a16="http://schemas.microsoft.com/office/drawing/2014/main" id="{31270026-3357-36A1-2ABF-DA0EB1E72A7E}"/>
              </a:ext>
            </a:extLst>
          </p:cNvPr>
          <p:cNvSpPr txBox="1"/>
          <p:nvPr/>
        </p:nvSpPr>
        <p:spPr>
          <a:xfrm>
            <a:off x="889000" y="12446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Bill length &amp; depth are two measurements of one object: a penguin’s</a:t>
            </a:r>
            <a:r>
              <a:rPr lang="en-CA" b="1" dirty="0"/>
              <a:t> beak</a:t>
            </a:r>
            <a:r>
              <a:rPr lang="en-CA" dirty="0"/>
              <a:t>.</a:t>
            </a:r>
          </a:p>
          <a:p>
            <a:pPr marL="203200" indent="-203200">
              <a:spcAft>
                <a:spcPts val="400"/>
              </a:spcAft>
              <a:buFont typeface="+mj-lt"/>
              <a:buChar char="•"/>
            </a:pPr>
            <a:r>
              <a:rPr lang="en-CA" dirty="0">
                <a:sym typeface="Symbol" panose="05050102010706020507" pitchFamily="18" charset="2"/>
              </a:rPr>
              <a:t> </a:t>
            </a:r>
            <a:r>
              <a:rPr lang="en-CA" dirty="0"/>
              <a:t>Re-express them as </a:t>
            </a:r>
            <a:r>
              <a:rPr lang="en-CA" b="1" dirty="0"/>
              <a:t>Size</a:t>
            </a:r>
            <a:r>
              <a:rPr lang="en-CA" dirty="0"/>
              <a:t> = L x D and </a:t>
            </a:r>
            <a:r>
              <a:rPr lang="en-CA" b="1" dirty="0"/>
              <a:t>Shape</a:t>
            </a:r>
            <a:r>
              <a:rPr lang="en-CA" dirty="0"/>
              <a:t> = L / D</a:t>
            </a:r>
          </a:p>
        </p:txBody>
      </p:sp>
      <p:sp>
        <p:nvSpPr>
          <p:cNvPr id="4" name="Reveal text">
            <a:extLst>
              <a:ext uri="{FF2B5EF4-FFF2-40B4-BE49-F238E27FC236}">
                <a16:creationId xmlns:a16="http://schemas.microsoft.com/office/drawing/2014/main" id="{F703DD8B-EC5B-F58C-61A5-6711CA9B85C5}"/>
              </a:ext>
            </a:extLst>
          </p:cNvPr>
          <p:cNvSpPr txBox="1"/>
          <p:nvPr/>
        </p:nvSpPr>
        <p:spPr>
          <a:xfrm>
            <a:off x="889000" y="19050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On log scales, a </a:t>
            </a:r>
            <a:r>
              <a:rPr lang="en-CA" b="1" dirty="0"/>
              <a:t>45</a:t>
            </a:r>
            <a:r>
              <a:rPr lang="en-CA" dirty="0"/>
              <a:t>° rotation: equivalent data </a:t>
            </a:r>
            <a:r>
              <a:rPr lang="en-CA" dirty="0">
                <a:sym typeface="Symbol" panose="05050102010706020507" pitchFamily="18" charset="2"/>
              </a:rPr>
              <a:t> </a:t>
            </a:r>
            <a:r>
              <a:rPr lang="en-CA" dirty="0"/>
              <a:t>same multivariate tests</a:t>
            </a:r>
          </a:p>
          <a:p>
            <a:pPr marL="203200" indent="-203200">
              <a:spcAft>
                <a:spcPts val="400"/>
              </a:spcAft>
              <a:buFont typeface="+mj-lt"/>
              <a:buChar char="•"/>
            </a:pPr>
            <a:r>
              <a:rPr lang="en-CA" dirty="0"/>
              <a:t>Simpson's paradox </a:t>
            </a:r>
            <a:r>
              <a:rPr lang="en-CA" b="1" dirty="0"/>
              <a:t>disappears</a:t>
            </a:r>
            <a:r>
              <a:rPr lang="en-CA" dirty="0"/>
              <a:t>: species differ in </a:t>
            </a:r>
            <a:r>
              <a:rPr lang="en-CA" b="1" dirty="0"/>
              <a:t>shape</a:t>
            </a:r>
            <a:r>
              <a:rPr lang="en-CA" dirty="0"/>
              <a:t>; within species, bills vary in </a:t>
            </a:r>
            <a:r>
              <a:rPr lang="en-CA" b="1" dirty="0"/>
              <a:t>size</a:t>
            </a:r>
          </a:p>
        </p:txBody>
      </p:sp>
      <p:pic>
        <p:nvPicPr>
          <p:cNvPr id="6" name="Length depth plot">
            <a:extLst>
              <a:ext uri="{FF2B5EF4-FFF2-40B4-BE49-F238E27FC236}">
                <a16:creationId xmlns:a16="http://schemas.microsoft.com/office/drawing/2014/main" id="{96C66D9F-6088-AB1E-EEBA-362D07BAD36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2032000" y="2641600"/>
            <a:ext cx="3810000" cy="3810000"/>
          </a:xfrm>
          <a:prstGeom prst="rect">
            <a:avLst/>
          </a:prstGeom>
        </p:spPr>
      </p:pic>
      <p:pic>
        <p:nvPicPr>
          <p:cNvPr id="8" name="Size shape plot">
            <a:extLst>
              <a:ext uri="{FF2B5EF4-FFF2-40B4-BE49-F238E27FC236}">
                <a16:creationId xmlns:a16="http://schemas.microsoft.com/office/drawing/2014/main" id="{93E55A64-2715-101B-F7CB-0A9AA8B7A3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350000" y="2641600"/>
            <a:ext cx="3810000" cy="3810000"/>
          </a:xfrm>
          <a:prstGeom prst="rect">
            <a:avLst/>
          </a:prstGeom>
        </p:spPr>
      </p:pic>
      <p:sp>
        <p:nvSpPr>
          <p:cNvPr id="9" name="Source">
            <a:extLst>
              <a:ext uri="{FF2B5EF4-FFF2-40B4-BE49-F238E27FC236}">
                <a16:creationId xmlns:a16="http://schemas.microsoft.com/office/drawing/2014/main" id="{5E68144E-DFDA-5A5A-3A4B-EBC0F9920935}"/>
              </a:ext>
            </a:extLst>
          </p:cNvPr>
          <p:cNvSpPr txBox="1"/>
          <p:nvPr/>
        </p:nvSpPr>
        <p:spPr>
          <a:xfrm>
            <a:off x="838200" y="6453032"/>
            <a:ext cx="5080000" cy="276999"/>
          </a:xfrm>
          <a:prstGeom prst="rect">
            <a:avLst/>
          </a:prstGeom>
          <a:noFill/>
        </p:spPr>
        <p:txBody>
          <a:bodyPr vert="horz" wrap="square" rtlCol="0">
            <a:spAutoFit/>
          </a:bodyPr>
          <a:lstStyle/>
          <a:p>
            <a:pPr>
              <a:spcAft>
                <a:spcPts val="400"/>
              </a:spcAft>
            </a:pPr>
            <a:r>
              <a:rPr lang="en-CA" sz="1200" dirty="0"/>
              <a:t>Blog: </a:t>
            </a:r>
            <a:r>
              <a:rPr lang="en-CA" sz="1200" dirty="0">
                <a:hlinkClick r:id="rId4"/>
              </a:rPr>
              <a:t>friendly.github.io/blog/posts/2026-10-peng-altviews </a:t>
            </a:r>
            <a:endParaRPr lang="en-CA" sz="1200" dirty="0"/>
          </a:p>
        </p:txBody>
      </p:sp>
      <p:sp>
        <p:nvSpPr>
          <p:cNvPr id="5" name="Slide Number Placeholder 4">
            <a:extLst>
              <a:ext uri="{FF2B5EF4-FFF2-40B4-BE49-F238E27FC236}">
                <a16:creationId xmlns:a16="http://schemas.microsoft.com/office/drawing/2014/main" id="{48DA45CF-D7F2-6DA9-D84A-B98336211897}"/>
              </a:ext>
            </a:extLst>
          </p:cNvPr>
          <p:cNvSpPr>
            <a:spLocks noGrp="1"/>
          </p:cNvSpPr>
          <p:nvPr>
            <p:ph type="sldNum" sz="quarter" idx="12"/>
          </p:nvPr>
        </p:nvSpPr>
        <p:spPr/>
        <p:txBody>
          <a:bodyPr/>
          <a:lstStyle/>
          <a:p>
            <a:fld id="{9BFB2853-4965-4727-91C4-384EB30D99A4}" type="slidenum">
              <a:rPr lang="en-CA" smtClean="0"/>
              <a:t>19</a:t>
            </a:fld>
            <a:endParaRPr lang="en-CA"/>
          </a:p>
        </p:txBody>
      </p:sp>
      <p:pic>
        <p:nvPicPr>
          <p:cNvPr id="10" name="Picture 9">
            <a:extLst>
              <a:ext uri="{FF2B5EF4-FFF2-40B4-BE49-F238E27FC236}">
                <a16:creationId xmlns:a16="http://schemas.microsoft.com/office/drawing/2014/main" id="{7B8236D9-68E7-8749-BFF7-3E102C68689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26722" y="1090533"/>
            <a:ext cx="1990406" cy="1281192"/>
          </a:xfrm>
          <a:prstGeom prst="rect">
            <a:avLst/>
          </a:prstGeom>
        </p:spPr>
      </p:pic>
    </p:spTree>
    <p:extLst>
      <p:ext uri="{BB962C8B-B14F-4D97-AF65-F5344CB8AC3E}">
        <p14:creationId xmlns:p14="http://schemas.microsoft.com/office/powerpoint/2010/main" val="1763756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2" presetClass="entr" presetSubtype="8" fill="hold" nodeType="withEffect">
                                  <p:stCondLst>
                                    <p:cond delay="50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0-#ppt_w/2"/>
                                          </p:val>
                                        </p:tav>
                                        <p:tav tm="100000">
                                          <p:val>
                                            <p:strVal val="#ppt_x"/>
                                          </p:val>
                                        </p:tav>
                                      </p:tavLst>
                                    </p:anim>
                                    <p:anim calcmode="lin" valueType="num">
                                      <p:cBhvr additive="base">
                                        <p:cTn id="12"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2" presetClass="entr" presetSubtype="2" fill="hold" nodeType="withEffect">
                                  <p:stCondLst>
                                    <p:cond delay="50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1+#ppt_w/2"/>
                                          </p:val>
                                        </p:tav>
                                        <p:tav tm="100000">
                                          <p:val>
                                            <p:strVal val="#ppt_x"/>
                                          </p:val>
                                        </p:tav>
                                      </p:tavLst>
                                    </p:anim>
                                    <p:anim calcmode="lin" valueType="num">
                                      <p:cBhvr additive="base">
                                        <p:cTn id="20"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3477875"/>
          </a:xfrm>
          <a:prstGeom prst="rect">
            <a:avLst/>
          </a:prstGeom>
          <a:noFill/>
        </p:spPr>
        <p:txBody>
          <a:bodyPr wrap="square" rtlCol="0">
            <a:spAutoFit/>
          </a:bodyPr>
          <a:lstStyle/>
          <a:p>
            <a:r>
              <a:rPr lang="en-CA" sz="2000" dirty="0"/>
              <a:t>Each observation is a line across the variable axes (</a:t>
            </a:r>
            <a:r>
              <a:rPr lang="en-CA" sz="2000" dirty="0" err="1">
                <a:latin typeface="Consolas" panose="020B0609020204030204" pitchFamily="49" charset="0"/>
              </a:rPr>
              <a:t>Ggally</a:t>
            </a:r>
            <a:r>
              <a:rPr lang="en-CA" sz="2000" dirty="0"/>
              <a:t> )</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r>
              <a:rPr lang="en-CA" sz="2000" dirty="0">
                <a:sym typeface="Symbol" panose="05050102010706020507" pitchFamily="18" charset="2"/>
              </a:rPr>
              <a:t> </a:t>
            </a:r>
            <a:r>
              <a:rPr lang="en-CA" sz="2000" dirty="0"/>
              <a:t>We see that penguins like particular islands</a:t>
            </a:r>
          </a:p>
          <a:p>
            <a:endParaRPr lang="en-CA" sz="2000" dirty="0"/>
          </a:p>
          <a:p>
            <a:r>
              <a:rPr lang="en-CA" sz="2000" dirty="0"/>
              <a:t>Using this interactively could make a tool for understanding (</a:t>
            </a:r>
            <a:r>
              <a:rPr lang="en-CA" sz="2000" dirty="0" err="1">
                <a:latin typeface="Consolas" panose="020B0609020204030204" pitchFamily="49" charset="0"/>
              </a:rPr>
              <a:t>plotly</a:t>
            </a:r>
            <a:r>
              <a:rPr lang="en-CA" sz="2000" dirty="0"/>
              <a:t>)</a:t>
            </a:r>
          </a:p>
        </p:txBody>
      </p:sp>
      <p:sp>
        <p:nvSpPr>
          <p:cNvPr id="7" name="Slide Number Placeholder 7"/>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24</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a:grpSpLocks noChangeAspect="1"/>
          </p:cNvGrpSpPr>
          <p:nvPr/>
        </p:nvGrpSpPr>
        <p:grpSpPr>
          <a:xfrm>
            <a:off x="892366" y="1457510"/>
            <a:ext cx="2124000" cy="2124000"/>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a:grpSpLocks noChangeAspect="1"/>
          </p:cNvGrpSpPr>
          <p:nvPr/>
        </p:nvGrpSpPr>
        <p:grpSpPr>
          <a:xfrm>
            <a:off x="3560633" y="2177510"/>
            <a:ext cx="3744000" cy="2808000"/>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a:grpSpLocks noChangeAspect="1"/>
          </p:cNvGrpSpPr>
          <p:nvPr/>
        </p:nvGrpSpPr>
        <p:grpSpPr>
          <a:xfrm>
            <a:off x="8477600" y="3955334"/>
            <a:ext cx="1880359" cy="18720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25</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222005"/>
            <a:ext cx="4875713" cy="3816429"/>
          </a:xfrm>
          <a:prstGeom prst="rect">
            <a:avLst/>
          </a:prstGeom>
          <a:noFill/>
        </p:spPr>
        <p:txBody>
          <a:bodyPr wrap="square" rtlCol="0">
            <a:spAutoFit/>
          </a:bodyPr>
          <a:lstStyle/>
          <a:p>
            <a:r>
              <a:rPr lang="en-CA" sz="2200" dirty="0">
                <a:solidFill>
                  <a:srgbClr val="FF0000"/>
                </a:solidFill>
              </a:rPr>
              <a:t>Least squares </a:t>
            </a:r>
            <a:r>
              <a:rPr lang="en-CA" sz="2200" dirty="0">
                <a:sym typeface="Symbol" panose="05050102010706020507" pitchFamily="18" charset="2"/>
              </a:rPr>
              <a:t> observations connected by springs </a:t>
            </a:r>
          </a:p>
          <a:p>
            <a:endParaRPr lang="en-CA" sz="2200" dirty="0">
              <a:sym typeface="Symbol" panose="05050102010706020507" pitchFamily="18" charset="2"/>
            </a:endParaRPr>
          </a:p>
          <a:p>
            <a:r>
              <a:rPr lang="en-CA" sz="2200" dirty="0">
                <a:sym typeface="Symbol" panose="05050102010706020507" pitchFamily="18" charset="2"/>
              </a:rPr>
              <a:t>For PCA, connect a rigid line to the points by </a:t>
            </a:r>
            <a:r>
              <a:rPr lang="en-CA" sz="2200" dirty="0">
                <a:solidFill>
                  <a:srgbClr val="FF0000"/>
                </a:solidFill>
                <a:sym typeface="Symbol" panose="05050102010706020507" pitchFamily="18" charset="2"/>
              </a:rPr>
              <a:t>springs, </a:t>
            </a:r>
            <a:r>
              <a:rPr lang="en-CA" sz="2200" dirty="0">
                <a:sym typeface="Symbol" panose="05050102010706020507" pitchFamily="18" charset="2"/>
              </a:rPr>
              <a:t>always </a:t>
            </a:r>
            <a:r>
              <a:rPr lang="en-CA" sz="2200" dirty="0">
                <a:latin typeface="Matura MT Script Capitals" panose="03020802060602070202" pitchFamily="66" charset="0"/>
                <a:sym typeface="Symbol" panose="05050102010706020507" pitchFamily="18" charset="2"/>
              </a:rPr>
              <a:t> </a:t>
            </a:r>
            <a:r>
              <a:rPr lang="en-CA" sz="2200" b="1" dirty="0">
                <a:latin typeface="Matura MT Script Capitals" panose="03020802060602070202" pitchFamily="66" charset="0"/>
                <a:sym typeface="Symbol" panose="05050102010706020507" pitchFamily="18" charset="2"/>
              </a:rPr>
              <a:t></a:t>
            </a:r>
            <a:r>
              <a:rPr lang="en-CA" sz="2200" dirty="0">
                <a:latin typeface="Matura MT Script Capitals" panose="03020802060602070202" pitchFamily="66" charset="0"/>
                <a:sym typeface="Symbol" panose="05050102010706020507" pitchFamily="18" charset="2"/>
              </a:rPr>
              <a:t> </a:t>
            </a:r>
            <a:r>
              <a:rPr lang="en-CA" sz="2200" dirty="0">
                <a:sym typeface="Symbol" panose="05050102010706020507" pitchFamily="18" charset="2"/>
              </a:rPr>
              <a:t>line</a:t>
            </a:r>
            <a:endParaRPr lang="en-CA" sz="2200" dirty="0">
              <a:solidFill>
                <a:srgbClr val="FF0000"/>
              </a:solidFill>
              <a:sym typeface="Symbol" panose="05050102010706020507" pitchFamily="18" charset="2"/>
            </a:endParaRPr>
          </a:p>
          <a:p>
            <a:endParaRPr lang="en-CA" sz="2200" dirty="0">
              <a:sym typeface="Symbol" panose="05050102010706020507" pitchFamily="18" charset="2"/>
            </a:endParaRPr>
          </a:p>
          <a:p>
            <a:r>
              <a:rPr lang="en-CA" sz="2200" dirty="0"/>
              <a:t>Springs pull the line ∝ </a:t>
            </a:r>
            <a:r>
              <a:rPr lang="en-CA" sz="2200" dirty="0">
                <a:solidFill>
                  <a:srgbClr val="FF0000"/>
                </a:solidFill>
              </a:rPr>
              <a:t>squared</a:t>
            </a:r>
            <a:r>
              <a:rPr lang="en-CA" sz="2200" dirty="0"/>
              <a:t> distance</a:t>
            </a:r>
          </a:p>
          <a:p>
            <a:endParaRPr lang="en-CA" sz="2200" dirty="0"/>
          </a:p>
          <a:p>
            <a:r>
              <a:rPr lang="en-CA" sz="2200" dirty="0"/>
              <a:t>It settles on the first </a:t>
            </a:r>
            <a:r>
              <a:rPr lang="en-CA" sz="2200" dirty="0">
                <a:solidFill>
                  <a:srgbClr val="FF0000"/>
                </a:solidFill>
              </a:rPr>
              <a:t>principal component: </a:t>
            </a:r>
            <a:r>
              <a:rPr lang="en-CA" sz="2200" dirty="0"/>
              <a:t>largest variance</a:t>
            </a:r>
            <a:r>
              <a:rPr lang="en-CA" sz="2200" dirty="0">
                <a:solidFill>
                  <a:srgbClr val="FF0000"/>
                </a:solidFill>
              </a:rPr>
              <a:t> </a:t>
            </a:r>
          </a:p>
        </p:txBody>
      </p:sp>
      <p:sp>
        <p:nvSpPr>
          <p:cNvPr id="7" name="Slide Number Placeholder 7"/>
          <p:cNvSpPr>
            <a:spLocks noGrp="1"/>
          </p:cNvSpPr>
          <p:nvPr>
            <p:ph type="sldNum" sz="quarter" idx="12"/>
          </p:nvPr>
        </p:nvSpPr>
        <p:spPr/>
        <p:txBody>
          <a:bodyPr/>
          <a:lstStyle/>
          <a:p>
            <a:fld id="{9BFB2853-4965-4727-91C4-384EB30D99A4}" type="slidenum">
              <a:rPr lang="en-CA"/>
              <a:t>27</a:t>
            </a:fld>
            <a:endParaRPr lang="en-CA"/>
          </a:p>
        </p:txBody>
      </p:sp>
      <p:sp>
        <p:nvSpPr>
          <p:cNvPr id="10" name="TextBox 9">
            <a:extLst>
              <a:ext uri="{FF2B5EF4-FFF2-40B4-BE49-F238E27FC236}">
                <a16:creationId xmlns:a16="http://schemas.microsoft.com/office/drawing/2014/main" id="{4AFFA5EF-2E03-E25E-4CF0-C6091F3D06A1}"/>
              </a:ext>
            </a:extLst>
          </p:cNvPr>
          <p:cNvSpPr txBox="1"/>
          <p:nvPr/>
        </p:nvSpPr>
        <p:spPr>
          <a:xfrm>
            <a:off x="6702014" y="5334000"/>
            <a:ext cx="4875713" cy="830997"/>
          </a:xfrm>
          <a:prstGeom prst="rect">
            <a:avLst/>
          </a:prstGeom>
          <a:solidFill>
            <a:srgbClr val="C7E3E3"/>
          </a:solidFill>
        </p:spPr>
        <p:txBody>
          <a:bodyPr wrap="square" rtlCol="0">
            <a:spAutoFit/>
          </a:bodyPr>
          <a:lstStyle/>
          <a:p>
            <a:r>
              <a:rPr lang="en-CA" sz="2400" dirty="0">
                <a:sym typeface="Symbol" panose="05050102010706020507" pitchFamily="18" charset="2"/>
              </a:rPr>
              <a:t></a:t>
            </a:r>
            <a:r>
              <a:rPr lang="en-CA" sz="2400" dirty="0"/>
              <a:t> Statistics, </a:t>
            </a:r>
            <a:r>
              <a:rPr lang="en-CA" sz="2400" dirty="0" err="1"/>
              <a:t>dataviz</a:t>
            </a:r>
            <a:r>
              <a:rPr lang="en-CA" sz="2400" dirty="0"/>
              <a:t>, geometry &amp; physics are tightly connected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28</a:t>
            </a:fld>
            <a:endParaRPr lang="en-CA"/>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923330"/>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609600" y="6275903"/>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29</a:t>
            </a:fld>
            <a:endParaRPr lang="en-CA"/>
          </a:p>
        </p:txBody>
      </p:sp>
    </p:spTree>
    <p:extLst>
      <p:ext uri="{BB962C8B-B14F-4D97-AF65-F5344CB8AC3E}">
        <p14:creationId xmlns:p14="http://schemas.microsoft.com/office/powerpoint/2010/main" val="1808144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1536700" y="1240536"/>
            <a:ext cx="8857488" cy="4428744"/>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32</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6">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33</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dirty="0"/>
              <a:t>Hook Nose</a:t>
            </a:r>
          </a:p>
        </p:txBody>
      </p:sp>
      <p:sp>
        <p:nvSpPr>
          <p:cNvPr id="15" name="Slide Number Placeholder 15"/>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Hook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35</a:t>
            </a:fld>
            <a:endParaRPr lang="en-CA"/>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479427"/>
            <a:ext cx="10515599" cy="715962"/>
          </a:xfrm>
        </p:spPr>
        <p:txBody>
          <a:bodyPr>
            <a:normAutofit/>
          </a:bodyPr>
          <a:lstStyle/>
          <a:p>
            <a:r>
              <a:rPr lang="en-US" dirty="0"/>
              <a:t>Elliptical insights: Measurement error</a:t>
            </a:r>
          </a:p>
        </p:txBody>
      </p:sp>
      <p:sp>
        <p:nvSpPr>
          <p:cNvPr id="3" name="Content Placeholder 2"/>
          <p:cNvSpPr>
            <a:spLocks noGrp="1"/>
          </p:cNvSpPr>
          <p:nvPr>
            <p:ph idx="1"/>
          </p:nvPr>
        </p:nvSpPr>
        <p:spPr>
          <a:xfrm>
            <a:off x="838200" y="1643063"/>
            <a:ext cx="10515600" cy="3309937"/>
          </a:xfrm>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2140400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37</a:t>
            </a:fld>
            <a:endParaRPr lang="en-CA"/>
          </a:p>
        </p:txBody>
      </p:sp>
    </p:spTree>
    <p:extLst>
      <p:ext uri="{BB962C8B-B14F-4D97-AF65-F5344CB8AC3E}">
        <p14:creationId xmlns:p14="http://schemas.microsoft.com/office/powerpoint/2010/main" val="19636508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38</a:t>
            </a:fld>
            <a:endParaRPr lang="en-CA"/>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39</a:t>
            </a:fld>
            <a:endParaRPr lang="en-CA"/>
          </a:p>
        </p:txBody>
      </p:sp>
    </p:spTree>
    <p:extLst>
      <p:ext uri="{BB962C8B-B14F-4D97-AF65-F5344CB8AC3E}">
        <p14:creationId xmlns:p14="http://schemas.microsoft.com/office/powerpoint/2010/main" val="26152795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41</a:t>
            </a:fld>
            <a:endParaRPr lang="en-CA"/>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259893" cy="4533900"/>
          </a:xfrm>
        </p:spPr>
        <p:txBody>
          <a:bodyPr/>
          <a:lstStyle/>
          <a:p>
            <a:r>
              <a:rPr dirty="0"/>
              <a:t>Longley data: six highly collinear economic predictors</a:t>
            </a:r>
          </a:p>
          <a:p>
            <a:r>
              <a:rPr dirty="0"/>
              <a:t>Coefficients plotted against the shrinkage constant</a:t>
            </a:r>
          </a:p>
          <a:p>
            <a:r>
              <a:rPr dirty="0"/>
              <a:t>Shows the bias, but nothing about precision</a:t>
            </a:r>
          </a:p>
        </p:txBody>
      </p:sp>
      <p:pic>
        <p:nvPicPr>
          <p:cNvPr id="4" name="Picture 3" descr="fig-longley-traceplot1-1.png"/>
          <p:cNvPicPr>
            <a:picLocks noChangeAspect="1"/>
          </p:cNvPicPr>
          <p:nvPr/>
        </p:nvPicPr>
        <p:blipFill>
          <a:blip r:embed="rId3"/>
          <a:stretch>
            <a:fillRect/>
          </a:stretch>
        </p:blipFill>
        <p:spPr>
          <a:xfrm>
            <a:off x="52734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42</a:t>
            </a:fld>
            <a:endParaRPr lang="en-CA"/>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43</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t>Transform to the principal component space of the predictors</a:t>
            </a:r>
          </a:p>
          <a:p>
            <a:r>
              <a:rPr dirty="0"/>
              <a:t>Shrinkage happens mostly in the </a:t>
            </a:r>
            <a:r>
              <a:t>smallest dimensions</a:t>
            </a:r>
            <a:endParaRPr dirty="0"/>
          </a:p>
        </p:txBody>
      </p:sp>
      <p:sp>
        <p:nvSpPr>
          <p:cNvPr id="5" name="TextBox 4"/>
          <p:cNvSpPr txBox="1"/>
          <p:nvPr/>
        </p:nvSpPr>
        <p:spPr>
          <a:xfrm>
            <a:off x="841248" y="6355080"/>
            <a:ext cx="2743200" cy="261610"/>
          </a:xfrm>
          <a:prstGeom prst="rect">
            <a:avLst/>
          </a:prstGeom>
          <a:noFill/>
        </p:spPr>
        <p:txBody>
          <a:bodyPr wrap="square">
            <a:spAutoFit/>
          </a:bodyPr>
          <a:lstStyle/>
          <a:p>
            <a:r>
              <a:rPr lang="en-CA" sz="1100">
                <a:solidFill>
                  <a:srgbClr val="707070"/>
                </a:solidFill>
              </a:rPr>
              <a:t>Figure 9.16</a:t>
            </a:r>
            <a:endParaRPr sz="1100">
              <a:solidFill>
                <a:srgbClr val="707070"/>
              </a:solidFill>
            </a:endParaRPr>
          </a:p>
        </p:txBody>
      </p:sp>
      <p:sp>
        <p:nvSpPr>
          <p:cNvPr id="8" name="Slide Number Placeholder 8"/>
          <p:cNvSpPr>
            <a:spLocks noGrp="1"/>
          </p:cNvSpPr>
          <p:nvPr>
            <p:ph type="sldNum" sz="quarter" idx="12"/>
          </p:nvPr>
        </p:nvSpPr>
        <p:spPr/>
        <p:txBody>
          <a:bodyPr/>
          <a:lstStyle/>
          <a:p>
            <a:fld id="{9BFB2853-4965-4727-91C4-384EB30D99A4}" type="slidenum">
              <a:rPr lang="en-CA"/>
              <a:t>44</a:t>
            </a:fld>
            <a:endParaRPr lang="en-CA"/>
          </a:p>
        </p:txBody>
      </p:sp>
      <p:pic>
        <p:nvPicPr>
          <p:cNvPr id="7" name="Fig 9.16 PCA pairs">
            <a:extLst>
              <a:ext uri="{FF2B5EF4-FFF2-40B4-BE49-F238E27FC236}">
                <a16:creationId xmlns:a16="http://schemas.microsoft.com/office/drawing/2014/main" id="{B383AC6A-BF1A-7CC4-48BE-C7E94330CB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524500" y="1169416"/>
            <a:ext cx="5626100" cy="5626100"/>
          </a:xfrm>
          <a:prstGeom prst="rect">
            <a:avLst/>
          </a:prstGeom>
        </p:spPr>
      </p:pic>
      <p:sp>
        <p:nvSpPr>
          <p:cNvPr id="4" name="Rectangle 3">
            <a:extLst>
              <a:ext uri="{FF2B5EF4-FFF2-40B4-BE49-F238E27FC236}">
                <a16:creationId xmlns:a16="http://schemas.microsoft.com/office/drawing/2014/main" id="{580EC192-086A-F6CF-421A-001CD9968C77}"/>
              </a:ext>
            </a:extLst>
          </p:cNvPr>
          <p:cNvSpPr/>
          <p:nvPr/>
        </p:nvSpPr>
        <p:spPr>
          <a:xfrm>
            <a:off x="9283700" y="4889500"/>
            <a:ext cx="1866900" cy="190601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solidFill>
                  <a:schemeClr val="bg1">
                    <a:lumMod val="50000"/>
                  </a:schemeClr>
                </a:solidFill>
              </a:rPr>
              <a:t>Transform to the principal component space of the predictors</a:t>
            </a:r>
          </a:p>
          <a:p>
            <a:r>
              <a:rPr dirty="0">
                <a:solidFill>
                  <a:schemeClr val="bg1">
                    <a:lumMod val="50000"/>
                  </a:schemeClr>
                </a:solidFill>
              </a:rPr>
              <a:t>Shrinkage happens mostly in the smallest dimensions</a:t>
            </a:r>
          </a:p>
          <a:p>
            <a:r>
              <a:rPr dirty="0"/>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5524500" y="1169416"/>
            <a:ext cx="5626100" cy="562610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2024014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46</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927100" y="3962400"/>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800" dirty="0"/>
              <a:t>Direction shows relation of group means to response variables</a:t>
            </a:r>
          </a:p>
          <a:p>
            <a:pPr lvl="1"/>
            <a:r>
              <a:rPr lang="en-US" sz="1800" dirty="0"/>
              <a:t>Size shows “how big is H relative to E”</a:t>
            </a:r>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800" dirty="0"/>
              <a:t>Direction: residual (partial) correlation between BM &amp; WP</a:t>
            </a:r>
          </a:p>
          <a:p>
            <a:pPr lvl="1"/>
            <a:r>
              <a:rPr lang="en-US" sz="18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5200" y="14478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40300" y="14478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5400" y="1219200"/>
            <a:ext cx="2743200" cy="2743200"/>
          </a:xfrm>
          <a:prstGeom prst="rect">
            <a:avLst/>
          </a:prstGeom>
        </p:spPr>
      </p:pic>
      <p:cxnSp>
        <p:nvCxnSpPr>
          <p:cNvPr id="9" name="Straight Arrow Connector 8"/>
          <p:cNvCxnSpPr/>
          <p:nvPr/>
        </p:nvCxnSpPr>
        <p:spPr>
          <a:xfrm>
            <a:off x="4292600" y="18288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6959600" y="19753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11472840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12446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77000" y="1244600"/>
            <a:ext cx="3200400" cy="3200400"/>
          </a:xfrm>
          <a:prstGeom prst="rect">
            <a:avLst/>
          </a:prstGeom>
        </p:spPr>
      </p:pic>
      <p:cxnSp>
        <p:nvCxnSpPr>
          <p:cNvPr id="7" name="Straight Arrow Connector 6"/>
          <p:cNvCxnSpPr/>
          <p:nvPr/>
        </p:nvCxnSpPr>
        <p:spPr>
          <a:xfrm>
            <a:off x="5334000" y="20828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9601200" y="15494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1526914968"/>
              </p:ext>
            </p:extLst>
          </p:nvPr>
        </p:nvGraphicFramePr>
        <p:xfrm>
          <a:off x="4650424" y="5562600"/>
          <a:ext cx="2891151" cy="797559"/>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4650424" y="5562600"/>
                        <a:ext cx="2891151" cy="797559"/>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7620000" y="1785699"/>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8315249" y="3022758"/>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49</a:t>
            </a:fld>
            <a:endParaRPr lang="en-CA"/>
          </a:p>
        </p:txBody>
      </p:sp>
    </p:spTree>
    <p:extLst>
      <p:ext uri="{BB962C8B-B14F-4D97-AF65-F5344CB8AC3E}">
        <p14:creationId xmlns:p14="http://schemas.microsoft.com/office/powerpoint/2010/main" val="2988017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is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92400" y="13149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59400" y="1329592"/>
            <a:ext cx="2286000" cy="2286000"/>
          </a:xfrm>
          <a:prstGeom prst="rect">
            <a:avLst/>
          </a:prstGeom>
        </p:spPr>
      </p:pic>
      <p:cxnSp>
        <p:nvCxnSpPr>
          <p:cNvPr id="8" name="Straight Arrow Connector 7"/>
          <p:cNvCxnSpPr/>
          <p:nvPr/>
        </p:nvCxnSpPr>
        <p:spPr>
          <a:xfrm>
            <a:off x="4673600" y="18835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26400" y="1314938"/>
            <a:ext cx="2286000" cy="2286000"/>
          </a:xfrm>
          <a:prstGeom prst="rect">
            <a:avLst/>
          </a:prstGeom>
        </p:spPr>
      </p:pic>
      <p:cxnSp>
        <p:nvCxnSpPr>
          <p:cNvPr id="11" name="Straight Arrow Connector 10"/>
          <p:cNvCxnSpPr/>
          <p:nvPr/>
        </p:nvCxnSpPr>
        <p:spPr>
          <a:xfrm>
            <a:off x="7416800" y="18923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9861463"/>
              </p:ext>
            </p:extLst>
          </p:nvPr>
        </p:nvGraphicFramePr>
        <p:xfrm>
          <a:off x="4138800" y="5543062"/>
          <a:ext cx="4395600" cy="799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4138800" y="5543062"/>
                        <a:ext cx="4395600" cy="799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50</a:t>
            </a:fld>
            <a:endParaRPr lang="en-CA"/>
          </a:p>
        </p:txBody>
      </p:sp>
    </p:spTree>
    <p:extLst>
      <p:ext uri="{BB962C8B-B14F-4D97-AF65-F5344CB8AC3E}">
        <p14:creationId xmlns:p14="http://schemas.microsoft.com/office/powerpoint/2010/main" val="37967494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 centering</a:t>
            </a:r>
          </a:p>
          <a:p>
            <a:endParaRPr lang="en-CA" dirty="0"/>
          </a:p>
          <a:p>
            <a:r>
              <a:rPr lang="en-CA" b="1" dirty="0"/>
              <a:t>Direction of H vs. E </a:t>
            </a:r>
            <a:r>
              <a:rPr lang="en-CA" dirty="0"/>
              <a:t>shows how groups differ in a data-space view</a:t>
            </a:r>
          </a:p>
          <a:p>
            <a:endParaRPr lang="en-CA" dirty="0"/>
          </a:p>
          <a:p>
            <a:r>
              <a:rPr lang="en-CA" b="1" dirty="0"/>
              <a:t>Significance scaling</a:t>
            </a:r>
            <a:r>
              <a:rPr lang="en-CA" dirty="0"/>
              <a:t>: Scale H so an H ellipse that projects outside E signals a significant effect (Roy's test).</a:t>
            </a:r>
          </a:p>
        </p:txBody>
      </p:sp>
      <p:sp>
        <p:nvSpPr>
          <p:cNvPr id="7" name="Slide Number Placeholder 7"/>
          <p:cNvSpPr>
            <a:spLocks noGrp="1"/>
          </p:cNvSpPr>
          <p:nvPr>
            <p:ph type="sldNum" sz="quarter" idx="12"/>
          </p:nvPr>
        </p:nvSpPr>
        <p:spPr/>
        <p:txBody>
          <a:bodyPr/>
          <a:lstStyle/>
          <a:p>
            <a:fld id="{9BFB2853-4965-4727-91C4-384EB30D99A4}" type="slidenum">
              <a:rPr lang="en-CA"/>
              <a:t>51</a:t>
            </a:fld>
            <a:endParaRPr lang="en-CA"/>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pPr lvl="1"/>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54</a:t>
            </a:fld>
            <a:endParaRPr lang="en-CA"/>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55</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3942080"/>
          </a:xfrm>
          <a:prstGeom prst="rect">
            <a:avLst/>
          </a:prstGeom>
          <a:noFill/>
        </p:spPr>
        <p:txBody>
          <a:bodyPr wrap="square" anchor="ctr">
            <a:noAutofit/>
          </a:bodyPr>
          <a:lstStyle/>
          <a:p>
            <a:r>
              <a:rPr lang="en-CA" sz="2400" dirty="0"/>
              <a:t>Like a MANOVA flipped, so that group is the outcome, rather than a predictor.</a:t>
            </a:r>
          </a:p>
          <a:p>
            <a:endParaRPr lang="en-CA" sz="2400" dirty="0"/>
          </a:p>
          <a:p>
            <a:r>
              <a:rPr lang="en-CA" sz="2400" dirty="0"/>
              <a:t>Emphasis is on prediction</a:t>
            </a:r>
          </a:p>
          <a:p>
            <a:endParaRPr lang="en-CA" sz="2400" dirty="0"/>
          </a:p>
          <a:p>
            <a:r>
              <a:rPr sz="2400" dirty="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011936" y="1051560"/>
            <a:ext cx="10168128" cy="508406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fig-peng-LD-biplot-1.png"/>
          <p:cNvPicPr>
            <a:picLocks noChangeAspect="1"/>
          </p:cNvPicPr>
          <p:nvPr/>
        </p:nvPicPr>
        <p:blipFill>
          <a:blip r:embed="rId3"/>
          <a:stretch>
            <a:fillRect/>
          </a:stretch>
        </p:blipFill>
        <p:spPr>
          <a:xfrm>
            <a:off x="5344668" y="913955"/>
            <a:ext cx="6148832" cy="6148832"/>
          </a:xfrm>
          <a:prstGeom prst="rect">
            <a:avLst/>
          </a:prstGeom>
        </p:spPr>
      </p:pic>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a:xfrm>
            <a:off x="838200" y="1643063"/>
            <a:ext cx="4051300" cy="4533900"/>
          </a:xfrm>
        </p:spPr>
        <p:txBody>
          <a:bodyPr/>
          <a:lstStyle/>
          <a:p>
            <a:r>
              <a:rPr dirty="0"/>
              <a:t>With three species, two discriminant dimensions show everything</a:t>
            </a:r>
          </a:p>
          <a:p>
            <a:r>
              <a:rPr dirty="0"/>
              <a:t>Variable vectors show which</a:t>
            </a:r>
            <a:r>
              <a:rPr lang="en-CA" dirty="0"/>
              <a:t>/how</a:t>
            </a:r>
            <a:r>
              <a:rPr dirty="0"/>
              <a:t> measures separate the species</a:t>
            </a:r>
          </a:p>
        </p:txBody>
      </p:sp>
      <p:sp>
        <p:nvSpPr>
          <p:cNvPr id="5" name="Slide Number Placeholder 5"/>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3F2"/>
            </a:gs>
            <a:gs pos="100000">
              <a:srgbClr val="D5A79F"/>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59</a:t>
            </a:fld>
            <a:endParaRPr lang="en-CA"/>
          </a:p>
        </p:txBody>
      </p:sp>
      <p:pic>
        <p:nvPicPr>
          <p:cNvPr id="6" name="Section 5 distance plot illustration">
            <a:extLst>
              <a:ext uri="{FF2B5EF4-FFF2-40B4-BE49-F238E27FC236}">
                <a16:creationId xmlns:a16="http://schemas.microsoft.com/office/drawing/2014/main" id="{0777FA3B-8D44-90EA-D59D-839F74A26C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986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5 influence plot illustration">
            <a:extLst>
              <a:ext uri="{FF2B5EF4-FFF2-40B4-BE49-F238E27FC236}">
                <a16:creationId xmlns:a16="http://schemas.microsoft.com/office/drawing/2014/main" id="{03253DAC-5419-8E24-983A-467810AD80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5 robust weights illustration">
            <a:extLst>
              <a:ext uri="{FF2B5EF4-FFF2-40B4-BE49-F238E27FC236}">
                <a16:creationId xmlns:a16="http://schemas.microsoft.com/office/drawing/2014/main" id="{7E28064A-8C94-8376-8B79-57AA4D3E0F2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137400" y="177800"/>
            <a:ext cx="3556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5" name="Skip button">
            <a:hlinkClick r:id="rId5" action="ppaction://hlinksldjump" tooltip="Skip to the Summary"/>
            <a:extLst>
              <a:ext uri="{FF2B5EF4-FFF2-40B4-BE49-F238E27FC236}">
                <a16:creationId xmlns:a16="http://schemas.microsoft.com/office/drawing/2014/main" id="{F78AA1F5-529E-396F-08FF-44854CACF41A}"/>
              </a:ext>
            </a:extLst>
          </p:cNvPr>
          <p:cNvSpPr/>
          <p:nvPr/>
        </p:nvSpPr>
        <p:spPr>
          <a:xfrm>
            <a:off x="177800" y="6426200"/>
            <a:ext cx="1219200" cy="304800"/>
          </a:xfrm>
          <a:prstGeom prst="roundRect">
            <a:avLst/>
          </a:prstGeom>
          <a:solidFill>
            <a:srgbClr val="FFFFFF">
              <a:alpha val="65000"/>
            </a:srgbClr>
          </a:solidFill>
          <a:ln w="9525">
            <a:solidFill>
              <a:srgbClr val="3A4A5C"/>
            </a:solidFill>
          </a:ln>
        </p:spPr>
        <p:style>
          <a:lnRef idx="2">
            <a:schemeClr val="accent1">
              <a:shade val="15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CA" sz="1300">
                <a:solidFill>
                  <a:srgbClr val="3A4A5C"/>
                </a:solidFill>
                <a:latin typeface="Aptos" panose="020B0004020202020204" pitchFamily="34" charset="0"/>
              </a:rPr>
              <a:t>Skip this ⏭</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b="1" dirty="0"/>
              <a:t>Distance plot</a:t>
            </a:r>
            <a:r>
              <a:rPr sz="1800" dirty="0"/>
              <a: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462213"/>
          </a:xfrm>
          <a:prstGeom prst="rect">
            <a:avLst/>
          </a:prstGeom>
          <a:noFill/>
        </p:spPr>
        <p:txBody>
          <a:bodyPr wrap="square">
            <a:spAutoFit/>
          </a:bodyPr>
          <a:lstStyle/>
          <a:p>
            <a:pPr marL="228600" indent="-228600">
              <a:spcAft>
                <a:spcPts val="400"/>
              </a:spcAft>
              <a:buFont typeface="Arial"/>
              <a:buChar char="•"/>
            </a:pPr>
            <a:r>
              <a:rPr sz="1800" b="1" dirty="0"/>
              <a:t>Influence plot</a:t>
            </a:r>
            <a:r>
              <a:rPr sz="1800" dirty="0"/>
              <a:t>: bubble size ~ multivariate Cook’s D</a:t>
            </a:r>
          </a:p>
          <a:p>
            <a:pPr marL="228600" indent="-228600">
              <a:spcAft>
                <a:spcPts val="400"/>
              </a:spcAft>
              <a:buFont typeface="Arial"/>
              <a:buChar char="•"/>
            </a:pPr>
            <a:r>
              <a:rPr sz="1800" b="1" dirty="0">
                <a:solidFill>
                  <a:srgbClr val="FF0000"/>
                </a:solidFill>
              </a:rPr>
              <a:t>44, 59</a:t>
            </a:r>
            <a:r>
              <a:rPr sz="1800" dirty="0"/>
              <a:t>: high leverage and influential</a:t>
            </a:r>
          </a:p>
          <a:p>
            <a:pPr marL="228600" indent="-228600">
              <a:spcAft>
                <a:spcPts val="400"/>
              </a:spcAft>
              <a:buFont typeface="Arial"/>
              <a:buChar char="•"/>
            </a:pPr>
            <a:r>
              <a:rPr sz="1800" b="1" dirty="0">
                <a:solidFill>
                  <a:srgbClr val="0000FF"/>
                </a:solidFill>
              </a:rPr>
              <a:t>35</a:t>
            </a:r>
            <a:r>
              <a:rPr sz="1800" dirty="0"/>
              <a:t>: an outlier, but little influence</a:t>
            </a:r>
          </a:p>
          <a:p>
            <a:pPr marL="228600" indent="-228600">
              <a:spcAft>
                <a:spcPts val="400"/>
              </a:spcAft>
              <a:buFont typeface="Arial"/>
              <a:buChar char="•"/>
            </a:pPr>
            <a:r>
              <a:rPr sz="1800" b="1" dirty="0">
                <a:solidFill>
                  <a:srgbClr val="006400"/>
                </a:solidFill>
              </a:rPr>
              <a:t>66</a:t>
            </a:r>
            <a:r>
              <a:rPr sz="1800" dirty="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60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61</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5818091" y="1643063"/>
            <a:ext cx="5860732" cy="418623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62</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a:t>
            </a:r>
            <a:r>
              <a:rPr lang="en-CA" dirty="0"/>
              <a:t>visual </a:t>
            </a:r>
            <a:r>
              <a:rPr dirty="0"/>
              <a:t>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endParaRPr lang="en-CA" dirty="0"/>
          </a:p>
          <a:p>
            <a:r>
              <a:rPr lang="en-CA" b="1" dirty="0"/>
              <a:t>Visual thinning</a:t>
            </a:r>
            <a:r>
              <a:rPr lang="en-CA" dirty="0"/>
              <a:t>: summarize, so the message can be seen</a:t>
            </a:r>
            <a:endParaRPr dirty="0"/>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sp>
        <p:nvSpPr>
          <p:cNvPr id="5" name="Slide Number Placeholder 5"/>
          <p:cNvSpPr>
            <a:spLocks noGrp="1"/>
          </p:cNvSpPr>
          <p:nvPr>
            <p:ph type="sldNum" sz="quarter" idx="12"/>
          </p:nvPr>
        </p:nvSpPr>
        <p:spPr/>
        <p:txBody>
          <a:bodyPr/>
          <a:lstStyle/>
          <a:p>
            <a:fld id="{9BFB2853-4965-4727-91C4-384EB30D99A4}" type="slidenum">
              <a:rPr lang="en-CA"/>
              <a:t>64</a:t>
            </a:fld>
            <a:endParaRPr lang="en-CA"/>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6789</TotalTime>
  <Words>6823</Words>
  <Application>Microsoft Office PowerPoint</Application>
  <PresentationFormat>Widescreen</PresentationFormat>
  <Paragraphs>716</Paragraphs>
  <Slides>83</Slides>
  <Notes>79</Notes>
  <HiddenSlides>18</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1</vt:i4>
      </vt:variant>
      <vt:variant>
        <vt:lpstr>Slide Titles</vt:lpstr>
      </vt:variant>
      <vt:variant>
        <vt:i4>83</vt:i4>
      </vt:variant>
    </vt:vector>
  </HeadingPairs>
  <TitlesOfParts>
    <vt:vector size="95" baseType="lpstr">
      <vt:lpstr>Aptos</vt:lpstr>
      <vt:lpstr>Aptos Display</vt:lpstr>
      <vt:lpstr>Arial</vt:lpstr>
      <vt:lpstr>Cambria Math</vt:lpstr>
      <vt:lpstr>Consolas</vt:lpstr>
      <vt:lpstr>Courier New</vt:lpstr>
      <vt:lpstr>Lucida Console</vt:lpstr>
      <vt:lpstr>Matura MT Script Capitals</vt:lpstr>
      <vt:lpstr>Symbol</vt:lpstr>
      <vt:lpstr>Wingdings</vt:lpstr>
      <vt:lpstr>Office Theme</vt:lpstr>
      <vt:lpstr>Equation</vt:lpstr>
      <vt:lpstr>Visualizing Multivariate Data and Models in R</vt:lpstr>
      <vt:lpstr>My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Thinking about Penguin variables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visual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Measurement error for β1 also biases β2</vt:lpstr>
      <vt:lpstr>Added-variable plots show partial relationships</vt:lpstr>
      <vt:lpstr>Leverage and influence: car::influencePlot(model)</vt:lpstr>
      <vt:lpstr>Which observations drive the fit?</vt:lpstr>
      <vt:lpstr>MANOVA: the same sums of squares, now as matrices</vt:lpstr>
      <vt:lpstr>Canonical correlation in an HE plot</vt:lpstr>
      <vt:lpstr>Factorial designs: main effects and interactions</vt:lpstr>
      <vt:lpstr>MANCOVA: are the regressions the same across groups?</vt:lpstr>
      <vt:lpstr>Are the covariance matrices equal?</vt:lpstr>
      <vt:lpstr>Visualizing Box's M test</vt:lpstr>
      <vt:lpstr>Quadratic discriminant analysis</vt:lpstr>
      <vt:lpstr>Seeing multivariate data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83</cp:revision>
  <dcterms:created xsi:type="dcterms:W3CDTF">2026-10-06T18:00:03Z</dcterms:created>
  <dcterms:modified xsi:type="dcterms:W3CDTF">2026-10-22T18:21:36Z</dcterms:modified>
</cp:coreProperties>
</file>