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1531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a:t>
            </a:r>
            <a:r>
              <a:rPr lang="en-CA" b="1" dirty="0"/>
              <a:t>statistical practice </a:t>
            </a:r>
            <a:r>
              <a:rPr lang="en-CA" dirty="0"/>
              <a:t>–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0" indent="0">
              <a:buFont typeface="Arial" panose="020B0604020202020204" pitchFamily="34" charset="0"/>
              <a:buNone/>
            </a:pPr>
            <a:r>
              <a:rPr lang="en-CA" dirty="0"/>
              <a:t>That’s how they got their names!</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lang="en-CA" dirty="0"/>
              <a:t>This shows why stress is significant in the full model, but coffee is not</a:t>
            </a:r>
          </a:p>
          <a:p>
            <a:endParaRPr lang="en-CA" dirty="0"/>
          </a:p>
          <a:p>
            <a:r>
              <a:rPr lang="en-CA" dirty="0"/>
              <a:t>(</a:t>
            </a:r>
            <a:r>
              <a:rPr dirty="0"/>
              <a:t>This sets up collinearity.</a:t>
            </a:r>
            <a:r>
              <a:rPr lang="en-CA"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2026-10-28</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2026-10-28</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1F4E9A"/>
        </a:buClr>
        <a:buSzPct val="120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7.wmf"/><Relationship Id="rId5" Type="http://schemas.openxmlformats.org/officeDocument/2006/relationships/image" Target="../media/image56.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1.xml"/><Relationship Id="rId5" Type="http://schemas.openxmlformats.org/officeDocument/2006/relationships/hyperlink" Target="https://friendly.github.io/blog/posts/2026-10-peng-names/" TargetMode="External"/><Relationship Id="rId4" Type="http://schemas.openxmlformats.org/officeDocument/2006/relationships/image" Target="../media/image61.png"/></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78.png"/><Relationship Id="rId7"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90.wmf"/><Relationship Id="rId5" Type="http://schemas.openxmlformats.org/officeDocument/2006/relationships/oleObject" Target="../embeddings/oleObject1.bin"/><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93.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2.png"/><Relationship Id="rId4"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98.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3.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2.png"/></Relationships>
</file>

<file path=ppt/slides/_rels/slide6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6.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22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123658"/>
          </a:xfrm>
          <a:prstGeom prst="rect">
            <a:avLst/>
          </a:prstGeom>
          <a:noFill/>
        </p:spPr>
        <p:txBody>
          <a:bodyPr wrap="square" rtlCol="0">
            <a:spAutoFit/>
          </a:bodyPr>
          <a:lstStyle/>
          <a:p>
            <a:r>
              <a:rPr lang="en-US" dirty="0"/>
              <a:t>PC1, PC2 ~ 88.1% of variance </a:t>
            </a:r>
            <a:r>
              <a:rPr lang="en-US" sz="2400" dirty="0">
                <a:solidFill>
                  <a:srgbClr val="00B050"/>
                </a:solidFill>
                <a:sym typeface="Wingdings" panose="05000000000000000000" pitchFamily="2" charset="2"/>
              </a:rPr>
              <a:t></a:t>
            </a:r>
            <a:endParaRPr lang="en-US" sz="2400" dirty="0">
              <a:solidFill>
                <a:srgbClr val="00B050"/>
              </a:solidFill>
            </a:endParaRP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4062651"/>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a:t>
            </a:r>
            <a:r>
              <a:rPr lang="en-CA" sz="2000"/>
              <a:t>the t‑SNE </a:t>
            </a:r>
            <a:r>
              <a:rPr lang="en-CA" sz="2000" dirty="0"/>
              <a:t>one largely by a rotation.</a:t>
            </a:r>
          </a:p>
          <a:p>
            <a:endParaRPr lang="en-CA" sz="2000" dirty="0"/>
          </a:p>
          <a:p>
            <a:r>
              <a:rPr lang="en-CA" sz="2000"/>
              <a:t>But t‑SNE </a:t>
            </a:r>
            <a:r>
              <a:rPr lang="en-CA" sz="2000" dirty="0"/>
              <a:t>achieves </a:t>
            </a:r>
            <a:r>
              <a:rPr lang="en-CA" sz="2000"/>
              <a:t>wider separation among groups.</a:t>
            </a:r>
            <a:endParaRPr lang="en-CA" sz="2000" dirty="0"/>
          </a:p>
          <a:p>
            <a:endParaRPr lang="en-CA" sz="2000"/>
          </a:p>
          <a:p>
            <a:r>
              <a:rPr lang="en-CA" sz="2000"/>
              <a:t>The </a:t>
            </a:r>
            <a:r>
              <a:rPr lang="en-CA" sz="2000" dirty="0"/>
              <a:t>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univariate views, but become readily apparent on the </a:t>
            </a:r>
            <a:r>
              <a:rPr lang="en-US" i="1" dirty="0">
                <a:solidFill>
                  <a:srgbClr val="FF0000"/>
                </a:solidFill>
              </a:rPr>
              <a:t>smallest</a:t>
            </a:r>
            <a:r>
              <a:rPr lang="en-US" dirty="0"/>
              <a:t> principal component(s)</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
        <p:nvSpPr>
          <p:cNvPr id="7" name="Blog link">
            <a:extLst>
              <a:ext uri="{FF2B5EF4-FFF2-40B4-BE49-F238E27FC236}">
                <a16:creationId xmlns:a16="http://schemas.microsoft.com/office/drawing/2014/main" id="{5F2E6856-5EBD-FDB1-2467-0A219B7FF9A2}"/>
              </a:ext>
            </a:extLst>
          </p:cNvPr>
          <p:cNvSpPr txBox="1"/>
          <p:nvPr/>
        </p:nvSpPr>
        <p:spPr>
          <a:xfrm>
            <a:off x="2224587" y="6062990"/>
            <a:ext cx="7742825" cy="261610"/>
          </a:xfrm>
          <a:prstGeom prst="rect">
            <a:avLst/>
          </a:prstGeom>
          <a:noFill/>
          <a:ln w="9525">
            <a:solidFill>
              <a:srgbClr val="8C8C8C"/>
            </a:solidFill>
          </a:ln>
        </p:spPr>
        <p:txBody>
          <a:bodyPr vert="horz" wrap="none" lIns="88900" tIns="38100" rIns="88900" bIns="38100" rtlCol="0">
            <a:spAutoFit/>
          </a:bodyPr>
          <a:lstStyle/>
          <a:p>
            <a:r>
              <a:rPr lang="en-CA" sz="1200">
                <a:solidFill>
                  <a:srgbClr val="262626"/>
                </a:solidFill>
                <a:latin typeface="Aptos" panose="020B0004020202020204" pitchFamily="34" charset="0"/>
              </a:rPr>
              <a:t>Blog: </a:t>
            </a:r>
            <a:r>
              <a:rPr lang="en-CA" sz="1200" i="1">
                <a:solidFill>
                  <a:srgbClr val="262626"/>
                </a:solidFill>
                <a:latin typeface="Aptos" panose="020B0004020202020204" pitchFamily="34" charset="0"/>
              </a:rPr>
              <a:t>Palmer Penguins Cry Out: “Call Me by My Name”</a:t>
            </a:r>
            <a:r>
              <a:rPr lang="en-CA" sz="1200">
                <a:solidFill>
                  <a:srgbClr val="262626"/>
                </a:solidFill>
                <a:latin typeface="Aptos" panose="020B0004020202020204" pitchFamily="34" charset="0"/>
              </a:rPr>
              <a:t>   </a:t>
            </a:r>
            <a:r>
              <a:rPr lang="en-CA" sz="1200">
                <a:solidFill>
                  <a:srgbClr val="262626"/>
                </a:solidFill>
                <a:latin typeface="Aptos" panose="020B0004020202020204" pitchFamily="34" charset="0"/>
                <a:hlinkClick r:id="rId5"/>
              </a:rPr>
              <a:t>https://friendly.github.io/blog/posts/2026-10-peng-names/</a:t>
            </a:r>
            <a:endParaRPr lang="en-CA" sz="1200">
              <a:solidFill>
                <a:srgbClr val="262626"/>
              </a:solidFill>
              <a:latin typeface="Aptos" panose="020B00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Biplot: </a:t>
            </a:r>
            <a:r>
              <a:rPr lang="en-CA" dirty="0">
                <a:solidFill>
                  <a:srgbClr val="FF0000"/>
                </a:solidFill>
                <a:sym typeface="Symbol" panose="05050102010706020507" pitchFamily="18" charset="2"/>
              </a:rPr>
              <a:t>why they’re weird</a:t>
            </a:r>
            <a:endParaRPr lang="en-CA" dirty="0">
              <a:solidFill>
                <a:srgbClr val="FF0000"/>
              </a:solidFill>
            </a:endParaRPr>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a:t>
            </a:r>
            <a:r>
              <a:rPr lang="en-US" dirty="0">
                <a:solidFill>
                  <a:srgbClr val="FF0000"/>
                </a:solidFill>
              </a:rPr>
              <a:t>fixed</a:t>
            </a:r>
            <a:r>
              <a:rPr lang="en-US" dirty="0"/>
              <a:t> (non-random), or </a:t>
            </a:r>
            <a:r>
              <a:rPr lang="en-US" dirty="0">
                <a:solidFill>
                  <a:srgbClr val="FF0000"/>
                </a:solidFill>
              </a:rPr>
              <a:t>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 </a:t>
            </a:r>
            <a:r>
              <a:rPr lang="en-US" dirty="0"/>
              <a:t>(variance</a:t>
            </a:r>
            <a:r>
              <a:rPr lang="en-US" baseline="30000" dirty="0"/>
              <a:t>-1</a:t>
            </a:r>
            <a:r>
              <a:rPr lang="en-US" dirty="0"/>
              <a:t>)</a:t>
            </a:r>
            <a:endParaRPr lang="en-US" dirty="0">
              <a:solidFill>
                <a:srgbClr val="FF0000"/>
              </a:solidFill>
            </a:endParaRP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642600" cy="369332"/>
          </a:xfrm>
          <a:prstGeom prst="rect">
            <a:avLst/>
          </a:prstGeom>
          <a:noFill/>
        </p:spPr>
        <p:txBody>
          <a:bodyPr wrap="square">
            <a:spAutoFit/>
          </a:bodyPr>
          <a:lstStyle/>
          <a:p>
            <a:r>
              <a:rPr sz="1800" dirty="0"/>
              <a:t>The </a:t>
            </a:r>
            <a:r>
              <a:rPr lang="en-CA" sz="1800" b="1" dirty="0"/>
              <a:t>data ellipse </a:t>
            </a:r>
            <a:r>
              <a:rPr lang="en-CA" sz="1800" dirty="0"/>
              <a:t>for the predictors (</a:t>
            </a:r>
            <a:r>
              <a:rPr lang="en-CA" sz="1800" b="1" dirty="0"/>
              <a:t>X’X</a:t>
            </a:r>
            <a:r>
              <a:rPr lang="en-CA" sz="1800" dirty="0"/>
              <a:t>) is the inverse of the </a:t>
            </a:r>
            <a:r>
              <a:rPr sz="1800" b="1" dirty="0"/>
              <a:t>confidence ellipse </a:t>
            </a:r>
            <a:r>
              <a:rPr sz="1800" dirty="0"/>
              <a:t>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
        <p:nvSpPr>
          <p:cNvPr id="11" name="TextBox 10">
            <a:extLst>
              <a:ext uri="{FF2B5EF4-FFF2-40B4-BE49-F238E27FC236}">
                <a16:creationId xmlns:a16="http://schemas.microsoft.com/office/drawing/2014/main" id="{F61BB919-0FD5-32D0-E561-01CDB3546DA9}"/>
              </a:ext>
            </a:extLst>
          </p:cNvPr>
          <p:cNvSpPr txBox="1"/>
          <p:nvPr/>
        </p:nvSpPr>
        <p:spPr>
          <a:xfrm>
            <a:off x="6375399" y="5727700"/>
            <a:ext cx="5493793" cy="369332"/>
          </a:xfrm>
          <a:prstGeom prst="rect">
            <a:avLst/>
          </a:prstGeom>
          <a:noFill/>
        </p:spPr>
        <p:txBody>
          <a:bodyPr wrap="square" rtlCol="0">
            <a:spAutoFit/>
          </a:bodyPr>
          <a:lstStyle/>
          <a:p>
            <a:r>
              <a:rPr lang="en-CA" dirty="0">
                <a:sym typeface="Symbol" panose="05050102010706020507" pitchFamily="18" charset="2"/>
              </a:rPr>
              <a:t></a:t>
            </a:r>
            <a:r>
              <a:rPr lang="en-CA" dirty="0"/>
              <a:t> Engine size too highly correlated with #cylinders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46278" y="274493"/>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
        <p:nvSpPr>
          <p:cNvPr id="3" name="Ridge trace text">
            <a:extLst>
              <a:ext uri="{FF2B5EF4-FFF2-40B4-BE49-F238E27FC236}">
                <a16:creationId xmlns:a16="http://schemas.microsoft.com/office/drawing/2014/main" id="{EB4DA955-7513-38EC-BDAB-83557A336B2D}"/>
              </a:ext>
            </a:extLst>
          </p:cNvPr>
          <p:cNvSpPr txBox="1"/>
          <p:nvPr/>
        </p:nvSpPr>
        <p:spPr>
          <a:xfrm>
            <a:off x="838200" y="1168400"/>
            <a:ext cx="10541000" cy="1682512"/>
          </a:xfrm>
          <a:prstGeom prst="rect">
            <a:avLst/>
          </a:prstGeom>
          <a:noFill/>
        </p:spPr>
        <p:txBody>
          <a:bodyPr vert="horz" wrap="square" rtlCol="0">
            <a:spAutoFit/>
          </a:bodyPr>
          <a:lstStyle/>
          <a:p>
            <a:pPr>
              <a:spcAft>
                <a:spcPts val="800"/>
              </a:spcAft>
            </a:pPr>
            <a:r>
              <a:rPr lang="en-CA" dirty="0">
                <a:solidFill>
                  <a:srgbClr val="262626"/>
                </a:solidFill>
                <a:latin typeface="Aptos" panose="020B0004020202020204" pitchFamily="34" charset="0"/>
              </a:rPr>
              <a:t>Rather than plotting just the univariate trajectories of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vs. </a:t>
            </a:r>
            <a:r>
              <a:rPr lang="en-CA"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plot the covariance </a:t>
            </a:r>
            <a:r>
              <a:rPr lang="en-CA" dirty="0">
                <a:solidFill>
                  <a:srgbClr val="E8221B"/>
                </a:solidFill>
                <a:latin typeface="Aptos" panose="020B0004020202020204" pitchFamily="34" charset="0"/>
              </a:rPr>
              <a:t>ellipses</a:t>
            </a:r>
            <a:r>
              <a:rPr lang="en-CA" dirty="0">
                <a:solidFill>
                  <a:srgbClr val="262626"/>
                </a:solidFill>
                <a:latin typeface="Aptos" panose="020B0004020202020204" pitchFamily="34" charset="0"/>
              </a:rPr>
              <a:t> of </a:t>
            </a:r>
            <a:r>
              <a:rPr lang="el-GR" b="1" dirty="0">
                <a:solidFill>
                  <a:srgbClr val="262626"/>
                </a:solidFill>
                <a:latin typeface="Cambria Math" panose="02040503050406030204" pitchFamily="18" charset="0"/>
              </a:rPr>
              <a:t>Σ</a:t>
            </a:r>
            <a:r>
              <a:rPr lang="el-GR"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 ≡ Var(</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Cambria Math" panose="02040503050406030204" pitchFamily="18" charset="0"/>
              </a:rPr>
              <a:t>)</a:t>
            </a:r>
            <a:r>
              <a:rPr lang="en-CA" dirty="0">
                <a:solidFill>
                  <a:srgbClr val="262626"/>
                </a:solidFill>
                <a:latin typeface="Aptos" panose="020B0004020202020204" pitchFamily="34" charset="0"/>
              </a:rPr>
              <a:t> over the same range of </a:t>
            </a:r>
            <a:r>
              <a:rPr lang="en-CA" dirty="0">
                <a:solidFill>
                  <a:srgbClr val="262626"/>
                </a:solidFill>
                <a:latin typeface="Cambria Math" panose="02040503050406030204" pitchFamily="18" charset="0"/>
              </a:rPr>
              <a:t>𝑘</a:t>
            </a:r>
            <a:endParaRPr lang="en-CA" dirty="0">
              <a:solidFill>
                <a:srgbClr val="262626"/>
              </a:solidFill>
              <a:latin typeface="Aptos" panose="020B0004020202020204" pitchFamily="34" charset="0"/>
            </a:endParaRPr>
          </a:p>
          <a:p>
            <a:pPr marL="457200" indent="-228600">
              <a:spcAft>
                <a:spcPts val="400"/>
              </a:spcAft>
              <a:buSzPct val="100000"/>
              <a:buFont typeface="+mj-lt"/>
              <a:buChar char="•"/>
            </a:pPr>
            <a:r>
              <a:rPr lang="en-CA" dirty="0">
                <a:solidFill>
                  <a:srgbClr val="262626"/>
                </a:solidFill>
                <a:latin typeface="Aptos" panose="020B0004020202020204" pitchFamily="34" charset="0"/>
              </a:rPr>
              <a:t>Centers of the ellipses are </a:t>
            </a:r>
            <a:r>
              <a:rPr lang="en-CA" b="1" dirty="0">
                <a:solidFill>
                  <a:srgbClr val="262626"/>
                </a:solidFill>
                <a:latin typeface="Cambria Math" panose="02040503050406030204" pitchFamily="18" charset="0"/>
              </a:rPr>
              <a:t>𝛽</a:t>
            </a:r>
            <a:r>
              <a:rPr lang="en-CA" baseline="-25000" dirty="0">
                <a:solidFill>
                  <a:srgbClr val="262626"/>
                </a:solidFill>
                <a:latin typeface="Cambria Math" panose="02040503050406030204" pitchFamily="18" charset="0"/>
              </a:rPr>
              <a:t>𝑘</a:t>
            </a:r>
            <a:r>
              <a:rPr lang="en-CA" dirty="0">
                <a:solidFill>
                  <a:srgbClr val="262626"/>
                </a:solidFill>
                <a:latin typeface="Aptos" panose="020B0004020202020204" pitchFamily="34" charset="0"/>
              </a:rPr>
              <a:t> – same info as in the univariate plot</a:t>
            </a:r>
          </a:p>
          <a:p>
            <a:pPr marL="457200" indent="-228600">
              <a:spcAft>
                <a:spcPts val="400"/>
              </a:spcAft>
              <a:buSzPct val="100000"/>
              <a:buFont typeface="+mj-lt"/>
              <a:buChar char="•"/>
            </a:pPr>
            <a:r>
              <a:rPr lang="en-CA" dirty="0">
                <a:solidFill>
                  <a:srgbClr val="262626"/>
                </a:solidFill>
                <a:latin typeface="Aptos" panose="020B0004020202020204" pitchFamily="34" charset="0"/>
              </a:rPr>
              <a:t>Can see how change in one coefficient is related to changes in others</a:t>
            </a:r>
          </a:p>
          <a:p>
            <a:pPr marL="457200" indent="-228600">
              <a:spcAft>
                <a:spcPts val="400"/>
              </a:spcAft>
              <a:buSzPct val="100000"/>
              <a:buFont typeface="+mj-lt"/>
              <a:buChar char="•"/>
            </a:pPr>
            <a:r>
              <a:rPr lang="en-CA" dirty="0">
                <a:solidFill>
                  <a:srgbClr val="262626"/>
                </a:solidFill>
                <a:latin typeface="Aptos" panose="020B0004020202020204" pitchFamily="34" charset="0"/>
              </a:rPr>
              <a:t>Relative size &amp; shape of ellipsoids shows </a:t>
            </a:r>
            <a:r>
              <a:rPr lang="en-CA" dirty="0">
                <a:solidFill>
                  <a:srgbClr val="E8221B"/>
                </a:solidFill>
                <a:latin typeface="Aptos" panose="020B0004020202020204" pitchFamily="34" charset="0"/>
              </a:rPr>
              <a:t>directly</a:t>
            </a:r>
            <a:r>
              <a:rPr lang="en-CA" dirty="0">
                <a:solidFill>
                  <a:srgbClr val="262626"/>
                </a:solidFill>
                <a:latin typeface="Aptos" panose="020B0004020202020204" pitchFamily="34" charset="0"/>
              </a:rPr>
              <a:t> the effect on precision</a:t>
            </a:r>
          </a:p>
        </p:txBody>
      </p:sp>
      <p:pic>
        <p:nvPicPr>
          <p:cNvPr id="10" name="Fig 9.12 Unemployed">
            <a:extLst>
              <a:ext uri="{FF2B5EF4-FFF2-40B4-BE49-F238E27FC236}">
                <a16:creationId xmlns:a16="http://schemas.microsoft.com/office/drawing/2014/main" id="{E491A084-7F81-DB90-77FD-882552DC31C7}"/>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1778526" y="2927112"/>
            <a:ext cx="4165074" cy="3702288"/>
          </a:xfrm>
          <a:prstGeom prst="rect">
            <a:avLst/>
          </a:prstGeom>
        </p:spPr>
      </p:pic>
      <p:pic>
        <p:nvPicPr>
          <p:cNvPr id="12" name="Fig 9.12 Population">
            <a:extLst>
              <a:ext uri="{FF2B5EF4-FFF2-40B4-BE49-F238E27FC236}">
                <a16:creationId xmlns:a16="http://schemas.microsoft.com/office/drawing/2014/main" id="{BB33DA1C-51CA-BAFC-00F1-2746C30782A5}"/>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6248400" y="2927112"/>
            <a:ext cx="4165074" cy="3702288"/>
          </a:xfrm>
          <a:prstGeom prst="rect">
            <a:avLst/>
          </a:prstGeom>
        </p:spPr>
      </p:pic>
      <p:sp>
        <p:nvSpPr>
          <p:cNvPr id="14" name="Caption">
            <a:extLst>
              <a:ext uri="{FF2B5EF4-FFF2-40B4-BE49-F238E27FC236}">
                <a16:creationId xmlns:a16="http://schemas.microsoft.com/office/drawing/2014/main" id="{9C34379C-0DC1-061C-2B50-9D3437157689}"/>
              </a:ext>
            </a:extLst>
          </p:cNvPr>
          <p:cNvSpPr txBox="1"/>
          <p:nvPr/>
        </p:nvSpPr>
        <p:spPr>
          <a:xfrm>
            <a:off x="841248" y="6355080"/>
            <a:ext cx="854721" cy="261610"/>
          </a:xfrm>
          <a:prstGeom prst="rect">
            <a:avLst/>
          </a:prstGeom>
          <a:noFill/>
        </p:spPr>
        <p:txBody>
          <a:bodyPr vert="horz" wrap="none" rtlCol="0">
            <a:spAutoFit/>
          </a:bodyPr>
          <a:lstStyle/>
          <a:p>
            <a:r>
              <a:rPr lang="en-CA" sz="1100">
                <a:solidFill>
                  <a:srgbClr val="707070"/>
                </a:solidFill>
                <a:latin typeface="Aptos" panose="020B0004020202020204" pitchFamily="34" charset="0"/>
              </a:rPr>
              <a:t>Figure 9.12</a:t>
            </a:r>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 calcmode="lin" valueType="num">
                                      <p:cBhvr additive="base">
                                        <p:cTn id="21" dur="500" fill="hold"/>
                                        <p:tgtEl>
                                          <p:spTgt spid="12"/>
                                        </p:tgtEl>
                                        <p:attrNameLst>
                                          <p:attrName>ppt_x</p:attrName>
                                        </p:attrNameLst>
                                      </p:cBhvr>
                                      <p:tavLst>
                                        <p:tav tm="0">
                                          <p:val>
                                            <p:strVal val="1+#ppt_w/2"/>
                                          </p:val>
                                        </p:tav>
                                        <p:tav tm="100000">
                                          <p:val>
                                            <p:strVal val="#ppt_x"/>
                                          </p:val>
                                        </p:tav>
                                      </p:tavLst>
                                    </p:anim>
                                    <p:anim calcmode="lin" valueType="num">
                                      <p:cBhvr additive="base">
                                        <p:cTn id="22"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principal component space of the predictors</a:t>
            </a:r>
          </a:p>
          <a:p>
            <a:r>
              <a:rPr lang="en-CA" dirty="0">
                <a:sym typeface="Symbol" panose="05050102010706020507" pitchFamily="18" charset="2"/>
              </a:rPr>
              <a:t> </a:t>
            </a:r>
            <a:r>
              <a:rPr dirty="0"/>
              <a:t>Shrinkage happens mostly in the smallest dimensions</a:t>
            </a:r>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799836" y="1169416"/>
            <a:ext cx="5143500" cy="51435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36576" y="4570396"/>
            <a:ext cx="1706760" cy="174252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7088</TotalTime>
  <Words>6219</Words>
  <Application>Microsoft Office PowerPoint</Application>
  <PresentationFormat>Widescreen</PresentationFormat>
  <Paragraphs>636</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Consolas</vt:lpstr>
      <vt:lpstr>Courier New</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114</cp:revision>
  <dcterms:created xsi:type="dcterms:W3CDTF">2026-10-06T18:00:03Z</dcterms:created>
  <dcterms:modified xsi:type="dcterms:W3CDTF">2026-10-28T14:08:16Z</dcterms:modified>
</cp:coreProperties>
</file>