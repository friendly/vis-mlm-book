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sldIdLst>
    <p:sldId id="260" r:id="rId7"/>
    <p:sldId id="474" r:id="rId91"/>
    <p:sldId id="475" r:id="rId92"/>
    <p:sldId id="470" r:id="rId17"/>
    <p:sldId id="476" r:id="rId93"/>
    <p:sldId id="477" r:id="rId94"/>
    <p:sldId id="471" r:id="rId33"/>
    <p:sldId id="478" r:id="rId95"/>
    <p:sldId id="479" r:id="rId96"/>
    <p:sldId id="311" r:id="rId59"/>
    <p:sldId id="480" r:id="rId97"/>
    <p:sldId id="481" r:id="rId9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I" id="{6A1B2C3D-0000-4000-8000-000000000001}">
          <p14:sldIdLst>
            <p14:sldId id="260"/>
            <p14:sldId id="474"/>
            <p14:sldId id="475"/>
          </p14:sldIdLst>
        </p14:section>
        <p14:section name="Part II" id="{6A1B2C3D-0000-4000-8000-000000000002}">
          <p14:sldIdLst>
            <p14:sldId id="470"/>
            <p14:sldId id="476"/>
            <p14:sldId id="477"/>
          </p14:sldIdLst>
        </p14:section>
        <p14:section name="Part III" id="{6A1B2C3D-0000-4000-8000-000000000003}">
          <p14:sldIdLst>
            <p14:sldId id="471"/>
            <p14:sldId id="478"/>
            <p14:sldId id="479"/>
          </p14:sldIdLst>
        </p14:section>
        <p14:section name="Part IV" id="{6A1B2C3D-0000-4000-8000-000000000004}">
          <p14:sldIdLst>
            <p14:sldId id="311"/>
            <p14:sldId id="480"/>
            <p14:sldId id="4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8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267" autoAdjust="0"/>
  </p:normalViewPr>
  <p:slideViewPr>
    <p:cSldViewPr snapToGrid="0">
      <p:cViewPr varScale="1">
        <p:scale>
          <a:sx n="74" d="100"/>
          <a:sy n="74" d="100"/>
        </p:scale>
        <p:origin x="10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388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89" Type="http://schemas.openxmlformats.org/officeDocument/2006/relationships/theme" Target="theme/theme1.xml"/><Relationship Id="rId90" Type="http://schemas.openxmlformats.org/officeDocument/2006/relationships/tableStyles" Target="tableStyles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59" Type="http://schemas.openxmlformats.org/officeDocument/2006/relationships/slide" Target="slides/slide58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8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87" Type="http://schemas.openxmlformats.org/officeDocument/2006/relationships/presProps" Target="presProps.xml"/>  <Relationship Id="rId91" Type="http://schemas.openxmlformats.org/officeDocument/2006/relationships/slide" Target="slides/slide85.xml"/>
  <Relationship Id="rId92" Type="http://schemas.openxmlformats.org/officeDocument/2006/relationships/slide" Target="slides/slide86.xml"/>
  <Relationship Id="rId93" Type="http://schemas.openxmlformats.org/officeDocument/2006/relationships/slide" Target="slides/slide87.xml"/>
  <Relationship Id="rId94" Type="http://schemas.openxmlformats.org/officeDocument/2006/relationships/slide" Target="slides/slide88.xml"/>
  <Relationship Id="rId95" Type="http://schemas.openxmlformats.org/officeDocument/2006/relationships/slide" Target="slides/slide89.xml"/>
  <Relationship Id="rId96" Type="http://schemas.openxmlformats.org/officeDocument/2006/relationships/slide" Target="slides/slide90.xml"/>
  <Relationship Id="rId97" Type="http://schemas.openxmlformats.org/officeDocument/2006/relationships/slide" Target="slides/slide91.xml"/>
  <Relationship Id="rId98" Type="http://schemas.openxmlformats.org/officeDocument/2006/relationships/slide" Target="slides/slide9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20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book's subtitle is a nod to Abbott's 'Flatland: A Romance of Many Dimensions'. The Flatlander sees only a slice of the sphere. We are in the same position with p &gt; 2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To illustrate what I mean when I say “sufficient visual summary”– let’s start with an ordinary scatterplot…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828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Like Galton, I’ve been impressed with the insights that can be had from elliptical thinking.</a:t>
            </a:r>
          </a:p>
          <a:p>
            <a:endParaRPr lang="en-CA" dirty="0"/>
          </a:p>
          <a:p>
            <a:r>
              <a:rPr lang="en-CA" dirty="0"/>
              <a:t>Just a simple demonstration of how outliers become apparent when viewed in the space of small principal components.</a:t>
            </a:r>
          </a:p>
          <a:p>
            <a:r>
              <a:rPr lang="en-CA" dirty="0"/>
              <a:t>I call this Waldo space, by analogy with Martin Hansford’s popular books, Where’s Waldo? (</a:t>
            </a:r>
            <a:r>
              <a:rPr lang="en-CA" dirty="0" err="1"/>
              <a:t>Waar</a:t>
            </a:r>
            <a:r>
              <a:rPr lang="en-CA" dirty="0"/>
              <a:t> is Wally? in Dutch)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898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distance plot is one of the figures the organizer singled out. School data model: reading, mathematics and self-esteem on five predictors, 70 schools. Distance plot (</a:t>
            </a:r>
            <a:r>
              <a:rPr dirty="0" err="1"/>
              <a:t>heplots</a:t>
            </a:r>
            <a:r>
              <a:rPr dirty="0"/>
              <a:t>::</a:t>
            </a:r>
            <a:r>
              <a:rPr dirty="0" err="1"/>
              <a:t>distancePlot</a:t>
            </a:r>
            <a:r>
              <a:rPr dirty="0"/>
              <a:t>) and influence plot (</a:t>
            </a:r>
            <a:r>
              <a:rPr dirty="0" err="1"/>
              <a:t>mvinfluence</a:t>
            </a:r>
            <a:r>
              <a:rPr dirty="0"/>
              <a:t>::</a:t>
            </a:r>
            <a:r>
              <a:rPr dirty="0" err="1"/>
              <a:t>influencePlot</a:t>
            </a:r>
            <a:r>
              <a:rPr dirty="0"/>
              <a:t>), re-drawn as a matched pair with the same cases in the same colors (talks/R/school-</a:t>
            </a:r>
            <a:r>
              <a:rPr dirty="0" err="1"/>
              <a:t>diagnostics.R</a:t>
            </a:r>
            <a:r>
              <a:rPr dirty="0"/>
              <a:t>). </a:t>
            </a:r>
            <a:endParaRPr lang="en-CA" dirty="0"/>
          </a:p>
          <a:p>
            <a:r>
              <a:rPr dirty="0"/>
              <a:t>Click 1: influence plot. Click 2: sensitivity analysis. Cook's D: 59 = 2.99, 44 = 1.60, 33 = 0.71, 35 = 0.30, 66 = 0.07. Without 44 and 59, education, occupation and visit remain significant; relative change in coefficients: visit 104% (reading), 77% (math); counseling 332%, 305%.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86A3-DB18-D473-3C2C-21A9E94FF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5EA81-E434-D1B7-C80B-62E4ADD5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680C3-BA4B-8E4A-D7F3-32B19F0BC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94193-AC1D-9679-4A87-E42BDF4F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6E5A0-F9CF-689C-8D61-E098A3F9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967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3552C-0BFD-199A-C290-82E0E7DD8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55B4E-7FFE-4BCA-4057-8E5B63DCE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0ECAC-6645-C1FA-580D-1382315A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8408E-18C9-AE29-9B14-B3056D00F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9CE17-62C5-B7EA-54A9-AA954533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4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1116-2C7D-3653-A739-58A48640D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CF436-57B9-4904-9302-3AE3EF354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7906C-0394-6DDE-10C3-9764E8C3E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1D87C-73DF-EE7D-BA63-DA561306E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4BC3BF-5FEF-C7F5-A648-7AD79E883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A4B92-FB68-E7CC-DE9B-0329CFE8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62FE2-5BA9-8351-CBA5-3F87C81D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DDAA6C-1E0B-34E0-7DFF-FF2D380B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346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9229C-D7D2-65B0-65BD-6AFF2B6E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892CD-C6D8-0C0D-C9C0-68452DB5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0F02E-8D0A-A2EB-DB42-8F87B8DB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395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5CE4-71A6-692F-C003-94BADEA4D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78F44-D0EC-1988-26FA-8B8E2FC38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5C2EF-17DE-9B90-ED6D-D6E91086A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E512C-223F-E79F-15ED-0ECA2BE2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AB3E7-2C8E-F043-C0C1-1F8DA545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348E1-3AEA-6F6F-23FD-BD544AF1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48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0F1B-959C-540A-AD2E-7D6FEC5E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45BF4-A48B-E174-8718-5B3569313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434C3-A68D-43AB-B28F-F34494BCB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8CEE8-2C4C-8620-737C-AE8F04CF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675F7-9A4B-E2CB-776C-2A336043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A8741-0324-E12F-C095-4E7CC976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429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D17A-4D48-28EE-A810-A3D242882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77A73-0C15-3706-044A-408FF364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D1EA6-4923-146A-49B3-D75AFA21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D5968-094E-28D6-8177-E63130DF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EAFB7-FDF1-A809-AA81-D948CE9A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929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7B1715-C993-D91F-4787-F8D7CA3A5F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2B27B-63DC-598F-B6E2-B748A7336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44A46-36D5-9B0F-3EB6-9306071F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3ADB4-0946-1EFA-F8DB-66A4A7E33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21D21-57D3-5D15-389F-E7ADDDD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9032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Part I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00B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Part I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00B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Part I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00B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Part I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00BF">
              <a:alpha val="22000"/>
            </a:srgbClr>
          </a:solidFill>
          <a:ln w="19050">
            <a:solidFill>
              <a:srgbClr val="0000BF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Part I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00BF">
              <a:alpha val="22000"/>
            </a:srgbClr>
          </a:solidFill>
          <a:ln w="19050">
            <a:solidFill>
              <a:srgbClr val="0000BF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Part I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00BF">
              <a:alpha val="22000"/>
            </a:srgbClr>
          </a:solidFill>
          <a:ln w="19050">
            <a:solidFill>
              <a:srgbClr val="0000BF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Part II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Part II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Part II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Part II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>
              <a:alpha val="22000"/>
            </a:srgbClr>
          </a:solidFill>
          <a:ln w="19050">
            <a:solidFill>
              <a:srgbClr val="00808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Part II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>
              <a:alpha val="22000"/>
            </a:srgbClr>
          </a:solidFill>
          <a:ln w="19050">
            <a:solidFill>
              <a:srgbClr val="00808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Part II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>
              <a:alpha val="22000"/>
            </a:srgbClr>
          </a:solidFill>
          <a:ln w="19050">
            <a:solidFill>
              <a:srgbClr val="00808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Part III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Part III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Part III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Part III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>
              <a:alpha val="22000"/>
            </a:srgbClr>
          </a:solidFill>
          <a:ln w="19050">
            <a:solidFill>
              <a:srgbClr val="267342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Part III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>
              <a:alpha val="22000"/>
            </a:srgbClr>
          </a:solidFill>
          <a:ln w="19050">
            <a:solidFill>
              <a:srgbClr val="267342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Part III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>
              <a:alpha val="22000"/>
            </a:srgbClr>
          </a:solidFill>
          <a:ln w="19050">
            <a:solidFill>
              <a:srgbClr val="267342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Part IV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Part IV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Part IV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 · Part IV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>
              <a:alpha val="22000"/>
            </a:srgbClr>
          </a:solidFill>
          <a:ln w="19050">
            <a:solidFill>
              <a:srgbClr val="CC660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 · Part IV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>
              <a:alpha val="22000"/>
            </a:srgbClr>
          </a:solidFill>
          <a:ln w="19050">
            <a:solidFill>
              <a:srgbClr val="CC660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 · Part IV 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>
              <a:alpha val="22000"/>
            </a:srgbClr>
          </a:solidFill>
          <a:ln w="19050">
            <a:solidFill>
              <a:srgbClr val="CC660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B12B1-0D45-5083-3C07-79A68792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9808-3D32-7A37-D584-26815CFB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3063"/>
            <a:ext cx="10515600" cy="4533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819E6-998B-212B-C4AA-B9496436B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10891-3358-4CD0-A583-DA65327EA413}" type="datetimeFigureOut">
              <a:rPr lang="en-CA" smtClean="0"/>
              <a:t>2026-10-18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8078D-866B-F3B4-630F-FE1A8ED65F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377B5-A28A-9D03-B379-6A7984C14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799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emf"/><Relationship Id="rId5" Type="http://schemas.openxmlformats.org/officeDocument/2006/relationships/image" Target="../media/image54.png"/><Relationship Id="rId4" Type="http://schemas.openxmlformats.org/officeDocument/2006/relationships/hyperlink" Target="http://www.datavis.ca/gallery/animation/outlier-demo/" TargetMode="External"/></Relationships>
</file>

<file path=ppt/slides/_rels/slide58.xml.rels><?xml version="1.0" encoding="UTF-8" standalone="yes"?>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5.png"/></Relationships>
</file>

<file path=ppt/slides/_rels/slide8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86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s/_rels/slide87.xml.rels><?xml version="1.0" encoding="UTF-8" standalone="yes"?>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8.xml.rels><?xml version="1.0" encoding="UTF-8" standalone="yes"?>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9.xml.rels><?xml version="1.0" encoding="UTF-8" standalone="yes"?>
<Relationships xmlns="http://schemas.openxmlformats.org/package/2006/relationships"><Relationship Id="rId3" Type="http://schemas.openxmlformats.org/officeDocument/2006/relationships/image" Target="../media/image5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5.emf"/><Relationship Id="rId5" Type="http://schemas.openxmlformats.org/officeDocument/2006/relationships/image" Target="../media/image54.png"/><Relationship Id="rId4" Type="http://schemas.openxmlformats.org/officeDocument/2006/relationships/hyperlink" Target="http://www.datavis.ca/gallery/animation/outlier-demo/" TargetMode="External"/></Relationships>
</file>

<file path=ppt/slides/_rels/slide90.xml.rels><?xml version="1.0" encoding="UTF-8" standalone="yes"?>
<Relationships xmlns="http://schemas.openxmlformats.org/package/2006/relationships"><Relationship Id="rId3" Type="http://schemas.openxmlformats.org/officeDocument/2006/relationships/image" Target="../media/image53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55.emf"/><Relationship Id="rId5" Type="http://schemas.openxmlformats.org/officeDocument/2006/relationships/image" Target="../media/image54.png"/><Relationship Id="rId4" Type="http://schemas.openxmlformats.org/officeDocument/2006/relationships/hyperlink" Target="http://www.datavis.ca/gallery/animation/outlier-demo/" TargetMode="External"/></Relationships>
</file>

<file path=ppt/slides/_rels/slide91.xml.rels><?xml version="1.0" encoding="UTF-8" standalone="yes"?>
<Relationships xmlns="http://schemas.openxmlformats.org/package/2006/relationships"><Relationship Id="rId3" Type="http://schemas.openxmlformats.org/officeDocument/2006/relationships/image" Target="../media/image94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95.png"/></Relationships>
</file>

<file path=ppt/slides/_rels/slide92.xml.rels><?xml version="1.0" encoding="UTF-8" standalone="yes"?>
<Relationships xmlns="http://schemas.openxmlformats.org/package/2006/relationships"><Relationship Id="rId3" Type="http://schemas.openxmlformats.org/officeDocument/2006/relationships/image" Target="../media/image94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95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Plane</a:t>
            </a:r>
            <a:r>
              <a:rPr dirty="0"/>
              <a:t>land: we only ever see </a:t>
            </a:r>
            <a:r>
              <a:rPr lang="en-CA" dirty="0"/>
              <a:t>2D </a:t>
            </a:r>
            <a:r>
              <a:rPr dirty="0"/>
              <a:t>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Abbott's Flatland (1884): a sphere passing through a 2D world is seen as a circle that grows and shrinks</a:t>
            </a:r>
          </a:p>
          <a:p>
            <a:r>
              <a:rPr dirty="0"/>
              <a:t>Our </a:t>
            </a:r>
            <a:r>
              <a:rPr lang="en-CA" dirty="0"/>
              <a:t>2D </a:t>
            </a:r>
            <a:r>
              <a:rPr dirty="0"/>
              <a:t>plots are Flatland views of data that live in many dimensions</a:t>
            </a:r>
          </a:p>
          <a:p>
            <a:r>
              <a:rPr dirty="0"/>
              <a:t>Multivariate visualization is the art of </a:t>
            </a:r>
            <a:r>
              <a:rPr b="1" dirty="0"/>
              <a:t>choosing good views</a:t>
            </a:r>
            <a:endParaRPr lang="en-CA" b="1" dirty="0"/>
          </a:p>
          <a:p>
            <a:r>
              <a:rPr lang="en-CA" dirty="0">
                <a:solidFill>
                  <a:srgbClr val="C00000"/>
                </a:solidFill>
              </a:rPr>
              <a:t>#dataviz </a:t>
            </a:r>
            <a:r>
              <a:rPr lang="en-CA" dirty="0"/>
              <a:t>is the art of making plots informative (&amp; pretty!)</a:t>
            </a:r>
          </a:p>
          <a:p>
            <a:r>
              <a:rPr lang="en-CA" b="1" dirty="0"/>
              <a:t>Truth &amp; Beauty</a:t>
            </a:r>
            <a:r>
              <a:rPr lang="en-CA" dirty="0"/>
              <a:t>: That’s the Romance!</a:t>
            </a:r>
            <a:endParaRPr dirty="0"/>
          </a:p>
        </p:txBody>
      </p:sp>
      <p:pic>
        <p:nvPicPr>
          <p:cNvPr id="4" name="Picture 3" descr="flatland-sphe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152" y="1752981"/>
            <a:ext cx="5184648" cy="1578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1.1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909CF-4995-827F-E9C7-23F0A1CE0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994" y="3695590"/>
            <a:ext cx="3947314" cy="2819510"/>
          </a:xfrm>
          <a:prstGeom prst="rect">
            <a:avLst/>
          </a:prstGeom>
        </p:spPr>
      </p:pic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6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9A55-FDC9-9AB1-4F6B-B5079890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Data ellipses: Sufficient visual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2F993-85E8-DA3F-AF57-8F6D5C5FB71C}"/>
              </a:ext>
            </a:extLst>
          </p:cNvPr>
          <p:cNvSpPr txBox="1"/>
          <p:nvPr/>
        </p:nvSpPr>
        <p:spPr>
          <a:xfrm>
            <a:off x="854839" y="1264185"/>
            <a:ext cx="10360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Add data ellipses to show w/in group means &amp; scatter (sufficient for N(</a:t>
            </a:r>
            <a:r>
              <a:rPr lang="en-CA" sz="2000" b="1" dirty="0"/>
              <a:t>µ, </a:t>
            </a:r>
            <a:r>
              <a:rPr lang="el-GR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r>
              <a:rPr lang="en-C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Remove the points to show the overall </a:t>
            </a:r>
            <a:r>
              <a:rPr lang="en-CA" sz="2000" b="1" dirty="0"/>
              <a:t>patterns</a:t>
            </a:r>
            <a:r>
              <a:rPr lang="en-CA" sz="2000" dirty="0"/>
              <a:t>: means, shape, corr., 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What remains is all that linear models care about (ellipses can be made robust!)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E8FD65-CEE9-7835-E19B-452A0BFF3F5E}"/>
              </a:ext>
            </a:extLst>
          </p:cNvPr>
          <p:cNvGrpSpPr/>
          <p:nvPr/>
        </p:nvGrpSpPr>
        <p:grpSpPr>
          <a:xfrm>
            <a:off x="1788460" y="3127935"/>
            <a:ext cx="2599710" cy="3240000"/>
            <a:chOff x="533400" y="2667000"/>
            <a:chExt cx="2599710" cy="2985995"/>
          </a:xfrm>
        </p:grpSpPr>
        <p:pic>
          <p:nvPicPr>
            <p:cNvPr id="6" name="Picture 5" descr="A diagram of different species&#10;&#10;Description automatically generated with medium confidence">
              <a:extLst>
                <a:ext uri="{FF2B5EF4-FFF2-40B4-BE49-F238E27FC236}">
                  <a16:creationId xmlns:a16="http://schemas.microsoft.com/office/drawing/2014/main" id="{C96AB326-5E7A-3AE2-EEB8-D258C5BC2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" y="2880995"/>
              <a:ext cx="2599710" cy="2772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21E6C9-613E-6243-8896-1831A6B770B8}"/>
                </a:ext>
              </a:extLst>
            </p:cNvPr>
            <p:cNvSpPr txBox="1"/>
            <p:nvPr/>
          </p:nvSpPr>
          <p:spPr>
            <a:xfrm>
              <a:off x="914400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Standard scatterplot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AEEE1DC-761F-3128-02B3-C5765465B0AF}"/>
              </a:ext>
            </a:extLst>
          </p:cNvPr>
          <p:cNvGrpSpPr/>
          <p:nvPr/>
        </p:nvGrpSpPr>
        <p:grpSpPr>
          <a:xfrm>
            <a:off x="4772134" y="3127935"/>
            <a:ext cx="2599713" cy="3240000"/>
            <a:chOff x="3301922" y="2667000"/>
            <a:chExt cx="2599713" cy="2985995"/>
          </a:xfrm>
        </p:grpSpPr>
        <p:pic>
          <p:nvPicPr>
            <p:cNvPr id="8" name="Picture 7" descr="A diagram of different colored circles&#10;&#10;Description automatically generated">
              <a:extLst>
                <a:ext uri="{FF2B5EF4-FFF2-40B4-BE49-F238E27FC236}">
                  <a16:creationId xmlns:a16="http://schemas.microsoft.com/office/drawing/2014/main" id="{638FAB1A-695F-034A-B921-8090B9240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1922" y="2880995"/>
              <a:ext cx="2599713" cy="2772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69B037-1D0F-358B-0951-E8D83C58972D}"/>
                </a:ext>
              </a:extLst>
            </p:cNvPr>
            <p:cNvSpPr txBox="1"/>
            <p:nvPr/>
          </p:nvSpPr>
          <p:spPr>
            <a:xfrm>
              <a:off x="3733800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Add data ellipses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5B620F-C3FA-F6B3-F441-F8DE91F20E8E}"/>
              </a:ext>
            </a:extLst>
          </p:cNvPr>
          <p:cNvGrpSpPr/>
          <p:nvPr/>
        </p:nvGrpSpPr>
        <p:grpSpPr>
          <a:xfrm>
            <a:off x="7755812" y="3127935"/>
            <a:ext cx="2599713" cy="3240000"/>
            <a:chOff x="6070447" y="2667000"/>
            <a:chExt cx="2599713" cy="2985995"/>
          </a:xfrm>
        </p:grpSpPr>
        <p:pic>
          <p:nvPicPr>
            <p:cNvPr id="10" name="Picture 9" descr="A graph of different colored circles&#10;&#10;Description automatically generated">
              <a:extLst>
                <a:ext uri="{FF2B5EF4-FFF2-40B4-BE49-F238E27FC236}">
                  <a16:creationId xmlns:a16="http://schemas.microsoft.com/office/drawing/2014/main" id="{3E5CC049-3D6F-1FD6-F533-6E17226CA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0447" y="2880995"/>
              <a:ext cx="2599713" cy="2772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D490C7-517C-74BC-4FE5-137D1F681835}"/>
                </a:ext>
              </a:extLst>
            </p:cNvPr>
            <p:cNvSpPr txBox="1"/>
            <p:nvPr/>
          </p:nvSpPr>
          <p:spPr>
            <a:xfrm>
              <a:off x="6476414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Remove points</a:t>
              </a:r>
            </a:p>
          </p:txBody>
        </p:sp>
      </p:grpSp>
      <p:sp>
        <p:nvSpPr>
          <p:cNvPr id="15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342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Outlier detection: </a:t>
            </a:r>
            <a:r>
              <a:rPr lang="en-CA" dirty="0" err="1"/>
              <a:t>Waar</a:t>
            </a:r>
            <a:r>
              <a:rPr lang="en-CA" dirty="0"/>
              <a:t> is Wally?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1600200"/>
          </a:xfrm>
        </p:spPr>
        <p:txBody>
          <a:bodyPr>
            <a:normAutofit/>
          </a:bodyPr>
          <a:lstStyle/>
          <a:p>
            <a:r>
              <a:rPr lang="en-US" dirty="0"/>
              <a:t>Multivariate outliers might be invisible in </a:t>
            </a:r>
            <a:r>
              <a:rPr lang="en-US" dirty="0" err="1"/>
              <a:t>univariate</a:t>
            </a:r>
            <a:r>
              <a:rPr lang="en-US" dirty="0"/>
              <a:t> views, but become readily apparent on the </a:t>
            </a:r>
            <a:r>
              <a:rPr lang="en-US" i="1" dirty="0">
                <a:solidFill>
                  <a:srgbClr val="FF0000"/>
                </a:solidFill>
              </a:rPr>
              <a:t>smallest</a:t>
            </a:r>
            <a:r>
              <a:rPr lang="en-US" dirty="0"/>
              <a:t> principal component</a:t>
            </a:r>
          </a:p>
          <a:p>
            <a:pPr lvl="1"/>
            <a:r>
              <a:rPr lang="en-US" dirty="0"/>
              <a:t>100 observations on two correlated normal variables with two bivariate outliers near (2,2), (-2, -2)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895600"/>
            <a:ext cx="3335714" cy="3228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4737" y="6170024"/>
            <a:ext cx="7933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Animation: </a:t>
            </a:r>
            <a:r>
              <a:rPr lang="en-US" dirty="0">
                <a:hlinkClick r:id="rId4"/>
              </a:rPr>
              <a:t>http://www.datavis.ca/gallery/animation/outlier-demo/</a:t>
            </a:r>
            <a:r>
              <a:rPr lang="en-US" dirty="0"/>
              <a:t>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337D7C-21AE-3280-AE87-D795CAF4F77B}"/>
              </a:ext>
            </a:extLst>
          </p:cNvPr>
          <p:cNvSpPr/>
          <p:nvPr/>
        </p:nvSpPr>
        <p:spPr>
          <a:xfrm>
            <a:off x="3243945" y="3505200"/>
            <a:ext cx="304800" cy="304800"/>
          </a:xfrm>
          <a:prstGeom prst="ellipse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1ABCAC-63E1-2F1E-AD2A-BB18D9F3332D}"/>
              </a:ext>
            </a:extLst>
          </p:cNvPr>
          <p:cNvSpPr/>
          <p:nvPr/>
        </p:nvSpPr>
        <p:spPr>
          <a:xfrm>
            <a:off x="4724400" y="4876800"/>
            <a:ext cx="304800" cy="304800"/>
          </a:xfrm>
          <a:prstGeom prst="ellipse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1" y="2901045"/>
            <a:ext cx="3385715" cy="322142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0671532-BF30-807E-8298-B842C5155737}"/>
              </a:ext>
            </a:extLst>
          </p:cNvPr>
          <p:cNvGrpSpPr/>
          <p:nvPr/>
        </p:nvGrpSpPr>
        <p:grpSpPr>
          <a:xfrm>
            <a:off x="8010926" y="3133998"/>
            <a:ext cx="488934" cy="2581003"/>
            <a:chOff x="6486926" y="3133997"/>
            <a:chExt cx="488934" cy="258100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CB8E533-E97C-C8DF-C06A-008964E0F708}"/>
                </a:ext>
              </a:extLst>
            </p:cNvPr>
            <p:cNvSpPr/>
            <p:nvPr/>
          </p:nvSpPr>
          <p:spPr>
            <a:xfrm>
              <a:off x="6671060" y="5410200"/>
              <a:ext cx="304800" cy="304800"/>
            </a:xfrm>
            <a:prstGeom prst="ellipse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A759897-B997-4E5D-6B0E-E6ACE70AC9B7}"/>
                </a:ext>
              </a:extLst>
            </p:cNvPr>
            <p:cNvSpPr/>
            <p:nvPr/>
          </p:nvSpPr>
          <p:spPr>
            <a:xfrm>
              <a:off x="6486926" y="3133997"/>
              <a:ext cx="304800" cy="304800"/>
            </a:xfrm>
            <a:prstGeom prst="ellipse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AFCCD3D-C3CA-5C4D-647D-D576A42BF5B4}"/>
              </a:ext>
            </a:extLst>
          </p:cNvPr>
          <p:cNvSpPr/>
          <p:nvPr/>
        </p:nvSpPr>
        <p:spPr>
          <a:xfrm>
            <a:off x="5676900" y="2895600"/>
            <a:ext cx="838200" cy="293132"/>
          </a:xfrm>
          <a:prstGeom prst="rightArrow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806E20-2B2C-7093-DC94-1E5418255902}"/>
              </a:ext>
            </a:extLst>
          </p:cNvPr>
          <p:cNvSpPr txBox="1"/>
          <p:nvPr/>
        </p:nvSpPr>
        <p:spPr>
          <a:xfrm>
            <a:off x="7506427" y="2541858"/>
            <a:ext cx="165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Waldo space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B3D34-1EC3-540D-C439-CF4C834763E1}"/>
              </a:ext>
            </a:extLst>
          </p:cNvPr>
          <p:cNvSpPr txBox="1"/>
          <p:nvPr/>
        </p:nvSpPr>
        <p:spPr>
          <a:xfrm>
            <a:off x="2286000" y="2581460"/>
            <a:ext cx="165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Data space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742673-A5D6-1F75-0409-79B0C4FA7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6870" y="2515508"/>
            <a:ext cx="568780" cy="568780"/>
          </a:xfrm>
          <a:prstGeom prst="rect">
            <a:avLst/>
          </a:prstGeom>
        </p:spPr>
      </p:pic>
      <p:sp>
        <p:nvSpPr>
          <p:cNvPr id="18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905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Unusual is not the same as influential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600200"/>
            <a:ext cx="3429000" cy="2103120"/>
          </a:xfrm>
        </p:spPr>
        <p:txBody>
          <a:bodyPr/>
          <a:lstStyle/>
          <a:p>
            <a:r>
              <a:rPr sz="1800" dirty="0"/>
              <a:t>School data: 70 schools, 3 outcomes, 5 predictors</a:t>
            </a:r>
          </a:p>
          <a:p>
            <a:r>
              <a:rPr sz="1800" dirty="0"/>
              <a:t>Distance plot: predictor distance (leverage) vs. residual distance (outliers)</a:t>
            </a:r>
          </a:p>
          <a:p>
            <a:r>
              <a:rPr lang="en-CA" sz="1800" dirty="0"/>
              <a:t>Lines: cutoffs for “large”</a:t>
            </a:r>
          </a:p>
        </p:txBody>
      </p:sp>
      <p:pic>
        <p:nvPicPr>
          <p:cNvPr id="4" name="dist-pic" descr="fig-school-distpl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78308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11.18, 11.19</a:t>
            </a:r>
          </a:p>
        </p:txBody>
      </p:sp>
      <p:pic>
        <p:nvPicPr>
          <p:cNvPr id="6" name="infl-pic" descr="school-diag-2-infl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783080"/>
            <a:ext cx="3931920" cy="3931920"/>
          </a:xfrm>
          <a:prstGeom prst="rect">
            <a:avLst/>
          </a:prstGeom>
        </p:spPr>
      </p:pic>
      <p:sp>
        <p:nvSpPr>
          <p:cNvPr id="7" name="dist-cap"/>
          <p:cNvSpPr txBox="1"/>
          <p:nvPr/>
        </p:nvSpPr>
        <p:spPr>
          <a:xfrm>
            <a:off x="402336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Distance plot: where is it unusual?</a:t>
            </a:r>
          </a:p>
        </p:txBody>
      </p:sp>
      <p:sp>
        <p:nvSpPr>
          <p:cNvPr id="8" name="infl-cap"/>
          <p:cNvSpPr txBox="1"/>
          <p:nvPr/>
        </p:nvSpPr>
        <p:spPr>
          <a:xfrm>
            <a:off x="809244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Influence plot: does it matter?</a:t>
            </a:r>
          </a:p>
        </p:txBody>
      </p:sp>
      <p:sp>
        <p:nvSpPr>
          <p:cNvPr id="9" name="infl-text"/>
          <p:cNvSpPr txBox="1"/>
          <p:nvPr/>
        </p:nvSpPr>
        <p:spPr>
          <a:xfrm>
            <a:off x="502920" y="3703320"/>
            <a:ext cx="3429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/>
              <a:t>Influence plot: bubble size ~ multivariate Cook’s D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FF0000"/>
                </a:solidFill>
              </a:rPr>
              <a:t>44, 59</a:t>
            </a:r>
            <a:r>
              <a:rPr sz="1800"/>
              <a:t>: high leverage and influential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0000FF"/>
                </a:solidFill>
              </a:rPr>
              <a:t>35</a:t>
            </a:r>
            <a:r>
              <a:rPr sz="1800"/>
              <a:t>: an outlier, but little influence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006400"/>
                </a:solidFill>
              </a:rPr>
              <a:t>66</a:t>
            </a:r>
            <a:r>
              <a:rPr sz="1800"/>
              <a:t>: high leverage, but harmless</a:t>
            </a:r>
          </a:p>
        </p:txBody>
      </p:sp>
      <p:sp>
        <p:nvSpPr>
          <p:cNvPr id="10" name="sens-text"/>
          <p:cNvSpPr txBox="1"/>
          <p:nvPr/>
        </p:nvSpPr>
        <p:spPr>
          <a:xfrm>
            <a:off x="4023360" y="5760720"/>
            <a:ext cx="8001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/>
              <a:t>Refit without </a:t>
            </a:r>
            <a:r>
              <a:rPr sz="1600" b="1">
                <a:solidFill>
                  <a:srgbClr val="FF0000"/>
                </a:solidFill>
              </a:rPr>
              <a:t>44</a:t>
            </a:r>
            <a:r>
              <a:rPr sz="1600"/>
              <a:t> and </a:t>
            </a:r>
            <a:r>
              <a:rPr sz="1600" b="1">
                <a:solidFill>
                  <a:srgbClr val="FF0000"/>
                </a:solidFill>
              </a:rPr>
              <a:t>59</a:t>
            </a:r>
            <a:r>
              <a:rPr sz="1600"/>
              <a:t>: the same three predictors stay significant, but the reading and mathematics coefficients change by 77–104% for visit and over 300% for counseling.</a:t>
            </a: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58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Plane</a:t>
            </a:r>
            <a:r>
              <a:rPr dirty="0"/>
              <a:t>land: we only ever see </a:t>
            </a:r>
            <a:r>
              <a:rPr lang="en-CA" dirty="0"/>
              <a:t>2D </a:t>
            </a:r>
            <a:r>
              <a:rPr dirty="0"/>
              <a:t>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Abbott's Flatland (1884): a sphere passing through a 2D world is seen as a circle that grows and shrinks</a:t>
            </a:r>
          </a:p>
          <a:p>
            <a:r>
              <a:rPr dirty="0"/>
              <a:t>Our </a:t>
            </a:r>
            <a:r>
              <a:rPr lang="en-CA" dirty="0"/>
              <a:t>2D </a:t>
            </a:r>
            <a:r>
              <a:rPr dirty="0"/>
              <a:t>plots are Flatland views of data that live in many dimensions</a:t>
            </a:r>
          </a:p>
          <a:p>
            <a:r>
              <a:rPr dirty="0"/>
              <a:t>Multivariate visualization is the art of </a:t>
            </a:r>
            <a:r>
              <a:rPr b="1" dirty="0"/>
              <a:t>choosing good views</a:t>
            </a:r>
            <a:endParaRPr lang="en-CA" b="1" dirty="0"/>
          </a:p>
          <a:p>
            <a:r>
              <a:rPr lang="en-CA" dirty="0">
                <a:solidFill>
                  <a:srgbClr val="C00000"/>
                </a:solidFill>
              </a:rPr>
              <a:t>#dataviz </a:t>
            </a:r>
            <a:r>
              <a:rPr lang="en-CA" dirty="0"/>
              <a:t>is the art of making plots informative (&amp; pretty!)</a:t>
            </a:r>
          </a:p>
          <a:p>
            <a:r>
              <a:rPr lang="en-CA" b="1" dirty="0"/>
              <a:t>Truth &amp; Beauty</a:t>
            </a:r>
            <a:r>
              <a:rPr lang="en-CA" dirty="0"/>
              <a:t>: That’s the Romance!</a:t>
            </a:r>
            <a:endParaRPr dirty="0"/>
          </a:p>
        </p:txBody>
      </p:sp>
      <p:pic>
        <p:nvPicPr>
          <p:cNvPr id="4" name="Picture 3" descr="flatland-sphe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152" y="1752981"/>
            <a:ext cx="5184648" cy="1578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1.1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909CF-4995-827F-E9C7-23F0A1CE0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994" y="3695590"/>
            <a:ext cx="3947314" cy="2819510"/>
          </a:xfrm>
          <a:prstGeom prst="rect">
            <a:avLst/>
          </a:prstGeom>
        </p:spPr>
      </p:pic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6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Plane</a:t>
            </a:r>
            <a:r>
              <a:rPr dirty="0"/>
              <a:t>land: we only ever see </a:t>
            </a:r>
            <a:r>
              <a:rPr lang="en-CA" dirty="0"/>
              <a:t>2D </a:t>
            </a:r>
            <a:r>
              <a:rPr dirty="0"/>
              <a:t>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Abbott's Flatland (1884): a sphere passing through a 2D world is seen as a circle that grows and shrinks</a:t>
            </a:r>
          </a:p>
          <a:p>
            <a:r>
              <a:rPr dirty="0"/>
              <a:t>Our </a:t>
            </a:r>
            <a:r>
              <a:rPr lang="en-CA" dirty="0"/>
              <a:t>2D </a:t>
            </a:r>
            <a:r>
              <a:rPr dirty="0"/>
              <a:t>plots are Flatland views of data that live in many dimensions</a:t>
            </a:r>
          </a:p>
          <a:p>
            <a:r>
              <a:rPr dirty="0"/>
              <a:t>Multivariate visualization is the art of </a:t>
            </a:r>
            <a:r>
              <a:rPr b="1" dirty="0"/>
              <a:t>choosing good views</a:t>
            </a:r>
            <a:endParaRPr lang="en-CA" b="1" dirty="0"/>
          </a:p>
          <a:p>
            <a:r>
              <a:rPr lang="en-CA" dirty="0">
                <a:solidFill>
                  <a:srgbClr val="C00000"/>
                </a:solidFill>
              </a:rPr>
              <a:t>#dataviz </a:t>
            </a:r>
            <a:r>
              <a:rPr lang="en-CA" dirty="0"/>
              <a:t>is the art of making plots informative (&amp; pretty!)</a:t>
            </a:r>
          </a:p>
          <a:p>
            <a:r>
              <a:rPr lang="en-CA" b="1" dirty="0"/>
              <a:t>Truth &amp; Beauty</a:t>
            </a:r>
            <a:r>
              <a:rPr lang="en-CA" dirty="0"/>
              <a:t>: That’s the Romance!</a:t>
            </a:r>
            <a:endParaRPr dirty="0"/>
          </a:p>
        </p:txBody>
      </p:sp>
      <p:pic>
        <p:nvPicPr>
          <p:cNvPr id="4" name="Picture 3" descr="flatland-sphe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152" y="1752981"/>
            <a:ext cx="5184648" cy="1578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1.1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909CF-4995-827F-E9C7-23F0A1CE0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994" y="3695590"/>
            <a:ext cx="3947314" cy="2819510"/>
          </a:xfrm>
          <a:prstGeom prst="rect">
            <a:avLst/>
          </a:prstGeom>
        </p:spPr>
      </p:pic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6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9A55-FDC9-9AB1-4F6B-B5079890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Data ellipses: Sufficient visual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2F993-85E8-DA3F-AF57-8F6D5C5FB71C}"/>
              </a:ext>
            </a:extLst>
          </p:cNvPr>
          <p:cNvSpPr txBox="1"/>
          <p:nvPr/>
        </p:nvSpPr>
        <p:spPr>
          <a:xfrm>
            <a:off x="854839" y="1264185"/>
            <a:ext cx="10360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Add data ellipses to show w/in group means &amp; scatter (sufficient for N(</a:t>
            </a:r>
            <a:r>
              <a:rPr lang="en-CA" sz="2000" b="1" dirty="0"/>
              <a:t>µ, </a:t>
            </a:r>
            <a:r>
              <a:rPr lang="el-GR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r>
              <a:rPr lang="en-C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Remove the points to show the overall </a:t>
            </a:r>
            <a:r>
              <a:rPr lang="en-CA" sz="2000" b="1" dirty="0"/>
              <a:t>patterns</a:t>
            </a:r>
            <a:r>
              <a:rPr lang="en-CA" sz="2000" dirty="0"/>
              <a:t>: means, shape, corr., 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What remains is all that linear models care about (ellipses can be made robust!)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E8FD65-CEE9-7835-E19B-452A0BFF3F5E}"/>
              </a:ext>
            </a:extLst>
          </p:cNvPr>
          <p:cNvGrpSpPr/>
          <p:nvPr/>
        </p:nvGrpSpPr>
        <p:grpSpPr>
          <a:xfrm>
            <a:off x="1788460" y="3127935"/>
            <a:ext cx="2599710" cy="3240000"/>
            <a:chOff x="533400" y="2667000"/>
            <a:chExt cx="2599710" cy="2985995"/>
          </a:xfrm>
        </p:grpSpPr>
        <p:pic>
          <p:nvPicPr>
            <p:cNvPr id="6" name="Picture 5" descr="A diagram of different species&#10;&#10;Description automatically generated with medium confidence">
              <a:extLst>
                <a:ext uri="{FF2B5EF4-FFF2-40B4-BE49-F238E27FC236}">
                  <a16:creationId xmlns:a16="http://schemas.microsoft.com/office/drawing/2014/main" id="{C96AB326-5E7A-3AE2-EEB8-D258C5BC2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" y="2880995"/>
              <a:ext cx="2599710" cy="2772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21E6C9-613E-6243-8896-1831A6B770B8}"/>
                </a:ext>
              </a:extLst>
            </p:cNvPr>
            <p:cNvSpPr txBox="1"/>
            <p:nvPr/>
          </p:nvSpPr>
          <p:spPr>
            <a:xfrm>
              <a:off x="914400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Standard scatterplot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AEEE1DC-761F-3128-02B3-C5765465B0AF}"/>
              </a:ext>
            </a:extLst>
          </p:cNvPr>
          <p:cNvGrpSpPr/>
          <p:nvPr/>
        </p:nvGrpSpPr>
        <p:grpSpPr>
          <a:xfrm>
            <a:off x="4772134" y="3127935"/>
            <a:ext cx="2599713" cy="3240000"/>
            <a:chOff x="3301922" y="2667000"/>
            <a:chExt cx="2599713" cy="2985995"/>
          </a:xfrm>
        </p:grpSpPr>
        <p:pic>
          <p:nvPicPr>
            <p:cNvPr id="8" name="Picture 7" descr="A diagram of different colored circles&#10;&#10;Description automatically generated">
              <a:extLst>
                <a:ext uri="{FF2B5EF4-FFF2-40B4-BE49-F238E27FC236}">
                  <a16:creationId xmlns:a16="http://schemas.microsoft.com/office/drawing/2014/main" id="{638FAB1A-695F-034A-B921-8090B9240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1922" y="2880995"/>
              <a:ext cx="2599713" cy="2772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69B037-1D0F-358B-0951-E8D83C58972D}"/>
                </a:ext>
              </a:extLst>
            </p:cNvPr>
            <p:cNvSpPr txBox="1"/>
            <p:nvPr/>
          </p:nvSpPr>
          <p:spPr>
            <a:xfrm>
              <a:off x="3733800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Add data ellipses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5B620F-C3FA-F6B3-F441-F8DE91F20E8E}"/>
              </a:ext>
            </a:extLst>
          </p:cNvPr>
          <p:cNvGrpSpPr/>
          <p:nvPr/>
        </p:nvGrpSpPr>
        <p:grpSpPr>
          <a:xfrm>
            <a:off x="7755812" y="3127935"/>
            <a:ext cx="2599713" cy="3240000"/>
            <a:chOff x="6070447" y="2667000"/>
            <a:chExt cx="2599713" cy="2985995"/>
          </a:xfrm>
        </p:grpSpPr>
        <p:pic>
          <p:nvPicPr>
            <p:cNvPr id="10" name="Picture 9" descr="A graph of different colored circles&#10;&#10;Description automatically generated">
              <a:extLst>
                <a:ext uri="{FF2B5EF4-FFF2-40B4-BE49-F238E27FC236}">
                  <a16:creationId xmlns:a16="http://schemas.microsoft.com/office/drawing/2014/main" id="{3E5CC049-3D6F-1FD6-F533-6E17226CA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0447" y="2880995"/>
              <a:ext cx="2599713" cy="2772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D490C7-517C-74BC-4FE5-137D1F681835}"/>
                </a:ext>
              </a:extLst>
            </p:cNvPr>
            <p:cNvSpPr txBox="1"/>
            <p:nvPr/>
          </p:nvSpPr>
          <p:spPr>
            <a:xfrm>
              <a:off x="6476414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Remove points</a:t>
              </a:r>
            </a:p>
          </p:txBody>
        </p:sp>
      </p:grpSp>
      <p:sp>
        <p:nvSpPr>
          <p:cNvPr id="15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342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9A55-FDC9-9AB1-4F6B-B5079890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Data ellipses: Sufficient visual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2F993-85E8-DA3F-AF57-8F6D5C5FB71C}"/>
              </a:ext>
            </a:extLst>
          </p:cNvPr>
          <p:cNvSpPr txBox="1"/>
          <p:nvPr/>
        </p:nvSpPr>
        <p:spPr>
          <a:xfrm>
            <a:off x="854839" y="1264185"/>
            <a:ext cx="10360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Add data ellipses to show w/in group means &amp; scatter (sufficient for N(</a:t>
            </a:r>
            <a:r>
              <a:rPr lang="en-CA" sz="2000" b="1" dirty="0"/>
              <a:t>µ, </a:t>
            </a:r>
            <a:r>
              <a:rPr lang="el-GR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r>
              <a:rPr lang="en-CA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Remove the points to show the overall </a:t>
            </a:r>
            <a:r>
              <a:rPr lang="en-CA" sz="2000" b="1" dirty="0"/>
              <a:t>patterns</a:t>
            </a:r>
            <a:r>
              <a:rPr lang="en-CA" sz="2000" dirty="0"/>
              <a:t>: means, shape, corr., 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What remains is all that linear models care about (ellipses can be made robust!)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E8FD65-CEE9-7835-E19B-452A0BFF3F5E}"/>
              </a:ext>
            </a:extLst>
          </p:cNvPr>
          <p:cNvGrpSpPr/>
          <p:nvPr/>
        </p:nvGrpSpPr>
        <p:grpSpPr>
          <a:xfrm>
            <a:off x="1788460" y="3127935"/>
            <a:ext cx="2599710" cy="3240000"/>
            <a:chOff x="533400" y="2667000"/>
            <a:chExt cx="2599710" cy="2985995"/>
          </a:xfrm>
        </p:grpSpPr>
        <p:pic>
          <p:nvPicPr>
            <p:cNvPr id="6" name="Picture 5" descr="A diagram of different species&#10;&#10;Description automatically generated with medium confidence">
              <a:extLst>
                <a:ext uri="{FF2B5EF4-FFF2-40B4-BE49-F238E27FC236}">
                  <a16:creationId xmlns:a16="http://schemas.microsoft.com/office/drawing/2014/main" id="{C96AB326-5E7A-3AE2-EEB8-D258C5BC2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" y="2880995"/>
              <a:ext cx="2599710" cy="2772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21E6C9-613E-6243-8896-1831A6B770B8}"/>
                </a:ext>
              </a:extLst>
            </p:cNvPr>
            <p:cNvSpPr txBox="1"/>
            <p:nvPr/>
          </p:nvSpPr>
          <p:spPr>
            <a:xfrm>
              <a:off x="914400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Standard scatterplot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AEEE1DC-761F-3128-02B3-C5765465B0AF}"/>
              </a:ext>
            </a:extLst>
          </p:cNvPr>
          <p:cNvGrpSpPr/>
          <p:nvPr/>
        </p:nvGrpSpPr>
        <p:grpSpPr>
          <a:xfrm>
            <a:off x="4772134" y="3127935"/>
            <a:ext cx="2599713" cy="3240000"/>
            <a:chOff x="3301922" y="2667000"/>
            <a:chExt cx="2599713" cy="2985995"/>
          </a:xfrm>
        </p:grpSpPr>
        <p:pic>
          <p:nvPicPr>
            <p:cNvPr id="8" name="Picture 7" descr="A diagram of different colored circles&#10;&#10;Description automatically generated">
              <a:extLst>
                <a:ext uri="{FF2B5EF4-FFF2-40B4-BE49-F238E27FC236}">
                  <a16:creationId xmlns:a16="http://schemas.microsoft.com/office/drawing/2014/main" id="{638FAB1A-695F-034A-B921-8090B9240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1922" y="2880995"/>
              <a:ext cx="2599713" cy="2772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69B037-1D0F-358B-0951-E8D83C58972D}"/>
                </a:ext>
              </a:extLst>
            </p:cNvPr>
            <p:cNvSpPr txBox="1"/>
            <p:nvPr/>
          </p:nvSpPr>
          <p:spPr>
            <a:xfrm>
              <a:off x="3733800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Add data ellipses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5B620F-C3FA-F6B3-F441-F8DE91F20E8E}"/>
              </a:ext>
            </a:extLst>
          </p:cNvPr>
          <p:cNvGrpSpPr/>
          <p:nvPr/>
        </p:nvGrpSpPr>
        <p:grpSpPr>
          <a:xfrm>
            <a:off x="7755812" y="3127935"/>
            <a:ext cx="2599713" cy="3240000"/>
            <a:chOff x="6070447" y="2667000"/>
            <a:chExt cx="2599713" cy="2985995"/>
          </a:xfrm>
        </p:grpSpPr>
        <p:pic>
          <p:nvPicPr>
            <p:cNvPr id="10" name="Picture 9" descr="A graph of different colored circles&#10;&#10;Description automatically generated">
              <a:extLst>
                <a:ext uri="{FF2B5EF4-FFF2-40B4-BE49-F238E27FC236}">
                  <a16:creationId xmlns:a16="http://schemas.microsoft.com/office/drawing/2014/main" id="{3E5CC049-3D6F-1FD6-F533-6E17226CA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0447" y="2880995"/>
              <a:ext cx="2599713" cy="2772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D490C7-517C-74BC-4FE5-137D1F681835}"/>
                </a:ext>
              </a:extLst>
            </p:cNvPr>
            <p:cNvSpPr txBox="1"/>
            <p:nvPr/>
          </p:nvSpPr>
          <p:spPr>
            <a:xfrm>
              <a:off x="6476414" y="2667000"/>
              <a:ext cx="2057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/>
                <a:t>Remove points</a:t>
              </a:r>
            </a:p>
          </p:txBody>
        </p:sp>
      </p:grpSp>
      <p:sp>
        <p:nvSpPr>
          <p:cNvPr id="15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342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Outlier detection: </a:t>
            </a:r>
            <a:r>
              <a:rPr lang="en-CA" dirty="0" err="1"/>
              <a:t>Waar</a:t>
            </a:r>
            <a:r>
              <a:rPr lang="en-CA" dirty="0"/>
              <a:t> is Wally?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1600200"/>
          </a:xfrm>
        </p:spPr>
        <p:txBody>
          <a:bodyPr>
            <a:normAutofit/>
          </a:bodyPr>
          <a:lstStyle/>
          <a:p>
            <a:r>
              <a:rPr lang="en-US" dirty="0"/>
              <a:t>Multivariate outliers might be invisible in </a:t>
            </a:r>
            <a:r>
              <a:rPr lang="en-US" dirty="0" err="1"/>
              <a:t>univariate</a:t>
            </a:r>
            <a:r>
              <a:rPr lang="en-US" dirty="0"/>
              <a:t> views, but become readily apparent on the </a:t>
            </a:r>
            <a:r>
              <a:rPr lang="en-US" i="1" dirty="0">
                <a:solidFill>
                  <a:srgbClr val="FF0000"/>
                </a:solidFill>
              </a:rPr>
              <a:t>smallest</a:t>
            </a:r>
            <a:r>
              <a:rPr lang="en-US" dirty="0"/>
              <a:t> principal component</a:t>
            </a:r>
          </a:p>
          <a:p>
            <a:pPr lvl="1"/>
            <a:r>
              <a:rPr lang="en-US" dirty="0"/>
              <a:t>100 observations on two correlated normal variables with two bivariate outliers near (2,2), (-2, -2)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895600"/>
            <a:ext cx="3335714" cy="3228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4737" y="6170024"/>
            <a:ext cx="7933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Animation: </a:t>
            </a:r>
            <a:r>
              <a:rPr lang="en-US" dirty="0">
                <a:hlinkClick r:id="rId4"/>
              </a:rPr>
              <a:t>http://www.datavis.ca/gallery/animation/outlier-demo/</a:t>
            </a:r>
            <a:r>
              <a:rPr lang="en-US" dirty="0"/>
              <a:t>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337D7C-21AE-3280-AE87-D795CAF4F77B}"/>
              </a:ext>
            </a:extLst>
          </p:cNvPr>
          <p:cNvSpPr/>
          <p:nvPr/>
        </p:nvSpPr>
        <p:spPr>
          <a:xfrm>
            <a:off x="3243945" y="3505200"/>
            <a:ext cx="304800" cy="304800"/>
          </a:xfrm>
          <a:prstGeom prst="ellipse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1ABCAC-63E1-2F1E-AD2A-BB18D9F3332D}"/>
              </a:ext>
            </a:extLst>
          </p:cNvPr>
          <p:cNvSpPr/>
          <p:nvPr/>
        </p:nvSpPr>
        <p:spPr>
          <a:xfrm>
            <a:off x="4724400" y="4876800"/>
            <a:ext cx="304800" cy="304800"/>
          </a:xfrm>
          <a:prstGeom prst="ellipse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1" y="2901045"/>
            <a:ext cx="3385715" cy="322142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0671532-BF30-807E-8298-B842C5155737}"/>
              </a:ext>
            </a:extLst>
          </p:cNvPr>
          <p:cNvGrpSpPr/>
          <p:nvPr/>
        </p:nvGrpSpPr>
        <p:grpSpPr>
          <a:xfrm>
            <a:off x="8010926" y="3133998"/>
            <a:ext cx="488934" cy="2581003"/>
            <a:chOff x="6486926" y="3133997"/>
            <a:chExt cx="488934" cy="258100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CB8E533-E97C-C8DF-C06A-008964E0F708}"/>
                </a:ext>
              </a:extLst>
            </p:cNvPr>
            <p:cNvSpPr/>
            <p:nvPr/>
          </p:nvSpPr>
          <p:spPr>
            <a:xfrm>
              <a:off x="6671060" y="5410200"/>
              <a:ext cx="304800" cy="304800"/>
            </a:xfrm>
            <a:prstGeom prst="ellipse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A759897-B997-4E5D-6B0E-E6ACE70AC9B7}"/>
                </a:ext>
              </a:extLst>
            </p:cNvPr>
            <p:cNvSpPr/>
            <p:nvPr/>
          </p:nvSpPr>
          <p:spPr>
            <a:xfrm>
              <a:off x="6486926" y="3133997"/>
              <a:ext cx="304800" cy="304800"/>
            </a:xfrm>
            <a:prstGeom prst="ellipse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AFCCD3D-C3CA-5C4D-647D-D576A42BF5B4}"/>
              </a:ext>
            </a:extLst>
          </p:cNvPr>
          <p:cNvSpPr/>
          <p:nvPr/>
        </p:nvSpPr>
        <p:spPr>
          <a:xfrm>
            <a:off x="5676900" y="2895600"/>
            <a:ext cx="838200" cy="293132"/>
          </a:xfrm>
          <a:prstGeom prst="rightArrow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806E20-2B2C-7093-DC94-1E5418255902}"/>
              </a:ext>
            </a:extLst>
          </p:cNvPr>
          <p:cNvSpPr txBox="1"/>
          <p:nvPr/>
        </p:nvSpPr>
        <p:spPr>
          <a:xfrm>
            <a:off x="7506427" y="2541858"/>
            <a:ext cx="165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Waldo space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B3D34-1EC3-540D-C439-CF4C834763E1}"/>
              </a:ext>
            </a:extLst>
          </p:cNvPr>
          <p:cNvSpPr txBox="1"/>
          <p:nvPr/>
        </p:nvSpPr>
        <p:spPr>
          <a:xfrm>
            <a:off x="2286000" y="2581460"/>
            <a:ext cx="165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Data space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742673-A5D6-1F75-0409-79B0C4FA7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6870" y="2515508"/>
            <a:ext cx="568780" cy="568780"/>
          </a:xfrm>
          <a:prstGeom prst="rect">
            <a:avLst/>
          </a:prstGeom>
        </p:spPr>
      </p:pic>
      <p:sp>
        <p:nvSpPr>
          <p:cNvPr id="18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905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Outlier detection: </a:t>
            </a:r>
            <a:r>
              <a:rPr lang="en-CA" dirty="0" err="1"/>
              <a:t>Waar</a:t>
            </a:r>
            <a:r>
              <a:rPr lang="en-CA" dirty="0"/>
              <a:t> is Wally?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1600200"/>
          </a:xfrm>
        </p:spPr>
        <p:txBody>
          <a:bodyPr>
            <a:normAutofit/>
          </a:bodyPr>
          <a:lstStyle/>
          <a:p>
            <a:r>
              <a:rPr lang="en-US" dirty="0"/>
              <a:t>Multivariate outliers might be invisible in </a:t>
            </a:r>
            <a:r>
              <a:rPr lang="en-US" dirty="0" err="1"/>
              <a:t>univariate</a:t>
            </a:r>
            <a:r>
              <a:rPr lang="en-US" dirty="0"/>
              <a:t> views, but become readily apparent on the </a:t>
            </a:r>
            <a:r>
              <a:rPr lang="en-US" i="1" dirty="0">
                <a:solidFill>
                  <a:srgbClr val="FF0000"/>
                </a:solidFill>
              </a:rPr>
              <a:t>smallest</a:t>
            </a:r>
            <a:r>
              <a:rPr lang="en-US" dirty="0"/>
              <a:t> principal component</a:t>
            </a:r>
          </a:p>
          <a:p>
            <a:pPr lvl="1"/>
            <a:r>
              <a:rPr lang="en-US" dirty="0"/>
              <a:t>100 observations on two correlated normal variables with two bivariate outliers near (2,2), (-2, -2)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895600"/>
            <a:ext cx="3335714" cy="3228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4737" y="6170024"/>
            <a:ext cx="7933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Animation: </a:t>
            </a:r>
            <a:r>
              <a:rPr lang="en-US" dirty="0">
                <a:hlinkClick r:id="rId4"/>
              </a:rPr>
              <a:t>http://www.datavis.ca/gallery/animation/outlier-demo/</a:t>
            </a:r>
            <a:r>
              <a:rPr lang="en-US" dirty="0"/>
              <a:t>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337D7C-21AE-3280-AE87-D795CAF4F77B}"/>
              </a:ext>
            </a:extLst>
          </p:cNvPr>
          <p:cNvSpPr/>
          <p:nvPr/>
        </p:nvSpPr>
        <p:spPr>
          <a:xfrm>
            <a:off x="3243945" y="3505200"/>
            <a:ext cx="304800" cy="304800"/>
          </a:xfrm>
          <a:prstGeom prst="ellipse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1ABCAC-63E1-2F1E-AD2A-BB18D9F3332D}"/>
              </a:ext>
            </a:extLst>
          </p:cNvPr>
          <p:cNvSpPr/>
          <p:nvPr/>
        </p:nvSpPr>
        <p:spPr>
          <a:xfrm>
            <a:off x="4724400" y="4876800"/>
            <a:ext cx="304800" cy="304800"/>
          </a:xfrm>
          <a:prstGeom prst="ellipse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1" y="2901045"/>
            <a:ext cx="3385715" cy="322142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0671532-BF30-807E-8298-B842C5155737}"/>
              </a:ext>
            </a:extLst>
          </p:cNvPr>
          <p:cNvGrpSpPr/>
          <p:nvPr/>
        </p:nvGrpSpPr>
        <p:grpSpPr>
          <a:xfrm>
            <a:off x="8010926" y="3133998"/>
            <a:ext cx="488934" cy="2581003"/>
            <a:chOff x="6486926" y="3133997"/>
            <a:chExt cx="488934" cy="258100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CB8E533-E97C-C8DF-C06A-008964E0F708}"/>
                </a:ext>
              </a:extLst>
            </p:cNvPr>
            <p:cNvSpPr/>
            <p:nvPr/>
          </p:nvSpPr>
          <p:spPr>
            <a:xfrm>
              <a:off x="6671060" y="5410200"/>
              <a:ext cx="304800" cy="304800"/>
            </a:xfrm>
            <a:prstGeom prst="ellipse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A759897-B997-4E5D-6B0E-E6ACE70AC9B7}"/>
                </a:ext>
              </a:extLst>
            </p:cNvPr>
            <p:cNvSpPr/>
            <p:nvPr/>
          </p:nvSpPr>
          <p:spPr>
            <a:xfrm>
              <a:off x="6486926" y="3133997"/>
              <a:ext cx="304800" cy="304800"/>
            </a:xfrm>
            <a:prstGeom prst="ellipse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AFCCD3D-C3CA-5C4D-647D-D576A42BF5B4}"/>
              </a:ext>
            </a:extLst>
          </p:cNvPr>
          <p:cNvSpPr/>
          <p:nvPr/>
        </p:nvSpPr>
        <p:spPr>
          <a:xfrm>
            <a:off x="5676900" y="2895600"/>
            <a:ext cx="838200" cy="293132"/>
          </a:xfrm>
          <a:prstGeom prst="rightArrow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806E20-2B2C-7093-DC94-1E5418255902}"/>
              </a:ext>
            </a:extLst>
          </p:cNvPr>
          <p:cNvSpPr txBox="1"/>
          <p:nvPr/>
        </p:nvSpPr>
        <p:spPr>
          <a:xfrm>
            <a:off x="7506427" y="2541858"/>
            <a:ext cx="165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Waldo space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B3D34-1EC3-540D-C439-CF4C834763E1}"/>
              </a:ext>
            </a:extLst>
          </p:cNvPr>
          <p:cNvSpPr txBox="1"/>
          <p:nvPr/>
        </p:nvSpPr>
        <p:spPr>
          <a:xfrm>
            <a:off x="2286000" y="2581460"/>
            <a:ext cx="165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Data space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742673-A5D6-1F75-0409-79B0C4FA7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6870" y="2515508"/>
            <a:ext cx="568780" cy="568780"/>
          </a:xfrm>
          <a:prstGeom prst="rect">
            <a:avLst/>
          </a:prstGeom>
        </p:spPr>
      </p:pic>
      <p:sp>
        <p:nvSpPr>
          <p:cNvPr id="18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905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Unusual is not the same as influential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600200"/>
            <a:ext cx="3429000" cy="2103120"/>
          </a:xfrm>
        </p:spPr>
        <p:txBody>
          <a:bodyPr/>
          <a:lstStyle/>
          <a:p>
            <a:r>
              <a:rPr sz="1800" dirty="0"/>
              <a:t>School data: 70 schools, 3 outcomes, 5 predictors</a:t>
            </a:r>
          </a:p>
          <a:p>
            <a:r>
              <a:rPr sz="1800" dirty="0"/>
              <a:t>Distance plot: predictor distance (leverage) vs. residual distance (outliers)</a:t>
            </a:r>
          </a:p>
          <a:p>
            <a:r>
              <a:rPr lang="en-CA" sz="1800" dirty="0"/>
              <a:t>Lines: cutoffs for “large”</a:t>
            </a:r>
          </a:p>
        </p:txBody>
      </p:sp>
      <p:pic>
        <p:nvPicPr>
          <p:cNvPr id="4" name="dist-pic" descr="fig-school-distpl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78308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11.18, 11.19</a:t>
            </a:r>
          </a:p>
        </p:txBody>
      </p:sp>
      <p:pic>
        <p:nvPicPr>
          <p:cNvPr id="6" name="infl-pic" descr="school-diag-2-infl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783080"/>
            <a:ext cx="3931920" cy="3931920"/>
          </a:xfrm>
          <a:prstGeom prst="rect">
            <a:avLst/>
          </a:prstGeom>
        </p:spPr>
      </p:pic>
      <p:sp>
        <p:nvSpPr>
          <p:cNvPr id="7" name="dist-cap"/>
          <p:cNvSpPr txBox="1"/>
          <p:nvPr/>
        </p:nvSpPr>
        <p:spPr>
          <a:xfrm>
            <a:off x="402336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Distance plot: where is it unusual?</a:t>
            </a:r>
          </a:p>
        </p:txBody>
      </p:sp>
      <p:sp>
        <p:nvSpPr>
          <p:cNvPr id="8" name="infl-cap"/>
          <p:cNvSpPr txBox="1"/>
          <p:nvPr/>
        </p:nvSpPr>
        <p:spPr>
          <a:xfrm>
            <a:off x="809244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Influence plot: does it matter?</a:t>
            </a:r>
          </a:p>
        </p:txBody>
      </p:sp>
      <p:sp>
        <p:nvSpPr>
          <p:cNvPr id="9" name="infl-text"/>
          <p:cNvSpPr txBox="1"/>
          <p:nvPr/>
        </p:nvSpPr>
        <p:spPr>
          <a:xfrm>
            <a:off x="502920" y="3703320"/>
            <a:ext cx="3429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/>
              <a:t>Influence plot: bubble size ~ multivariate Cook’s D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FF0000"/>
                </a:solidFill>
              </a:rPr>
              <a:t>44, 59</a:t>
            </a:r>
            <a:r>
              <a:rPr sz="1800"/>
              <a:t>: high leverage and influential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0000FF"/>
                </a:solidFill>
              </a:rPr>
              <a:t>35</a:t>
            </a:r>
            <a:r>
              <a:rPr sz="1800"/>
              <a:t>: an outlier, but little influence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006400"/>
                </a:solidFill>
              </a:rPr>
              <a:t>66</a:t>
            </a:r>
            <a:r>
              <a:rPr sz="1800"/>
              <a:t>: high leverage, but harmless</a:t>
            </a:r>
          </a:p>
        </p:txBody>
      </p:sp>
      <p:sp>
        <p:nvSpPr>
          <p:cNvPr id="10" name="sens-text"/>
          <p:cNvSpPr txBox="1"/>
          <p:nvPr/>
        </p:nvSpPr>
        <p:spPr>
          <a:xfrm>
            <a:off x="4023360" y="5760720"/>
            <a:ext cx="8001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/>
              <a:t>Refit without </a:t>
            </a:r>
            <a:r>
              <a:rPr sz="1600" b="1">
                <a:solidFill>
                  <a:srgbClr val="FF0000"/>
                </a:solidFill>
              </a:rPr>
              <a:t>44</a:t>
            </a:r>
            <a:r>
              <a:rPr sz="1600"/>
              <a:t> and </a:t>
            </a:r>
            <a:r>
              <a:rPr sz="1600" b="1">
                <a:solidFill>
                  <a:srgbClr val="FF0000"/>
                </a:solidFill>
              </a:rPr>
              <a:t>59</a:t>
            </a:r>
            <a:r>
              <a:rPr sz="1600"/>
              <a:t>: the same three predictors stay significant, but the reading and mathematics coefficients change by 77–104% for visit and over 300% for counseling.</a:t>
            </a: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58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Unusual is not the same as influential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600200"/>
            <a:ext cx="3429000" cy="2103120"/>
          </a:xfrm>
        </p:spPr>
        <p:txBody>
          <a:bodyPr/>
          <a:lstStyle/>
          <a:p>
            <a:r>
              <a:rPr sz="1800" dirty="0"/>
              <a:t>School data: 70 schools, 3 outcomes, 5 predictors</a:t>
            </a:r>
          </a:p>
          <a:p>
            <a:r>
              <a:rPr sz="1800" dirty="0"/>
              <a:t>Distance plot: predictor distance (leverage) vs. residual distance (outliers)</a:t>
            </a:r>
          </a:p>
          <a:p>
            <a:r>
              <a:rPr lang="en-CA" sz="1800" dirty="0"/>
              <a:t>Lines: cutoffs for “large”</a:t>
            </a:r>
          </a:p>
        </p:txBody>
      </p:sp>
      <p:pic>
        <p:nvPicPr>
          <p:cNvPr id="4" name="dist-pic" descr="fig-school-distpl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78308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11.18, 11.19</a:t>
            </a:r>
          </a:p>
        </p:txBody>
      </p:sp>
      <p:pic>
        <p:nvPicPr>
          <p:cNvPr id="6" name="infl-pic" descr="school-diag-2-infl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783080"/>
            <a:ext cx="3931920" cy="3931920"/>
          </a:xfrm>
          <a:prstGeom prst="rect">
            <a:avLst/>
          </a:prstGeom>
        </p:spPr>
      </p:pic>
      <p:sp>
        <p:nvSpPr>
          <p:cNvPr id="7" name="dist-cap"/>
          <p:cNvSpPr txBox="1"/>
          <p:nvPr/>
        </p:nvSpPr>
        <p:spPr>
          <a:xfrm>
            <a:off x="402336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Distance plot: where is it unusual?</a:t>
            </a:r>
          </a:p>
        </p:txBody>
      </p:sp>
      <p:sp>
        <p:nvSpPr>
          <p:cNvPr id="8" name="infl-cap"/>
          <p:cNvSpPr txBox="1"/>
          <p:nvPr/>
        </p:nvSpPr>
        <p:spPr>
          <a:xfrm>
            <a:off x="8092440" y="13716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Influence plot: does it matter?</a:t>
            </a:r>
          </a:p>
        </p:txBody>
      </p:sp>
      <p:sp>
        <p:nvSpPr>
          <p:cNvPr id="9" name="infl-text"/>
          <p:cNvSpPr txBox="1"/>
          <p:nvPr/>
        </p:nvSpPr>
        <p:spPr>
          <a:xfrm>
            <a:off x="502920" y="3703320"/>
            <a:ext cx="3429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/>
              <a:t>Influence plot: bubble size ~ multivariate Cook’s D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FF0000"/>
                </a:solidFill>
              </a:rPr>
              <a:t>44, 59</a:t>
            </a:r>
            <a:r>
              <a:rPr sz="1800"/>
              <a:t>: high leverage and influential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0000FF"/>
                </a:solidFill>
              </a:rPr>
              <a:t>35</a:t>
            </a:r>
            <a:r>
              <a:rPr sz="1800"/>
              <a:t>: an outlier, but little influence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sz="1800" b="1">
                <a:solidFill>
                  <a:srgbClr val="006400"/>
                </a:solidFill>
              </a:rPr>
              <a:t>66</a:t>
            </a:r>
            <a:r>
              <a:rPr sz="1800"/>
              <a:t>: high leverage, but harmless</a:t>
            </a:r>
          </a:p>
        </p:txBody>
      </p:sp>
      <p:sp>
        <p:nvSpPr>
          <p:cNvPr id="10" name="sens-text"/>
          <p:cNvSpPr txBox="1"/>
          <p:nvPr/>
        </p:nvSpPr>
        <p:spPr>
          <a:xfrm>
            <a:off x="4023360" y="5760720"/>
            <a:ext cx="8001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/>
              <a:t>Refit without </a:t>
            </a:r>
            <a:r>
              <a:rPr sz="1600" b="1">
                <a:solidFill>
                  <a:srgbClr val="FF0000"/>
                </a:solidFill>
              </a:rPr>
              <a:t>44</a:t>
            </a:r>
            <a:r>
              <a:rPr sz="1600"/>
              <a:t> and </a:t>
            </a:r>
            <a:r>
              <a:rPr sz="1600" b="1">
                <a:solidFill>
                  <a:srgbClr val="FF0000"/>
                </a:solidFill>
              </a:rPr>
              <a:t>59</a:t>
            </a:r>
            <a:r>
              <a:rPr sz="1600"/>
              <a:t>: the same three predictors stay significant, but the reading and mathematics coefficients change by 77–104% for visit and over 300% for counseling.</a:t>
            </a: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58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6216</TotalTime>
  <Words>6559</Words>
  <Application>Microsoft Office PowerPoint</Application>
  <PresentationFormat>Widescreen</PresentationFormat>
  <Paragraphs>692</Paragraphs>
  <Slides>84</Slides>
  <Notes>78</Notes>
  <HiddenSlides>21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5" baseType="lpstr">
      <vt:lpstr>Aptos</vt:lpstr>
      <vt:lpstr>Aptos Display</vt:lpstr>
      <vt:lpstr>Arial</vt:lpstr>
      <vt:lpstr>Cambria Math</vt:lpstr>
      <vt:lpstr>Consolas</vt:lpstr>
      <vt:lpstr>Courier New</vt:lpstr>
      <vt:lpstr>Lucida Console</vt:lpstr>
      <vt:lpstr>Symbol</vt:lpstr>
      <vt:lpstr>Wingdings</vt:lpstr>
      <vt:lpstr>Office Theme</vt:lpstr>
      <vt:lpstr>Equation</vt:lpstr>
      <vt:lpstr>Visualizing Multivariate Data and Models in R</vt:lpstr>
      <vt:lpstr>The book</vt:lpstr>
      <vt:lpstr>R packages</vt:lpstr>
      <vt:lpstr>Ideas I’ll talk about today (thematic)</vt:lpstr>
      <vt:lpstr>Why a romance in many dimensions?</vt:lpstr>
      <vt:lpstr>Planeland: we only ever see 2D projections</vt:lpstr>
      <vt:lpstr>EUREKA! Structure can hide in many dimensions</vt:lpstr>
      <vt:lpstr>Multivariate discovery: kinds of diabetes</vt:lpstr>
      <vt:lpstr>MLM problem: easy to fit, hard to see</vt:lpstr>
      <vt:lpstr>Seeing multivariate data</vt:lpstr>
      <vt:lpstr>Galton’s visual discovery:  Bivariate normal correlation surface (1886)</vt:lpstr>
      <vt:lpstr>Visual smoothing  Insight</vt:lpstr>
      <vt:lpstr>Visual insight  Theory (the OMG! moment)</vt:lpstr>
      <vt:lpstr>The data ellipse summarizes means, spread &amp; correlation – a sufficient visual summary for N(µ, Σ)</vt:lpstr>
      <vt:lpstr>Meet the penguins</vt:lpstr>
      <vt:lpstr>Data ellipses: Sufficient visual summary</vt:lpstr>
      <vt:lpstr>What if I'm not Normal?</vt:lpstr>
      <vt:lpstr>Simpson's paradox: marginal &amp; conditional relations</vt:lpstr>
      <vt:lpstr>How to visualize p &gt; 2 variables in Planeland? Scatterplot matrices: all pairs at once</vt:lpstr>
      <vt:lpstr>Visual thinning: show less to see more Effect order: order variables to see what you want to show </vt:lpstr>
      <vt:lpstr>Parallel coordinates: one line per penguin</vt:lpstr>
      <vt:lpstr>Animated tours: flying through projections (tourr pkg)</vt:lpstr>
      <vt:lpstr>Flatland and Spaceland: dimension reduction</vt:lpstr>
      <vt:lpstr>PowerPoint Presentation</vt:lpstr>
      <vt:lpstr>PCA: rotate to the views that show the most variance</vt:lpstr>
      <vt:lpstr>PCA fitted by springs: Physical analog</vt:lpstr>
      <vt:lpstr>Biplots: observations and variables in one view</vt:lpstr>
      <vt:lpstr>Biplot: The data juicer</vt:lpstr>
      <vt:lpstr>When a linear view is not enough: PCA vs t-SNE</vt:lpstr>
      <vt:lpstr>From PCA to t-SNE, animated</vt:lpstr>
      <vt:lpstr>Elliptical Insights</vt:lpstr>
      <vt:lpstr>Outlier detection: Waar is Wally?</vt:lpstr>
      <vt:lpstr>Multivariate outliers: which penguins are unusual?</vt:lpstr>
      <vt:lpstr>Outliers hide in the smallest dimensions</vt:lpstr>
      <vt:lpstr>Elliptical insights: Measurement error</vt:lpstr>
      <vt:lpstr>Coffee, stress and heart disease</vt:lpstr>
      <vt:lpstr>Data space and beta space are dual</vt:lpstr>
      <vt:lpstr>Adding measurement error</vt:lpstr>
      <vt:lpstr>Understanding collinearity</vt:lpstr>
      <vt:lpstr>Ridge regression: shrink to gain precision</vt:lpstr>
      <vt:lpstr>The usual ridge trace shows only the estimates</vt:lpstr>
      <vt:lpstr>Generalized ridge trace plots</vt:lpstr>
      <vt:lpstr>A low-rank view of ridge regression</vt:lpstr>
      <vt:lpstr>The HE plot framework</vt:lpstr>
      <vt:lpstr>HE plots: Visual overview</vt:lpstr>
      <vt:lpstr>Data  Data ellipses  HE plot</vt:lpstr>
      <vt:lpstr>The H ellipse</vt:lpstr>
      <vt:lpstr>The E ellipse</vt:lpstr>
      <vt:lpstr>HE plots: Effect scaling vs. Significance scaling</vt:lpstr>
      <vt:lpstr>Contrasts &amp; linear hypotheses: What diffces make H big?</vt:lpstr>
      <vt:lpstr>HE pairs() plots</vt:lpstr>
      <vt:lpstr>Quantitative predictors: each effect is a line</vt:lpstr>
      <vt:lpstr>Canonical discriminant plots: The MANOVA juicer</vt:lpstr>
      <vt:lpstr>Linear discriminant analysis: main ideas</vt:lpstr>
      <vt:lpstr>Prediction regions in data space</vt:lpstr>
      <vt:lpstr>Prediction regions in discriminant space</vt:lpstr>
      <vt:lpstr>Checking multivariate models</vt:lpstr>
      <vt:lpstr>Unusual is not the same as influential</vt:lpstr>
      <vt:lpstr>Who are the influential penguins?</vt:lpstr>
      <vt:lpstr>Robust MLMs: down-weight what does not fit</vt:lpstr>
      <vt:lpstr>Summary: A few ideas go a long way</vt:lpstr>
      <vt:lpstr>Book, code and packages</vt:lpstr>
      <vt:lpstr>Questions? Discussion?</vt:lpstr>
      <vt:lpstr>The regression quartet</vt:lpstr>
      <vt:lpstr>Coefficient plots: show the estimates, not a table</vt:lpstr>
      <vt:lpstr>Effect displays: what the model predicts</vt:lpstr>
      <vt:lpstr>Collinearity and ridge regression</vt:lpstr>
      <vt:lpstr>Collinearity: narrow data  increased uncertainty</vt:lpstr>
      <vt:lpstr>Application: effect ordering variables in displays</vt:lpstr>
      <vt:lpstr>Measurement error for β1 also biases β2</vt:lpstr>
      <vt:lpstr>Added-variable plots show partial relationships</vt:lpstr>
      <vt:lpstr>Leverage and influence: car::influencePlot(model)</vt:lpstr>
      <vt:lpstr>Which observations drive the fit?</vt:lpstr>
      <vt:lpstr>Bias vs. Precision tradeoff</vt:lpstr>
      <vt:lpstr>From the t-test to Hotelling's T²</vt:lpstr>
      <vt:lpstr>The Hypothesis-Error plot framework</vt:lpstr>
      <vt:lpstr>MANOVA: the same sums of squares, now as matrices</vt:lpstr>
      <vt:lpstr>Canonical correlation in an HE plot</vt:lpstr>
      <vt:lpstr>Factorial designs: main effects and interactions</vt:lpstr>
      <vt:lpstr>MANCOVA: are the regressions the same across groups?</vt:lpstr>
      <vt:lpstr>Are the covariance matrices equal?</vt:lpstr>
      <vt:lpstr>Visualizing Box's M test</vt:lpstr>
      <vt:lpstr>Discriminant analysis</vt:lpstr>
      <vt:lpstr>Quadratic discriminant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 Friendly</dc:creator>
  <cp:lastModifiedBy>Michael L Friendly</cp:lastModifiedBy>
  <cp:revision>52</cp:revision>
  <dcterms:created xsi:type="dcterms:W3CDTF">2026-10-06T18:00:03Z</dcterms:created>
  <dcterms:modified xsi:type="dcterms:W3CDTF">2026-10-18T17:46:36Z</dcterms:modified>
</cp:coreProperties>
</file>