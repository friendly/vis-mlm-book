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462" r:id="rId40"/>
    <p:sldId id="285" r:id="rId41"/>
    <p:sldId id="287" r:id="rId42"/>
    <p:sldId id="288" r:id="rId43"/>
    <p:sldId id="293" r:id="rId44"/>
    <p:sldId id="294" r:id="rId45"/>
    <p:sldId id="295" r:id="rId46"/>
    <p:sldId id="465" r:id="rId47"/>
    <p:sldId id="297" r:id="rId48"/>
    <p:sldId id="298" r:id="rId49"/>
    <p:sldId id="299" r:id="rId50"/>
    <p:sldId id="466" r:id="rId51"/>
    <p:sldId id="327" r:id="rId52"/>
    <p:sldId id="328" r:id="rId53"/>
    <p:sldId id="329" r:id="rId54"/>
    <p:sldId id="300" r:id="rId55"/>
    <p:sldId id="301" r:id="rId56"/>
    <p:sldId id="302" r:id="rId57"/>
    <p:sldId id="303" r:id="rId58"/>
    <p:sldId id="449" r:id="rId59"/>
    <p:sldId id="306" r:id="rId60"/>
    <p:sldId id="469" r:id="rId61"/>
    <p:sldId id="318" r:id="rId62"/>
    <p:sldId id="319" r:id="rId63"/>
    <p:sldId id="320" r:id="rId64"/>
    <p:sldId id="310" r:id="rId65"/>
    <p:sldId id="311" r:id="rId66"/>
    <p:sldId id="313" r:id="rId67"/>
    <p:sldId id="314" r:id="rId68"/>
    <p:sldId id="322" r:id="rId69"/>
    <p:sldId id="323" r:id="rId70"/>
    <p:sldId id="324" r:id="rId71"/>
    <p:sldId id="283" r:id="rId72"/>
    <p:sldId id="284" r:id="rId73"/>
    <p:sldId id="286" r:id="rId74"/>
    <p:sldId id="291" r:id="rId75"/>
    <p:sldId id="292" r:id="rId76"/>
    <p:sldId id="279" r:id="rId77"/>
    <p:sldId id="463" r:id="rId78"/>
    <p:sldId id="307" r:id="rId79"/>
    <p:sldId id="308" r:id="rId80"/>
    <p:sldId id="309" r:id="rId81"/>
    <p:sldId id="315" r:id="rId82"/>
    <p:sldId id="316" r:id="rId83"/>
    <p:sldId id="317" r:id="rId84"/>
    <p:sldId id="321" r:id="rId85"/>
    <p:sldId id="312"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462"/>
            <p14:sldId id="285"/>
            <p14:sldId id="287"/>
            <p14:sldId id="288"/>
            <p14:sldId id="293"/>
            <p14:sldId id="294"/>
            <p14:sldId id="295"/>
            <p14:sldId id="465"/>
            <p14:sldId id="297"/>
          </p14:sldIdLst>
        </p14:section>
        <p14:section name="4. The HE plot framework" id="{19AF699C-459B-4008-BE93-C8454174BFDD}">
          <p14:sldIdLst>
            <p14:sldId id="298"/>
            <p14:sldId id="299"/>
            <p14:sldId id="466"/>
            <p14:sldId id="327"/>
            <p14:sldId id="328"/>
            <p14:sldId id="329"/>
            <p14:sldId id="300"/>
            <p14:sldId id="301"/>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3"/>
            <p14:sldId id="307"/>
            <p14:sldId id="308"/>
            <p14:sldId id="309"/>
            <p14:sldId id="315"/>
            <p14:sldId id="316"/>
            <p14:sldId id="317"/>
            <p14:sldId id="32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5" d="100"/>
          <a:sy n="75" d="100"/>
        </p:scale>
        <p:origin x="1602" y="78"/>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The talk is framed around the book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 the first time I’ve spoken publicly about the book</a:t>
            </a:r>
          </a:p>
          <a:p>
            <a:endParaRPr lang="en-CA" dirty="0"/>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a:t>
            </a:r>
            <a:r>
              <a:rPr lang="en-CA" dirty="0" err="1"/>
              <a:t>Surgens</a:t>
            </a:r>
            <a:r>
              <a:rPr lang="en-CA" dirty="0"/>
              <a:t>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are the running example.</a:t>
            </a:r>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endParaRPr lang="en-CA" dirty="0"/>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50</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58</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60</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distance plot is one of the figures the organizer singled out. School data model: reading, mathematics and self-esteem on five predictors, 70 schools. Distance plot (heplots::distancePlot) and influence plot (mvinfluence::influencePlot), re-drawn as a matched pair with the same cases in the same colors (talks/R/school-diagnostics.R). 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77</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toy example from Barrett (2003): one predictor, two nearly perfectly correlated responses, nine cases. The univariate Cook's D values for case 9 are very small, but the multivariate Cook's D is 3.22, over 10 times the next largest. Multivariate influence is not the sum of univariate influences.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jp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42.png"/><Relationship Id="rId5" Type="http://schemas.microsoft.com/office/2007/relationships/hdphoto" Target="../media/hdphoto1.wdp"/><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gi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5.xml"/><Relationship Id="rId1" Type="http://schemas.openxmlformats.org/officeDocument/2006/relationships/slideLayout" Target="../slideLayouts/slideLayout4.xml"/><Relationship Id="rId4" Type="http://schemas.openxmlformats.org/officeDocument/2006/relationships/image" Target="../media/image47.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54.emf"/><Relationship Id="rId5" Type="http://schemas.openxmlformats.org/officeDocument/2006/relationships/image" Target="../media/image53.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0.xml"/><Relationship Id="rId1" Type="http://schemas.openxmlformats.org/officeDocument/2006/relationships/slideLayout" Target="../slideLayouts/slideLayout6.xml"/><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1.xml"/><Relationship Id="rId1" Type="http://schemas.openxmlformats.org/officeDocument/2006/relationships/slideLayout" Target="../slideLayouts/slideLayout4.xml"/><Relationship Id="rId4" Type="http://schemas.openxmlformats.org/officeDocument/2006/relationships/image" Target="../media/image54.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61.gif"/><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62.gif"/></Relationships>
</file>

<file path=ppt/slides/_rels/slide39.xml.rels><?xml version="1.0" encoding="UTF-8" standalone="yes"?>
<Relationships xmlns="http://schemas.openxmlformats.org/package/2006/relationships"><Relationship Id="rId3" Type="http://schemas.openxmlformats.org/officeDocument/2006/relationships/image" Target="../media/image63.gif"/><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6.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4.emf"/></Relationships>
</file>

<file path=ppt/slides/_rels/slide4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1.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3.xml"/><Relationship Id="rId1" Type="http://schemas.openxmlformats.org/officeDocument/2006/relationships/slideLayout" Target="../slideLayouts/slideLayout6.xml"/><Relationship Id="rId5" Type="http://schemas.openxmlformats.org/officeDocument/2006/relationships/image" Target="../media/image72.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4.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6.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51.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5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85.wmf"/><Relationship Id="rId5" Type="http://schemas.openxmlformats.org/officeDocument/2006/relationships/oleObject" Target="../embeddings/oleObject1.bin"/><Relationship Id="rId4" Type="http://schemas.openxmlformats.org/officeDocument/2006/relationships/image" Target="../media/image84.png"/></Relationships>
</file>

<file path=ppt/slides/_rels/slide53.xml.rels><?xml version="1.0" encoding="UTF-8" standalone="yes"?>
<Relationships xmlns="http://schemas.openxmlformats.org/package/2006/relationships"><Relationship Id="rId3" Type="http://schemas.openxmlformats.org/officeDocument/2006/relationships/image" Target="../media/image82.png"/><Relationship Id="rId7" Type="http://schemas.openxmlformats.org/officeDocument/2006/relationships/image" Target="../media/image88.wmf"/><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87.png"/><Relationship Id="rId4" Type="http://schemas.openxmlformats.org/officeDocument/2006/relationships/image" Target="../media/image86.png"/></Relationships>
</file>

<file path=ppt/slides/_rels/slide5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61.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0.xml"/><Relationship Id="rId1" Type="http://schemas.openxmlformats.org/officeDocument/2006/relationships/slideLayout" Target="../slideLayouts/slideLayout4.xml"/><Relationship Id="rId4" Type="http://schemas.openxmlformats.org/officeDocument/2006/relationships/image" Target="../media/image100.png"/></Relationships>
</file>

<file path=ppt/slides/_rels/slide6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4.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70.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0.xml"/><Relationship Id="rId1" Type="http://schemas.openxmlformats.org/officeDocument/2006/relationships/slideLayout" Target="../slideLayouts/slideLayout6.xml"/><Relationship Id="rId4" Type="http://schemas.openxmlformats.org/officeDocument/2006/relationships/image" Target="../media/image37.png"/></Relationships>
</file>

<file path=ppt/slides/_rels/slide7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8.xml"/><Relationship Id="rId1" Type="http://schemas.openxmlformats.org/officeDocument/2006/relationships/slideLayout" Target="../slideLayouts/slideLayout6.xml"/><Relationship Id="rId4" Type="http://schemas.openxmlformats.org/officeDocument/2006/relationships/image" Target="../media/image1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a:t>
            </a:r>
            <a:endParaRPr dirty="0"/>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t>#dataviz is the art of making plots informative (&amp; pretty!)</a:t>
            </a:r>
          </a:p>
          <a:p>
            <a:r>
              <a:rPr lang="en-CA" dirty="0"/>
              <a:t>Truth &amp; Beauty: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1085220"/>
            <a:ext cx="1724660" cy="123190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2"/>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3"/>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28</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Added-variable plots</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32</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35</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36</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14300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p:txBody>
      </p:sp>
      <p:sp>
        <p:nvSpPr>
          <p:cNvPr id="3" name="Slide Number Placeholder 2"/>
          <p:cNvSpPr>
            <a:spLocks noGrp="1"/>
          </p:cNvSpPr>
          <p:nvPr>
            <p:ph type="sldNum" sz="quarter" idx="12"/>
          </p:nvPr>
        </p:nvSpPr>
        <p:spPr/>
        <p:txBody>
          <a:bodyPr/>
          <a:lstStyle/>
          <a:p>
            <a:fld id="{621225AB-15B9-4C79-A121-04D1DC7E2307}" type="slidenum">
              <a:rPr lang="en-US" smtClean="0"/>
              <a:t>38</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7813" y="2704147"/>
            <a:ext cx="3834765" cy="3834765"/>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99730" y="2657476"/>
            <a:ext cx="3834765" cy="382905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39</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348627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46</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50</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3" name="Slide Number Placeholder 2"/>
          <p:cNvSpPr>
            <a:spLocks noGrp="1"/>
          </p:cNvSpPr>
          <p:nvPr>
            <p:ph type="sldNum" sz="quarter" idx="12"/>
          </p:nvPr>
        </p:nvSpPr>
        <p:spPr/>
        <p:txBody>
          <a:bodyPr/>
          <a:lstStyle/>
          <a:p>
            <a:fld id="{810B7604-93B8-4136-B9BD-D1CE89EE20B0}" type="slidenum">
              <a:rPr lang="en-US" smtClean="0"/>
              <a:t>58</a:t>
            </a:fld>
            <a:endParaRPr lang="en-US"/>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60</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extLst>
      <p:ext uri="{BB962C8B-B14F-4D97-AF65-F5344CB8AC3E}">
        <p14:creationId xmlns:p14="http://schemas.microsoft.com/office/powerpoint/2010/main" val="25517956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77</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50268914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Mysterious Case 9</a:t>
            </a:r>
          </a:p>
        </p:txBody>
      </p:sp>
      <p:pic>
        <p:nvPicPr>
          <p:cNvPr id="3" name="Picture 2" descr="fig-toy-inflplots-1.png"/>
          <p:cNvPicPr>
            <a:picLocks noChangeAspect="1"/>
          </p:cNvPicPr>
          <p:nvPr/>
        </p:nvPicPr>
        <p:blipFill>
          <a:blip r:embed="rId3"/>
          <a:stretch>
            <a:fillRect/>
          </a:stretch>
        </p:blipFill>
        <p:spPr>
          <a:xfrm>
            <a:off x="841248" y="2377440"/>
            <a:ext cx="5120640" cy="2560320"/>
          </a:xfrm>
          <a:prstGeom prst="rect">
            <a:avLst/>
          </a:prstGeom>
        </p:spPr>
      </p:pic>
      <p:pic>
        <p:nvPicPr>
          <p:cNvPr id="4" name="Picture 3" descr="fig-toy-inflplot-mlm-stres-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Harmless in each univariate model (left), yet wildly influential in the multivariate model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14.2, 14.3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5662</TotalTime>
  <Words>6190</Words>
  <Application>Microsoft Office PowerPoint</Application>
  <PresentationFormat>Widescreen</PresentationFormat>
  <Paragraphs>605</Paragraphs>
  <Slides>85</Slides>
  <Notes>78</Notes>
  <HiddenSlides>17</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85</vt:i4>
      </vt:variant>
    </vt:vector>
  </HeadingPairs>
  <TitlesOfParts>
    <vt:vector size="96"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Measurement error for β1 also biases β2</vt:lpstr>
      <vt:lpstr>Added-variable plots show partial relationships</vt:lpstr>
      <vt:lpstr>Leverage and influence: car::influencePlot(model)</vt:lpstr>
      <vt:lpstr>Which observations drive the fit?</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Bias vs. Precision tradeoff</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lpstr>The Mysterious Case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40</cp:revision>
  <dcterms:created xsi:type="dcterms:W3CDTF">2026-10-06T18:00:03Z</dcterms:created>
  <dcterms:modified xsi:type="dcterms:W3CDTF">2026-10-16T16:23:53Z</dcterms:modified>
</cp:coreProperties>
</file>