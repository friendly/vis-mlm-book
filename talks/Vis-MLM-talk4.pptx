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6"/>
  </p:notesMasterIdLst>
  <p:sldIdLst>
    <p:sldId id="256" r:id="rId2"/>
    <p:sldId id="257" r:id="rId3"/>
    <p:sldId id="325" r:id="rId4"/>
    <p:sldId id="258" r:id="rId5"/>
    <p:sldId id="259" r:id="rId6"/>
    <p:sldId id="260" r:id="rId7"/>
    <p:sldId id="261" r:id="rId8"/>
    <p:sldId id="262" r:id="rId9"/>
    <p:sldId id="263" r:id="rId10"/>
    <p:sldId id="264" r:id="rId11"/>
    <p:sldId id="456" r:id="rId12"/>
    <p:sldId id="457" r:id="rId13"/>
    <p:sldId id="458" r:id="rId14"/>
    <p:sldId id="326" r:id="rId15"/>
    <p:sldId id="266" r:id="rId16"/>
    <p:sldId id="470" r:id="rId17"/>
    <p:sldId id="473" r:id="rId18"/>
    <p:sldId id="267" r:id="rId19"/>
    <p:sldId id="268" r:id="rId20"/>
    <p:sldId id="269" r:id="rId21"/>
    <p:sldId id="270" r:id="rId22"/>
    <p:sldId id="271" r:id="rId23"/>
    <p:sldId id="273" r:id="rId24"/>
    <p:sldId id="467" r:id="rId25"/>
    <p:sldId id="274" r:id="rId26"/>
    <p:sldId id="275" r:id="rId27"/>
    <p:sldId id="276" r:id="rId28"/>
    <p:sldId id="468" r:id="rId29"/>
    <p:sldId id="277" r:id="rId30"/>
    <p:sldId id="278" r:id="rId31"/>
    <p:sldId id="282" r:id="rId32"/>
    <p:sldId id="471" r:id="rId33"/>
    <p:sldId id="272" r:id="rId34"/>
    <p:sldId id="281" r:id="rId35"/>
    <p:sldId id="472" r:id="rId36"/>
    <p:sldId id="460" r:id="rId37"/>
    <p:sldId id="289" r:id="rId38"/>
    <p:sldId id="461" r:id="rId39"/>
    <p:sldId id="293" r:id="rId40"/>
    <p:sldId id="294" r:id="rId41"/>
    <p:sldId id="295" r:id="rId42"/>
    <p:sldId id="465" r:id="rId43"/>
    <p:sldId id="297" r:id="rId44"/>
    <p:sldId id="298" r:id="rId45"/>
    <p:sldId id="466" r:id="rId46"/>
    <p:sldId id="327" r:id="rId47"/>
    <p:sldId id="328" r:id="rId48"/>
    <p:sldId id="329" r:id="rId49"/>
    <p:sldId id="302" r:id="rId50"/>
    <p:sldId id="303" r:id="rId51"/>
    <p:sldId id="449" r:id="rId52"/>
    <p:sldId id="306" r:id="rId53"/>
    <p:sldId id="469" r:id="rId54"/>
    <p:sldId id="318" r:id="rId55"/>
    <p:sldId id="319" r:id="rId56"/>
    <p:sldId id="320" r:id="rId57"/>
    <p:sldId id="310" r:id="rId58"/>
    <p:sldId id="311" r:id="rId59"/>
    <p:sldId id="313" r:id="rId60"/>
    <p:sldId id="314" r:id="rId61"/>
    <p:sldId id="322" r:id="rId62"/>
    <p:sldId id="323" r:id="rId63"/>
    <p:sldId id="324" r:id="rId64"/>
    <p:sldId id="283" r:id="rId65"/>
    <p:sldId id="284" r:id="rId66"/>
    <p:sldId id="286" r:id="rId67"/>
    <p:sldId id="291" r:id="rId68"/>
    <p:sldId id="292" r:id="rId69"/>
    <p:sldId id="279" r:id="rId70"/>
    <p:sldId id="462" r:id="rId71"/>
    <p:sldId id="285" r:id="rId72"/>
    <p:sldId id="287" r:id="rId73"/>
    <p:sldId id="288" r:id="rId74"/>
    <p:sldId id="463" r:id="rId75"/>
    <p:sldId id="299" r:id="rId76"/>
    <p:sldId id="300" r:id="rId77"/>
    <p:sldId id="301" r:id="rId78"/>
    <p:sldId id="307" r:id="rId79"/>
    <p:sldId id="308" r:id="rId80"/>
    <p:sldId id="309" r:id="rId81"/>
    <p:sldId id="315" r:id="rId82"/>
    <p:sldId id="316" r:id="rId83"/>
    <p:sldId id="317" r:id="rId84"/>
    <p:sldId id="321" r:id="rId8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Why a romance in many dimensions?"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473"/>
            <p14:sldId id="267"/>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2"/>
            <p14:sldId id="285"/>
            <p14:sldId id="287"/>
            <p14:sldId id="288"/>
            <p14:sldId id="463"/>
            <p14:sldId id="299"/>
            <p14:sldId id="300"/>
            <p14:sldId id="301"/>
            <p14:sldId id="307"/>
            <p14:sldId id="308"/>
            <p14:sldId id="309"/>
            <p14:sldId id="315"/>
            <p14:sldId id="316"/>
            <p14:sldId id="317"/>
            <p14:sldId id="32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267" autoAdjust="0"/>
  </p:normalViewPr>
  <p:slideViewPr>
    <p:cSldViewPr snapToGrid="0">
      <p:cViewPr varScale="1">
        <p:scale>
          <a:sx n="77" d="100"/>
          <a:sy n="77" d="100"/>
        </p:scale>
        <p:origin x="1074" y="90"/>
      </p:cViewPr>
      <p:guideLst/>
    </p:cSldViewPr>
  </p:slideViewPr>
  <p:notesTextViewPr>
    <p:cViewPr>
      <p:scale>
        <a:sx n="1" d="1"/>
        <a:sy n="1" d="1"/>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r>
              <a:rPr dirty="0"/>
              <a:t>The ellipse is the recurring </a:t>
            </a:r>
            <a:r>
              <a:rPr lang="en-CA" dirty="0"/>
              <a:t>visual </a:t>
            </a:r>
            <a:r>
              <a:rPr dirty="0"/>
              <a:t>device.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pollen data look like a featureless cloud until 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are the running example.</a:t>
            </a:r>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As an example, consider the now popular data on body measurements of Antarctic penguins classified by species.</a:t>
            </a:r>
          </a:p>
          <a:p>
            <a:r>
              <a:rPr lang="en-CA" dirty="0"/>
              <a:t>(The classic iris data seems to have been eclipsed b/c of Fisher’s association with the eugenics movement.)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24</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28</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32</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35</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38</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42</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45</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51</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distance plot is one of the figures the organizer singled out. 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70</a:t>
            </a:fld>
            <a:endParaRPr lang="en-US"/>
          </a:p>
        </p:txBody>
      </p:sp>
    </p:spTree>
    <p:extLst>
      <p:ext uri="{BB962C8B-B14F-4D97-AF65-F5344CB8AC3E}">
        <p14:creationId xmlns:p14="http://schemas.microsoft.com/office/powerpoint/2010/main" val="385902772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8792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66928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51810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74</a:t>
            </a:fld>
            <a:endParaRPr lang="en-US"/>
          </a:p>
        </p:txBody>
      </p:sp>
    </p:spTree>
    <p:extLst>
      <p:ext uri="{BB962C8B-B14F-4D97-AF65-F5344CB8AC3E}">
        <p14:creationId xmlns:p14="http://schemas.microsoft.com/office/powerpoint/2010/main" val="293356941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Hotelling's T-squared as a generalized t-test.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4433200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Above: data ellipses summarized in an HE plot showing the pooled within-group error ellipse (E) and the H 'ellipse' for the group means. Below: observations projected on the line joining the means.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528608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36767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2026-10-17</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6.xml"/><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6.xml"/><Relationship Id="rId5" Type="http://schemas.openxmlformats.org/officeDocument/2006/relationships/image" Target="../media/image34.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0.xml"/><Relationship Id="rId1" Type="http://schemas.openxmlformats.org/officeDocument/2006/relationships/slideLayout" Target="../slideLayouts/slideLayout4.xml"/><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39.gif"/><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43.jp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42.png"/><Relationship Id="rId5" Type="http://schemas.microsoft.com/office/2007/relationships/hdphoto" Target="../media/hdphoto1.wdp"/><Relationship Id="rId4" Type="http://schemas.openxmlformats.org/officeDocument/2006/relationships/image" Target="../media/image41.png"/></Relationships>
</file>

<file path=ppt/slides/_rels/slide25.xml.rels><?xml version="1.0" encoding="UTF-8" standalone="yes"?>
<Relationships xmlns="http://schemas.openxmlformats.org/package/2006/relationships"><Relationship Id="rId3" Type="http://schemas.openxmlformats.org/officeDocument/2006/relationships/image" Target="../media/image44.gif"/><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45.gif"/><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6.xml"/><Relationship Id="rId1" Type="http://schemas.openxmlformats.org/officeDocument/2006/relationships/slideLayout" Target="../slideLayouts/slideLayout4.xml"/><Relationship Id="rId4" Type="http://schemas.openxmlformats.org/officeDocument/2006/relationships/image" Target="../media/image47.png"/></Relationships>
</file>

<file path=ppt/slides/_rels/slide28.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7.xml"/><Relationship Id="rId1" Type="http://schemas.openxmlformats.org/officeDocument/2006/relationships/slideLayout" Target="../slideLayouts/slideLayout6.xml"/><Relationship Id="rId5" Type="http://schemas.openxmlformats.org/officeDocument/2006/relationships/image" Target="../media/image49.png"/><Relationship Id="rId4" Type="http://schemas.openxmlformats.org/officeDocument/2006/relationships/image" Target="../media/image48.png"/></Relationships>
</file>

<file path=ppt/slides/_rels/slide2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51.gif"/><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54.emf"/><Relationship Id="rId5" Type="http://schemas.openxmlformats.org/officeDocument/2006/relationships/image" Target="../media/image53.png"/><Relationship Id="rId4" Type="http://schemas.openxmlformats.org/officeDocument/2006/relationships/hyperlink" Target="http://www.datavis.ca/gallery/animation/outlier-demo/"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1.xml"/><Relationship Id="rId1" Type="http://schemas.openxmlformats.org/officeDocument/2006/relationships/slideLayout" Target="../slideLayouts/slideLayout6.xml"/><Relationship Id="rId4" Type="http://schemas.openxmlformats.org/officeDocument/2006/relationships/image" Target="../media/image56.png"/></Relationships>
</file>

<file path=ppt/slides/_rels/slide3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2.xml"/><Relationship Id="rId1" Type="http://schemas.openxmlformats.org/officeDocument/2006/relationships/slideLayout" Target="../slideLayouts/slideLayout4.xml"/><Relationship Id="rId4" Type="http://schemas.openxmlformats.org/officeDocument/2006/relationships/image" Target="../media/image54.emf"/></Relationships>
</file>

<file path=ppt/slides/_rels/slide35.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4.xml"/><Relationship Id="rId1" Type="http://schemas.openxmlformats.org/officeDocument/2006/relationships/slideLayout" Target="../slideLayouts/slideLayout6.xml"/><Relationship Id="rId4" Type="http://schemas.openxmlformats.org/officeDocument/2006/relationships/image" Target="../media/image59.png"/></Relationships>
</file>

<file path=ppt/slides/_rels/slide3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61.gif"/><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63.gif"/><Relationship Id="rId4" Type="http://schemas.openxmlformats.org/officeDocument/2006/relationships/image" Target="../media/image62.gif"/></Relationships>
</file>

<file path=ppt/slides/_rels/slide3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7.xml"/><Relationship Id="rId1" Type="http://schemas.openxmlformats.org/officeDocument/2006/relationships/slideLayout" Target="../slideLayouts/slideLayout6.xml"/><Relationship Id="rId6" Type="http://schemas.openxmlformats.org/officeDocument/2006/relationships/image" Target="../media/image65.png"/><Relationship Id="rId5" Type="http://schemas.openxmlformats.org/officeDocument/2006/relationships/image" Target="../media/image10.png"/><Relationship Id="rId4" Type="http://schemas.openxmlformats.org/officeDocument/2006/relationships/image" Target="../media/image54.emf"/></Relationships>
</file>

<file path=ppt/slides/_rels/slide4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41.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0.xml"/><Relationship Id="rId1" Type="http://schemas.openxmlformats.org/officeDocument/2006/relationships/slideLayout" Target="../slideLayouts/slideLayout6.xml"/><Relationship Id="rId5" Type="http://schemas.openxmlformats.org/officeDocument/2006/relationships/image" Target="../media/image69.png"/><Relationship Id="rId4" Type="http://schemas.openxmlformats.org/officeDocument/2006/relationships/image" Target="../media/image10.png"/></Relationships>
</file>

<file path=ppt/slides/_rels/slide4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1.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8" Type="http://schemas.openxmlformats.org/officeDocument/2006/relationships/image" Target="../media/image76.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notesSlide" Target="../notesSlides/notesSlide42.xml"/><Relationship Id="rId1" Type="http://schemas.openxmlformats.org/officeDocument/2006/relationships/slideLayout" Target="../slideLayouts/slideLayout6.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png"/></Relationships>
</file>

<file path=ppt/slides/_rels/slide46.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79.png"/><Relationship Id="rId4" Type="http://schemas.openxmlformats.org/officeDocument/2006/relationships/image" Target="../media/image78.png"/></Relationships>
</file>

<file path=ppt/slides/_rels/slide47.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81.wmf"/><Relationship Id="rId5" Type="http://schemas.openxmlformats.org/officeDocument/2006/relationships/oleObject" Target="../embeddings/oleObject1.bin"/><Relationship Id="rId4" Type="http://schemas.openxmlformats.org/officeDocument/2006/relationships/image" Target="../media/image80.png"/></Relationships>
</file>

<file path=ppt/slides/_rels/slide48.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4.wmf"/><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oleObject" Target="../embeddings/oleObject2.bin"/><Relationship Id="rId5" Type="http://schemas.openxmlformats.org/officeDocument/2006/relationships/image" Target="../media/image83.png"/><Relationship Id="rId4" Type="http://schemas.openxmlformats.org/officeDocument/2006/relationships/image" Target="../media/image82.png"/></Relationships>
</file>

<file path=ppt/slides/_rels/slide49.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3" Type="http://schemas.openxmlformats.org/officeDocument/2006/relationships/image" Target="../media/image870.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89.png"/><Relationship Id="rId4" Type="http://schemas.openxmlformats.org/officeDocument/2006/relationships/image" Target="../media/image88.png"/></Relationships>
</file>

<file path=ppt/slides/_rels/slide54.xml.rels><?xml version="1.0" encoding="UTF-8" standalone="yes"?>
<Relationships xmlns="http://schemas.openxmlformats.org/package/2006/relationships"><Relationship Id="rId3" Type="http://schemas.openxmlformats.org/officeDocument/2006/relationships/image" Target="../media/image90.jpg"/><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4.xml"/><Relationship Id="rId1" Type="http://schemas.openxmlformats.org/officeDocument/2006/relationships/slideLayout" Target="../slideLayouts/slideLayout4.xml"/><Relationship Id="rId4" Type="http://schemas.openxmlformats.org/officeDocument/2006/relationships/image" Target="../media/image94.png"/></Relationships>
</file>

<file path=ppt/slides/_rels/slide59.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56.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58.xml"/><Relationship Id="rId1" Type="http://schemas.openxmlformats.org/officeDocument/2006/relationships/slideLayout" Target="../slideLayouts/slideLayout4.xml"/><Relationship Id="rId4" Type="http://schemas.openxmlformats.org/officeDocument/2006/relationships/image" Target="../media/image5.jpg"/></Relationships>
</file>

<file path=ppt/slides/_rels/slide63.xml.rels><?xml version="1.0" encoding="UTF-8" standalone="yes"?>
<Relationships xmlns="http://schemas.openxmlformats.org/package/2006/relationships"><Relationship Id="rId2" Type="http://schemas.openxmlformats.org/officeDocument/2006/relationships/image" Target="../media/image97.gif"/><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64.xml"/><Relationship Id="rId1" Type="http://schemas.openxmlformats.org/officeDocument/2006/relationships/slideLayout" Target="../slideLayouts/slideLayout6.xml"/><Relationship Id="rId4" Type="http://schemas.openxmlformats.org/officeDocument/2006/relationships/image" Target="../media/image37.png"/></Relationships>
</file>

<file path=ppt/slides/_rels/slide70.xml.rels><?xml version="1.0" encoding="UTF-8" standalone="yes"?>
<Relationships xmlns="http://schemas.openxmlformats.org/package/2006/relationships"><Relationship Id="rId3" Type="http://schemas.openxmlformats.org/officeDocument/2006/relationships/image" Target="../media/image63.gif"/><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279443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626538"/>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1484330" y="320039"/>
            <a:ext cx="2340000" cy="2340000"/>
          </a:xfrm>
          <a:prstGeom prst="rect">
            <a:avLst/>
          </a:prstGeom>
        </p:spPr>
      </p:pic>
      <p:pic>
        <p:nvPicPr>
          <p:cNvPr id="5" name="Thumbnail: biplot" descr="fig-diabetes-ggbiplot-1.png"/>
          <p:cNvPicPr>
            <a:picLocks noChangeAspect="1"/>
          </p:cNvPicPr>
          <p:nvPr/>
        </p:nvPicPr>
        <p:blipFill>
          <a:blip r:embed="rId6"/>
          <a:stretch>
            <a:fillRect/>
          </a:stretch>
        </p:blipFill>
        <p:spPr>
          <a:xfrm>
            <a:off x="3962245" y="320040"/>
            <a:ext cx="3276000" cy="2340000"/>
          </a:xfrm>
          <a:prstGeom prst="rect">
            <a:avLst/>
          </a:prstGeom>
        </p:spPr>
      </p:pic>
      <p:pic>
        <p:nvPicPr>
          <p:cNvPr id="6" name="Thumbnail: HE plot" descr="image.png"/>
          <p:cNvPicPr>
            <a:picLocks noChangeAspect="1"/>
          </p:cNvPicPr>
          <p:nvPr/>
        </p:nvPicPr>
        <p:blipFill>
          <a:blip r:embed="rId7"/>
          <a:stretch>
            <a:fillRect/>
          </a:stretch>
        </p:blipFill>
        <p:spPr>
          <a:xfrm>
            <a:off x="7376160" y="320040"/>
            <a:ext cx="3276000" cy="2340000"/>
          </a:xfrm>
          <a:prstGeom prst="rect">
            <a:avLst/>
          </a:prstGeom>
        </p:spPr>
      </p:pic>
      <p:pic>
        <p:nvPicPr>
          <p:cNvPr id="8" name="Picture 7">
            <a:extLst>
              <a:ext uri="{FF2B5EF4-FFF2-40B4-BE49-F238E27FC236}">
                <a16:creationId xmlns:a16="http://schemas.microsoft.com/office/drawing/2014/main" id="{E4802ABD-082F-BC7F-2791-4E06016AE1D7}"/>
              </a:ext>
            </a:extLst>
          </p:cNvPr>
          <p:cNvPicPr>
            <a:picLocks noChangeAspect="1"/>
          </p:cNvPicPr>
          <p:nvPr/>
        </p:nvPicPr>
        <p:blipFill>
          <a:blip r:embed="rId8"/>
          <a:stretch>
            <a:fillRect/>
          </a:stretch>
        </p:blipFill>
        <p:spPr>
          <a:xfrm>
            <a:off x="6229529" y="5901328"/>
            <a:ext cx="365760"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t>How can we understand important scientific phenomena?</a:t>
            </a:r>
          </a:p>
          <a:p>
            <a:r>
              <a:rPr lang="en-CA" dirty="0"/>
              <a:t>Our data</a:t>
            </a:r>
            <a:r>
              <a:rPr dirty="0"/>
              <a:t> live in </a:t>
            </a:r>
            <a:r>
              <a:rPr dirty="0" err="1"/>
              <a:t>Spaceland</a:t>
            </a:r>
            <a:r>
              <a:rPr dirty="0"/>
              <a:t>,</a:t>
            </a:r>
            <a:r>
              <a:rPr lang="en-CA" dirty="0"/>
              <a:t> sometimes high-D,</a:t>
            </a:r>
            <a:r>
              <a:rPr dirty="0"/>
              <a:t> but we plot in </a:t>
            </a:r>
            <a:r>
              <a:rPr lang="en-CA" dirty="0"/>
              <a:t>Plane</a:t>
            </a:r>
            <a:r>
              <a:rPr dirty="0"/>
              <a:t>land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informative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E2F4C87C-FABA-4B28-B0C8-A7D348CBC8A3}" type="slidenum">
              <a:rPr lang="en-US" altLang="en-US"/>
              <a:pPr/>
              <a:t>11</a:t>
            </a:fld>
            <a:endParaRPr lang="en-US" altLang="en-US"/>
          </a:p>
        </p:txBody>
      </p:sp>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C299C230-35BF-4F64-9F70-85E993BA911F}" type="slidenum">
              <a:rPr lang="en-US" altLang="en-US"/>
              <a:pPr/>
              <a:t>12</a:t>
            </a:fld>
            <a:endParaRPr lang="en-US" altLang="en-US"/>
          </a:p>
        </p:txBody>
      </p:sp>
      <p:sp>
        <p:nvSpPr>
          <p:cNvPr id="80898" name="Rectangle 2"/>
          <p:cNvSpPr>
            <a:spLocks noGrp="1" noChangeArrowheads="1"/>
          </p:cNvSpPr>
          <p:nvPr>
            <p:ph type="title"/>
          </p:nvPr>
        </p:nvSpPr>
        <p:spPr>
          <a:xfrm>
            <a:off x="684882" y="327024"/>
            <a:ext cx="8229600" cy="965200"/>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5"/>
          <p:cNvSpPr>
            <a:spLocks noGrp="1"/>
          </p:cNvSpPr>
          <p:nvPr>
            <p:ph type="sldNum" sz="quarter" idx="12"/>
          </p:nvPr>
        </p:nvSpPr>
        <p:spPr/>
        <p:txBody>
          <a:bodyPr/>
          <a:lstStyle/>
          <a:p>
            <a:fld id="{5CD3ADF0-CAE1-4C97-890E-1ED6688E5639}" type="slidenum">
              <a:rPr lang="en-US" altLang="en-US"/>
              <a:pPr/>
              <a:t>13</a:t>
            </a:fld>
            <a:endParaRPr lang="en-US" altLang="en-US"/>
          </a:p>
        </p:txBody>
      </p:sp>
      <p:sp>
        <p:nvSpPr>
          <p:cNvPr id="82946" name="Rectangle 2"/>
          <p:cNvSpPr>
            <a:spLocks noGrp="1" noChangeArrowheads="1"/>
          </p:cNvSpPr>
          <p:nvPr>
            <p:ph type="title"/>
          </p:nvPr>
        </p:nvSpPr>
        <p:spPr>
          <a:xfrm>
            <a:off x="650082" y="466726"/>
            <a:ext cx="8229600" cy="965200"/>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43063"/>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Meet the penguins</a:t>
            </a:r>
          </a:p>
        </p:txBody>
      </p:sp>
      <p:pic>
        <p:nvPicPr>
          <p:cNvPr id="3" name="Picture 2" descr="penguins-horst.png"/>
          <p:cNvPicPr>
            <a:picLocks noChangeAspect="1"/>
          </p:cNvPicPr>
          <p:nvPr/>
        </p:nvPicPr>
        <p:blipFill>
          <a:blip r:embed="rId3"/>
          <a:stretch>
            <a:fillRect/>
          </a:stretch>
        </p:blipFill>
        <p:spPr>
          <a:xfrm>
            <a:off x="841248" y="2129942"/>
            <a:ext cx="5120640" cy="3055315"/>
          </a:xfrm>
          <a:prstGeom prst="rect">
            <a:avLst/>
          </a:prstGeom>
        </p:spPr>
      </p:pic>
      <p:pic>
        <p:nvPicPr>
          <p:cNvPr id="4" name="Picture 3" descr="fig-peng-ggplot1-1.png"/>
          <p:cNvPicPr>
            <a:picLocks noChangeAspect="1"/>
          </p:cNvPicPr>
          <p:nvPr/>
        </p:nvPicPr>
        <p:blipFill>
          <a:blip r:embed="rId4"/>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4" name="Slide Number Placeholder 3">
            <a:extLst>
              <a:ext uri="{FF2B5EF4-FFF2-40B4-BE49-F238E27FC236}">
                <a16:creationId xmlns:a16="http://schemas.microsoft.com/office/drawing/2014/main" id="{A4F088BC-69F5-43CB-028C-42D0CE3E5A71}"/>
              </a:ext>
            </a:extLst>
          </p:cNvPr>
          <p:cNvSpPr>
            <a:spLocks noGrp="1"/>
          </p:cNvSpPr>
          <p:nvPr>
            <p:ph type="sldNum" sz="quarter" idx="12"/>
          </p:nvPr>
        </p:nvSpPr>
        <p:spPr>
          <a:xfrm>
            <a:off x="8001000" y="6356351"/>
            <a:ext cx="2133600" cy="365125"/>
          </a:xfrm>
        </p:spPr>
        <p:txBody>
          <a:bodyPr/>
          <a:lstStyle/>
          <a:p>
            <a:fld id="{621225AB-15B9-4C79-A121-04D1DC7E2307}" type="slidenum">
              <a:rPr lang="en-US" smtClean="0"/>
              <a:t>16</a:t>
            </a:fld>
            <a:endParaRPr lang="en-US"/>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64185"/>
            <a:ext cx="10360007" cy="1631216"/>
          </a:xfrm>
          <a:prstGeom prst="rect">
            <a:avLst/>
          </a:prstGeom>
          <a:noFill/>
        </p:spPr>
        <p:txBody>
          <a:bodyPr wrap="square" rtlCol="0">
            <a:spAutoFit/>
          </a:bodyPr>
          <a:lstStyle/>
          <a:p>
            <a:r>
              <a:rPr lang="en-CA" sz="2000" dirty="0"/>
              <a:t>Palmer penguins data: Measures of bill length &amp; depth, body mass, flipper length for 3 species</a:t>
            </a:r>
          </a:p>
          <a:p>
            <a:pPr marL="285750" indent="-285750">
              <a:buFont typeface="Arial" panose="020B0604020202020204" pitchFamily="34" charset="0"/>
              <a:buChar char="•"/>
            </a:pPr>
            <a:r>
              <a:rPr lang="en-CA" sz="2000" dirty="0"/>
              <a:t>Add data ellipses to show w/in group means &amp; scatter</a:t>
            </a:r>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1000"/>
                                        <p:tgtEl>
                                          <p:spTgt spid="5"/>
                                        </p:tgtEl>
                                      </p:cBhvr>
                                    </p:animEffect>
                                    <p:anim calcmode="lin" valueType="num">
                                      <p:cBhvr>
                                        <p:cTn id="10" dur="1000" fill="hold"/>
                                        <p:tgtEl>
                                          <p:spTgt spid="5"/>
                                        </p:tgtEl>
                                        <p:attrNameLst>
                                          <p:attrName>ppt_x</p:attrName>
                                        </p:attrNameLst>
                                      </p:cBhvr>
                                      <p:tavLst>
                                        <p:tav tm="0">
                                          <p:val>
                                            <p:strVal val="#ppt_x"/>
                                          </p:val>
                                        </p:tav>
                                        <p:tav tm="100000">
                                          <p:val>
                                            <p:strVal val="#ppt_x"/>
                                          </p:val>
                                        </p:tav>
                                      </p:tavLst>
                                    </p:anim>
                                    <p:anim calcmode="lin" valueType="num">
                                      <p:cBhvr>
                                        <p:cTn id="11"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11">
                                            <p:txEl>
                                              <p:pRg st="2" end="2"/>
                                            </p:txEl>
                                          </p:spTgt>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11">
                                            <p:txEl>
                                              <p:pRg st="3" end="3"/>
                                            </p:txEl>
                                          </p:spTgt>
                                        </p:tgtEl>
                                        <p:attrNameLst>
                                          <p:attrName>style.visibility</p:attrName>
                                        </p:attrNameLst>
                                      </p:cBhvr>
                                      <p:to>
                                        <p:strVal val="visible"/>
                                      </p:to>
                                    </p:set>
                                  </p:childTnLst>
                                </p:cTn>
                              </p:par>
                              <p:par>
                                <p:cTn id="18" presetID="42" presetClass="entr" presetSubtype="0" fill="hold"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1000"/>
                                        <p:tgtEl>
                                          <p:spTgt spid="7"/>
                                        </p:tgtEl>
                                      </p:cBhvr>
                                    </p:animEffect>
                                    <p:anim calcmode="lin" valueType="num">
                                      <p:cBhvr>
                                        <p:cTn id="21" dur="1000" fill="hold"/>
                                        <p:tgtEl>
                                          <p:spTgt spid="7"/>
                                        </p:tgtEl>
                                        <p:attrNameLst>
                                          <p:attrName>ppt_x</p:attrName>
                                        </p:attrNameLst>
                                      </p:cBhvr>
                                      <p:tavLst>
                                        <p:tav tm="0">
                                          <p:val>
                                            <p:strVal val="#ppt_x"/>
                                          </p:val>
                                        </p:tav>
                                        <p:tav tm="100000">
                                          <p:val>
                                            <p:strVal val="#ppt_x"/>
                                          </p:val>
                                        </p:tav>
                                      </p:tavLst>
                                    </p:anim>
                                    <p:anim calcmode="lin" valueType="num">
                                      <p:cBhvr>
                                        <p:cTn id="22"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751037" y="1622742"/>
            <a:ext cx="5897879"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6844553" y="1691148"/>
            <a:ext cx="467885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chemeClr val="accent1">
              <a:lumMod val="50000"/>
            </a:schemeClr>
          </a:solidFill>
        </p:spPr>
        <p:txBody>
          <a:bodyPr wrap="square" rtlCol="0">
            <a:spAutoFit/>
          </a:bodyPr>
          <a:lstStyle/>
          <a:p>
            <a:r>
              <a:rPr lang="en-US" sz="4800" dirty="0">
                <a:solidFill>
                  <a:schemeClr val="bg1"/>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460599"/>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3" name="Slide Number Placeholder 2"/>
          <p:cNvSpPr>
            <a:spLocks noGrp="1"/>
          </p:cNvSpPr>
          <p:nvPr>
            <p:ph type="sldNum" sz="quarter" idx="12"/>
          </p:nvPr>
        </p:nvSpPr>
        <p:spPr/>
        <p:txBody>
          <a:bodyPr/>
          <a:lstStyle/>
          <a:p>
            <a:fld id="{810B7604-93B8-4136-B9BD-D1CE89EE20B0}" type="slidenum">
              <a:rPr lang="en-US" smtClean="0"/>
              <a:t>28</a:t>
            </a:fld>
            <a:endParaRPr lang="en-US"/>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524599"/>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Tree>
    <p:extLst>
      <p:ext uri="{BB962C8B-B14F-4D97-AF65-F5344CB8AC3E}">
        <p14:creationId xmlns:p14="http://schemas.microsoft.com/office/powerpoint/2010/main" val="18081444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sp>
        <p:nvSpPr>
          <p:cNvPr id="4" name="Slide Number Placeholder 3"/>
          <p:cNvSpPr>
            <a:spLocks noGrp="1"/>
          </p:cNvSpPr>
          <p:nvPr>
            <p:ph type="sldNum" sz="quarter" idx="12"/>
          </p:nvPr>
        </p:nvSpPr>
        <p:spPr/>
        <p:txBody>
          <a:bodyPr/>
          <a:lstStyle/>
          <a:p>
            <a:fld id="{621225AB-15B9-4C79-A121-04D1DC7E2307}" type="slidenum">
              <a:rPr lang="en-US" smtClean="0"/>
              <a:t>32</a:t>
            </a:fld>
            <a:endParaRPr lang="en-U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479427"/>
            <a:ext cx="8229600"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4" name="Slide Number Placeholder 3"/>
          <p:cNvSpPr>
            <a:spLocks noGrp="1"/>
          </p:cNvSpPr>
          <p:nvPr>
            <p:ph type="sldNum" sz="quarter" idx="12"/>
          </p:nvPr>
        </p:nvSpPr>
        <p:spPr/>
        <p:txBody>
          <a:bodyPr/>
          <a:lstStyle/>
          <a:p>
            <a:fld id="{621225AB-15B9-4C79-A121-04D1DC7E2307}" type="slidenum">
              <a:rPr lang="en-US" smtClean="0"/>
              <a:t>35</a:t>
            </a:fld>
            <a:endParaRPr lang="en-US"/>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Tree>
    <p:extLst>
      <p:ext uri="{BB962C8B-B14F-4D97-AF65-F5344CB8AC3E}">
        <p14:creationId xmlns:p14="http://schemas.microsoft.com/office/powerpoint/2010/main" val="21404008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sp>
        <p:nvSpPr>
          <p:cNvPr id="4" name="Slide Number Placeholder 3"/>
          <p:cNvSpPr>
            <a:spLocks noGrp="1"/>
          </p:cNvSpPr>
          <p:nvPr>
            <p:ph type="sldNum" sz="quarter" idx="12"/>
          </p:nvPr>
        </p:nvSpPr>
        <p:spPr/>
        <p:txBody>
          <a:bodyPr/>
          <a:lstStyle/>
          <a:p>
            <a:fld id="{621225AB-15B9-4C79-A121-04D1DC7E2307}" type="slidenum">
              <a:rPr lang="en-US" smtClean="0"/>
              <a:t>36</a:t>
            </a:fld>
            <a:endParaRPr lang="en-US"/>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Tree>
    <p:extLst>
      <p:ext uri="{BB962C8B-B14F-4D97-AF65-F5344CB8AC3E}">
        <p14:creationId xmlns:p14="http://schemas.microsoft.com/office/powerpoint/2010/main" val="19636508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sp>
        <p:nvSpPr>
          <p:cNvPr id="3" name="Slide Number Placeholder 2"/>
          <p:cNvSpPr>
            <a:spLocks noGrp="1"/>
          </p:cNvSpPr>
          <p:nvPr>
            <p:ph type="sldNum" sz="quarter" idx="12"/>
          </p:nvPr>
        </p:nvSpPr>
        <p:spPr/>
        <p:txBody>
          <a:bodyPr/>
          <a:lstStyle/>
          <a:p>
            <a:fld id="{621225AB-15B9-4C79-A121-04D1DC7E2307}" type="slidenum">
              <a:rPr lang="en-US" smtClean="0"/>
              <a:t>38</a:t>
            </a:fld>
            <a:endParaRPr lang="en-US"/>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Tree>
    <p:extLst>
      <p:ext uri="{BB962C8B-B14F-4D97-AF65-F5344CB8AC3E}">
        <p14:creationId xmlns:p14="http://schemas.microsoft.com/office/powerpoint/2010/main" val="26152795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365125"/>
            <a:ext cx="785973" cy="9144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259893" cy="4533900"/>
          </a:xfrm>
        </p:spPr>
        <p:txBody>
          <a:bodyPr/>
          <a:lstStyle/>
          <a:p>
            <a:r>
              <a:rPr dirty="0"/>
              <a:t>Longley data: six highly collinear economic predictors</a:t>
            </a:r>
          </a:p>
          <a:p>
            <a:r>
              <a:rPr dirty="0"/>
              <a:t>Coefficients plotted against the shrinkage constant</a:t>
            </a:r>
          </a:p>
          <a:p>
            <a:r>
              <a:rPr dirty="0"/>
              <a:t>Shows the bias, but nothing about precision</a:t>
            </a:r>
          </a:p>
        </p:txBody>
      </p:sp>
      <p:pic>
        <p:nvPicPr>
          <p:cNvPr id="4" name="Picture 3" descr="fig-longley-traceplot1-1.png"/>
          <p:cNvPicPr>
            <a:picLocks noChangeAspect="1"/>
          </p:cNvPicPr>
          <p:nvPr/>
        </p:nvPicPr>
        <p:blipFill>
          <a:blip r:embed="rId3"/>
          <a:stretch>
            <a:fillRect/>
          </a:stretch>
        </p:blipFill>
        <p:spPr>
          <a:xfrm>
            <a:off x="52734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sp>
        <p:nvSpPr>
          <p:cNvPr id="3" name="Slide Number Placeholder 2"/>
          <p:cNvSpPr>
            <a:spLocks noGrp="1"/>
          </p:cNvSpPr>
          <p:nvPr>
            <p:ph type="sldNum" sz="quarter" idx="12"/>
          </p:nvPr>
        </p:nvSpPr>
        <p:spPr/>
        <p:txBody>
          <a:bodyPr/>
          <a:lstStyle/>
          <a:p>
            <a:fld id="{621225AB-15B9-4C79-A121-04D1DC7E2307}" type="slidenum">
              <a:rPr lang="en-US" smtClean="0"/>
              <a:t>42</a:t>
            </a:fld>
            <a:endParaRPr lang="en-US"/>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36428" y="1313094"/>
            <a:ext cx="618849" cy="713901"/>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439508" y="365125"/>
            <a:ext cx="612688" cy="712800"/>
          </a:xfrm>
          <a:prstGeom prst="rect">
            <a:avLst/>
          </a:prstGeom>
        </p:spPr>
      </p:pic>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pic>
        <p:nvPicPr>
          <p:cNvPr id="7" name="Picture 6" descr="logo.png">
            <a:extLst>
              <a:ext uri="{FF2B5EF4-FFF2-40B4-BE49-F238E27FC236}">
                <a16:creationId xmlns:a16="http://schemas.microsoft.com/office/drawing/2014/main" id="{2962ADBA-4003-3C31-9B29-F4252D9238AA}"/>
              </a:ext>
            </a:extLst>
          </p:cNvPr>
          <p:cNvPicPr>
            <a:picLocks noChangeAspect="1"/>
          </p:cNvPicPr>
          <p:nvPr/>
        </p:nvPicPr>
        <p:blipFill>
          <a:blip r:embed="rId4"/>
          <a:stretch>
            <a:fillRect/>
          </a:stretch>
        </p:blipFill>
        <p:spPr>
          <a:xfrm>
            <a:off x="10567827" y="365125"/>
            <a:ext cx="785973" cy="9144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HE plot framework</a:t>
            </a:r>
          </a:p>
        </p:txBody>
      </p:sp>
      <p:sp>
        <p:nvSpPr>
          <p:cNvPr id="3" name="Text Placeholder 2"/>
          <p:cNvSpPr>
            <a:spLocks noGrp="1"/>
          </p:cNvSpPr>
          <p:nvPr>
            <p:ph type="body" idx="1"/>
          </p:nvPr>
        </p:nvSpPr>
        <p:spPr/>
        <p:txBody>
          <a:bodyPr/>
          <a:lstStyle/>
          <a:p>
            <a:r>
              <a:t>Seeing multivariate tests as ellipses</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sp>
        <p:nvSpPr>
          <p:cNvPr id="3" name="Slide Number Placeholder 2">
            <a:extLst>
              <a:ext uri="{FF2B5EF4-FFF2-40B4-BE49-F238E27FC236}">
                <a16:creationId xmlns:a16="http://schemas.microsoft.com/office/drawing/2014/main" id="{B52CCEF0-929A-4185-E7BE-6AC7C818076B}"/>
              </a:ext>
            </a:extLst>
          </p:cNvPr>
          <p:cNvSpPr>
            <a:spLocks noGrp="1"/>
          </p:cNvSpPr>
          <p:nvPr>
            <p:ph type="sldNum" sz="quarter" idx="12"/>
          </p:nvPr>
        </p:nvSpPr>
        <p:spPr/>
        <p:txBody>
          <a:bodyPr/>
          <a:lstStyle/>
          <a:p>
            <a:fld id="{621225AB-15B9-4C79-A121-04D1DC7E2307}" type="slidenum">
              <a:rPr lang="en-US" smtClean="0"/>
              <a:t>45</a:t>
            </a:fld>
            <a:endParaRPr lang="en-US"/>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between group 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within groups 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72840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8801793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Tree>
    <p:extLst>
      <p:ext uri="{BB962C8B-B14F-4D97-AF65-F5344CB8AC3E}">
        <p14:creationId xmlns:p14="http://schemas.microsoft.com/office/powerpoint/2010/main" val="37967494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3" name="Slide Number Placeholder 2"/>
          <p:cNvSpPr>
            <a:spLocks noGrp="1"/>
          </p:cNvSpPr>
          <p:nvPr>
            <p:ph type="sldNum" sz="quarter" idx="12"/>
          </p:nvPr>
        </p:nvSpPr>
        <p:spPr/>
        <p:txBody>
          <a:bodyPr/>
          <a:lstStyle/>
          <a:p>
            <a:fld id="{810B7604-93B8-4136-B9BD-D1CE89EE20B0}" type="slidenum">
              <a:rPr lang="en-US" smtClean="0"/>
              <a:t>51</a:t>
            </a:fld>
            <a:endParaRPr lang="en-US"/>
          </a:p>
        </p:txBody>
      </p:sp>
      <p:sp>
        <p:nvSpPr>
          <p:cNvPr id="4" name="TextBox 3"/>
          <p:cNvSpPr txBox="1"/>
          <p:nvPr/>
        </p:nvSpPr>
        <p:spPr>
          <a:xfrm>
            <a:off x="950026" y="1219201"/>
            <a:ext cx="9260774" cy="646331"/>
          </a:xfrm>
          <a:prstGeom prst="rect">
            <a:avLst/>
          </a:prstGeom>
          <a:noFill/>
        </p:spPr>
        <p:txBody>
          <a:bodyPr wrap="square" rtlCol="0">
            <a:spAutoFit/>
          </a:bodyPr>
          <a:lstStyle/>
          <a:p>
            <a:r>
              <a:rPr lang="en-US" dirty="0"/>
              <a:t>The </a:t>
            </a:r>
            <a:r>
              <a:rPr lang="en-US" dirty="0">
                <a:solidFill>
                  <a:schemeClr val="accent6">
                    <a:lumMod val="50000"/>
                  </a:schemeClr>
                </a:solidFill>
                <a:latin typeface="Lucida Console" panose="020B0609040504020204" pitchFamily="49" charset="0"/>
              </a:rPr>
              <a:t>pairs() </a:t>
            </a:r>
            <a:r>
              <a:rPr lang="en-US" dirty="0"/>
              <a:t>method for </a:t>
            </a:r>
            <a:r>
              <a:rPr lang="en-US" dirty="0" err="1"/>
              <a:t>mlm</a:t>
            </a:r>
            <a:r>
              <a:rPr lang="en-US" dirty="0"/>
              <a:t> objects gives all pairwise HE plots in a scatterplot matrix format in </a:t>
            </a:r>
            <a:r>
              <a:rPr lang="en-US" dirty="0">
                <a:solidFill>
                  <a:srgbClr val="FF0000"/>
                </a:solidFill>
              </a:rPr>
              <a:t>data space</a:t>
            </a:r>
            <a:r>
              <a:rPr lang="en-US"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t>School data: 70 US schools in a program for disadvantaged students</a:t>
            </a:r>
          </a:p>
          <a:p>
            <a:pPr lvl="1"/>
            <a:r>
              <a:t>Outcomes: reading, mathematics, self-esteem</a:t>
            </a:r>
          </a:p>
          <a:p>
            <a:pPr lvl="1"/>
            <a:r>
              <a:t>Predictors: parents’ education &amp; occupation, school visits, counseling, number of teachers</a:t>
            </a:r>
          </a:p>
          <a:p>
            <a:r>
              <a:t>Length: the strength of the relationship</a:t>
            </a:r>
          </a:p>
          <a:p>
            <a:r>
              <a:t>Direction: how the predictor relates to the two responses</a:t>
            </a:r>
          </a:p>
          <a:p>
            <a:r>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883922"/>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883922"/>
                <a:ext cx="9372600" cy="2011678"/>
              </a:xfrm>
              <a:blipFill>
                <a:blip r:embed="rId3"/>
                <a:stretch>
                  <a:fillRect l="-586" t="-2727" b="-5455"/>
                </a:stretch>
              </a:blipFill>
            </p:spPr>
            <p:txBody>
              <a:bodyPr/>
              <a:lstStyle/>
              <a:p>
                <a:r>
                  <a:rPr lang="en-CA">
                    <a:noFill/>
                  </a:rPr>
                  <a:t> </a:t>
                </a:r>
              </a:p>
            </p:txBody>
          </p:sp>
        </mc:Fallback>
      </mc:AlternateContent>
      <p:sp>
        <p:nvSpPr>
          <p:cNvPr id="3" name="Slide Number Placeholder 2">
            <a:extLst>
              <a:ext uri="{FF2B5EF4-FFF2-40B4-BE49-F238E27FC236}">
                <a16:creationId xmlns:a16="http://schemas.microsoft.com/office/drawing/2014/main" id="{CD6BFC25-DA19-EC4F-4AED-BC5CF5636F73}"/>
              </a:ext>
            </a:extLst>
          </p:cNvPr>
          <p:cNvSpPr>
            <a:spLocks noGrp="1"/>
          </p:cNvSpPr>
          <p:nvPr>
            <p:ph type="sldNum" sz="quarter" idx="12"/>
          </p:nvPr>
        </p:nvSpPr>
        <p:spPr/>
        <p:txBody>
          <a:bodyPr/>
          <a:lstStyle/>
          <a:p>
            <a:fld id="{621225AB-15B9-4C79-A121-04D1DC7E2307}" type="slidenum">
              <a:rPr lang="en-US" smtClean="0"/>
              <a:t>53</a:t>
            </a:fld>
            <a:endParaRPr lang="en-US"/>
          </a:p>
        </p:txBody>
      </p:sp>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Checking multivariate models</a:t>
            </a:r>
          </a:p>
        </p:txBody>
      </p:sp>
      <p:sp>
        <p:nvSpPr>
          <p:cNvPr id="3" name="Text Placeholder 2"/>
          <p:cNvSpPr>
            <a:spLocks noGrp="1"/>
          </p:cNvSpPr>
          <p:nvPr>
            <p:ph type="body" idx="1"/>
          </p:nvPr>
        </p:nvSpPr>
        <p:spPr/>
        <p:txBody>
          <a:bodyPr/>
          <a:lstStyle/>
          <a:p>
            <a:r>
              <a:t>Outliers, influence and robust estimation</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dirty="0"/>
              <a:t>Distance plot: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103120"/>
          </a:xfrm>
          <a:prstGeom prst="rect">
            <a:avLst/>
          </a:prstGeom>
          <a:noFill/>
        </p:spPr>
        <p:txBody>
          <a:bodyPr wrap="square">
            <a:spAutoFit/>
          </a:bodyPr>
          <a:lstStyle/>
          <a:p>
            <a:pPr marL="228600" indent="-228600">
              <a:spcAft>
                <a:spcPts val="400"/>
              </a:spcAft>
              <a:buFont typeface="Arial"/>
              <a:buChar char="•"/>
            </a:pPr>
            <a:r>
              <a:rPr sz="1800"/>
              <a:t>Influence plot: bubble size ~ multivariate Cook’s D</a:t>
            </a:r>
          </a:p>
          <a:p>
            <a:pPr marL="228600" indent="-228600">
              <a:spcAft>
                <a:spcPts val="400"/>
              </a:spcAft>
              <a:buFont typeface="Arial"/>
              <a:buChar char="•"/>
            </a:pPr>
            <a:r>
              <a:rPr sz="1800" b="1">
                <a:solidFill>
                  <a:srgbClr val="FF0000"/>
                </a:solidFill>
              </a:rPr>
              <a:t>44, 59</a:t>
            </a:r>
            <a:r>
              <a:rPr sz="1800"/>
              <a:t>: high leverage and influential</a:t>
            </a:r>
          </a:p>
          <a:p>
            <a:pPr marL="228600" indent="-228600">
              <a:spcAft>
                <a:spcPts val="400"/>
              </a:spcAft>
              <a:buFont typeface="Arial"/>
              <a:buChar char="•"/>
            </a:pPr>
            <a:r>
              <a:rPr sz="1800" b="1">
                <a:solidFill>
                  <a:srgbClr val="0000FF"/>
                </a:solidFill>
              </a:rPr>
              <a:t>35</a:t>
            </a:r>
            <a:r>
              <a:rPr sz="1800"/>
              <a:t>: an outlier, but little influence</a:t>
            </a:r>
          </a:p>
          <a:p>
            <a:pPr marL="228600" indent="-228600">
              <a:spcAft>
                <a:spcPts val="400"/>
              </a:spcAft>
              <a:buFont typeface="Arial"/>
              <a:buChar char="•"/>
            </a:pPr>
            <a:r>
              <a:rPr sz="1800" b="1">
                <a:solidFill>
                  <a:srgbClr val="006400"/>
                </a:solidFill>
              </a:rPr>
              <a:t>66</a:t>
            </a:r>
            <a:r>
              <a:rPr sz="180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r>
              <a:rPr dirty="0" err="1"/>
              <a:t>mvinfluence</a:t>
            </a:r>
            <a:r>
              <a:rPr dirty="0"/>
              <a:t> package)</a:t>
            </a:r>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ideas go a long way</a:t>
            </a:r>
          </a:p>
        </p:txBody>
      </p:sp>
      <p:sp>
        <p:nvSpPr>
          <p:cNvPr id="3" name="Content Placeholder 2"/>
          <p:cNvSpPr>
            <a:spLocks noGrp="1"/>
          </p:cNvSpPr>
          <p:nvPr>
            <p:ph idx="1"/>
          </p:nvPr>
        </p:nvSpPr>
        <p:spPr/>
        <p:txBody>
          <a:bodyPr/>
          <a:lstStyle/>
          <a:p>
            <a:r>
              <a:rPr dirty="0"/>
              <a:t>Ellipses: for data, for coefficients, and for hypotheses and error</a:t>
            </a:r>
          </a:p>
          <a:p>
            <a:r>
              <a:rPr dirty="0"/>
              <a:t>Projections: every plot is a view; choose the views that answer the question</a:t>
            </a:r>
            <a:endParaRPr lang="en-CA" dirty="0"/>
          </a:p>
          <a:p>
            <a:r>
              <a:rPr lang="en-CA" dirty="0"/>
              <a:t>Geometry: provides the connective tissue to understand relations in different, equivalent spaces.</a:t>
            </a:r>
            <a:endParaRPr dirty="0"/>
          </a:p>
          <a:p>
            <a:r>
              <a:rPr dirty="0"/>
              <a:t>Low-</a:t>
            </a:r>
            <a:r>
              <a:rPr lang="en-CA" dirty="0"/>
              <a:t>D</a:t>
            </a:r>
            <a:r>
              <a:rPr dirty="0"/>
              <a:t> views: biplots and canonical plots show many variables in the space that matters</a:t>
            </a:r>
          </a:p>
          <a:p>
            <a:r>
              <a:rPr dirty="0"/>
              <a:t>Visual thinning: summarize, so the message can be seen</a:t>
            </a:r>
          </a:p>
          <a:p>
            <a:r>
              <a:rPr dirty="0"/>
              <a:t>Multivariate models deserve graphs as good as those for a single response</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pic>
        <p:nvPicPr>
          <p:cNvPr id="4" name="Picture 3" descr="cover-peng.jpg"/>
          <p:cNvPicPr>
            <a:picLocks noChangeAspect="1"/>
          </p:cNvPicPr>
          <p:nvPr/>
        </p:nvPicPr>
        <p:blipFill>
          <a:blip r:embed="rId4"/>
          <a:stretch>
            <a:fillRect/>
          </a:stretch>
        </p:blipFill>
        <p:spPr>
          <a:xfrm>
            <a:off x="7169844" y="731404"/>
            <a:ext cx="3953563" cy="5440796"/>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Tree>
    <p:extLst>
      <p:ext uri="{BB962C8B-B14F-4D97-AF65-F5344CB8AC3E}">
        <p14:creationId xmlns:p14="http://schemas.microsoft.com/office/powerpoint/2010/main" val="255179568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Tree>
    <p:extLst>
      <p:ext uri="{BB962C8B-B14F-4D97-AF65-F5344CB8AC3E}">
        <p14:creationId xmlns:p14="http://schemas.microsoft.com/office/powerpoint/2010/main" val="278782021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sp>
        <p:nvSpPr>
          <p:cNvPr id="4" name="Slide Number Placeholder 3"/>
          <p:cNvSpPr>
            <a:spLocks noGrp="1"/>
          </p:cNvSpPr>
          <p:nvPr>
            <p:ph type="sldNum" sz="quarter" idx="12"/>
          </p:nvPr>
        </p:nvSpPr>
        <p:spPr/>
        <p:txBody>
          <a:bodyPr/>
          <a:lstStyle/>
          <a:p>
            <a:fld id="{621225AB-15B9-4C79-A121-04D1DC7E2307}" type="slidenum">
              <a:rPr lang="en-US" smtClean="0"/>
              <a:t>70</a:t>
            </a:fld>
            <a:endParaRPr lang="en-US"/>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Tree>
    <p:extLst>
      <p:ext uri="{BB962C8B-B14F-4D97-AF65-F5344CB8AC3E}">
        <p14:creationId xmlns:p14="http://schemas.microsoft.com/office/powerpoint/2010/main" val="370433655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Tree>
    <p:extLst>
      <p:ext uri="{BB962C8B-B14F-4D97-AF65-F5344CB8AC3E}">
        <p14:creationId xmlns:p14="http://schemas.microsoft.com/office/powerpoint/2010/main" val="213160507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Tree>
    <p:extLst>
      <p:ext uri="{BB962C8B-B14F-4D97-AF65-F5344CB8AC3E}">
        <p14:creationId xmlns:p14="http://schemas.microsoft.com/office/powerpoint/2010/main" val="171975335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Tree>
    <p:extLst>
      <p:ext uri="{BB962C8B-B14F-4D97-AF65-F5344CB8AC3E}">
        <p14:creationId xmlns:p14="http://schemas.microsoft.com/office/powerpoint/2010/main" val="163707666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Bias </a:t>
            </a:r>
            <a:r>
              <a:rPr lang="en-US" i="1" dirty="0"/>
              <a:t>vs. </a:t>
            </a:r>
            <a:r>
              <a:rPr lang="en-US" dirty="0"/>
              <a:t>Precision tradeoff</a:t>
            </a:r>
          </a:p>
        </p:txBody>
      </p:sp>
      <p:sp>
        <p:nvSpPr>
          <p:cNvPr id="3" name="Content Placeholder 2"/>
          <p:cNvSpPr>
            <a:spLocks noGrp="1"/>
          </p:cNvSpPr>
          <p:nvPr>
            <p:ph idx="1"/>
          </p:nvPr>
        </p:nvSpPr>
        <p:spPr>
          <a:xfrm>
            <a:off x="3505200" y="1143000"/>
            <a:ext cx="8229600" cy="1981200"/>
          </a:xfrm>
        </p:spPr>
        <p:txBody>
          <a:bodyPr>
            <a:normAutofit/>
          </a:bodyPr>
          <a:lstStyle/>
          <a:p>
            <a:r>
              <a:rPr lang="en-US" dirty="0"/>
              <a:t>Particularly important when the goal is </a:t>
            </a:r>
            <a:r>
              <a:rPr lang="en-US" dirty="0">
                <a:solidFill>
                  <a:srgbClr val="FF0000"/>
                </a:solidFill>
              </a:rPr>
              <a:t>predictive accuracy</a:t>
            </a:r>
          </a:p>
          <a:p>
            <a:pPr lvl="1"/>
            <a:r>
              <a:rPr lang="en-US" dirty="0"/>
              <a:t>Complex models, many predictors, e.g., demand for medical care</a:t>
            </a:r>
          </a:p>
          <a:p>
            <a:pPr lvl="1"/>
            <a:r>
              <a:rPr lang="en-US" dirty="0"/>
              <a:t>In-sample prediction error decreases with model complexity</a:t>
            </a:r>
          </a:p>
          <a:p>
            <a:r>
              <a:rPr lang="en-US" dirty="0"/>
              <a:t>But, in </a:t>
            </a:r>
            <a:r>
              <a:rPr lang="en-US" dirty="0">
                <a:solidFill>
                  <a:srgbClr val="FF0000"/>
                </a:solidFill>
              </a:rPr>
              <a:t>new samples </a:t>
            </a:r>
            <a:r>
              <a:rPr lang="en-US" dirty="0"/>
              <a:t>prediction error suffers from high variance of complex models </a:t>
            </a:r>
          </a:p>
        </p:txBody>
      </p:sp>
      <p:sp>
        <p:nvSpPr>
          <p:cNvPr id="4" name="Slide Number Placeholder 3"/>
          <p:cNvSpPr>
            <a:spLocks noGrp="1"/>
          </p:cNvSpPr>
          <p:nvPr>
            <p:ph type="sldNum" sz="quarter" idx="12"/>
          </p:nvPr>
        </p:nvSpPr>
        <p:spPr/>
        <p:txBody>
          <a:bodyPr/>
          <a:lstStyle/>
          <a:p>
            <a:fld id="{621225AB-15B9-4C79-A121-04D1DC7E2307}" type="slidenum">
              <a:rPr lang="en-US" smtClean="0"/>
              <a:t>74</a:t>
            </a:fld>
            <a:endParaRPr lang="en-US"/>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05600" y="3276600"/>
            <a:ext cx="4403810" cy="3055238"/>
          </a:xfrm>
          <a:prstGeom prst="rect">
            <a:avLst/>
          </a:prstGeom>
        </p:spPr>
      </p:pic>
      <p:sp>
        <p:nvSpPr>
          <p:cNvPr id="6" name="TextBox 5"/>
          <p:cNvSpPr txBox="1"/>
          <p:nvPr/>
        </p:nvSpPr>
        <p:spPr>
          <a:xfrm>
            <a:off x="3505200" y="3505201"/>
            <a:ext cx="3124200" cy="830997"/>
          </a:xfrm>
          <a:prstGeom prst="rect">
            <a:avLst/>
          </a:prstGeom>
          <a:noFill/>
        </p:spPr>
        <p:txBody>
          <a:bodyPr wrap="square" rtlCol="0">
            <a:spAutoFit/>
          </a:bodyPr>
          <a:lstStyle/>
          <a:p>
            <a:r>
              <a:rPr lang="en-US" sz="2400" dirty="0"/>
              <a:t>How to visualize the tradeoff in </a:t>
            </a:r>
            <a:r>
              <a:rPr lang="en-US" sz="2400" dirty="0">
                <a:solidFill>
                  <a:srgbClr val="FF0000"/>
                </a:solidFill>
              </a:rPr>
              <a:t>data</a:t>
            </a:r>
            <a:r>
              <a:rPr lang="en-US" sz="2400" dirty="0"/>
              <a:t>?</a:t>
            </a:r>
          </a:p>
        </p:txBody>
      </p:sp>
      <p:sp>
        <p:nvSpPr>
          <p:cNvPr id="7" name="TextBox 6"/>
          <p:cNvSpPr txBox="1"/>
          <p:nvPr/>
        </p:nvSpPr>
        <p:spPr>
          <a:xfrm>
            <a:off x="3581400" y="4572001"/>
            <a:ext cx="2971800" cy="830997"/>
          </a:xfrm>
          <a:prstGeom prst="rect">
            <a:avLst/>
          </a:prstGeom>
          <a:noFill/>
        </p:spPr>
        <p:txBody>
          <a:bodyPr wrap="square" rtlCol="0">
            <a:spAutoFit/>
          </a:bodyPr>
          <a:lstStyle/>
          <a:p>
            <a:r>
              <a:rPr lang="en-US" sz="2400" dirty="0"/>
              <a:t>+1 if you guessed an ellipse !</a:t>
            </a:r>
          </a:p>
        </p:txBody>
      </p:sp>
    </p:spTree>
    <p:extLst>
      <p:ext uri="{BB962C8B-B14F-4D97-AF65-F5344CB8AC3E}">
        <p14:creationId xmlns:p14="http://schemas.microsoft.com/office/powerpoint/2010/main" val="350268914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From the </a:t>
            </a:r>
            <a:r>
              <a:rPr i="1" dirty="0"/>
              <a:t>t</a:t>
            </a:r>
            <a:r>
              <a:rPr dirty="0"/>
              <a:t>-test to Hotelling's </a:t>
            </a:r>
            <a:r>
              <a:rPr b="1" dirty="0"/>
              <a:t>T</a:t>
            </a:r>
            <a:r>
              <a:rPr dirty="0"/>
              <a:t>²</a:t>
            </a:r>
          </a:p>
        </p:txBody>
      </p:sp>
      <p:sp>
        <p:nvSpPr>
          <p:cNvPr id="3" name="Content Placeholder 2"/>
          <p:cNvSpPr>
            <a:spLocks noGrp="1"/>
          </p:cNvSpPr>
          <p:nvPr>
            <p:ph sz="half" idx="1"/>
          </p:nvPr>
        </p:nvSpPr>
        <p:spPr/>
        <p:txBody>
          <a:bodyPr/>
          <a:lstStyle/>
          <a:p>
            <a:r>
              <a:t>Two groups, several responses</a:t>
            </a:r>
          </a:p>
          <a:p>
            <a:r>
              <a:t>T² is the largest squared t over all linear combinations of the responses</a:t>
            </a:r>
          </a:p>
          <a:p>
            <a:r>
              <a:t>That best combination is the discriminant axis</a:t>
            </a:r>
          </a:p>
        </p:txBody>
      </p:sp>
      <p:pic>
        <p:nvPicPr>
          <p:cNvPr id="4" name="Picture 3" descr="T2-diagram.png"/>
          <p:cNvPicPr>
            <a:picLocks noChangeAspect="1"/>
          </p:cNvPicPr>
          <p:nvPr/>
        </p:nvPicPr>
        <p:blipFill>
          <a:blip r:embed="rId3"/>
          <a:stretch>
            <a:fillRect/>
          </a:stretch>
        </p:blipFill>
        <p:spPr>
          <a:xfrm>
            <a:off x="6350508" y="1783080"/>
            <a:ext cx="4828032"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10.1</a:t>
            </a:r>
          </a:p>
        </p:txBody>
      </p:sp>
    </p:spTree>
    <p:extLst>
      <p:ext uri="{BB962C8B-B14F-4D97-AF65-F5344CB8AC3E}">
        <p14:creationId xmlns:p14="http://schemas.microsoft.com/office/powerpoint/2010/main" val="300956220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Hypothesis-Error plot framework</a:t>
            </a:r>
          </a:p>
        </p:txBody>
      </p:sp>
      <p:pic>
        <p:nvPicPr>
          <p:cNvPr id="3" name="Picture 2" descr="HE-framework.png"/>
          <p:cNvPicPr>
            <a:picLocks noChangeAspect="1"/>
          </p:cNvPicPr>
          <p:nvPr/>
        </p:nvPicPr>
        <p:blipFill>
          <a:blip r:embed="rId3"/>
          <a:stretch>
            <a:fillRect/>
          </a:stretch>
        </p:blipFill>
        <p:spPr>
          <a:xfrm>
            <a:off x="841248" y="1417320"/>
            <a:ext cx="7229900" cy="5212080"/>
          </a:xfrm>
          <a:prstGeom prst="rect">
            <a:avLst/>
          </a:prstGeom>
        </p:spPr>
      </p:pic>
      <p:sp>
        <p:nvSpPr>
          <p:cNvPr id="4" name="TextBox 3"/>
          <p:cNvSpPr txBox="1"/>
          <p:nvPr/>
        </p:nvSpPr>
        <p:spPr>
          <a:xfrm>
            <a:off x="8436908" y="1417320"/>
            <a:ext cx="3192108" cy="5212080"/>
          </a:xfrm>
          <a:prstGeom prst="rect">
            <a:avLst/>
          </a:prstGeom>
          <a:noFill/>
        </p:spPr>
        <p:txBody>
          <a:bodyPr wrap="square" anchor="ctr">
            <a:noAutofit/>
          </a:bodyPr>
          <a:lstStyle/>
          <a:p>
            <a:r>
              <a:rPr sz="2400" dirty="0"/>
              <a:t>Data ellipses </a:t>
            </a:r>
            <a:r>
              <a:rPr lang="en-CA" sz="2400" dirty="0">
                <a:sym typeface="Symbol" panose="05050102010706020507" pitchFamily="18" charset="2"/>
              </a:rPr>
              <a:t></a:t>
            </a:r>
            <a:r>
              <a:rPr sz="2400" dirty="0"/>
              <a:t> </a:t>
            </a:r>
            <a:r>
              <a:rPr sz="2400" b="1" dirty="0"/>
              <a:t>E</a:t>
            </a:r>
            <a:r>
              <a:rPr sz="2400" dirty="0"/>
              <a:t> ellipse </a:t>
            </a:r>
            <a:endParaRPr lang="en-CA" sz="2400" dirty="0"/>
          </a:p>
          <a:p>
            <a:endParaRPr lang="en-CA" sz="2400" dirty="0"/>
          </a:p>
          <a:p>
            <a:r>
              <a:rPr lang="en-CA" sz="2400" dirty="0"/>
              <a:t>G</a:t>
            </a:r>
            <a:r>
              <a:rPr sz="2400" dirty="0" err="1"/>
              <a:t>roup</a:t>
            </a:r>
            <a:r>
              <a:rPr sz="2400" dirty="0"/>
              <a:t> means </a:t>
            </a:r>
            <a:r>
              <a:rPr lang="en-CA" sz="2400" dirty="0">
                <a:sym typeface="Symbol" panose="05050102010706020507" pitchFamily="18" charset="2"/>
              </a:rPr>
              <a:t></a:t>
            </a:r>
            <a:r>
              <a:rPr sz="2400" dirty="0"/>
              <a:t> </a:t>
            </a:r>
            <a:r>
              <a:rPr sz="2400" b="1" dirty="0"/>
              <a:t>H</a:t>
            </a:r>
            <a:endParaRPr lang="en-CA" sz="2400" b="1" dirty="0"/>
          </a:p>
          <a:p>
            <a:r>
              <a:rPr sz="2400" dirty="0"/>
              <a:t> </a:t>
            </a:r>
            <a:endParaRPr lang="en-CA" sz="2400" dirty="0"/>
          </a:p>
          <a:p>
            <a:r>
              <a:rPr lang="en-CA" sz="2400" dirty="0"/>
              <a:t>P</a:t>
            </a:r>
            <a:r>
              <a:rPr sz="2400" dirty="0" err="1"/>
              <a:t>rojection</a:t>
            </a:r>
            <a:r>
              <a:rPr sz="2400" dirty="0"/>
              <a:t> </a:t>
            </a:r>
            <a:r>
              <a:rPr lang="en-CA" sz="2400" dirty="0">
                <a:sym typeface="Symbol" panose="05050102010706020507" pitchFamily="18" charset="2"/>
              </a:rPr>
              <a:t> </a:t>
            </a:r>
            <a:r>
              <a:rPr sz="2400" dirty="0"/>
              <a:t>discriminant view.</a:t>
            </a:r>
          </a:p>
        </p:txBody>
      </p:sp>
    </p:spTree>
    <p:extLst>
      <p:ext uri="{BB962C8B-B14F-4D97-AF65-F5344CB8AC3E}">
        <p14:creationId xmlns:p14="http://schemas.microsoft.com/office/powerpoint/2010/main" val="29171991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Tree>
    <p:extLst>
      <p:ext uri="{BB962C8B-B14F-4D97-AF65-F5344CB8AC3E}">
        <p14:creationId xmlns:p14="http://schemas.microsoft.com/office/powerpoint/2010/main" val="2608173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Discriminant analysis</a:t>
            </a:r>
          </a:p>
        </p:txBody>
      </p:sp>
      <p:sp>
        <p:nvSpPr>
          <p:cNvPr id="3" name="Text Placeholder 2"/>
          <p:cNvSpPr>
            <a:spLocks noGrp="1"/>
          </p:cNvSpPr>
          <p:nvPr>
            <p:ph type="body" idx="1"/>
          </p:nvPr>
        </p:nvSpPr>
        <p:spPr/>
        <p:txBody>
          <a:bodyPr/>
          <a:lstStyle/>
          <a:p>
            <a:r>
              <a:t>MANOVA turned around: predicting the group</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6087</TotalTime>
  <Words>6405</Words>
  <Application>Microsoft Office PowerPoint</Application>
  <PresentationFormat>Widescreen</PresentationFormat>
  <Paragraphs>617</Paragraphs>
  <Slides>84</Slides>
  <Notes>78</Notes>
  <HiddenSlides>21</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84</vt:i4>
      </vt:variant>
    </vt:vector>
  </HeadingPairs>
  <TitlesOfParts>
    <vt:vector size="95" baseType="lpstr">
      <vt:lpstr>Aptos</vt:lpstr>
      <vt:lpstr>Aptos Display</vt:lpstr>
      <vt:lpstr>Arial</vt:lpstr>
      <vt:lpstr>Cambria Math</vt:lpstr>
      <vt:lpstr>Consolas</vt:lpstr>
      <vt:lpstr>Courier New</vt:lpstr>
      <vt:lpstr>Lucida Console</vt:lpstr>
      <vt:lpstr>Symbol</vt:lpstr>
      <vt:lpstr>Wingdings</vt:lpstr>
      <vt:lpstr>Office Theme</vt:lpstr>
      <vt:lpstr>Equation</vt:lpstr>
      <vt:lpstr>Visualizing Multivariate Data and Models in R</vt:lpstr>
      <vt:lpstr>The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Measurement error for β1 also biases β2</vt:lpstr>
      <vt:lpstr>Added-variable plots show partial relationships</vt:lpstr>
      <vt:lpstr>Leverage and influence: car::influencePlot(model)</vt:lpstr>
      <vt:lpstr>Which observations drive the fit?</vt:lpstr>
      <vt:lpstr>Bias vs. Precision tradeoff</vt:lpstr>
      <vt:lpstr>From the t-test to Hotelling's T²</vt:lpstr>
      <vt:lpstr>The Hypothesis-Error plot framework</vt:lpstr>
      <vt:lpstr>MANOVA: the same sums of squares, now as matrices</vt:lpstr>
      <vt:lpstr>Canonical correlation in an HE plot</vt:lpstr>
      <vt:lpstr>Factorial designs: main effects and interactions</vt:lpstr>
      <vt:lpstr>MANCOVA: are the regressions the same across groups?</vt:lpstr>
      <vt:lpstr>Are the covariance matrices equal?</vt:lpstr>
      <vt:lpstr>Visualizing Box's M test</vt:lpstr>
      <vt:lpstr>Discriminant analysis</vt:lpstr>
      <vt:lpstr>Quadratic discriminant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49</cp:revision>
  <dcterms:created xsi:type="dcterms:W3CDTF">2026-10-06T18:00:03Z</dcterms:created>
  <dcterms:modified xsi:type="dcterms:W3CDTF">2026-10-17T20:05:05Z</dcterms:modified>
</cp:coreProperties>
</file>