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462" r:id="rId40"/>
    <p:sldId id="285" r:id="rId41"/>
    <p:sldId id="287" r:id="rId42"/>
    <p:sldId id="288" r:id="rId43"/>
    <p:sldId id="293" r:id="rId44"/>
    <p:sldId id="294" r:id="rId45"/>
    <p:sldId id="295" r:id="rId46"/>
    <p:sldId id="465" r:id="rId47"/>
    <p:sldId id="297" r:id="rId48"/>
    <p:sldId id="298" r:id="rId49"/>
    <p:sldId id="299" r:id="rId50"/>
    <p:sldId id="466" r:id="rId51"/>
    <p:sldId id="327" r:id="rId52"/>
    <p:sldId id="328" r:id="rId53"/>
    <p:sldId id="329" r:id="rId54"/>
    <p:sldId id="300" r:id="rId55"/>
    <p:sldId id="301" r:id="rId56"/>
    <p:sldId id="302" r:id="rId57"/>
    <p:sldId id="303" r:id="rId58"/>
    <p:sldId id="449" r:id="rId59"/>
    <p:sldId id="306" r:id="rId60"/>
    <p:sldId id="469" r:id="rId61"/>
    <p:sldId id="318" r:id="rId62"/>
    <p:sldId id="319" r:id="rId63"/>
    <p:sldId id="320" r:id="rId64"/>
    <p:sldId id="310" r:id="rId65"/>
    <p:sldId id="311" r:id="rId66"/>
    <p:sldId id="313" r:id="rId67"/>
    <p:sldId id="314" r:id="rId68"/>
    <p:sldId id="322" r:id="rId69"/>
    <p:sldId id="323" r:id="rId70"/>
    <p:sldId id="324" r:id="rId71"/>
    <p:sldId id="283" r:id="rId72"/>
    <p:sldId id="284" r:id="rId73"/>
    <p:sldId id="286" r:id="rId74"/>
    <p:sldId id="291" r:id="rId75"/>
    <p:sldId id="292" r:id="rId76"/>
    <p:sldId id="279" r:id="rId77"/>
    <p:sldId id="463"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a romance in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462"/>
            <p14:sldId id="285"/>
            <p14:sldId id="287"/>
            <p14:sldId id="288"/>
            <p14:sldId id="293"/>
            <p14:sldId id="294"/>
            <p14:sldId id="295"/>
            <p14:sldId id="465"/>
            <p14:sldId id="297"/>
          </p14:sldIdLst>
        </p14:section>
        <p14:section name="4. The HE plot framework" id="{19AF699C-459B-4008-BE93-C8454174BFDD}">
          <p14:sldIdLst>
            <p14:sldId id="298"/>
            <p14:sldId id="299"/>
            <p14:sldId id="466"/>
            <p14:sldId id="327"/>
            <p14:sldId id="328"/>
            <p14:sldId id="329"/>
            <p14:sldId id="300"/>
            <p14:sldId id="301"/>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3"/>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5" d="100"/>
          <a:sy n="75" d="100"/>
        </p:scale>
        <p:origin x="1602" y="78"/>
      </p:cViewPr>
      <p:guideLst/>
    </p:cSldViewPr>
  </p:slideViewPr>
  <p:notesTextViewPr>
    <p:cViewPr>
      <p:scale>
        <a:sx n="1" d="1"/>
        <a:sy n="1" d="1"/>
      </p:scale>
      <p:origin x="0" y="0"/>
    </p:cViewPr>
  </p:notesTextViewPr>
  <p:sorterViewPr>
    <p:cViewPr varScale="1">
      <p:scale>
        <a:sx n="100" d="100"/>
        <a:sy n="100" d="100"/>
      </p:scale>
      <p:origin x="0" y="-978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 the first time I’ve spoken publicly about the book</a:t>
            </a:r>
          </a:p>
          <a:p>
            <a:endParaRPr lang="en-CA" dirty="0"/>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all the R code.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are the running example.</a:t>
            </a:r>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interpolating between the PCA and t-SNE solutions for the Diabetes data.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700245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endParaRPr lang="en-CA" dirty="0"/>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50</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58</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60</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distance plot is one of the figures the organizer singled out. School data model: reading, mathematics and self-esteem on five predictors, 70 schools. Distance plot (heplots::distancePlot) and influence plot (mvinfluence::influencePlot), re-drawn as a matched pair with the same cases in the same colors (talks/R/school-diagnostics.R). 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77</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2.png"/><Relationship Id="rId5" Type="http://schemas.microsoft.com/office/2007/relationships/hdphoto" Target="../media/hdphoto1.wdp"/><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gif"/><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54.emf"/><Relationship Id="rId5" Type="http://schemas.openxmlformats.org/officeDocument/2006/relationships/image" Target="../media/image53.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54.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61.gif"/><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63.gif"/><Relationship Id="rId4" Type="http://schemas.openxmlformats.org/officeDocument/2006/relationships/image" Target="../media/image62.gif"/></Relationships>
</file>

<file path=ppt/slides/_rels/slide39.xml.rels><?xml version="1.0" encoding="UTF-8" standalone="yes"?>
<Relationships xmlns="http://schemas.openxmlformats.org/package/2006/relationships"><Relationship Id="rId3" Type="http://schemas.openxmlformats.org/officeDocument/2006/relationships/image" Target="../media/image63.gif"/><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4.emf"/></Relationships>
</file>

<file path=ppt/slides/_rels/slide4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2.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4.xml"/><Relationship Id="rId1" Type="http://schemas.openxmlformats.org/officeDocument/2006/relationships/slideLayout" Target="../slideLayouts/slideLayout6.xml"/><Relationship Id="rId5" Type="http://schemas.openxmlformats.org/officeDocument/2006/relationships/image" Target="../media/image72.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5.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8" Type="http://schemas.openxmlformats.org/officeDocument/2006/relationships/image" Target="../media/image80.pn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notesSlide" Target="../notesSlides/notesSlide47.xml"/><Relationship Id="rId1" Type="http://schemas.openxmlformats.org/officeDocument/2006/relationships/slideLayout" Target="../slideLayouts/slideLayout6.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5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2.png"/></Relationships>
</file>

<file path=ppt/slides/_rels/slide5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85.wmf"/><Relationship Id="rId5" Type="http://schemas.openxmlformats.org/officeDocument/2006/relationships/oleObject" Target="../embeddings/oleObject1.bin"/><Relationship Id="rId4" Type="http://schemas.openxmlformats.org/officeDocument/2006/relationships/image" Target="../media/image84.png"/></Relationships>
</file>

<file path=ppt/slides/_rels/slide53.xml.rels><?xml version="1.0" encoding="UTF-8" standalone="yes"?>
<Relationships xmlns="http://schemas.openxmlformats.org/package/2006/relationships"><Relationship Id="rId3" Type="http://schemas.openxmlformats.org/officeDocument/2006/relationships/image" Target="../media/image82.png"/><Relationship Id="rId7" Type="http://schemas.openxmlformats.org/officeDocument/2006/relationships/image" Target="../media/image88.wmf"/><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87.png"/><Relationship Id="rId4" Type="http://schemas.openxmlformats.org/officeDocument/2006/relationships/image" Target="../media/image86.png"/></Relationships>
</file>

<file path=ppt/slides/_rels/slide5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61.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100.png"/></Relationships>
</file>

<file path=ppt/slides/_rels/slide6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5.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70.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1.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7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informative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11</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12</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13</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16</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28</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32</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35</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36</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sp>
        <p:nvSpPr>
          <p:cNvPr id="3" name="Slide Number Placeholder 2"/>
          <p:cNvSpPr>
            <a:spLocks noGrp="1"/>
          </p:cNvSpPr>
          <p:nvPr>
            <p:ph type="sldNum" sz="quarter" idx="12"/>
          </p:nvPr>
        </p:nvSpPr>
        <p:spPr/>
        <p:txBody>
          <a:bodyPr/>
          <a:lstStyle/>
          <a:p>
            <a:fld id="{621225AB-15B9-4C79-A121-04D1DC7E2307}" type="slidenum">
              <a:rPr lang="en-US" smtClean="0"/>
              <a:t>38</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39</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Tree>
    <p:extLst>
      <p:ext uri="{BB962C8B-B14F-4D97-AF65-F5344CB8AC3E}">
        <p14:creationId xmlns:p14="http://schemas.microsoft.com/office/powerpoint/2010/main" val="33486278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46</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50</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3" name="Slide Number Placeholder 2"/>
          <p:cNvSpPr>
            <a:spLocks noGrp="1"/>
          </p:cNvSpPr>
          <p:nvPr>
            <p:ph type="sldNum" sz="quarter" idx="12"/>
          </p:nvPr>
        </p:nvSpPr>
        <p:spPr/>
        <p:txBody>
          <a:bodyPr/>
          <a:lstStyle/>
          <a:p>
            <a:fld id="{810B7604-93B8-4136-B9BD-D1CE89EE20B0}" type="slidenum">
              <a:rPr lang="en-US" smtClean="0"/>
              <a:t>58</a:t>
            </a:fld>
            <a:endParaRPr lang="en-US"/>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60</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Tree>
    <p:extLst>
      <p:ext uri="{BB962C8B-B14F-4D97-AF65-F5344CB8AC3E}">
        <p14:creationId xmlns:p14="http://schemas.microsoft.com/office/powerpoint/2010/main" val="25517956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extLst>
      <p:ext uri="{BB962C8B-B14F-4D97-AF65-F5344CB8AC3E}">
        <p14:creationId xmlns:p14="http://schemas.microsoft.com/office/powerpoint/2010/main" val="278782021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77</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50268914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5865</TotalTime>
  <Words>6370</Words>
  <Application>Microsoft Office PowerPoint</Application>
  <PresentationFormat>Widescreen</PresentationFormat>
  <Paragraphs>613</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Measurement error for β1 also biases β2</vt:lpstr>
      <vt:lpstr>Added-variable plots show partial relationships</vt:lpstr>
      <vt:lpstr>Leverage and influence: car::influencePlot(model)</vt:lpstr>
      <vt:lpstr>Which observations drive the fit?</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From the t-test to Hotelling's T²</vt:lpstr>
      <vt:lpstr>HE plots: Visual overview</vt:lpstr>
      <vt:lpstr>Data  Data ellipses  HE plot</vt:lpstr>
      <vt:lpstr>The H ellipse</vt:lpstr>
      <vt:lpstr>The E ellipse</vt:lpstr>
      <vt:lpstr>The Hypothesis-Error plot framework</vt:lpstr>
      <vt:lpstr>MANOVA: the same sums of squares, now as matrices</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Bias vs. Precision tradeoff</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47</cp:revision>
  <dcterms:created xsi:type="dcterms:W3CDTF">2026-10-06T18:00:03Z</dcterms:created>
  <dcterms:modified xsi:type="dcterms:W3CDTF">2026-10-16T20:44:06Z</dcterms:modified>
</cp:coreProperties>
</file>