
<file path=[Content_Types].xml><?xml version="1.0" encoding="utf-8"?>
<Types xmlns="http://schemas.openxmlformats.org/package/2006/content-types">
  <Default Extension="bin" ContentType="application/vnd.openxmlformats-officedocument.oleObject"/>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3"/>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473" r:id="rId18"/>
    <p:sldId id="267" r:id="rId19"/>
    <p:sldId id="474" r:id="rId20"/>
    <p:sldId id="268" r:id="rId21"/>
    <p:sldId id="269" r:id="rId22"/>
    <p:sldId id="270" r:id="rId23"/>
    <p:sldId id="271" r:id="rId24"/>
    <p:sldId id="273" r:id="rId25"/>
    <p:sldId id="467" r:id="rId26"/>
    <p:sldId id="274" r:id="rId27"/>
    <p:sldId id="275" r:id="rId28"/>
    <p:sldId id="276" r:id="rId29"/>
    <p:sldId id="468" r:id="rId30"/>
    <p:sldId id="277" r:id="rId31"/>
    <p:sldId id="278" r:id="rId32"/>
    <p:sldId id="282" r:id="rId33"/>
    <p:sldId id="471" r:id="rId34"/>
    <p:sldId id="272" r:id="rId35"/>
    <p:sldId id="281" r:id="rId36"/>
    <p:sldId id="472" r:id="rId37"/>
    <p:sldId id="460" r:id="rId38"/>
    <p:sldId id="289" r:id="rId39"/>
    <p:sldId id="461" r:id="rId40"/>
    <p:sldId id="293" r:id="rId41"/>
    <p:sldId id="294" r:id="rId42"/>
    <p:sldId id="295" r:id="rId43"/>
    <p:sldId id="465" r:id="rId44"/>
    <p:sldId id="297" r:id="rId45"/>
    <p:sldId id="298" r:id="rId46"/>
    <p:sldId id="466" r:id="rId47"/>
    <p:sldId id="327" r:id="rId48"/>
    <p:sldId id="328" r:id="rId49"/>
    <p:sldId id="329" r:id="rId50"/>
    <p:sldId id="302" r:id="rId51"/>
    <p:sldId id="303" r:id="rId52"/>
    <p:sldId id="449" r:id="rId53"/>
    <p:sldId id="306" r:id="rId54"/>
    <p:sldId id="469" r:id="rId55"/>
    <p:sldId id="318" r:id="rId56"/>
    <p:sldId id="319" r:id="rId57"/>
    <p:sldId id="320" r:id="rId58"/>
    <p:sldId id="310" r:id="rId59"/>
    <p:sldId id="311" r:id="rId60"/>
    <p:sldId id="313" r:id="rId61"/>
    <p:sldId id="314" r:id="rId62"/>
    <p:sldId id="322" r:id="rId63"/>
    <p:sldId id="323" r:id="rId64"/>
    <p:sldId id="324" r:id="rId65"/>
    <p:sldId id="283" r:id="rId66"/>
    <p:sldId id="284" r:id="rId67"/>
    <p:sldId id="286" r:id="rId68"/>
    <p:sldId id="291" r:id="rId69"/>
    <p:sldId id="292" r:id="rId70"/>
    <p:sldId id="279" r:id="rId71"/>
    <p:sldId id="462" r:id="rId72"/>
    <p:sldId id="285" r:id="rId73"/>
    <p:sldId id="287" r:id="rId74"/>
    <p:sldId id="288" r:id="rId75"/>
    <p:sldId id="301" r:id="rId76"/>
    <p:sldId id="307" r:id="rId77"/>
    <p:sldId id="308" r:id="rId78"/>
    <p:sldId id="309" r:id="rId79"/>
    <p:sldId id="315" r:id="rId80"/>
    <p:sldId id="316" r:id="rId81"/>
    <p:sldId id="321" r:id="rId8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0. Why a romance?"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473"/>
            <p14:sldId id="267"/>
            <p14:sldId id="474"/>
            <p14:sldId id="268"/>
            <p14:sldId id="269"/>
            <p14:sldId id="270"/>
            <p14:sldId id="271"/>
          </p14:sldIdLst>
        </p14:section>
        <p14:section name="2. Multivariate juicers and Waldo space" id="{DA27F9D7-637D-4DEC-ADC4-C5706219A457}">
          <p14:sldIdLst>
            <p14:sldId id="273"/>
            <p14:sldId id="467"/>
            <p14:sldId id="274"/>
            <p14:sldId id="275"/>
            <p14:sldId id="276"/>
            <p14:sldId id="468"/>
            <p14:sldId id="277"/>
            <p14:sldId id="278"/>
          </p14:sldIdLst>
        </p14:section>
        <p14:section name="3. Elliptical insights" id="{EAA495C8-47F8-453B-93BF-84216DBE3542}">
          <p14:sldIdLst>
            <p14:sldId id="282"/>
            <p14:sldId id="471"/>
            <p14:sldId id="272"/>
            <p14:sldId id="281"/>
            <p14:sldId id="472"/>
            <p14:sldId id="460"/>
            <p14:sldId id="289"/>
            <p14:sldId id="461"/>
            <p14:sldId id="293"/>
            <p14:sldId id="294"/>
            <p14:sldId id="295"/>
            <p14:sldId id="465"/>
            <p14:sldId id="297"/>
          </p14:sldIdLst>
        </p14:section>
        <p14:section name="4. The HE plot framework" id="{19AF699C-459B-4008-BE93-C8454174BFDD}">
          <p14:sldIdLst>
            <p14:sldId id="298"/>
            <p14:sldId id="466"/>
            <p14:sldId id="327"/>
            <p14:sldId id="328"/>
            <p14:sldId id="329"/>
            <p14:sldId id="302"/>
            <p14:sldId id="303"/>
            <p14:sldId id="449"/>
            <p14:sldId id="306"/>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92"/>
            <p14:sldId id="279"/>
            <p14:sldId id="462"/>
            <p14:sldId id="285"/>
            <p14:sldId id="287"/>
            <p14:sldId id="288"/>
            <p14:sldId id="301"/>
            <p14:sldId id="307"/>
            <p14:sldId id="308"/>
            <p14:sldId id="309"/>
            <p14:sldId id="315"/>
            <p14:sldId id="316"/>
            <p14:sldId id="32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E8D2"/>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3267" autoAdjust="0"/>
  </p:normalViewPr>
  <p:slideViewPr>
    <p:cSldViewPr snapToGrid="0">
      <p:cViewPr varScale="1">
        <p:scale>
          <a:sx n="74" d="100"/>
          <a:sy n="74" d="100"/>
        </p:scale>
        <p:origin x="786" y="72"/>
      </p:cViewPr>
      <p:guideLst/>
    </p:cSldViewPr>
  </p:slideViewPr>
  <p:notesTextViewPr>
    <p:cViewPr>
      <p:scale>
        <a:sx n="1" d="1"/>
        <a:sy n="1" d="1"/>
      </p:scale>
      <p:origin x="0" y="0"/>
    </p:cViewPr>
  </p:notesTextViewPr>
  <p:sorterViewPr>
    <p:cViewPr varScale="1">
      <p:scale>
        <a:sx n="100" d="100"/>
        <a:sy n="100" d="100"/>
      </p:scale>
      <p:origin x="0" y="-30498"/>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I’m so glad to be with you here today. </a:t>
            </a:r>
          </a:p>
          <a:p>
            <a:r>
              <a:rPr lang="en-CA" dirty="0"/>
              <a:t>I just returned from Leuven, where I was on the jury for the </a:t>
            </a:r>
            <a:r>
              <a:rPr lang="en-CA" dirty="0" err="1"/>
              <a:t>Rousseeuw</a:t>
            </a:r>
            <a:r>
              <a:rPr lang="en-CA" dirty="0"/>
              <a:t> Prize in Statistics, which was happily awarded to </a:t>
            </a:r>
            <a:r>
              <a:rPr lang="en-CA" b="1" dirty="0"/>
              <a:t>The R Project </a:t>
            </a:r>
            <a:r>
              <a:rPr lang="en-CA" dirty="0"/>
              <a:t>in Statistical Computing &amp; Graphics</a:t>
            </a:r>
          </a:p>
          <a:p>
            <a:r>
              <a:rPr lang="en-CA" dirty="0"/>
              <a:t>As a bonus, daughter’s family lives in Utrecht, so I was happy to see them all.</a:t>
            </a:r>
          </a:p>
          <a:p>
            <a:r>
              <a:rPr lang="en-CA" dirty="0"/>
              <a:t>And now, I’ll give the first public talk about my current book.</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a:t>
            </a:r>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Surgeons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t>
            </a:r>
            <a:r>
              <a:rPr lang="en-CA" dirty="0"/>
              <a:t>put </a:t>
            </a:r>
            <a:r>
              <a:rPr dirty="0"/>
              <a:t>all the R code</a:t>
            </a:r>
            <a:r>
              <a:rPr lang="en-CA" dirty="0"/>
              <a:t> online.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Roadmap</a:t>
            </a:r>
            <a:r>
              <a:rPr lang="en-CA" dirty="0"/>
              <a:t>:</a:t>
            </a:r>
            <a:r>
              <a:rPr dirty="0"/>
              <a:t> </a:t>
            </a:r>
            <a:r>
              <a:rPr lang="en-CA" dirty="0"/>
              <a:t>T</a:t>
            </a:r>
            <a:r>
              <a:rPr dirty="0"/>
              <a:t>he book</a:t>
            </a:r>
            <a:r>
              <a:rPr lang="en-CA" dirty="0"/>
              <a:t> follows a linear path</a:t>
            </a:r>
            <a:r>
              <a:rPr dirty="0"/>
              <a:t>: plots of data, then models with one response, then models with many responses. </a:t>
            </a:r>
            <a:endParaRPr lang="en-CA" dirty="0"/>
          </a:p>
          <a:p>
            <a:r>
              <a:rPr lang="en-CA" dirty="0"/>
              <a:t>Today, I want to talk about the main themes of the book.</a:t>
            </a:r>
          </a:p>
          <a:p>
            <a:r>
              <a:rPr lang="en-CA" dirty="0"/>
              <a:t>Themes: </a:t>
            </a:r>
          </a:p>
          <a:p>
            <a:pPr marL="171450" indent="-171450">
              <a:buFont typeface="Arial" panose="020B0604020202020204" pitchFamily="34" charset="0"/>
              <a:buChar char="•"/>
            </a:pPr>
            <a:r>
              <a:rPr dirty="0"/>
              <a:t>The ellipse is the recurring </a:t>
            </a:r>
            <a:r>
              <a:rPr lang="en-CA" dirty="0"/>
              <a:t>visual </a:t>
            </a:r>
            <a:r>
              <a:rPr dirty="0"/>
              <a:t>device</a:t>
            </a:r>
            <a:r>
              <a:rPr lang="en-CA" dirty="0"/>
              <a:t> I use to understand multivariate phenomena. </a:t>
            </a:r>
          </a:p>
          <a:p>
            <a:pPr marL="171450" indent="-171450">
              <a:buFont typeface="Arial" panose="020B0604020202020204" pitchFamily="34" charset="0"/>
              <a:buChar char="•"/>
            </a:pPr>
            <a:r>
              <a:rPr lang="en-CA" dirty="0"/>
              <a:t>I’ll try to show how a wide variety of multivariate problems can be understood with insightful visual tools.</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a:p>
            <a:r>
              <a:rPr lang="en-CA" dirty="0"/>
              <a:t>Our goal in data analysis &amp; visualization should be to help understand scientific phenomena</a:t>
            </a:r>
          </a:p>
          <a:p>
            <a:r>
              <a:rPr lang="en-CA" dirty="0"/>
              <a:t>Yet our data </a:t>
            </a:r>
            <a:r>
              <a:rPr lang="en-CA" dirty="0" err="1"/>
              <a:t>ofen</a:t>
            </a:r>
            <a:r>
              <a:rPr lang="en-CA" dirty="0"/>
              <a:t> live in </a:t>
            </a:r>
            <a:r>
              <a:rPr lang="en-CA" dirty="0" err="1"/>
              <a:t>Spaceland</a:t>
            </a:r>
            <a:r>
              <a:rPr lang="en-CA" dirty="0"/>
              <a:t>, sometimes high-D. </a:t>
            </a:r>
          </a:p>
          <a:p>
            <a:r>
              <a:rPr lang="en-CA" dirty="0"/>
              <a:t>But, we are forced to plot them in 2D space.</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a:t>
            </a:r>
            <a:endParaRPr lang="en-CA" dirty="0"/>
          </a:p>
          <a:p>
            <a:r>
              <a:rPr dirty="0"/>
              <a:t>The </a:t>
            </a:r>
            <a:r>
              <a:rPr lang="en-CA" dirty="0"/>
              <a:t>P</a:t>
            </a:r>
            <a:r>
              <a:rPr dirty="0" err="1"/>
              <a:t>ollen</a:t>
            </a:r>
            <a:r>
              <a:rPr dirty="0"/>
              <a:t> data</a:t>
            </a:r>
            <a:r>
              <a:rPr lang="en-CA" dirty="0"/>
              <a:t>set contains 5 variables measured on grains of pollen. It was created for the 1986 JSM Data Exposition:</a:t>
            </a:r>
          </a:p>
          <a:p>
            <a:r>
              <a:rPr lang="en-CA" dirty="0"/>
              <a:t>The invitation was “Show your stuff!”, “Find something interesting here”.</a:t>
            </a:r>
          </a:p>
          <a:p>
            <a:r>
              <a:rPr lang="en-CA" dirty="0"/>
              <a:t>It was a challenge, because, to most graphic methods of the day, it</a:t>
            </a:r>
            <a:r>
              <a:rPr dirty="0"/>
              <a:t> look</a:t>
            </a:r>
            <a:r>
              <a:rPr lang="en-CA" dirty="0"/>
              <a:t>s</a:t>
            </a:r>
            <a:r>
              <a:rPr dirty="0"/>
              <a:t> like a featureless cloud </a:t>
            </a:r>
            <a:r>
              <a:rPr lang="en-CA" dirty="0"/>
              <a:t>of points.</a:t>
            </a:r>
          </a:p>
          <a:p>
            <a:r>
              <a:rPr lang="en-CA" dirty="0"/>
              <a:t>The secret hidden there was only revealed from one orientation in 5D space when </a:t>
            </a:r>
            <a:r>
              <a:rPr dirty="0"/>
              <a:t>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The first act in understanding multivariate data is to be able to “see” it</a:t>
            </a:r>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Palmer penguins </a:t>
            </a:r>
            <a:r>
              <a:rPr lang="en-CA" dirty="0"/>
              <a:t>data is a main</a:t>
            </a:r>
            <a:r>
              <a:rPr dirty="0"/>
              <a:t> running example</a:t>
            </a:r>
            <a:r>
              <a:rPr lang="en-CA" dirty="0"/>
              <a:t> in the book</a:t>
            </a:r>
          </a:p>
          <a:p>
            <a:pPr marL="0" marR="0" lvl="0" indent="0" algn="l" defTabSz="914400" rtl="0" eaLnBrk="1" fontAlgn="auto" latinLnBrk="0" hangingPunct="1">
              <a:lnSpc>
                <a:spcPct val="100000"/>
              </a:lnSpc>
              <a:spcBef>
                <a:spcPts val="0"/>
              </a:spcBef>
              <a:spcAft>
                <a:spcPts val="0"/>
              </a:spcAft>
              <a:buClrTx/>
              <a:buSzTx/>
              <a:buFontTx/>
              <a:buNone/>
              <a:tabLst/>
              <a:defRPr/>
            </a:pPr>
            <a:r>
              <a:rPr lang="en-CA" dirty="0"/>
              <a:t>(The classic iris data seems to have been eclipsed b/c of Fisher’s association with the eugenics movement because often called “Fisher’s Iris data” even though it came from Edgar Anderson.</a:t>
            </a:r>
          </a:p>
          <a:p>
            <a:endParaRPr lang="en-CA" dirty="0"/>
          </a:p>
          <a:p>
            <a:r>
              <a:rPr dirty="0"/>
              <a:t>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To illustrate what I mean when I say “sufficient visual summary”– let’s start with an ordinary scatterplot…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If you’re worried about the assumption of bivariate normality in these plots, there are several non-parametric alternatives, just for the asking.</a:t>
            </a:r>
          </a:p>
        </p:txBody>
      </p:sp>
    </p:spTree>
    <p:extLst>
      <p:ext uri="{BB962C8B-B14F-4D97-AF65-F5344CB8AC3E}">
        <p14:creationId xmlns:p14="http://schemas.microsoft.com/office/powerpoint/2010/main" val="18266391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t>
            </a:r>
            <a:r>
              <a:rPr lang="en-CA" dirty="0"/>
              <a:t>Do this quick</a:t>
            </a:r>
            <a:r>
              <a:rPr dirty="0"/>
              <a:t>]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Yet another idea is to animate a sequence of 2D projections, on a travel through </a:t>
            </a:r>
            <a:r>
              <a:rPr lang="en-CA" dirty="0" err="1"/>
              <a:t>nD</a:t>
            </a:r>
            <a:r>
              <a:rPr lang="en-CA" dirty="0"/>
              <a:t> space</a:t>
            </a:r>
          </a:p>
          <a:p>
            <a:r>
              <a:rPr dirty="0"/>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25</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29</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Animation (plays in slide show mode): interpolating between the PCA and t-SNE solutions for the Diabetes data. </a:t>
            </a: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33</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a:t>
            </a:r>
            <a:endParaRPr lang="en-CA" dirty="0"/>
          </a:p>
          <a:p>
            <a:r>
              <a:rPr dirty="0"/>
              <a:t>Two of them, nicknamed </a:t>
            </a:r>
            <a:endParaRPr lang="en-CA" dirty="0"/>
          </a:p>
          <a:p>
            <a:r>
              <a:rPr dirty="0"/>
              <a:t>Cyrano </a:t>
            </a:r>
            <a:r>
              <a:rPr lang="en-CA" dirty="0"/>
              <a:t>– really long billed Chinstrap</a:t>
            </a:r>
          </a:p>
          <a:p>
            <a:r>
              <a:rPr dirty="0"/>
              <a:t>Hook Nose</a:t>
            </a:r>
            <a:r>
              <a:rPr lang="en-CA" dirty="0"/>
              <a:t> – largest curvature</a:t>
            </a:r>
          </a:p>
          <a:p>
            <a:r>
              <a:rPr lang="en-CA" dirty="0"/>
              <a:t>Bird 35 doesn’t seem at all unusual for an Adelie</a:t>
            </a:r>
          </a:p>
          <a:p>
            <a:endParaRPr lang="en-CA" dirty="0"/>
          </a:p>
          <a:p>
            <a:r>
              <a:rPr lang="en-CA" dirty="0"/>
              <a:t>I’ll follow these birds in </a:t>
            </a:r>
            <a:r>
              <a:rPr dirty="0"/>
              <a:t>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36</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37</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Animations (play in slide show mode), with increasing measurement error added to Stress.</a:t>
            </a:r>
          </a:p>
          <a:p>
            <a:r>
              <a:t>Left, data space: the data ellipse for Heart and Stress gets wider, and the slope flattens.</a:t>
            </a:r>
          </a:p>
          <a:p>
            <a:r>
              <a:t>Middle, beta space for the simple regression: the coefficient for Stress is attenuated toward 0.</a:t>
            </a:r>
          </a:p>
          <a:p>
            <a:r>
              <a:t>OK, we understand that now. But, at the same time, in the model with both predictors (right), the effect of coffee becomes larger: it moves toward its marginal value, the slope you get ignoring Stress.</a:t>
            </a:r>
          </a:p>
          <a:p>
            <a:r>
              <a:t>Elliptical insight: increasing error in x2 drives the coefficient for x1 toward the marginal model. You can also see that the standard error of the Coffee coefficient decreases as error in Stress increases.</a:t>
            </a:r>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A visual approach also helps to understand problems of collinearity--- high correlations among predictors--- in linear models</a:t>
            </a:r>
          </a:p>
          <a:p>
            <a:r>
              <a:rPr dirty="0"/>
              <a:t>The standard collinearity diagnostics table hides the important information. </a:t>
            </a:r>
            <a:endParaRPr lang="en-CA" dirty="0"/>
          </a:p>
          <a:p>
            <a:pPr marL="171450" indent="-171450">
              <a:buFont typeface="Arial" panose="020B0604020202020204" pitchFamily="34" charset="0"/>
              <a:buChar char="•"/>
            </a:pPr>
            <a:r>
              <a:rPr lang="en-CA" dirty="0"/>
              <a:t>A</a:t>
            </a:r>
            <a:r>
              <a:rPr dirty="0"/>
              <a:t> </a:t>
            </a:r>
            <a:r>
              <a:rPr dirty="0" err="1"/>
              <a:t>tableplot</a:t>
            </a:r>
            <a:r>
              <a:rPr dirty="0"/>
              <a:t> makes </a:t>
            </a:r>
            <a:r>
              <a:rPr lang="en-CA" dirty="0"/>
              <a:t>what you should attend to</a:t>
            </a:r>
            <a:r>
              <a:rPr dirty="0"/>
              <a:t> stand out</a:t>
            </a:r>
            <a:r>
              <a:rPr lang="en-CA" dirty="0"/>
              <a:t>– ordered by condition indices</a:t>
            </a:r>
          </a:p>
          <a:p>
            <a:endParaRPr lang="en-CA" dirty="0"/>
          </a:p>
          <a:p>
            <a:r>
              <a:rPr lang="en-CA" dirty="0"/>
              <a:t>A </a:t>
            </a:r>
            <a:r>
              <a:rPr dirty="0"/>
              <a:t>collinearity biplot shows which variables are involved</a:t>
            </a:r>
            <a:r>
              <a:rPr lang="en-CA" dirty="0"/>
              <a:t> and possible outliers appear in Waldo space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Instead of plotting point estimates, we can see effects of ridge shrinkage by plotting bivariate ellipsoids for pairs of parameters</a:t>
            </a:r>
          </a:p>
        </p:txBody>
      </p:sp>
      <p:sp>
        <p:nvSpPr>
          <p:cNvPr id="4" name="Slide Number Placeholder 3"/>
          <p:cNvSpPr>
            <a:spLocks noGrp="1"/>
          </p:cNvSpPr>
          <p:nvPr>
            <p:ph type="sldNum" sz="quarter" idx="5"/>
          </p:nvPr>
        </p:nvSpPr>
        <p:spPr/>
        <p:txBody>
          <a:bodyPr/>
          <a:lstStyle/>
          <a:p>
            <a:fld id="{33E20828-1A1A-4225-BE3A-F8540A5E6146}" type="slidenum">
              <a:rPr lang="en-US" smtClean="0"/>
              <a:t>43</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Transforming the predictors to PCA space makes them uncorrelated.</a:t>
            </a:r>
          </a:p>
          <a:p>
            <a:r>
              <a:rPr dirty="0"/>
              <a:t>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46</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54</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The distance plot is one of the figures the organizer singled out. School data model: reading, mathematics and self-esteem on five predictors, 70 schools. Distance plot (</a:t>
            </a:r>
            <a:r>
              <a:rPr dirty="0" err="1"/>
              <a:t>heplots</a:t>
            </a:r>
            <a:r>
              <a:rPr dirty="0"/>
              <a:t>::</a:t>
            </a:r>
            <a:r>
              <a:rPr dirty="0" err="1"/>
              <a:t>distancePlot</a:t>
            </a:r>
            <a:r>
              <a:rPr dirty="0"/>
              <a:t>) and influence plot (</a:t>
            </a:r>
            <a:r>
              <a:rPr dirty="0" err="1"/>
              <a:t>mvinfluence</a:t>
            </a:r>
            <a:r>
              <a:rPr dirty="0"/>
              <a:t>::</a:t>
            </a:r>
            <a:r>
              <a:rPr dirty="0" err="1"/>
              <a:t>influencePlot</a:t>
            </a:r>
            <a:r>
              <a:rPr dirty="0"/>
              <a:t>), re-drawn as a matched pair with the same cases in the same colors (talks/R/school-</a:t>
            </a:r>
            <a:r>
              <a:rPr dirty="0" err="1"/>
              <a:t>diagnostics.R</a:t>
            </a:r>
            <a:r>
              <a:rPr dirty="0"/>
              <a:t>). </a:t>
            </a:r>
            <a:endParaRPr lang="en-CA" dirty="0"/>
          </a:p>
          <a:p>
            <a:r>
              <a:rPr dirty="0"/>
              <a:t>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79397345"/>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71</a:t>
            </a:fld>
            <a:endParaRPr lang="en-US"/>
          </a:p>
        </p:txBody>
      </p:sp>
    </p:spTree>
    <p:extLst>
      <p:ext uri="{BB962C8B-B14F-4D97-AF65-F5344CB8AC3E}">
        <p14:creationId xmlns:p14="http://schemas.microsoft.com/office/powerpoint/2010/main" val="3859027723"/>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288792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766928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2651810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312367673"/>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rgbClr val="2F3B52"/>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Only" preserve="1">
  <p:cSld name="Title Only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twoObj" preserve="1">
  <p:cSld name="Two Content · sec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1F3864">
              <a:alpha val="22000"/>
            </a:srgbClr>
          </a:solidFill>
          <a:ln w="19050">
            <a:solidFill>
              <a:srgbClr val="1F3864">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itleOnly" preserve="1">
  <p:cSld name="Title Only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obj" preserve="1">
  <p:cSld name="Title and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Obj" preserve="1">
  <p:cSld name="Two Content · sec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E5EAA">
              <a:alpha val="22000"/>
            </a:srgbClr>
          </a:solidFill>
          <a:ln w="19050">
            <a:solidFill>
              <a:srgbClr val="2E5EAA">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Title and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twoObj" preserve="1">
  <p:cSld name="Two Content · sec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008080">
              <a:alpha val="22000"/>
            </a:srgbClr>
          </a:solidFill>
          <a:ln w="19050">
            <a:solidFill>
              <a:srgbClr val="00808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itleOnly" preserve="1">
  <p:cSld name="Title Only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obj" preserve="1">
  <p:cSld name="Title and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woObj" preserve="1">
  <p:cSld name="Two Content · sec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267342">
              <a:alpha val="22000"/>
            </a:srgbClr>
          </a:solidFill>
          <a:ln w="19050">
            <a:solidFill>
              <a:srgbClr val="267342">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itleOnly" preserve="1">
  <p:cSld name="Title Only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 preserve="1">
  <p:cSld name="Title and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twoObj" preserve="1">
  <p:cSld name="Two Content · sec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CC6600">
              <a:alpha val="22000"/>
            </a:srgbClr>
          </a:solidFill>
          <a:ln w="19050">
            <a:solidFill>
              <a:srgbClr val="CC6600">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titleOnly" preserve="1">
  <p:cSld name="Title Only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obj" preserve="1">
  <p:cSld name="Title and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obj" preserve="1">
  <p:cSld name="Title and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15101161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woObj" preserve="1">
  <p:cSld name="Two Content · sec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A33B2B">
              <a:alpha val="22000"/>
            </a:srgbClr>
          </a:solidFill>
          <a:ln w="19050">
            <a:solidFill>
              <a:srgbClr val="A33B2B">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twoObj" preserve="1">
  <p:cSld name="Two Content · sec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a:xfrm>
            <a:off x="609600" y="274320"/>
            <a:ext cx="10972800" cy="777240"/>
          </a:xfrm>
          <a:prstGeom prst="roundRect">
            <a:avLst>
              <a:gd name="adj" fmla="val 18000"/>
            </a:avLst>
          </a:prstGeom>
          <a:solidFill>
            <a:srgbClr val="D4AF37">
              <a:alpha val="22000"/>
            </a:srgbClr>
          </a:solidFill>
          <a:ln w="19050">
            <a:solidFill>
              <a:srgbClr val="D4AF37">
                <a:alpha val="60000"/>
              </a:srgbClr>
            </a:solidFill>
          </a:ln>
        </p:spPr>
        <p:txBody>
          <a:bodyPr/>
          <a:lstStyle>
            <a:lvl1pPr>
              <a:defRPr>
                <a:solidFill>
                  <a:schemeClr val="tx1"/>
                </a:solidFill>
              </a:defRPr>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2026-10-21</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114759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theme" Target="../theme/theme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2026-10-21</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8" r:id="rId29"/>
    <p:sldLayoutId id="2147483677" r:id="rId30"/>
    <p:sldLayoutId id="2147483679" r:id="rId3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1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1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1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1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1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1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3.xml"/><Relationship Id="rId5" Type="http://schemas.openxmlformats.org/officeDocument/2006/relationships/image" Target="../media/image21.png"/><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1.xml"/><Relationship Id="rId1" Type="http://schemas.openxmlformats.org/officeDocument/2006/relationships/slideLayout" Target="../slideLayouts/slideLayout16.xml"/></Relationships>
</file>

<file path=ppt/slides/_rels/slide12.xml.rels><?xml version="1.0" encoding="UTF-8" standalone="yes"?>
<Relationships xmlns="http://schemas.openxmlformats.org/package/2006/relationships"><Relationship Id="rId3" Type="http://schemas.openxmlformats.org/officeDocument/2006/relationships/image" Target="../media/image23.jpeg"/><Relationship Id="rId2" Type="http://schemas.openxmlformats.org/officeDocument/2006/relationships/notesSlide" Target="../notesSlides/notesSlide12.xml"/><Relationship Id="rId1" Type="http://schemas.openxmlformats.org/officeDocument/2006/relationships/slideLayout" Target="../slideLayouts/slideLayout16.xml"/></Relationships>
</file>

<file path=ppt/slides/_rels/slide13.xml.rels><?xml version="1.0" encoding="UTF-8" standalone="yes"?>
<Relationships xmlns="http://schemas.openxmlformats.org/package/2006/relationships"><Relationship Id="rId3" Type="http://schemas.openxmlformats.org/officeDocument/2006/relationships/image" Target="../media/image24.jpeg"/><Relationship Id="rId2" Type="http://schemas.openxmlformats.org/officeDocument/2006/relationships/notesSlide" Target="../notesSlides/notesSlide13.xml"/><Relationship Id="rId1" Type="http://schemas.openxmlformats.org/officeDocument/2006/relationships/slideLayout" Target="../slideLayouts/slideLayout16.xml"/><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4.xml"/><Relationship Id="rId1" Type="http://schemas.openxmlformats.org/officeDocument/2006/relationships/slideLayout" Target="../slideLayouts/slideLayout16.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15.xml"/><Relationship Id="rId5" Type="http://schemas.openxmlformats.org/officeDocument/2006/relationships/image" Target="../media/image20.png"/><Relationship Id="rId4" Type="http://schemas.openxmlformats.org/officeDocument/2006/relationships/image" Target="../media/image28.png"/></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16.xml"/><Relationship Id="rId1" Type="http://schemas.openxmlformats.org/officeDocument/2006/relationships/slideLayout" Target="../slideLayouts/slideLayout15.xml"/><Relationship Id="rId5" Type="http://schemas.openxmlformats.org/officeDocument/2006/relationships/image" Target="../media/image31.png"/><Relationship Id="rId4" Type="http://schemas.openxmlformats.org/officeDocument/2006/relationships/image" Target="../media/image30.png"/></Relationships>
</file>

<file path=ppt/slides/_rels/slide17.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7.xml"/><Relationship Id="rId1" Type="http://schemas.openxmlformats.org/officeDocument/2006/relationships/slideLayout" Target="../slideLayouts/slideLayout15.xml"/><Relationship Id="rId4" Type="http://schemas.openxmlformats.org/officeDocument/2006/relationships/image" Target="../media/image33.png"/></Relationships>
</file>

<file path=ppt/slides/_rels/slide18.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18.xml"/><Relationship Id="rId1" Type="http://schemas.openxmlformats.org/officeDocument/2006/relationships/slideLayout" Target="../slideLayouts/slideLayout15.xml"/><Relationship Id="rId5" Type="http://schemas.openxmlformats.org/officeDocument/2006/relationships/image" Target="../media/image35.png"/><Relationship Id="rId4" Type="http://schemas.openxmlformats.org/officeDocument/2006/relationships/image" Target="../media/image1.png"/></Relationships>
</file>

<file path=ppt/slides/_rels/slide19.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15.xml"/><Relationship Id="rId5" Type="http://schemas.openxmlformats.org/officeDocument/2006/relationships/image" Target="../media/image27.png"/><Relationship Id="rId4" Type="http://schemas.openxmlformats.org/officeDocument/2006/relationships/hyperlink" Target="https://friendly.github.io/blog/posts/2026-10-peng-altviews/" TargetMode="External"/></Relationships>
</file>

<file path=ppt/slides/_rels/slide2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9.xml"/><Relationship Id="rId1" Type="http://schemas.openxmlformats.org/officeDocument/2006/relationships/slideLayout" Target="../slideLayouts/slideLayout17.xml"/></Relationships>
</file>

<file path=ppt/slides/_rels/slide21.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0.xml"/><Relationship Id="rId1" Type="http://schemas.openxmlformats.org/officeDocument/2006/relationships/slideLayout" Target="../slideLayouts/slideLayout17.xml"/><Relationship Id="rId4" Type="http://schemas.openxmlformats.org/officeDocument/2006/relationships/image" Target="../media/image40.png"/></Relationships>
</file>

<file path=ppt/slides/_rels/slide2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15.xml"/></Relationships>
</file>

<file path=ppt/slides/_rels/slide23.xml.rels><?xml version="1.0" encoding="UTF-8" standalone="yes"?>
<Relationships xmlns="http://schemas.openxmlformats.org/package/2006/relationships"><Relationship Id="rId3" Type="http://schemas.openxmlformats.org/officeDocument/2006/relationships/image" Target="../media/image42.gif"/><Relationship Id="rId2" Type="http://schemas.openxmlformats.org/officeDocument/2006/relationships/notesSlide" Target="../notesSlides/notesSlide22.xml"/><Relationship Id="rId1" Type="http://schemas.openxmlformats.org/officeDocument/2006/relationships/slideLayout" Target="../slideLayouts/slideLayout15.xml"/></Relationships>
</file>

<file path=ppt/slides/_rels/slide2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image" Target="../media/image43.png"/><Relationship Id="rId1" Type="http://schemas.openxmlformats.org/officeDocument/2006/relationships/slideLayout" Target="../slideLayouts/slideLayout3.xml"/><Relationship Id="rId4" Type="http://schemas.openxmlformats.org/officeDocument/2006/relationships/image" Target="../media/image45.png"/></Relationships>
</file>

<file path=ppt/slides/_rels/slide25.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9.jpg"/><Relationship Id="rId2" Type="http://schemas.openxmlformats.org/officeDocument/2006/relationships/notesSlide" Target="../notesSlides/notesSlide23.xml"/><Relationship Id="rId1" Type="http://schemas.openxmlformats.org/officeDocument/2006/relationships/slideLayout" Target="../slideLayouts/slideLayout7.xml"/><Relationship Id="rId6" Type="http://schemas.openxmlformats.org/officeDocument/2006/relationships/image" Target="../media/image48.png"/><Relationship Id="rId5" Type="http://schemas.microsoft.com/office/2007/relationships/hdphoto" Target="../media/hdphoto1.wdp"/><Relationship Id="rId4" Type="http://schemas.openxmlformats.org/officeDocument/2006/relationships/image" Target="../media/image47.png"/></Relationships>
</file>

<file path=ppt/slides/_rels/slide26.xml.rels><?xml version="1.0" encoding="UTF-8" standalone="yes"?>
<Relationships xmlns="http://schemas.openxmlformats.org/package/2006/relationships"><Relationship Id="rId3" Type="http://schemas.openxmlformats.org/officeDocument/2006/relationships/image" Target="../media/image50.gif"/><Relationship Id="rId2" Type="http://schemas.openxmlformats.org/officeDocument/2006/relationships/notesSlide" Target="../notesSlides/notesSlide24.xml"/><Relationship Id="rId1" Type="http://schemas.openxmlformats.org/officeDocument/2006/relationships/slideLayout" Target="../slideLayouts/slideLayout18.xml"/></Relationships>
</file>

<file path=ppt/slides/_rels/slide27.xml.rels><?xml version="1.0" encoding="UTF-8" standalone="yes"?>
<Relationships xmlns="http://schemas.openxmlformats.org/package/2006/relationships"><Relationship Id="rId3" Type="http://schemas.openxmlformats.org/officeDocument/2006/relationships/image" Target="../media/image51.gif"/><Relationship Id="rId2" Type="http://schemas.openxmlformats.org/officeDocument/2006/relationships/notesSlide" Target="../notesSlides/notesSlide25.xml"/><Relationship Id="rId1" Type="http://schemas.openxmlformats.org/officeDocument/2006/relationships/slideLayout" Target="../slideLayouts/slideLayout18.xml"/></Relationships>
</file>

<file path=ppt/slides/_rels/slide28.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6.xml"/><Relationship Id="rId1" Type="http://schemas.openxmlformats.org/officeDocument/2006/relationships/slideLayout" Target="../slideLayouts/slideLayout20.xml"/><Relationship Id="rId4" Type="http://schemas.openxmlformats.org/officeDocument/2006/relationships/image" Target="../media/image53.png"/></Relationships>
</file>

<file path=ppt/slides/_rels/slide29.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27.xml"/><Relationship Id="rId1" Type="http://schemas.openxmlformats.org/officeDocument/2006/relationships/slideLayout" Target="../slideLayouts/slideLayout18.xml"/><Relationship Id="rId5" Type="http://schemas.openxmlformats.org/officeDocument/2006/relationships/image" Target="../media/image44.png"/><Relationship Id="rId4" Type="http://schemas.openxmlformats.org/officeDocument/2006/relationships/image" Target="../media/image54.png"/></Relationships>
</file>

<file path=ppt/slides/_rels/slide30.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28.xml"/><Relationship Id="rId1" Type="http://schemas.openxmlformats.org/officeDocument/2006/relationships/slideLayout" Target="../slideLayouts/slideLayout18.xml"/></Relationships>
</file>

<file path=ppt/slides/_rels/slide31.xml.rels><?xml version="1.0" encoding="UTF-8" standalone="yes"?>
<Relationships xmlns="http://schemas.openxmlformats.org/package/2006/relationships"><Relationship Id="rId3" Type="http://schemas.openxmlformats.org/officeDocument/2006/relationships/image" Target="../media/image55.gif"/><Relationship Id="rId2" Type="http://schemas.openxmlformats.org/officeDocument/2006/relationships/notesSlide" Target="../notesSlides/notesSlide29.xml"/><Relationship Id="rId1" Type="http://schemas.openxmlformats.org/officeDocument/2006/relationships/slideLayout" Target="../slideLayouts/slideLayout18.xml"/></Relationships>
</file>

<file path=ppt/slides/_rels/slide32.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3.xml"/><Relationship Id="rId5" Type="http://schemas.openxmlformats.org/officeDocument/2006/relationships/image" Target="../media/image59.wmf"/><Relationship Id="rId4" Type="http://schemas.openxmlformats.org/officeDocument/2006/relationships/image" Target="../media/image58.png"/></Relationships>
</file>

<file path=ppt/slides/_rels/slide3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30.xml"/><Relationship Id="rId1" Type="http://schemas.openxmlformats.org/officeDocument/2006/relationships/slideLayout" Target="../slideLayouts/slideLayout22.xml"/><Relationship Id="rId6" Type="http://schemas.openxmlformats.org/officeDocument/2006/relationships/image" Target="../media/image59.wmf"/><Relationship Id="rId5" Type="http://schemas.openxmlformats.org/officeDocument/2006/relationships/image" Target="../media/image61.png"/><Relationship Id="rId4" Type="http://schemas.openxmlformats.org/officeDocument/2006/relationships/hyperlink" Target="http://www.datavis.ca/gallery/animation/outlier-demo/" TargetMode="External"/></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31.xml"/><Relationship Id="rId1" Type="http://schemas.openxmlformats.org/officeDocument/2006/relationships/slideLayout" Target="../slideLayouts/slideLayout21.xml"/><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2.xml"/><Relationship Id="rId1" Type="http://schemas.openxmlformats.org/officeDocument/2006/relationships/slideLayout" Target="../slideLayouts/slideLayout23.xml"/><Relationship Id="rId4" Type="http://schemas.openxmlformats.org/officeDocument/2006/relationships/image" Target="../media/image59.wmf"/></Relationships>
</file>

<file path=ppt/slides/_rels/slide36.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33.xml"/><Relationship Id="rId1" Type="http://schemas.openxmlformats.org/officeDocument/2006/relationships/slideLayout" Target="../slideLayouts/slideLayout22.xml"/></Relationships>
</file>

<file path=ppt/slides/_rels/slide37.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34.xml"/><Relationship Id="rId1" Type="http://schemas.openxmlformats.org/officeDocument/2006/relationships/slideLayout" Target="../slideLayouts/slideLayout21.xml"/><Relationship Id="rId4" Type="http://schemas.openxmlformats.org/officeDocument/2006/relationships/image" Target="../media/image65.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5.xml"/><Relationship Id="rId1" Type="http://schemas.openxmlformats.org/officeDocument/2006/relationships/slideLayout" Target="../slideLayouts/slideLayout21.xml"/></Relationships>
</file>

<file path=ppt/slides/_rels/slide39.xml.rels><?xml version="1.0" encoding="UTF-8" standalone="yes"?>
<Relationships xmlns="http://schemas.openxmlformats.org/package/2006/relationships"><Relationship Id="rId3" Type="http://schemas.openxmlformats.org/officeDocument/2006/relationships/image" Target="../media/image66.gif"/><Relationship Id="rId2" Type="http://schemas.openxmlformats.org/officeDocument/2006/relationships/notesSlide" Target="../notesSlides/notesSlide36.xml"/><Relationship Id="rId1" Type="http://schemas.openxmlformats.org/officeDocument/2006/relationships/slideLayout" Target="../slideLayouts/slideLayout22.xml"/><Relationship Id="rId5" Type="http://schemas.openxmlformats.org/officeDocument/2006/relationships/image" Target="../media/image68.gif"/><Relationship Id="rId4" Type="http://schemas.openxmlformats.org/officeDocument/2006/relationships/image" Target="../media/image67.gif"/></Relationships>
</file>

<file path=ppt/slides/_rels/slide40.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37.xml"/><Relationship Id="rId1" Type="http://schemas.openxmlformats.org/officeDocument/2006/relationships/slideLayout" Target="../slideLayouts/slideLayout21.xml"/><Relationship Id="rId6" Type="http://schemas.openxmlformats.org/officeDocument/2006/relationships/image" Target="../media/image70.png"/><Relationship Id="rId5" Type="http://schemas.openxmlformats.org/officeDocument/2006/relationships/image" Target="../media/image10.png"/><Relationship Id="rId4" Type="http://schemas.openxmlformats.org/officeDocument/2006/relationships/image" Target="../media/image59.wmf"/></Relationships>
</file>

<file path=ppt/slides/_rels/slide4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notesSlide" Target="../notesSlides/notesSlide38.xml"/><Relationship Id="rId1" Type="http://schemas.openxmlformats.org/officeDocument/2006/relationships/slideLayout" Target="../slideLayouts/slideLayout23.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notesSlide" Target="../notesSlides/notesSlide39.xml"/><Relationship Id="rId1" Type="http://schemas.openxmlformats.org/officeDocument/2006/relationships/slideLayout" Target="../slideLayouts/slideLayout23.xml"/></Relationships>
</file>

<file path=ppt/slides/_rels/slide4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notesSlide" Target="../notesSlides/notesSlide40.xml"/><Relationship Id="rId1" Type="http://schemas.openxmlformats.org/officeDocument/2006/relationships/slideLayout" Target="../slideLayouts/slideLayout21.xml"/><Relationship Id="rId5" Type="http://schemas.openxmlformats.org/officeDocument/2006/relationships/image" Target="../media/image74.png"/><Relationship Id="rId4" Type="http://schemas.openxmlformats.org/officeDocument/2006/relationships/image" Target="../media/image10.png"/></Relationships>
</file>

<file path=ppt/slides/_rels/slide44.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notesSlide" Target="../notesSlides/notesSlide41.xml"/><Relationship Id="rId1" Type="http://schemas.openxmlformats.org/officeDocument/2006/relationships/slideLayout" Target="../slideLayouts/slideLayout23.xml"/></Relationships>
</file>

<file path=ppt/slides/_rels/slide45.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6.png"/><Relationship Id="rId1" Type="http://schemas.openxmlformats.org/officeDocument/2006/relationships/slideLayout" Target="../slideLayouts/slideLayout3.xml"/><Relationship Id="rId4" Type="http://schemas.openxmlformats.org/officeDocument/2006/relationships/image" Target="../media/image78.png"/></Relationships>
</file>

<file path=ppt/slides/_rels/slide46.xml.rels><?xml version="1.0" encoding="UTF-8" standalone="yes"?>
<Relationships xmlns="http://schemas.openxmlformats.org/package/2006/relationships"><Relationship Id="rId8" Type="http://schemas.openxmlformats.org/officeDocument/2006/relationships/image" Target="../media/image83.png"/><Relationship Id="rId3" Type="http://schemas.openxmlformats.org/officeDocument/2006/relationships/image" Target="../media/image76.png"/><Relationship Id="rId7" Type="http://schemas.openxmlformats.org/officeDocument/2006/relationships/image" Target="../media/image82.png"/><Relationship Id="rId2" Type="http://schemas.openxmlformats.org/officeDocument/2006/relationships/notesSlide" Target="../notesSlides/notesSlide42.xml"/><Relationship Id="rId1" Type="http://schemas.openxmlformats.org/officeDocument/2006/relationships/slideLayout" Target="../slideLayouts/slideLayout24.xml"/><Relationship Id="rId6" Type="http://schemas.openxmlformats.org/officeDocument/2006/relationships/image" Target="../media/image81.png"/><Relationship Id="rId5" Type="http://schemas.openxmlformats.org/officeDocument/2006/relationships/image" Target="../media/image80.png"/><Relationship Id="rId4" Type="http://schemas.openxmlformats.org/officeDocument/2006/relationships/image" Target="../media/image79.png"/></Relationships>
</file>

<file path=ppt/slides/_rels/slide47.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3.xml"/><Relationship Id="rId1" Type="http://schemas.openxmlformats.org/officeDocument/2006/relationships/slideLayout" Target="../slideLayouts/slideLayout25.xml"/><Relationship Id="rId5" Type="http://schemas.openxmlformats.org/officeDocument/2006/relationships/image" Target="../media/image86.png"/><Relationship Id="rId4" Type="http://schemas.openxmlformats.org/officeDocument/2006/relationships/image" Target="../media/image85.png"/></Relationships>
</file>

<file path=ppt/slides/_rels/slide48.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44.xml"/><Relationship Id="rId1" Type="http://schemas.openxmlformats.org/officeDocument/2006/relationships/slideLayout" Target="../slideLayouts/slideLayout25.xml"/><Relationship Id="rId6" Type="http://schemas.openxmlformats.org/officeDocument/2006/relationships/image" Target="../media/image88.wmf"/><Relationship Id="rId5" Type="http://schemas.openxmlformats.org/officeDocument/2006/relationships/oleObject" Target="../embeddings/oleObject1.bin"/><Relationship Id="rId4" Type="http://schemas.openxmlformats.org/officeDocument/2006/relationships/image" Target="../media/image87.png"/></Relationships>
</file>

<file path=ppt/slides/_rels/slide49.xml.rels><?xml version="1.0" encoding="UTF-8" standalone="yes"?>
<Relationships xmlns="http://schemas.openxmlformats.org/package/2006/relationships"><Relationship Id="rId3" Type="http://schemas.openxmlformats.org/officeDocument/2006/relationships/image" Target="../media/image85.png"/><Relationship Id="rId7" Type="http://schemas.openxmlformats.org/officeDocument/2006/relationships/image" Target="../media/image91.wmf"/><Relationship Id="rId2" Type="http://schemas.openxmlformats.org/officeDocument/2006/relationships/notesSlide" Target="../notesSlides/notesSlide45.xml"/><Relationship Id="rId1" Type="http://schemas.openxmlformats.org/officeDocument/2006/relationships/slideLayout" Target="../slideLayouts/slideLayout25.xml"/><Relationship Id="rId6" Type="http://schemas.openxmlformats.org/officeDocument/2006/relationships/oleObject" Target="../embeddings/oleObject2.bin"/><Relationship Id="rId5" Type="http://schemas.openxmlformats.org/officeDocument/2006/relationships/image" Target="../media/image90.png"/><Relationship Id="rId4" Type="http://schemas.openxmlformats.org/officeDocument/2006/relationships/image" Target="../media/image89.png"/></Relationships>
</file>

<file path=ppt/slides/_rels/slide50.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notesSlide" Target="../notesSlides/notesSlide46.xml"/><Relationship Id="rId1" Type="http://schemas.openxmlformats.org/officeDocument/2006/relationships/slideLayout" Target="../slideLayouts/slideLayout24.xml"/></Relationships>
</file>

<file path=ppt/slides/_rels/slide5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47.xml"/><Relationship Id="rId1" Type="http://schemas.openxmlformats.org/officeDocument/2006/relationships/slideLayout" Target="../slideLayouts/slideLayout26.xml"/></Relationships>
</file>

<file path=ppt/slides/_rels/slide52.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8.xml"/><Relationship Id="rId1" Type="http://schemas.openxmlformats.org/officeDocument/2006/relationships/slideLayout" Target="../slideLayouts/slideLayout24.xml"/></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6.xml"/></Relationships>
</file>

<file path=ppt/slides/_rels/slide54.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50.xml"/><Relationship Id="rId1" Type="http://schemas.openxmlformats.org/officeDocument/2006/relationships/slideLayout" Target="../slideLayouts/slideLayout25.xml"/><Relationship Id="rId5" Type="http://schemas.openxmlformats.org/officeDocument/2006/relationships/image" Target="../media/image78.png"/><Relationship Id="rId4" Type="http://schemas.openxmlformats.org/officeDocument/2006/relationships/image" Target="../media/image95.png"/></Relationships>
</file>

<file path=ppt/slides/_rels/slide55.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51.xml"/><Relationship Id="rId1" Type="http://schemas.openxmlformats.org/officeDocument/2006/relationships/slideLayout" Target="../slideLayouts/slideLayout24.xml"/></Relationships>
</file>

<file path=ppt/slides/_rels/slide56.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52.xml"/><Relationship Id="rId1" Type="http://schemas.openxmlformats.org/officeDocument/2006/relationships/slideLayout" Target="../slideLayouts/slideLayout24.xml"/></Relationships>
</file>

<file path=ppt/slides/_rels/slide57.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53.xml"/><Relationship Id="rId1" Type="http://schemas.openxmlformats.org/officeDocument/2006/relationships/slideLayout" Target="../slideLayouts/slideLayout26.xml"/></Relationships>
</file>

<file path=ppt/slides/_rels/slide58.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3.xml"/><Relationship Id="rId4" Type="http://schemas.openxmlformats.org/officeDocument/2006/relationships/image" Target="../media/image101.png"/></Relationships>
</file>

<file path=ppt/slides/_rels/slide59.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54.xml"/><Relationship Id="rId1" Type="http://schemas.openxmlformats.org/officeDocument/2006/relationships/slideLayout" Target="../slideLayouts/slideLayout30.xml"/><Relationship Id="rId4" Type="http://schemas.openxmlformats.org/officeDocument/2006/relationships/image" Target="../media/image100.png"/></Relationships>
</file>

<file path=ppt/slides/_rels/slide60.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55.xml"/><Relationship Id="rId1" Type="http://schemas.openxmlformats.org/officeDocument/2006/relationships/slideLayout" Target="../slideLayouts/slideLayout30.xml"/><Relationship Id="rId4" Type="http://schemas.openxmlformats.org/officeDocument/2006/relationships/image" Target="../media/image8.png"/></Relationships>
</file>

<file path=ppt/slides/_rels/slide61.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56.xml"/><Relationship Id="rId1" Type="http://schemas.openxmlformats.org/officeDocument/2006/relationships/slideLayout" Target="../slideLayouts/slideLayout30.xml"/><Relationship Id="rId4" Type="http://schemas.openxmlformats.org/officeDocument/2006/relationships/image" Target="../media/image6.png"/></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9.xml"/></Relationships>
</file>

<file path=ppt/slides/_rels/slide63.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58.xml"/><Relationship Id="rId1" Type="http://schemas.openxmlformats.org/officeDocument/2006/relationships/slideLayout" Target="../slideLayouts/slideLayout31.xml"/><Relationship Id="rId4" Type="http://schemas.openxmlformats.org/officeDocument/2006/relationships/image" Target="../media/image5.jpg"/></Relationships>
</file>

<file path=ppt/slides/_rels/slide64.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59.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0.xml"/><Relationship Id="rId1" Type="http://schemas.openxmlformats.org/officeDocument/2006/relationships/slideLayout" Target="../slideLayouts/slideLayout4.xml"/></Relationships>
</file>

<file path=ppt/slides/_rels/slide67.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3.xml"/></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63.xml"/><Relationship Id="rId1" Type="http://schemas.openxmlformats.org/officeDocument/2006/relationships/slideLayout" Target="../slideLayouts/slideLayout6.xml"/></Relationships>
</file>

<file path=ppt/slides/_rels/slide70.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6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71.xml.rels><?xml version="1.0" encoding="UTF-8" standalone="yes"?>
<Relationships xmlns="http://schemas.openxmlformats.org/package/2006/relationships"><Relationship Id="rId3" Type="http://schemas.openxmlformats.org/officeDocument/2006/relationships/image" Target="../media/image68.gif"/><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66.xml"/><Relationship Id="rId1" Type="http://schemas.openxmlformats.org/officeDocument/2006/relationships/slideLayout" Target="../slideLayouts/slideLayout6.xml"/></Relationships>
</file>

<file path=ppt/slides/_rels/slide7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68.xml"/><Relationship Id="rId1" Type="http://schemas.openxmlformats.org/officeDocument/2006/relationships/slideLayout" Target="../slideLayouts/slideLayout6.xml"/></Relationships>
</file>

<file path=ppt/slides/_rels/slide75.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69.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0.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1.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72.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notesSlide" Target="../notesSlides/notesSlide73.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notesSlide" Target="../notesSlides/notesSlide74.xml"/><Relationship Id="rId1" Type="http://schemas.openxmlformats.org/officeDocument/2006/relationships/slideLayout" Target="../slideLayouts/slideLayout6.xml"/></Relationships>
</file>

<file path=ppt/slides/_rels/slide81.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notesSlide" Target="../notesSlides/notesSlide7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FFBEA"/>
            </a:gs>
            <a:gs pos="100000">
              <a:srgbClr val="E8C547"/>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305201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935634"/>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777131" y="317500"/>
            <a:ext cx="2652353" cy="2652353"/>
          </a:xfrm>
          <a:prstGeom prst="rect">
            <a:avLst/>
          </a:prstGeom>
          <a:ln w="9525">
            <a:solidFill>
              <a:srgbClr val="3A3A3A"/>
            </a:solidFill>
          </a:ln>
          <a:effectLst>
            <a:outerShdw blurRad="101600" dist="45790" dir="3378598" rotWithShape="0">
              <a:srgbClr val="000000">
                <a:alpha val="40000"/>
              </a:srgbClr>
            </a:outerShdw>
          </a:effectLst>
        </p:spPr>
      </p:pic>
      <p:pic>
        <p:nvPicPr>
          <p:cNvPr id="5" name="Thumbnail: biplot" descr="fig-diabetes-ggbiplot-1.png"/>
          <p:cNvPicPr>
            <a:picLocks noChangeAspect="1"/>
          </p:cNvPicPr>
          <p:nvPr/>
        </p:nvPicPr>
        <p:blipFill>
          <a:blip r:embed="rId6"/>
          <a:stretch>
            <a:fillRect/>
          </a:stretch>
        </p:blipFill>
        <p:spPr>
          <a:xfrm>
            <a:off x="3708884" y="317500"/>
            <a:ext cx="3713292" cy="2652351"/>
          </a:xfrm>
          <a:prstGeom prst="rect">
            <a:avLst/>
          </a:prstGeom>
          <a:ln w="9525">
            <a:solidFill>
              <a:srgbClr val="3A3A3A"/>
            </a:solidFill>
          </a:ln>
          <a:effectLst>
            <a:outerShdw blurRad="101600" dist="45790" dir="3378598" rotWithShape="0">
              <a:srgbClr val="000000">
                <a:alpha val="40000"/>
              </a:srgbClr>
            </a:outerShdw>
          </a:effectLst>
        </p:spPr>
      </p:pic>
      <p:pic>
        <p:nvPicPr>
          <p:cNvPr id="6" name="Thumbnail: HE plot" descr="image.png"/>
          <p:cNvPicPr>
            <a:picLocks noChangeAspect="1"/>
          </p:cNvPicPr>
          <p:nvPr/>
        </p:nvPicPr>
        <p:blipFill>
          <a:blip r:embed="rId7"/>
          <a:stretch>
            <a:fillRect/>
          </a:stretch>
        </p:blipFill>
        <p:spPr>
          <a:xfrm>
            <a:off x="7701576" y="317500"/>
            <a:ext cx="3713293" cy="2652352"/>
          </a:xfrm>
          <a:prstGeom prst="rect">
            <a:avLst/>
          </a:prstGeom>
          <a:ln w="9525">
            <a:solidFill>
              <a:srgbClr val="3A3A3A"/>
            </a:solidFill>
          </a:ln>
          <a:effectLst>
            <a:outerShdw blurRad="101600" dist="45790" dir="3378598" rotWithShape="0">
              <a:srgbClr val="000000">
                <a:alpha val="40000"/>
              </a:srgbClr>
            </a:outerShdw>
          </a:effectLst>
        </p:spPr>
      </p:pic>
      <p:pic>
        <p:nvPicPr>
          <p:cNvPr id="8" name="www icon">
            <a:extLst>
              <a:ext uri="{FF2B5EF4-FFF2-40B4-BE49-F238E27FC236}">
                <a16:creationId xmlns:a16="http://schemas.microsoft.com/office/drawing/2014/main" id="{E4802ABD-082F-BC7F-2791-4E06016AE1D7}"/>
              </a:ext>
            </a:extLst>
          </p:cNvPr>
          <p:cNvPicPr>
            <a:picLocks noChangeAspect="1"/>
          </p:cNvPicPr>
          <p:nvPr/>
        </p:nvPicPr>
        <p:blipFill>
          <a:blip r:embed="rId8">
            <a:clrChange>
              <a:clrFrom>
                <a:srgbClr val="FFFFFF"/>
              </a:clrFrom>
              <a:clrTo>
                <a:srgbClr val="FFFFFF">
                  <a:alpha val="0"/>
                </a:srgbClr>
              </a:clrTo>
            </a:clrChange>
          </a:blip>
          <a:stretch>
            <a:fillRect/>
          </a:stretch>
        </p:blipFill>
        <p:spPr>
          <a:xfrm>
            <a:off x="6229529" y="6197600"/>
            <a:ext cx="365760" cy="365760"/>
          </a:xfrm>
          <a:prstGeom prst="rect">
            <a:avLst/>
          </a:prstGeom>
          <a:solidFill>
            <a:schemeClr val="accent1">
              <a:alpha val="0"/>
            </a:schemeClr>
          </a:solidFill>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2</a:t>
            </a:fld>
            <a:endParaRPr lang="en-CA"/>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
        <p:nvSpPr>
          <p:cNvPr id="19" name="Slide Number Placeholder 19"/>
          <p:cNvSpPr>
            <a:spLocks noGrp="1"/>
          </p:cNvSpPr>
          <p:nvPr>
            <p:ph type="sldNum" sz="quarter" idx="12"/>
          </p:nvPr>
        </p:nvSpPr>
        <p:spPr/>
        <p:txBody>
          <a:bodyPr/>
          <a:lstStyle/>
          <a:p>
            <a:fld id="{9BFB2853-4965-4727-91C4-384EB30D99A4}" type="slidenum">
              <a:rPr lang="en-CA"/>
              <a:t>3</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 (thematic)</a:t>
            </a:r>
            <a:endParaRPr dirty="0"/>
          </a:p>
        </p:txBody>
      </p:sp>
      <p:sp>
        <p:nvSpPr>
          <p:cNvPr id="3" name="Content Placeholder 2"/>
          <p:cNvSpPr>
            <a:spLocks noGrp="1"/>
          </p:cNvSpPr>
          <p:nvPr>
            <p:ph idx="1"/>
          </p:nvPr>
        </p:nvSpPr>
        <p:spPr>
          <a:xfrm>
            <a:off x="838200" y="1309036"/>
            <a:ext cx="10515600" cy="4867927"/>
          </a:xfrm>
        </p:spPr>
        <p:txBody>
          <a:bodyPr/>
          <a:lstStyle/>
          <a:p>
            <a:r>
              <a:rPr dirty="0"/>
              <a:t>Why </a:t>
            </a:r>
            <a:r>
              <a:rPr lang="en-CA" dirty="0"/>
              <a:t>a romance in </a:t>
            </a:r>
            <a:r>
              <a:rPr dirty="0"/>
              <a:t>many dimensions?</a:t>
            </a:r>
          </a:p>
          <a:p>
            <a:r>
              <a:rPr lang="en-CA" dirty="0"/>
              <a:t>S</a:t>
            </a:r>
            <a:r>
              <a:rPr dirty="0" err="1"/>
              <a:t>eeing</a:t>
            </a:r>
            <a:r>
              <a:rPr dirty="0"/>
              <a:t> multivariate data</a:t>
            </a:r>
            <a:r>
              <a:rPr lang="en-CA" dirty="0"/>
              <a:t>: ellipses everywhere</a:t>
            </a:r>
            <a:endParaRPr dirty="0"/>
          </a:p>
          <a:p>
            <a:r>
              <a:rPr dirty="0"/>
              <a:t>Multivariate juicers: low-D views, and Waldo space</a:t>
            </a:r>
          </a:p>
          <a:p>
            <a:r>
              <a:rPr dirty="0"/>
              <a:t>Elliptical insights: models with one response</a:t>
            </a:r>
          </a:p>
          <a:p>
            <a:r>
              <a:rPr dirty="0"/>
              <a:t>The HE plot framework for multivariate models</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 (linear)</a:t>
            </a:r>
          </a:p>
        </p:txBody>
      </p:sp>
      <p:sp>
        <p:nvSpPr>
          <p:cNvPr id="6" name="Slide Number Placeholder 6"/>
          <p:cNvSpPr>
            <a:spLocks noGrp="1"/>
          </p:cNvSpPr>
          <p:nvPr>
            <p:ph type="sldNum" sz="quarter" idx="12"/>
          </p:nvPr>
        </p:nvSpPr>
        <p:spPr/>
        <p:txBody>
          <a:bodyPr/>
          <a:lstStyle/>
          <a:p>
            <a:fld id="{9BFB2853-4965-4727-91C4-384EB30D99A4}" type="slidenum">
              <a:rPr lang="en-CA"/>
              <a:t>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nodeType="clickEffect">
                                  <p:stCondLst>
                                    <p:cond delay="0"/>
                                  </p:stCondLst>
                                  <p:childTnLst>
                                    <p:set>
                                      <p:cBhvr>
                                        <p:cTn id="10" dur="1" fill="hold">
                                          <p:stCondLst>
                                            <p:cond delay="0"/>
                                          </p:stCondLst>
                                        </p:cTn>
                                        <p:tgtEl>
                                          <p:spTgt spid="3">
                                            <p:txEl>
                                              <p:pRg st="0" end="0"/>
                                            </p:txEl>
                                          </p:spTgt>
                                        </p:tgtEl>
                                        <p:attrNameLst>
                                          <p:attrName>style.visibility</p:attrName>
                                        </p:attrNameLst>
                                      </p:cBhvr>
                                      <p:to>
                                        <p:strVal val="visible"/>
                                      </p:to>
                                    </p:set>
                                    <p:anim calcmode="lin" valueType="num">
                                      <p:cBhvr>
                                        <p:cTn id="11" dur="1000" fill="hold"/>
                                        <p:tgtEl>
                                          <p:spTgt spid="3">
                                            <p:txEl>
                                              <p:pRg st="0" end="0"/>
                                            </p:txEl>
                                          </p:spTgt>
                                        </p:tgtEl>
                                        <p:attrNameLst>
                                          <p:attrName>ppt_w</p:attrName>
                                        </p:attrNameLst>
                                      </p:cBhvr>
                                      <p:tavLst>
                                        <p:tav tm="0">
                                          <p:val>
                                            <p:fltVal val="0"/>
                                          </p:val>
                                        </p:tav>
                                        <p:tav tm="100000">
                                          <p:val>
                                            <p:strVal val="#ppt_w"/>
                                          </p:val>
                                        </p:tav>
                                      </p:tavLst>
                                    </p:anim>
                                    <p:anim calcmode="lin" valueType="num">
                                      <p:cBhvr>
                                        <p:cTn id="12" dur="1000" fill="hold"/>
                                        <p:tgtEl>
                                          <p:spTgt spid="3">
                                            <p:txEl>
                                              <p:pRg st="0" end="0"/>
                                            </p:txEl>
                                          </p:spTgt>
                                        </p:tgtEl>
                                        <p:attrNameLst>
                                          <p:attrName>ppt_h</p:attrName>
                                        </p:attrNameLst>
                                      </p:cBhvr>
                                      <p:tavLst>
                                        <p:tav tm="0">
                                          <p:val>
                                            <p:fltVal val="0"/>
                                          </p:val>
                                        </p:tav>
                                        <p:tav tm="100000">
                                          <p:val>
                                            <p:strVal val="#ppt_h"/>
                                          </p:val>
                                        </p:tav>
                                      </p:tavLst>
                                    </p:anim>
                                    <p:anim calcmode="lin" valueType="num">
                                      <p:cBhvr>
                                        <p:cTn id="13" dur="1000" fill="hold"/>
                                        <p:tgtEl>
                                          <p:spTgt spid="3">
                                            <p:txEl>
                                              <p:pRg st="0" end="0"/>
                                            </p:txEl>
                                          </p:spTgt>
                                        </p:tgtEl>
                                        <p:attrNameLst>
                                          <p:attrName>style.rotation</p:attrName>
                                        </p:attrNameLst>
                                      </p:cBhvr>
                                      <p:tavLst>
                                        <p:tav tm="0">
                                          <p:val>
                                            <p:fltVal val="90"/>
                                          </p:val>
                                        </p:tav>
                                        <p:tav tm="100000">
                                          <p:val>
                                            <p:fltVal val="0"/>
                                          </p:val>
                                        </p:tav>
                                      </p:tavLst>
                                    </p:anim>
                                    <p:animEffect transition="in" filter="fade">
                                      <p:cBhvr>
                                        <p:cTn id="14" dur="1000"/>
                                        <p:tgtEl>
                                          <p:spTgt spid="3">
                                            <p:txEl>
                                              <p:pRg st="0" end="0"/>
                                            </p:txEl>
                                          </p:spTgt>
                                        </p:tgtEl>
                                      </p:cBhvr>
                                    </p:animEffect>
                                  </p:childTnLst>
                                </p:cTn>
                              </p:par>
                              <p:par>
                                <p:cTn id="15" presetID="31" presetClass="entr" presetSubtype="0" fill="hold" nodeType="withEffect">
                                  <p:stCondLst>
                                    <p:cond delay="0"/>
                                  </p:stCondLst>
                                  <p:childTnLst>
                                    <p:set>
                                      <p:cBhvr>
                                        <p:cTn id="16" dur="1" fill="hold">
                                          <p:stCondLst>
                                            <p:cond delay="0"/>
                                          </p:stCondLst>
                                        </p:cTn>
                                        <p:tgtEl>
                                          <p:spTgt spid="3">
                                            <p:txEl>
                                              <p:pRg st="1" end="1"/>
                                            </p:txEl>
                                          </p:spTgt>
                                        </p:tgtEl>
                                        <p:attrNameLst>
                                          <p:attrName>style.visibility</p:attrName>
                                        </p:attrNameLst>
                                      </p:cBhvr>
                                      <p:to>
                                        <p:strVal val="visible"/>
                                      </p:to>
                                    </p:set>
                                    <p:anim calcmode="lin" valueType="num">
                                      <p:cBhvr>
                                        <p:cTn id="17" dur="1000" fill="hold"/>
                                        <p:tgtEl>
                                          <p:spTgt spid="3">
                                            <p:txEl>
                                              <p:pRg st="1" end="1"/>
                                            </p:txEl>
                                          </p:spTgt>
                                        </p:tgtEl>
                                        <p:attrNameLst>
                                          <p:attrName>ppt_w</p:attrName>
                                        </p:attrNameLst>
                                      </p:cBhvr>
                                      <p:tavLst>
                                        <p:tav tm="0">
                                          <p:val>
                                            <p:fltVal val="0"/>
                                          </p:val>
                                        </p:tav>
                                        <p:tav tm="100000">
                                          <p:val>
                                            <p:strVal val="#ppt_w"/>
                                          </p:val>
                                        </p:tav>
                                      </p:tavLst>
                                    </p:anim>
                                    <p:anim calcmode="lin" valueType="num">
                                      <p:cBhvr>
                                        <p:cTn id="18" dur="1000" fill="hold"/>
                                        <p:tgtEl>
                                          <p:spTgt spid="3">
                                            <p:txEl>
                                              <p:pRg st="1" end="1"/>
                                            </p:txEl>
                                          </p:spTgt>
                                        </p:tgtEl>
                                        <p:attrNameLst>
                                          <p:attrName>ppt_h</p:attrName>
                                        </p:attrNameLst>
                                      </p:cBhvr>
                                      <p:tavLst>
                                        <p:tav tm="0">
                                          <p:val>
                                            <p:fltVal val="0"/>
                                          </p:val>
                                        </p:tav>
                                        <p:tav tm="100000">
                                          <p:val>
                                            <p:strVal val="#ppt_h"/>
                                          </p:val>
                                        </p:tav>
                                      </p:tavLst>
                                    </p:anim>
                                    <p:anim calcmode="lin" valueType="num">
                                      <p:cBhvr>
                                        <p:cTn id="19" dur="1000" fill="hold"/>
                                        <p:tgtEl>
                                          <p:spTgt spid="3">
                                            <p:txEl>
                                              <p:pRg st="1" end="1"/>
                                            </p:txEl>
                                          </p:spTgt>
                                        </p:tgtEl>
                                        <p:attrNameLst>
                                          <p:attrName>style.rotation</p:attrName>
                                        </p:attrNameLst>
                                      </p:cBhvr>
                                      <p:tavLst>
                                        <p:tav tm="0">
                                          <p:val>
                                            <p:fltVal val="90"/>
                                          </p:val>
                                        </p:tav>
                                        <p:tav tm="100000">
                                          <p:val>
                                            <p:fltVal val="0"/>
                                          </p:val>
                                        </p:tav>
                                      </p:tavLst>
                                    </p:anim>
                                    <p:animEffect transition="in" filter="fade">
                                      <p:cBhvr>
                                        <p:cTn id="20" dur="1000"/>
                                        <p:tgtEl>
                                          <p:spTgt spid="3">
                                            <p:txEl>
                                              <p:pRg st="1" end="1"/>
                                            </p:txEl>
                                          </p:spTgt>
                                        </p:tgtEl>
                                      </p:cBhvr>
                                    </p:animEffect>
                                  </p:childTnLst>
                                </p:cTn>
                              </p:par>
                              <p:par>
                                <p:cTn id="21" presetID="31" presetClass="entr" presetSubtype="0" fill="hold" nodeType="withEffect">
                                  <p:stCondLst>
                                    <p:cond delay="0"/>
                                  </p:stCondLst>
                                  <p:childTnLst>
                                    <p:set>
                                      <p:cBhvr>
                                        <p:cTn id="22" dur="1" fill="hold">
                                          <p:stCondLst>
                                            <p:cond delay="0"/>
                                          </p:stCondLst>
                                        </p:cTn>
                                        <p:tgtEl>
                                          <p:spTgt spid="3">
                                            <p:txEl>
                                              <p:pRg st="2" end="2"/>
                                            </p:txEl>
                                          </p:spTgt>
                                        </p:tgtEl>
                                        <p:attrNameLst>
                                          <p:attrName>style.visibility</p:attrName>
                                        </p:attrNameLst>
                                      </p:cBhvr>
                                      <p:to>
                                        <p:strVal val="visible"/>
                                      </p:to>
                                    </p:set>
                                    <p:anim calcmode="lin" valueType="num">
                                      <p:cBhvr>
                                        <p:cTn id="23" dur="1000" fill="hold"/>
                                        <p:tgtEl>
                                          <p:spTgt spid="3">
                                            <p:txEl>
                                              <p:pRg st="2" end="2"/>
                                            </p:txEl>
                                          </p:spTgt>
                                        </p:tgtEl>
                                        <p:attrNameLst>
                                          <p:attrName>ppt_w</p:attrName>
                                        </p:attrNameLst>
                                      </p:cBhvr>
                                      <p:tavLst>
                                        <p:tav tm="0">
                                          <p:val>
                                            <p:fltVal val="0"/>
                                          </p:val>
                                        </p:tav>
                                        <p:tav tm="100000">
                                          <p:val>
                                            <p:strVal val="#ppt_w"/>
                                          </p:val>
                                        </p:tav>
                                      </p:tavLst>
                                    </p:anim>
                                    <p:anim calcmode="lin" valueType="num">
                                      <p:cBhvr>
                                        <p:cTn id="24" dur="1000" fill="hold"/>
                                        <p:tgtEl>
                                          <p:spTgt spid="3">
                                            <p:txEl>
                                              <p:pRg st="2" end="2"/>
                                            </p:txEl>
                                          </p:spTgt>
                                        </p:tgtEl>
                                        <p:attrNameLst>
                                          <p:attrName>ppt_h</p:attrName>
                                        </p:attrNameLst>
                                      </p:cBhvr>
                                      <p:tavLst>
                                        <p:tav tm="0">
                                          <p:val>
                                            <p:fltVal val="0"/>
                                          </p:val>
                                        </p:tav>
                                        <p:tav tm="100000">
                                          <p:val>
                                            <p:strVal val="#ppt_h"/>
                                          </p:val>
                                        </p:tav>
                                      </p:tavLst>
                                    </p:anim>
                                    <p:anim calcmode="lin" valueType="num">
                                      <p:cBhvr>
                                        <p:cTn id="25" dur="1000" fill="hold"/>
                                        <p:tgtEl>
                                          <p:spTgt spid="3">
                                            <p:txEl>
                                              <p:pRg st="2" end="2"/>
                                            </p:txEl>
                                          </p:spTgt>
                                        </p:tgtEl>
                                        <p:attrNameLst>
                                          <p:attrName>style.rotation</p:attrName>
                                        </p:attrNameLst>
                                      </p:cBhvr>
                                      <p:tavLst>
                                        <p:tav tm="0">
                                          <p:val>
                                            <p:fltVal val="90"/>
                                          </p:val>
                                        </p:tav>
                                        <p:tav tm="100000">
                                          <p:val>
                                            <p:fltVal val="0"/>
                                          </p:val>
                                        </p:tav>
                                      </p:tavLst>
                                    </p:anim>
                                    <p:animEffect transition="in" filter="fade">
                                      <p:cBhvr>
                                        <p:cTn id="26" dur="1000"/>
                                        <p:tgtEl>
                                          <p:spTgt spid="3">
                                            <p:txEl>
                                              <p:pRg st="2" end="2"/>
                                            </p:txEl>
                                          </p:spTgt>
                                        </p:tgtEl>
                                      </p:cBhvr>
                                    </p:animEffect>
                                  </p:childTnLst>
                                </p:cTn>
                              </p:par>
                              <p:par>
                                <p:cTn id="27" presetID="31" presetClass="entr" presetSubtype="0" fill="hold" nodeType="withEffect">
                                  <p:stCondLst>
                                    <p:cond delay="0"/>
                                  </p:stCondLst>
                                  <p:childTnLst>
                                    <p:set>
                                      <p:cBhvr>
                                        <p:cTn id="28" dur="1" fill="hold">
                                          <p:stCondLst>
                                            <p:cond delay="0"/>
                                          </p:stCondLst>
                                        </p:cTn>
                                        <p:tgtEl>
                                          <p:spTgt spid="3">
                                            <p:txEl>
                                              <p:pRg st="3" end="3"/>
                                            </p:txEl>
                                          </p:spTgt>
                                        </p:tgtEl>
                                        <p:attrNameLst>
                                          <p:attrName>style.visibility</p:attrName>
                                        </p:attrNameLst>
                                      </p:cBhvr>
                                      <p:to>
                                        <p:strVal val="visible"/>
                                      </p:to>
                                    </p:set>
                                    <p:anim calcmode="lin" valueType="num">
                                      <p:cBhvr>
                                        <p:cTn id="29" dur="1000" fill="hold"/>
                                        <p:tgtEl>
                                          <p:spTgt spid="3">
                                            <p:txEl>
                                              <p:pRg st="3" end="3"/>
                                            </p:txEl>
                                          </p:spTgt>
                                        </p:tgtEl>
                                        <p:attrNameLst>
                                          <p:attrName>ppt_w</p:attrName>
                                        </p:attrNameLst>
                                      </p:cBhvr>
                                      <p:tavLst>
                                        <p:tav tm="0">
                                          <p:val>
                                            <p:fltVal val="0"/>
                                          </p:val>
                                        </p:tav>
                                        <p:tav tm="100000">
                                          <p:val>
                                            <p:strVal val="#ppt_w"/>
                                          </p:val>
                                        </p:tav>
                                      </p:tavLst>
                                    </p:anim>
                                    <p:anim calcmode="lin" valueType="num">
                                      <p:cBhvr>
                                        <p:cTn id="30" dur="1000" fill="hold"/>
                                        <p:tgtEl>
                                          <p:spTgt spid="3">
                                            <p:txEl>
                                              <p:pRg st="3" end="3"/>
                                            </p:txEl>
                                          </p:spTgt>
                                        </p:tgtEl>
                                        <p:attrNameLst>
                                          <p:attrName>ppt_h</p:attrName>
                                        </p:attrNameLst>
                                      </p:cBhvr>
                                      <p:tavLst>
                                        <p:tav tm="0">
                                          <p:val>
                                            <p:fltVal val="0"/>
                                          </p:val>
                                        </p:tav>
                                        <p:tav tm="100000">
                                          <p:val>
                                            <p:strVal val="#ppt_h"/>
                                          </p:val>
                                        </p:tav>
                                      </p:tavLst>
                                    </p:anim>
                                    <p:anim calcmode="lin" valueType="num">
                                      <p:cBhvr>
                                        <p:cTn id="31" dur="1000" fill="hold"/>
                                        <p:tgtEl>
                                          <p:spTgt spid="3">
                                            <p:txEl>
                                              <p:pRg st="3" end="3"/>
                                            </p:txEl>
                                          </p:spTgt>
                                        </p:tgtEl>
                                        <p:attrNameLst>
                                          <p:attrName>style.rotation</p:attrName>
                                        </p:attrNameLst>
                                      </p:cBhvr>
                                      <p:tavLst>
                                        <p:tav tm="0">
                                          <p:val>
                                            <p:fltVal val="90"/>
                                          </p:val>
                                        </p:tav>
                                        <p:tav tm="100000">
                                          <p:val>
                                            <p:fltVal val="0"/>
                                          </p:val>
                                        </p:tav>
                                      </p:tavLst>
                                    </p:anim>
                                    <p:animEffect transition="in" filter="fade">
                                      <p:cBhvr>
                                        <p:cTn id="32" dur="1000"/>
                                        <p:tgtEl>
                                          <p:spTgt spid="3">
                                            <p:txEl>
                                              <p:pRg st="3" end="3"/>
                                            </p:txEl>
                                          </p:spTgt>
                                        </p:tgtEl>
                                      </p:cBhvr>
                                    </p:animEffect>
                                  </p:childTnLst>
                                </p:cTn>
                              </p:par>
                              <p:par>
                                <p:cTn id="33" presetID="31" presetClass="entr" presetSubtype="0" fill="hold" nodeType="withEffect">
                                  <p:stCondLst>
                                    <p:cond delay="0"/>
                                  </p:stCondLst>
                                  <p:childTnLst>
                                    <p:set>
                                      <p:cBhvr>
                                        <p:cTn id="34" dur="1" fill="hold">
                                          <p:stCondLst>
                                            <p:cond delay="0"/>
                                          </p:stCondLst>
                                        </p:cTn>
                                        <p:tgtEl>
                                          <p:spTgt spid="3">
                                            <p:txEl>
                                              <p:pRg st="4" end="4"/>
                                            </p:txEl>
                                          </p:spTgt>
                                        </p:tgtEl>
                                        <p:attrNameLst>
                                          <p:attrName>style.visibility</p:attrName>
                                        </p:attrNameLst>
                                      </p:cBhvr>
                                      <p:to>
                                        <p:strVal val="visible"/>
                                      </p:to>
                                    </p:set>
                                    <p:anim calcmode="lin" valueType="num">
                                      <p:cBhvr>
                                        <p:cTn id="35" dur="1000" fill="hold"/>
                                        <p:tgtEl>
                                          <p:spTgt spid="3">
                                            <p:txEl>
                                              <p:pRg st="4" end="4"/>
                                            </p:txEl>
                                          </p:spTgt>
                                        </p:tgtEl>
                                        <p:attrNameLst>
                                          <p:attrName>ppt_w</p:attrName>
                                        </p:attrNameLst>
                                      </p:cBhvr>
                                      <p:tavLst>
                                        <p:tav tm="0">
                                          <p:val>
                                            <p:fltVal val="0"/>
                                          </p:val>
                                        </p:tav>
                                        <p:tav tm="100000">
                                          <p:val>
                                            <p:strVal val="#ppt_w"/>
                                          </p:val>
                                        </p:tav>
                                      </p:tavLst>
                                    </p:anim>
                                    <p:anim calcmode="lin" valueType="num">
                                      <p:cBhvr>
                                        <p:cTn id="36" dur="1000" fill="hold"/>
                                        <p:tgtEl>
                                          <p:spTgt spid="3">
                                            <p:txEl>
                                              <p:pRg st="4" end="4"/>
                                            </p:txEl>
                                          </p:spTgt>
                                        </p:tgtEl>
                                        <p:attrNameLst>
                                          <p:attrName>ppt_h</p:attrName>
                                        </p:attrNameLst>
                                      </p:cBhvr>
                                      <p:tavLst>
                                        <p:tav tm="0">
                                          <p:val>
                                            <p:fltVal val="0"/>
                                          </p:val>
                                        </p:tav>
                                        <p:tav tm="100000">
                                          <p:val>
                                            <p:strVal val="#ppt_h"/>
                                          </p:val>
                                        </p:tav>
                                      </p:tavLst>
                                    </p:anim>
                                    <p:anim calcmode="lin" valueType="num">
                                      <p:cBhvr>
                                        <p:cTn id="37" dur="1000" fill="hold"/>
                                        <p:tgtEl>
                                          <p:spTgt spid="3">
                                            <p:txEl>
                                              <p:pRg st="4" end="4"/>
                                            </p:txEl>
                                          </p:spTgt>
                                        </p:tgtEl>
                                        <p:attrNameLst>
                                          <p:attrName>style.rotation</p:attrName>
                                        </p:attrNameLst>
                                      </p:cBhvr>
                                      <p:tavLst>
                                        <p:tav tm="0">
                                          <p:val>
                                            <p:fltVal val="90"/>
                                          </p:val>
                                        </p:tav>
                                        <p:tav tm="100000">
                                          <p:val>
                                            <p:fltVal val="0"/>
                                          </p:val>
                                        </p:tav>
                                      </p:tavLst>
                                    </p:anim>
                                    <p:animEffect transition="in" filter="fade">
                                      <p:cBhvr>
                                        <p:cTn id="38" dur="1000"/>
                                        <p:tgtEl>
                                          <p:spTgt spid="3">
                                            <p:txEl>
                                              <p:pRg st="4" end="4"/>
                                            </p:txEl>
                                          </p:spTgt>
                                        </p:tgtEl>
                                      </p:cBhvr>
                                    </p:animEffect>
                                  </p:childTnLst>
                                </p:cTn>
                              </p:par>
                              <p:par>
                                <p:cTn id="39" presetID="31" presetClass="entr" presetSubtype="0" fill="hold" nodeType="withEffect">
                                  <p:stCondLst>
                                    <p:cond delay="0"/>
                                  </p:stCondLst>
                                  <p:childTnLst>
                                    <p:set>
                                      <p:cBhvr>
                                        <p:cTn id="40" dur="1" fill="hold">
                                          <p:stCondLst>
                                            <p:cond delay="0"/>
                                          </p:stCondLst>
                                        </p:cTn>
                                        <p:tgtEl>
                                          <p:spTgt spid="3">
                                            <p:txEl>
                                              <p:pRg st="5" end="5"/>
                                            </p:txEl>
                                          </p:spTgt>
                                        </p:tgtEl>
                                        <p:attrNameLst>
                                          <p:attrName>style.visibility</p:attrName>
                                        </p:attrNameLst>
                                      </p:cBhvr>
                                      <p:to>
                                        <p:strVal val="visible"/>
                                      </p:to>
                                    </p:set>
                                    <p:anim calcmode="lin" valueType="num">
                                      <p:cBhvr>
                                        <p:cTn id="41" dur="1000" fill="hold"/>
                                        <p:tgtEl>
                                          <p:spTgt spid="3">
                                            <p:txEl>
                                              <p:pRg st="5" end="5"/>
                                            </p:txEl>
                                          </p:spTgt>
                                        </p:tgtEl>
                                        <p:attrNameLst>
                                          <p:attrName>ppt_w</p:attrName>
                                        </p:attrNameLst>
                                      </p:cBhvr>
                                      <p:tavLst>
                                        <p:tav tm="0">
                                          <p:val>
                                            <p:fltVal val="0"/>
                                          </p:val>
                                        </p:tav>
                                        <p:tav tm="100000">
                                          <p:val>
                                            <p:strVal val="#ppt_w"/>
                                          </p:val>
                                        </p:tav>
                                      </p:tavLst>
                                    </p:anim>
                                    <p:anim calcmode="lin" valueType="num">
                                      <p:cBhvr>
                                        <p:cTn id="42" dur="1000" fill="hold"/>
                                        <p:tgtEl>
                                          <p:spTgt spid="3">
                                            <p:txEl>
                                              <p:pRg st="5" end="5"/>
                                            </p:txEl>
                                          </p:spTgt>
                                        </p:tgtEl>
                                        <p:attrNameLst>
                                          <p:attrName>ppt_h</p:attrName>
                                        </p:attrNameLst>
                                      </p:cBhvr>
                                      <p:tavLst>
                                        <p:tav tm="0">
                                          <p:val>
                                            <p:fltVal val="0"/>
                                          </p:val>
                                        </p:tav>
                                        <p:tav tm="100000">
                                          <p:val>
                                            <p:strVal val="#ppt_h"/>
                                          </p:val>
                                        </p:tav>
                                      </p:tavLst>
                                    </p:anim>
                                    <p:anim calcmode="lin" valueType="num">
                                      <p:cBhvr>
                                        <p:cTn id="43" dur="1000" fill="hold"/>
                                        <p:tgtEl>
                                          <p:spTgt spid="3">
                                            <p:txEl>
                                              <p:pRg st="5" end="5"/>
                                            </p:txEl>
                                          </p:spTgt>
                                        </p:tgtEl>
                                        <p:attrNameLst>
                                          <p:attrName>style.rotation</p:attrName>
                                        </p:attrNameLst>
                                      </p:cBhvr>
                                      <p:tavLst>
                                        <p:tav tm="0">
                                          <p:val>
                                            <p:fltVal val="90"/>
                                          </p:val>
                                        </p:tav>
                                        <p:tav tm="100000">
                                          <p:val>
                                            <p:fltVal val="0"/>
                                          </p:val>
                                        </p:tav>
                                      </p:tavLst>
                                    </p:anim>
                                    <p:animEffect transition="in" filter="fade">
                                      <p:cBhvr>
                                        <p:cTn id="44" dur="1000"/>
                                        <p:tgtEl>
                                          <p:spTgt spid="3">
                                            <p:txEl>
                                              <p:pRg st="5" end="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3F6"/>
            </a:gs>
            <a:gs pos="100000">
              <a:srgbClr val="8EA1C2"/>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solidFill>
                  <a:srgbClr val="2F3B52"/>
                </a:solidFill>
              </a:rPr>
              <a:t>How can we understand important scientific phenomena?</a:t>
            </a:r>
          </a:p>
          <a:p>
            <a:r>
              <a:rPr lang="en-CA" dirty="0">
                <a:solidFill>
                  <a:srgbClr val="2F3B52"/>
                </a:solidFill>
              </a:rPr>
              <a:t>Our data</a:t>
            </a:r>
            <a:r>
              <a:rPr dirty="0">
                <a:solidFill>
                  <a:srgbClr val="2F3B52"/>
                </a:solidFill>
              </a:rPr>
              <a:t> live in </a:t>
            </a:r>
            <a:r>
              <a:rPr dirty="0" err="1">
                <a:solidFill>
                  <a:srgbClr val="2F3B52"/>
                </a:solidFill>
              </a:rPr>
              <a:t>Spaceland</a:t>
            </a:r>
            <a:r>
              <a:rPr dirty="0">
                <a:solidFill>
                  <a:srgbClr val="2F3B52"/>
                </a:solidFill>
              </a:rPr>
              <a:t>,</a:t>
            </a:r>
            <a:r>
              <a:rPr lang="en-CA" dirty="0">
                <a:solidFill>
                  <a:srgbClr val="2F3B52"/>
                </a:solidFill>
              </a:rPr>
              <a:t> sometimes high-D,</a:t>
            </a:r>
            <a:r>
              <a:rPr dirty="0">
                <a:solidFill>
                  <a:srgbClr val="2F3B52"/>
                </a:solidFill>
              </a:rPr>
              <a:t> but we plot in </a:t>
            </a:r>
            <a:r>
              <a:rPr lang="en-CA" dirty="0">
                <a:solidFill>
                  <a:srgbClr val="2F3B52"/>
                </a:solidFill>
              </a:rPr>
              <a:t>Plane</a:t>
            </a:r>
            <a:r>
              <a:rPr dirty="0">
                <a:solidFill>
                  <a:srgbClr val="2F3B52"/>
                </a:solidFill>
              </a:rPr>
              <a:t>land</a:t>
            </a:r>
          </a:p>
        </p:txBody>
      </p:sp>
      <p:sp>
        <p:nvSpPr>
          <p:cNvPr id="4" name="Slide Number Placeholder 4"/>
          <p:cNvSpPr>
            <a:spLocks noGrp="1"/>
          </p:cNvSpPr>
          <p:nvPr>
            <p:ph type="sldNum" sz="quarter" idx="12"/>
          </p:nvPr>
        </p:nvSpPr>
        <p:spPr/>
        <p:txBody>
          <a:bodyPr/>
          <a:lstStyle/>
          <a:p>
            <a:fld id="{9BFB2853-4965-4727-91C4-384EB30D99A4}" type="slidenum">
              <a:rPr lang="en-CA"/>
              <a:t>5</a:t>
            </a:fld>
            <a:endParaRPr lang="en-CA"/>
          </a:p>
        </p:txBody>
      </p:sp>
      <p:pic>
        <p:nvPicPr>
          <p:cNvPr id="6" name="Section 0 Flatland illustration" descr="Flatland illustration: a sphere rising through Planeland appears as circles of changing size.">
            <a:extLst>
              <a:ext uri="{FF2B5EF4-FFF2-40B4-BE49-F238E27FC236}">
                <a16:creationId xmlns:a16="http://schemas.microsoft.com/office/drawing/2014/main" id="{D9C3AAA9-CA9A-E23E-D92E-E6B699AD5756}"/>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714500" y="127000"/>
            <a:ext cx="8763000" cy="2667000"/>
          </a:xfrm>
          <a:prstGeom prst="rect">
            <a:avLst/>
          </a:prstGeom>
          <a:ln w="9525">
            <a:solidFill>
              <a:srgbClr val="3A3A3A"/>
            </a:solidFill>
          </a:ln>
          <a:effectLst>
            <a:outerShdw blurRad="101600" dist="45790" dir="3378598" rotWithShape="0">
              <a:srgbClr val="000000">
                <a:alpha val="40000"/>
              </a:srgbClr>
            </a:outerShdw>
          </a:effectLst>
        </p:spPr>
      </p:pic>
      <p:sp>
        <p:nvSpPr>
          <p:cNvPr id="5" name="Romance heart 1">
            <a:extLst>
              <a:ext uri="{FF2B5EF4-FFF2-40B4-BE49-F238E27FC236}">
                <a16:creationId xmlns:a16="http://schemas.microsoft.com/office/drawing/2014/main" id="{426CA7FD-9647-8165-499F-D7A885957C7D}"/>
              </a:ext>
            </a:extLst>
          </p:cNvPr>
          <p:cNvSpPr/>
          <p:nvPr/>
        </p:nvSpPr>
        <p:spPr>
          <a:xfrm rot="-720000">
            <a:off x="8763000" y="4038600"/>
            <a:ext cx="406400" cy="365760"/>
          </a:xfrm>
          <a:prstGeom prst="heart">
            <a:avLst/>
          </a:prstGeom>
          <a:solidFill>
            <a:srgbClr val="C8435A">
              <a:alpha val="9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8" name="Romance heart 2">
            <a:extLst>
              <a:ext uri="{FF2B5EF4-FFF2-40B4-BE49-F238E27FC236}">
                <a16:creationId xmlns:a16="http://schemas.microsoft.com/office/drawing/2014/main" id="{812E02F8-8FC9-2AE3-199F-01129875C9D5}"/>
              </a:ext>
            </a:extLst>
          </p:cNvPr>
          <p:cNvSpPr/>
          <p:nvPr/>
        </p:nvSpPr>
        <p:spPr>
          <a:xfrm rot="480000">
            <a:off x="9601200" y="3759200"/>
            <a:ext cx="342900" cy="308610"/>
          </a:xfrm>
          <a:prstGeom prst="heart">
            <a:avLst/>
          </a:prstGeom>
          <a:solidFill>
            <a:srgbClr val="C8435A">
              <a:alpha val="8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omance heart 3">
            <a:extLst>
              <a:ext uri="{FF2B5EF4-FFF2-40B4-BE49-F238E27FC236}">
                <a16:creationId xmlns:a16="http://schemas.microsoft.com/office/drawing/2014/main" id="{6EF35381-212E-17DA-BFF7-0125FD7F031E}"/>
              </a:ext>
            </a:extLst>
          </p:cNvPr>
          <p:cNvSpPr/>
          <p:nvPr/>
        </p:nvSpPr>
        <p:spPr>
          <a:xfrm rot="-600000">
            <a:off x="10325100" y="3505200"/>
            <a:ext cx="279400" cy="251460"/>
          </a:xfrm>
          <a:prstGeom prst="heart">
            <a:avLst/>
          </a:prstGeom>
          <a:solidFill>
            <a:srgbClr val="C8435A">
              <a:alpha val="6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omance heart 4">
            <a:extLst>
              <a:ext uri="{FF2B5EF4-FFF2-40B4-BE49-F238E27FC236}">
                <a16:creationId xmlns:a16="http://schemas.microsoft.com/office/drawing/2014/main" id="{F774B454-8FE4-51DE-7FA0-577922E9289C}"/>
              </a:ext>
            </a:extLst>
          </p:cNvPr>
          <p:cNvSpPr/>
          <p:nvPr/>
        </p:nvSpPr>
        <p:spPr>
          <a:xfrm rot="720000">
            <a:off x="10947400" y="3276600"/>
            <a:ext cx="215900" cy="194310"/>
          </a:xfrm>
          <a:prstGeom prst="heart">
            <a:avLst/>
          </a:prstGeom>
          <a:solidFill>
            <a:srgbClr val="C8435A">
              <a:alpha val="50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omance heart 5">
            <a:extLst>
              <a:ext uri="{FF2B5EF4-FFF2-40B4-BE49-F238E27FC236}">
                <a16:creationId xmlns:a16="http://schemas.microsoft.com/office/drawing/2014/main" id="{2FB4598B-37E6-F252-5321-4D909C2FF832}"/>
              </a:ext>
            </a:extLst>
          </p:cNvPr>
          <p:cNvSpPr/>
          <p:nvPr/>
        </p:nvSpPr>
        <p:spPr>
          <a:xfrm rot="-480000">
            <a:off x="11430000" y="3086100"/>
            <a:ext cx="165100" cy="148590"/>
          </a:xfrm>
          <a:prstGeom prst="heart">
            <a:avLst/>
          </a:prstGeom>
          <a:solidFill>
            <a:srgbClr val="C8435A">
              <a:alpha val="35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Romance heart 6">
            <a:extLst>
              <a:ext uri="{FF2B5EF4-FFF2-40B4-BE49-F238E27FC236}">
                <a16:creationId xmlns:a16="http://schemas.microsoft.com/office/drawing/2014/main" id="{AA49D3B8-A9B0-2D7F-0D4B-4FBE9B9F8266}"/>
              </a:ext>
            </a:extLst>
          </p:cNvPr>
          <p:cNvSpPr/>
          <p:nvPr/>
        </p:nvSpPr>
        <p:spPr>
          <a:xfrm rot="600000">
            <a:off x="11811000" y="2946400"/>
            <a:ext cx="114300" cy="102870"/>
          </a:xfrm>
          <a:prstGeom prst="heart">
            <a:avLst/>
          </a:prstGeom>
          <a:solidFill>
            <a:srgbClr val="C8435A">
              <a:alpha val="22000"/>
            </a:srgbClr>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solidFill>
                  <a:srgbClr val="C00000"/>
                </a:solidFill>
              </a:rPr>
              <a:t>#dataviz </a:t>
            </a:r>
            <a:r>
              <a:rPr lang="en-CA" dirty="0"/>
              <a:t>is the art of making plots </a:t>
            </a:r>
            <a:r>
              <a:rPr lang="en-CA" b="1" dirty="0"/>
              <a:t>informative</a:t>
            </a:r>
            <a:r>
              <a:rPr lang="en-CA" dirty="0"/>
              <a:t> (&amp; pretty!)</a:t>
            </a:r>
          </a:p>
          <a:p>
            <a:r>
              <a:rPr lang="en-CA" b="1" dirty="0"/>
              <a:t>Truth &amp; Beauty</a:t>
            </a:r>
            <a:r>
              <a:rPr lang="en-CA" dirty="0"/>
              <a:t>: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6</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5D,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
        <p:nvSpPr>
          <p:cNvPr id="7" name="Slide Number Placeholder 7"/>
          <p:cNvSpPr>
            <a:spLocks noGrp="1"/>
          </p:cNvSpPr>
          <p:nvPr>
            <p:ph type="sldNum" sz="quarter" idx="12"/>
          </p:nvPr>
        </p:nvSpPr>
        <p:spPr/>
        <p:txBody>
          <a:bodyPr/>
          <a:lstStyle/>
          <a:p>
            <a:fld id="{9BFB2853-4965-4727-91C4-384EB30D99A4}" type="slidenum">
              <a:rPr lang="en-CA"/>
              <a:t>7</a:t>
            </a:fld>
            <a:endParaRPr lang="en-CA"/>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
        <p:nvSpPr>
          <p:cNvPr id="6" name="Slide Number Placeholder 6"/>
          <p:cNvSpPr>
            <a:spLocks noGrp="1"/>
          </p:cNvSpPr>
          <p:nvPr>
            <p:ph type="sldNum" sz="quarter" idx="12"/>
          </p:nvPr>
        </p:nvSpPr>
        <p:spPr/>
        <p:txBody>
          <a:bodyPr/>
          <a:lstStyle/>
          <a:p>
            <a:fld id="{9BFB2853-4965-4727-91C4-384EB30D99A4}" type="slidenum">
              <a:rPr lang="en-CA"/>
              <a:t>8</a:t>
            </a:fld>
            <a:endParaRPr lang="en-CA"/>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beautiful &amp;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
        <p:nvSpPr>
          <p:cNvPr id="12" name="Slide Number Placeholder 12"/>
          <p:cNvSpPr>
            <a:spLocks noGrp="1"/>
          </p:cNvSpPr>
          <p:nvPr>
            <p:ph type="sldNum" sz="quarter" idx="12"/>
          </p:nvPr>
        </p:nvSpPr>
        <p:spPr/>
        <p:txBody>
          <a:bodyPr/>
          <a:lstStyle/>
          <a:p>
            <a:fld id="{9BFB2853-4965-4727-91C4-384EB30D99A4}" type="slidenum">
              <a:rPr lang="en-CA"/>
              <a:t>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Three penguins walking, with data ellipses">
            <a:extLst>
              <a:ext uri="{FF2B5EF4-FFF2-40B4-BE49-F238E27FC236}">
                <a16:creationId xmlns:a16="http://schemas.microsoft.com/office/drawing/2014/main" id="{3139B4EB-ECB5-A62E-A0B0-F5445F7851A8}"/>
              </a:ext>
            </a:extLst>
          </p:cNvPr>
          <p:cNvPicPr>
            <a:picLocks noChangeAspect="1"/>
          </p:cNvPicPr>
          <p:nvPr/>
        </p:nvPicPr>
        <p:blipFill>
          <a:blip r:embed="rId3"/>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666482"/>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097280" y="6007100"/>
            <a:ext cx="10058400" cy="645355"/>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chemeClr val="tx1"/>
                </a:solidFill>
              </a:rPr>
              <a:t>Data ellipses, penguins, and looking at many variables at once</a:t>
            </a:r>
          </a:p>
        </p:txBody>
      </p:sp>
      <p:pic>
        <p:nvPicPr>
          <p:cNvPr id="5" name="Picture 4" descr="fig-peng-ggplot1-1.png">
            <a:extLst>
              <a:ext uri="{FF2B5EF4-FFF2-40B4-BE49-F238E27FC236}">
                <a16:creationId xmlns:a16="http://schemas.microsoft.com/office/drawing/2014/main" id="{6E39EAD4-0504-7D4A-931A-1C933D3D21A2}"/>
              </a:ext>
            </a:extLst>
          </p:cNvPr>
          <p:cNvPicPr>
            <a:picLocks noChangeAspect="1"/>
          </p:cNvPicPr>
          <p:nvPr/>
        </p:nvPicPr>
        <p:blipFill>
          <a:blip r:embed="rId4"/>
          <a:stretch>
            <a:fillRect/>
          </a:stretch>
        </p:blipFill>
        <p:spPr>
          <a:xfrm>
            <a:off x="348488" y="424820"/>
            <a:ext cx="2178932" cy="1556380"/>
          </a:xfrm>
          <a:prstGeom prst="rect">
            <a:avLst/>
          </a:prstGeom>
        </p:spPr>
      </p:pic>
      <p:pic>
        <p:nvPicPr>
          <p:cNvPr id="7" name="Picture 6">
            <a:extLst>
              <a:ext uri="{FF2B5EF4-FFF2-40B4-BE49-F238E27FC236}">
                <a16:creationId xmlns:a16="http://schemas.microsoft.com/office/drawing/2014/main" id="{C93F1C11-5B63-1B14-ECC3-A5F3A8898BDD}"/>
              </a:ext>
            </a:extLst>
          </p:cNvPr>
          <p:cNvPicPr>
            <a:picLocks noChangeAspect="1"/>
          </p:cNvPicPr>
          <p:nvPr/>
        </p:nvPicPr>
        <p:blipFill>
          <a:blip r:embed="rId5"/>
          <a:stretch>
            <a:fillRect/>
          </a:stretch>
        </p:blipFill>
        <p:spPr>
          <a:xfrm>
            <a:off x="10209005" y="4083276"/>
            <a:ext cx="1771429" cy="1809524"/>
          </a:xfrm>
          <a:prstGeom prst="rect">
            <a:avLst/>
          </a:prstGeom>
        </p:spPr>
      </p:pic>
      <p:sp>
        <p:nvSpPr>
          <p:cNvPr id="14" name="Slide Number Placeholder 14"/>
          <p:cNvSpPr>
            <a:spLocks noGrp="1"/>
          </p:cNvSpPr>
          <p:nvPr>
            <p:ph type="sldNum" sz="quarter" idx="12"/>
          </p:nvPr>
        </p:nvSpPr>
        <p:spPr/>
        <p:txBody>
          <a:bodyPr/>
          <a:lstStyle/>
          <a:p>
            <a:fld id="{9BFB2853-4965-4727-91C4-384EB30D99A4}" type="slidenum">
              <a:rPr lang="en-CA"/>
              <a:t>10</a:t>
            </a:fld>
            <a:endParaRPr lang="en-CA"/>
          </a:p>
        </p:txBody>
      </p:sp>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
        <p:nvSpPr>
          <p:cNvPr id="78852" name="Slide Number Placeholder 78852"/>
          <p:cNvSpPr>
            <a:spLocks noGrp="1"/>
          </p:cNvSpPr>
          <p:nvPr>
            <p:ph type="sldNum" sz="quarter" idx="12"/>
          </p:nvPr>
        </p:nvSpPr>
        <p:spPr/>
        <p:txBody>
          <a:bodyPr/>
          <a:lstStyle/>
          <a:p>
            <a:fld id="{9BFB2853-4965-4727-91C4-384EB30D99A4}" type="slidenum">
              <a:rPr lang="en-CA"/>
              <a:t>11</a:t>
            </a:fld>
            <a:endParaRPr lang="en-CA"/>
          </a:p>
        </p:txBody>
      </p:sp>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898" name="Rectangle 2"/>
          <p:cNvSpPr>
            <a:spLocks noGrp="1" noChangeArrowheads="1"/>
          </p:cNvSpPr>
          <p:nvPr>
            <p:ph type="title"/>
          </p:nvPr>
        </p:nvSpPr>
        <p:spPr>
          <a:xfrm>
            <a:off x="684882" y="327024"/>
            <a:ext cx="8229600" cy="793438"/>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
        <p:nvSpPr>
          <p:cNvPr id="80900" name="Slide Number Placeholder 80900"/>
          <p:cNvSpPr>
            <a:spLocks noGrp="1"/>
          </p:cNvSpPr>
          <p:nvPr>
            <p:ph type="sldNum" sz="quarter" idx="12"/>
          </p:nvPr>
        </p:nvSpPr>
        <p:spPr/>
        <p:txBody>
          <a:bodyPr/>
          <a:lstStyle/>
          <a:p>
            <a:fld id="{9BFB2853-4965-4727-91C4-384EB30D99A4}" type="slidenum">
              <a:rPr lang="en-CA"/>
              <a:t>12</a:t>
            </a:fld>
            <a:endParaRPr lang="en-CA"/>
          </a:p>
        </p:txBody>
      </p:sp>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2946" name="Rectangle 2"/>
          <p:cNvSpPr>
            <a:spLocks noGrp="1" noChangeArrowheads="1"/>
          </p:cNvSpPr>
          <p:nvPr>
            <p:ph type="title"/>
          </p:nvPr>
        </p:nvSpPr>
        <p:spPr>
          <a:xfrm>
            <a:off x="650082" y="466726"/>
            <a:ext cx="8229600" cy="731372"/>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
        <p:nvSpPr>
          <p:cNvPr id="82952" name="Slide Number Placeholder 82952"/>
          <p:cNvSpPr>
            <a:spLocks noGrp="1"/>
          </p:cNvSpPr>
          <p:nvPr>
            <p:ph type="sldNum" sz="quarter" idx="12"/>
          </p:nvPr>
        </p:nvSpPr>
        <p:spPr/>
        <p:txBody>
          <a:bodyPr/>
          <a:lstStyle/>
          <a:p>
            <a:fld id="{9BFB2853-4965-4727-91C4-384EB30D99A4}" type="slidenum">
              <a:rPr lang="en-CA"/>
              <a:t>13</a:t>
            </a:fld>
            <a:endParaRPr lang="en-CA"/>
          </a:p>
        </p:txBody>
      </p:sp>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35386"/>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 name="Slide Number Placeholder 8"/>
          <p:cNvSpPr>
            <a:spLocks noGrp="1"/>
          </p:cNvSpPr>
          <p:nvPr>
            <p:ph type="sldNum" sz="quarter" idx="12"/>
          </p:nvPr>
        </p:nvSpPr>
        <p:spPr/>
        <p:txBody>
          <a:bodyPr/>
          <a:lstStyle/>
          <a:p>
            <a:fld id="{9BFB2853-4965-4727-91C4-384EB30D99A4}" type="slidenum">
              <a:rPr lang="en-CA"/>
              <a:t>14</a:t>
            </a:fld>
            <a:endParaRPr lang="en-CA"/>
          </a:p>
        </p:txBody>
      </p:sp>
      <p:sp>
        <p:nvSpPr>
          <p:cNvPr id="4" name="TextBox 3">
            <a:extLst>
              <a:ext uri="{FF2B5EF4-FFF2-40B4-BE49-F238E27FC236}">
                <a16:creationId xmlns:a16="http://schemas.microsoft.com/office/drawing/2014/main" id="{A77FE8ED-10AA-0457-1A28-238B03B528CD}"/>
              </a:ext>
            </a:extLst>
          </p:cNvPr>
          <p:cNvSpPr txBox="1"/>
          <p:nvPr/>
        </p:nvSpPr>
        <p:spPr>
          <a:xfrm>
            <a:off x="6646683" y="4059082"/>
            <a:ext cx="669702" cy="338554"/>
          </a:xfrm>
          <a:prstGeom prst="rect">
            <a:avLst/>
          </a:prstGeom>
          <a:noFill/>
        </p:spPr>
        <p:txBody>
          <a:bodyPr wrap="square" rtlCol="0">
            <a:spAutoFit/>
          </a:bodyPr>
          <a:lstStyle/>
          <a:p>
            <a:pPr algn="ctr"/>
            <a:r>
              <a:rPr lang="en-CA" sz="1600" b="1" dirty="0">
                <a:solidFill>
                  <a:srgbClr val="0070C0"/>
                </a:solidFill>
              </a:rPr>
              <a:t>40%</a:t>
            </a:r>
          </a:p>
        </p:txBody>
      </p:sp>
      <p:sp>
        <p:nvSpPr>
          <p:cNvPr id="10" name="TextBox 9">
            <a:extLst>
              <a:ext uri="{FF2B5EF4-FFF2-40B4-BE49-F238E27FC236}">
                <a16:creationId xmlns:a16="http://schemas.microsoft.com/office/drawing/2014/main" id="{A70DFDF0-1802-D0F9-BD4D-2F54630A83DC}"/>
              </a:ext>
            </a:extLst>
          </p:cNvPr>
          <p:cNvSpPr txBox="1"/>
          <p:nvPr/>
        </p:nvSpPr>
        <p:spPr>
          <a:xfrm>
            <a:off x="8019580" y="3811432"/>
            <a:ext cx="669702" cy="338554"/>
          </a:xfrm>
          <a:prstGeom prst="rect">
            <a:avLst/>
          </a:prstGeom>
          <a:noFill/>
        </p:spPr>
        <p:txBody>
          <a:bodyPr wrap="square" rtlCol="0">
            <a:spAutoFit/>
          </a:bodyPr>
          <a:lstStyle/>
          <a:p>
            <a:pPr algn="ctr"/>
            <a:r>
              <a:rPr lang="en-CA" sz="1600" b="1" dirty="0">
                <a:solidFill>
                  <a:srgbClr val="FF0000"/>
                </a:solidFill>
              </a:rPr>
              <a:t>68%</a:t>
            </a:r>
          </a:p>
        </p:txBody>
      </p:sp>
      <p:sp>
        <p:nvSpPr>
          <p:cNvPr id="12" name="TextBox 11">
            <a:extLst>
              <a:ext uri="{FF2B5EF4-FFF2-40B4-BE49-F238E27FC236}">
                <a16:creationId xmlns:a16="http://schemas.microsoft.com/office/drawing/2014/main" id="{CFA85B36-96D9-C8EB-B449-2D8C35545C83}"/>
              </a:ext>
            </a:extLst>
          </p:cNvPr>
          <p:cNvSpPr txBox="1"/>
          <p:nvPr/>
        </p:nvSpPr>
        <p:spPr>
          <a:xfrm>
            <a:off x="8853571" y="3429000"/>
            <a:ext cx="669702" cy="338554"/>
          </a:xfrm>
          <a:prstGeom prst="rect">
            <a:avLst/>
          </a:prstGeom>
          <a:noFill/>
        </p:spPr>
        <p:txBody>
          <a:bodyPr wrap="square" rtlCol="0">
            <a:spAutoFit/>
          </a:bodyPr>
          <a:lstStyle/>
          <a:p>
            <a:pPr algn="ctr"/>
            <a:r>
              <a:rPr lang="en-CA" sz="1600" b="1" dirty="0"/>
              <a:t>95%</a:t>
            </a:r>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5E74599-60B8-D4F2-07BA-54E00DEC449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39684" y="936307"/>
            <a:ext cx="2342959" cy="1508125"/>
          </a:xfrm>
          <a:prstGeom prst="rect">
            <a:avLst/>
          </a:prstGeom>
        </p:spPr>
      </p:pic>
      <p:sp>
        <p:nvSpPr>
          <p:cNvPr id="2" name="Title 1"/>
          <p:cNvSpPr>
            <a:spLocks noGrp="1"/>
          </p:cNvSpPr>
          <p:nvPr>
            <p:ph type="title"/>
          </p:nvPr>
        </p:nvSpPr>
        <p:spPr>
          <a:xfrm>
            <a:off x="838200" y="365125"/>
            <a:ext cx="4789868" cy="1143000"/>
          </a:xfrm>
        </p:spPr>
        <p:txBody>
          <a:bodyPr/>
          <a:lstStyle/>
          <a:p>
            <a:r>
              <a:rPr dirty="0"/>
              <a:t>Meet the penguins</a:t>
            </a:r>
          </a:p>
        </p:txBody>
      </p:sp>
      <p:pic>
        <p:nvPicPr>
          <p:cNvPr id="3" name="Picture 2" descr="penguins-horst.png"/>
          <p:cNvPicPr>
            <a:picLocks noChangeAspect="1"/>
          </p:cNvPicPr>
          <p:nvPr/>
        </p:nvPicPr>
        <p:blipFill>
          <a:blip r:embed="rId4"/>
          <a:stretch>
            <a:fillRect/>
          </a:stretch>
        </p:blipFill>
        <p:spPr>
          <a:xfrm>
            <a:off x="725337" y="2129942"/>
            <a:ext cx="5120640" cy="3055315"/>
          </a:xfrm>
          <a:prstGeom prst="rect">
            <a:avLst/>
          </a:prstGeom>
        </p:spPr>
      </p:pic>
      <p:pic>
        <p:nvPicPr>
          <p:cNvPr id="4" name="Picture 3" descr="fig-peng-ggplot1-1.png"/>
          <p:cNvPicPr>
            <a:picLocks noChangeAspect="1"/>
          </p:cNvPicPr>
          <p:nvPr/>
        </p:nvPicPr>
        <p:blipFill>
          <a:blip r:embed="rId5"/>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
        <p:nvSpPr>
          <p:cNvPr id="7" name="Slide Number Placeholder 7"/>
          <p:cNvSpPr>
            <a:spLocks noGrp="1"/>
          </p:cNvSpPr>
          <p:nvPr>
            <p:ph type="sldNum" sz="quarter" idx="12"/>
          </p:nvPr>
        </p:nvSpPr>
        <p:spPr/>
        <p:txBody>
          <a:bodyPr/>
          <a:lstStyle/>
          <a:p>
            <a:fld id="{9BFB2853-4965-4727-91C4-384EB30D99A4}" type="slidenum">
              <a:rPr lang="en-CA"/>
              <a:t>15</a:t>
            </a:fld>
            <a:endParaRPr lang="en-CA"/>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663432"/>
            <a:ext cx="10360007" cy="1323439"/>
          </a:xfrm>
          <a:prstGeom prst="rect">
            <a:avLst/>
          </a:prstGeom>
          <a:noFill/>
        </p:spPr>
        <p:txBody>
          <a:bodyPr wrap="square" rtlCol="0">
            <a:spAutoFit/>
          </a:bodyPr>
          <a:lstStyle/>
          <a:p>
            <a:r>
              <a:rPr lang="en-CA" sz="2000" dirty="0"/>
              <a:t>Plot annotations are </a:t>
            </a:r>
            <a:r>
              <a:rPr lang="en-CA" sz="2000" b="1" dirty="0"/>
              <a:t>visual summaries </a:t>
            </a:r>
            <a:r>
              <a:rPr lang="en-CA" sz="2000" dirty="0"/>
              <a:t>(ellipse, regression line, conf. band)</a:t>
            </a:r>
          </a:p>
          <a:p>
            <a:pPr marL="285750" indent="-285750">
              <a:buFont typeface="Arial" panose="020B0604020202020204" pitchFamily="34" charset="0"/>
              <a:buChar char="•"/>
            </a:pPr>
            <a:r>
              <a:rPr lang="en-CA" sz="2000" dirty="0"/>
              <a:t>Add </a:t>
            </a:r>
            <a:r>
              <a:rPr lang="en-CA" sz="2000" b="1" dirty="0"/>
              <a:t>data ellipses </a:t>
            </a:r>
            <a:r>
              <a:rPr lang="en-CA" sz="2000" dirty="0"/>
              <a:t>to show w/in group means &amp; scatter (sufficient for N(</a:t>
            </a:r>
            <a:r>
              <a:rPr lang="en-CA" sz="2000" b="1" dirty="0"/>
              <a:t>µ, </a:t>
            </a:r>
            <a:r>
              <a:rPr lang="el-GR" sz="2000" b="1" dirty="0">
                <a:latin typeface="Cambria Math" panose="02040503050406030204" pitchFamily="18" charset="0"/>
                <a:ea typeface="Cambria Math" panose="02040503050406030204" pitchFamily="18" charset="0"/>
              </a:rPr>
              <a:t>Σ</a:t>
            </a:r>
            <a:r>
              <a:rPr lang="en-CA" sz="2000" dirty="0">
                <a:latin typeface="Cambria Math" panose="02040503050406030204" pitchFamily="18" charset="0"/>
                <a:ea typeface="Cambria Math" panose="02040503050406030204" pitchFamily="18" charset="0"/>
              </a:rPr>
              <a:t>))</a:t>
            </a:r>
            <a:endParaRPr lang="en-CA" sz="2000" dirty="0"/>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
        <p:nvSpPr>
          <p:cNvPr id="15" name="Slide Number Placeholder 15"/>
          <p:cNvSpPr>
            <a:spLocks noGrp="1"/>
          </p:cNvSpPr>
          <p:nvPr>
            <p:ph type="sldNum" sz="quarter" idx="12"/>
          </p:nvPr>
        </p:nvSpPr>
        <p:spPr/>
        <p:txBody>
          <a:bodyPr/>
          <a:lstStyle/>
          <a:p>
            <a:fld id="{9BFB2853-4965-4727-91C4-384EB30D99A4}" type="slidenum">
              <a:rPr lang="en-CA"/>
              <a:t>16</a:t>
            </a:fld>
            <a:endParaRPr lang="en-CA"/>
          </a:p>
        </p:txBody>
      </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
                                            <p:txEl>
                                              <p:pRg st="0" end="0"/>
                                            </p:txEl>
                                          </p:spTgt>
                                        </p:tgtEl>
                                        <p:attrNameLst>
                                          <p:attrName>style.visibility</p:attrName>
                                        </p:attrNameLst>
                                      </p:cBhvr>
                                      <p:to>
                                        <p:strVal val="visible"/>
                                      </p:to>
                                    </p:set>
                                  </p:childTnLst>
                                </p:cTn>
                              </p:par>
                              <p:par>
                                <p:cTn id="11" presetID="42" presetClass="entr" presetSubtype="0" fill="hold" nodeType="withEffect">
                                  <p:stCondLst>
                                    <p:cond delay="0"/>
                                  </p:stCondLst>
                                  <p:childTnLst>
                                    <p:set>
                                      <p:cBhvr>
                                        <p:cTn id="12" dur="1" fill="hold">
                                          <p:stCondLst>
                                            <p:cond delay="0"/>
                                          </p:stCondLst>
                                        </p:cTn>
                                        <p:tgtEl>
                                          <p:spTgt spid="5"/>
                                        </p:tgtEl>
                                        <p:attrNameLst>
                                          <p:attrName>style.visibility</p:attrName>
                                        </p:attrNameLst>
                                      </p:cBhvr>
                                      <p:to>
                                        <p:strVal val="visible"/>
                                      </p:to>
                                    </p:set>
                                    <p:animEffect transition="in" filter="fade">
                                      <p:cBhvr>
                                        <p:cTn id="13" dur="1000"/>
                                        <p:tgtEl>
                                          <p:spTgt spid="5"/>
                                        </p:tgtEl>
                                      </p:cBhvr>
                                    </p:animEffect>
                                    <p:anim calcmode="lin" valueType="num">
                                      <p:cBhvr>
                                        <p:cTn id="14" dur="1000" fill="hold"/>
                                        <p:tgtEl>
                                          <p:spTgt spid="5"/>
                                        </p:tgtEl>
                                        <p:attrNameLst>
                                          <p:attrName>ppt_x</p:attrName>
                                        </p:attrNameLst>
                                      </p:cBhvr>
                                      <p:tavLst>
                                        <p:tav tm="0">
                                          <p:val>
                                            <p:strVal val="#ppt_x"/>
                                          </p:val>
                                        </p:tav>
                                        <p:tav tm="100000">
                                          <p:val>
                                            <p:strVal val="#ppt_x"/>
                                          </p:val>
                                        </p:tav>
                                      </p:tavLst>
                                    </p:anim>
                                    <p:anim calcmode="lin" valueType="num">
                                      <p:cBhvr>
                                        <p:cTn id="15"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6" fill="hold">
                      <p:stCondLst>
                        <p:cond delay="indefinite"/>
                      </p:stCondLst>
                      <p:childTnLst>
                        <p:par>
                          <p:cTn id="17" fill="hold">
                            <p:stCondLst>
                              <p:cond delay="0"/>
                            </p:stCondLst>
                            <p:childTnLst>
                              <p:par>
                                <p:cTn id="18" presetID="1" presetClass="entr" presetSubtype="0" fill="hold" nodeType="clickEffect">
                                  <p:stCondLst>
                                    <p:cond delay="0"/>
                                  </p:stCondLst>
                                  <p:childTnLst>
                                    <p:set>
                                      <p:cBhvr>
                                        <p:cTn id="19" dur="1" fill="hold">
                                          <p:stCondLst>
                                            <p:cond delay="0"/>
                                          </p:stCondLst>
                                        </p:cTn>
                                        <p:tgtEl>
                                          <p:spTgt spid="11">
                                            <p:txEl>
                                              <p:pRg st="2" end="2"/>
                                            </p:txEl>
                                          </p:spTgt>
                                        </p:tgtEl>
                                        <p:attrNameLst>
                                          <p:attrName>style.visibility</p:attrName>
                                        </p:attrNameLst>
                                      </p:cBhvr>
                                      <p:to>
                                        <p:strVal val="visible"/>
                                      </p:to>
                                    </p:set>
                                  </p:childTnLst>
                                </p:cTn>
                              </p:par>
                              <p:par>
                                <p:cTn id="20" presetID="1" presetClass="entr" presetSubtype="0" fill="hold" nodeType="withEffect">
                                  <p:stCondLst>
                                    <p:cond delay="0"/>
                                  </p:stCondLst>
                                  <p:childTnLst>
                                    <p:set>
                                      <p:cBhvr>
                                        <p:cTn id="21" dur="1" fill="hold">
                                          <p:stCondLst>
                                            <p:cond delay="0"/>
                                          </p:stCondLst>
                                        </p:cTn>
                                        <p:tgtEl>
                                          <p:spTgt spid="11">
                                            <p:txEl>
                                              <p:pRg st="3" end="3"/>
                                            </p:txEl>
                                          </p:spTgt>
                                        </p:tgtEl>
                                        <p:attrNameLst>
                                          <p:attrName>style.visibility</p:attrName>
                                        </p:attrNameLst>
                                      </p:cBhvr>
                                      <p:to>
                                        <p:strVal val="visible"/>
                                      </p:to>
                                    </p:set>
                                  </p:childTnLst>
                                </p:cTn>
                              </p:par>
                              <p:par>
                                <p:cTn id="22" presetID="42" presetClass="entr" presetSubtype="0" fill="hold" nodeType="withEffect">
                                  <p:stCondLst>
                                    <p:cond delay="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1000"/>
                                        <p:tgtEl>
                                          <p:spTgt spid="7"/>
                                        </p:tgtEl>
                                      </p:cBhvr>
                                    </p:animEffect>
                                    <p:anim calcmode="lin" valueType="num">
                                      <p:cBhvr>
                                        <p:cTn id="25" dur="1000" fill="hold"/>
                                        <p:tgtEl>
                                          <p:spTgt spid="7"/>
                                        </p:tgtEl>
                                        <p:attrNameLst>
                                          <p:attrName>ppt_x</p:attrName>
                                        </p:attrNameLst>
                                      </p:cBhvr>
                                      <p:tavLst>
                                        <p:tav tm="0">
                                          <p:val>
                                            <p:strVal val="#ppt_x"/>
                                          </p:val>
                                        </p:tav>
                                        <p:tav tm="100000">
                                          <p:val>
                                            <p:strVal val="#ppt_x"/>
                                          </p:val>
                                        </p:tav>
                                      </p:tavLst>
                                    </p:anim>
                                    <p:anim calcmode="lin" valueType="num">
                                      <p:cBhvr>
                                        <p:cTn id="2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471160" cy="610235"/>
          </a:xfrm>
        </p:spPr>
        <p:txBody>
          <a:bodyPr>
            <a:normAutofit fontScale="90000"/>
          </a:bodyPr>
          <a:lstStyle/>
          <a:p>
            <a:r>
              <a:rPr dirty="0"/>
              <a:t>What if I'm not Normal?</a:t>
            </a:r>
          </a:p>
        </p:txBody>
      </p:sp>
      <p:grpSp>
        <p:nvGrpSpPr>
          <p:cNvPr id="8" name="Group 7">
            <a:extLst>
              <a:ext uri="{FF2B5EF4-FFF2-40B4-BE49-F238E27FC236}">
                <a16:creationId xmlns:a16="http://schemas.microsoft.com/office/drawing/2014/main" id="{96FE6B5C-712E-4A04-D7B2-10CF77D7153A}"/>
              </a:ext>
            </a:extLst>
          </p:cNvPr>
          <p:cNvGrpSpPr/>
          <p:nvPr/>
        </p:nvGrpSpPr>
        <p:grpSpPr>
          <a:xfrm>
            <a:off x="841248" y="1264920"/>
            <a:ext cx="5568696" cy="4434839"/>
            <a:chOff x="841248" y="1600200"/>
            <a:chExt cx="5568696" cy="4434839"/>
          </a:xfrm>
        </p:grpSpPr>
        <p:pic>
          <p:nvPicPr>
            <p:cNvPr id="3" name="Bagplot" descr="fig-peng-bagplot-1.png"/>
            <p:cNvPicPr>
              <a:picLocks noChangeAspect="1"/>
            </p:cNvPicPr>
            <p:nvPr/>
          </p:nvPicPr>
          <p:blipFill>
            <a:blip r:embed="rId3"/>
            <a:stretch>
              <a:fillRect/>
            </a:stretch>
          </p:blipFill>
          <p:spPr>
            <a:xfrm>
              <a:off x="841248" y="2057400"/>
              <a:ext cx="5568696" cy="3977639"/>
            </a:xfrm>
            <a:prstGeom prst="rect">
              <a:avLst/>
            </a:prstGeom>
          </p:spPr>
        </p:pic>
        <p:sp>
          <p:nvSpPr>
            <p:cNvPr id="5" name="Label bagplot"/>
            <p:cNvSpPr txBox="1"/>
            <p:nvPr/>
          </p:nvSpPr>
          <p:spPr>
            <a:xfrm>
              <a:off x="841248" y="1600200"/>
              <a:ext cx="5568696" cy="411480"/>
            </a:xfrm>
            <a:prstGeom prst="rect">
              <a:avLst/>
            </a:prstGeom>
            <a:noFill/>
          </p:spPr>
          <p:txBody>
            <a:bodyPr wrap="none" lIns="0" rIns="0">
              <a:spAutoFit/>
            </a:bodyPr>
            <a:lstStyle/>
            <a:p>
              <a:pPr algn="ctr"/>
              <a:r>
                <a:rPr sz="2200" b="1" dirty="0" err="1">
                  <a:latin typeface="Consolas"/>
                </a:rPr>
                <a:t>gggda</a:t>
              </a:r>
              <a:r>
                <a:rPr sz="2200" b="1" dirty="0">
                  <a:latin typeface="Consolas"/>
                </a:rPr>
                <a:t>::</a:t>
              </a:r>
              <a:r>
                <a:rPr sz="2200" b="1" dirty="0" err="1">
                  <a:latin typeface="Consolas"/>
                </a:rPr>
                <a:t>geom_bagplot</a:t>
              </a:r>
              <a:r>
                <a:rPr sz="2200" b="1" dirty="0">
                  <a:latin typeface="Consolas"/>
                </a:rPr>
                <a:t>()</a:t>
              </a:r>
            </a:p>
          </p:txBody>
        </p:sp>
      </p:grpSp>
      <p:grpSp>
        <p:nvGrpSpPr>
          <p:cNvPr id="9" name="Group 8">
            <a:extLst>
              <a:ext uri="{FF2B5EF4-FFF2-40B4-BE49-F238E27FC236}">
                <a16:creationId xmlns:a16="http://schemas.microsoft.com/office/drawing/2014/main" id="{30FD26DA-DF6B-7E03-9FCB-CAAEAAA07D79}"/>
              </a:ext>
            </a:extLst>
          </p:cNvPr>
          <p:cNvGrpSpPr/>
          <p:nvPr/>
        </p:nvGrpSpPr>
        <p:grpSpPr>
          <a:xfrm>
            <a:off x="6775704" y="1264920"/>
            <a:ext cx="4387102" cy="4434839"/>
            <a:chOff x="6775704" y="1600200"/>
            <a:chExt cx="4387102" cy="4434839"/>
          </a:xfrm>
        </p:grpSpPr>
        <p:pic>
          <p:nvPicPr>
            <p:cNvPr id="4" name="HDR" descr="peng-hdr-panel.png"/>
            <p:cNvPicPr>
              <a:picLocks noChangeAspect="1"/>
            </p:cNvPicPr>
            <p:nvPr/>
          </p:nvPicPr>
          <p:blipFill>
            <a:blip r:embed="rId4"/>
            <a:stretch>
              <a:fillRect/>
            </a:stretch>
          </p:blipFill>
          <p:spPr>
            <a:xfrm>
              <a:off x="6775704" y="2057400"/>
              <a:ext cx="4387102" cy="3977639"/>
            </a:xfrm>
            <a:prstGeom prst="rect">
              <a:avLst/>
            </a:prstGeom>
          </p:spPr>
        </p:pic>
        <p:sp>
          <p:nvSpPr>
            <p:cNvPr id="6" name="Label hdr"/>
            <p:cNvSpPr txBox="1"/>
            <p:nvPr/>
          </p:nvSpPr>
          <p:spPr>
            <a:xfrm>
              <a:off x="6775704" y="1600200"/>
              <a:ext cx="4387102" cy="411480"/>
            </a:xfrm>
            <a:prstGeom prst="rect">
              <a:avLst/>
            </a:prstGeom>
            <a:noFill/>
          </p:spPr>
          <p:txBody>
            <a:bodyPr wrap="none" lIns="0" rIns="0">
              <a:spAutoFit/>
            </a:bodyPr>
            <a:lstStyle/>
            <a:p>
              <a:pPr algn="ctr"/>
              <a:r>
                <a:rPr sz="2200" b="1" dirty="0" err="1">
                  <a:latin typeface="Consolas"/>
                </a:rPr>
                <a:t>ggdensity</a:t>
              </a:r>
              <a:r>
                <a:rPr sz="2200" b="1" dirty="0">
                  <a:latin typeface="Consolas"/>
                </a:rPr>
                <a:t>::</a:t>
              </a:r>
              <a:r>
                <a:rPr sz="2200" b="1" dirty="0" err="1">
                  <a:latin typeface="Consolas"/>
                </a:rPr>
                <a:t>geom_hdr</a:t>
              </a:r>
              <a:r>
                <a:rPr sz="2200" b="1" dirty="0">
                  <a:latin typeface="Consolas"/>
                </a:rPr>
                <a:t>()</a:t>
              </a:r>
            </a:p>
          </p:txBody>
        </p:sp>
      </p:grpSp>
      <p:sp>
        <p:nvSpPr>
          <p:cNvPr id="7"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4.21, 4.22</a:t>
            </a:r>
          </a:p>
        </p:txBody>
      </p:sp>
      <p:sp>
        <p:nvSpPr>
          <p:cNvPr id="10" name="TextBox 9">
            <a:extLst>
              <a:ext uri="{FF2B5EF4-FFF2-40B4-BE49-F238E27FC236}">
                <a16:creationId xmlns:a16="http://schemas.microsoft.com/office/drawing/2014/main" id="{48F2FAAE-DE0D-5C94-D28A-0B87FDF080EE}"/>
              </a:ext>
            </a:extLst>
          </p:cNvPr>
          <p:cNvSpPr txBox="1"/>
          <p:nvPr/>
        </p:nvSpPr>
        <p:spPr>
          <a:xfrm>
            <a:off x="6409944" y="459740"/>
            <a:ext cx="5379720" cy="369332"/>
          </a:xfrm>
          <a:prstGeom prst="rect">
            <a:avLst/>
          </a:prstGeom>
          <a:noFill/>
        </p:spPr>
        <p:txBody>
          <a:bodyPr wrap="square" rtlCol="0">
            <a:spAutoFit/>
          </a:bodyPr>
          <a:lstStyle/>
          <a:p>
            <a:r>
              <a:rPr lang="en-CA" dirty="0"/>
              <a:t>Don’t worry: there are non-parametric alternatives</a:t>
            </a:r>
          </a:p>
        </p:txBody>
      </p:sp>
      <p:sp>
        <p:nvSpPr>
          <p:cNvPr id="11" name="TextBox 10">
            <a:extLst>
              <a:ext uri="{FF2B5EF4-FFF2-40B4-BE49-F238E27FC236}">
                <a16:creationId xmlns:a16="http://schemas.microsoft.com/office/drawing/2014/main" id="{6CF2FA7F-2D02-2C0C-6B3A-58CEA7D80EDF}"/>
              </a:ext>
            </a:extLst>
          </p:cNvPr>
          <p:cNvSpPr txBox="1"/>
          <p:nvPr/>
        </p:nvSpPr>
        <p:spPr>
          <a:xfrm>
            <a:off x="1290320" y="5699759"/>
            <a:ext cx="9692640" cy="655321"/>
          </a:xfrm>
          <a:prstGeom prst="rect">
            <a:avLst/>
          </a:prstGeom>
          <a:noFill/>
        </p:spPr>
        <p:txBody>
          <a:bodyPr wrap="square" rtlCol="0">
            <a:spAutoFit/>
          </a:bodyPr>
          <a:lstStyle/>
          <a:p>
            <a:r>
              <a:rPr lang="en-CA" dirty="0"/>
              <a:t>Bags and high-density regions don't assume normality, yet for the penguins they come out nearly elliptical</a:t>
            </a:r>
          </a:p>
        </p:txBody>
      </p:sp>
      <p:sp>
        <p:nvSpPr>
          <p:cNvPr id="12" name="Slide Number Placeholder 12"/>
          <p:cNvSpPr>
            <a:spLocks noGrp="1"/>
          </p:cNvSpPr>
          <p:nvPr>
            <p:ph type="sldNum" sz="quarter" idx="12"/>
          </p:nvPr>
        </p:nvSpPr>
        <p:spPr/>
        <p:txBody>
          <a:bodyPr/>
          <a:lstStyle/>
          <a:p>
            <a:fld id="{9BFB2853-4965-4727-91C4-384EB30D99A4}" type="slidenum">
              <a:rPr lang="en-CA"/>
              <a:t>17</a:t>
            </a:fld>
            <a:endParaRPr lang="en-CA"/>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
        <p:nvSpPr>
          <p:cNvPr id="10" name="Slide Number Placeholder 10"/>
          <p:cNvSpPr>
            <a:spLocks noGrp="1"/>
          </p:cNvSpPr>
          <p:nvPr>
            <p:ph type="sldNum" sz="quarter" idx="12"/>
          </p:nvPr>
        </p:nvSpPr>
        <p:spPr/>
        <p:txBody>
          <a:bodyPr/>
          <a:lstStyle/>
          <a:p>
            <a:fld id="{9BFB2853-4965-4727-91C4-384EB30D99A4}" type="slidenum">
              <a:rPr lang="en-CA"/>
              <a:t>18</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792DA-38D0-0A13-18FE-D00C390BF6FE}"/>
              </a:ext>
            </a:extLst>
          </p:cNvPr>
          <p:cNvSpPr>
            <a:spLocks noGrp="1"/>
          </p:cNvSpPr>
          <p:nvPr>
            <p:ph type="title"/>
          </p:nvPr>
        </p:nvSpPr>
        <p:spPr/>
        <p:txBody>
          <a:bodyPr/>
          <a:lstStyle/>
          <a:p>
            <a:r>
              <a:rPr lang="en-CA"/>
              <a:t>Thinking about Penguin variables</a:t>
            </a:r>
          </a:p>
        </p:txBody>
      </p:sp>
      <p:sp>
        <p:nvSpPr>
          <p:cNvPr id="3" name="Intro text">
            <a:extLst>
              <a:ext uri="{FF2B5EF4-FFF2-40B4-BE49-F238E27FC236}">
                <a16:creationId xmlns:a16="http://schemas.microsoft.com/office/drawing/2014/main" id="{31270026-3357-36A1-2ABF-DA0EB1E72A7E}"/>
              </a:ext>
            </a:extLst>
          </p:cNvPr>
          <p:cNvSpPr txBox="1"/>
          <p:nvPr/>
        </p:nvSpPr>
        <p:spPr>
          <a:xfrm>
            <a:off x="889000" y="12446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Bill length &amp; depth are two measurements of one object: a penguin’s</a:t>
            </a:r>
            <a:r>
              <a:rPr lang="en-CA" b="1" dirty="0"/>
              <a:t> beak</a:t>
            </a:r>
            <a:r>
              <a:rPr lang="en-CA" dirty="0"/>
              <a:t>.</a:t>
            </a:r>
          </a:p>
          <a:p>
            <a:pPr marL="203200" indent="-203200">
              <a:spcAft>
                <a:spcPts val="400"/>
              </a:spcAft>
              <a:buFont typeface="+mj-lt"/>
              <a:buChar char="•"/>
            </a:pPr>
            <a:r>
              <a:rPr lang="en-CA" dirty="0">
                <a:sym typeface="Symbol" panose="05050102010706020507" pitchFamily="18" charset="2"/>
              </a:rPr>
              <a:t> </a:t>
            </a:r>
            <a:r>
              <a:rPr lang="en-CA" dirty="0"/>
              <a:t>Re-express them as </a:t>
            </a:r>
            <a:r>
              <a:rPr lang="en-CA" b="1" dirty="0"/>
              <a:t>Size</a:t>
            </a:r>
            <a:r>
              <a:rPr lang="en-CA" dirty="0"/>
              <a:t> = L x D and </a:t>
            </a:r>
            <a:r>
              <a:rPr lang="en-CA" b="1" dirty="0"/>
              <a:t>Shape</a:t>
            </a:r>
            <a:r>
              <a:rPr lang="en-CA" dirty="0"/>
              <a:t> = L / D</a:t>
            </a:r>
          </a:p>
        </p:txBody>
      </p:sp>
      <p:sp>
        <p:nvSpPr>
          <p:cNvPr id="4" name="Reveal text">
            <a:extLst>
              <a:ext uri="{FF2B5EF4-FFF2-40B4-BE49-F238E27FC236}">
                <a16:creationId xmlns:a16="http://schemas.microsoft.com/office/drawing/2014/main" id="{F703DD8B-EC5B-F58C-61A5-6711CA9B85C5}"/>
              </a:ext>
            </a:extLst>
          </p:cNvPr>
          <p:cNvSpPr txBox="1"/>
          <p:nvPr/>
        </p:nvSpPr>
        <p:spPr>
          <a:xfrm>
            <a:off x="889000" y="1905000"/>
            <a:ext cx="10414000" cy="697627"/>
          </a:xfrm>
          <a:prstGeom prst="rect">
            <a:avLst/>
          </a:prstGeom>
          <a:noFill/>
        </p:spPr>
        <p:txBody>
          <a:bodyPr vert="horz" wrap="square" rtlCol="0">
            <a:spAutoFit/>
          </a:bodyPr>
          <a:lstStyle/>
          <a:p>
            <a:pPr marL="203200" indent="-203200">
              <a:spcAft>
                <a:spcPts val="400"/>
              </a:spcAft>
              <a:buFont typeface="+mj-lt"/>
              <a:buChar char="•"/>
            </a:pPr>
            <a:r>
              <a:rPr lang="en-CA" dirty="0"/>
              <a:t>On log scales, a </a:t>
            </a:r>
            <a:r>
              <a:rPr lang="en-CA" b="1" dirty="0"/>
              <a:t>45</a:t>
            </a:r>
            <a:r>
              <a:rPr lang="en-CA" dirty="0"/>
              <a:t>° rotation: equivalent data </a:t>
            </a:r>
            <a:r>
              <a:rPr lang="en-CA" dirty="0">
                <a:sym typeface="Symbol" panose="05050102010706020507" pitchFamily="18" charset="2"/>
              </a:rPr>
              <a:t> </a:t>
            </a:r>
            <a:r>
              <a:rPr lang="en-CA" dirty="0"/>
              <a:t>same multivariate tests</a:t>
            </a:r>
          </a:p>
          <a:p>
            <a:pPr marL="203200" indent="-203200">
              <a:spcAft>
                <a:spcPts val="400"/>
              </a:spcAft>
              <a:buFont typeface="+mj-lt"/>
              <a:buChar char="•"/>
            </a:pPr>
            <a:r>
              <a:rPr lang="en-CA" dirty="0"/>
              <a:t>Simpson's paradox </a:t>
            </a:r>
            <a:r>
              <a:rPr lang="en-CA" b="1" dirty="0"/>
              <a:t>disappears</a:t>
            </a:r>
            <a:r>
              <a:rPr lang="en-CA" dirty="0"/>
              <a:t>: species differ in </a:t>
            </a:r>
            <a:r>
              <a:rPr lang="en-CA" b="1" dirty="0"/>
              <a:t>shape</a:t>
            </a:r>
            <a:r>
              <a:rPr lang="en-CA" dirty="0"/>
              <a:t>; within species, bills vary in </a:t>
            </a:r>
            <a:r>
              <a:rPr lang="en-CA" b="1" dirty="0"/>
              <a:t>size</a:t>
            </a:r>
          </a:p>
        </p:txBody>
      </p:sp>
      <p:pic>
        <p:nvPicPr>
          <p:cNvPr id="6" name="Length depth plot">
            <a:extLst>
              <a:ext uri="{FF2B5EF4-FFF2-40B4-BE49-F238E27FC236}">
                <a16:creationId xmlns:a16="http://schemas.microsoft.com/office/drawing/2014/main" id="{96C66D9F-6088-AB1E-EEBA-362D07BAD369}"/>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2032000" y="2641600"/>
            <a:ext cx="3810000" cy="3810000"/>
          </a:xfrm>
          <a:prstGeom prst="rect">
            <a:avLst/>
          </a:prstGeom>
        </p:spPr>
      </p:pic>
      <p:pic>
        <p:nvPicPr>
          <p:cNvPr id="8" name="Size shape plot">
            <a:extLst>
              <a:ext uri="{FF2B5EF4-FFF2-40B4-BE49-F238E27FC236}">
                <a16:creationId xmlns:a16="http://schemas.microsoft.com/office/drawing/2014/main" id="{93E55A64-2715-101B-F7CB-0A9AA8B7A34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350000" y="2641600"/>
            <a:ext cx="3810000" cy="3810000"/>
          </a:xfrm>
          <a:prstGeom prst="rect">
            <a:avLst/>
          </a:prstGeom>
        </p:spPr>
      </p:pic>
      <p:sp>
        <p:nvSpPr>
          <p:cNvPr id="9" name="Source">
            <a:extLst>
              <a:ext uri="{FF2B5EF4-FFF2-40B4-BE49-F238E27FC236}">
                <a16:creationId xmlns:a16="http://schemas.microsoft.com/office/drawing/2014/main" id="{5E68144E-DFDA-5A5A-3A4B-EBC0F9920935}"/>
              </a:ext>
            </a:extLst>
          </p:cNvPr>
          <p:cNvSpPr txBox="1"/>
          <p:nvPr/>
        </p:nvSpPr>
        <p:spPr>
          <a:xfrm>
            <a:off x="838200" y="6453032"/>
            <a:ext cx="5080000" cy="261610"/>
          </a:xfrm>
          <a:prstGeom prst="rect">
            <a:avLst/>
          </a:prstGeom>
          <a:noFill/>
        </p:spPr>
        <p:txBody>
          <a:bodyPr vert="horz" wrap="square" rtlCol="0">
            <a:spAutoFit/>
          </a:bodyPr>
          <a:lstStyle/>
          <a:p>
            <a:pPr>
              <a:spcAft>
                <a:spcPts val="400"/>
              </a:spcAft>
            </a:pPr>
            <a:r>
              <a:rPr lang="en-CA" sz="1100" dirty="0"/>
              <a:t>Blog: </a:t>
            </a:r>
            <a:r>
              <a:rPr lang="en-CA" sz="1100" dirty="0">
                <a:hlinkClick r:id="rId4"/>
              </a:rPr>
              <a:t>friendly.github.io/blog/posts/2026-10-peng-altviews </a:t>
            </a:r>
            <a:endParaRPr lang="en-CA" sz="1100" dirty="0"/>
          </a:p>
        </p:txBody>
      </p:sp>
      <p:sp>
        <p:nvSpPr>
          <p:cNvPr id="5" name="Slide Number Placeholder 4">
            <a:extLst>
              <a:ext uri="{FF2B5EF4-FFF2-40B4-BE49-F238E27FC236}">
                <a16:creationId xmlns:a16="http://schemas.microsoft.com/office/drawing/2014/main" id="{48DA45CF-D7F2-6DA9-D84A-B98336211897}"/>
              </a:ext>
            </a:extLst>
          </p:cNvPr>
          <p:cNvSpPr>
            <a:spLocks noGrp="1"/>
          </p:cNvSpPr>
          <p:nvPr>
            <p:ph type="sldNum" sz="quarter" idx="12"/>
          </p:nvPr>
        </p:nvSpPr>
        <p:spPr/>
        <p:txBody>
          <a:bodyPr/>
          <a:lstStyle/>
          <a:p>
            <a:fld id="{9BFB2853-4965-4727-91C4-384EB30D99A4}" type="slidenum">
              <a:rPr lang="en-CA" smtClean="0"/>
              <a:t>19</a:t>
            </a:fld>
            <a:endParaRPr lang="en-CA"/>
          </a:p>
        </p:txBody>
      </p:sp>
      <p:pic>
        <p:nvPicPr>
          <p:cNvPr id="10" name="Picture 9">
            <a:extLst>
              <a:ext uri="{FF2B5EF4-FFF2-40B4-BE49-F238E27FC236}">
                <a16:creationId xmlns:a16="http://schemas.microsoft.com/office/drawing/2014/main" id="{7B8236D9-68E7-8749-BFF7-3E102C68689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626722" y="1090533"/>
            <a:ext cx="1990406" cy="1281192"/>
          </a:xfrm>
          <a:prstGeom prst="rect">
            <a:avLst/>
          </a:prstGeom>
        </p:spPr>
      </p:pic>
    </p:spTree>
    <p:extLst>
      <p:ext uri="{BB962C8B-B14F-4D97-AF65-F5344CB8AC3E}">
        <p14:creationId xmlns:p14="http://schemas.microsoft.com/office/powerpoint/2010/main" val="17637563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2" presetClass="entr" presetSubtype="8" fill="hold" nodeType="withEffect">
                                  <p:stCondLst>
                                    <p:cond delay="50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0-#ppt_w/2"/>
                                          </p:val>
                                        </p:tav>
                                        <p:tav tm="100000">
                                          <p:val>
                                            <p:strVal val="#ppt_x"/>
                                          </p:val>
                                        </p:tav>
                                      </p:tavLst>
                                    </p:anim>
                                    <p:anim calcmode="lin" valueType="num">
                                      <p:cBhvr additive="base">
                                        <p:cTn id="12"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gtEl>
                                        <p:attrNameLst>
                                          <p:attrName>style.visibility</p:attrName>
                                        </p:attrNameLst>
                                      </p:cBhvr>
                                      <p:to>
                                        <p:strVal val="visible"/>
                                      </p:to>
                                    </p:set>
                                  </p:childTnLst>
                                </p:cTn>
                              </p:par>
                              <p:par>
                                <p:cTn id="17" presetID="2" presetClass="entr" presetSubtype="2" fill="hold" nodeType="withEffect">
                                  <p:stCondLst>
                                    <p:cond delay="500"/>
                                  </p:stCondLst>
                                  <p:childTnLst>
                                    <p:set>
                                      <p:cBhvr>
                                        <p:cTn id="18" dur="1" fill="hold">
                                          <p:stCondLst>
                                            <p:cond delay="0"/>
                                          </p:stCondLst>
                                        </p:cTn>
                                        <p:tgtEl>
                                          <p:spTgt spid="8"/>
                                        </p:tgtEl>
                                        <p:attrNameLst>
                                          <p:attrName>style.visibility</p:attrName>
                                        </p:attrNameLst>
                                      </p:cBhvr>
                                      <p:to>
                                        <p:strVal val="visible"/>
                                      </p:to>
                                    </p:set>
                                    <p:anim calcmode="lin" valueType="num">
                                      <p:cBhvr additive="base">
                                        <p:cTn id="19" dur="500" fill="hold"/>
                                        <p:tgtEl>
                                          <p:spTgt spid="8"/>
                                        </p:tgtEl>
                                        <p:attrNameLst>
                                          <p:attrName>ppt_x</p:attrName>
                                        </p:attrNameLst>
                                      </p:cBhvr>
                                      <p:tavLst>
                                        <p:tav tm="0">
                                          <p:val>
                                            <p:strVal val="1+#ppt_w/2"/>
                                          </p:val>
                                        </p:tav>
                                        <p:tav tm="100000">
                                          <p:val>
                                            <p:strVal val="#ppt_x"/>
                                          </p:val>
                                        </p:tav>
                                      </p:tavLst>
                                    </p:anim>
                                    <p:anim calcmode="lin" valueType="num">
                                      <p:cBhvr additive="base">
                                        <p:cTn id="20" dur="500" fill="hold"/>
                                        <p:tgtEl>
                                          <p:spTgt spid="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
        <p:nvSpPr>
          <p:cNvPr id="6" name="Slide Number Placeholder 6"/>
          <p:cNvSpPr>
            <a:spLocks noGrp="1"/>
          </p:cNvSpPr>
          <p:nvPr>
            <p:ph type="sldNum" sz="quarter" idx="12"/>
          </p:nvPr>
        </p:nvSpPr>
        <p:spPr/>
        <p:txBody>
          <a:bodyPr/>
          <a:lstStyle/>
          <a:p>
            <a:fld id="{9BFB2853-4965-4727-91C4-384EB30D99A4}" type="slidenum">
              <a:rPr lang="en-CA"/>
              <a:t>20</a:t>
            </a:fld>
            <a:endParaRPr lang="en-CA"/>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09600" y="182880"/>
            <a:ext cx="10972800" cy="1143000"/>
          </a:xfrm>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21</a:t>
            </a:fld>
            <a:endParaRPr lang="en-CA"/>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345347" y="1352282"/>
            <a:ext cx="6742088" cy="449472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7276563" y="1352282"/>
            <a:ext cx="424684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
        <p:nvSpPr>
          <p:cNvPr id="7" name="Slide Number Placeholder 7"/>
          <p:cNvSpPr>
            <a:spLocks noGrp="1"/>
          </p:cNvSpPr>
          <p:nvPr>
            <p:ph type="sldNum" sz="quarter" idx="12"/>
          </p:nvPr>
        </p:nvSpPr>
        <p:spPr/>
        <p:txBody>
          <a:bodyPr/>
          <a:lstStyle/>
          <a:p>
            <a:fld id="{9BFB2853-4965-4727-91C4-384EB30D99A4}" type="slidenum">
              <a:rPr lang="en-CA"/>
              <a:t>22</a:t>
            </a:fld>
            <a:endParaRPr lang="en-CA"/>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r>
              <a:rPr lang="en-CA" dirty="0"/>
              <a:t> (</a:t>
            </a:r>
            <a:r>
              <a:rPr lang="en-CA" b="1" dirty="0" err="1">
                <a:latin typeface="Consolas" panose="020B0609020204030204" pitchFamily="49" charset="0"/>
              </a:rPr>
              <a:t>tourr</a:t>
            </a:r>
            <a:r>
              <a:rPr lang="en-CA" dirty="0"/>
              <a:t> pkg)</a:t>
            </a:r>
            <a:endParaRPr dirty="0"/>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
        <p:nvSpPr>
          <p:cNvPr id="5" name="Slide Number Placeholder 5"/>
          <p:cNvSpPr>
            <a:spLocks noGrp="1"/>
          </p:cNvSpPr>
          <p:nvPr>
            <p:ph type="sldNum" sz="quarter" idx="12"/>
          </p:nvPr>
        </p:nvSpPr>
        <p:spPr/>
        <p:txBody>
          <a:bodyPr/>
          <a:lstStyle/>
          <a:p>
            <a:fld id="{9BFB2853-4965-4727-91C4-384EB30D99A4}" type="slidenum">
              <a:rPr lang="en-CA"/>
              <a:t>23</a:t>
            </a:fld>
            <a:endParaRPr lang="en-CA"/>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2F6F6"/>
            </a:gs>
            <a:gs pos="100000">
              <a:srgbClr val="8EC0C0"/>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
        <p:nvSpPr>
          <p:cNvPr id="4" name="Slide Number Placeholder 4"/>
          <p:cNvSpPr>
            <a:spLocks noGrp="1"/>
          </p:cNvSpPr>
          <p:nvPr>
            <p:ph type="sldNum" sz="quarter" idx="12"/>
          </p:nvPr>
        </p:nvSpPr>
        <p:spPr/>
        <p:txBody>
          <a:bodyPr/>
          <a:lstStyle/>
          <a:p>
            <a:fld id="{9BFB2853-4965-4727-91C4-384EB30D99A4}" type="slidenum">
              <a:rPr lang="en-CA"/>
              <a:t>24</a:t>
            </a:fld>
            <a:endParaRPr lang="en-CA"/>
          </a:p>
        </p:txBody>
      </p:sp>
      <p:pic>
        <p:nvPicPr>
          <p:cNvPr id="6" name="Section 2 PCA illustration">
            <a:extLst>
              <a:ext uri="{FF2B5EF4-FFF2-40B4-BE49-F238E27FC236}">
                <a16:creationId xmlns:a16="http://schemas.microsoft.com/office/drawing/2014/main" id="{0E381DE4-FBD8-26D3-77BF-02D3A0BA129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800100" y="177800"/>
            <a:ext cx="2413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2 biplot illustration">
            <a:extLst>
              <a:ext uri="{FF2B5EF4-FFF2-40B4-BE49-F238E27FC236}">
                <a16:creationId xmlns:a16="http://schemas.microsoft.com/office/drawing/2014/main" id="{A381116F-44E9-5493-529B-32E88384128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3492500" y="177800"/>
            <a:ext cx="2794000" cy="2413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2 t-SNE illustration">
            <a:extLst>
              <a:ext uri="{FF2B5EF4-FFF2-40B4-BE49-F238E27FC236}">
                <a16:creationId xmlns:a16="http://schemas.microsoft.com/office/drawing/2014/main" id="{00821F38-1AD3-163D-3E8A-5D3240EEC09E}"/>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6565900" y="177800"/>
            <a:ext cx="4826000" cy="2413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mc:AlternateContent xmlns:mc="http://schemas.openxmlformats.org/markup-compatibility/2006" xmlns:p14="http://schemas.microsoft.com/office/powerpoint/2010/main">
    <mc:Choice Requires="p14">
      <p:transition spd="slow" p14:dur="2000">
        <p14:prism isContent="1"/>
      </p:transition>
    </mc:Choice>
    <mc:Fallback xmlns="">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rgbClr val="008080">
              <a:alpha val="22000"/>
            </a:srgbClr>
          </a:solidFill>
          <a:ln w="19050">
            <a:solidFill>
              <a:srgbClr val="008080"/>
            </a:solidFill>
          </a:ln>
        </p:spPr>
        <p:txBody>
          <a:bodyPr wrap="square" rtlCol="0">
            <a:spAutoFit/>
          </a:bodyPr>
          <a:lstStyle/>
          <a:p>
            <a:r>
              <a:rPr lang="en-US" sz="4800" dirty="0">
                <a:solidFill>
                  <a:srgbClr val="000000"/>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
        <p:nvSpPr>
          <p:cNvPr id="14" name="Slide Number Placeholder 14"/>
          <p:cNvSpPr>
            <a:spLocks noGrp="1"/>
          </p:cNvSpPr>
          <p:nvPr>
            <p:ph type="sldNum" sz="quarter" idx="12"/>
          </p:nvPr>
        </p:nvSpPr>
        <p:spPr/>
        <p:txBody>
          <a:bodyPr/>
          <a:lstStyle/>
          <a:p>
            <a:fld id="{9BFB2853-4965-4727-91C4-384EB30D99A4}" type="slidenum">
              <a:rPr lang="en-CA"/>
              <a:t>25</a:t>
            </a:fld>
            <a:endParaRPr lang="en-CA"/>
          </a:p>
        </p:txBody>
      </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169825"/>
          </a:xfrm>
          <a:prstGeom prst="rect">
            <a:avLst/>
          </a:prstGeom>
          <a:noFill/>
        </p:spPr>
        <p:txBody>
          <a:bodyPr wrap="square">
            <a:spAutoFit/>
          </a:bodyPr>
          <a:lstStyle/>
          <a:p>
            <a:r>
              <a:rPr sz="2400" dirty="0"/>
              <a:t>PCA is a rotation of the axes: PC1 lies along the direction of greatest variance, PC2 is orthogonal to it.</a:t>
            </a:r>
          </a:p>
          <a:p>
            <a:pPr>
              <a:spcBef>
                <a:spcPts val="1800"/>
              </a:spcBef>
            </a:pPr>
            <a:r>
              <a:rPr sz="2400" b="0" dirty="0"/>
              <a:t>Outliers typically appear on the </a:t>
            </a:r>
            <a:r>
              <a:rPr sz="2400" b="1" dirty="0"/>
              <a:t>smallest</a:t>
            </a:r>
            <a:r>
              <a:rPr sz="2400" b="0" dirty="0"/>
              <a:t> dimensions</a:t>
            </a:r>
            <a:r>
              <a:rPr lang="en-CA" sz="2400" b="0" dirty="0"/>
              <a:t> (“Waldo space”)</a:t>
            </a:r>
            <a:endParaRPr sz="2400" b="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26</a:t>
            </a:fld>
            <a:endParaRPr lang="en-CA"/>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27</a:t>
            </a:fld>
            <a:endParaRPr lang="en-CA"/>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280293"/>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28</a:t>
            </a:fld>
            <a:endParaRPr lang="en-CA"/>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292777"/>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
        <p:nvSpPr>
          <p:cNvPr id="11" name="Slide Number Placeholder 11"/>
          <p:cNvSpPr>
            <a:spLocks noGrp="1"/>
          </p:cNvSpPr>
          <p:nvPr>
            <p:ph type="sldNum" sz="quarter" idx="12"/>
          </p:nvPr>
        </p:nvSpPr>
        <p:spPr/>
        <p:txBody>
          <a:bodyPr/>
          <a:lstStyle/>
          <a:p>
            <a:fld id="{9BFB2853-4965-4727-91C4-384EB30D99A4}" type="slidenum">
              <a:rPr lang="en-CA"/>
              <a:t>29</a:t>
            </a:fld>
            <a:endParaRPr lang="en-CA"/>
          </a:p>
        </p:txBody>
      </p:sp>
    </p:spTree>
    <p:extLst>
      <p:ext uri="{BB962C8B-B14F-4D97-AF65-F5344CB8AC3E}">
        <p14:creationId xmlns:p14="http://schemas.microsoft.com/office/powerpoint/2010/main" val="18081444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
        <p:nvSpPr>
          <p:cNvPr id="6" name="Slide Number Placeholder 6"/>
          <p:cNvSpPr>
            <a:spLocks noGrp="1"/>
          </p:cNvSpPr>
          <p:nvPr>
            <p:ph type="sldNum" sz="quarter" idx="12"/>
          </p:nvPr>
        </p:nvSpPr>
        <p:spPr/>
        <p:txBody>
          <a:bodyPr/>
          <a:lstStyle/>
          <a:p>
            <a:fld id="{9BFB2853-4965-4727-91C4-384EB30D99A4}" type="slidenum">
              <a:rPr lang="en-CA"/>
              <a:t>30</a:t>
            </a:fld>
            <a:endParaRPr lang="en-CA"/>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
        <p:nvSpPr>
          <p:cNvPr id="7" name="Slide Number Placeholder 7"/>
          <p:cNvSpPr>
            <a:spLocks noGrp="1"/>
          </p:cNvSpPr>
          <p:nvPr>
            <p:ph type="sldNum" sz="quarter" idx="12"/>
          </p:nvPr>
        </p:nvSpPr>
        <p:spPr/>
        <p:txBody>
          <a:bodyPr/>
          <a:lstStyle/>
          <a:p>
            <a:fld id="{9BFB2853-4965-4727-91C4-384EB30D99A4}" type="slidenum">
              <a:rPr lang="en-CA"/>
              <a:t>31</a:t>
            </a:fld>
            <a:endParaRPr lang="en-CA"/>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3F6F4"/>
            </a:gs>
            <a:gs pos="100000">
              <a:srgbClr val="9DC0AA"/>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Understanding collinearity</a:t>
            </a:r>
          </a:p>
          <a:p>
            <a:pPr marL="342900" indent="-342900">
              <a:buFont typeface="Arial" panose="020B0604020202020204" pitchFamily="34" charset="0"/>
              <a:buChar char="•"/>
            </a:pPr>
            <a:r>
              <a:rPr lang="en-CA" dirty="0"/>
              <a:t>Ridge regression</a:t>
            </a:r>
            <a:endParaRPr dirty="0"/>
          </a:p>
        </p:txBody>
      </p:sp>
      <p:sp>
        <p:nvSpPr>
          <p:cNvPr id="4" name="Slide Number Placeholder 4"/>
          <p:cNvSpPr>
            <a:spLocks noGrp="1"/>
          </p:cNvSpPr>
          <p:nvPr>
            <p:ph type="sldNum" sz="quarter" idx="12"/>
          </p:nvPr>
        </p:nvSpPr>
        <p:spPr/>
        <p:txBody>
          <a:bodyPr/>
          <a:lstStyle/>
          <a:p>
            <a:fld id="{9BFB2853-4965-4727-91C4-384EB30D99A4}" type="slidenum">
              <a:rPr lang="en-CA"/>
              <a:t>32</a:t>
            </a:fld>
            <a:endParaRPr lang="en-CA"/>
          </a:p>
        </p:txBody>
      </p:sp>
      <p:pic>
        <p:nvPicPr>
          <p:cNvPr id="6" name="Section 3 outlier illustration">
            <a:extLst>
              <a:ext uri="{FF2B5EF4-FFF2-40B4-BE49-F238E27FC236}">
                <a16:creationId xmlns:a16="http://schemas.microsoft.com/office/drawing/2014/main" id="{D9874DB1-9794-A74C-8677-BF4D8C7677EF}"/>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469900" y="177800"/>
            <a:ext cx="20574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3 measurement error illustration">
            <a:extLst>
              <a:ext uri="{FF2B5EF4-FFF2-40B4-BE49-F238E27FC236}">
                <a16:creationId xmlns:a16="http://schemas.microsoft.com/office/drawing/2014/main" id="{6436CD5E-74D1-4A25-DD57-A748B2B1C2A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2806700" y="177800"/>
            <a:ext cx="4000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3 ridge illustration">
            <a:extLst>
              <a:ext uri="{FF2B5EF4-FFF2-40B4-BE49-F238E27FC236}">
                <a16:creationId xmlns:a16="http://schemas.microsoft.com/office/drawing/2014/main" id="{7FE5C6B1-2945-D860-D3B7-C44ECD2BABAB}"/>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086600" y="177800"/>
            <a:ext cx="4635500" cy="1905000"/>
          </a:xfrm>
          <a:prstGeom prst="rect">
            <a:avLst/>
          </a:prstGeom>
          <a:ln w="9525">
            <a:solidFill>
              <a:srgbClr val="3A3A3A"/>
            </a:solidFill>
          </a:ln>
          <a:effectLst>
            <a:outerShdw blurRad="101600" dist="45790" dir="3378598" rotWithShape="0">
              <a:srgbClr val="000000">
                <a:alpha val="40000"/>
              </a:srgbClr>
            </a:outerShdw>
          </a:effectLst>
        </p:spPr>
      </p:pic>
      <p:pic>
        <p:nvPicPr>
          <p:cNvPr id="12" name="Section 3 Wally">
            <a:extLst>
              <a:ext uri="{FF2B5EF4-FFF2-40B4-BE49-F238E27FC236}">
                <a16:creationId xmlns:a16="http://schemas.microsoft.com/office/drawing/2014/main" id="{AEDF897F-DFC6-ED44-2B58-B03DA455DDA4}"/>
              </a:ext>
            </a:extLst>
          </p:cNvPr>
          <p:cNvPicPr>
            <a:picLocks/>
          </p:cNvPicPr>
          <p:nvPr/>
        </p:nvPicPr>
        <p:blipFill>
          <a:blip r:embed="rId5">
            <a:clrChange>
              <a:clrFrom>
                <a:srgbClr val="FFFFFF"/>
              </a:clrFrom>
              <a:clrTo>
                <a:srgbClr val="FFFFFF">
                  <a:alpha val="0"/>
                </a:srgbClr>
              </a:clrTo>
            </a:clrChange>
          </a:blip>
          <a:srcRect l="2228" t="2228" r="1114" b="1114"/>
          <a:stretch>
            <a:fillRect/>
          </a:stretch>
        </p:blipFill>
        <p:spPr>
          <a:xfrm>
            <a:off x="6364714" y="2503914"/>
            <a:ext cx="638329" cy="638329"/>
          </a:xfrm>
          <a:prstGeom prst="rect">
            <a:avLst/>
          </a:prstGeom>
          <a:solidFill>
            <a:schemeClr val="accent1">
              <a:alpha val="0"/>
            </a:schemeClr>
          </a:solidFill>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
        <p:nvSpPr>
          <p:cNvPr id="18" name="Slide Number Placeholder 18"/>
          <p:cNvSpPr>
            <a:spLocks noGrp="1"/>
          </p:cNvSpPr>
          <p:nvPr>
            <p:ph type="sldNum" sz="quarter" idx="12"/>
          </p:nvPr>
        </p:nvSpPr>
        <p:spPr/>
        <p:txBody>
          <a:bodyPr/>
          <a:lstStyle/>
          <a:p>
            <a:fld id="{9BFB2853-4965-4727-91C4-384EB30D99A4}" type="slidenum">
              <a:rPr lang="en-CA"/>
              <a:t>33</a:t>
            </a:fld>
            <a:endParaRPr lang="en-CA"/>
          </a:p>
        </p:txBody>
      </p:sp>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grpSp>
        <p:nvGrpSpPr>
          <p:cNvPr id="14" name="Group 13">
            <a:extLst>
              <a:ext uri="{FF2B5EF4-FFF2-40B4-BE49-F238E27FC236}">
                <a16:creationId xmlns:a16="http://schemas.microsoft.com/office/drawing/2014/main" id="{0728BF96-A0F7-C957-E62B-262E4BCB0347}"/>
              </a:ext>
            </a:extLst>
          </p:cNvPr>
          <p:cNvGrpSpPr/>
          <p:nvPr/>
        </p:nvGrpSpPr>
        <p:grpSpPr>
          <a:xfrm>
            <a:off x="6236208" y="1537256"/>
            <a:ext cx="5120640" cy="4380786"/>
            <a:chOff x="6236208" y="1537256"/>
            <a:chExt cx="5120640" cy="4380786"/>
          </a:xfrm>
        </p:grpSpPr>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We can try to understand why they are unusual in data space of some variables </a:t>
              </a:r>
              <a:endParaRPr sz="1800" dirty="0"/>
            </a:p>
          </p:txBody>
        </p:sp>
      </p:grpSp>
      <p:sp>
        <p:nvSpPr>
          <p:cNvPr id="11" name="TextBox 10">
            <a:extLst>
              <a:ext uri="{FF2B5EF4-FFF2-40B4-BE49-F238E27FC236}">
                <a16:creationId xmlns:a16="http://schemas.microsoft.com/office/drawing/2014/main" id="{B7B1B822-CDD6-B8D6-EA82-C5F2B658B34B}"/>
              </a:ext>
            </a:extLst>
          </p:cNvPr>
          <p:cNvSpPr txBox="1"/>
          <p:nvPr/>
        </p:nvSpPr>
        <p:spPr>
          <a:xfrm>
            <a:off x="10510789" y="2446269"/>
            <a:ext cx="839963" cy="307777"/>
          </a:xfrm>
          <a:prstGeom prst="rect">
            <a:avLst/>
          </a:prstGeom>
          <a:solidFill>
            <a:schemeClr val="accent5">
              <a:lumMod val="75000"/>
              <a:alpha val="20000"/>
            </a:schemeClr>
          </a:solidFill>
        </p:spPr>
        <p:txBody>
          <a:bodyPr wrap="square" rtlCol="0">
            <a:spAutoFit/>
          </a:bodyPr>
          <a:lstStyle/>
          <a:p>
            <a:pPr algn="ctr"/>
            <a:r>
              <a:rPr lang="en-CA" sz="1400" dirty="0"/>
              <a:t>Cyrano</a:t>
            </a:r>
          </a:p>
        </p:txBody>
      </p:sp>
      <p:sp>
        <p:nvSpPr>
          <p:cNvPr id="13" name="TextBox 12">
            <a:extLst>
              <a:ext uri="{FF2B5EF4-FFF2-40B4-BE49-F238E27FC236}">
                <a16:creationId xmlns:a16="http://schemas.microsoft.com/office/drawing/2014/main" id="{30A4AC45-70A4-F6BB-40CF-B12C51195345}"/>
              </a:ext>
            </a:extLst>
          </p:cNvPr>
          <p:cNvSpPr txBox="1"/>
          <p:nvPr/>
        </p:nvSpPr>
        <p:spPr>
          <a:xfrm>
            <a:off x="6827520" y="1959243"/>
            <a:ext cx="1155032" cy="307777"/>
          </a:xfrm>
          <a:prstGeom prst="rect">
            <a:avLst/>
          </a:prstGeom>
          <a:solidFill>
            <a:schemeClr val="accent2">
              <a:lumMod val="40000"/>
              <a:lumOff val="60000"/>
              <a:alpha val="50000"/>
            </a:schemeClr>
          </a:solidFill>
        </p:spPr>
        <p:txBody>
          <a:bodyPr wrap="square" rtlCol="0">
            <a:spAutoFit/>
          </a:bodyPr>
          <a:lstStyle/>
          <a:p>
            <a:pPr algn="ctr"/>
            <a:r>
              <a:rPr lang="en-CA" sz="1400" dirty="0"/>
              <a:t>Hook Nose</a:t>
            </a:r>
          </a:p>
        </p:txBody>
      </p:sp>
      <p:sp>
        <p:nvSpPr>
          <p:cNvPr id="15" name="Slide Number Placeholder 15"/>
          <p:cNvSpPr>
            <a:spLocks noGrp="1"/>
          </p:cNvSpPr>
          <p:nvPr>
            <p:ph type="sldNum" sz="quarter" idx="12"/>
          </p:nvPr>
        </p:nvSpPr>
        <p:spPr/>
        <p:txBody>
          <a:bodyPr/>
          <a:lstStyle/>
          <a:p>
            <a:fld id="{9BFB2853-4965-4727-91C4-384EB30D99A4}" type="slidenum">
              <a:rPr lang="en-CA"/>
              <a:t>34</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3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anim calcmode="lin" valueType="num">
                                      <p:cBhvr>
                                        <p:cTn id="11" dur="1000" fill="hold"/>
                                        <p:tgtEl>
                                          <p:spTgt spid="11"/>
                                        </p:tgtEl>
                                        <p:attrNameLst>
                                          <p:attrName>ppt_w</p:attrName>
                                        </p:attrNameLst>
                                      </p:cBhvr>
                                      <p:tavLst>
                                        <p:tav tm="0">
                                          <p:val>
                                            <p:fltVal val="0"/>
                                          </p:val>
                                        </p:tav>
                                        <p:tav tm="100000">
                                          <p:val>
                                            <p:strVal val="#ppt_w"/>
                                          </p:val>
                                        </p:tav>
                                      </p:tavLst>
                                    </p:anim>
                                    <p:anim calcmode="lin" valueType="num">
                                      <p:cBhvr>
                                        <p:cTn id="12" dur="1000" fill="hold"/>
                                        <p:tgtEl>
                                          <p:spTgt spid="11"/>
                                        </p:tgtEl>
                                        <p:attrNameLst>
                                          <p:attrName>ppt_h</p:attrName>
                                        </p:attrNameLst>
                                      </p:cBhvr>
                                      <p:tavLst>
                                        <p:tav tm="0">
                                          <p:val>
                                            <p:fltVal val="0"/>
                                          </p:val>
                                        </p:tav>
                                        <p:tav tm="100000">
                                          <p:val>
                                            <p:strVal val="#ppt_h"/>
                                          </p:val>
                                        </p:tav>
                                      </p:tavLst>
                                    </p:anim>
                                    <p:anim calcmode="lin" valueType="num">
                                      <p:cBhvr>
                                        <p:cTn id="13" dur="1000" fill="hold"/>
                                        <p:tgtEl>
                                          <p:spTgt spid="11"/>
                                        </p:tgtEl>
                                        <p:attrNameLst>
                                          <p:attrName>style.rotation</p:attrName>
                                        </p:attrNameLst>
                                      </p:cBhvr>
                                      <p:tavLst>
                                        <p:tav tm="0">
                                          <p:val>
                                            <p:fltVal val="90"/>
                                          </p:val>
                                        </p:tav>
                                        <p:tav tm="100000">
                                          <p:val>
                                            <p:fltVal val="0"/>
                                          </p:val>
                                        </p:tav>
                                      </p:tavLst>
                                    </p:anim>
                                    <p:animEffect transition="in" filter="fade">
                                      <p:cBhvr>
                                        <p:cTn id="14" dur="1000"/>
                                        <p:tgtEl>
                                          <p:spTgt spid="11"/>
                                        </p:tgtEl>
                                      </p:cBhvr>
                                    </p:animEffect>
                                  </p:childTnLst>
                                </p:cTn>
                              </p:par>
                            </p:childTnLst>
                          </p:cTn>
                        </p:par>
                      </p:childTnLst>
                    </p:cTn>
                  </p:par>
                  <p:par>
                    <p:cTn id="15" fill="hold">
                      <p:stCondLst>
                        <p:cond delay="indefinite"/>
                      </p:stCondLst>
                      <p:childTnLst>
                        <p:par>
                          <p:cTn id="16" fill="hold">
                            <p:stCondLst>
                              <p:cond delay="0"/>
                            </p:stCondLst>
                            <p:childTnLst>
                              <p:par>
                                <p:cTn id="17" presetID="31" presetClass="entr" presetSubtype="0" fill="hold" grpId="0" nodeType="clickEffect">
                                  <p:stCondLst>
                                    <p:cond delay="0"/>
                                  </p:stCondLst>
                                  <p:childTnLst>
                                    <p:set>
                                      <p:cBhvr>
                                        <p:cTn id="18" dur="1" fill="hold">
                                          <p:stCondLst>
                                            <p:cond delay="0"/>
                                          </p:stCondLst>
                                        </p:cTn>
                                        <p:tgtEl>
                                          <p:spTgt spid="13"/>
                                        </p:tgtEl>
                                        <p:attrNameLst>
                                          <p:attrName>style.visibility</p:attrName>
                                        </p:attrNameLst>
                                      </p:cBhvr>
                                      <p:to>
                                        <p:strVal val="visible"/>
                                      </p:to>
                                    </p:set>
                                    <p:anim calcmode="lin" valueType="num">
                                      <p:cBhvr>
                                        <p:cTn id="19" dur="1000" fill="hold"/>
                                        <p:tgtEl>
                                          <p:spTgt spid="13"/>
                                        </p:tgtEl>
                                        <p:attrNameLst>
                                          <p:attrName>ppt_w</p:attrName>
                                        </p:attrNameLst>
                                      </p:cBhvr>
                                      <p:tavLst>
                                        <p:tav tm="0">
                                          <p:val>
                                            <p:fltVal val="0"/>
                                          </p:val>
                                        </p:tav>
                                        <p:tav tm="100000">
                                          <p:val>
                                            <p:strVal val="#ppt_w"/>
                                          </p:val>
                                        </p:tav>
                                      </p:tavLst>
                                    </p:anim>
                                    <p:anim calcmode="lin" valueType="num">
                                      <p:cBhvr>
                                        <p:cTn id="20" dur="1000" fill="hold"/>
                                        <p:tgtEl>
                                          <p:spTgt spid="13"/>
                                        </p:tgtEl>
                                        <p:attrNameLst>
                                          <p:attrName>ppt_h</p:attrName>
                                        </p:attrNameLst>
                                      </p:cBhvr>
                                      <p:tavLst>
                                        <p:tav tm="0">
                                          <p:val>
                                            <p:fltVal val="0"/>
                                          </p:val>
                                        </p:tav>
                                        <p:tav tm="100000">
                                          <p:val>
                                            <p:strVal val="#ppt_h"/>
                                          </p:val>
                                        </p:tav>
                                      </p:tavLst>
                                    </p:anim>
                                    <p:anim calcmode="lin" valueType="num">
                                      <p:cBhvr>
                                        <p:cTn id="21" dur="1000" fill="hold"/>
                                        <p:tgtEl>
                                          <p:spTgt spid="13"/>
                                        </p:tgtEl>
                                        <p:attrNameLst>
                                          <p:attrName>style.rotation</p:attrName>
                                        </p:attrNameLst>
                                      </p:cBhvr>
                                      <p:tavLst>
                                        <p:tav tm="0">
                                          <p:val>
                                            <p:fltVal val="90"/>
                                          </p:val>
                                        </p:tav>
                                        <p:tav tm="100000">
                                          <p:val>
                                            <p:fltVal val="0"/>
                                          </p:val>
                                        </p:tav>
                                      </p:tavLst>
                                    </p:anim>
                                    <p:animEffect transition="in" filter="fade">
                                      <p:cBhvr>
                                        <p:cTn id="22" dur="10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a:t>
            </a:r>
            <a:r>
              <a:rPr lang="en-CA" dirty="0"/>
              <a:t>the </a:t>
            </a:r>
            <a:r>
              <a:rPr dirty="0"/>
              <a:t>typical</a:t>
            </a:r>
            <a:r>
              <a:rPr lang="en-CA" dirty="0"/>
              <a:t> penguins</a:t>
            </a:r>
            <a:endParaRPr dirty="0"/>
          </a:p>
          <a:p>
            <a:r>
              <a:rPr dirty="0"/>
              <a:t>The last dimensions show what does not fit </a:t>
            </a:r>
            <a:r>
              <a:rPr dirty="0" err="1"/>
              <a:t>th</a:t>
            </a:r>
            <a:r>
              <a:rPr lang="en-CA" dirty="0"/>
              <a:t>at</a:t>
            </a:r>
            <a:r>
              <a:rPr dirty="0"/>
              <a:t>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p>
          <a:p>
            <a:r>
              <a:rPr lang="en-CA" dirty="0"/>
              <a:t>Outliers are often extremes in Waldo space </a:t>
            </a:r>
          </a:p>
          <a:p>
            <a:pPr lvl="1"/>
            <a:r>
              <a:rPr lang="en-CA" dirty="0">
                <a:sym typeface="Symbol" panose="05050102010706020507" pitchFamily="18" charset="2"/>
              </a:rPr>
              <a:t> why they’re weird</a:t>
            </a:r>
            <a:endParaRPr lang="en-CA"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solidFill>
            <a:schemeClr val="accent5">
              <a:lumMod val="75000"/>
              <a:alpha val="20000"/>
            </a:schemeClr>
          </a:solidFill>
        </p:spPr>
        <p:txBody>
          <a:bodyPr wrap="square" rtlCol="0">
            <a:spAutoFit/>
          </a:bodyPr>
          <a:lstStyle/>
          <a:p>
            <a:pPr algn="ctr"/>
            <a:r>
              <a:rPr lang="en-CA" sz="1600" dirty="0"/>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49273"/>
            <a:ext cx="1155032" cy="338554"/>
          </a:xfrm>
          <a:prstGeom prst="rect">
            <a:avLst/>
          </a:prstGeom>
          <a:solidFill>
            <a:schemeClr val="accent2">
              <a:lumMod val="40000"/>
              <a:lumOff val="60000"/>
              <a:alpha val="50000"/>
            </a:schemeClr>
          </a:solidFill>
        </p:spPr>
        <p:txBody>
          <a:bodyPr wrap="square" rtlCol="0">
            <a:spAutoFit/>
          </a:bodyPr>
          <a:lstStyle/>
          <a:p>
            <a:pPr algn="ctr"/>
            <a:r>
              <a:rPr lang="en-CA" sz="1600" dirty="0"/>
              <a:t>Hook Nose</a:t>
            </a:r>
          </a:p>
        </p:txBody>
      </p:sp>
      <p:pic>
        <p:nvPicPr>
          <p:cNvPr id="7" name="Picture 6">
            <a:extLst>
              <a:ext uri="{FF2B5EF4-FFF2-40B4-BE49-F238E27FC236}">
                <a16:creationId xmlns:a16="http://schemas.microsoft.com/office/drawing/2014/main" id="{43C94EC3-1E5F-B9F0-E6DF-F78F37E16132}"/>
              </a:ext>
            </a:extLst>
          </p:cNvPr>
          <p:cNvPicPr>
            <a:picLocks noChangeAspect="1"/>
          </p:cNvPicPr>
          <p:nvPr/>
        </p:nvPicPr>
        <p:blipFill>
          <a:blip r:embed="rId4"/>
          <a:stretch>
            <a:fillRect/>
          </a:stretch>
        </p:blipFill>
        <p:spPr>
          <a:xfrm>
            <a:off x="8477590" y="628416"/>
            <a:ext cx="568780" cy="568780"/>
          </a:xfrm>
          <a:prstGeom prst="rect">
            <a:avLst/>
          </a:prstGeom>
        </p:spPr>
      </p:pic>
      <p:sp>
        <p:nvSpPr>
          <p:cNvPr id="9" name="Oval 8">
            <a:extLst>
              <a:ext uri="{FF2B5EF4-FFF2-40B4-BE49-F238E27FC236}">
                <a16:creationId xmlns:a16="http://schemas.microsoft.com/office/drawing/2014/main" id="{1EE4686E-46B0-015D-AEC7-4AB8205148C7}"/>
              </a:ext>
            </a:extLst>
          </p:cNvPr>
          <p:cNvSpPr/>
          <p:nvPr/>
        </p:nvSpPr>
        <p:spPr>
          <a:xfrm>
            <a:off x="6149367" y="1754982"/>
            <a:ext cx="1105408" cy="439578"/>
          </a:xfrm>
          <a:prstGeom prst="ellipse">
            <a:avLst/>
          </a:prstGeom>
          <a:noFill/>
          <a:ln>
            <a:solidFill>
              <a:srgbClr val="7030A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D29959FF-9D58-0D20-8146-01A5BF7DE215}"/>
              </a:ext>
            </a:extLst>
          </p:cNvPr>
          <p:cNvSpPr/>
          <p:nvPr/>
        </p:nvSpPr>
        <p:spPr>
          <a:xfrm>
            <a:off x="10564288" y="4385693"/>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3" name="Oval 12">
            <a:extLst>
              <a:ext uri="{FF2B5EF4-FFF2-40B4-BE49-F238E27FC236}">
                <a16:creationId xmlns:a16="http://schemas.microsoft.com/office/drawing/2014/main" id="{90AEDFDF-B464-BFE6-6D44-4DC15C2BF7B1}"/>
              </a:ext>
            </a:extLst>
          </p:cNvPr>
          <p:cNvSpPr/>
          <p:nvPr/>
        </p:nvSpPr>
        <p:spPr>
          <a:xfrm>
            <a:off x="9338217" y="1974771"/>
            <a:ext cx="1105408" cy="439578"/>
          </a:xfrm>
          <a:prstGeom prst="ellipse">
            <a:avLst/>
          </a:prstGeom>
          <a:no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4" name="Picture 13">
            <a:extLst>
              <a:ext uri="{FF2B5EF4-FFF2-40B4-BE49-F238E27FC236}">
                <a16:creationId xmlns:a16="http://schemas.microsoft.com/office/drawing/2014/main" id="{B43C77F9-2A28-ED64-1B9B-EB53DE05DDBC}"/>
              </a:ext>
            </a:extLst>
          </p:cNvPr>
          <p:cNvPicPr>
            <a:picLocks noChangeAspect="1"/>
          </p:cNvPicPr>
          <p:nvPr/>
        </p:nvPicPr>
        <p:blipFill>
          <a:blip r:embed="rId4"/>
          <a:stretch>
            <a:fillRect/>
          </a:stretch>
        </p:blipFill>
        <p:spPr>
          <a:xfrm>
            <a:off x="9053827" y="628416"/>
            <a:ext cx="568780" cy="568780"/>
          </a:xfrm>
          <a:prstGeom prst="rect">
            <a:avLst/>
          </a:prstGeom>
        </p:spPr>
      </p:pic>
      <p:pic>
        <p:nvPicPr>
          <p:cNvPr id="15" name="Picture 14">
            <a:extLst>
              <a:ext uri="{FF2B5EF4-FFF2-40B4-BE49-F238E27FC236}">
                <a16:creationId xmlns:a16="http://schemas.microsoft.com/office/drawing/2014/main" id="{E6A1C750-3904-64B0-4EBF-F1A4C72D1606}"/>
              </a:ext>
            </a:extLst>
          </p:cNvPr>
          <p:cNvPicPr>
            <a:picLocks noChangeAspect="1"/>
          </p:cNvPicPr>
          <p:nvPr/>
        </p:nvPicPr>
        <p:blipFill>
          <a:blip r:embed="rId4"/>
          <a:stretch>
            <a:fillRect/>
          </a:stretch>
        </p:blipFill>
        <p:spPr>
          <a:xfrm>
            <a:off x="9865952" y="628416"/>
            <a:ext cx="568780" cy="568780"/>
          </a:xfrm>
          <a:prstGeom prst="rect">
            <a:avLst/>
          </a:prstGeom>
        </p:spPr>
      </p:pic>
      <p:sp>
        <p:nvSpPr>
          <p:cNvPr id="16" name="Slide Number Placeholder 16"/>
          <p:cNvSpPr>
            <a:spLocks noGrp="1"/>
          </p:cNvSpPr>
          <p:nvPr>
            <p:ph type="sldNum" sz="quarter" idx="12"/>
          </p:nvPr>
        </p:nvSpPr>
        <p:spPr/>
        <p:txBody>
          <a:bodyPr/>
          <a:lstStyle/>
          <a:p>
            <a:fld id="{9BFB2853-4965-4727-91C4-384EB30D99A4}" type="slidenum">
              <a:rPr lang="en-CA"/>
              <a:t>35</a:t>
            </a:fld>
            <a:endParaRPr lang="en-CA"/>
          </a:p>
        </p:txBody>
      </p:sp>
    </p:spTree>
  </p:cSld>
  <p:clrMapOvr>
    <a:masterClrMapping/>
  </p:clrMapOvr>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14:presetBounceEnd="56000">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14:bounceEnd="56000">
                                          <p:cBhvr additive="base">
                                            <p:cTn id="11" dur="500" fill="hold"/>
                                            <p:tgtEl>
                                              <p:spTgt spid="14"/>
                                            </p:tgtEl>
                                            <p:attrNameLst>
                                              <p:attrName>ppt_x</p:attrName>
                                            </p:attrNameLst>
                                          </p:cBhvr>
                                          <p:tavLst>
                                            <p:tav tm="0">
                                              <p:val>
                                                <p:strVal val="1+#ppt_w/2"/>
                                              </p:val>
                                            </p:tav>
                                            <p:tav tm="100000">
                                              <p:val>
                                                <p:strVal val="#ppt_x"/>
                                              </p:val>
                                            </p:tav>
                                          </p:tavLst>
                                        </p:anim>
                                        <p:anim calcmode="lin" valueType="num" p14:bounceEnd="56000">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2" fill="hold" nodeType="withEffect">
                                      <p:stCondLst>
                                        <p:cond delay="75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par>
                                    <p:cTn id="9" presetID="2" presetClass="entr" presetSubtype="2" fill="hold" nodeType="withEffect">
                                      <p:stCondLst>
                                        <p:cond delay="75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1+#ppt_w/2"/>
                                              </p:val>
                                            </p:tav>
                                            <p:tav tm="100000">
                                              <p:val>
                                                <p:strVal val="#ppt_x"/>
                                              </p:val>
                                            </p:tav>
                                          </p:tavLst>
                                        </p:anim>
                                        <p:anim calcmode="lin" valueType="num">
                                          <p:cBhvr additive="base">
                                            <p:cTn id="12" dur="500" fill="hold"/>
                                            <p:tgtEl>
                                              <p:spTgt spid="14"/>
                                            </p:tgtEl>
                                            <p:attrNameLst>
                                              <p:attrName>ppt_y</p:attrName>
                                            </p:attrNameLst>
                                          </p:cBhvr>
                                          <p:tavLst>
                                            <p:tav tm="0">
                                              <p:val>
                                                <p:strVal val="#ppt_y"/>
                                              </p:val>
                                            </p:tav>
                                            <p:tav tm="100000">
                                              <p:val>
                                                <p:strVal val="#ppt_y"/>
                                              </p:val>
                                            </p:tav>
                                          </p:tavLst>
                                        </p:anim>
                                      </p:childTnLst>
                                    </p:cTn>
                                  </p:par>
                                </p:childTnLst>
                              </p:cTn>
                            </p:par>
                            <p:par>
                              <p:cTn id="13" fill="hold">
                                <p:stCondLst>
                                  <p:cond delay="1250"/>
                                </p:stCondLst>
                                <p:childTnLst>
                                  <p:par>
                                    <p:cTn id="14" presetID="2" presetClass="entr" presetSubtype="6" fill="hold" nodeType="afterEffect">
                                      <p:stCondLst>
                                        <p:cond delay="1000"/>
                                      </p:stCondLst>
                                      <p:childTnLst>
                                        <p:set>
                                          <p:cBhvr>
                                            <p:cTn id="15" dur="1" fill="hold">
                                              <p:stCondLst>
                                                <p:cond delay="0"/>
                                              </p:stCondLst>
                                            </p:cTn>
                                            <p:tgtEl>
                                              <p:spTgt spid="15"/>
                                            </p:tgtEl>
                                            <p:attrNameLst>
                                              <p:attrName>style.visibility</p:attrName>
                                            </p:attrNameLst>
                                          </p:cBhvr>
                                          <p:to>
                                            <p:strVal val="visible"/>
                                          </p:to>
                                        </p:set>
                                        <p:anim calcmode="lin" valueType="num">
                                          <p:cBhvr additive="base">
                                            <p:cTn id="16" dur="500" fill="hold"/>
                                            <p:tgtEl>
                                              <p:spTgt spid="15"/>
                                            </p:tgtEl>
                                            <p:attrNameLst>
                                              <p:attrName>ppt_x</p:attrName>
                                            </p:attrNameLst>
                                          </p:cBhvr>
                                          <p:tavLst>
                                            <p:tav tm="0">
                                              <p:val>
                                                <p:strVal val="1+#ppt_w/2"/>
                                              </p:val>
                                            </p:tav>
                                            <p:tav tm="100000">
                                              <p:val>
                                                <p:strVal val="#ppt_x"/>
                                              </p:val>
                                            </p:tav>
                                          </p:tavLst>
                                        </p:anim>
                                        <p:anim calcmode="lin" valueType="num">
                                          <p:cBhvr additive="base">
                                            <p:cTn id="17"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20" presetID="1" presetClass="entr" presetSubtype="0" fill="hold" nodeType="clickEffect">
                                      <p:stCondLst>
                                        <p:cond delay="0"/>
                                      </p:stCondLst>
                                      <p:childTnLst>
                                        <p:set>
                                          <p:cBhvr>
                                            <p:cTn id="21"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 presetClass="entr" presetSubtype="4" fill="hold" grpId="0" nodeType="clickEffect">
                                      <p:stCondLst>
                                        <p:cond delay="0"/>
                                      </p:stCondLst>
                                      <p:childTnLst>
                                        <p:set>
                                          <p:cBhvr>
                                            <p:cTn id="29" dur="1" fill="hold">
                                              <p:stCondLst>
                                                <p:cond delay="0"/>
                                              </p:stCondLst>
                                            </p:cTn>
                                            <p:tgtEl>
                                              <p:spTgt spid="9"/>
                                            </p:tgtEl>
                                            <p:attrNameLst>
                                              <p:attrName>style.visibility</p:attrName>
                                            </p:attrNameLst>
                                          </p:cBhvr>
                                          <p:to>
                                            <p:strVal val="visible"/>
                                          </p:to>
                                        </p:set>
                                        <p:anim calcmode="lin" valueType="num">
                                          <p:cBhvr additive="base">
                                            <p:cTn id="30" dur="500" fill="hold"/>
                                            <p:tgtEl>
                                              <p:spTgt spid="9"/>
                                            </p:tgtEl>
                                            <p:attrNameLst>
                                              <p:attrName>ppt_x</p:attrName>
                                            </p:attrNameLst>
                                          </p:cBhvr>
                                          <p:tavLst>
                                            <p:tav tm="0">
                                              <p:val>
                                                <p:strVal val="#ppt_x"/>
                                              </p:val>
                                            </p:tav>
                                            <p:tav tm="100000">
                                              <p:val>
                                                <p:strVal val="#ppt_x"/>
                                              </p:val>
                                            </p:tav>
                                          </p:tavLst>
                                        </p:anim>
                                        <p:anim calcmode="lin" valueType="num">
                                          <p:cBhvr additive="base">
                                            <p:cTn id="31" dur="500" fill="hold"/>
                                            <p:tgtEl>
                                              <p:spTgt spid="9"/>
                                            </p:tgtEl>
                                            <p:attrNameLst>
                                              <p:attrName>ppt_y</p:attrName>
                                            </p:attrNameLst>
                                          </p:cBhvr>
                                          <p:tavLst>
                                            <p:tav tm="0">
                                              <p:val>
                                                <p:strVal val="1+#ppt_h/2"/>
                                              </p:val>
                                            </p:tav>
                                            <p:tav tm="100000">
                                              <p:val>
                                                <p:strVal val="#ppt_y"/>
                                              </p:val>
                                            </p:tav>
                                          </p:tavLst>
                                        </p:anim>
                                      </p:childTnLst>
                                    </p:cTn>
                                  </p:par>
                                  <p:par>
                                    <p:cTn id="32" presetID="2" presetClass="entr" presetSubtype="4" fill="hold" grpId="0" nodeType="withEffect">
                                      <p:stCondLst>
                                        <p:cond delay="0"/>
                                      </p:stCondLst>
                                      <p:childTnLst>
                                        <p:set>
                                          <p:cBhvr>
                                            <p:cTn id="33" dur="1" fill="hold">
                                              <p:stCondLst>
                                                <p:cond delay="0"/>
                                              </p:stCondLst>
                                            </p:cTn>
                                            <p:tgtEl>
                                              <p:spTgt spid="13"/>
                                            </p:tgtEl>
                                            <p:attrNameLst>
                                              <p:attrName>style.visibility</p:attrName>
                                            </p:attrNameLst>
                                          </p:cBhvr>
                                          <p:to>
                                            <p:strVal val="visible"/>
                                          </p:to>
                                        </p:set>
                                        <p:anim calcmode="lin" valueType="num">
                                          <p:cBhvr additive="base">
                                            <p:cTn id="34" dur="500" fill="hold"/>
                                            <p:tgtEl>
                                              <p:spTgt spid="13"/>
                                            </p:tgtEl>
                                            <p:attrNameLst>
                                              <p:attrName>ppt_x</p:attrName>
                                            </p:attrNameLst>
                                          </p:cBhvr>
                                          <p:tavLst>
                                            <p:tav tm="0">
                                              <p:val>
                                                <p:strVal val="#ppt_x"/>
                                              </p:val>
                                            </p:tav>
                                            <p:tav tm="100000">
                                              <p:val>
                                                <p:strVal val="#ppt_x"/>
                                              </p:val>
                                            </p:tav>
                                          </p:tavLst>
                                        </p:anim>
                                        <p:anim calcmode="lin" valueType="num">
                                          <p:cBhvr additive="base">
                                            <p:cTn id="35" dur="500" fill="hold"/>
                                            <p:tgtEl>
                                              <p:spTgt spid="13"/>
                                            </p:tgtEl>
                                            <p:attrNameLst>
                                              <p:attrName>ppt_y</p:attrName>
                                            </p:attrNameLst>
                                          </p:cBhvr>
                                          <p:tavLst>
                                            <p:tav tm="0">
                                              <p:val>
                                                <p:strVal val="1+#ppt_h/2"/>
                                              </p:val>
                                            </p:tav>
                                            <p:tav tm="100000">
                                              <p:val>
                                                <p:strVal val="#ppt_y"/>
                                              </p:val>
                                            </p:tav>
                                          </p:tavLst>
                                        </p:anim>
                                      </p:childTnLst>
                                    </p:cTn>
                                  </p:par>
                                  <p:par>
                                    <p:cTn id="36" presetID="2" presetClass="entr" presetSubtype="1" fill="hold" grpId="0" nodeType="withEffect">
                                      <p:stCondLst>
                                        <p:cond delay="0"/>
                                      </p:stCondLst>
                                      <p:childTnLst>
                                        <p:set>
                                          <p:cBhvr>
                                            <p:cTn id="37" dur="1" fill="hold">
                                              <p:stCondLst>
                                                <p:cond delay="0"/>
                                              </p:stCondLst>
                                            </p:cTn>
                                            <p:tgtEl>
                                              <p:spTgt spid="11"/>
                                            </p:tgtEl>
                                            <p:attrNameLst>
                                              <p:attrName>style.visibility</p:attrName>
                                            </p:attrNameLst>
                                          </p:cBhvr>
                                          <p:to>
                                            <p:strVal val="visible"/>
                                          </p:to>
                                        </p:set>
                                        <p:anim calcmode="lin" valueType="num">
                                          <p:cBhvr additive="base">
                                            <p:cTn id="38" dur="500" fill="hold"/>
                                            <p:tgtEl>
                                              <p:spTgt spid="11"/>
                                            </p:tgtEl>
                                            <p:attrNameLst>
                                              <p:attrName>ppt_x</p:attrName>
                                            </p:attrNameLst>
                                          </p:cBhvr>
                                          <p:tavLst>
                                            <p:tav tm="0">
                                              <p:val>
                                                <p:strVal val="#ppt_x"/>
                                              </p:val>
                                            </p:tav>
                                            <p:tav tm="100000">
                                              <p:val>
                                                <p:strVal val="#ppt_x"/>
                                              </p:val>
                                            </p:tav>
                                          </p:tavLst>
                                        </p:anim>
                                        <p:anim calcmode="lin" valueType="num">
                                          <p:cBhvr additive="base">
                                            <p:cTn id="39"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1" grpId="0" animBg="1"/>
          <p:bldP spid="13" grpId="0" animBg="1"/>
        </p:bldLst>
      </p:timing>
    </mc:Fallback>
  </mc:AlternateContent>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199" y="479427"/>
            <a:ext cx="10515599"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
        <p:nvSpPr>
          <p:cNvPr id="6" name="Slide Number Placeholder 6"/>
          <p:cNvSpPr>
            <a:spLocks noGrp="1"/>
          </p:cNvSpPr>
          <p:nvPr>
            <p:ph type="sldNum" sz="quarter" idx="12"/>
          </p:nvPr>
        </p:nvSpPr>
        <p:spPr/>
        <p:txBody>
          <a:bodyPr/>
          <a:lstStyle/>
          <a:p>
            <a:fld id="{9BFB2853-4965-4727-91C4-384EB30D99A4}" type="slidenum">
              <a:rPr lang="en-CA"/>
              <a:t>36</a:t>
            </a:fld>
            <a:endParaRPr lang="en-CA"/>
          </a:p>
        </p:txBody>
      </p:sp>
    </p:spTree>
    <p:extLst>
      <p:ext uri="{BB962C8B-B14F-4D97-AF65-F5344CB8AC3E}">
        <p14:creationId xmlns:p14="http://schemas.microsoft.com/office/powerpoint/2010/main" val="214040088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
        <p:nvSpPr>
          <p:cNvPr id="8195" name="Slide Number Placeholder 8195"/>
          <p:cNvSpPr>
            <a:spLocks noGrp="1"/>
          </p:cNvSpPr>
          <p:nvPr>
            <p:ph type="sldNum" sz="quarter" idx="12"/>
          </p:nvPr>
        </p:nvSpPr>
        <p:spPr/>
        <p:txBody>
          <a:bodyPr/>
          <a:lstStyle/>
          <a:p>
            <a:fld id="{9BFB2853-4965-4727-91C4-384EB30D99A4}" type="slidenum">
              <a:rPr lang="en-CA"/>
              <a:t>37</a:t>
            </a:fld>
            <a:endParaRPr lang="en-CA"/>
          </a:p>
        </p:txBody>
      </p:sp>
    </p:spTree>
    <p:extLst>
      <p:ext uri="{BB962C8B-B14F-4D97-AF65-F5344CB8AC3E}">
        <p14:creationId xmlns:p14="http://schemas.microsoft.com/office/powerpoint/2010/main" val="196365080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
        <p:nvSpPr>
          <p:cNvPr id="6" name="Slide Number Placeholder 6"/>
          <p:cNvSpPr>
            <a:spLocks noGrp="1"/>
          </p:cNvSpPr>
          <p:nvPr>
            <p:ph type="sldNum" sz="quarter" idx="12"/>
          </p:nvPr>
        </p:nvSpPr>
        <p:spPr/>
        <p:txBody>
          <a:bodyPr/>
          <a:lstStyle/>
          <a:p>
            <a:fld id="{9BFB2853-4965-4727-91C4-384EB30D99A4}" type="slidenum">
              <a:rPr lang="en-CA"/>
              <a:t>38</a:t>
            </a:fld>
            <a:endParaRPr lang="en-CA"/>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fontScale="90000"/>
          </a:bodyPr>
          <a:lstStyle/>
          <a:p>
            <a:r>
              <a:rPr lang="en-US" dirty="0"/>
              <a:t>Adding measurement error</a:t>
            </a:r>
          </a:p>
        </p:txBody>
      </p:sp>
      <p:sp>
        <p:nvSpPr>
          <p:cNvPr id="4" name="Content Placeholder 3"/>
          <p:cNvSpPr>
            <a:spLocks noGrp="1"/>
          </p:cNvSpPr>
          <p:nvPr>
            <p:ph idx="1"/>
          </p:nvPr>
        </p:nvSpPr>
        <p:spPr>
          <a:xfrm>
            <a:off x="838200" y="1196788"/>
            <a:ext cx="10896600" cy="150876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a:p>
            <a:r>
              <a:rPr lang="en-US" sz="2000" dirty="0"/>
              <a:t>With Coffee in the model, it also drives </a:t>
            </a:r>
            <a:r>
              <a:rPr lang="en-US" sz="2000" dirty="0">
                <a:solidFill>
                  <a:srgbClr val="FF0000"/>
                </a:solidFill>
              </a:rPr>
              <a:t>β</a:t>
            </a:r>
            <a:r>
              <a:rPr lang="en-US" sz="2000" baseline="-25000" dirty="0">
                <a:solidFill>
                  <a:srgbClr val="FF0000"/>
                </a:solidFill>
              </a:rPr>
              <a:t>Coffee</a:t>
            </a:r>
            <a:r>
              <a:rPr lang="en-US" sz="2000" dirty="0">
                <a:solidFill>
                  <a:srgbClr val="FF0000"/>
                </a:solidFill>
              </a:rPr>
              <a:t> toward its marginal value</a:t>
            </a:r>
            <a:r>
              <a:rPr lang="en-US" sz="2000" dirty="0"/>
              <a:t> (right)</a:t>
            </a:r>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1248" y="2834640"/>
            <a:ext cx="3291840" cy="3291840"/>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4453128" y="2834640"/>
            <a:ext cx="3291840" cy="3291840"/>
          </a:xfrm>
          <a:prstGeom prst="rect">
            <a:avLst/>
          </a:prstGeom>
        </p:spPr>
      </p:pic>
      <p:pic>
        <p:nvPicPr>
          <p:cNvPr id="8" name="Beta space coffee-stress" descr="image.gif"/>
          <p:cNvPicPr>
            <a:picLocks noChangeAspect="1"/>
          </p:cNvPicPr>
          <p:nvPr/>
        </p:nvPicPr>
        <p:blipFill>
          <a:blip r:embed="rId5"/>
          <a:stretch>
            <a:fillRect/>
          </a:stretch>
        </p:blipFill>
        <p:spPr>
          <a:xfrm>
            <a:off x="8065008" y="2834640"/>
            <a:ext cx="3291840" cy="3291840"/>
          </a:xfrm>
          <a:prstGeom prst="rect">
            <a:avLst/>
          </a:prstGeom>
        </p:spPr>
      </p:pic>
      <p:sp>
        <p:nvSpPr>
          <p:cNvPr id="9" name="Slide Number Placeholder 9"/>
          <p:cNvSpPr>
            <a:spLocks noGrp="1"/>
          </p:cNvSpPr>
          <p:nvPr>
            <p:ph type="sldNum" sz="quarter" idx="12"/>
          </p:nvPr>
        </p:nvSpPr>
        <p:spPr/>
        <p:txBody>
          <a:bodyPr/>
          <a:lstStyle/>
          <a:p>
            <a:fld id="{9BFB2853-4965-4727-91C4-384EB30D99A4}" type="slidenum">
              <a:rPr lang="en-CA"/>
              <a:t>39</a:t>
            </a:fld>
            <a:endParaRPr lang="en-CA"/>
          </a:p>
        </p:txBody>
      </p:sp>
    </p:spTree>
    <p:extLst>
      <p:ext uri="{BB962C8B-B14F-4D97-AF65-F5344CB8AC3E}">
        <p14:creationId xmlns:p14="http://schemas.microsoft.com/office/powerpoint/2010/main" val="2615279585"/>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5" name="Group 14">
            <a:extLst>
              <a:ext uri="{FF2B5EF4-FFF2-40B4-BE49-F238E27FC236}">
                <a16:creationId xmlns:a16="http://schemas.microsoft.com/office/drawing/2014/main" id="{2D51AE72-842B-4A4B-DC7D-AE4F2D561E63}"/>
              </a:ext>
            </a:extLst>
          </p:cNvPr>
          <p:cNvGrpSpPr/>
          <p:nvPr/>
        </p:nvGrpSpPr>
        <p:grpSpPr>
          <a:xfrm>
            <a:off x="6236208" y="1381125"/>
            <a:ext cx="5120640" cy="4105275"/>
            <a:chOff x="6236208" y="1381125"/>
            <a:chExt cx="5120640" cy="4105275"/>
          </a:xfrm>
        </p:grpSpPr>
        <p:pic>
          <p:nvPicPr>
            <p:cNvPr id="4" name="Picture 3" descr="fig-cars-collin-biplot-1.png"/>
            <p:cNvPicPr>
              <a:picLocks noChangeAspect="1"/>
            </p:cNvPicPr>
            <p:nvPr/>
          </p:nvPicPr>
          <p:blipFill>
            <a:blip r:embed="rId3"/>
            <a:stretch>
              <a:fillRect/>
            </a:stretch>
          </p:blipFill>
          <p:spPr>
            <a:xfrm>
              <a:off x="6236208" y="1828800"/>
              <a:ext cx="5120640" cy="3657600"/>
            </a:xfrm>
            <a:prstGeom prst="rect">
              <a:avLst/>
            </a:prstGeom>
          </p:spPr>
        </p:pic>
        <p:sp>
          <p:nvSpPr>
            <p:cNvPr id="13" name="TextBox 12">
              <a:extLst>
                <a:ext uri="{FF2B5EF4-FFF2-40B4-BE49-F238E27FC236}">
                  <a16:creationId xmlns:a16="http://schemas.microsoft.com/office/drawing/2014/main" id="{7891D371-0E92-FB60-6241-0361EBA4789D}"/>
                </a:ext>
              </a:extLst>
            </p:cNvPr>
            <p:cNvSpPr txBox="1"/>
            <p:nvPr/>
          </p:nvSpPr>
          <p:spPr>
            <a:xfrm>
              <a:off x="6667500" y="1381125"/>
              <a:ext cx="4521200" cy="369332"/>
            </a:xfrm>
            <a:prstGeom prst="rect">
              <a:avLst/>
            </a:prstGeom>
            <a:noFill/>
          </p:spPr>
          <p:txBody>
            <a:bodyPr wrap="square" rtlCol="0">
              <a:spAutoFit/>
            </a:bodyPr>
            <a:lstStyle/>
            <a:p>
              <a:r>
                <a:rPr lang="en-CA" dirty="0"/>
                <a:t>Collinearity problems live in Waldo space</a:t>
              </a:r>
            </a:p>
          </p:txBody>
        </p:sp>
      </p:grpSp>
      <p:sp>
        <p:nvSpPr>
          <p:cNvPr id="2" name="Title 1"/>
          <p:cNvSpPr>
            <a:spLocks noGrp="1"/>
          </p:cNvSpPr>
          <p:nvPr>
            <p:ph type="title"/>
          </p:nvPr>
        </p:nvSpPr>
        <p:spPr>
          <a:xfrm>
            <a:off x="838200" y="365125"/>
            <a:ext cx="10515600" cy="889635"/>
          </a:xfrm>
        </p:spPr>
        <p:txBody>
          <a:bodyPr/>
          <a:lstStyle/>
          <a:p>
            <a:r>
              <a:rPr lang="en-CA" dirty="0"/>
              <a:t>Understanding collinearity</a:t>
            </a:r>
            <a:endParaRPr dirty="0"/>
          </a:p>
        </p:txBody>
      </p:sp>
      <p:sp>
        <p:nvSpPr>
          <p:cNvPr id="5" name="TextBox 4"/>
          <p:cNvSpPr txBox="1"/>
          <p:nvPr/>
        </p:nvSpPr>
        <p:spPr>
          <a:xfrm>
            <a:off x="704088" y="108903"/>
            <a:ext cx="10515600" cy="369332"/>
          </a:xfrm>
          <a:prstGeom prst="rect">
            <a:avLst/>
          </a:prstGeom>
          <a:noFill/>
        </p:spPr>
        <p:txBody>
          <a:bodyPr wrap="square">
            <a:spAutoFit/>
          </a:bodyPr>
          <a:lstStyle/>
          <a:p>
            <a:endParaRPr sz="1800" dirty="0"/>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4"/>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0" name="Picture 9" descr="A hexagon with a diagram of different colored circles&#10;&#10;Description automatically generated">
            <a:extLst>
              <a:ext uri="{FF2B5EF4-FFF2-40B4-BE49-F238E27FC236}">
                <a16:creationId xmlns:a16="http://schemas.microsoft.com/office/drawing/2014/main" id="{6BAB72B0-CAD5-E775-B8B4-AEDE2955D2F4}"/>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561147" y="340360"/>
            <a:ext cx="792653" cy="914400"/>
          </a:xfrm>
          <a:prstGeom prst="rect">
            <a:avLst/>
          </a:prstGeom>
        </p:spPr>
      </p:pic>
      <p:grpSp>
        <p:nvGrpSpPr>
          <p:cNvPr id="14" name="Group 13">
            <a:extLst>
              <a:ext uri="{FF2B5EF4-FFF2-40B4-BE49-F238E27FC236}">
                <a16:creationId xmlns:a16="http://schemas.microsoft.com/office/drawing/2014/main" id="{78A5A869-79C2-AAA6-EF97-0C22CA87FDB1}"/>
              </a:ext>
            </a:extLst>
          </p:cNvPr>
          <p:cNvGrpSpPr/>
          <p:nvPr/>
        </p:nvGrpSpPr>
        <p:grpSpPr>
          <a:xfrm>
            <a:off x="838200" y="1381125"/>
            <a:ext cx="5126736" cy="4105275"/>
            <a:chOff x="838200" y="1381125"/>
            <a:chExt cx="5126736" cy="4105275"/>
          </a:xfrm>
        </p:grpSpPr>
        <p:pic>
          <p:nvPicPr>
            <p:cNvPr id="3" name="Picture 2" descr="fig-cars-tableplot-1.png"/>
            <p:cNvPicPr>
              <a:picLocks noChangeAspect="1"/>
            </p:cNvPicPr>
            <p:nvPr/>
          </p:nvPicPr>
          <p:blipFill>
            <a:blip r:embed="rId6"/>
            <a:stretch>
              <a:fillRect/>
            </a:stretch>
          </p:blipFill>
          <p:spPr>
            <a:xfrm>
              <a:off x="841248" y="1828800"/>
              <a:ext cx="5120640" cy="3657600"/>
            </a:xfrm>
            <a:prstGeom prst="rect">
              <a:avLst/>
            </a:prstGeom>
          </p:spPr>
        </p:pic>
        <p:sp>
          <p:nvSpPr>
            <p:cNvPr id="12" name="TextBox 11">
              <a:extLst>
                <a:ext uri="{FF2B5EF4-FFF2-40B4-BE49-F238E27FC236}">
                  <a16:creationId xmlns:a16="http://schemas.microsoft.com/office/drawing/2014/main" id="{F4A91128-D889-6BD4-6A40-3AE7480AEDFF}"/>
                </a:ext>
              </a:extLst>
            </p:cNvPr>
            <p:cNvSpPr txBox="1"/>
            <p:nvPr/>
          </p:nvSpPr>
          <p:spPr>
            <a:xfrm>
              <a:off x="838200" y="1381125"/>
              <a:ext cx="5126736" cy="369332"/>
            </a:xfrm>
            <a:prstGeom prst="rect">
              <a:avLst/>
            </a:prstGeom>
            <a:noFill/>
          </p:spPr>
          <p:txBody>
            <a:bodyPr wrap="square" rtlCol="0">
              <a:spAutoFit/>
            </a:bodyPr>
            <a:lstStyle/>
            <a:p>
              <a:r>
                <a:rPr lang="en-CA" dirty="0"/>
                <a:t>Visualizing VIFs, condition indices, variance %</a:t>
              </a:r>
            </a:p>
          </p:txBody>
        </p:sp>
      </p:grpSp>
      <p:sp>
        <p:nvSpPr>
          <p:cNvPr id="9" name="Rectangle: Rounded Corners 8">
            <a:extLst>
              <a:ext uri="{FF2B5EF4-FFF2-40B4-BE49-F238E27FC236}">
                <a16:creationId xmlns:a16="http://schemas.microsoft.com/office/drawing/2014/main" id="{D3927502-F632-50FE-450B-56A90E4BBE19}"/>
              </a:ext>
            </a:extLst>
          </p:cNvPr>
          <p:cNvSpPr/>
          <p:nvPr/>
        </p:nvSpPr>
        <p:spPr>
          <a:xfrm>
            <a:off x="704088" y="2123441"/>
            <a:ext cx="4268745" cy="1305560"/>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6" name="Slide Number Placeholder 16"/>
          <p:cNvSpPr>
            <a:spLocks noGrp="1"/>
          </p:cNvSpPr>
          <p:nvPr>
            <p:ph type="sldNum" sz="quarter" idx="12"/>
          </p:nvPr>
        </p:nvSpPr>
        <p:spPr/>
        <p:txBody>
          <a:bodyPr/>
          <a:lstStyle/>
          <a:p>
            <a:fld id="{9BFB2853-4965-4727-91C4-384EB30D99A4}" type="slidenum">
              <a:rPr lang="en-CA"/>
              <a:t>40</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2"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additive="base">
                                        <p:cTn id="7" dur="500" fill="hold"/>
                                        <p:tgtEl>
                                          <p:spTgt spid="7"/>
                                        </p:tgtEl>
                                        <p:attrNameLst>
                                          <p:attrName>ppt_x</p:attrName>
                                        </p:attrNameLst>
                                      </p:cBhvr>
                                      <p:tavLst>
                                        <p:tav tm="0">
                                          <p:val>
                                            <p:strVal val="1+#ppt_w/2"/>
                                          </p:val>
                                        </p:tav>
                                        <p:tav tm="100000">
                                          <p:val>
                                            <p:strVal val="#ppt_x"/>
                                          </p:val>
                                        </p:tav>
                                      </p:tavLst>
                                    </p:anim>
                                    <p:anim calcmode="lin" valueType="num">
                                      <p:cBhvr additive="base">
                                        <p:cTn id="8" dur="500" fill="hold"/>
                                        <p:tgtEl>
                                          <p:spTgt spid="7"/>
                                        </p:tgtEl>
                                        <p:attrNameLst>
                                          <p:attrName>ppt_y</p:attrName>
                                        </p:attrNameLst>
                                      </p:cBhvr>
                                      <p:tavLst>
                                        <p:tav tm="0">
                                          <p:val>
                                            <p:strVal val="#ppt_y"/>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anim calcmode="lin" valueType="num">
                                      <p:cBhvr>
                                        <p:cTn id="13" dur="1000" fill="hold"/>
                                        <p:tgtEl>
                                          <p:spTgt spid="15"/>
                                        </p:tgtEl>
                                        <p:attrNameLst>
                                          <p:attrName>ppt_w</p:attrName>
                                        </p:attrNameLst>
                                      </p:cBhvr>
                                      <p:tavLst>
                                        <p:tav tm="0">
                                          <p:val>
                                            <p:fltVal val="0"/>
                                          </p:val>
                                        </p:tav>
                                        <p:tav tm="100000">
                                          <p:val>
                                            <p:strVal val="#ppt_w"/>
                                          </p:val>
                                        </p:tav>
                                      </p:tavLst>
                                    </p:anim>
                                    <p:anim calcmode="lin" valueType="num">
                                      <p:cBhvr>
                                        <p:cTn id="14" dur="1000" fill="hold"/>
                                        <p:tgtEl>
                                          <p:spTgt spid="15"/>
                                        </p:tgtEl>
                                        <p:attrNameLst>
                                          <p:attrName>ppt_h</p:attrName>
                                        </p:attrNameLst>
                                      </p:cBhvr>
                                      <p:tavLst>
                                        <p:tav tm="0">
                                          <p:val>
                                            <p:fltVal val="0"/>
                                          </p:val>
                                        </p:tav>
                                        <p:tav tm="100000">
                                          <p:val>
                                            <p:strVal val="#ppt_h"/>
                                          </p:val>
                                        </p:tav>
                                      </p:tavLst>
                                    </p:anim>
                                    <p:anim calcmode="lin" valueType="num">
                                      <p:cBhvr>
                                        <p:cTn id="15" dur="1000" fill="hold"/>
                                        <p:tgtEl>
                                          <p:spTgt spid="15"/>
                                        </p:tgtEl>
                                        <p:attrNameLst>
                                          <p:attrName>style.rotation</p:attrName>
                                        </p:attrNameLst>
                                      </p:cBhvr>
                                      <p:tavLst>
                                        <p:tav tm="0">
                                          <p:val>
                                            <p:fltVal val="90"/>
                                          </p:val>
                                        </p:tav>
                                        <p:tav tm="100000">
                                          <p:val>
                                            <p:fltVal val="0"/>
                                          </p:val>
                                        </p:tav>
                                      </p:tavLst>
                                    </p:anim>
                                    <p:animEffect transition="in" filter="fade">
                                      <p:cBhvr>
                                        <p:cTn id="16" dur="1000"/>
                                        <p:tgtEl>
                                          <p:spTgt spid="15"/>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8"/>
                                        </p:tgtEl>
                                        <p:attrNameLst>
                                          <p:attrName>style.visibility</p:attrName>
                                        </p:attrNameLst>
                                      </p:cBhvr>
                                      <p:to>
                                        <p:strVal val="visible"/>
                                      </p:to>
                                    </p:set>
                                    <p:anim calcmode="lin" valueType="num">
                                      <p:cBhvr additive="base">
                                        <p:cTn id="21" dur="500" fill="hold"/>
                                        <p:tgtEl>
                                          <p:spTgt spid="8"/>
                                        </p:tgtEl>
                                        <p:attrNameLst>
                                          <p:attrName>ppt_x</p:attrName>
                                        </p:attrNameLst>
                                      </p:cBhvr>
                                      <p:tavLst>
                                        <p:tav tm="0">
                                          <p:val>
                                            <p:strVal val="#ppt_x"/>
                                          </p:val>
                                        </p:tav>
                                        <p:tav tm="100000">
                                          <p:val>
                                            <p:strVal val="#ppt_x"/>
                                          </p:val>
                                        </p:tav>
                                      </p:tavLst>
                                    </p:anim>
                                    <p:anim calcmode="lin" valueType="num">
                                      <p:cBhvr additive="base">
                                        <p:cTn id="22" dur="500" fill="hold"/>
                                        <p:tgtEl>
                                          <p:spTgt spid="8"/>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249214"/>
            <a:ext cx="785973" cy="914400"/>
          </a:xfrm>
          <a:prstGeom prst="rect">
            <a:avLst/>
          </a:prstGeom>
        </p:spPr>
      </p:pic>
      <p:sp>
        <p:nvSpPr>
          <p:cNvPr id="8" name="Slide Number Placeholder 8"/>
          <p:cNvSpPr>
            <a:spLocks noGrp="1"/>
          </p:cNvSpPr>
          <p:nvPr>
            <p:ph type="sldNum" sz="quarter" idx="12"/>
          </p:nvPr>
        </p:nvSpPr>
        <p:spPr/>
        <p:txBody>
          <a:bodyPr/>
          <a:lstStyle/>
          <a:p>
            <a:fld id="{9BFB2853-4965-4727-91C4-384EB30D99A4}" type="slidenum">
              <a:rPr lang="en-CA"/>
              <a:t>41</a:t>
            </a:fld>
            <a:endParaRPr lang="en-CA"/>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a:xfrm>
            <a:off x="838200" y="1643063"/>
            <a:ext cx="4259893" cy="4533900"/>
          </a:xfrm>
        </p:spPr>
        <p:txBody>
          <a:bodyPr/>
          <a:lstStyle/>
          <a:p>
            <a:r>
              <a:rPr dirty="0"/>
              <a:t>Longley data: six highly collinear economic predictors</a:t>
            </a:r>
          </a:p>
          <a:p>
            <a:r>
              <a:rPr dirty="0"/>
              <a:t>Coefficients plotted against the shrinkage constant</a:t>
            </a:r>
          </a:p>
          <a:p>
            <a:r>
              <a:rPr dirty="0"/>
              <a:t>Shows the bias, but nothing about precision</a:t>
            </a:r>
          </a:p>
        </p:txBody>
      </p:sp>
      <p:pic>
        <p:nvPicPr>
          <p:cNvPr id="4" name="Picture 3" descr="fig-longley-traceplot1-1.png"/>
          <p:cNvPicPr>
            <a:picLocks noChangeAspect="1"/>
          </p:cNvPicPr>
          <p:nvPr/>
        </p:nvPicPr>
        <p:blipFill>
          <a:blip r:embed="rId3"/>
          <a:stretch>
            <a:fillRect/>
          </a:stretch>
        </p:blipFill>
        <p:spPr>
          <a:xfrm>
            <a:off x="5273458" y="1484021"/>
            <a:ext cx="6083390" cy="4345279"/>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dirty="0">
                <a:solidFill>
                  <a:srgbClr val="707070"/>
                </a:solidFill>
              </a:rPr>
              <a:t>Figure 9.10</a:t>
            </a:r>
          </a:p>
        </p:txBody>
      </p:sp>
      <p:sp>
        <p:nvSpPr>
          <p:cNvPr id="6" name="Slide Number Placeholder 6"/>
          <p:cNvSpPr>
            <a:spLocks noGrp="1"/>
          </p:cNvSpPr>
          <p:nvPr>
            <p:ph type="sldNum" sz="quarter" idx="12"/>
          </p:nvPr>
        </p:nvSpPr>
        <p:spPr/>
        <p:txBody>
          <a:bodyPr/>
          <a:lstStyle/>
          <a:p>
            <a:fld id="{9BFB2853-4965-4727-91C4-384EB30D99A4}" type="slidenum">
              <a:rPr lang="en-CA"/>
              <a:t>42</a:t>
            </a:fld>
            <a:endParaRPr lang="en-CA"/>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846278" y="230940"/>
            <a:ext cx="748963" cy="864000"/>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065102" y="274493"/>
            <a:ext cx="742652" cy="864000"/>
          </a:xfrm>
          <a:prstGeom prst="rect">
            <a:avLst/>
          </a:prstGeom>
        </p:spPr>
      </p:pic>
      <p:sp>
        <p:nvSpPr>
          <p:cNvPr id="7" name="Slide Number Placeholder 7"/>
          <p:cNvSpPr>
            <a:spLocks noGrp="1"/>
          </p:cNvSpPr>
          <p:nvPr>
            <p:ph type="sldNum" sz="quarter" idx="12"/>
          </p:nvPr>
        </p:nvSpPr>
        <p:spPr/>
        <p:txBody>
          <a:bodyPr/>
          <a:lstStyle/>
          <a:p>
            <a:fld id="{9BFB2853-4965-4727-91C4-384EB30D99A4}" type="slidenum">
              <a:rPr lang="en-CA"/>
              <a:t>43</a:t>
            </a:fld>
            <a:endParaRPr lang="en-CA"/>
          </a:p>
        </p:txBody>
      </p:sp>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sp>
        <p:nvSpPr>
          <p:cNvPr id="8" name="Slide Number Placeholder 8"/>
          <p:cNvSpPr>
            <a:spLocks noGrp="1"/>
          </p:cNvSpPr>
          <p:nvPr>
            <p:ph type="sldNum" sz="quarter" idx="12"/>
          </p:nvPr>
        </p:nvSpPr>
        <p:spPr/>
        <p:txBody>
          <a:bodyPr/>
          <a:lstStyle/>
          <a:p>
            <a:fld id="{9BFB2853-4965-4727-91C4-384EB30D99A4}" type="slidenum">
              <a:rPr lang="en-CA"/>
              <a:t>44</a:t>
            </a:fld>
            <a:endParaRPr lang="en-CA"/>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4F1"/>
            </a:gs>
            <a:gs pos="100000">
              <a:srgbClr val="E4C09E"/>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31850" y="1193801"/>
            <a:ext cx="10515600" cy="2852737"/>
          </a:xfrm>
        </p:spPr>
        <p:txBody>
          <a:bodyPr/>
          <a:lstStyle/>
          <a:p>
            <a:r>
              <a:rPr dirty="0"/>
              <a:t>The HE plot framework</a:t>
            </a:r>
          </a:p>
        </p:txBody>
      </p:sp>
      <p:sp>
        <p:nvSpPr>
          <p:cNvPr id="3" name="Text Placeholder 2"/>
          <p:cNvSpPr>
            <a:spLocks noGrp="1"/>
          </p:cNvSpPr>
          <p:nvPr>
            <p:ph type="body" idx="1"/>
          </p:nvPr>
        </p:nvSpPr>
        <p:spPr>
          <a:xfrm>
            <a:off x="831850" y="4203093"/>
            <a:ext cx="10515600" cy="1978762"/>
          </a:xfrm>
        </p:spPr>
        <p:txBody>
          <a:bodyPr/>
          <a:lstStyle/>
          <a:p>
            <a:r>
              <a:rPr dirty="0"/>
              <a:t>Seeing multivariate tests as ellipses</a:t>
            </a:r>
            <a:r>
              <a:rPr lang="en-CA" dirty="0"/>
              <a:t> for </a:t>
            </a:r>
            <a:r>
              <a:rPr lang="en-CA" b="1" dirty="0"/>
              <a:t>H</a:t>
            </a:r>
            <a:r>
              <a:rPr lang="en-CA" dirty="0"/>
              <a:t> and </a:t>
            </a:r>
            <a:r>
              <a:rPr lang="en-CA" b="1" dirty="0"/>
              <a:t>E</a:t>
            </a:r>
          </a:p>
          <a:p>
            <a:r>
              <a:rPr lang="en-CA" dirty="0"/>
              <a:t>Significance scaling, seeing contrasts</a:t>
            </a:r>
          </a:p>
          <a:p>
            <a:r>
              <a:rPr lang="en-CA" dirty="0"/>
              <a:t>Canonical space low-D views</a:t>
            </a:r>
          </a:p>
          <a:p>
            <a:r>
              <a:rPr lang="en-CA" dirty="0"/>
              <a:t>Discriminant analysis views</a:t>
            </a:r>
          </a:p>
          <a:p>
            <a:endParaRPr dirty="0"/>
          </a:p>
        </p:txBody>
      </p:sp>
      <p:sp>
        <p:nvSpPr>
          <p:cNvPr id="4" name="Slide Number Placeholder 4"/>
          <p:cNvSpPr>
            <a:spLocks noGrp="1"/>
          </p:cNvSpPr>
          <p:nvPr>
            <p:ph type="sldNum" sz="quarter" idx="12"/>
          </p:nvPr>
        </p:nvSpPr>
        <p:spPr/>
        <p:txBody>
          <a:bodyPr/>
          <a:lstStyle/>
          <a:p>
            <a:fld id="{9BFB2853-4965-4727-91C4-384EB30D99A4}" type="slidenum">
              <a:rPr lang="en-CA"/>
              <a:t>45</a:t>
            </a:fld>
            <a:endParaRPr lang="en-CA"/>
          </a:p>
        </p:txBody>
      </p:sp>
      <p:pic>
        <p:nvPicPr>
          <p:cNvPr id="6" name="Section 4 data ellipses illustration">
            <a:extLst>
              <a:ext uri="{FF2B5EF4-FFF2-40B4-BE49-F238E27FC236}">
                <a16:creationId xmlns:a16="http://schemas.microsoft.com/office/drawing/2014/main" id="{7B380FCD-7154-0B7D-A6E0-255C8DE0AB7B}"/>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03350" y="177800"/>
            <a:ext cx="2400300" cy="2540000"/>
          </a:xfrm>
          <a:prstGeom prst="rect">
            <a:avLst/>
          </a:prstGeom>
          <a:ln w="9525">
            <a:solidFill>
              <a:srgbClr val="3A3A3A"/>
            </a:solidFill>
          </a:ln>
          <a:effectLst>
            <a:outerShdw blurRad="101600" dist="45790" dir="3378598" rotWithShape="0">
              <a:srgbClr val="000000">
                <a:alpha val="40000"/>
              </a:srgbClr>
            </a:outerShdw>
          </a:effectLst>
        </p:spPr>
      </p:pic>
      <p:sp>
        <p:nvSpPr>
          <p:cNvPr id="7" name="Section 4 arrow 1">
            <a:extLst>
              <a:ext uri="{FF2B5EF4-FFF2-40B4-BE49-F238E27FC236}">
                <a16:creationId xmlns:a16="http://schemas.microsoft.com/office/drawing/2014/main" id="{1CCD92B6-26FB-013D-DC88-6FE826830CC4}"/>
              </a:ext>
            </a:extLst>
          </p:cNvPr>
          <p:cNvSpPr/>
          <p:nvPr/>
        </p:nvSpPr>
        <p:spPr>
          <a:xfrm>
            <a:off x="3930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9" name="Section 4 HE plot illustration">
            <a:extLst>
              <a:ext uri="{FF2B5EF4-FFF2-40B4-BE49-F238E27FC236}">
                <a16:creationId xmlns:a16="http://schemas.microsoft.com/office/drawing/2014/main" id="{B7F787AC-23AB-6B54-1E07-BCF3F6C72AC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43865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sp>
        <p:nvSpPr>
          <p:cNvPr id="10" name="Section 4 arrow 2">
            <a:extLst>
              <a:ext uri="{FF2B5EF4-FFF2-40B4-BE49-F238E27FC236}">
                <a16:creationId xmlns:a16="http://schemas.microsoft.com/office/drawing/2014/main" id="{5A1E5CEC-78ED-FB46-6D55-461E5DBBACD9}"/>
              </a:ext>
            </a:extLst>
          </p:cNvPr>
          <p:cNvSpPr/>
          <p:nvPr/>
        </p:nvSpPr>
        <p:spPr>
          <a:xfrm>
            <a:off x="7105650" y="1308100"/>
            <a:ext cx="381000" cy="279400"/>
          </a:xfrm>
          <a:prstGeom prst="rightArrow">
            <a:avLst/>
          </a:prstGeom>
          <a:solidFill>
            <a:srgbClr val="CC660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12" name="Section 4 canonical HE illustration">
            <a:extLst>
              <a:ext uri="{FF2B5EF4-FFF2-40B4-BE49-F238E27FC236}">
                <a16:creationId xmlns:a16="http://schemas.microsoft.com/office/drawing/2014/main" id="{D3EA4D17-E757-DEA3-A2FA-7C6C9450EA21}"/>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613650" y="177800"/>
            <a:ext cx="3175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
        <p:nvSpPr>
          <p:cNvPr id="38" name="Slide Number Placeholder 38"/>
          <p:cNvSpPr>
            <a:spLocks noGrp="1"/>
          </p:cNvSpPr>
          <p:nvPr>
            <p:ph type="sldNum" sz="quarter" idx="12"/>
          </p:nvPr>
        </p:nvSpPr>
        <p:spPr/>
        <p:txBody>
          <a:bodyPr/>
          <a:lstStyle/>
          <a:p>
            <a:fld id="{9BFB2853-4965-4727-91C4-384EB30D99A4}" type="slidenum">
              <a:rPr lang="en-CA"/>
              <a:t>46</a:t>
            </a:fld>
            <a:endParaRPr lang="en-CA"/>
          </a:p>
        </p:txBody>
      </p:sp>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a:t>
            </a:r>
            <a:r>
              <a:rPr lang="en-US" sz="2000" b="1" dirty="0"/>
              <a:t>between group </a:t>
            </a:r>
            <a:r>
              <a:rPr lang="en-US" sz="2000" dirty="0"/>
              <a:t>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a:t>
            </a:r>
            <a:r>
              <a:rPr lang="en-US" sz="2000" b="1" dirty="0"/>
              <a:t>within groups </a:t>
            </a:r>
            <a:r>
              <a:rPr lang="en-US" sz="2000" dirty="0"/>
              <a:t>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12" name="Slide Number Placeholder 12"/>
          <p:cNvSpPr>
            <a:spLocks noGrp="1"/>
          </p:cNvSpPr>
          <p:nvPr>
            <p:ph type="sldNum" sz="quarter" idx="12"/>
          </p:nvPr>
        </p:nvSpPr>
        <p:spPr/>
        <p:txBody>
          <a:bodyPr/>
          <a:lstStyle/>
          <a:p>
            <a:fld id="{9BFB2853-4965-4727-91C4-384EB30D99A4}" type="slidenum">
              <a:rPr lang="en-CA"/>
              <a:t>47</a:t>
            </a:fld>
            <a:endParaRPr lang="en-CA"/>
          </a:p>
        </p:txBody>
      </p:sp>
    </p:spTree>
    <p:extLst>
      <p:ext uri="{BB962C8B-B14F-4D97-AF65-F5344CB8AC3E}">
        <p14:creationId xmlns:p14="http://schemas.microsoft.com/office/powerpoint/2010/main" val="114728400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Slide Number Placeholder 12"/>
          <p:cNvSpPr>
            <a:spLocks noGrp="1"/>
          </p:cNvSpPr>
          <p:nvPr>
            <p:ph type="sldNum" sz="quarter" idx="12"/>
          </p:nvPr>
        </p:nvSpPr>
        <p:spPr/>
        <p:txBody>
          <a:bodyPr/>
          <a:lstStyle/>
          <a:p>
            <a:fld id="{9BFB2853-4965-4727-91C4-384EB30D99A4}" type="slidenum">
              <a:rPr lang="en-CA"/>
              <a:t>48</a:t>
            </a:fld>
            <a:endParaRPr lang="en-CA"/>
          </a:p>
        </p:txBody>
      </p:sp>
    </p:spTree>
    <p:extLst>
      <p:ext uri="{BB962C8B-B14F-4D97-AF65-F5344CB8AC3E}">
        <p14:creationId xmlns:p14="http://schemas.microsoft.com/office/powerpoint/2010/main" val="298801793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
        <p:nvSpPr>
          <p:cNvPr id="13" name="Slide Number Placeholder 13"/>
          <p:cNvSpPr>
            <a:spLocks noGrp="1"/>
          </p:cNvSpPr>
          <p:nvPr>
            <p:ph type="sldNum" sz="quarter" idx="12"/>
          </p:nvPr>
        </p:nvSpPr>
        <p:spPr/>
        <p:txBody>
          <a:bodyPr/>
          <a:lstStyle/>
          <a:p>
            <a:fld id="{9BFB2853-4965-4727-91C4-384EB30D99A4}" type="slidenum">
              <a:rPr lang="en-CA"/>
              <a:t>49</a:t>
            </a:fld>
            <a:endParaRPr lang="en-CA"/>
          </a:p>
        </p:txBody>
      </p:sp>
    </p:spTree>
    <p:extLst>
      <p:ext uri="{BB962C8B-B14F-4D97-AF65-F5344CB8AC3E}">
        <p14:creationId xmlns:p14="http://schemas.microsoft.com/office/powerpoint/2010/main" val="379674940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
        <p:nvSpPr>
          <p:cNvPr id="7" name="Slide Number Placeholder 7"/>
          <p:cNvSpPr>
            <a:spLocks noGrp="1"/>
          </p:cNvSpPr>
          <p:nvPr>
            <p:ph type="sldNum" sz="quarter" idx="12"/>
          </p:nvPr>
        </p:nvSpPr>
        <p:spPr/>
        <p:txBody>
          <a:bodyPr/>
          <a:lstStyle/>
          <a:p>
            <a:fld id="{9BFB2853-4965-4727-91C4-384EB30D99A4}" type="slidenum">
              <a:rPr lang="en-CA"/>
              <a:t>50</a:t>
            </a:fld>
            <a:endParaRPr lang="en-CA"/>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
        <p:nvSpPr>
          <p:cNvPr id="6" name="Slide Number Placeholder 6"/>
          <p:cNvSpPr>
            <a:spLocks noGrp="1"/>
          </p:cNvSpPr>
          <p:nvPr>
            <p:ph type="sldNum" sz="quarter" idx="12"/>
          </p:nvPr>
        </p:nvSpPr>
        <p:spPr/>
        <p:txBody>
          <a:bodyPr/>
          <a:lstStyle/>
          <a:p>
            <a:fld id="{9BFB2853-4965-4727-91C4-384EB30D99A4}" type="slidenum">
              <a:rPr lang="en-CA"/>
              <a:t>51</a:t>
            </a:fld>
            <a:endParaRPr lang="en-CA"/>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4" name="TextBox 3"/>
          <p:cNvSpPr txBox="1"/>
          <p:nvPr/>
        </p:nvSpPr>
        <p:spPr>
          <a:xfrm>
            <a:off x="950026" y="1219201"/>
            <a:ext cx="10525050" cy="707886"/>
          </a:xfrm>
          <a:prstGeom prst="rect">
            <a:avLst/>
          </a:prstGeom>
          <a:noFill/>
        </p:spPr>
        <p:txBody>
          <a:bodyPr wrap="square" rtlCol="0">
            <a:spAutoFit/>
          </a:bodyPr>
          <a:lstStyle/>
          <a:p>
            <a:r>
              <a:rPr lang="en-US" sz="2000" dirty="0"/>
              <a:t>The </a:t>
            </a:r>
            <a:r>
              <a:rPr lang="en-US" sz="2000" dirty="0">
                <a:solidFill>
                  <a:schemeClr val="accent6">
                    <a:lumMod val="50000"/>
                  </a:schemeClr>
                </a:solidFill>
                <a:latin typeface="Lucida Console" panose="020B0609040504020204" pitchFamily="49" charset="0"/>
              </a:rPr>
              <a:t>pairs() </a:t>
            </a:r>
            <a:r>
              <a:rPr lang="en-US" sz="2000" dirty="0"/>
              <a:t>method for </a:t>
            </a:r>
            <a:r>
              <a:rPr lang="en-US" sz="2000" dirty="0" err="1"/>
              <a:t>mlm</a:t>
            </a:r>
            <a:r>
              <a:rPr lang="en-US" sz="2000" dirty="0"/>
              <a:t> objects gives all pairwise HE plots in a scatterplot matrix format in </a:t>
            </a:r>
            <a:r>
              <a:rPr lang="en-US" sz="2000" dirty="0">
                <a:solidFill>
                  <a:srgbClr val="FF0000"/>
                </a:solidFill>
              </a:rPr>
              <a:t>data space</a:t>
            </a:r>
            <a:r>
              <a:rPr lang="en-US" sz="2000"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Slide Number Placeholder 12"/>
          <p:cNvSpPr>
            <a:spLocks noGrp="1"/>
          </p:cNvSpPr>
          <p:nvPr>
            <p:ph type="sldNum" sz="quarter" idx="12"/>
          </p:nvPr>
        </p:nvSpPr>
        <p:spPr/>
        <p:txBody>
          <a:bodyPr/>
          <a:lstStyle/>
          <a:p>
            <a:fld id="{9BFB2853-4965-4727-91C4-384EB30D99A4}" type="slidenum">
              <a:rPr lang="en-CA"/>
              <a:t>52</a:t>
            </a:fld>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rPr dirty="0"/>
              <a:t>School data: 70 US schools in a program for disadvantaged students</a:t>
            </a:r>
          </a:p>
          <a:p>
            <a:pPr lvl="1"/>
            <a:r>
              <a:rPr dirty="0"/>
              <a:t>Outcomes: reading, mathematics, self-esteem</a:t>
            </a:r>
          </a:p>
          <a:p>
            <a:pPr lvl="1"/>
            <a:r>
              <a:rPr dirty="0"/>
              <a:t>Predictors: parents’ education &amp; occupation, school visits, counseling, number of teachers</a:t>
            </a:r>
          </a:p>
          <a:p>
            <a:r>
              <a:rPr b="1" dirty="0"/>
              <a:t>Length</a:t>
            </a:r>
            <a:r>
              <a:rPr dirty="0"/>
              <a:t>: the strength of the relationship</a:t>
            </a:r>
          </a:p>
          <a:p>
            <a:r>
              <a:rPr b="1" dirty="0"/>
              <a:t>Direction</a:t>
            </a:r>
            <a:r>
              <a:rPr dirty="0"/>
              <a:t>: how the predictor relates to the two responses</a:t>
            </a:r>
          </a:p>
          <a:p>
            <a:r>
              <a:rPr dirty="0"/>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
        <p:nvSpPr>
          <p:cNvPr id="6" name="Slide Number Placeholder 6"/>
          <p:cNvSpPr>
            <a:spLocks noGrp="1"/>
          </p:cNvSpPr>
          <p:nvPr>
            <p:ph type="sldNum" sz="quarter" idx="12"/>
          </p:nvPr>
        </p:nvSpPr>
        <p:spPr/>
        <p:txBody>
          <a:bodyPr/>
          <a:lstStyle/>
          <a:p>
            <a:fld id="{9BFB2853-4965-4727-91C4-384EB30D99A4}" type="slidenum">
              <a:rPr lang="en-CA"/>
              <a:t>53</a:t>
            </a:fld>
            <a:endParaRPr lang="en-CA"/>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1025591"/>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1025591"/>
                <a:ext cx="9372600" cy="2011678"/>
              </a:xfrm>
              <a:blipFill>
                <a:blip r:embed="rId3"/>
                <a:stretch>
                  <a:fillRect l="-586" t="-2727" b="-5455"/>
                </a:stretch>
              </a:blipFill>
            </p:spPr>
            <p:txBody>
              <a:bodyPr/>
              <a:lstStyle/>
              <a:p>
                <a:r>
                  <a:rPr lang="en-CA">
                    <a:noFill/>
                  </a:rPr>
                  <a:t> </a:t>
                </a:r>
              </a:p>
            </p:txBody>
          </p:sp>
        </mc:Fallback>
      </mc:AlternateContent>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
        <p:nvSpPr>
          <p:cNvPr id="11" name="Slide Number Placeholder 11"/>
          <p:cNvSpPr>
            <a:spLocks noGrp="1"/>
          </p:cNvSpPr>
          <p:nvPr>
            <p:ph type="sldNum" sz="quarter" idx="12"/>
          </p:nvPr>
        </p:nvSpPr>
        <p:spPr/>
        <p:txBody>
          <a:bodyPr/>
          <a:lstStyle/>
          <a:p>
            <a:fld id="{9BFB2853-4965-4727-91C4-384EB30D99A4}" type="slidenum">
              <a:rPr lang="en-CA"/>
              <a:t>54</a:t>
            </a:fld>
            <a:endParaRPr lang="en-CA"/>
          </a:p>
        </p:txBody>
      </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
        <p:nvSpPr>
          <p:cNvPr id="5" name="Slide Number Placeholder 5"/>
          <p:cNvSpPr>
            <a:spLocks noGrp="1"/>
          </p:cNvSpPr>
          <p:nvPr>
            <p:ph type="sldNum" sz="quarter" idx="12"/>
          </p:nvPr>
        </p:nvSpPr>
        <p:spPr/>
        <p:txBody>
          <a:bodyPr/>
          <a:lstStyle/>
          <a:p>
            <a:fld id="{9BFB2853-4965-4727-91C4-384EB30D99A4}" type="slidenum">
              <a:rPr lang="en-CA"/>
              <a:t>55</a:t>
            </a:fld>
            <a:endParaRPr lang="en-CA"/>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
        <p:nvSpPr>
          <p:cNvPr id="5" name="Slide Number Placeholder 5"/>
          <p:cNvSpPr>
            <a:spLocks noGrp="1"/>
          </p:cNvSpPr>
          <p:nvPr>
            <p:ph type="sldNum" sz="quarter" idx="12"/>
          </p:nvPr>
        </p:nvSpPr>
        <p:spPr/>
        <p:txBody>
          <a:bodyPr/>
          <a:lstStyle/>
          <a:p>
            <a:fld id="{9BFB2853-4965-4727-91C4-384EB30D99A4}" type="slidenum">
              <a:rPr lang="en-CA"/>
              <a:t>56</a:t>
            </a:fld>
            <a:endParaRPr lang="en-CA"/>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57</a:t>
            </a:fld>
            <a:endParaRPr lang="en-CA"/>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gradFill flip="none" rotWithShape="1">
          <a:gsLst>
            <a:gs pos="0">
              <a:srgbClr val="F7F3F2"/>
            </a:gs>
            <a:gs pos="100000">
              <a:srgbClr val="D5A79F"/>
            </a:gs>
          </a:gsLst>
          <a:path path="rect">
            <a:fillToRect l="50000" t="50000" r="50000" b="50000"/>
          </a:path>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Checking multivariate models</a:t>
            </a:r>
          </a:p>
        </p:txBody>
      </p:sp>
      <p:sp>
        <p:nvSpPr>
          <p:cNvPr id="3" name="Text Placeholder 2"/>
          <p:cNvSpPr>
            <a:spLocks noGrp="1"/>
          </p:cNvSpPr>
          <p:nvPr>
            <p:ph type="body" idx="1"/>
          </p:nvPr>
        </p:nvSpPr>
        <p:spPr/>
        <p:txBody>
          <a:bodyPr/>
          <a:lstStyle/>
          <a:p>
            <a:r>
              <a:t>Outliers, influence and robust estimation</a:t>
            </a:r>
          </a:p>
        </p:txBody>
      </p:sp>
      <p:sp>
        <p:nvSpPr>
          <p:cNvPr id="4" name="Slide Number Placeholder 4"/>
          <p:cNvSpPr>
            <a:spLocks noGrp="1"/>
          </p:cNvSpPr>
          <p:nvPr>
            <p:ph type="sldNum" sz="quarter" idx="12"/>
          </p:nvPr>
        </p:nvSpPr>
        <p:spPr/>
        <p:txBody>
          <a:bodyPr/>
          <a:lstStyle/>
          <a:p>
            <a:fld id="{9BFB2853-4965-4727-91C4-384EB30D99A4}" type="slidenum">
              <a:rPr lang="en-CA"/>
              <a:t>58</a:t>
            </a:fld>
            <a:endParaRPr lang="en-CA"/>
          </a:p>
        </p:txBody>
      </p:sp>
      <p:pic>
        <p:nvPicPr>
          <p:cNvPr id="6" name="Section 5 distance plot illustration">
            <a:extLst>
              <a:ext uri="{FF2B5EF4-FFF2-40B4-BE49-F238E27FC236}">
                <a16:creationId xmlns:a16="http://schemas.microsoft.com/office/drawing/2014/main" id="{0777FA3B-8D44-90EA-D59D-839F74A26C3A}"/>
              </a:ext>
            </a:extLst>
          </p:cNvPr>
          <p:cNvPicPr>
            <a:picLocks/>
          </p:cNvPicPr>
          <p:nvPr/>
        </p:nvPicPr>
        <p:blipFill>
          <a:blip r:embed="rId2">
            <a:extLst>
              <a:ext uri="{28A0092B-C50C-407E-A947-70E740481C1C}">
                <a14:useLocalDpi xmlns:a14="http://schemas.microsoft.com/office/drawing/2010/main" val="0"/>
              </a:ext>
            </a:extLst>
          </a:blip>
          <a:stretch>
            <a:fillRect/>
          </a:stretch>
        </p:blipFill>
        <p:spPr>
          <a:xfrm>
            <a:off x="14986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8" name="Section 5 influence plot illustration">
            <a:extLst>
              <a:ext uri="{FF2B5EF4-FFF2-40B4-BE49-F238E27FC236}">
                <a16:creationId xmlns:a16="http://schemas.microsoft.com/office/drawing/2014/main" id="{03253DAC-5419-8E24-983A-467810AD806C}"/>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0" y="177800"/>
            <a:ext cx="2540000" cy="2540000"/>
          </a:xfrm>
          <a:prstGeom prst="rect">
            <a:avLst/>
          </a:prstGeom>
          <a:ln w="9525">
            <a:solidFill>
              <a:srgbClr val="3A3A3A"/>
            </a:solidFill>
          </a:ln>
          <a:effectLst>
            <a:outerShdw blurRad="101600" dist="45790" dir="3378598" rotWithShape="0">
              <a:srgbClr val="000000">
                <a:alpha val="40000"/>
              </a:srgbClr>
            </a:outerShdw>
          </a:effectLst>
        </p:spPr>
      </p:pic>
      <p:pic>
        <p:nvPicPr>
          <p:cNvPr id="10" name="Section 5 robust weights illustration">
            <a:extLst>
              <a:ext uri="{FF2B5EF4-FFF2-40B4-BE49-F238E27FC236}">
                <a16:creationId xmlns:a16="http://schemas.microsoft.com/office/drawing/2014/main" id="{7E28064A-8C94-8376-8B79-57AA4D3E0F28}"/>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7137400" y="177800"/>
            <a:ext cx="3556000" cy="2540000"/>
          </a:xfrm>
          <a:prstGeom prst="rect">
            <a:avLst/>
          </a:prstGeom>
          <a:ln w="9525">
            <a:solidFill>
              <a:srgbClr val="3A3A3A"/>
            </a:solidFill>
          </a:ln>
          <a:effectLst>
            <a:outerShdw blurRad="101600" dist="45790" dir="3378598" rotWithShape="0">
              <a:srgbClr val="000000">
                <a:alpha val="40000"/>
              </a:srgbClr>
            </a:outerShdw>
          </a:effectLst>
        </p:spPr>
      </p:pic>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b="1" dirty="0"/>
              <a:t>Distance plot</a:t>
            </a:r>
            <a:r>
              <a:rPr sz="1800" dirty="0"/>
              <a: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462213"/>
          </a:xfrm>
          <a:prstGeom prst="rect">
            <a:avLst/>
          </a:prstGeom>
          <a:noFill/>
        </p:spPr>
        <p:txBody>
          <a:bodyPr wrap="square">
            <a:spAutoFit/>
          </a:bodyPr>
          <a:lstStyle/>
          <a:p>
            <a:pPr marL="228600" indent="-228600">
              <a:spcAft>
                <a:spcPts val="400"/>
              </a:spcAft>
              <a:buFont typeface="Arial"/>
              <a:buChar char="•"/>
            </a:pPr>
            <a:r>
              <a:rPr sz="1800" b="1" dirty="0"/>
              <a:t>Influence plot</a:t>
            </a:r>
            <a:r>
              <a:rPr sz="1800" dirty="0"/>
              <a:t>: bubble size ~ multivariate Cook’s D</a:t>
            </a:r>
          </a:p>
          <a:p>
            <a:pPr marL="228600" indent="-228600">
              <a:spcAft>
                <a:spcPts val="400"/>
              </a:spcAft>
              <a:buFont typeface="Arial"/>
              <a:buChar char="•"/>
            </a:pPr>
            <a:r>
              <a:rPr sz="1800" b="1" dirty="0">
                <a:solidFill>
                  <a:srgbClr val="FF0000"/>
                </a:solidFill>
              </a:rPr>
              <a:t>44, 59</a:t>
            </a:r>
            <a:r>
              <a:rPr sz="1800" dirty="0"/>
              <a:t>: high leverage and influential</a:t>
            </a:r>
          </a:p>
          <a:p>
            <a:pPr marL="228600" indent="-228600">
              <a:spcAft>
                <a:spcPts val="400"/>
              </a:spcAft>
              <a:buFont typeface="Arial"/>
              <a:buChar char="•"/>
            </a:pPr>
            <a:r>
              <a:rPr sz="1800" b="1" dirty="0">
                <a:solidFill>
                  <a:srgbClr val="0000FF"/>
                </a:solidFill>
              </a:rPr>
              <a:t>35</a:t>
            </a:r>
            <a:r>
              <a:rPr sz="1800" dirty="0"/>
              <a:t>: an outlier, but little influence</a:t>
            </a:r>
          </a:p>
          <a:p>
            <a:pPr marL="228600" indent="-228600">
              <a:spcAft>
                <a:spcPts val="400"/>
              </a:spcAft>
              <a:buFont typeface="Arial"/>
              <a:buChar char="•"/>
            </a:pPr>
            <a:r>
              <a:rPr sz="1800" b="1" dirty="0">
                <a:solidFill>
                  <a:srgbClr val="006400"/>
                </a:solidFill>
              </a:rPr>
              <a:t>66</a:t>
            </a:r>
            <a:r>
              <a:rPr sz="1800" dirty="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
        <p:nvSpPr>
          <p:cNvPr id="11" name="Slide Number Placeholder 11"/>
          <p:cNvSpPr>
            <a:spLocks noGrp="1"/>
          </p:cNvSpPr>
          <p:nvPr>
            <p:ph type="sldNum" sz="quarter" idx="12"/>
          </p:nvPr>
        </p:nvSpPr>
        <p:spPr/>
        <p:txBody>
          <a:bodyPr/>
          <a:lstStyle/>
          <a:p>
            <a:fld id="{9BFB2853-4965-4727-91C4-384EB30D99A4}" type="slidenum">
              <a:rPr lang="en-CA"/>
              <a:t>59</a:t>
            </a:fld>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endParaRPr lang="en-CA" dirty="0"/>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
        <p:nvSpPr>
          <p:cNvPr id="6" name="Slide Number Placeholder 6"/>
          <p:cNvSpPr>
            <a:spLocks noGrp="1"/>
          </p:cNvSpPr>
          <p:nvPr>
            <p:ph type="sldNum" sz="quarter" idx="12"/>
          </p:nvPr>
        </p:nvSpPr>
        <p:spPr/>
        <p:txBody>
          <a:bodyPr/>
          <a:lstStyle/>
          <a:p>
            <a:fld id="{9BFB2853-4965-4727-91C4-384EB30D99A4}" type="slidenum">
              <a:rPr lang="en-CA"/>
              <a:t>60</a:t>
            </a:fld>
            <a:endParaRPr lang="en-CA"/>
          </a:p>
        </p:txBody>
      </p:sp>
      <p:pic>
        <p:nvPicPr>
          <p:cNvPr id="8" name="Picture 7" descr="logo.png">
            <a:extLst>
              <a:ext uri="{FF2B5EF4-FFF2-40B4-BE49-F238E27FC236}">
                <a16:creationId xmlns:a16="http://schemas.microsoft.com/office/drawing/2014/main" id="{8C078AC7-B6BA-1224-6A60-13C7E3AC7D34}"/>
              </a:ext>
            </a:extLst>
          </p:cNvPr>
          <p:cNvPicPr>
            <a:picLocks noChangeAspect="1"/>
          </p:cNvPicPr>
          <p:nvPr/>
        </p:nvPicPr>
        <p:blipFill>
          <a:blip r:embed="rId4"/>
          <a:stretch>
            <a:fillRect/>
          </a:stretch>
        </p:blipFill>
        <p:spPr>
          <a:xfrm>
            <a:off x="10794221" y="228600"/>
            <a:ext cx="788179" cy="914400"/>
          </a:xfrm>
          <a:prstGeom prst="rect">
            <a:avLst/>
          </a:prstGeom>
        </p:spPr>
      </p:pic>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5818091" y="1643063"/>
            <a:ext cx="5860732" cy="418623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
        <p:nvSpPr>
          <p:cNvPr id="6" name="Slide Number Placeholder 6"/>
          <p:cNvSpPr>
            <a:spLocks noGrp="1"/>
          </p:cNvSpPr>
          <p:nvPr>
            <p:ph type="sldNum" sz="quarter" idx="12"/>
          </p:nvPr>
        </p:nvSpPr>
        <p:spPr/>
        <p:txBody>
          <a:bodyPr/>
          <a:lstStyle/>
          <a:p>
            <a:fld id="{9BFB2853-4965-4727-91C4-384EB30D99A4}" type="slidenum">
              <a:rPr lang="en-CA"/>
              <a:t>61</a:t>
            </a:fld>
            <a:endParaRPr lang="en-CA"/>
          </a:p>
        </p:txBody>
      </p:sp>
      <p:pic>
        <p:nvPicPr>
          <p:cNvPr id="8" name="Picture 7" descr="logo.png">
            <a:extLst>
              <a:ext uri="{FF2B5EF4-FFF2-40B4-BE49-F238E27FC236}">
                <a16:creationId xmlns:a16="http://schemas.microsoft.com/office/drawing/2014/main" id="{8CEF84B3-671E-E514-73B1-77B869BE814F}"/>
              </a:ext>
            </a:extLst>
          </p:cNvPr>
          <p:cNvPicPr>
            <a:picLocks noChangeAspect="1"/>
          </p:cNvPicPr>
          <p:nvPr/>
        </p:nvPicPr>
        <p:blipFill>
          <a:blip r:embed="rId4"/>
          <a:stretch>
            <a:fillRect/>
          </a:stretch>
        </p:blipFill>
        <p:spPr>
          <a:xfrm>
            <a:off x="10794610" y="217170"/>
            <a:ext cx="787790" cy="914400"/>
          </a:xfrm>
          <a:prstGeom prst="rect">
            <a:avLst/>
          </a:prstGeom>
        </p:spPr>
      </p:pic>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a:t>
            </a:r>
            <a:r>
              <a:rPr lang="en-CA" dirty="0"/>
              <a:t>visual </a:t>
            </a:r>
            <a:r>
              <a:rPr dirty="0"/>
              <a:t>ideas go a long way</a:t>
            </a:r>
          </a:p>
        </p:txBody>
      </p:sp>
      <p:sp>
        <p:nvSpPr>
          <p:cNvPr id="3" name="Content Placeholder 2"/>
          <p:cNvSpPr>
            <a:spLocks noGrp="1"/>
          </p:cNvSpPr>
          <p:nvPr>
            <p:ph idx="1"/>
          </p:nvPr>
        </p:nvSpPr>
        <p:spPr/>
        <p:txBody>
          <a:bodyPr/>
          <a:lstStyle/>
          <a:p>
            <a:r>
              <a:rPr b="1" dirty="0"/>
              <a:t>Ellipses</a:t>
            </a:r>
            <a:r>
              <a:rPr dirty="0"/>
              <a:t>: for data, for coefficients, and for hypotheses and error</a:t>
            </a:r>
          </a:p>
          <a:p>
            <a:r>
              <a:rPr b="1" dirty="0"/>
              <a:t>Projections</a:t>
            </a:r>
            <a:r>
              <a:rPr dirty="0"/>
              <a:t>: every plot is a view; choose the views that answer the question</a:t>
            </a:r>
            <a:endParaRPr lang="en-CA" dirty="0"/>
          </a:p>
          <a:p>
            <a:r>
              <a:rPr lang="en-CA" b="1" dirty="0"/>
              <a:t>Geometry</a:t>
            </a:r>
            <a:r>
              <a:rPr lang="en-CA" dirty="0"/>
              <a:t>: provides the connective tissue to understand relations in different, equivalent spaces.</a:t>
            </a:r>
            <a:endParaRPr dirty="0"/>
          </a:p>
          <a:p>
            <a:r>
              <a:rPr b="1" dirty="0"/>
              <a:t>Low-</a:t>
            </a:r>
            <a:r>
              <a:rPr lang="en-CA" b="1" dirty="0"/>
              <a:t>D</a:t>
            </a:r>
            <a:r>
              <a:rPr b="1" dirty="0"/>
              <a:t> views</a:t>
            </a:r>
            <a:r>
              <a:rPr dirty="0"/>
              <a:t>: biplots and canonical plots show many variables in the space that matters</a:t>
            </a:r>
          </a:p>
          <a:p>
            <a:r>
              <a:rPr b="1" dirty="0"/>
              <a:t>Visual thinning</a:t>
            </a:r>
            <a:r>
              <a:rPr dirty="0"/>
              <a:t>: summarize, so the message can be seen</a:t>
            </a:r>
          </a:p>
          <a:p>
            <a:r>
              <a:rPr dirty="0"/>
              <a:t>Multivariate models deserve graphs as good as those for a single response</a:t>
            </a:r>
          </a:p>
        </p:txBody>
      </p:sp>
      <p:sp>
        <p:nvSpPr>
          <p:cNvPr id="4" name="Slide Number Placeholder 4"/>
          <p:cNvSpPr>
            <a:spLocks noGrp="1"/>
          </p:cNvSpPr>
          <p:nvPr>
            <p:ph type="sldNum" sz="quarter" idx="12"/>
          </p:nvPr>
        </p:nvSpPr>
        <p:spPr/>
        <p:txBody>
          <a:bodyPr/>
          <a:lstStyle/>
          <a:p>
            <a:fld id="{9BFB2853-4965-4727-91C4-384EB30D99A4}" type="slidenum">
              <a:rPr lang="en-CA"/>
              <a:t>62</a:t>
            </a:fld>
            <a:endParaRPr lang="en-CA"/>
          </a:p>
        </p:txBody>
      </p:sp>
    </p:spTree>
  </p:cSld>
  <p:clrMapOvr>
    <a:masterClrMapping/>
  </p:clrMapOvr>
  <mc:AlternateContent xmlns:mc="http://schemas.openxmlformats.org/markup-compatibility/2006" xmlns:p14="http://schemas.microsoft.com/office/powerpoint/2010/main">
    <mc:Choice Requires="p14">
      <p:transition spd="slow" p14:dur="1600">
        <p14:prism isContent="1" isInverted="1"/>
      </p:transition>
    </mc:Choice>
    <mc:Fallback xmlns="">
      <p:transition spd="slow">
        <p:fade/>
      </p:transition>
    </mc:Fallback>
  </mc:AlternateContent>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sp>
        <p:nvSpPr>
          <p:cNvPr id="5" name="Slide Number Placeholder 5"/>
          <p:cNvSpPr>
            <a:spLocks noGrp="1"/>
          </p:cNvSpPr>
          <p:nvPr>
            <p:ph type="sldNum" sz="quarter" idx="12"/>
          </p:nvPr>
        </p:nvSpPr>
        <p:spPr/>
        <p:txBody>
          <a:bodyPr/>
          <a:lstStyle/>
          <a:p>
            <a:fld id="{9BFB2853-4965-4727-91C4-384EB30D99A4}" type="slidenum">
              <a:rPr lang="en-CA"/>
              <a:t>63</a:t>
            </a:fld>
            <a:endParaRPr lang="en-CA"/>
          </a:p>
        </p:txBody>
      </p:sp>
      <p:pic>
        <p:nvPicPr>
          <p:cNvPr id="4" name="Picture 3" descr="cover-peng.jpg"/>
          <p:cNvPicPr>
            <a:picLocks noChangeAspect="1"/>
          </p:cNvPicPr>
          <p:nvPr/>
        </p:nvPicPr>
        <p:blipFill>
          <a:blip r:embed="rId4"/>
          <a:stretch>
            <a:fillRect/>
          </a:stretch>
        </p:blipFill>
        <p:spPr>
          <a:xfrm>
            <a:off x="8051923" y="1197734"/>
            <a:ext cx="3530477" cy="4858555"/>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FDF9EF"/>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
        <p:nvSpPr>
          <p:cNvPr id="5" name="Slide Number Placeholder 5"/>
          <p:cNvSpPr>
            <a:spLocks noGrp="1"/>
          </p:cNvSpPr>
          <p:nvPr>
            <p:ph type="sldNum" sz="quarter" idx="12"/>
          </p:nvPr>
        </p:nvSpPr>
        <p:spPr/>
        <p:txBody>
          <a:bodyPr/>
          <a:lstStyle/>
          <a:p>
            <a:fld id="{9BFB2853-4965-4727-91C4-384EB30D99A4}" type="slidenum">
              <a:rPr lang="en-CA"/>
              <a:t>64</a:t>
            </a:fld>
            <a:endParaRPr lang="en-CA"/>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
        <p:nvSpPr>
          <p:cNvPr id="6" name="Slide Number Placeholder 6"/>
          <p:cNvSpPr>
            <a:spLocks noGrp="1"/>
          </p:cNvSpPr>
          <p:nvPr>
            <p:ph type="sldNum" sz="quarter" idx="12"/>
          </p:nvPr>
        </p:nvSpPr>
        <p:spPr/>
        <p:txBody>
          <a:bodyPr/>
          <a:lstStyle/>
          <a:p>
            <a:fld id="{9BFB2853-4965-4727-91C4-384EB30D99A4}" type="slidenum">
              <a:rPr lang="en-CA"/>
              <a:t>65</a:t>
            </a:fld>
            <a:endParaRPr lang="en-CA"/>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
        <p:nvSpPr>
          <p:cNvPr id="6" name="Slide Number Placeholder 6"/>
          <p:cNvSpPr>
            <a:spLocks noGrp="1"/>
          </p:cNvSpPr>
          <p:nvPr>
            <p:ph type="sldNum" sz="quarter" idx="12"/>
          </p:nvPr>
        </p:nvSpPr>
        <p:spPr/>
        <p:txBody>
          <a:bodyPr/>
          <a:lstStyle/>
          <a:p>
            <a:fld id="{9BFB2853-4965-4727-91C4-384EB30D99A4}" type="slidenum">
              <a:rPr lang="en-CA"/>
              <a:t>66</a:t>
            </a:fld>
            <a:endParaRPr lang="en-CA"/>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
        <p:nvSpPr>
          <p:cNvPr id="6" name="Slide Number Placeholder 6"/>
          <p:cNvSpPr>
            <a:spLocks noGrp="1"/>
          </p:cNvSpPr>
          <p:nvPr>
            <p:ph type="sldNum" sz="quarter" idx="12"/>
          </p:nvPr>
        </p:nvSpPr>
        <p:spPr/>
        <p:txBody>
          <a:bodyPr/>
          <a:lstStyle/>
          <a:p>
            <a:fld id="{9BFB2853-4965-4727-91C4-384EB30D99A4}" type="slidenum">
              <a:rPr lang="en-CA"/>
              <a:t>67</a:t>
            </a:fld>
            <a:endParaRPr lang="en-CA"/>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
        <p:nvSpPr>
          <p:cNvPr id="4" name="Slide Number Placeholder 4"/>
          <p:cNvSpPr>
            <a:spLocks noGrp="1"/>
          </p:cNvSpPr>
          <p:nvPr>
            <p:ph type="sldNum" sz="quarter" idx="12"/>
          </p:nvPr>
        </p:nvSpPr>
        <p:spPr/>
        <p:txBody>
          <a:bodyPr/>
          <a:lstStyle/>
          <a:p>
            <a:fld id="{9BFB2853-4965-4727-91C4-384EB30D99A4}" type="slidenum">
              <a:rPr lang="en-CA"/>
              <a:t>68</a:t>
            </a:fld>
            <a:endParaRPr lang="en-CA"/>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
        <p:nvSpPr>
          <p:cNvPr id="10" name="Slide Number Placeholder 10"/>
          <p:cNvSpPr>
            <a:spLocks noGrp="1"/>
          </p:cNvSpPr>
          <p:nvPr>
            <p:ph type="sldNum" sz="quarter" idx="12"/>
          </p:nvPr>
        </p:nvSpPr>
        <p:spPr/>
        <p:txBody>
          <a:bodyPr/>
          <a:lstStyle/>
          <a:p>
            <a:fld id="{9BFB2853-4965-4727-91C4-384EB30D99A4}" type="slidenum">
              <a:rPr lang="en-CA"/>
              <a:t>69</a:t>
            </a:fld>
            <a:endParaRPr lang="en-CA"/>
          </a:p>
        </p:txBody>
      </p:sp>
    </p:spTree>
    <p:extLst>
      <p:ext uri="{BB962C8B-B14F-4D97-AF65-F5344CB8AC3E}">
        <p14:creationId xmlns:p14="http://schemas.microsoft.com/office/powerpoint/2010/main" val="255179568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
        <p:nvSpPr>
          <p:cNvPr id="7" name="Slide Number Placeholder 7"/>
          <p:cNvSpPr>
            <a:spLocks noGrp="1"/>
          </p:cNvSpPr>
          <p:nvPr>
            <p:ph type="sldNum" sz="quarter" idx="12"/>
          </p:nvPr>
        </p:nvSpPr>
        <p:spPr/>
        <p:txBody>
          <a:bodyPr/>
          <a:lstStyle/>
          <a:p>
            <a:fld id="{9BFB2853-4965-4727-91C4-384EB30D99A4}" type="slidenum">
              <a:rPr lang="en-CA"/>
              <a:t>70</a:t>
            </a:fld>
            <a:endParaRPr lang="en-CA"/>
          </a:p>
        </p:txBody>
      </p:sp>
    </p:spTree>
    <p:extLst>
      <p:ext uri="{BB962C8B-B14F-4D97-AF65-F5344CB8AC3E}">
        <p14:creationId xmlns:p14="http://schemas.microsoft.com/office/powerpoint/2010/main" val="2787820213"/>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
        <p:nvSpPr>
          <p:cNvPr id="9" name="Slide Number Placeholder 9"/>
          <p:cNvSpPr>
            <a:spLocks noGrp="1"/>
          </p:cNvSpPr>
          <p:nvPr>
            <p:ph type="sldNum" sz="quarter" idx="12"/>
          </p:nvPr>
        </p:nvSpPr>
        <p:spPr/>
        <p:txBody>
          <a:bodyPr/>
          <a:lstStyle/>
          <a:p>
            <a:fld id="{9BFB2853-4965-4727-91C4-384EB30D99A4}" type="slidenum">
              <a:rPr lang="en-CA"/>
              <a:t>71</a:t>
            </a:fld>
            <a:endParaRPr lang="en-CA"/>
          </a:p>
        </p:txBody>
      </p:sp>
    </p:spTree>
    <p:extLst>
      <p:ext uri="{BB962C8B-B14F-4D97-AF65-F5344CB8AC3E}">
        <p14:creationId xmlns:p14="http://schemas.microsoft.com/office/powerpoint/2010/main" val="370433655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
        <p:nvSpPr>
          <p:cNvPr id="9" name="Slide Number Placeholder 9"/>
          <p:cNvSpPr>
            <a:spLocks noGrp="1"/>
          </p:cNvSpPr>
          <p:nvPr>
            <p:ph type="sldNum" sz="quarter" idx="12"/>
          </p:nvPr>
        </p:nvSpPr>
        <p:spPr/>
        <p:txBody>
          <a:bodyPr/>
          <a:lstStyle/>
          <a:p>
            <a:fld id="{9BFB2853-4965-4727-91C4-384EB30D99A4}" type="slidenum">
              <a:rPr lang="en-CA"/>
              <a:t>72</a:t>
            </a:fld>
            <a:endParaRPr lang="en-CA"/>
          </a:p>
        </p:txBody>
      </p:sp>
    </p:spTree>
    <p:extLst>
      <p:ext uri="{BB962C8B-B14F-4D97-AF65-F5344CB8AC3E}">
        <p14:creationId xmlns:p14="http://schemas.microsoft.com/office/powerpoint/2010/main" val="213160507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
        <p:nvSpPr>
          <p:cNvPr id="6" name="Slide Number Placeholder 6"/>
          <p:cNvSpPr>
            <a:spLocks noGrp="1"/>
          </p:cNvSpPr>
          <p:nvPr>
            <p:ph type="sldNum" sz="quarter" idx="12"/>
          </p:nvPr>
        </p:nvSpPr>
        <p:spPr/>
        <p:txBody>
          <a:bodyPr/>
          <a:lstStyle/>
          <a:p>
            <a:fld id="{9BFB2853-4965-4727-91C4-384EB30D99A4}" type="slidenum">
              <a:rPr lang="en-CA"/>
              <a:t>73</a:t>
            </a:fld>
            <a:endParaRPr lang="en-CA"/>
          </a:p>
        </p:txBody>
      </p:sp>
    </p:spTree>
    <p:extLst>
      <p:ext uri="{BB962C8B-B14F-4D97-AF65-F5344CB8AC3E}">
        <p14:creationId xmlns:p14="http://schemas.microsoft.com/office/powerpoint/2010/main" val="171975335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
        <p:nvSpPr>
          <p:cNvPr id="8" name="Slide Number Placeholder 8"/>
          <p:cNvSpPr>
            <a:spLocks noGrp="1"/>
          </p:cNvSpPr>
          <p:nvPr>
            <p:ph type="sldNum" sz="quarter" idx="12"/>
          </p:nvPr>
        </p:nvSpPr>
        <p:spPr/>
        <p:txBody>
          <a:bodyPr/>
          <a:lstStyle/>
          <a:p>
            <a:fld id="{9BFB2853-4965-4727-91C4-384EB30D99A4}" type="slidenum">
              <a:rPr lang="en-CA"/>
              <a:t>74</a:t>
            </a:fld>
            <a:endParaRPr lang="en-CA"/>
          </a:p>
        </p:txBody>
      </p:sp>
    </p:spTree>
    <p:extLst>
      <p:ext uri="{BB962C8B-B14F-4D97-AF65-F5344CB8AC3E}">
        <p14:creationId xmlns:p14="http://schemas.microsoft.com/office/powerpoint/2010/main" val="163707666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
        <p:nvSpPr>
          <p:cNvPr id="6" name="Slide Number Placeholder 6"/>
          <p:cNvSpPr>
            <a:spLocks noGrp="1"/>
          </p:cNvSpPr>
          <p:nvPr>
            <p:ph type="sldNum" sz="quarter" idx="12"/>
          </p:nvPr>
        </p:nvSpPr>
        <p:spPr/>
        <p:txBody>
          <a:bodyPr/>
          <a:lstStyle/>
          <a:p>
            <a:fld id="{9BFB2853-4965-4727-91C4-384EB30D99A4}" type="slidenum">
              <a:rPr lang="en-CA"/>
              <a:t>75</a:t>
            </a:fld>
            <a:endParaRPr lang="en-CA"/>
          </a:p>
        </p:txBody>
      </p:sp>
    </p:spTree>
    <p:extLst>
      <p:ext uri="{BB962C8B-B14F-4D97-AF65-F5344CB8AC3E}">
        <p14:creationId xmlns:p14="http://schemas.microsoft.com/office/powerpoint/2010/main" val="260817311"/>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
        <p:nvSpPr>
          <p:cNvPr id="6" name="Slide Number Placeholder 6"/>
          <p:cNvSpPr>
            <a:spLocks noGrp="1"/>
          </p:cNvSpPr>
          <p:nvPr>
            <p:ph type="sldNum" sz="quarter" idx="12"/>
          </p:nvPr>
        </p:nvSpPr>
        <p:spPr/>
        <p:txBody>
          <a:bodyPr/>
          <a:lstStyle/>
          <a:p>
            <a:fld id="{9BFB2853-4965-4727-91C4-384EB30D99A4}" type="slidenum">
              <a:rPr lang="en-CA"/>
              <a:t>76</a:t>
            </a:fld>
            <a:endParaRPr lang="en-CA"/>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
        <p:nvSpPr>
          <p:cNvPr id="6" name="Slide Number Placeholder 6"/>
          <p:cNvSpPr>
            <a:spLocks noGrp="1"/>
          </p:cNvSpPr>
          <p:nvPr>
            <p:ph type="sldNum" sz="quarter" idx="12"/>
          </p:nvPr>
        </p:nvSpPr>
        <p:spPr/>
        <p:txBody>
          <a:bodyPr/>
          <a:lstStyle/>
          <a:p>
            <a:fld id="{9BFB2853-4965-4727-91C4-384EB30D99A4}" type="slidenum">
              <a:rPr lang="en-CA"/>
              <a:t>77</a:t>
            </a:fld>
            <a:endParaRPr lang="en-CA"/>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
        <p:nvSpPr>
          <p:cNvPr id="6" name="Slide Number Placeholder 6"/>
          <p:cNvSpPr>
            <a:spLocks noGrp="1"/>
          </p:cNvSpPr>
          <p:nvPr>
            <p:ph type="sldNum" sz="quarter" idx="12"/>
          </p:nvPr>
        </p:nvSpPr>
        <p:spPr/>
        <p:txBody>
          <a:bodyPr/>
          <a:lstStyle/>
          <a:p>
            <a:fld id="{9BFB2853-4965-4727-91C4-384EB30D99A4}" type="slidenum">
              <a:rPr lang="en-CA"/>
              <a:t>78</a:t>
            </a:fld>
            <a:endParaRPr lang="en-CA"/>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
        <p:nvSpPr>
          <p:cNvPr id="6" name="Slide Number Placeholder 6"/>
          <p:cNvSpPr>
            <a:spLocks noGrp="1"/>
          </p:cNvSpPr>
          <p:nvPr>
            <p:ph type="sldNum" sz="quarter" idx="12"/>
          </p:nvPr>
        </p:nvSpPr>
        <p:spPr/>
        <p:txBody>
          <a:bodyPr/>
          <a:lstStyle/>
          <a:p>
            <a:fld id="{9BFB2853-4965-4727-91C4-384EB30D99A4}" type="slidenum">
              <a:rPr lang="en-CA"/>
              <a:t>79</a:t>
            </a:fld>
            <a:endParaRPr lang="en-CA"/>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
        <p:nvSpPr>
          <p:cNvPr id="6" name="Slide Number Placeholder 6"/>
          <p:cNvSpPr>
            <a:spLocks noGrp="1"/>
          </p:cNvSpPr>
          <p:nvPr>
            <p:ph type="sldNum" sz="quarter" idx="12"/>
          </p:nvPr>
        </p:nvSpPr>
        <p:spPr/>
        <p:txBody>
          <a:bodyPr/>
          <a:lstStyle/>
          <a:p>
            <a:fld id="{9BFB2853-4965-4727-91C4-384EB30D99A4}" type="slidenum">
              <a:rPr lang="en-CA"/>
              <a:t>80</a:t>
            </a:fld>
            <a:endParaRPr lang="en-CA"/>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
        <p:nvSpPr>
          <p:cNvPr id="5" name="Slide Number Placeholder 5"/>
          <p:cNvSpPr>
            <a:spLocks noGrp="1"/>
          </p:cNvSpPr>
          <p:nvPr>
            <p:ph type="sldNum" sz="quarter" idx="12"/>
          </p:nvPr>
        </p:nvSpPr>
        <p:spPr/>
        <p:txBody>
          <a:bodyPr/>
          <a:lstStyle/>
          <a:p>
            <a:fld id="{9BFB2853-4965-4727-91C4-384EB30D99A4}" type="slidenum">
              <a:rPr lang="en-CA"/>
              <a:t>81</a:t>
            </a:fld>
            <a:endParaRPr lang="en-CA"/>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6549</TotalTime>
  <Words>6543</Words>
  <Application>Microsoft Office PowerPoint</Application>
  <PresentationFormat>Widescreen</PresentationFormat>
  <Paragraphs>681</Paragraphs>
  <Slides>81</Slides>
  <Notes>75</Notes>
  <HiddenSlides>17</HiddenSlides>
  <MMClips>0</MMClips>
  <ScaleCrop>false</ScaleCrop>
  <HeadingPairs>
    <vt:vector size="8" baseType="variant">
      <vt:variant>
        <vt:lpstr>Fonts Used</vt:lpstr>
      </vt:variant>
      <vt:variant>
        <vt:i4>9</vt:i4>
      </vt:variant>
      <vt:variant>
        <vt:lpstr>Theme</vt:lpstr>
      </vt:variant>
      <vt:variant>
        <vt:i4>1</vt:i4>
      </vt:variant>
      <vt:variant>
        <vt:lpstr>Embedded OLE Servers</vt:lpstr>
      </vt:variant>
      <vt:variant>
        <vt:i4>1</vt:i4>
      </vt:variant>
      <vt:variant>
        <vt:lpstr>Slide Titles</vt:lpstr>
      </vt:variant>
      <vt:variant>
        <vt:i4>81</vt:i4>
      </vt:variant>
    </vt:vector>
  </HeadingPairs>
  <TitlesOfParts>
    <vt:vector size="92" baseType="lpstr">
      <vt:lpstr>Aptos</vt:lpstr>
      <vt:lpstr>Aptos Display</vt:lpstr>
      <vt:lpstr>Arial</vt:lpstr>
      <vt:lpstr>Cambria Math</vt:lpstr>
      <vt:lpstr>Consolas</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 (thematic)</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What if I'm not Normal?</vt:lpstr>
      <vt:lpstr>Simpson's paradox: marginal &amp; conditional relations</vt:lpstr>
      <vt:lpstr>Thinking about Penguin variables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 (tourr pkg)</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When a linear view is not enough: PCA vs t-SNE</vt:lpstr>
      <vt:lpstr>From PCA to t-SNE, animated</vt:lpstr>
      <vt:lpstr>Elliptical Insights</vt:lpstr>
      <vt:lpstr>Outlier detection: Waar is Wally?</vt:lpstr>
      <vt:lpstr>Multivariate outliers: which penguins are unusual?</vt:lpstr>
      <vt:lpstr>Outliers hide in the smallest dimensions</vt:lpstr>
      <vt:lpstr>Elliptical insights: Measurement error</vt:lpstr>
      <vt:lpstr>Coffee, stress and heart disease</vt:lpstr>
      <vt:lpstr>Data space and beta space are dual</vt:lpstr>
      <vt:lpstr>Adding measurement error</vt:lpstr>
      <vt:lpstr>Understanding collinearity</vt:lpstr>
      <vt:lpstr>Ridge regression: shrink to gain precision</vt:lpstr>
      <vt:lpstr>The usual ridge trace shows only the estimates</vt:lpstr>
      <vt:lpstr>Generalized ridge trace plots</vt:lpstr>
      <vt:lpstr>A low-rank view of ridge regression</vt:lpstr>
      <vt:lpstr>The HE plot framework</vt:lpstr>
      <vt:lpstr>HE plots: Visual overview</vt:lpstr>
      <vt:lpstr>Data  Data ellipses  HE plot</vt:lpstr>
      <vt:lpstr>The H ellipse</vt:lpstr>
      <vt:lpstr>The E ellipse</vt:lpstr>
      <vt:lpstr>HE plots: Effect scaling vs. Significance scaling</vt:lpstr>
      <vt:lpstr>Contrasts &amp; linear hypotheses: What diffces make H big?</vt:lpstr>
      <vt:lpstr>HE pairs() plots</vt:lpstr>
      <vt:lpstr>Quantitative predictors: each effect is a line</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visual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Collinearity: narrow data  increased uncertainty</vt:lpstr>
      <vt:lpstr>Application: effect ordering variables in displays</vt:lpstr>
      <vt:lpstr>Measurement error for β1 also biases β2</vt:lpstr>
      <vt:lpstr>Added-variable plots show partial relationships</vt:lpstr>
      <vt:lpstr>Leverage and influence: car::influencePlot(model)</vt:lpstr>
      <vt:lpstr>Which observations drive the fit?</vt:lpstr>
      <vt:lpstr>MANOVA: the same sums of squares, now as matrices</vt:lpstr>
      <vt:lpstr>Canonical correlation in an HE plot</vt:lpstr>
      <vt:lpstr>Factorial designs: main effects and interactions</vt:lpstr>
      <vt:lpstr>MANCOVA: are the regressions the same across groups?</vt:lpstr>
      <vt:lpstr>Are the covariance matrices equal?</vt:lpstr>
      <vt:lpstr>Visualizing Box's M test</vt:lpstr>
      <vt:lpstr>Quadratic discriminant analysis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74</cp:revision>
  <dcterms:created xsi:type="dcterms:W3CDTF">2026-10-06T18:00:03Z</dcterms:created>
  <dcterms:modified xsi:type="dcterms:W3CDTF">2026-10-21T18:02:06Z</dcterms:modified>
</cp:coreProperties>
</file>