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267" r:id="rId18"/>
    <p:sldId id="268" r:id="rId19"/>
    <p:sldId id="269" r:id="rId20"/>
    <p:sldId id="270" r:id="rId21"/>
    <p:sldId id="271" r:id="rId22"/>
    <p:sldId id="273" r:id="rId55"/>
    <p:sldId id="467" r:id="rId56"/>
    <p:sldId id="274" r:id="rId57"/>
    <p:sldId id="275" r:id="rId58"/>
    <p:sldId id="276" r:id="rId59"/>
    <p:sldId id="468" r:id="rId60"/>
    <p:sldId id="281" r:id="rId61"/>
    <p:sldId id="277" r:id="rId23"/>
    <p:sldId id="278" r:id="rId24"/>
    <p:sldId id="282" r:id="rId25"/>
    <p:sldId id="272" r:id="rId26"/>
    <p:sldId id="471" r:id="rId27"/>
    <p:sldId id="472" r:id="rId28"/>
    <p:sldId id="460" r:id="rId29"/>
    <p:sldId id="289" r:id="rId30"/>
    <p:sldId id="461" r:id="rId31"/>
    <p:sldId id="462" r:id="rId32"/>
    <p:sldId id="285" r:id="rId33"/>
    <p:sldId id="287" r:id="rId34"/>
    <p:sldId id="288" r:id="rId35"/>
    <p:sldId id="293" r:id="rId36"/>
    <p:sldId id="292" r:id="rId37"/>
    <p:sldId id="294" r:id="rId38"/>
    <p:sldId id="295" r:id="rId39"/>
    <p:sldId id="463" r:id="rId40"/>
    <p:sldId id="465" r:id="rId41"/>
    <p:sldId id="297" r:id="rId42"/>
    <p:sldId id="298" r:id="rId43"/>
    <p:sldId id="299" r:id="rId44"/>
    <p:sldId id="466" r:id="rId45"/>
    <p:sldId id="327" r:id="rId46"/>
    <p:sldId id="328" r:id="rId47"/>
    <p:sldId id="329" r:id="rId48"/>
    <p:sldId id="300" r:id="rId49"/>
    <p:sldId id="301" r:id="rId50"/>
    <p:sldId id="302" r:id="rId51"/>
    <p:sldId id="303" r:id="rId52"/>
    <p:sldId id="449" r:id="rId53"/>
    <p:sldId id="306" r:id="rId54"/>
    <p:sldId id="469" r:id="rId62"/>
    <p:sldId id="318" r:id="rId63"/>
    <p:sldId id="319" r:id="rId64"/>
    <p:sldId id="320" r:id="rId65"/>
    <p:sldId id="310" r:id="rId66"/>
    <p:sldId id="311" r:id="rId67"/>
    <p:sldId id="313" r:id="rId68"/>
    <p:sldId id="314" r:id="rId69"/>
    <p:sldId id="322" r:id="rId70"/>
    <p:sldId id="323" r:id="rId71"/>
    <p:sldId id="324" r:id="rId72"/>
    <p:sldId id="283" r:id="rId73"/>
    <p:sldId id="284" r:id="rId74"/>
    <p:sldId id="286" r:id="rId75"/>
    <p:sldId id="291" r:id="rId76"/>
    <p:sldId id="279" r:id="rId77"/>
    <p:sldId id="280" r:id="rId78"/>
    <p:sldId id="307" r:id="rId79"/>
    <p:sldId id="308" r:id="rId80"/>
    <p:sldId id="309" r:id="rId81"/>
    <p:sldId id="315" r:id="rId82"/>
    <p:sldId id="316" r:id="rId83"/>
    <p:sldId id="317" r:id="rId84"/>
    <p:sldId id="321" r:id="rId85"/>
    <p:sldId id="312"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Why many dimensions?"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267"/>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81"/>
            <p14:sldId id="277"/>
            <p14:sldId id="278"/>
          </p14:sldIdLst>
        </p14:section>
        <p14:section name="3. Elliptical insights" id="{EAA495C8-47F8-453B-93BF-84216DBE3542}">
          <p14:sldIdLst>
            <p14:sldId id="282"/>
            <p14:sldId id="272"/>
            <p14:sldId id="471"/>
            <p14:sldId id="472"/>
            <p14:sldId id="460"/>
            <p14:sldId id="289"/>
            <p14:sldId id="461"/>
            <p14:sldId id="462"/>
            <p14:sldId id="285"/>
            <p14:sldId id="287"/>
            <p14:sldId id="288"/>
            <p14:sldId id="293"/>
            <p14:sldId id="292"/>
            <p14:sldId id="294"/>
            <p14:sldId id="295"/>
            <p14:sldId id="463"/>
            <p14:sldId id="465"/>
            <p14:sldId id="297"/>
          </p14:sldIdLst>
        </p14:section>
        <p14:section name="4. The HE plot framework" id="{19AF699C-459B-4008-BE93-C8454174BFDD}">
          <p14:sldIdLst>
            <p14:sldId id="298"/>
            <p14:sldId id="299"/>
            <p14:sldId id="466"/>
            <p14:sldId id="327"/>
            <p14:sldId id="328"/>
            <p14:sldId id="329"/>
            <p14:sldId id="300"/>
            <p14:sldId id="301"/>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79"/>
            <p14:sldId id="280"/>
            <p14:sldId id="307"/>
            <p14:sldId id="308"/>
            <p14:sldId id="309"/>
            <p14:sldId id="315"/>
            <p14:sldId id="316"/>
            <p14:sldId id="317"/>
            <p14:sldId id="321"/>
            <p14:sldId id="31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271" autoAdjust="0"/>
  </p:normalViewPr>
  <p:slideViewPr>
    <p:cSldViewPr snapToGrid="0">
      <p:cViewPr varScale="1">
        <p:scale>
          <a:sx n="81" d="100"/>
          <a:sy n="81" d="100"/>
        </p:scale>
        <p:origin x="1080" y="78"/>
      </p:cViewPr>
      <p:guideLst/>
    </p:cSldViewPr>
  </p:slideViewPr>
  <p:notesTextViewPr>
    <p:cViewPr>
      <p:scale>
        <a:sx n="1" d="1"/>
        <a:sy n="1" d="1"/>
      </p:scale>
      <p:origin x="0" y="0"/>
    </p:cViewPr>
  </p:notesTextViewPr>
  <p:sorterViewPr>
    <p:cViewPr>
      <p:scale>
        <a:sx n="100" d="100"/>
        <a:sy n="100" d="100"/>
      </p:scale>
      <p:origin x="0" y="-19314"/>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The talk is framed around the book of the same name.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 the first time I’ve spoken publicly about the book</a:t>
            </a:r>
          </a:p>
          <a:p>
            <a:endParaRPr lang="en-CA" dirty="0"/>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a:t>
            </a:r>
            <a:r>
              <a:rPr lang="en-CA" dirty="0" err="1"/>
              <a:t>Surgens</a:t>
            </a:r>
            <a:r>
              <a:rPr lang="en-CA" dirty="0"/>
              <a:t>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all the R code.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The talk follows the book: plots of data, then models with one response, then models with many responses. The ellipse is the recurring device.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pollen data look like a featureless cloud until 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CA" dirty="0"/>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Palmer penguins are the running example.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As an example, consider the now popular data on body measurements of Antarctic penguins classified by species.</a:t>
            </a:r>
          </a:p>
          <a:p>
            <a:r>
              <a:rPr lang="en-CA" dirty="0"/>
              <a:t>(The classic iris data seems to have been eclipsed b/c of Fisher’s association with the eugenics movement.)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interpolating between the PCA and t-SNE solutions for the Diabetes data.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Two of them, nicknamed Cyrano and Hook Nose, come back in 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26</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27</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30</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31</a:t>
            </a:fld>
            <a:endParaRPr lang="en-US"/>
          </a:p>
        </p:txBody>
      </p:sp>
    </p:spTree>
    <p:extLst>
      <p:ext uri="{BB962C8B-B14F-4D97-AF65-F5344CB8AC3E}">
        <p14:creationId xmlns:p14="http://schemas.microsoft.com/office/powerpoint/2010/main" val="347700245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standard collinearity diagnostics table hides the important information. The tableplot makes it stand out; the collinearity biplot shows which variables are involved.</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1470726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40</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44</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52</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55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61</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distance plot is one of the figures the organizer singled out. School data model: reading, mathematics and self-esteem on five predictors, 70 schools. Distance plot (heplots::distancePlot) and influence plot (mvinfluence::influencePlot), re-drawn as a matched pair with the same cases in the same colors (talks/R/school-diagnostics.R). 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Re-construction of the Mona Lisa from increasing numbers of components (the eigenfaces idea).</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441007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toy example from Barrett (2003): one predictor, two nearly perfectly correlated responses, nine cases. The univariate Cook's D values for case 9 are very small, but the multivariate Cook's D is 3.22, over 10 times the next largest. Multivariate influence is not the sum of univariate influences.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29.png"/><Relationship Id="rId4" Type="http://schemas.openxmlformats.org/officeDocument/2006/relationships/image" Target="../media/image28.png"/></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31.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9.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6.gif"/><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38.gif"/><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2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43.emf"/><Relationship Id="rId5" Type="http://schemas.openxmlformats.org/officeDocument/2006/relationships/image" Target="../media/image42.png"/><Relationship Id="rId4" Type="http://schemas.openxmlformats.org/officeDocument/2006/relationships/hyperlink" Target="http://www.datavis.ca/gallery/animation/outlier-demo/"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45.png"/></Relationships>
</file>

<file path=ppt/slides/_rels/slide2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47.gif"/><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8.gif"/></Relationships>
</file>

<file path=ppt/slides/_rels/slide31.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4.xml"/><Relationship Id="rId1" Type="http://schemas.openxmlformats.org/officeDocument/2006/relationships/slideLayout" Target="../slideLayouts/slideLayout6.xml"/><Relationship Id="rId5" Type="http://schemas.openxmlformats.org/officeDocument/2006/relationships/image" Target="../media/image43.emf"/><Relationship Id="rId4" Type="http://schemas.openxmlformats.org/officeDocument/2006/relationships/image" Target="../media/image54.png"/></Relationships>
</file>

<file path=ppt/slides/_rels/slide3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6.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3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9.xml"/><Relationship Id="rId1" Type="http://schemas.openxmlformats.org/officeDocument/2006/relationships/slideLayout" Target="../slideLayouts/slideLayout6.xml"/><Relationship Id="rId5" Type="http://schemas.openxmlformats.org/officeDocument/2006/relationships/image" Target="../media/image60.png"/><Relationship Id="rId4" Type="http://schemas.openxmlformats.org/officeDocument/2006/relationships/image" Target="../media/image10.png"/></Relationships>
</file>

<file path=ppt/slides/_rels/slide4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0.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notesSlide" Target="../notesSlides/notesSlide42.xml"/><Relationship Id="rId1" Type="http://schemas.openxmlformats.org/officeDocument/2006/relationships/slideLayout" Target="../slideLayouts/slideLayout6.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4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70.png"/></Relationships>
</file>

<file path=ppt/slides/_rels/slide4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73.wmf"/><Relationship Id="rId5" Type="http://schemas.openxmlformats.org/officeDocument/2006/relationships/oleObject" Target="../embeddings/oleObject1.bin"/><Relationship Id="rId4" Type="http://schemas.openxmlformats.org/officeDocument/2006/relationships/image" Target="../media/image72.png"/></Relationships>
</file>

<file path=ppt/slides/_rels/slide47.xml.rels><?xml version="1.0" encoding="UTF-8" standalone="yes"?>
<Relationships xmlns="http://schemas.openxmlformats.org/package/2006/relationships"><Relationship Id="rId3" Type="http://schemas.openxmlformats.org/officeDocument/2006/relationships/image" Target="../media/image70.png"/><Relationship Id="rId7" Type="http://schemas.openxmlformats.org/officeDocument/2006/relationships/image" Target="../media/image76.wmf"/><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oleObject" Target="../embeddings/oleObject2.bin"/><Relationship Id="rId5" Type="http://schemas.openxmlformats.org/officeDocument/2006/relationships/image" Target="../media/image75.png"/><Relationship Id="rId4" Type="http://schemas.openxmlformats.org/officeDocument/2006/relationships/image" Target="../media/image74.png"/></Relationships>
</file>

<file path=ppt/slides/_rels/slide4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3" Type="http://schemas.openxmlformats.org/officeDocument/2006/relationships/image" Target="../media/image82.png"/><Relationship Id="rId7" Type="http://schemas.openxmlformats.org/officeDocument/2006/relationships/image" Target="../media/image85.jpg"/><Relationship Id="rId2" Type="http://schemas.openxmlformats.org/officeDocument/2006/relationships/notesSlide" Target="../notesSlides/notesSlide52.xml"/><Relationship Id="rId1" Type="http://schemas.openxmlformats.org/officeDocument/2006/relationships/slideLayout" Target="../slideLayouts/slideLayout7.xml"/><Relationship Id="rId6" Type="http://schemas.openxmlformats.org/officeDocument/2006/relationships/image" Target="../media/image84.png"/><Relationship Id="rId5" Type="http://schemas.microsoft.com/office/2007/relationships/hdphoto" Target="../media/hdphoto1.wdp"/><Relationship Id="rId4" Type="http://schemas.openxmlformats.org/officeDocument/2006/relationships/image" Target="../media/image83.png"/></Relationships>
</file>

<file path=ppt/slides/_rels/slide56.xml.rels><?xml version="1.0" encoding="UTF-8" standalone="yes"?>
<Relationships xmlns="http://schemas.openxmlformats.org/package/2006/relationships"><Relationship Id="rId3" Type="http://schemas.openxmlformats.org/officeDocument/2006/relationships/image" Target="../media/image86.gif"/><Relationship Id="rId2" Type="http://schemas.openxmlformats.org/officeDocument/2006/relationships/notesSlide" Target="../notesSlides/notesSlide53.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87.gif"/><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55.xml"/><Relationship Id="rId1" Type="http://schemas.openxmlformats.org/officeDocument/2006/relationships/slideLayout" Target="../slideLayouts/slideLayout4.xml"/><Relationship Id="rId4" Type="http://schemas.openxmlformats.org/officeDocument/2006/relationships/image" Target="../media/image89.png"/></Relationships>
</file>

<file path=ppt/slides/_rels/slide5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56.xml"/><Relationship Id="rId1" Type="http://schemas.openxmlformats.org/officeDocument/2006/relationships/slideLayout" Target="../slideLayouts/slideLayout6.xml"/><Relationship Id="rId5" Type="http://schemas.openxmlformats.org/officeDocument/2006/relationships/image" Target="../media/image91.png"/><Relationship Id="rId4" Type="http://schemas.openxmlformats.org/officeDocument/2006/relationships/image" Target="../media/image90.png"/></Relationships>
</file>

<file path=ppt/slides/_rels/slide6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58.xml"/><Relationship Id="rId1" Type="http://schemas.openxmlformats.org/officeDocument/2006/relationships/slideLayout" Target="../slideLayouts/slideLayout2.xml"/><Relationship Id="rId5" Type="http://schemas.openxmlformats.org/officeDocument/2006/relationships/image" Target="../media/image94.png"/><Relationship Id="rId4" Type="http://schemas.openxmlformats.org/officeDocument/2006/relationships/image" Target="../media/image93.png"/></Relationships>
</file>

<file path=ppt/slides/_rels/slide62.xml.rels><?xml version="1.0" encoding="UTF-8" standalone="yes"?>
<Relationships xmlns="http://schemas.openxmlformats.org/package/2006/relationships"><Relationship Id="rId3" Type="http://schemas.openxmlformats.org/officeDocument/2006/relationships/image" Target="../media/image95.jpg"/><Relationship Id="rId2" Type="http://schemas.openxmlformats.org/officeDocument/2006/relationships/notesSlide" Target="../notesSlides/notesSlide59.xml"/><Relationship Id="rId1" Type="http://schemas.openxmlformats.org/officeDocument/2006/relationships/slideLayout" Target="../slideLayouts/slideLayout6.xml"/></Relationships>
</file>

<file path=ppt/slides/_rels/slide6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62.xml"/><Relationship Id="rId1" Type="http://schemas.openxmlformats.org/officeDocument/2006/relationships/slideLayout" Target="../slideLayouts/slideLayout4.xml"/><Relationship Id="rId4" Type="http://schemas.openxmlformats.org/officeDocument/2006/relationships/image" Target="../media/image99.png"/></Relationships>
</file>

<file path=ppt/slides/_rels/slide67.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6.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71.xml.rels><?xml version="1.0" encoding="UTF-8" standalone="yes"?>
<Relationships xmlns="http://schemas.openxmlformats.org/package/2006/relationships"><Relationship Id="rId2" Type="http://schemas.openxmlformats.org/officeDocument/2006/relationships/image" Target="../media/image102.gif"/><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3" Type="http://schemas.openxmlformats.org/officeDocument/2006/relationships/image" Target="../media/image103.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71.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77.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72.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7.xml"/><Relationship Id="rId1" Type="http://schemas.openxmlformats.org/officeDocument/2006/relationships/slideLayout" Target="../slideLayouts/slideLayout6.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8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9.xml"/><Relationship Id="rId1" Type="http://schemas.openxmlformats.org/officeDocument/2006/relationships/slideLayout" Target="../slideLayouts/slideLayout6.xml"/><Relationship Id="rId4" Type="http://schemas.openxmlformats.org/officeDocument/2006/relationships/image" Target="../media/image11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279443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626538"/>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1484330" y="320039"/>
            <a:ext cx="2340000" cy="2340000"/>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40"/>
            <a:ext cx="3276000" cy="2340000"/>
          </a:xfrm>
          <a:prstGeom prst="rect">
            <a:avLst/>
          </a:prstGeom>
        </p:spPr>
      </p:pic>
      <p:pic>
        <p:nvPicPr>
          <p:cNvPr id="6" name="Thumbnail: HE plot" descr="image.png"/>
          <p:cNvPicPr>
            <a:picLocks noChangeAspect="1"/>
          </p:cNvPicPr>
          <p:nvPr/>
        </p:nvPicPr>
        <p:blipFill>
          <a:blip r:embed="rId7"/>
          <a:stretch>
            <a:fillRect/>
          </a:stretch>
        </p:blipFill>
        <p:spPr>
          <a:xfrm>
            <a:off x="7376160" y="320040"/>
            <a:ext cx="3276000" cy="2340000"/>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a:t>
            </a:r>
            <a:endParaRPr dirty="0"/>
          </a:p>
        </p:txBody>
      </p:sp>
      <p:sp>
        <p:nvSpPr>
          <p:cNvPr id="3" name="Content Placeholder 2"/>
          <p:cNvSpPr>
            <a:spLocks noGrp="1"/>
          </p:cNvSpPr>
          <p:nvPr>
            <p:ph idx="1"/>
          </p:nvPr>
        </p:nvSpPr>
        <p:spPr>
          <a:xfrm>
            <a:off x="838200" y="1309036"/>
            <a:ext cx="10515600" cy="4867927"/>
          </a:xfrm>
        </p:spPr>
        <p:txBody>
          <a:bodyPr/>
          <a:lstStyle/>
          <a:p>
            <a:r>
              <a:rPr dirty="0"/>
              <a:t>Why many dimensions?</a:t>
            </a:r>
          </a:p>
          <a:p>
            <a:r>
              <a:rPr dirty="0"/>
              <a:t>Ellipses everywhere: seeing multivariate data</a:t>
            </a:r>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t>How can we understand important scientific phenomena?</a:t>
            </a:r>
          </a:p>
          <a:p>
            <a:r>
              <a:rPr lang="en-CA" dirty="0"/>
              <a:t>Our data</a:t>
            </a:r>
            <a:r>
              <a:rPr dirty="0"/>
              <a:t> live in </a:t>
            </a:r>
            <a:r>
              <a:rPr dirty="0" err="1"/>
              <a:t>Spaceland</a:t>
            </a:r>
            <a:r>
              <a:rPr dirty="0"/>
              <a:t>,</a:t>
            </a:r>
            <a:r>
              <a:rPr lang="en-CA" dirty="0"/>
              <a:t> sometimes high-D,</a:t>
            </a:r>
            <a:r>
              <a:rPr dirty="0"/>
              <a:t> but we plot in </a:t>
            </a:r>
            <a:r>
              <a:rPr lang="en-CA" dirty="0"/>
              <a:t>Plane</a:t>
            </a:r>
            <a:r>
              <a:rPr dirty="0"/>
              <a:t>land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t>#dataviz is the art of making plots informative (&amp; pretty!)</a:t>
            </a:r>
          </a:p>
          <a:p>
            <a:r>
              <a:rPr lang="en-CA" dirty="0"/>
              <a:t>Truth &amp; Beauty: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Penguins walking together">
            <a:extLst>
              <a:ext uri="{FF2B5EF4-FFF2-40B4-BE49-F238E27FC236}">
                <a16:creationId xmlns:a16="http://schemas.microsoft.com/office/drawing/2014/main" id="{3139B4EB-ECB5-A62E-A0B0-F5445F7851A8}"/>
              </a:ext>
            </a:extLst>
          </p:cNvPr>
          <p:cNvPicPr>
            <a:picLocks noChangeAspect="1"/>
          </p:cNvPicPr>
          <p:nvPr/>
        </p:nvPicPr>
        <p:blipFill>
          <a:blip r:embed="rId3"/>
          <a:srcRect t="15094"/>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100051" y="4072043"/>
            <a:ext cx="10058400" cy="1282707"/>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rgbClr val="FFFFFF"/>
                </a:solidFill>
              </a:rPr>
              <a:t>Data ellipses, penguins, and looking at many variables at once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E2F4C87C-FABA-4B28-B0C8-A7D348CBC8A3}" type="slidenum">
              <a:rPr lang="en-US" altLang="en-US"/>
              <a:pPr/>
              <a:t>11</a:t>
            </a:fld>
            <a:endParaRPr lang="en-US" altLang="en-US"/>
          </a:p>
        </p:txBody>
      </p:sp>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C299C230-35BF-4F64-9F70-85E993BA911F}" type="slidenum">
              <a:rPr lang="en-US" altLang="en-US"/>
              <a:pPr/>
              <a:t>12</a:t>
            </a:fld>
            <a:endParaRPr lang="en-US" altLang="en-US"/>
          </a:p>
        </p:txBody>
      </p:sp>
      <p:sp>
        <p:nvSpPr>
          <p:cNvPr id="80898" name="Rectangle 2"/>
          <p:cNvSpPr>
            <a:spLocks noGrp="1" noChangeArrowheads="1"/>
          </p:cNvSpPr>
          <p:nvPr>
            <p:ph type="title"/>
          </p:nvPr>
        </p:nvSpPr>
        <p:spPr>
          <a:xfrm>
            <a:off x="684882" y="327024"/>
            <a:ext cx="8229600" cy="965200"/>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5"/>
          <p:cNvSpPr>
            <a:spLocks noGrp="1"/>
          </p:cNvSpPr>
          <p:nvPr>
            <p:ph type="sldNum" sz="quarter" idx="12"/>
          </p:nvPr>
        </p:nvSpPr>
        <p:spPr/>
        <p:txBody>
          <a:bodyPr/>
          <a:lstStyle/>
          <a:p>
            <a:fld id="{5CD3ADF0-CAE1-4C97-890E-1ED6688E5639}" type="slidenum">
              <a:rPr lang="en-US" altLang="en-US"/>
              <a:pPr/>
              <a:t>13</a:t>
            </a:fld>
            <a:endParaRPr lang="en-US" altLang="en-US"/>
          </a:p>
        </p:txBody>
      </p:sp>
      <p:sp>
        <p:nvSpPr>
          <p:cNvPr id="82946" name="Rectangle 2"/>
          <p:cNvSpPr>
            <a:spLocks noGrp="1" noChangeArrowheads="1"/>
          </p:cNvSpPr>
          <p:nvPr>
            <p:ph type="title"/>
          </p:nvPr>
        </p:nvSpPr>
        <p:spPr>
          <a:xfrm>
            <a:off x="650082" y="466726"/>
            <a:ext cx="8229600" cy="965200"/>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43063"/>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Meet the penguins</a:t>
            </a:r>
          </a:p>
        </p:txBody>
      </p:sp>
      <p:pic>
        <p:nvPicPr>
          <p:cNvPr id="3" name="Picture 2" descr="penguins-horst.png"/>
          <p:cNvPicPr>
            <a:picLocks noChangeAspect="1"/>
          </p:cNvPicPr>
          <p:nvPr/>
        </p:nvPicPr>
        <p:blipFill>
          <a:blip r:embed="rId3"/>
          <a:stretch>
            <a:fillRect/>
          </a:stretch>
        </p:blipFill>
        <p:spPr>
          <a:xfrm>
            <a:off x="841248" y="2129942"/>
            <a:ext cx="5120640" cy="3055315"/>
          </a:xfrm>
          <a:prstGeom prst="rect">
            <a:avLst/>
          </a:prstGeom>
        </p:spPr>
      </p:pic>
      <p:pic>
        <p:nvPicPr>
          <p:cNvPr id="4" name="Picture 3" descr="fig-peng-ggplot1-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4" name="Slide Number Placeholder 3">
            <a:extLst>
              <a:ext uri="{FF2B5EF4-FFF2-40B4-BE49-F238E27FC236}">
                <a16:creationId xmlns:a16="http://schemas.microsoft.com/office/drawing/2014/main" id="{A4F088BC-69F5-43CB-028C-42D0CE3E5A71}"/>
              </a:ext>
            </a:extLst>
          </p:cNvPr>
          <p:cNvSpPr>
            <a:spLocks noGrp="1"/>
          </p:cNvSpPr>
          <p:nvPr>
            <p:ph type="sldNum" sz="quarter" idx="12"/>
          </p:nvPr>
        </p:nvSpPr>
        <p:spPr>
          <a:xfrm>
            <a:off x="8001000" y="6356351"/>
            <a:ext cx="2133600" cy="365125"/>
          </a:xfrm>
        </p:spPr>
        <p:txBody>
          <a:bodyPr/>
          <a:lstStyle/>
          <a:p>
            <a:fld id="{621225AB-15B9-4C79-A121-04D1DC7E2307}" type="slidenum">
              <a:rPr lang="en-US" smtClean="0"/>
              <a:t>16</a:t>
            </a:fld>
            <a:endParaRPr lang="en-US"/>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64185"/>
            <a:ext cx="10360007" cy="1631216"/>
          </a:xfrm>
          <a:prstGeom prst="rect">
            <a:avLst/>
          </a:prstGeom>
          <a:noFill/>
        </p:spPr>
        <p:txBody>
          <a:bodyPr wrap="square" rtlCol="0">
            <a:spAutoFit/>
          </a:bodyPr>
          <a:lstStyle/>
          <a:p>
            <a:r>
              <a:rPr lang="en-CA" sz="2000" dirty="0"/>
              <a:t>Palmer penguins data: Measures of bill length &amp; depth, body mass, flipper length for 3 species</a:t>
            </a:r>
          </a:p>
          <a:p>
            <a:pPr marL="285750" indent="-285750">
              <a:buFont typeface="Arial" panose="020B0604020202020204" pitchFamily="34" charset="0"/>
              <a:buChar char="•"/>
            </a:pPr>
            <a:r>
              <a:rPr lang="en-CA" sz="2000" dirty="0"/>
              <a:t>Add data ellipses to show w/in group means &amp; scatter</a:t>
            </a:r>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1000"/>
                                        <p:tgtEl>
                                          <p:spTgt spid="5"/>
                                        </p:tgtEl>
                                      </p:cBhvr>
                                    </p:animEffect>
                                    <p:anim calcmode="lin" valueType="num">
                                      <p:cBhvr>
                                        <p:cTn id="10" dur="1000" fill="hold"/>
                                        <p:tgtEl>
                                          <p:spTgt spid="5"/>
                                        </p:tgtEl>
                                        <p:attrNameLst>
                                          <p:attrName>ppt_x</p:attrName>
                                        </p:attrNameLst>
                                      </p:cBhvr>
                                      <p:tavLst>
                                        <p:tav tm="0">
                                          <p:val>
                                            <p:strVal val="#ppt_x"/>
                                          </p:val>
                                        </p:tav>
                                        <p:tav tm="100000">
                                          <p:val>
                                            <p:strVal val="#ppt_x"/>
                                          </p:val>
                                        </p:tav>
                                      </p:tavLst>
                                    </p:anim>
                                    <p:anim calcmode="lin" valueType="num">
                                      <p:cBhvr>
                                        <p:cTn id="11"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1">
                                            <p:txEl>
                                              <p:pRg st="2" end="2"/>
                                            </p:txEl>
                                          </p:spTgt>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11">
                                            <p:txEl>
                                              <p:pRg st="3" end="3"/>
                                            </p:txEl>
                                          </p:spTgt>
                                        </p:tgtEl>
                                        <p:attrNameLst>
                                          <p:attrName>style.visibility</p:attrName>
                                        </p:attrNameLst>
                                      </p:cBhvr>
                                      <p:to>
                                        <p:strVal val="visible"/>
                                      </p:to>
                                    </p:set>
                                  </p:childTnLst>
                                </p:cTn>
                              </p:par>
                              <p:par>
                                <p:cTn id="18" presetID="42" presetClass="entr" presetSubtype="0"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1000"/>
                                        <p:tgtEl>
                                          <p:spTgt spid="7"/>
                                        </p:tgtEl>
                                      </p:cBhvr>
                                    </p:animEffect>
                                    <p:anim calcmode="lin" valueType="num">
                                      <p:cBhvr>
                                        <p:cTn id="21" dur="1000" fill="hold"/>
                                        <p:tgtEl>
                                          <p:spTgt spid="7"/>
                                        </p:tgtEl>
                                        <p:attrNameLst>
                                          <p:attrName>ppt_x</p:attrName>
                                        </p:attrNameLst>
                                      </p:cBhvr>
                                      <p:tavLst>
                                        <p:tav tm="0">
                                          <p:val>
                                            <p:strVal val="#ppt_x"/>
                                          </p:val>
                                        </p:tav>
                                        <p:tav tm="100000">
                                          <p:val>
                                            <p:strVal val="#ppt_x"/>
                                          </p:val>
                                        </p:tav>
                                      </p:tavLst>
                                    </p:anim>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751037" y="1622742"/>
            <a:ext cx="5897879"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6844553" y="1691148"/>
            <a:ext cx="467885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Added-variable plots</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sp>
        <p:nvSpPr>
          <p:cNvPr id="7" name="TextBox 6">
            <a:extLst>
              <a:ext uri="{FF2B5EF4-FFF2-40B4-BE49-F238E27FC236}">
                <a16:creationId xmlns:a16="http://schemas.microsoft.com/office/drawing/2014/main" id="{FB358BA3-F292-4081-E9FB-0C466F3C6D1E}"/>
              </a:ext>
            </a:extLst>
          </p:cNvPr>
          <p:cNvSpPr txBox="1"/>
          <p:nvPr/>
        </p:nvSpPr>
        <p:spPr>
          <a:xfrm>
            <a:off x="10610357" y="2713703"/>
            <a:ext cx="740395" cy="307777"/>
          </a:xfrm>
          <a:prstGeom prst="rect">
            <a:avLst/>
          </a:prstGeom>
          <a:noFill/>
        </p:spPr>
        <p:txBody>
          <a:bodyPr wrap="none" rtlCol="0">
            <a:spAutoFit/>
          </a:bodyPr>
          <a:lstStyle/>
          <a:p>
            <a:r>
              <a:rPr lang="en-CA" sz="1400" dirty="0"/>
              <a:t>Cyrano</a:t>
            </a:r>
          </a:p>
        </p:txBody>
      </p:sp>
      <p:sp>
        <p:nvSpPr>
          <p:cNvPr id="9" name="TextBox 8">
            <a:extLst>
              <a:ext uri="{FF2B5EF4-FFF2-40B4-BE49-F238E27FC236}">
                <a16:creationId xmlns:a16="http://schemas.microsoft.com/office/drawing/2014/main" id="{D6554C26-2543-8F04-4FC4-10FCF38BD90E}"/>
              </a:ext>
            </a:extLst>
          </p:cNvPr>
          <p:cNvSpPr txBox="1"/>
          <p:nvPr/>
        </p:nvSpPr>
        <p:spPr>
          <a:xfrm>
            <a:off x="6751196" y="2130740"/>
            <a:ext cx="1042273" cy="307777"/>
          </a:xfrm>
          <a:prstGeom prst="rect">
            <a:avLst/>
          </a:prstGeom>
          <a:noFill/>
        </p:spPr>
        <p:txBody>
          <a:bodyPr wrap="none" rtlCol="0">
            <a:spAutoFit/>
          </a:bodyPr>
          <a:lstStyle/>
          <a:p>
            <a:r>
              <a:rPr lang="en-CA" sz="1400" dirty="0"/>
              <a:t>Hook Nose</a:t>
            </a:r>
          </a:p>
        </p:txBody>
      </p:sp>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 can try to understand why they are unusual in data space of some variables </a:t>
            </a:r>
            <a:endParaRPr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sp>
        <p:nvSpPr>
          <p:cNvPr id="4" name="Slide Number Placeholder 3"/>
          <p:cNvSpPr>
            <a:spLocks noGrp="1"/>
          </p:cNvSpPr>
          <p:nvPr>
            <p:ph type="sldNum" sz="quarter" idx="12"/>
          </p:nvPr>
        </p:nvSpPr>
        <p:spPr/>
        <p:txBody>
          <a:bodyPr/>
          <a:lstStyle/>
          <a:p>
            <a:fld id="{621225AB-15B9-4C79-A121-04D1DC7E2307}" type="slidenum">
              <a:rPr lang="en-US" smtClean="0"/>
              <a:t>26</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4" name="Slide Number Placeholder 3"/>
          <p:cNvSpPr>
            <a:spLocks noGrp="1"/>
          </p:cNvSpPr>
          <p:nvPr>
            <p:ph type="sldNum" sz="quarter" idx="12"/>
          </p:nvPr>
        </p:nvSpPr>
        <p:spPr/>
        <p:txBody>
          <a:bodyPr/>
          <a:lstStyle/>
          <a:p>
            <a:fld id="{621225AB-15B9-4C79-A121-04D1DC7E2307}" type="slidenum">
              <a:rPr lang="en-US" smtClean="0"/>
              <a:t>27</a:t>
            </a:fld>
            <a:endParaRPr lang="en-US"/>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Tree>
    <p:extLst>
      <p:ext uri="{BB962C8B-B14F-4D97-AF65-F5344CB8AC3E}">
        <p14:creationId xmlns:p14="http://schemas.microsoft.com/office/powerpoint/2010/main" val="21404008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sp>
        <p:nvSpPr>
          <p:cNvPr id="4" name="Slide Number Placeholder 3"/>
          <p:cNvSpPr>
            <a:spLocks noGrp="1"/>
          </p:cNvSpPr>
          <p:nvPr>
            <p:ph type="sldNum" sz="quarter" idx="12"/>
          </p:nvPr>
        </p:nvSpPr>
        <p:spPr/>
        <p:txBody>
          <a:bodyPr/>
          <a:lstStyle/>
          <a:p>
            <a:fld id="{621225AB-15B9-4C79-A121-04D1DC7E2307}" type="slidenum">
              <a:rPr lang="en-US" smtClean="0"/>
              <a:t>28</a:t>
            </a:fld>
            <a:endParaRPr lang="en-US"/>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Tree>
    <p:extLst>
      <p:ext uri="{BB962C8B-B14F-4D97-AF65-F5344CB8AC3E}">
        <p14:creationId xmlns:p14="http://schemas.microsoft.com/office/powerpoint/2010/main" val="19636508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a:bodyPr>
          <a:lstStyle/>
          <a:p>
            <a:r>
              <a:rPr lang="en-US" dirty="0"/>
              <a:t>Adding measurement error</a:t>
            </a:r>
          </a:p>
        </p:txBody>
      </p:sp>
      <p:sp>
        <p:nvSpPr>
          <p:cNvPr id="4" name="Content Placeholder 3"/>
          <p:cNvSpPr>
            <a:spLocks noGrp="1"/>
          </p:cNvSpPr>
          <p:nvPr>
            <p:ph idx="1"/>
          </p:nvPr>
        </p:nvSpPr>
        <p:spPr>
          <a:xfrm>
            <a:off x="838200" y="1196788"/>
            <a:ext cx="10896600" cy="114300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p:txBody>
      </p:sp>
      <p:sp>
        <p:nvSpPr>
          <p:cNvPr id="3" name="Slide Number Placeholder 2"/>
          <p:cNvSpPr>
            <a:spLocks noGrp="1"/>
          </p:cNvSpPr>
          <p:nvPr>
            <p:ph type="sldNum" sz="quarter" idx="12"/>
          </p:nvPr>
        </p:nvSpPr>
        <p:spPr/>
        <p:txBody>
          <a:bodyPr/>
          <a:lstStyle/>
          <a:p>
            <a:fld id="{621225AB-15B9-4C79-A121-04D1DC7E2307}" type="slidenum">
              <a:rPr lang="en-US" smtClean="0"/>
              <a:t>30</a:t>
            </a:fld>
            <a:endParaRPr lang="en-US"/>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7813" y="2704147"/>
            <a:ext cx="3834765" cy="3834765"/>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99730" y="2657476"/>
            <a:ext cx="3834765" cy="3829050"/>
          </a:xfrm>
          <a:prstGeom prst="rect">
            <a:avLst/>
          </a:prstGeom>
        </p:spPr>
      </p:pic>
    </p:spTree>
    <p:extLst>
      <p:ext uri="{BB962C8B-B14F-4D97-AF65-F5344CB8AC3E}">
        <p14:creationId xmlns:p14="http://schemas.microsoft.com/office/powerpoint/2010/main" val="26152795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sp>
        <p:nvSpPr>
          <p:cNvPr id="4" name="Slide Number Placeholder 3"/>
          <p:cNvSpPr>
            <a:spLocks noGrp="1"/>
          </p:cNvSpPr>
          <p:nvPr>
            <p:ph type="sldNum" sz="quarter" idx="12"/>
          </p:nvPr>
        </p:nvSpPr>
        <p:spPr/>
        <p:txBody>
          <a:bodyPr/>
          <a:lstStyle/>
          <a:p>
            <a:fld id="{621225AB-15B9-4C79-A121-04D1DC7E2307}" type="slidenum">
              <a:rPr lang="en-US" smtClean="0"/>
              <a:t>31</a:t>
            </a:fld>
            <a:endParaRPr lang="en-US"/>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Tree>
    <p:extLst>
      <p:ext uri="{BB962C8B-B14F-4D97-AF65-F5344CB8AC3E}">
        <p14:creationId xmlns:p14="http://schemas.microsoft.com/office/powerpoint/2010/main" val="33486278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Where's Waldo? Collinearity lives in the smallest dimensions</a:t>
            </a:r>
          </a:p>
        </p:txBody>
      </p:sp>
      <p:pic>
        <p:nvPicPr>
          <p:cNvPr id="3" name="Picture 2" descr="fig-cars-tableplot-1.png"/>
          <p:cNvPicPr>
            <a:picLocks noChangeAspect="1"/>
          </p:cNvPicPr>
          <p:nvPr/>
        </p:nvPicPr>
        <p:blipFill>
          <a:blip r:embed="rId3"/>
          <a:stretch>
            <a:fillRect/>
          </a:stretch>
        </p:blipFill>
        <p:spPr>
          <a:xfrm>
            <a:off x="841248" y="1828800"/>
            <a:ext cx="5120640" cy="3657600"/>
          </a:xfrm>
          <a:prstGeom prst="rect">
            <a:avLst/>
          </a:prstGeom>
        </p:spPr>
      </p:pic>
      <p:pic>
        <p:nvPicPr>
          <p:cNvPr id="4" name="Picture 3" descr="fig-cars-collin-biplot-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Tableplot of condition indices and variance proportions; biplot of the two smallest dimensions (Cars data).</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5"/>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p:txBody>
          <a:bodyPr/>
          <a:lstStyle/>
          <a:p>
            <a:r>
              <a:t>Longley data: six highly collinear economic predictors</a:t>
            </a:r>
          </a:p>
          <a:p>
            <a:r>
              <a:t>Coefficients plotted against the shrinkage constant</a:t>
            </a:r>
          </a:p>
          <a:p>
            <a:r>
              <a:t>Shows the bias, but nothing about precision</a:t>
            </a:r>
          </a:p>
        </p:txBody>
      </p:sp>
      <p:pic>
        <p:nvPicPr>
          <p:cNvPr id="4" name="Picture 3" descr="fig-longley-trac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9.10</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sp>
        <p:nvSpPr>
          <p:cNvPr id="4" name="Slide Number Placeholder 3"/>
          <p:cNvSpPr>
            <a:spLocks noGrp="1"/>
          </p:cNvSpPr>
          <p:nvPr>
            <p:ph type="sldNum" sz="quarter" idx="12"/>
          </p:nvPr>
        </p:nvSpPr>
        <p:spPr/>
        <p:txBody>
          <a:bodyPr/>
          <a:lstStyle/>
          <a:p>
            <a:fld id="{621225AB-15B9-4C79-A121-04D1DC7E2307}" type="slidenum">
              <a:rPr lang="en-US" smtClean="0"/>
              <a:t>39</a:t>
            </a:fld>
            <a:endParaRPr lang="en-US"/>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Tree>
    <p:extLst>
      <p:ext uri="{BB962C8B-B14F-4D97-AF65-F5344CB8AC3E}">
        <p14:creationId xmlns:p14="http://schemas.microsoft.com/office/powerpoint/2010/main" val="34406379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sp>
        <p:nvSpPr>
          <p:cNvPr id="3" name="Slide Number Placeholder 2"/>
          <p:cNvSpPr>
            <a:spLocks noGrp="1"/>
          </p:cNvSpPr>
          <p:nvPr>
            <p:ph type="sldNum" sz="quarter" idx="12"/>
          </p:nvPr>
        </p:nvSpPr>
        <p:spPr/>
        <p:txBody>
          <a:bodyPr/>
          <a:lstStyle/>
          <a:p>
            <a:fld id="{621225AB-15B9-4C79-A121-04D1DC7E2307}" type="slidenum">
              <a:rPr lang="en-US" smtClean="0"/>
              <a:t>40</a:t>
            </a:fld>
            <a:endParaRPr lang="en-US"/>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36428" y="1313094"/>
            <a:ext cx="618849" cy="713901"/>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439508" y="365125"/>
            <a:ext cx="612688" cy="712800"/>
          </a:xfrm>
          <a:prstGeom prst="rect">
            <a:avLst/>
          </a:prstGeom>
        </p:spPr>
      </p:pic>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pic>
        <p:nvPicPr>
          <p:cNvPr id="7" name="Picture 6" descr="logo.png">
            <a:extLst>
              <a:ext uri="{FF2B5EF4-FFF2-40B4-BE49-F238E27FC236}">
                <a16:creationId xmlns:a16="http://schemas.microsoft.com/office/drawing/2014/main" id="{2962ADBA-4003-3C31-9B29-F4252D9238AA}"/>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sp>
        <p:nvSpPr>
          <p:cNvPr id="3" name="Slide Number Placeholder 2">
            <a:extLst>
              <a:ext uri="{FF2B5EF4-FFF2-40B4-BE49-F238E27FC236}">
                <a16:creationId xmlns:a16="http://schemas.microsoft.com/office/drawing/2014/main" id="{B52CCEF0-929A-4185-E7BE-6AC7C818076B}"/>
              </a:ext>
            </a:extLst>
          </p:cNvPr>
          <p:cNvSpPr>
            <a:spLocks noGrp="1"/>
          </p:cNvSpPr>
          <p:nvPr>
            <p:ph type="sldNum" sz="quarter" idx="12"/>
          </p:nvPr>
        </p:nvSpPr>
        <p:spPr/>
        <p:txBody>
          <a:bodyPr/>
          <a:lstStyle/>
          <a:p>
            <a:fld id="{621225AB-15B9-4C79-A121-04D1DC7E2307}" type="slidenum">
              <a:rPr lang="en-US" smtClean="0"/>
              <a:t>44</a:t>
            </a:fld>
            <a:endParaRPr lang="en-US"/>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728400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80179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Tree>
    <p:extLst>
      <p:ext uri="{BB962C8B-B14F-4D97-AF65-F5344CB8AC3E}">
        <p14:creationId xmlns:p14="http://schemas.microsoft.com/office/powerpoint/2010/main" val="37967494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3" name="Slide Number Placeholder 2"/>
          <p:cNvSpPr>
            <a:spLocks noGrp="1"/>
          </p:cNvSpPr>
          <p:nvPr>
            <p:ph type="sldNum" sz="quarter" idx="12"/>
          </p:nvPr>
        </p:nvSpPr>
        <p:spPr/>
        <p:txBody>
          <a:bodyPr/>
          <a:lstStyle/>
          <a:p>
            <a:fld id="{810B7604-93B8-4136-B9BD-D1CE89EE20B0}" type="slidenum">
              <a:rPr lang="en-US" smtClean="0"/>
              <a:t>52</a:t>
            </a:fld>
            <a:endParaRPr lang="en-US"/>
          </a:p>
        </p:txBody>
      </p:sp>
      <p:sp>
        <p:nvSpPr>
          <p:cNvPr id="4" name="TextBox 3"/>
          <p:cNvSpPr txBox="1"/>
          <p:nvPr/>
        </p:nvSpPr>
        <p:spPr>
          <a:xfrm>
            <a:off x="950026" y="1219201"/>
            <a:ext cx="9260774" cy="646331"/>
          </a:xfrm>
          <a:prstGeom prst="rect">
            <a:avLst/>
          </a:prstGeom>
          <a:noFill/>
        </p:spPr>
        <p:txBody>
          <a:bodyPr wrap="square" rtlCol="0">
            <a:spAutoFit/>
          </a:bodyPr>
          <a:lstStyle/>
          <a:p>
            <a:r>
              <a:rPr lang="en-US" dirty="0"/>
              <a:t>The </a:t>
            </a:r>
            <a:r>
              <a:rPr lang="en-US" dirty="0">
                <a:solidFill>
                  <a:schemeClr val="accent6">
                    <a:lumMod val="50000"/>
                  </a:schemeClr>
                </a:solidFill>
                <a:latin typeface="Lucida Console" panose="020B0609040504020204" pitchFamily="49" charset="0"/>
              </a:rPr>
              <a:t>pairs() </a:t>
            </a:r>
            <a:r>
              <a:rPr lang="en-US" dirty="0"/>
              <a:t>method for </a:t>
            </a:r>
            <a:r>
              <a:rPr lang="en-US" dirty="0" err="1"/>
              <a:t>mlm</a:t>
            </a:r>
            <a:r>
              <a:rPr lang="en-US" dirty="0"/>
              <a:t> objects gives all pairwise HE plots in a scatterplot matrix format in </a:t>
            </a:r>
            <a:r>
              <a:rPr lang="en-US" dirty="0">
                <a:solidFill>
                  <a:srgbClr val="FF0000"/>
                </a:solidFill>
              </a:rPr>
              <a:t>data space</a:t>
            </a:r>
            <a:r>
              <a:rPr lang="en-US"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t>School data: 70 US schools in a program for disadvantaged students</a:t>
            </a:r>
          </a:p>
          <a:p>
            <a:pPr lvl="1"/>
            <a:r>
              <a:t>Outcomes: reading, mathematics, self-esteem</a:t>
            </a:r>
          </a:p>
          <a:p>
            <a:pPr lvl="1"/>
            <a:r>
              <a:t>Predictors: parents’ education &amp; occupation, school visits, counseling, number of teachers</a:t>
            </a:r>
          </a:p>
          <a:p>
            <a:r>
              <a:t>Length: the strength of the relationship</a:t>
            </a:r>
          </a:p>
          <a:p>
            <a:r>
              <a:t>Direction: how the predictor relates to the two responses</a:t>
            </a:r>
          </a:p>
          <a:p>
            <a:r>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926080"/>
          </a:xfrm>
          <a:prstGeom prst="rect">
            <a:avLst/>
          </a:prstGeom>
          <a:noFill/>
        </p:spPr>
        <p:txBody>
          <a:bodyPr wrap="square">
            <a:spAutoFit/>
          </a:bodyPr>
          <a:lstStyle/>
          <a:p>
            <a:r>
              <a:rPr sz="2400"/>
              <a:t>PCA is a rotation of the axes: PC1 lies along the direction of greatest variance, PC2 is orthogonal to it.</a:t>
            </a:r>
          </a:p>
          <a:p>
            <a:pPr>
              <a:spcBef>
                <a:spcPts val="1800"/>
              </a:spcBef>
            </a:pPr>
            <a:r>
              <a:rPr sz="2400" b="0"/>
              <a:t>Outliers typically appear on the </a:t>
            </a:r>
            <a:r>
              <a:rPr sz="2400" b="1"/>
              <a:t>smallest</a:t>
            </a:r>
            <a:r>
              <a:rPr sz="2400" b="0"/>
              <a:t> dimensions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3" name="Slide Number Placeholder 2"/>
          <p:cNvSpPr>
            <a:spLocks noGrp="1"/>
          </p:cNvSpPr>
          <p:nvPr>
            <p:ph type="sldNum" sz="quarter" idx="12"/>
          </p:nvPr>
        </p:nvSpPr>
        <p:spPr/>
        <p:txBody>
          <a:bodyPr/>
          <a:lstStyle/>
          <a:p>
            <a:fld id="{810B7604-93B8-4136-B9BD-D1CE89EE20B0}" type="slidenum">
              <a:rPr lang="en-US" smtClean="0"/>
              <a:t>59</a:t>
            </a:fld>
            <a:endParaRPr lang="en-US"/>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circle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Tree>
    <p:extLst>
      <p:ext uri="{BB962C8B-B14F-4D97-AF65-F5344CB8AC3E}">
        <p14:creationId xmlns:p14="http://schemas.microsoft.com/office/powerpoint/2010/main" val="180814440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what is typical</a:t>
            </a:r>
          </a:p>
          <a:p>
            <a:r>
              <a:rPr dirty="0"/>
              <a:t>The last dimensions show what does not fit the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endParaRPr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noFill/>
        </p:spPr>
        <p:txBody>
          <a:bodyPr wrap="square" rtlCol="0">
            <a:spAutoFit/>
          </a:bodyPr>
          <a:lstStyle/>
          <a:p>
            <a:pPr algn="ctr"/>
            <a:r>
              <a:rPr lang="en-CA" sz="1600" dirty="0">
                <a:solidFill>
                  <a:schemeClr val="accent5">
                    <a:lumMod val="75000"/>
                  </a:schemeClr>
                </a:solidFill>
              </a:rPr>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69593"/>
            <a:ext cx="1155032" cy="338554"/>
          </a:xfrm>
          <a:prstGeom prst="rect">
            <a:avLst/>
          </a:prstGeom>
          <a:noFill/>
        </p:spPr>
        <p:txBody>
          <a:bodyPr wrap="square" rtlCol="0">
            <a:spAutoFit/>
          </a:bodyPr>
          <a:lstStyle/>
          <a:p>
            <a:pPr algn="ctr"/>
            <a:r>
              <a:rPr lang="en-CA" sz="1600" dirty="0">
                <a:solidFill>
                  <a:srgbClr val="FF0000"/>
                </a:solidFill>
              </a:rPr>
              <a:t>Hook Nose</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883922"/>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883922"/>
                <a:ext cx="9372600" cy="2011678"/>
              </a:xfrm>
              <a:blipFill>
                <a:blip r:embed="rId3"/>
                <a:stretch>
                  <a:fillRect l="-586" t="-2727" b="-5455"/>
                </a:stretch>
              </a:blipFill>
            </p:spPr>
            <p:txBody>
              <a:bodyPr/>
              <a:lstStyle/>
              <a:p>
                <a:r>
                  <a:rPr lang="en-CA">
                    <a:noFill/>
                  </a:rPr>
                  <a:t> </a:t>
                </a:r>
              </a:p>
            </p:txBody>
          </p:sp>
        </mc:Fallback>
      </mc:AlternateContent>
      <p:sp>
        <p:nvSpPr>
          <p:cNvPr id="3" name="Slide Number Placeholder 2">
            <a:extLst>
              <a:ext uri="{FF2B5EF4-FFF2-40B4-BE49-F238E27FC236}">
                <a16:creationId xmlns:a16="http://schemas.microsoft.com/office/drawing/2014/main" id="{CD6BFC25-DA19-EC4F-4AED-BC5CF5636F73}"/>
              </a:ext>
            </a:extLst>
          </p:cNvPr>
          <p:cNvSpPr>
            <a:spLocks noGrp="1"/>
          </p:cNvSpPr>
          <p:nvPr>
            <p:ph type="sldNum" sz="quarter" idx="12"/>
          </p:nvPr>
        </p:nvSpPr>
        <p:spPr/>
        <p:txBody>
          <a:bodyPr/>
          <a:lstStyle/>
          <a:p>
            <a:fld id="{621225AB-15B9-4C79-A121-04D1DC7E2307}" type="slidenum">
              <a:rPr lang="en-US" smtClean="0"/>
              <a:t>61</a:t>
            </a:fld>
            <a:endParaRPr lang="en-US"/>
          </a:p>
        </p:txBody>
      </p:sp>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multivariate models</a:t>
            </a:r>
          </a:p>
        </p:txBody>
      </p:sp>
      <p:sp>
        <p:nvSpPr>
          <p:cNvPr id="3" name="Text Placeholder 2"/>
          <p:cNvSpPr>
            <a:spLocks noGrp="1"/>
          </p:cNvSpPr>
          <p:nvPr>
            <p:ph type="body" idx="1"/>
          </p:nvPr>
        </p:nvSpPr>
        <p:spPr/>
        <p:txBody>
          <a:bodyPr/>
          <a:lstStyle/>
          <a:p>
            <a:r>
              <a:t>Outliers, influence and robust estimation</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r>
              <a:rPr dirty="0" err="1"/>
              <a:t>mvinfluence</a:t>
            </a:r>
            <a:r>
              <a:rPr dirty="0"/>
              <a:t> package)</a:t>
            </a:r>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dirty="0"/>
              <a:t>Ellipses: for data, for coefficients, and for hypotheses and error</a:t>
            </a:r>
          </a:p>
          <a:p>
            <a:r>
              <a:rPr dirty="0"/>
              <a:t>Projections: every plot is a view; choose the views that answer the question</a:t>
            </a:r>
            <a:endParaRPr lang="en-CA" dirty="0"/>
          </a:p>
          <a:p>
            <a:r>
              <a:rPr lang="en-CA" dirty="0"/>
              <a:t>Geometry: provides the connective tissue to understand relations in different, equivalent spaces.</a:t>
            </a:r>
            <a:endParaRPr dirty="0"/>
          </a:p>
          <a:p>
            <a:r>
              <a:rPr dirty="0"/>
              <a:t>Low-</a:t>
            </a:r>
            <a:r>
              <a:rPr lang="en-CA" dirty="0"/>
              <a:t>D</a:t>
            </a:r>
            <a:r>
              <a:rPr dirty="0"/>
              <a:t> views: biplots and canonical plots show many variables in the space that matters</a:t>
            </a:r>
          </a:p>
          <a:p>
            <a:r>
              <a:rPr dirty="0"/>
              <a:t>Visual thinning: summarize, so the message can be seen</a:t>
            </a:r>
          </a:p>
          <a:p>
            <a:r>
              <a:rPr dirty="0"/>
              <a:t>Multivariate models deserve graphs as good as those for a single response</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7169844" y="731404"/>
            <a:ext cx="3953563" cy="5440796"/>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Tree>
    <p:extLst>
      <p:ext uri="{BB962C8B-B14F-4D97-AF65-F5344CB8AC3E}">
        <p14:creationId xmlns:p14="http://schemas.microsoft.com/office/powerpoint/2010/main" val="278782021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Application: how many dimensions is the Mona Lisa?</a:t>
            </a:r>
          </a:p>
        </p:txBody>
      </p:sp>
      <p:pic>
        <p:nvPicPr>
          <p:cNvPr id="3" name="Picture 2" descr="mona-pca.png"/>
          <p:cNvPicPr>
            <a:picLocks noChangeAspect="1"/>
          </p:cNvPicPr>
          <p:nvPr/>
        </p:nvPicPr>
        <p:blipFill>
          <a:blip r:embed="rId3"/>
          <a:stretch>
            <a:fillRect/>
          </a:stretch>
        </p:blipFill>
        <p:spPr>
          <a:xfrm>
            <a:off x="4740983" y="1691640"/>
            <a:ext cx="271612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Reconstructions from a few principal components: image compression as dimension reduction.</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5.33</a:t>
            </a:r>
          </a:p>
        </p:txBody>
      </p:sp>
    </p:spTree>
    <p:extLst>
      <p:ext uri="{BB962C8B-B14F-4D97-AF65-F5344CB8AC3E}">
        <p14:creationId xmlns:p14="http://schemas.microsoft.com/office/powerpoint/2010/main" val="2299460638"/>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Mysterious Case 9</a:t>
            </a:r>
          </a:p>
        </p:txBody>
      </p:sp>
      <p:pic>
        <p:nvPicPr>
          <p:cNvPr id="3" name="Picture 2" descr="fig-toy-inflplots-1.png"/>
          <p:cNvPicPr>
            <a:picLocks noChangeAspect="1"/>
          </p:cNvPicPr>
          <p:nvPr/>
        </p:nvPicPr>
        <p:blipFill>
          <a:blip r:embed="rId3"/>
          <a:stretch>
            <a:fillRect/>
          </a:stretch>
        </p:blipFill>
        <p:spPr>
          <a:xfrm>
            <a:off x="841248" y="2377440"/>
            <a:ext cx="5120640" cy="2560320"/>
          </a:xfrm>
          <a:prstGeom prst="rect">
            <a:avLst/>
          </a:prstGeom>
        </p:spPr>
      </p:pic>
      <p:pic>
        <p:nvPicPr>
          <p:cNvPr id="4" name="Picture 3" descr="fig-toy-inflplot-mlm-stres-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Harmless in each univariate model (left), yet wildly influential in the multivariate model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14.2, 14.3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5537</TotalTime>
  <Words>6141</Words>
  <Application>Microsoft Office PowerPoint</Application>
  <PresentationFormat>Widescreen</PresentationFormat>
  <Paragraphs>589</Paragraphs>
  <Slides>85</Slides>
  <Notes>79</Notes>
  <HiddenSlides>16</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85</vt:i4>
      </vt:variant>
    </vt:vector>
  </HeadingPairs>
  <TitlesOfParts>
    <vt:vector size="95" baseType="lpstr">
      <vt:lpstr>Aptos</vt:lpstr>
      <vt:lpstr>Aptos Display</vt:lpstr>
      <vt:lpstr>Arial</vt:lpstr>
      <vt:lpstr>Cambria Math</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vt:lpstr>
      <vt:lpstr>When a linear view is not enough: PCA vs t-SNE</vt:lpstr>
      <vt:lpstr>From PCA to t-SNE, animated</vt:lpstr>
      <vt:lpstr>Elliptical Insights</vt:lpstr>
      <vt:lpstr>Multivariate outliers: which penguins are unusual?</vt:lpstr>
      <vt:lpstr>Outlier detection: Waar is Wally?</vt:lpstr>
      <vt:lpstr>Elliptical insights: Measurement error</vt:lpstr>
      <vt:lpstr>Coffee, stress and heart disease</vt:lpstr>
      <vt:lpstr>Data space and beta space are dual</vt:lpstr>
      <vt:lpstr>Adding measurement error</vt:lpstr>
      <vt:lpstr>Measurement error for β1 also biases β2</vt:lpstr>
      <vt:lpstr>Added-variable plots show partial relationships</vt:lpstr>
      <vt:lpstr>Leverage and influence: car::influencePlot(model)</vt:lpstr>
      <vt:lpstr>Which observations drive the fit?</vt:lpstr>
      <vt:lpstr>Where's Waldo? Collinearity lives in the smallest dimensions</vt:lpstr>
      <vt:lpstr>Collinearity: narrow data  increased uncertainty</vt:lpstr>
      <vt:lpstr>Ridge regression: shrink to gain precision</vt:lpstr>
      <vt:lpstr>The usual ridge trace shows only the estimates</vt:lpstr>
      <vt:lpstr>Bias vs. Precision tradeoff</vt:lpstr>
      <vt:lpstr>Generalized ridge trace plots</vt:lpstr>
      <vt:lpstr>A low-rank view of ridge regression</vt:lpstr>
      <vt:lpstr>The HE plot framework</vt:lpstr>
      <vt:lpstr>From the t-test to Hotelling's T²</vt:lpstr>
      <vt:lpstr>HE plots: Visual overview</vt:lpstr>
      <vt:lpstr>Data  Data ellipses  HE plot</vt:lpstr>
      <vt:lpstr>The H ellipse</vt:lpstr>
      <vt:lpstr>The E ellipse</vt:lpstr>
      <vt:lpstr>The Hypothesis-Error plot framework</vt:lpstr>
      <vt:lpstr>MANOVA: the same sums of squares, now as matrices</vt:lpstr>
      <vt:lpstr>HE plots: Effect scaling vs. Significance scaling</vt:lpstr>
      <vt:lpstr>Contrasts &amp; linear hypotheses: What diffces make H big?</vt:lpstr>
      <vt:lpstr>HE pairs() plots</vt:lpstr>
      <vt:lpstr>Quantitative predictors: each effect is a line</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Outliers hide in the smallest dimensions</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Application: effect ordering variables in displays</vt:lpstr>
      <vt:lpstr>Application: how many dimensions is the Mona Lisa?</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lpstr>The Mysterious Case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34</cp:revision>
  <dcterms:created xsi:type="dcterms:W3CDTF">2026-10-06T18:00:03Z</dcterms:created>
  <dcterms:modified xsi:type="dcterms:W3CDTF">2026-10-15T22:11:20Z</dcterms:modified>
</cp:coreProperties>
</file>