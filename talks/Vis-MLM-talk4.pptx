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6"/>
  </p:notesMasterIdLst>
  <p:sldIdLst>
    <p:sldId id="256" r:id="rId2"/>
    <p:sldId id="257" r:id="rId3"/>
    <p:sldId id="325" r:id="rId4"/>
    <p:sldId id="258" r:id="rId5"/>
    <p:sldId id="259" r:id="rId6"/>
    <p:sldId id="260" r:id="rId7"/>
    <p:sldId id="261" r:id="rId8"/>
    <p:sldId id="262" r:id="rId9"/>
    <p:sldId id="263" r:id="rId10"/>
    <p:sldId id="264" r:id="rId11"/>
    <p:sldId id="456" r:id="rId12"/>
    <p:sldId id="457" r:id="rId13"/>
    <p:sldId id="458" r:id="rId14"/>
    <p:sldId id="326" r:id="rId15"/>
    <p:sldId id="266" r:id="rId16"/>
    <p:sldId id="470" r:id="rId17"/>
    <p:sldId id="473" r:id="rId18"/>
    <p:sldId id="267" r:id="rId19"/>
    <p:sldId id="268" r:id="rId20"/>
    <p:sldId id="269" r:id="rId21"/>
    <p:sldId id="270" r:id="rId22"/>
    <p:sldId id="271" r:id="rId23"/>
    <p:sldId id="273" r:id="rId24"/>
    <p:sldId id="467" r:id="rId25"/>
    <p:sldId id="274" r:id="rId26"/>
    <p:sldId id="275" r:id="rId27"/>
    <p:sldId id="276" r:id="rId28"/>
    <p:sldId id="468" r:id="rId29"/>
    <p:sldId id="277" r:id="rId30"/>
    <p:sldId id="278" r:id="rId31"/>
    <p:sldId id="282" r:id="rId32"/>
    <p:sldId id="471" r:id="rId33"/>
    <p:sldId id="272" r:id="rId34"/>
    <p:sldId id="281" r:id="rId35"/>
    <p:sldId id="472" r:id="rId36"/>
    <p:sldId id="460" r:id="rId37"/>
    <p:sldId id="289" r:id="rId38"/>
    <p:sldId id="461" r:id="rId39"/>
    <p:sldId id="293" r:id="rId40"/>
    <p:sldId id="294" r:id="rId41"/>
    <p:sldId id="295" r:id="rId42"/>
    <p:sldId id="465" r:id="rId43"/>
    <p:sldId id="297" r:id="rId44"/>
    <p:sldId id="298" r:id="rId45"/>
    <p:sldId id="466" r:id="rId46"/>
    <p:sldId id="327" r:id="rId47"/>
    <p:sldId id="328" r:id="rId48"/>
    <p:sldId id="329" r:id="rId49"/>
    <p:sldId id="302" r:id="rId50"/>
    <p:sldId id="303" r:id="rId51"/>
    <p:sldId id="449" r:id="rId52"/>
    <p:sldId id="306" r:id="rId53"/>
    <p:sldId id="469" r:id="rId54"/>
    <p:sldId id="318" r:id="rId55"/>
    <p:sldId id="319" r:id="rId56"/>
    <p:sldId id="320" r:id="rId57"/>
    <p:sldId id="310" r:id="rId58"/>
    <p:sldId id="311" r:id="rId59"/>
    <p:sldId id="313" r:id="rId60"/>
    <p:sldId id="314" r:id="rId61"/>
    <p:sldId id="322" r:id="rId62"/>
    <p:sldId id="323" r:id="rId63"/>
    <p:sldId id="324" r:id="rId64"/>
    <p:sldId id="283" r:id="rId65"/>
    <p:sldId id="284" r:id="rId66"/>
    <p:sldId id="286" r:id="rId67"/>
    <p:sldId id="291" r:id="rId68"/>
    <p:sldId id="292" r:id="rId69"/>
    <p:sldId id="279" r:id="rId70"/>
    <p:sldId id="462" r:id="rId71"/>
    <p:sldId id="285" r:id="rId72"/>
    <p:sldId id="287" r:id="rId73"/>
    <p:sldId id="288" r:id="rId74"/>
    <p:sldId id="463" r:id="rId75"/>
    <p:sldId id="299" r:id="rId76"/>
    <p:sldId id="300" r:id="rId77"/>
    <p:sldId id="301" r:id="rId78"/>
    <p:sldId id="307" r:id="rId79"/>
    <p:sldId id="308" r:id="rId80"/>
    <p:sldId id="309" r:id="rId81"/>
    <p:sldId id="315" r:id="rId82"/>
    <p:sldId id="316" r:id="rId83"/>
    <p:sldId id="317" r:id="rId84"/>
    <p:sldId id="321" r:id="rId8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0. Why a romance?" id="{1AEE5DC6-40B2-471D-9CB4-004A8392A312}">
          <p14:sldIdLst>
            <p14:sldId id="259"/>
            <p14:sldId id="260"/>
            <p14:sldId id="261"/>
            <p14:sldId id="262"/>
            <p14:sldId id="263"/>
          </p14:sldIdLst>
        </p14:section>
        <p14:section name="1. Ellipses everywhere: seeing multivariate data" id="{342421AD-6C42-4061-9440-37F93863C901}">
          <p14:sldIdLst>
            <p14:sldId id="264"/>
            <p14:sldId id="456"/>
            <p14:sldId id="457"/>
            <p14:sldId id="458"/>
            <p14:sldId id="326"/>
            <p14:sldId id="266"/>
            <p14:sldId id="470"/>
            <p14:sldId id="473"/>
            <p14:sldId id="267"/>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77"/>
            <p14:sldId id="278"/>
          </p14:sldIdLst>
        </p14:section>
        <p14:section name="3. Elliptical insights" id="{EAA495C8-47F8-453B-93BF-84216DBE3542}">
          <p14:sldIdLst>
            <p14:sldId id="282"/>
            <p14:sldId id="471"/>
            <p14:sldId id="272"/>
            <p14:sldId id="281"/>
            <p14:sldId id="472"/>
            <p14:sldId id="460"/>
            <p14:sldId id="289"/>
            <p14:sldId id="461"/>
            <p14:sldId id="293"/>
            <p14:sldId id="294"/>
            <p14:sldId id="295"/>
            <p14:sldId id="465"/>
            <p14:sldId id="297"/>
          </p14:sldIdLst>
        </p14:section>
        <p14:section name="4. The HE plot framework" id="{19AF699C-459B-4008-BE93-C8454174BFDD}">
          <p14:sldIdLst>
            <p14:sldId id="298"/>
            <p14:sldId id="466"/>
            <p14:sldId id="327"/>
            <p14:sldId id="328"/>
            <p14:sldId id="329"/>
            <p14:sldId id="302"/>
            <p14:sldId id="303"/>
            <p14:sldId id="449"/>
            <p14:sldId id="306"/>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 name="Backup (hidden)" id="{7A8258A9-8C35-45CC-AE73-779A558EF0F6}">
          <p14:sldIdLst>
            <p14:sldId id="283"/>
            <p14:sldId id="284"/>
            <p14:sldId id="286"/>
            <p14:sldId id="291"/>
            <p14:sldId id="292"/>
            <p14:sldId id="279"/>
            <p14:sldId id="462"/>
            <p14:sldId id="285"/>
            <p14:sldId id="287"/>
            <p14:sldId id="288"/>
            <p14:sldId id="463"/>
            <p14:sldId id="299"/>
            <p14:sldId id="300"/>
            <p14:sldId id="301"/>
            <p14:sldId id="307"/>
            <p14:sldId id="308"/>
            <p14:sldId id="309"/>
            <p14:sldId id="315"/>
            <p14:sldId id="316"/>
            <p14:sldId id="317"/>
            <p14:sldId id="32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E8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267" autoAdjust="0"/>
  </p:normalViewPr>
  <p:slideViewPr>
    <p:cSldViewPr snapToGrid="0">
      <p:cViewPr varScale="1">
        <p:scale>
          <a:sx n="74" d="100"/>
          <a:sy n="74" d="100"/>
        </p:scale>
        <p:origin x="456" y="72"/>
      </p:cViewPr>
      <p:guideLst/>
    </p:cSldViewPr>
  </p:slideViewPr>
  <p:notesTextViewPr>
    <p:cViewPr>
      <p:scale>
        <a:sx n="1" d="1"/>
        <a:sy n="1" d="1"/>
      </p:scale>
      <p:origin x="0" y="0"/>
    </p:cViewPr>
  </p:notesTextViewPr>
  <p:sorterViewPr>
    <p:cViewPr varScale="1">
      <p:scale>
        <a:sx n="100" d="100"/>
        <a:sy n="100" d="100"/>
      </p:scale>
      <p:origin x="0" y="-1398"/>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ableStyles" Target="tableStyle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I’m so glad to be with you here today. </a:t>
            </a:r>
          </a:p>
          <a:p>
            <a:r>
              <a:rPr lang="en-CA" dirty="0"/>
              <a:t>I just returned from Leuven, where I was on the jury for the </a:t>
            </a:r>
            <a:r>
              <a:rPr lang="en-CA" dirty="0" err="1"/>
              <a:t>Rousseeuw</a:t>
            </a:r>
            <a:r>
              <a:rPr lang="en-CA" dirty="0"/>
              <a:t> Prize in Statistics, which was happily awarded to </a:t>
            </a:r>
            <a:r>
              <a:rPr lang="en-CA" b="1" dirty="0"/>
              <a:t>The R Project </a:t>
            </a:r>
            <a:r>
              <a:rPr lang="en-CA" dirty="0"/>
              <a:t>in Statistical Computing &amp; Graphics</a:t>
            </a:r>
          </a:p>
          <a:p>
            <a:r>
              <a:rPr lang="en-CA" dirty="0"/>
              <a:t>As a bonus, daughter’s family lives in Utrecht, so I was happy to see them all.</a:t>
            </a:r>
          </a:p>
          <a:p>
            <a:r>
              <a:rPr lang="en-CA" dirty="0"/>
              <a:t>And now, I’ll give the first public talk about my current book.</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a:t>
            </a:r>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Surgeons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t>
            </a:r>
            <a:r>
              <a:rPr lang="en-CA" dirty="0"/>
              <a:t>put </a:t>
            </a:r>
            <a:r>
              <a:rPr dirty="0"/>
              <a:t>all the R code</a:t>
            </a:r>
            <a:r>
              <a:rPr lang="en-CA" dirty="0"/>
              <a:t> online.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Theory to practice: the methods in the book are only useful if people can apply them. These four packages implement most of what follows: heplots (HE plots and related methods), candisc (canonical views), mvinfluence (multivariate influence), genridge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Roadmap</a:t>
            </a:r>
            <a:r>
              <a:rPr lang="en-CA" dirty="0"/>
              <a:t>:</a:t>
            </a:r>
            <a:r>
              <a:rPr dirty="0"/>
              <a:t> </a:t>
            </a:r>
            <a:r>
              <a:rPr lang="en-CA" dirty="0"/>
              <a:t>T</a:t>
            </a:r>
            <a:r>
              <a:rPr dirty="0"/>
              <a:t>he book</a:t>
            </a:r>
            <a:r>
              <a:rPr lang="en-CA" dirty="0"/>
              <a:t> follows a linear path</a:t>
            </a:r>
            <a:r>
              <a:rPr dirty="0"/>
              <a:t>: plots of data, then models with one response, then models with many responses. </a:t>
            </a:r>
            <a:endParaRPr lang="en-CA" dirty="0"/>
          </a:p>
          <a:p>
            <a:r>
              <a:rPr lang="en-CA" dirty="0"/>
              <a:t>Today, I want to talk about the main themes of the book.</a:t>
            </a:r>
          </a:p>
          <a:p>
            <a:r>
              <a:rPr lang="en-CA" dirty="0"/>
              <a:t>Themes: </a:t>
            </a:r>
            <a:r>
              <a:rPr dirty="0"/>
              <a:t>The ellipse is the recurring </a:t>
            </a:r>
            <a:r>
              <a:rPr lang="en-CA" dirty="0"/>
              <a:t>visual </a:t>
            </a:r>
            <a:r>
              <a:rPr dirty="0"/>
              <a:t>device.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book's subtitle is a nod to Abbott's 'Flatland: A Romance of Many Dimensions'. The Flatlander sees only a slice of the sphere. 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a:t>
            </a:r>
            <a:r>
              <a:rPr lang="en-CA" dirty="0"/>
              <a:t>P</a:t>
            </a:r>
            <a:r>
              <a:rPr dirty="0" err="1"/>
              <a:t>ollen</a:t>
            </a:r>
            <a:r>
              <a:rPr dirty="0"/>
              <a:t> data</a:t>
            </a:r>
            <a:r>
              <a:rPr lang="en-CA" dirty="0"/>
              <a:t>set contains 5 variables measured on grains of pollen. It was created for the 1986 JSM Data Exposition:</a:t>
            </a:r>
          </a:p>
          <a:p>
            <a:r>
              <a:rPr lang="en-CA" dirty="0"/>
              <a:t>The invitation was “Show your stuff!”, “Find something interesting here”.</a:t>
            </a:r>
          </a:p>
          <a:p>
            <a:r>
              <a:rPr lang="en-CA" dirty="0"/>
              <a:t>It was a challenge, because, to most graphic methods of the day, it</a:t>
            </a:r>
            <a:r>
              <a:rPr dirty="0"/>
              <a:t> look</a:t>
            </a:r>
            <a:r>
              <a:rPr lang="en-CA" dirty="0"/>
              <a:t>s</a:t>
            </a:r>
            <a:r>
              <a:rPr dirty="0"/>
              <a:t> like a featureless cloud </a:t>
            </a:r>
            <a:r>
              <a:rPr lang="en-CA" dirty="0"/>
              <a:t>of points.</a:t>
            </a:r>
          </a:p>
          <a:p>
            <a:r>
              <a:rPr lang="en-CA" dirty="0"/>
              <a:t>The secret hidden there was only revealed from one orientation in 5D space when </a:t>
            </a:r>
            <a:r>
              <a:rPr dirty="0"/>
              <a:t>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example of a scientific discovery that came from looking at data in more than two dimensions. 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table classifies linear model techniques by the number and type of responses and predictors. The right-hand column, multivariate responses, is where graphical methods have been thin.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50%, 68% and 95% coverage. The ellipse is the workhorse of the book: 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Palmer penguins </a:t>
            </a:r>
            <a:r>
              <a:rPr lang="en-CA" dirty="0"/>
              <a:t>data is a main</a:t>
            </a:r>
            <a:r>
              <a:rPr dirty="0"/>
              <a:t> running example</a:t>
            </a:r>
            <a:r>
              <a:rPr lang="en-CA" dirty="0"/>
              <a:t> in the book</a:t>
            </a:r>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(The classic iris data seems to have been eclipsed b/c of Fisher’s association with the eugenics movement because often called “Fisher’s Iris data” even though it came from Edgar Anderson.</a:t>
            </a:r>
          </a:p>
          <a:p>
            <a:endParaRPr lang="en-CA" dirty="0"/>
          </a:p>
          <a:p>
            <a:r>
              <a:rPr dirty="0"/>
              <a:t>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To illustrate what I mean when I say “sufficient visual summary”– let’s start with an ordinary scatterplot…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If you’re worried about the assumption of bivariate normality in these plots, there are several non-parametric alternatives, just for the asking.</a:t>
            </a:r>
          </a:p>
        </p:txBody>
      </p:sp>
    </p:spTree>
    <p:extLst>
      <p:ext uri="{BB962C8B-B14F-4D97-AF65-F5344CB8AC3E}">
        <p14:creationId xmlns:p14="http://schemas.microsoft.com/office/powerpoint/2010/main" val="18266391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Panels: (a) ignoring species, (b) by species, (c) pooled within species. The data ellipses make the reversal immediate.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CA" dirty="0"/>
              <a:t>Do this quick</a:t>
            </a:r>
            <a:r>
              <a:rPr dirty="0"/>
              <a:t>]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Yet another idea is to animate a sequence of 2D projections, on a travel through </a:t>
            </a:r>
            <a:r>
              <a:rPr lang="en-CA" dirty="0" err="1"/>
              <a:t>nD</a:t>
            </a:r>
            <a:r>
              <a:rPr lang="en-CA" dirty="0"/>
              <a:t> space</a:t>
            </a:r>
          </a:p>
          <a:p>
            <a:r>
              <a:rPr dirty="0"/>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With more than a few variables, you can gain greater understanding with a multivariate juicer.</a:t>
            </a:r>
          </a:p>
          <a:p>
            <a:r>
              <a:rPr lang="en-CA" dirty="0"/>
              <a:t>I know this is SO cheesy! But I find this a nice analogy to explain what we do with low-D methods</a:t>
            </a:r>
          </a:p>
        </p:txBody>
      </p:sp>
      <p:sp>
        <p:nvSpPr>
          <p:cNvPr id="4" name="Slide Number Placeholder 3"/>
          <p:cNvSpPr>
            <a:spLocks noGrp="1"/>
          </p:cNvSpPr>
          <p:nvPr>
            <p:ph type="sldNum" sz="quarter" idx="5"/>
          </p:nvPr>
        </p:nvSpPr>
        <p:spPr/>
        <p:txBody>
          <a:bodyPr/>
          <a:lstStyle/>
          <a:p>
            <a:fld id="{33E20828-1A1A-4225-BE3A-F8540A5E6146}" type="slidenum">
              <a:rPr lang="en-US" smtClean="0"/>
              <a:t>24</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The blue points are connected to their projections on the red line by springs perpendicular to that line. A physical intuition for least squares. One of the figures the organizer singled out.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28</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interpolating between the PCA and t-SNE solutions for the Diabetes data. </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32</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a:t>
            </a:r>
            <a:endParaRPr lang="en-CA" dirty="0"/>
          </a:p>
          <a:p>
            <a:r>
              <a:rPr dirty="0"/>
              <a:t>Two of them, nicknamed </a:t>
            </a:r>
            <a:endParaRPr lang="en-CA" dirty="0"/>
          </a:p>
          <a:p>
            <a:r>
              <a:rPr dirty="0"/>
              <a:t>Cyrano </a:t>
            </a:r>
            <a:r>
              <a:rPr lang="en-CA" dirty="0"/>
              <a:t>– really long billed Chinstrap</a:t>
            </a:r>
          </a:p>
          <a:p>
            <a:r>
              <a:rPr dirty="0"/>
              <a:t>Hook Nose</a:t>
            </a:r>
            <a:r>
              <a:rPr lang="en-CA" dirty="0"/>
              <a:t> – largest curvature</a:t>
            </a:r>
          </a:p>
          <a:p>
            <a:r>
              <a:rPr lang="en-CA" dirty="0"/>
              <a:t>Bird 35 doesn’t seem at all unusual for an Adelie</a:t>
            </a:r>
          </a:p>
          <a:p>
            <a:endParaRPr lang="en-CA" dirty="0"/>
          </a:p>
          <a:p>
            <a:r>
              <a:rPr lang="en-CA" dirty="0"/>
              <a:t>I’ll follow these birds in </a:t>
            </a:r>
            <a:r>
              <a:rPr dirty="0"/>
              <a:t>the influence and robust sections.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An 'elliptical insight': multivariate outliers often show up in the dimensions with the least variance.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35</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36</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Data space and beta space for the coffee data. Where the predictors have a wide spread, the coefficients are estimated precisely, and vice versa. This sets up collinearity.</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Animations (play in slide show mode), with increasing measurement error added to Stress.</a:t>
            </a:r>
          </a:p>
          <a:p>
            <a:r>
              <a:t>Left, data space: the data ellipse for Heart and Stress gets wider, and the slope flattens.</a:t>
            </a:r>
          </a:p>
          <a:p>
            <a:r>
              <a:t>Middle, beta space for the simple regression: the coefficient for Stress is attenuated toward 0.</a:t>
            </a:r>
          </a:p>
          <a:p>
            <a:r>
              <a:t>OK, we understand that now. But, at the same time, in the model with both predictors (right), the effect of coffee becomes larger: it moves toward its marginal value, the slope you get ignoring Stress.</a:t>
            </a:r>
          </a:p>
          <a:p>
            <a:r>
              <a:t>Elliptical insight: increasing error in x2 drives the coefficient for x1 toward the marginal model. You can also see that the standard error of the Coffee coefficient decreases as error in Stress increases.</a:t>
            </a:r>
          </a:p>
        </p:txBody>
      </p:sp>
      <p:sp>
        <p:nvSpPr>
          <p:cNvPr id="4" name="Slide Number Placeholder 3"/>
          <p:cNvSpPr>
            <a:spLocks noGrp="1"/>
          </p:cNvSpPr>
          <p:nvPr>
            <p:ph type="sldNum" sz="quarter" idx="5"/>
          </p:nvPr>
        </p:nvSpPr>
        <p:spPr/>
        <p:txBody>
          <a:bodyPr/>
          <a:lstStyle/>
          <a:p>
            <a:fld id="{33E20828-1A1A-4225-BE3A-F8540A5E6146}" type="slidenum">
              <a:rPr lang="en-US" smtClean="0"/>
              <a:t>38</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 visual approach also helps to understand problems of collinearity--- high correlations among predictors--- in linear models</a:t>
            </a:r>
          </a:p>
          <a:p>
            <a:r>
              <a:rPr dirty="0"/>
              <a:t>The standard collinearity diagnostics table hides the important information. </a:t>
            </a:r>
            <a:endParaRPr lang="en-CA" dirty="0"/>
          </a:p>
          <a:p>
            <a:pPr marL="171450" indent="-171450">
              <a:buFont typeface="Arial" panose="020B0604020202020204" pitchFamily="34" charset="0"/>
              <a:buChar char="•"/>
            </a:pPr>
            <a:r>
              <a:rPr lang="en-CA" dirty="0"/>
              <a:t>A</a:t>
            </a:r>
            <a:r>
              <a:rPr dirty="0"/>
              <a:t> </a:t>
            </a:r>
            <a:r>
              <a:rPr dirty="0" err="1"/>
              <a:t>tableplot</a:t>
            </a:r>
            <a:r>
              <a:rPr dirty="0"/>
              <a:t> makes </a:t>
            </a:r>
            <a:r>
              <a:rPr lang="en-CA" dirty="0"/>
              <a:t>what you should attend to</a:t>
            </a:r>
            <a:r>
              <a:rPr dirty="0"/>
              <a:t> stand out</a:t>
            </a:r>
            <a:r>
              <a:rPr lang="en-CA" dirty="0"/>
              <a:t>– ordered by condition indices</a:t>
            </a:r>
          </a:p>
          <a:p>
            <a:endParaRPr lang="en-CA" dirty="0"/>
          </a:p>
          <a:p>
            <a:r>
              <a:rPr lang="en-CA" dirty="0"/>
              <a:t>A </a:t>
            </a:r>
            <a:r>
              <a:rPr dirty="0"/>
              <a:t>collinearity biplot shows which variables are involved</a:t>
            </a:r>
            <a:r>
              <a:rPr lang="en-CA" dirty="0"/>
              <a:t> and possible outliers appear in Waldo space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Instead of plotting point estimates, we can see effects of ridge shrinkage by plotting bivariate ellipsoids for pairs of parameters</a:t>
            </a:r>
          </a:p>
        </p:txBody>
      </p:sp>
      <p:sp>
        <p:nvSpPr>
          <p:cNvPr id="4" name="Slide Number Placeholder 3"/>
          <p:cNvSpPr>
            <a:spLocks noGrp="1"/>
          </p:cNvSpPr>
          <p:nvPr>
            <p:ph type="sldNum" sz="quarter" idx="5"/>
          </p:nvPr>
        </p:nvSpPr>
        <p:spPr/>
        <p:txBody>
          <a:bodyPr/>
          <a:lstStyle/>
          <a:p>
            <a:fld id="{33E20828-1A1A-4225-BE3A-F8540A5E6146}" type="slidenum">
              <a:rPr lang="en-US" smtClean="0"/>
              <a:t>42</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45</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Mathscore data: two groups, basic math (BM) and word problems (WP). From the data to data ellipses to the HE plot. From the short course, lecture 2.</a:t>
            </a:r>
          </a:p>
        </p:txBody>
      </p:sp>
    </p:spTree>
    <p:extLst>
      <p:ext uri="{BB962C8B-B14F-4D97-AF65-F5344CB8AC3E}">
        <p14:creationId xmlns:p14="http://schemas.microsoft.com/office/powerpoint/2010/main" val="12706028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H ellipse is the data ellipse of the fitted values; with 1 df it collapses to a line. From the short course, lecture 2.</a:t>
            </a:r>
          </a:p>
        </p:txBody>
      </p:sp>
    </p:spTree>
    <p:extLst>
      <p:ext uri="{BB962C8B-B14F-4D97-AF65-F5344CB8AC3E}">
        <p14:creationId xmlns:p14="http://schemas.microsoft.com/office/powerpoint/2010/main" val="306711821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[OPTIONAL for a 45-minute talk] </a:t>
            </a:r>
            <a:endParaRPr lang="en-CA" dirty="0"/>
          </a:p>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51</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HE plot for the multivariate regression model for the school data. Each predictor has 1 df,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53</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distance plot is one of the figures the organizer singled out. School data model: reading, mathematics and self-esteem on five predictors, 70 schools. Distance plot (</a:t>
            </a:r>
            <a:r>
              <a:rPr dirty="0" err="1"/>
              <a:t>heplots</a:t>
            </a:r>
            <a:r>
              <a:rPr dirty="0"/>
              <a:t>::</a:t>
            </a:r>
            <a:r>
              <a:rPr dirty="0" err="1"/>
              <a:t>distancePlot</a:t>
            </a:r>
            <a:r>
              <a:rPr dirty="0"/>
              <a:t>) and influence plot (</a:t>
            </a:r>
            <a:r>
              <a:rPr dirty="0" err="1"/>
              <a:t>mvinfluence</a:t>
            </a:r>
            <a:r>
              <a:rPr dirty="0"/>
              <a:t>::</a:t>
            </a:r>
            <a:r>
              <a:rPr dirty="0" err="1"/>
              <a:t>influencePlot</a:t>
            </a:r>
            <a:r>
              <a:rPr dirty="0"/>
              <a:t>), re-drawn as a matched pair with the same cases in the same colors (talks/R/school-</a:t>
            </a:r>
            <a:r>
              <a:rPr dirty="0" err="1"/>
              <a:t>diagnostics.R</a:t>
            </a:r>
            <a:r>
              <a:rPr dirty="0"/>
              <a:t>). </a:t>
            </a:r>
            <a:endParaRPr lang="en-CA" dirty="0"/>
          </a:p>
          <a:p>
            <a:r>
              <a:rPr dirty="0"/>
              <a:t>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 standard diagnostic plots, here for Duncan's data on the prestige of occupations predicted from income and education.</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Plot of standardized coefficients and their confidence intervals.</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Predictor effect plots for all terms in the model for the Prestige data.</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Other problems in fitting &amp; understanding linear models are also made simpler with visual, geometric and dimension reduction ideas</a:t>
            </a:r>
          </a:p>
        </p:txBody>
      </p:sp>
    </p:spTree>
    <p:extLst>
      <p:ext uri="{BB962C8B-B14F-4D97-AF65-F5344CB8AC3E}">
        <p14:creationId xmlns:p14="http://schemas.microsoft.com/office/powerpoint/2010/main" val="286396955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95% data ellipses for x1, x2 and the corresponding confidence ellipses for their coefficients, for increasing correlation.</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793973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Ordering variables by their angles in the biplot puts similar variables together and makes the pattern visible.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810693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70</a:t>
            </a:fld>
            <a:endParaRPr lang="en-US"/>
          </a:p>
        </p:txBody>
      </p:sp>
    </p:spTree>
    <p:extLst>
      <p:ext uri="{BB962C8B-B14F-4D97-AF65-F5344CB8AC3E}">
        <p14:creationId xmlns:p14="http://schemas.microsoft.com/office/powerpoint/2010/main" val="385902772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Marginal + conditional (added-variable) plots for the coffee data. Each added-variable plot shows the relation of y to one predictor with the others </a:t>
            </a:r>
            <a:r>
              <a:rPr dirty="0" err="1"/>
              <a:t>partialled</a:t>
            </a:r>
            <a:r>
              <a:rPr dirty="0"/>
              <a:t> out; the slope is the coefficient in the full model.</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88792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Duncan model. Minister and conductor stand out.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7669289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The two occupations pull the income and education slopes in opposite directions.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651810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74</a:t>
            </a:fld>
            <a:endParaRPr lang="en-US"/>
          </a:p>
        </p:txBody>
      </p:sp>
    </p:spTree>
    <p:extLst>
      <p:ext uri="{BB962C8B-B14F-4D97-AF65-F5344CB8AC3E}">
        <p14:creationId xmlns:p14="http://schemas.microsoft.com/office/powerpoint/2010/main" val="293356941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Hotelling's T-squared as a generalized t-test.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4433200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Above: data ellipses summarized in an HE plot showing the pooled within-group error ellipse (E) and the H 'ellipse' for the group means. Below: observations projected on the line joining the means.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528608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Breakdown of the total SSP matrix into H and E. The Wilks, Pillai, Hotelling-Lawley and Roy tests are all functions of the eigenvalues of H relative to 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236767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canonical correlation analysis of the school data.</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two-way MANOVA of the plastic film data.</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Overlaid HE plots for SAT and PPVT for the two SES groups.</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All pairwise covariance ellipses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Plots of the contributions to Box's M for the penguin and iris data.</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Quadratic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2026-10-19</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2026-10-19</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2026-10-19</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2026-10-19</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2026-10-19</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2026-10-19</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2026-10-19</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2026-10-19</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2026-10-19</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2026-10-19</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2026-10-19</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2026-10-19</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2026-10-19</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2026-10-19</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2026-10-19</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2026-10-19</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2026-10-19</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2026-10-19</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2026-10-19</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2026-10-19</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2026-10-19</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2026-10-19</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reserve="1">
  <p:cSld name="Two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2026-10-19</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2026-10-19</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2026-10-19</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2026-10-19</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Title Only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2026-10-19</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nd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2026-10-19</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woObj" preserve="1">
  <p:cSld name="Two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2026-10-19</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2026-10-19</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1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1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3.xml"/><Relationship Id="rId1" Type="http://schemas.openxmlformats.org/officeDocument/2006/relationships/slideLayout" Target="../slideLayouts/slideLayout16.xml"/><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15.xml"/><Relationship Id="rId5" Type="http://schemas.openxmlformats.org/officeDocument/2006/relationships/image" Target="../media/image20.png"/><Relationship Id="rId4" Type="http://schemas.openxmlformats.org/officeDocument/2006/relationships/image" Target="../media/image28.png"/></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6.xml"/><Relationship Id="rId1" Type="http://schemas.openxmlformats.org/officeDocument/2006/relationships/slideLayout" Target="../slideLayouts/slideLayout15.xml"/><Relationship Id="rId5" Type="http://schemas.openxmlformats.org/officeDocument/2006/relationships/image" Target="../media/image31.png"/><Relationship Id="rId4" Type="http://schemas.openxmlformats.org/officeDocument/2006/relationships/image" Target="../media/image30.png"/></Relationships>
</file>

<file path=ppt/slides/_rels/slide1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15.xml"/><Relationship Id="rId4" Type="http://schemas.openxmlformats.org/officeDocument/2006/relationships/image" Target="../media/image33.png"/></Relationships>
</file>

<file path=ppt/slides/_rels/slide1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8.xml"/><Relationship Id="rId1" Type="http://schemas.openxmlformats.org/officeDocument/2006/relationships/slideLayout" Target="../slideLayouts/slideLayout15.xml"/><Relationship Id="rId5" Type="http://schemas.openxmlformats.org/officeDocument/2006/relationships/image" Target="../media/image35.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9.xml"/><Relationship Id="rId1" Type="http://schemas.openxmlformats.org/officeDocument/2006/relationships/slideLayout" Target="../slideLayouts/slideLayout17.xml"/></Relationships>
</file>

<file path=ppt/slides/_rels/slide2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0.xml"/><Relationship Id="rId1" Type="http://schemas.openxmlformats.org/officeDocument/2006/relationships/slideLayout" Target="../slideLayouts/slideLayout17.xml"/><Relationship Id="rId4" Type="http://schemas.openxmlformats.org/officeDocument/2006/relationships/image" Target="../media/image38.png"/></Relationships>
</file>

<file path=ppt/slides/_rels/slide2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3" Type="http://schemas.openxmlformats.org/officeDocument/2006/relationships/image" Target="../media/image40.gif"/><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41.png"/><Relationship Id="rId7" Type="http://schemas.openxmlformats.org/officeDocument/2006/relationships/image" Target="../media/image44.jpg"/><Relationship Id="rId2" Type="http://schemas.openxmlformats.org/officeDocument/2006/relationships/notesSlide" Target="../notesSlides/notesSlide23.xml"/><Relationship Id="rId1" Type="http://schemas.openxmlformats.org/officeDocument/2006/relationships/slideLayout" Target="../slideLayouts/slideLayout7.xml"/><Relationship Id="rId6" Type="http://schemas.openxmlformats.org/officeDocument/2006/relationships/image" Target="../media/image43.png"/><Relationship Id="rId5" Type="http://schemas.microsoft.com/office/2007/relationships/hdphoto" Target="../media/hdphoto1.wdp"/><Relationship Id="rId4" Type="http://schemas.openxmlformats.org/officeDocument/2006/relationships/image" Target="../media/image42.png"/></Relationships>
</file>

<file path=ppt/slides/_rels/slide25.xml.rels><?xml version="1.0" encoding="UTF-8" standalone="yes"?>
<Relationships xmlns="http://schemas.openxmlformats.org/package/2006/relationships"><Relationship Id="rId3" Type="http://schemas.openxmlformats.org/officeDocument/2006/relationships/image" Target="../media/image45.gif"/><Relationship Id="rId2" Type="http://schemas.openxmlformats.org/officeDocument/2006/relationships/notesSlide" Target="../notesSlides/notesSlide24.xml"/><Relationship Id="rId1" Type="http://schemas.openxmlformats.org/officeDocument/2006/relationships/slideLayout" Target="../slideLayouts/slideLayout18.xml"/></Relationships>
</file>

<file path=ppt/slides/_rels/slide26.xml.rels><?xml version="1.0" encoding="UTF-8" standalone="yes"?>
<Relationships xmlns="http://schemas.openxmlformats.org/package/2006/relationships"><Relationship Id="rId3" Type="http://schemas.openxmlformats.org/officeDocument/2006/relationships/image" Target="../media/image46.gif"/><Relationship Id="rId2" Type="http://schemas.openxmlformats.org/officeDocument/2006/relationships/notesSlide" Target="../notesSlides/notesSlide25.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6.xml"/><Relationship Id="rId1" Type="http://schemas.openxmlformats.org/officeDocument/2006/relationships/slideLayout" Target="../slideLayouts/slideLayout20.xml"/><Relationship Id="rId4" Type="http://schemas.openxmlformats.org/officeDocument/2006/relationships/image" Target="../media/image48.png"/></Relationships>
</file>

<file path=ppt/slides/_rels/slide28.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27.xml"/><Relationship Id="rId1" Type="http://schemas.openxmlformats.org/officeDocument/2006/relationships/slideLayout" Target="../slideLayouts/slideLayout18.xml"/><Relationship Id="rId5" Type="http://schemas.openxmlformats.org/officeDocument/2006/relationships/image" Target="../media/image50.png"/><Relationship Id="rId4" Type="http://schemas.openxmlformats.org/officeDocument/2006/relationships/image" Target="../media/image49.png"/></Relationships>
</file>

<file path=ppt/slides/_rels/slide29.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8.xml"/><Relationship Id="rId1" Type="http://schemas.openxmlformats.org/officeDocument/2006/relationships/slideLayout" Target="../slideLayouts/slideLayout18.xml"/></Relationships>
</file>

<file path=ppt/slides/_rels/slide30.xml.rels><?xml version="1.0" encoding="UTF-8" standalone="yes"?>
<Relationships xmlns="http://schemas.openxmlformats.org/package/2006/relationships"><Relationship Id="rId3" Type="http://schemas.openxmlformats.org/officeDocument/2006/relationships/image" Target="../media/image52.gif"/><Relationship Id="rId2" Type="http://schemas.openxmlformats.org/officeDocument/2006/relationships/notesSlide" Target="../notesSlides/notesSlide29.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0.xml"/><Relationship Id="rId1" Type="http://schemas.openxmlformats.org/officeDocument/2006/relationships/slideLayout" Target="../slideLayouts/slideLayout22.xml"/><Relationship Id="rId6" Type="http://schemas.openxmlformats.org/officeDocument/2006/relationships/image" Target="../media/image55.emf"/><Relationship Id="rId5" Type="http://schemas.openxmlformats.org/officeDocument/2006/relationships/image" Target="../media/image54.png"/><Relationship Id="rId4" Type="http://schemas.openxmlformats.org/officeDocument/2006/relationships/hyperlink" Target="http://www.datavis.ca/gallery/animation/outlier-demo/" TargetMode="External"/></Relationships>
</file>

<file path=ppt/slides/_rels/slide33.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1.xml"/><Relationship Id="rId1" Type="http://schemas.openxmlformats.org/officeDocument/2006/relationships/slideLayout" Target="../slideLayouts/slideLayout21.xml"/><Relationship Id="rId4" Type="http://schemas.openxmlformats.org/officeDocument/2006/relationships/image" Target="../media/image57.png"/></Relationships>
</file>

<file path=ppt/slides/_rels/slide34.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2.xml"/><Relationship Id="rId1" Type="http://schemas.openxmlformats.org/officeDocument/2006/relationships/slideLayout" Target="../slideLayouts/slideLayout23.xml"/><Relationship Id="rId4" Type="http://schemas.openxmlformats.org/officeDocument/2006/relationships/image" Target="../media/image55.emf"/></Relationships>
</file>

<file path=ppt/slides/_rels/slide35.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33.xml"/><Relationship Id="rId1" Type="http://schemas.openxmlformats.org/officeDocument/2006/relationships/slideLayout" Target="../slideLayouts/slideLayout22.xml"/></Relationships>
</file>

<file path=ppt/slides/_rels/slide36.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4.xml"/><Relationship Id="rId1" Type="http://schemas.openxmlformats.org/officeDocument/2006/relationships/slideLayout" Target="../slideLayouts/slideLayout21.xml"/><Relationship Id="rId4" Type="http://schemas.openxmlformats.org/officeDocument/2006/relationships/image" Target="../media/image60.png"/></Relationships>
</file>

<file path=ppt/slides/_rels/slide3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5.xml"/><Relationship Id="rId1" Type="http://schemas.openxmlformats.org/officeDocument/2006/relationships/slideLayout" Target="../slideLayouts/slideLayout21.xml"/></Relationships>
</file>

<file path=ppt/slides/_rels/slide38.xml.rels><?xml version="1.0" encoding="UTF-8" standalone="yes"?>
<Relationships xmlns="http://schemas.openxmlformats.org/package/2006/relationships"><Relationship Id="rId3" Type="http://schemas.openxmlformats.org/officeDocument/2006/relationships/image" Target="../media/image62.gif"/><Relationship Id="rId2" Type="http://schemas.openxmlformats.org/officeDocument/2006/relationships/notesSlide" Target="../notesSlides/notesSlide36.xml"/><Relationship Id="rId1" Type="http://schemas.openxmlformats.org/officeDocument/2006/relationships/slideLayout" Target="../slideLayouts/slideLayout22.xml"/><Relationship Id="rId5" Type="http://schemas.openxmlformats.org/officeDocument/2006/relationships/image" Target="../media/image64.gif"/><Relationship Id="rId4" Type="http://schemas.openxmlformats.org/officeDocument/2006/relationships/image" Target="../media/image63.gif"/></Relationships>
</file>

<file path=ppt/slides/_rels/slide39.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37.xml"/><Relationship Id="rId1" Type="http://schemas.openxmlformats.org/officeDocument/2006/relationships/slideLayout" Target="../slideLayouts/slideLayout21.xml"/><Relationship Id="rId6" Type="http://schemas.openxmlformats.org/officeDocument/2006/relationships/image" Target="../media/image66.png"/><Relationship Id="rId5" Type="http://schemas.openxmlformats.org/officeDocument/2006/relationships/image" Target="../media/image10.png"/><Relationship Id="rId4" Type="http://schemas.openxmlformats.org/officeDocument/2006/relationships/image" Target="../media/image55.emf"/></Relationships>
</file>

<file path=ppt/slides/_rels/slide40.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38.xml"/><Relationship Id="rId1" Type="http://schemas.openxmlformats.org/officeDocument/2006/relationships/slideLayout" Target="../slideLayouts/slideLayout23.xml"/><Relationship Id="rId4" Type="http://schemas.openxmlformats.org/officeDocument/2006/relationships/image" Target="../media/image9.png"/></Relationships>
</file>

<file path=ppt/slides/_rels/slide41.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42.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0.xml"/><Relationship Id="rId1" Type="http://schemas.openxmlformats.org/officeDocument/2006/relationships/slideLayout" Target="../slideLayouts/slideLayout21.xml"/><Relationship Id="rId5" Type="http://schemas.openxmlformats.org/officeDocument/2006/relationships/image" Target="../media/image70.png"/><Relationship Id="rId4" Type="http://schemas.openxmlformats.org/officeDocument/2006/relationships/image" Target="../media/image10.png"/></Relationships>
</file>

<file path=ppt/slides/_rels/slide43.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8" Type="http://schemas.openxmlformats.org/officeDocument/2006/relationships/image" Target="../media/image77.png"/><Relationship Id="rId3" Type="http://schemas.openxmlformats.org/officeDocument/2006/relationships/image" Target="../media/image72.png"/><Relationship Id="rId7" Type="http://schemas.openxmlformats.org/officeDocument/2006/relationships/image" Target="../media/image76.png"/><Relationship Id="rId2" Type="http://schemas.openxmlformats.org/officeDocument/2006/relationships/notesSlide" Target="../notesSlides/notesSlide42.xml"/><Relationship Id="rId1" Type="http://schemas.openxmlformats.org/officeDocument/2006/relationships/slideLayout" Target="../slideLayouts/slideLayout24.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46.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43.xml"/><Relationship Id="rId1" Type="http://schemas.openxmlformats.org/officeDocument/2006/relationships/slideLayout" Target="../slideLayouts/slideLayout25.xml"/><Relationship Id="rId5" Type="http://schemas.openxmlformats.org/officeDocument/2006/relationships/image" Target="../media/image80.png"/><Relationship Id="rId4" Type="http://schemas.openxmlformats.org/officeDocument/2006/relationships/image" Target="../media/image79.png"/></Relationships>
</file>

<file path=ppt/slides/_rels/slide47.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44.xml"/><Relationship Id="rId1" Type="http://schemas.openxmlformats.org/officeDocument/2006/relationships/slideLayout" Target="../slideLayouts/slideLayout25.xml"/><Relationship Id="rId6" Type="http://schemas.openxmlformats.org/officeDocument/2006/relationships/image" Target="../media/image82.wmf"/><Relationship Id="rId5" Type="http://schemas.openxmlformats.org/officeDocument/2006/relationships/oleObject" Target="../embeddings/oleObject1.bin"/><Relationship Id="rId4" Type="http://schemas.openxmlformats.org/officeDocument/2006/relationships/image" Target="../media/image81.png"/></Relationships>
</file>

<file path=ppt/slides/_rels/slide48.xml.rels><?xml version="1.0" encoding="UTF-8" standalone="yes"?>
<Relationships xmlns="http://schemas.openxmlformats.org/package/2006/relationships"><Relationship Id="rId3" Type="http://schemas.openxmlformats.org/officeDocument/2006/relationships/image" Target="../media/image79.png"/><Relationship Id="rId7" Type="http://schemas.openxmlformats.org/officeDocument/2006/relationships/image" Target="../media/image85.wmf"/><Relationship Id="rId2" Type="http://schemas.openxmlformats.org/officeDocument/2006/relationships/notesSlide" Target="../notesSlides/notesSlide45.xml"/><Relationship Id="rId1" Type="http://schemas.openxmlformats.org/officeDocument/2006/relationships/slideLayout" Target="../slideLayouts/slideLayout25.xml"/><Relationship Id="rId6" Type="http://schemas.openxmlformats.org/officeDocument/2006/relationships/oleObject" Target="../embeddings/oleObject2.bin"/><Relationship Id="rId5" Type="http://schemas.openxmlformats.org/officeDocument/2006/relationships/image" Target="../media/image84.png"/><Relationship Id="rId4" Type="http://schemas.openxmlformats.org/officeDocument/2006/relationships/image" Target="../media/image83.png"/></Relationships>
</file>

<file path=ppt/slides/_rels/slide49.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46.xml"/><Relationship Id="rId1" Type="http://schemas.openxmlformats.org/officeDocument/2006/relationships/slideLayout" Target="../slideLayouts/slideLayout24.xml"/></Relationships>
</file>

<file path=ppt/slides/_rels/slide50.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47.xml"/><Relationship Id="rId1" Type="http://schemas.openxmlformats.org/officeDocument/2006/relationships/slideLayout" Target="../slideLayouts/slideLayout26.xml"/></Relationships>
</file>

<file path=ppt/slides/_rels/slide51.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48.xml"/><Relationship Id="rId1" Type="http://schemas.openxmlformats.org/officeDocument/2006/relationships/slideLayout" Target="../slideLayouts/slideLayout24.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6.xml"/></Relationships>
</file>

<file path=ppt/slides/_rels/slide53.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50.xml"/><Relationship Id="rId1" Type="http://schemas.openxmlformats.org/officeDocument/2006/relationships/slideLayout" Target="../slideLayouts/slideLayout25.xml"/><Relationship Id="rId5" Type="http://schemas.openxmlformats.org/officeDocument/2006/relationships/image" Target="../media/image91.png"/><Relationship Id="rId4" Type="http://schemas.openxmlformats.org/officeDocument/2006/relationships/image" Target="../media/image90.png"/></Relationships>
</file>

<file path=ppt/slides/_rels/slide54.xml.rels><?xml version="1.0" encoding="UTF-8" standalone="yes"?>
<Relationships xmlns="http://schemas.openxmlformats.org/package/2006/relationships"><Relationship Id="rId3" Type="http://schemas.openxmlformats.org/officeDocument/2006/relationships/image" Target="../media/image92.jpg"/><Relationship Id="rId2" Type="http://schemas.openxmlformats.org/officeDocument/2006/relationships/notesSlide" Target="../notesSlides/notesSlide51.xml"/><Relationship Id="rId1" Type="http://schemas.openxmlformats.org/officeDocument/2006/relationships/slideLayout" Target="../slideLayouts/slideLayout24.xml"/></Relationships>
</file>

<file path=ppt/slides/_rels/slide55.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52.xml"/><Relationship Id="rId1" Type="http://schemas.openxmlformats.org/officeDocument/2006/relationships/slideLayout" Target="../slideLayouts/slideLayout24.xml"/></Relationships>
</file>

<file path=ppt/slides/_rels/slide56.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53.xml"/><Relationship Id="rId1" Type="http://schemas.openxmlformats.org/officeDocument/2006/relationships/slideLayout" Target="../slideLayouts/slideLayout2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54.xml"/><Relationship Id="rId1" Type="http://schemas.openxmlformats.org/officeDocument/2006/relationships/slideLayout" Target="../slideLayouts/slideLayout29.xml"/><Relationship Id="rId4" Type="http://schemas.openxmlformats.org/officeDocument/2006/relationships/image" Target="../media/image96.png"/></Relationships>
</file>

<file path=ppt/slides/_rels/slide59.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55.xml"/><Relationship Id="rId1" Type="http://schemas.openxmlformats.org/officeDocument/2006/relationships/slideLayout" Target="../slideLayouts/slideLayout29.xml"/><Relationship Id="rId4" Type="http://schemas.openxmlformats.org/officeDocument/2006/relationships/image" Target="../media/image8.png"/></Relationships>
</file>

<file path=ppt/slides/_rels/slide60.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56.xml"/><Relationship Id="rId1" Type="http://schemas.openxmlformats.org/officeDocument/2006/relationships/slideLayout" Target="../slideLayouts/slideLayout29.xml"/><Relationship Id="rId4" Type="http://schemas.openxmlformats.org/officeDocument/2006/relationships/image" Target="../media/image6.png"/></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8.xml"/></Relationships>
</file>

<file path=ppt/slides/_rels/slide6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58.xml"/><Relationship Id="rId1" Type="http://schemas.openxmlformats.org/officeDocument/2006/relationships/slideLayout" Target="../slideLayouts/slideLayout29.xml"/><Relationship Id="rId4" Type="http://schemas.openxmlformats.org/officeDocument/2006/relationships/image" Target="../media/image5.jpg"/></Relationships>
</file>

<file path=ppt/slides/_rels/slide63.xml.rels><?xml version="1.0" encoding="UTF-8" standalone="yes"?>
<Relationships xmlns="http://schemas.openxmlformats.org/package/2006/relationships"><Relationship Id="rId2" Type="http://schemas.openxmlformats.org/officeDocument/2006/relationships/image" Target="../media/image99.gif"/><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63.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64.xml"/><Relationship Id="rId1" Type="http://schemas.openxmlformats.org/officeDocument/2006/relationships/slideLayout" Target="../slideLayouts/slideLayout6.xml"/><Relationship Id="rId4" Type="http://schemas.openxmlformats.org/officeDocument/2006/relationships/image" Target="../media/image38.png"/></Relationships>
</file>

<file path=ppt/slides/_rels/slide70.xml.rels><?xml version="1.0" encoding="UTF-8" standalone="yes"?>
<Relationships xmlns="http://schemas.openxmlformats.org/package/2006/relationships"><Relationship Id="rId3" Type="http://schemas.openxmlformats.org/officeDocument/2006/relationships/image" Target="../media/image64.gif"/><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notesSlide" Target="../notesSlides/notesSlide76.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279443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626538"/>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1484330" y="320039"/>
            <a:ext cx="2340000" cy="2340000"/>
          </a:xfrm>
          <a:prstGeom prst="rect">
            <a:avLst/>
          </a:prstGeom>
        </p:spPr>
      </p:pic>
      <p:pic>
        <p:nvPicPr>
          <p:cNvPr id="5" name="Thumbnail: biplot" descr="fig-diabetes-ggbiplot-1.png"/>
          <p:cNvPicPr>
            <a:picLocks noChangeAspect="1"/>
          </p:cNvPicPr>
          <p:nvPr/>
        </p:nvPicPr>
        <p:blipFill>
          <a:blip r:embed="rId6"/>
          <a:stretch>
            <a:fillRect/>
          </a:stretch>
        </p:blipFill>
        <p:spPr>
          <a:xfrm>
            <a:off x="3962245" y="320040"/>
            <a:ext cx="3276000" cy="2340000"/>
          </a:xfrm>
          <a:prstGeom prst="rect">
            <a:avLst/>
          </a:prstGeom>
        </p:spPr>
      </p:pic>
      <p:pic>
        <p:nvPicPr>
          <p:cNvPr id="6" name="Thumbnail: HE plot" descr="image.png"/>
          <p:cNvPicPr>
            <a:picLocks noChangeAspect="1"/>
          </p:cNvPicPr>
          <p:nvPr/>
        </p:nvPicPr>
        <p:blipFill>
          <a:blip r:embed="rId7"/>
          <a:stretch>
            <a:fillRect/>
          </a:stretch>
        </p:blipFill>
        <p:spPr>
          <a:xfrm>
            <a:off x="7376160" y="320040"/>
            <a:ext cx="3276000" cy="2340000"/>
          </a:xfrm>
          <a:prstGeom prst="rect">
            <a:avLst/>
          </a:prstGeom>
        </p:spPr>
      </p:pic>
      <p:pic>
        <p:nvPicPr>
          <p:cNvPr id="8" name="Picture 7">
            <a:extLst>
              <a:ext uri="{FF2B5EF4-FFF2-40B4-BE49-F238E27FC236}">
                <a16:creationId xmlns:a16="http://schemas.microsoft.com/office/drawing/2014/main" id="{E4802ABD-082F-BC7F-2791-4E06016AE1D7}"/>
              </a:ext>
            </a:extLst>
          </p:cNvPr>
          <p:cNvPicPr>
            <a:picLocks noChangeAspect="1"/>
          </p:cNvPicPr>
          <p:nvPr/>
        </p:nvPicPr>
        <p:blipFill>
          <a:blip r:embed="rId8"/>
          <a:stretch>
            <a:fillRect/>
          </a:stretch>
        </p:blipFill>
        <p:spPr>
          <a:xfrm>
            <a:off x="6229529" y="5901328"/>
            <a:ext cx="365760" cy="3657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181600" cy="1143000"/>
          </a:xfrm>
        </p:spPr>
        <p:txBody>
          <a:bodyPr/>
          <a:lstStyle/>
          <a:p>
            <a:r>
              <a:rPr dirty="0"/>
              <a:t>The book</a:t>
            </a:r>
          </a:p>
        </p:txBody>
      </p:sp>
      <p:sp>
        <p:nvSpPr>
          <p:cNvPr id="3" name="Content Placeholder 2"/>
          <p:cNvSpPr>
            <a:spLocks noGrp="1"/>
          </p:cNvSpPr>
          <p:nvPr>
            <p:ph sz="half" idx="1"/>
          </p:nvPr>
        </p:nvSpPr>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6331974" y="630023"/>
            <a:ext cx="4218039" cy="5804761"/>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2</a:t>
            </a:fld>
            <a:endParaRPr lang="en-CA"/>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
        <p:nvSpPr>
          <p:cNvPr id="19" name="Slide Number Placeholder 19"/>
          <p:cNvSpPr>
            <a:spLocks noGrp="1"/>
          </p:cNvSpPr>
          <p:nvPr>
            <p:ph type="sldNum" sz="quarter" idx="12"/>
          </p:nvPr>
        </p:nvSpPr>
        <p:spPr/>
        <p:txBody>
          <a:bodyPr/>
          <a:lstStyle/>
          <a:p>
            <a:fld id="{9BFB2853-4965-4727-91C4-384EB30D99A4}" type="slidenum">
              <a:rPr lang="en-CA"/>
              <a:t>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 (thematic)</a:t>
            </a:r>
            <a:endParaRPr dirty="0"/>
          </a:p>
        </p:txBody>
      </p:sp>
      <p:sp>
        <p:nvSpPr>
          <p:cNvPr id="3" name="Content Placeholder 2"/>
          <p:cNvSpPr>
            <a:spLocks noGrp="1"/>
          </p:cNvSpPr>
          <p:nvPr>
            <p:ph idx="1"/>
          </p:nvPr>
        </p:nvSpPr>
        <p:spPr>
          <a:xfrm>
            <a:off x="838200" y="1309036"/>
            <a:ext cx="10515600" cy="4867927"/>
          </a:xfrm>
        </p:spPr>
        <p:txBody>
          <a:bodyPr/>
          <a:lstStyle/>
          <a:p>
            <a:r>
              <a:rPr dirty="0"/>
              <a:t>Why </a:t>
            </a:r>
            <a:r>
              <a:rPr lang="en-CA" dirty="0"/>
              <a:t>a romance in </a:t>
            </a:r>
            <a:r>
              <a:rPr dirty="0"/>
              <a:t>many dimensions?</a:t>
            </a:r>
          </a:p>
          <a:p>
            <a:r>
              <a:rPr lang="en-CA" dirty="0"/>
              <a:t>S</a:t>
            </a:r>
            <a:r>
              <a:rPr dirty="0" err="1"/>
              <a:t>eeing</a:t>
            </a:r>
            <a:r>
              <a:rPr dirty="0"/>
              <a:t> multivariate data</a:t>
            </a:r>
            <a:r>
              <a:rPr lang="en-CA" dirty="0"/>
              <a:t>: ellipses everywhere</a:t>
            </a:r>
            <a:endParaRPr dirty="0"/>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 (linear)</a:t>
            </a:r>
          </a:p>
        </p:txBody>
      </p:sp>
      <p:sp>
        <p:nvSpPr>
          <p:cNvPr id="6" name="Slide Number Placeholder 6"/>
          <p:cNvSpPr>
            <a:spLocks noGrp="1"/>
          </p:cNvSpPr>
          <p:nvPr>
            <p:ph type="sldNum" sz="quarter" idx="12"/>
          </p:nvPr>
        </p:nvSpPr>
        <p:spPr/>
        <p:txBody>
          <a:bodyPr/>
          <a:lstStyle/>
          <a:p>
            <a:fld id="{9BFB2853-4965-4727-91C4-384EB30D99A4}" type="slidenum">
              <a:rPr lang="en-CA"/>
              <a:t>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p:cTn id="11"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2"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13"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4" dur="1000"/>
                                        <p:tgtEl>
                                          <p:spTgt spid="3">
                                            <p:txEl>
                                              <p:pRg st="0" end="0"/>
                                            </p:txEl>
                                          </p:spTgt>
                                        </p:tgtEl>
                                      </p:cBhvr>
                                    </p:animEffect>
                                  </p:childTnLst>
                                </p:cTn>
                              </p:par>
                              <p:par>
                                <p:cTn id="15" presetID="31"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p:cTn id="17"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18"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19"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20" dur="1000"/>
                                        <p:tgtEl>
                                          <p:spTgt spid="3">
                                            <p:txEl>
                                              <p:pRg st="1" end="1"/>
                                            </p:txEl>
                                          </p:spTgt>
                                        </p:tgtEl>
                                      </p:cBhvr>
                                    </p:animEffect>
                                  </p:childTnLst>
                                </p:cTn>
                              </p:par>
                              <p:par>
                                <p:cTn id="21" presetID="31" presetClass="entr" presetSubtype="0" fill="hold"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p:cTn id="23" dur="1000" fill="hold"/>
                                        <p:tgtEl>
                                          <p:spTgt spid="3">
                                            <p:txEl>
                                              <p:pRg st="2" end="2"/>
                                            </p:txEl>
                                          </p:spTgt>
                                        </p:tgtEl>
                                        <p:attrNameLst>
                                          <p:attrName>ppt_w</p:attrName>
                                        </p:attrNameLst>
                                      </p:cBhvr>
                                      <p:tavLst>
                                        <p:tav tm="0">
                                          <p:val>
                                            <p:fltVal val="0"/>
                                          </p:val>
                                        </p:tav>
                                        <p:tav tm="100000">
                                          <p:val>
                                            <p:strVal val="#ppt_w"/>
                                          </p:val>
                                        </p:tav>
                                      </p:tavLst>
                                    </p:anim>
                                    <p:anim calcmode="lin" valueType="num">
                                      <p:cBhvr>
                                        <p:cTn id="24" dur="1000" fill="hold"/>
                                        <p:tgtEl>
                                          <p:spTgt spid="3">
                                            <p:txEl>
                                              <p:pRg st="2" end="2"/>
                                            </p:txEl>
                                          </p:spTgt>
                                        </p:tgtEl>
                                        <p:attrNameLst>
                                          <p:attrName>ppt_h</p:attrName>
                                        </p:attrNameLst>
                                      </p:cBhvr>
                                      <p:tavLst>
                                        <p:tav tm="0">
                                          <p:val>
                                            <p:fltVal val="0"/>
                                          </p:val>
                                        </p:tav>
                                        <p:tav tm="100000">
                                          <p:val>
                                            <p:strVal val="#ppt_h"/>
                                          </p:val>
                                        </p:tav>
                                      </p:tavLst>
                                    </p:anim>
                                    <p:anim calcmode="lin" valueType="num">
                                      <p:cBhvr>
                                        <p:cTn id="25" dur="1000" fill="hold"/>
                                        <p:tgtEl>
                                          <p:spTgt spid="3">
                                            <p:txEl>
                                              <p:pRg st="2" end="2"/>
                                            </p:txEl>
                                          </p:spTgt>
                                        </p:tgtEl>
                                        <p:attrNameLst>
                                          <p:attrName>style.rotation</p:attrName>
                                        </p:attrNameLst>
                                      </p:cBhvr>
                                      <p:tavLst>
                                        <p:tav tm="0">
                                          <p:val>
                                            <p:fltVal val="90"/>
                                          </p:val>
                                        </p:tav>
                                        <p:tav tm="100000">
                                          <p:val>
                                            <p:fltVal val="0"/>
                                          </p:val>
                                        </p:tav>
                                      </p:tavLst>
                                    </p:anim>
                                    <p:animEffect transition="in" filter="fade">
                                      <p:cBhvr>
                                        <p:cTn id="26" dur="1000"/>
                                        <p:tgtEl>
                                          <p:spTgt spid="3">
                                            <p:txEl>
                                              <p:pRg st="2" end="2"/>
                                            </p:txEl>
                                          </p:spTgt>
                                        </p:tgtEl>
                                      </p:cBhvr>
                                    </p:animEffect>
                                  </p:childTnLst>
                                </p:cTn>
                              </p:par>
                              <p:par>
                                <p:cTn id="27" presetID="31" presetClass="entr" presetSubtype="0" fill="hold" nodeType="with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 calcmode="lin" valueType="num">
                                      <p:cBhvr>
                                        <p:cTn id="29"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30"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31"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32" dur="1000"/>
                                        <p:tgtEl>
                                          <p:spTgt spid="3">
                                            <p:txEl>
                                              <p:pRg st="3" end="3"/>
                                            </p:txEl>
                                          </p:spTgt>
                                        </p:tgtEl>
                                      </p:cBhvr>
                                    </p:animEffect>
                                  </p:childTnLst>
                                </p:cTn>
                              </p:par>
                              <p:par>
                                <p:cTn id="33" presetID="31" presetClass="entr"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36"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37"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38" dur="1000"/>
                                        <p:tgtEl>
                                          <p:spTgt spid="3">
                                            <p:txEl>
                                              <p:pRg st="4" end="4"/>
                                            </p:txEl>
                                          </p:spTgt>
                                        </p:tgtEl>
                                      </p:cBhvr>
                                    </p:animEffect>
                                  </p:childTnLst>
                                </p:cTn>
                              </p:par>
                              <p:par>
                                <p:cTn id="39" presetID="31" presetClass="entr" presetSubtype="0" fill="hold" nodeType="with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p:cTn id="41" dur="1000" fill="hold"/>
                                        <p:tgtEl>
                                          <p:spTgt spid="3">
                                            <p:txEl>
                                              <p:pRg st="5" end="5"/>
                                            </p:txEl>
                                          </p:spTgt>
                                        </p:tgtEl>
                                        <p:attrNameLst>
                                          <p:attrName>ppt_w</p:attrName>
                                        </p:attrNameLst>
                                      </p:cBhvr>
                                      <p:tavLst>
                                        <p:tav tm="0">
                                          <p:val>
                                            <p:fltVal val="0"/>
                                          </p:val>
                                        </p:tav>
                                        <p:tav tm="100000">
                                          <p:val>
                                            <p:strVal val="#ppt_w"/>
                                          </p:val>
                                        </p:tav>
                                      </p:tavLst>
                                    </p:anim>
                                    <p:anim calcmode="lin" valueType="num">
                                      <p:cBhvr>
                                        <p:cTn id="42" dur="1000" fill="hold"/>
                                        <p:tgtEl>
                                          <p:spTgt spid="3">
                                            <p:txEl>
                                              <p:pRg st="5" end="5"/>
                                            </p:txEl>
                                          </p:spTgt>
                                        </p:tgtEl>
                                        <p:attrNameLst>
                                          <p:attrName>ppt_h</p:attrName>
                                        </p:attrNameLst>
                                      </p:cBhvr>
                                      <p:tavLst>
                                        <p:tav tm="0">
                                          <p:val>
                                            <p:fltVal val="0"/>
                                          </p:val>
                                        </p:tav>
                                        <p:tav tm="100000">
                                          <p:val>
                                            <p:strVal val="#ppt_h"/>
                                          </p:val>
                                        </p:tav>
                                      </p:tavLst>
                                    </p:anim>
                                    <p:anim calcmode="lin" valueType="num">
                                      <p:cBhvr>
                                        <p:cTn id="43" dur="1000" fill="hold"/>
                                        <p:tgtEl>
                                          <p:spTgt spid="3">
                                            <p:txEl>
                                              <p:pRg st="5" end="5"/>
                                            </p:txEl>
                                          </p:spTgt>
                                        </p:tgtEl>
                                        <p:attrNameLst>
                                          <p:attrName>style.rotation</p:attrName>
                                        </p:attrNameLst>
                                      </p:cBhvr>
                                      <p:tavLst>
                                        <p:tav tm="0">
                                          <p:val>
                                            <p:fltVal val="90"/>
                                          </p:val>
                                        </p:tav>
                                        <p:tav tm="100000">
                                          <p:val>
                                            <p:fltVal val="0"/>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2F3F6"/>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t>How can we understand important scientific phenomena?</a:t>
            </a:r>
          </a:p>
          <a:p>
            <a:r>
              <a:rPr lang="en-CA" dirty="0"/>
              <a:t>Our data</a:t>
            </a:r>
            <a:r>
              <a:rPr dirty="0"/>
              <a:t> live in </a:t>
            </a:r>
            <a:r>
              <a:rPr dirty="0" err="1"/>
              <a:t>Spaceland</a:t>
            </a:r>
            <a:r>
              <a:rPr dirty="0"/>
              <a:t>,</a:t>
            </a:r>
            <a:r>
              <a:rPr lang="en-CA" dirty="0"/>
              <a:t> sometimes high-D,</a:t>
            </a:r>
            <a:r>
              <a:rPr dirty="0"/>
              <a:t> but we plot in </a:t>
            </a:r>
            <a:r>
              <a:rPr lang="en-CA" dirty="0"/>
              <a:t>Plane</a:t>
            </a:r>
            <a:r>
              <a:rPr dirty="0"/>
              <a:t>land</a:t>
            </a:r>
          </a:p>
        </p:txBody>
      </p:sp>
      <p:sp>
        <p:nvSpPr>
          <p:cNvPr id="4" name="Slide Number Placeholder 4"/>
          <p:cNvSpPr>
            <a:spLocks noGrp="1"/>
          </p:cNvSpPr>
          <p:nvPr>
            <p:ph type="sldNum" sz="quarter" idx="12"/>
          </p:nvPr>
        </p:nvSpPr>
        <p:spPr/>
        <p:txBody>
          <a:bodyPr/>
          <a:lstStyle/>
          <a:p>
            <a:fld id="{9BFB2853-4965-4727-91C4-384EB30D99A4}" type="slidenum">
              <a:rPr lang="en-CA"/>
              <a:t>5</a:t>
            </a:fld>
            <a:endParaRPr lang="en-CA"/>
          </a:p>
        </p:txBody>
      </p:sp>
      <p:pic>
        <p:nvPicPr>
          <p:cNvPr id="6" name="Section 0 Flatland illustration" descr="Flatland illustration: a sphere rising through Planeland appears as circles of changing size.">
            <a:extLst>
              <a:ext uri="{FF2B5EF4-FFF2-40B4-BE49-F238E27FC236}">
                <a16:creationId xmlns:a16="http://schemas.microsoft.com/office/drawing/2014/main" id="{D9C3AAA9-CA9A-E23E-D92E-E6B699AD575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714500" y="127000"/>
            <a:ext cx="8763000" cy="2667000"/>
          </a:xfrm>
          <a:prstGeom prst="rect">
            <a:avLst/>
          </a:prstGeom>
        </p:spPr>
      </p:pic>
      <p:sp>
        <p:nvSpPr>
          <p:cNvPr id="7" name="Flatland illustration softening overlay">
            <a:extLst>
              <a:ext uri="{FF2B5EF4-FFF2-40B4-BE49-F238E27FC236}">
                <a16:creationId xmlns:a16="http://schemas.microsoft.com/office/drawing/2014/main" id="{F552B44C-F7FB-62C0-548F-6A2AB67C42C5}"/>
              </a:ext>
            </a:extLst>
          </p:cNvPr>
          <p:cNvSpPr/>
          <p:nvPr/>
        </p:nvSpPr>
        <p:spPr>
          <a:xfrm>
            <a:off x="1714500" y="127000"/>
            <a:ext cx="8763000" cy="2667000"/>
          </a:xfrm>
          <a:prstGeom prst="rect">
            <a:avLst/>
          </a:prstGeom>
          <a:solidFill>
            <a:srgbClr val="F2F3F6">
              <a:alpha val="3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solidFill>
                  <a:srgbClr val="C00000"/>
                </a:solidFill>
              </a:rPr>
              <a:t>#dataviz </a:t>
            </a:r>
            <a:r>
              <a:rPr lang="en-CA" dirty="0"/>
              <a:t>is the art of making plots </a:t>
            </a:r>
            <a:r>
              <a:rPr lang="en-CA" b="1" dirty="0"/>
              <a:t>informative</a:t>
            </a:r>
            <a:r>
              <a:rPr lang="en-CA" dirty="0"/>
              <a:t> (&amp; pretty!)</a:t>
            </a:r>
          </a:p>
          <a:p>
            <a:r>
              <a:rPr lang="en-CA" b="1" dirty="0"/>
              <a:t>Truth &amp; Beauty</a:t>
            </a:r>
            <a:r>
              <a:rPr lang="en-CA" dirty="0"/>
              <a:t>: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6</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5D,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
        <p:nvSpPr>
          <p:cNvPr id="7" name="Slide Number Placeholder 7"/>
          <p:cNvSpPr>
            <a:spLocks noGrp="1"/>
          </p:cNvSpPr>
          <p:nvPr>
            <p:ph type="sldNum" sz="quarter" idx="12"/>
          </p:nvPr>
        </p:nvSpPr>
        <p:spPr/>
        <p:txBody>
          <a:bodyPr/>
          <a:lstStyle/>
          <a:p>
            <a:fld id="{9BFB2853-4965-4727-91C4-384EB30D99A4}" type="slidenum">
              <a:rPr lang="en-CA"/>
              <a:t>7</a:t>
            </a:fld>
            <a:endParaRPr lang="en-CA"/>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
        <p:nvSpPr>
          <p:cNvPr id="6" name="Slide Number Placeholder 6"/>
          <p:cNvSpPr>
            <a:spLocks noGrp="1"/>
          </p:cNvSpPr>
          <p:nvPr>
            <p:ph type="sldNum" sz="quarter" idx="12"/>
          </p:nvPr>
        </p:nvSpPr>
        <p:spPr/>
        <p:txBody>
          <a:bodyPr/>
          <a:lstStyle/>
          <a:p>
            <a:fld id="{9BFB2853-4965-4727-91C4-384EB30D99A4}" type="slidenum">
              <a:rPr lang="en-CA"/>
              <a:t>8</a:t>
            </a:fld>
            <a:endParaRPr lang="en-CA"/>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beautiful &amp;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
        <p:nvSpPr>
          <p:cNvPr id="12" name="Slide Number Placeholder 12"/>
          <p:cNvSpPr>
            <a:spLocks noGrp="1"/>
          </p:cNvSpPr>
          <p:nvPr>
            <p:ph type="sldNum" sz="quarter" idx="12"/>
          </p:nvPr>
        </p:nvSpPr>
        <p:spPr/>
        <p:txBody>
          <a:bodyPr/>
          <a:lstStyle/>
          <a:p>
            <a:fld id="{9BFB2853-4965-4727-91C4-384EB30D99A4}" type="slidenum">
              <a:rPr lang="en-CA"/>
              <a:t>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Three penguins walking, with data ellipses">
            <a:extLst>
              <a:ext uri="{FF2B5EF4-FFF2-40B4-BE49-F238E27FC236}">
                <a16:creationId xmlns:a16="http://schemas.microsoft.com/office/drawing/2014/main" id="{3139B4EB-ECB5-A62E-A0B0-F5445F7851A8}"/>
              </a:ext>
            </a:extLst>
          </p:cNvPr>
          <p:cNvPicPr>
            <a:picLocks noChangeAspect="1"/>
          </p:cNvPicPr>
          <p:nvPr/>
        </p:nvPicPr>
        <p:blipFill>
          <a:blip r:embed="rId3"/>
          <a:stretch>
            <a:fillRect/>
          </a:stretch>
        </p:blipFill>
        <p:spPr>
          <a:xfrm>
            <a:off x="-3047" y="10"/>
            <a:ext cx="12191999" cy="6857990"/>
          </a:xfrm>
          <a:prstGeom prst="rect">
            <a:avLst/>
          </a:prstGeom>
        </p:spPr>
      </p:pic>
      <p:sp>
        <p:nvSpPr>
          <p:cNvPr id="11" name="Rectangle 10">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97280" y="325550"/>
            <a:ext cx="10058400" cy="3666482"/>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8000" dirty="0">
                <a:solidFill>
                  <a:srgbClr val="FFFFFF"/>
                </a:solidFill>
              </a:rPr>
              <a:t>Seeing multivariate data</a:t>
            </a:r>
          </a:p>
        </p:txBody>
      </p:sp>
      <p:sp>
        <p:nvSpPr>
          <p:cNvPr id="3" name="Text Placeholder 2"/>
          <p:cNvSpPr>
            <a:spLocks noGrp="1"/>
          </p:cNvSpPr>
          <p:nvPr>
            <p:ph type="body" idx="1"/>
          </p:nvPr>
        </p:nvSpPr>
        <p:spPr>
          <a:xfrm>
            <a:off x="1097280" y="6007100"/>
            <a:ext cx="10058400" cy="645355"/>
          </a:xfrm>
          <a:effectLst>
            <a:outerShdw blurRad="50800" dist="38100" dir="2700000" algn="tl" rotWithShape="0">
              <a:prstClr val="black">
                <a:alpha val="40000"/>
              </a:prstClr>
            </a:outerShdw>
          </a:effectLst>
        </p:spPr>
        <p:txBody>
          <a:bodyPr vert="horz" lIns="91440" tIns="45720" rIns="91440" bIns="45720" rtlCol="0">
            <a:normAutofit/>
          </a:bodyPr>
          <a:lstStyle/>
          <a:p>
            <a:pPr algn="ctr"/>
            <a:r>
              <a:rPr lang="en-US" sz="2800" dirty="0">
                <a:solidFill>
                  <a:schemeClr val="tx1"/>
                </a:solidFill>
              </a:rPr>
              <a:t>Data ellipses, penguins, and looking at many variables at once</a:t>
            </a:r>
          </a:p>
        </p:txBody>
      </p:sp>
      <p:pic>
        <p:nvPicPr>
          <p:cNvPr id="5" name="Picture 4" descr="fig-peng-ggplot1-1.png">
            <a:extLst>
              <a:ext uri="{FF2B5EF4-FFF2-40B4-BE49-F238E27FC236}">
                <a16:creationId xmlns:a16="http://schemas.microsoft.com/office/drawing/2014/main" id="{6E39EAD4-0504-7D4A-931A-1C933D3D21A2}"/>
              </a:ext>
            </a:extLst>
          </p:cNvPr>
          <p:cNvPicPr>
            <a:picLocks noChangeAspect="1"/>
          </p:cNvPicPr>
          <p:nvPr/>
        </p:nvPicPr>
        <p:blipFill>
          <a:blip r:embed="rId4"/>
          <a:stretch>
            <a:fillRect/>
          </a:stretch>
        </p:blipFill>
        <p:spPr>
          <a:xfrm>
            <a:off x="348488" y="424820"/>
            <a:ext cx="2178932" cy="1556380"/>
          </a:xfrm>
          <a:prstGeom prst="rect">
            <a:avLst/>
          </a:prstGeom>
        </p:spPr>
      </p:pic>
      <p:pic>
        <p:nvPicPr>
          <p:cNvPr id="7" name="Picture 6">
            <a:extLst>
              <a:ext uri="{FF2B5EF4-FFF2-40B4-BE49-F238E27FC236}">
                <a16:creationId xmlns:a16="http://schemas.microsoft.com/office/drawing/2014/main" id="{C93F1C11-5B63-1B14-ECC3-A5F3A8898BDD}"/>
              </a:ext>
            </a:extLst>
          </p:cNvPr>
          <p:cNvPicPr>
            <a:picLocks noChangeAspect="1"/>
          </p:cNvPicPr>
          <p:nvPr/>
        </p:nvPicPr>
        <p:blipFill>
          <a:blip r:embed="rId5"/>
          <a:stretch>
            <a:fillRect/>
          </a:stretch>
        </p:blipFill>
        <p:spPr>
          <a:xfrm>
            <a:off x="10209005" y="4083276"/>
            <a:ext cx="1771429" cy="1809524"/>
          </a:xfrm>
          <a:prstGeom prst="rect">
            <a:avLst/>
          </a:prstGeom>
        </p:spPr>
      </p:pic>
      <p:sp>
        <p:nvSpPr>
          <p:cNvPr id="14" name="Slide Number Placeholder 14"/>
          <p:cNvSpPr>
            <a:spLocks noGrp="1"/>
          </p:cNvSpPr>
          <p:nvPr>
            <p:ph type="sldNum" sz="quarter" idx="12"/>
          </p:nvPr>
        </p:nvSpPr>
        <p:spPr/>
        <p:txBody>
          <a:bodyPr/>
          <a:lstStyle/>
          <a:p>
            <a:fld id="{9BFB2853-4965-4727-91C4-384EB30D99A4}" type="slidenum">
              <a:rPr lang="en-CA"/>
              <a:t>10</a:t>
            </a:fld>
            <a:endParaRPr lang="en-CA"/>
          </a:p>
        </p:txBody>
      </p:sp>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
        <p:nvSpPr>
          <p:cNvPr id="78852" name="Slide Number Placeholder 78852"/>
          <p:cNvSpPr>
            <a:spLocks noGrp="1"/>
          </p:cNvSpPr>
          <p:nvPr>
            <p:ph type="sldNum" sz="quarter" idx="12"/>
          </p:nvPr>
        </p:nvSpPr>
        <p:spPr/>
        <p:txBody>
          <a:bodyPr/>
          <a:lstStyle/>
          <a:p>
            <a:fld id="{9BFB2853-4965-4727-91C4-384EB30D99A4}" type="slidenum">
              <a:rPr lang="en-CA"/>
              <a:t>11</a:t>
            </a:fld>
            <a:endParaRPr lang="en-CA"/>
          </a:p>
        </p:txBody>
      </p:sp>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a:xfrm>
            <a:off x="684882" y="327024"/>
            <a:ext cx="8229600" cy="793438"/>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
        <p:nvSpPr>
          <p:cNvPr id="80900" name="Slide Number Placeholder 80900"/>
          <p:cNvSpPr>
            <a:spLocks noGrp="1"/>
          </p:cNvSpPr>
          <p:nvPr>
            <p:ph type="sldNum" sz="quarter" idx="12"/>
          </p:nvPr>
        </p:nvSpPr>
        <p:spPr/>
        <p:txBody>
          <a:bodyPr/>
          <a:lstStyle/>
          <a:p>
            <a:fld id="{9BFB2853-4965-4727-91C4-384EB30D99A4}" type="slidenum">
              <a:rPr lang="en-CA"/>
              <a:t>12</a:t>
            </a:fld>
            <a:endParaRPr lang="en-CA"/>
          </a:p>
        </p:txBody>
      </p:sp>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ChangeArrowheads="1"/>
          </p:cNvSpPr>
          <p:nvPr>
            <p:ph type="title"/>
          </p:nvPr>
        </p:nvSpPr>
        <p:spPr>
          <a:xfrm>
            <a:off x="650082" y="466726"/>
            <a:ext cx="8229600" cy="731372"/>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
        <p:nvSpPr>
          <p:cNvPr id="82952" name="Slide Number Placeholder 82952"/>
          <p:cNvSpPr>
            <a:spLocks noGrp="1"/>
          </p:cNvSpPr>
          <p:nvPr>
            <p:ph type="sldNum" sz="quarter" idx="12"/>
          </p:nvPr>
        </p:nvSpPr>
        <p:spPr/>
        <p:txBody>
          <a:bodyPr/>
          <a:lstStyle/>
          <a:p>
            <a:fld id="{9BFB2853-4965-4727-91C4-384EB30D99A4}" type="slidenum">
              <a:rPr lang="en-CA"/>
              <a:t>13</a:t>
            </a:fld>
            <a:endParaRPr lang="en-CA"/>
          </a:p>
        </p:txBody>
      </p:sp>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35386"/>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precision;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Slide Number Placeholder 8"/>
          <p:cNvSpPr>
            <a:spLocks noGrp="1"/>
          </p:cNvSpPr>
          <p:nvPr>
            <p:ph type="sldNum" sz="quarter" idx="12"/>
          </p:nvPr>
        </p:nvSpPr>
        <p:spPr/>
        <p:txBody>
          <a:bodyPr/>
          <a:lstStyle/>
          <a:p>
            <a:fld id="{9BFB2853-4965-4727-91C4-384EB30D99A4}" type="slidenum">
              <a:rPr lang="en-CA"/>
              <a:t>14</a:t>
            </a:fld>
            <a:endParaRPr lang="en-CA"/>
          </a:p>
        </p:txBody>
      </p:sp>
      <p:sp>
        <p:nvSpPr>
          <p:cNvPr id="4" name="TextBox 3">
            <a:extLst>
              <a:ext uri="{FF2B5EF4-FFF2-40B4-BE49-F238E27FC236}">
                <a16:creationId xmlns:a16="http://schemas.microsoft.com/office/drawing/2014/main" id="{A77FE8ED-10AA-0457-1A28-238B03B528CD}"/>
              </a:ext>
            </a:extLst>
          </p:cNvPr>
          <p:cNvSpPr txBox="1"/>
          <p:nvPr/>
        </p:nvSpPr>
        <p:spPr>
          <a:xfrm>
            <a:off x="6646683" y="4059082"/>
            <a:ext cx="669702" cy="338554"/>
          </a:xfrm>
          <a:prstGeom prst="rect">
            <a:avLst/>
          </a:prstGeom>
          <a:noFill/>
        </p:spPr>
        <p:txBody>
          <a:bodyPr wrap="square" rtlCol="0">
            <a:spAutoFit/>
          </a:bodyPr>
          <a:lstStyle/>
          <a:p>
            <a:pPr algn="ctr"/>
            <a:r>
              <a:rPr lang="en-CA" sz="1600" b="1" dirty="0">
                <a:solidFill>
                  <a:srgbClr val="0070C0"/>
                </a:solidFill>
              </a:rPr>
              <a:t>40%</a:t>
            </a:r>
          </a:p>
        </p:txBody>
      </p:sp>
      <p:sp>
        <p:nvSpPr>
          <p:cNvPr id="10" name="TextBox 9">
            <a:extLst>
              <a:ext uri="{FF2B5EF4-FFF2-40B4-BE49-F238E27FC236}">
                <a16:creationId xmlns:a16="http://schemas.microsoft.com/office/drawing/2014/main" id="{A70DFDF0-1802-D0F9-BD4D-2F54630A83DC}"/>
              </a:ext>
            </a:extLst>
          </p:cNvPr>
          <p:cNvSpPr txBox="1"/>
          <p:nvPr/>
        </p:nvSpPr>
        <p:spPr>
          <a:xfrm>
            <a:off x="8019580" y="3811432"/>
            <a:ext cx="669702" cy="338554"/>
          </a:xfrm>
          <a:prstGeom prst="rect">
            <a:avLst/>
          </a:prstGeom>
          <a:noFill/>
        </p:spPr>
        <p:txBody>
          <a:bodyPr wrap="square" rtlCol="0">
            <a:spAutoFit/>
          </a:bodyPr>
          <a:lstStyle/>
          <a:p>
            <a:pPr algn="ctr"/>
            <a:r>
              <a:rPr lang="en-CA" sz="1600" b="1" dirty="0">
                <a:solidFill>
                  <a:srgbClr val="FF0000"/>
                </a:solidFill>
              </a:rPr>
              <a:t>68%</a:t>
            </a:r>
          </a:p>
        </p:txBody>
      </p:sp>
      <p:sp>
        <p:nvSpPr>
          <p:cNvPr id="12" name="TextBox 11">
            <a:extLst>
              <a:ext uri="{FF2B5EF4-FFF2-40B4-BE49-F238E27FC236}">
                <a16:creationId xmlns:a16="http://schemas.microsoft.com/office/drawing/2014/main" id="{CFA85B36-96D9-C8EB-B449-2D8C35545C83}"/>
              </a:ext>
            </a:extLst>
          </p:cNvPr>
          <p:cNvSpPr txBox="1"/>
          <p:nvPr/>
        </p:nvSpPr>
        <p:spPr>
          <a:xfrm>
            <a:off x="8853571" y="3429000"/>
            <a:ext cx="669702" cy="338554"/>
          </a:xfrm>
          <a:prstGeom prst="rect">
            <a:avLst/>
          </a:prstGeom>
          <a:noFill/>
        </p:spPr>
        <p:txBody>
          <a:bodyPr wrap="square" rtlCol="0">
            <a:spAutoFit/>
          </a:bodyPr>
          <a:lstStyle/>
          <a:p>
            <a:pPr algn="ctr"/>
            <a:r>
              <a:rPr lang="en-CA" sz="1600" b="1" dirty="0"/>
              <a:t>95%</a:t>
            </a:r>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5E74599-60B8-D4F2-07BA-54E00DEC44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39684" y="936307"/>
            <a:ext cx="2342959" cy="1508125"/>
          </a:xfrm>
          <a:prstGeom prst="rect">
            <a:avLst/>
          </a:prstGeom>
        </p:spPr>
      </p:pic>
      <p:sp>
        <p:nvSpPr>
          <p:cNvPr id="2" name="Title 1"/>
          <p:cNvSpPr>
            <a:spLocks noGrp="1"/>
          </p:cNvSpPr>
          <p:nvPr>
            <p:ph type="title"/>
          </p:nvPr>
        </p:nvSpPr>
        <p:spPr>
          <a:xfrm>
            <a:off x="838200" y="365125"/>
            <a:ext cx="4789868" cy="1143000"/>
          </a:xfrm>
        </p:spPr>
        <p:txBody>
          <a:bodyPr/>
          <a:lstStyle/>
          <a:p>
            <a:r>
              <a:rPr dirty="0"/>
              <a:t>Meet the penguins</a:t>
            </a:r>
          </a:p>
        </p:txBody>
      </p:sp>
      <p:pic>
        <p:nvPicPr>
          <p:cNvPr id="3" name="Picture 2" descr="penguins-horst.png"/>
          <p:cNvPicPr>
            <a:picLocks noChangeAspect="1"/>
          </p:cNvPicPr>
          <p:nvPr/>
        </p:nvPicPr>
        <p:blipFill>
          <a:blip r:embed="rId4"/>
          <a:stretch>
            <a:fillRect/>
          </a:stretch>
        </p:blipFill>
        <p:spPr>
          <a:xfrm>
            <a:off x="725337" y="2129942"/>
            <a:ext cx="5120640" cy="3055315"/>
          </a:xfrm>
          <a:prstGeom prst="rect">
            <a:avLst/>
          </a:prstGeom>
        </p:spPr>
      </p:pic>
      <p:pic>
        <p:nvPicPr>
          <p:cNvPr id="4" name="Picture 3" descr="fig-peng-ggplot1-1.png"/>
          <p:cNvPicPr>
            <a:picLocks noChangeAspect="1"/>
          </p:cNvPicPr>
          <p:nvPr/>
        </p:nvPicPr>
        <p:blipFill>
          <a:blip r:embed="rId5"/>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
        <p:nvSpPr>
          <p:cNvPr id="7" name="Slide Number Placeholder 7"/>
          <p:cNvSpPr>
            <a:spLocks noGrp="1"/>
          </p:cNvSpPr>
          <p:nvPr>
            <p:ph type="sldNum" sz="quarter" idx="12"/>
          </p:nvPr>
        </p:nvSpPr>
        <p:spPr/>
        <p:txBody>
          <a:bodyPr/>
          <a:lstStyle/>
          <a:p>
            <a:fld id="{9BFB2853-4965-4727-91C4-384EB30D99A4}" type="slidenum">
              <a:rPr lang="en-CA"/>
              <a:t>15</a:t>
            </a:fld>
            <a:endParaRPr lang="en-CA"/>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663432"/>
            <a:ext cx="10360007" cy="1323439"/>
          </a:xfrm>
          <a:prstGeom prst="rect">
            <a:avLst/>
          </a:prstGeom>
          <a:noFill/>
        </p:spPr>
        <p:txBody>
          <a:bodyPr wrap="square" rtlCol="0">
            <a:spAutoFit/>
          </a:bodyPr>
          <a:lstStyle/>
          <a:p>
            <a:r>
              <a:rPr lang="en-CA" sz="2000" dirty="0"/>
              <a:t>Plot annotations are </a:t>
            </a:r>
            <a:r>
              <a:rPr lang="en-CA" sz="2000" b="1" dirty="0"/>
              <a:t>visual summaries </a:t>
            </a:r>
            <a:r>
              <a:rPr lang="en-CA" sz="2000" dirty="0"/>
              <a:t>(ellipse, regression line, conf. band)</a:t>
            </a:r>
          </a:p>
          <a:p>
            <a:pPr marL="285750" indent="-285750">
              <a:buFont typeface="Arial" panose="020B0604020202020204" pitchFamily="34" charset="0"/>
              <a:buChar char="•"/>
            </a:pPr>
            <a:r>
              <a:rPr lang="en-CA" sz="2000" dirty="0"/>
              <a:t>Add </a:t>
            </a:r>
            <a:r>
              <a:rPr lang="en-CA" sz="2000" b="1" dirty="0"/>
              <a:t>data ellipses </a:t>
            </a:r>
            <a:r>
              <a:rPr lang="en-CA" sz="2000" dirty="0"/>
              <a:t>to show w/in group means &amp; scatter (sufficient for N(</a:t>
            </a:r>
            <a:r>
              <a:rPr lang="en-CA" sz="2000" b="1" dirty="0"/>
              <a:t>µ, </a:t>
            </a:r>
            <a:r>
              <a:rPr lang="el-GR" sz="2000" b="1" dirty="0">
                <a:latin typeface="Cambria Math" panose="02040503050406030204" pitchFamily="18" charset="0"/>
                <a:ea typeface="Cambria Math" panose="02040503050406030204" pitchFamily="18" charset="0"/>
              </a:rPr>
              <a:t>Σ</a:t>
            </a:r>
            <a:r>
              <a:rPr lang="en-CA" sz="2000" dirty="0">
                <a:latin typeface="Cambria Math" panose="02040503050406030204" pitchFamily="18" charset="0"/>
                <a:ea typeface="Cambria Math" panose="02040503050406030204" pitchFamily="18" charset="0"/>
              </a:rPr>
              <a:t>))</a:t>
            </a:r>
            <a:endParaRPr lang="en-CA" sz="2000" dirty="0"/>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p:nvPr/>
        </p:nvGrpSpPr>
        <p:grpSpPr>
          <a:xfrm>
            <a:off x="1788460" y="3127935"/>
            <a:ext cx="2599710" cy="3240000"/>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772134" y="3127935"/>
            <a:ext cx="2599713" cy="324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2" y="3127935"/>
            <a:ext cx="2599713" cy="324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
        <p:nvSpPr>
          <p:cNvPr id="15" name="Slide Number Placeholder 15"/>
          <p:cNvSpPr>
            <a:spLocks noGrp="1"/>
          </p:cNvSpPr>
          <p:nvPr>
            <p:ph type="sldNum" sz="quarter" idx="12"/>
          </p:nvPr>
        </p:nvSpPr>
        <p:spPr/>
        <p:txBody>
          <a:bodyPr/>
          <a:lstStyle/>
          <a:p>
            <a:fld id="{9BFB2853-4965-4727-91C4-384EB30D99A4}" type="slidenum">
              <a:rPr lang="en-CA"/>
              <a:t>16</a:t>
            </a:fld>
            <a:endParaRPr lang="en-CA"/>
          </a:p>
        </p:txBody>
      </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0" end="0"/>
                                            </p:txEl>
                                          </p:spTgt>
                                        </p:tgtEl>
                                        <p:attrNameLst>
                                          <p:attrName>style.visibility</p:attrName>
                                        </p:attrNameLst>
                                      </p:cBhvr>
                                      <p:to>
                                        <p:strVal val="visible"/>
                                      </p:to>
                                    </p:set>
                                  </p:childTnLst>
                                </p:cTn>
                              </p:par>
                              <p:par>
                                <p:cTn id="11" presetID="42"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ppt_x</p:attrName>
                                        </p:attrNameLst>
                                      </p:cBhvr>
                                      <p:tavLst>
                                        <p:tav tm="0">
                                          <p:val>
                                            <p:strVal val="#ppt_x"/>
                                          </p:val>
                                        </p:tav>
                                        <p:tav tm="100000">
                                          <p:val>
                                            <p:strVal val="#ppt_x"/>
                                          </p:val>
                                        </p:tav>
                                      </p:tavLst>
                                    </p:anim>
                                    <p:anim calcmode="lin" valueType="num">
                                      <p:cBhvr>
                                        <p:cTn id="15"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1">
                                            <p:txEl>
                                              <p:pRg st="2" end="2"/>
                                            </p:txEl>
                                          </p:spTgt>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childTnLst>
                                </p:cTn>
                              </p:par>
                              <p:par>
                                <p:cTn id="22" presetID="42" presetClass="entr" presetSubtype="0" fill="hold"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1000"/>
                                        <p:tgtEl>
                                          <p:spTgt spid="7"/>
                                        </p:tgtEl>
                                      </p:cBhvr>
                                    </p:animEffect>
                                    <p:anim calcmode="lin" valueType="num">
                                      <p:cBhvr>
                                        <p:cTn id="25" dur="1000" fill="hold"/>
                                        <p:tgtEl>
                                          <p:spTgt spid="7"/>
                                        </p:tgtEl>
                                        <p:attrNameLst>
                                          <p:attrName>ppt_x</p:attrName>
                                        </p:attrNameLst>
                                      </p:cBhvr>
                                      <p:tavLst>
                                        <p:tav tm="0">
                                          <p:val>
                                            <p:strVal val="#ppt_x"/>
                                          </p:val>
                                        </p:tav>
                                        <p:tav tm="100000">
                                          <p:val>
                                            <p:strVal val="#ppt_x"/>
                                          </p:val>
                                        </p:tav>
                                      </p:tavLst>
                                    </p:anim>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471160" cy="610235"/>
          </a:xfrm>
        </p:spPr>
        <p:txBody>
          <a:bodyPr>
            <a:normAutofit fontScale="90000"/>
          </a:bodyPr>
          <a:lstStyle/>
          <a:p>
            <a:r>
              <a:rPr dirty="0"/>
              <a:t>What if I'm not Normal?</a:t>
            </a:r>
          </a:p>
        </p:txBody>
      </p:sp>
      <p:grpSp>
        <p:nvGrpSpPr>
          <p:cNvPr id="8" name="Group 7">
            <a:extLst>
              <a:ext uri="{FF2B5EF4-FFF2-40B4-BE49-F238E27FC236}">
                <a16:creationId xmlns:a16="http://schemas.microsoft.com/office/drawing/2014/main" id="{96FE6B5C-712E-4A04-D7B2-10CF77D7153A}"/>
              </a:ext>
            </a:extLst>
          </p:cNvPr>
          <p:cNvGrpSpPr/>
          <p:nvPr/>
        </p:nvGrpSpPr>
        <p:grpSpPr>
          <a:xfrm>
            <a:off x="841248" y="1264920"/>
            <a:ext cx="5568696" cy="4434839"/>
            <a:chOff x="841248" y="1600200"/>
            <a:chExt cx="5568696" cy="4434839"/>
          </a:xfrm>
        </p:grpSpPr>
        <p:pic>
          <p:nvPicPr>
            <p:cNvPr id="3" name="Bagplot" descr="fig-peng-bagplot-1.png"/>
            <p:cNvPicPr>
              <a:picLocks noChangeAspect="1"/>
            </p:cNvPicPr>
            <p:nvPr/>
          </p:nvPicPr>
          <p:blipFill>
            <a:blip r:embed="rId3"/>
            <a:stretch>
              <a:fillRect/>
            </a:stretch>
          </p:blipFill>
          <p:spPr>
            <a:xfrm>
              <a:off x="841248" y="2057400"/>
              <a:ext cx="5568696" cy="3977639"/>
            </a:xfrm>
            <a:prstGeom prst="rect">
              <a:avLst/>
            </a:prstGeom>
          </p:spPr>
        </p:pic>
        <p:sp>
          <p:nvSpPr>
            <p:cNvPr id="5" name="Label bagplot"/>
            <p:cNvSpPr txBox="1"/>
            <p:nvPr/>
          </p:nvSpPr>
          <p:spPr>
            <a:xfrm>
              <a:off x="841248" y="1600200"/>
              <a:ext cx="5568696" cy="411480"/>
            </a:xfrm>
            <a:prstGeom prst="rect">
              <a:avLst/>
            </a:prstGeom>
            <a:noFill/>
          </p:spPr>
          <p:txBody>
            <a:bodyPr wrap="none" lIns="0" rIns="0">
              <a:spAutoFit/>
            </a:bodyPr>
            <a:lstStyle/>
            <a:p>
              <a:pPr algn="ctr"/>
              <a:r>
                <a:rPr sz="2200" b="1" dirty="0" err="1">
                  <a:latin typeface="Consolas"/>
                </a:rPr>
                <a:t>gggda</a:t>
              </a:r>
              <a:r>
                <a:rPr sz="2200" b="1" dirty="0">
                  <a:latin typeface="Consolas"/>
                </a:rPr>
                <a:t>::</a:t>
              </a:r>
              <a:r>
                <a:rPr sz="2200" b="1" dirty="0" err="1">
                  <a:latin typeface="Consolas"/>
                </a:rPr>
                <a:t>geom_bagplot</a:t>
              </a:r>
              <a:r>
                <a:rPr sz="2200" b="1" dirty="0">
                  <a:latin typeface="Consolas"/>
                </a:rPr>
                <a:t>()</a:t>
              </a:r>
            </a:p>
          </p:txBody>
        </p:sp>
      </p:grpSp>
      <p:grpSp>
        <p:nvGrpSpPr>
          <p:cNvPr id="9" name="Group 8">
            <a:extLst>
              <a:ext uri="{FF2B5EF4-FFF2-40B4-BE49-F238E27FC236}">
                <a16:creationId xmlns:a16="http://schemas.microsoft.com/office/drawing/2014/main" id="{30FD26DA-DF6B-7E03-9FCB-CAAEAAA07D79}"/>
              </a:ext>
            </a:extLst>
          </p:cNvPr>
          <p:cNvGrpSpPr/>
          <p:nvPr/>
        </p:nvGrpSpPr>
        <p:grpSpPr>
          <a:xfrm>
            <a:off x="6775704" y="1264920"/>
            <a:ext cx="4387102" cy="4434839"/>
            <a:chOff x="6775704" y="1600200"/>
            <a:chExt cx="4387102" cy="4434839"/>
          </a:xfrm>
        </p:grpSpPr>
        <p:pic>
          <p:nvPicPr>
            <p:cNvPr id="4" name="HDR" descr="peng-hdr-panel.png"/>
            <p:cNvPicPr>
              <a:picLocks noChangeAspect="1"/>
            </p:cNvPicPr>
            <p:nvPr/>
          </p:nvPicPr>
          <p:blipFill>
            <a:blip r:embed="rId4"/>
            <a:stretch>
              <a:fillRect/>
            </a:stretch>
          </p:blipFill>
          <p:spPr>
            <a:xfrm>
              <a:off x="6775704" y="2057400"/>
              <a:ext cx="4387102" cy="3977639"/>
            </a:xfrm>
            <a:prstGeom prst="rect">
              <a:avLst/>
            </a:prstGeom>
          </p:spPr>
        </p:pic>
        <p:sp>
          <p:nvSpPr>
            <p:cNvPr id="6" name="Label hdr"/>
            <p:cNvSpPr txBox="1"/>
            <p:nvPr/>
          </p:nvSpPr>
          <p:spPr>
            <a:xfrm>
              <a:off x="6775704" y="1600200"/>
              <a:ext cx="4387102" cy="411480"/>
            </a:xfrm>
            <a:prstGeom prst="rect">
              <a:avLst/>
            </a:prstGeom>
            <a:noFill/>
          </p:spPr>
          <p:txBody>
            <a:bodyPr wrap="none" lIns="0" rIns="0">
              <a:spAutoFit/>
            </a:bodyPr>
            <a:lstStyle/>
            <a:p>
              <a:pPr algn="ctr"/>
              <a:r>
                <a:rPr sz="2200" b="1" dirty="0" err="1">
                  <a:latin typeface="Consolas"/>
                </a:rPr>
                <a:t>ggdensity</a:t>
              </a:r>
              <a:r>
                <a:rPr sz="2200" b="1" dirty="0">
                  <a:latin typeface="Consolas"/>
                </a:rPr>
                <a:t>::</a:t>
              </a:r>
              <a:r>
                <a:rPr sz="2200" b="1" dirty="0" err="1">
                  <a:latin typeface="Consolas"/>
                </a:rPr>
                <a:t>geom_hdr</a:t>
              </a:r>
              <a:r>
                <a:rPr sz="2200" b="1" dirty="0">
                  <a:latin typeface="Consolas"/>
                </a:rPr>
                <a:t>()</a:t>
              </a:r>
            </a:p>
          </p:txBody>
        </p:sp>
      </p:grpSp>
      <p:sp>
        <p:nvSpPr>
          <p:cNvPr id="7"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4.21, 4.22</a:t>
            </a:r>
          </a:p>
        </p:txBody>
      </p:sp>
      <p:sp>
        <p:nvSpPr>
          <p:cNvPr id="10" name="TextBox 9">
            <a:extLst>
              <a:ext uri="{FF2B5EF4-FFF2-40B4-BE49-F238E27FC236}">
                <a16:creationId xmlns:a16="http://schemas.microsoft.com/office/drawing/2014/main" id="{48F2FAAE-DE0D-5C94-D28A-0B87FDF080EE}"/>
              </a:ext>
            </a:extLst>
          </p:cNvPr>
          <p:cNvSpPr txBox="1"/>
          <p:nvPr/>
        </p:nvSpPr>
        <p:spPr>
          <a:xfrm>
            <a:off x="6409944" y="459740"/>
            <a:ext cx="5379720" cy="369332"/>
          </a:xfrm>
          <a:prstGeom prst="rect">
            <a:avLst/>
          </a:prstGeom>
          <a:noFill/>
        </p:spPr>
        <p:txBody>
          <a:bodyPr wrap="square" rtlCol="0">
            <a:spAutoFit/>
          </a:bodyPr>
          <a:lstStyle/>
          <a:p>
            <a:r>
              <a:rPr lang="en-CA" dirty="0"/>
              <a:t>Don’t worry: there are non-parametric alternatives</a:t>
            </a:r>
          </a:p>
        </p:txBody>
      </p:sp>
      <p:sp>
        <p:nvSpPr>
          <p:cNvPr id="11" name="TextBox 10">
            <a:extLst>
              <a:ext uri="{FF2B5EF4-FFF2-40B4-BE49-F238E27FC236}">
                <a16:creationId xmlns:a16="http://schemas.microsoft.com/office/drawing/2014/main" id="{6CF2FA7F-2D02-2C0C-6B3A-58CEA7D80EDF}"/>
              </a:ext>
            </a:extLst>
          </p:cNvPr>
          <p:cNvSpPr txBox="1"/>
          <p:nvPr/>
        </p:nvSpPr>
        <p:spPr>
          <a:xfrm>
            <a:off x="1290320" y="5699759"/>
            <a:ext cx="9692640" cy="655321"/>
          </a:xfrm>
          <a:prstGeom prst="rect">
            <a:avLst/>
          </a:prstGeom>
          <a:noFill/>
        </p:spPr>
        <p:txBody>
          <a:bodyPr wrap="square" rtlCol="0">
            <a:spAutoFit/>
          </a:bodyPr>
          <a:lstStyle/>
          <a:p>
            <a:r>
              <a:rPr lang="en-CA" dirty="0"/>
              <a:t>Bags and high-density regions don't assume normality, yet for the penguins they come out nearly elliptical</a:t>
            </a:r>
          </a:p>
        </p:txBody>
      </p:sp>
      <p:sp>
        <p:nvSpPr>
          <p:cNvPr id="12" name="Slide Number Placeholder 12"/>
          <p:cNvSpPr>
            <a:spLocks noGrp="1"/>
          </p:cNvSpPr>
          <p:nvPr>
            <p:ph type="sldNum" sz="quarter" idx="12"/>
          </p:nvPr>
        </p:nvSpPr>
        <p:spPr/>
        <p:txBody>
          <a:bodyPr/>
          <a:lstStyle/>
          <a:p>
            <a:fld id="{9BFB2853-4965-4727-91C4-384EB30D99A4}" type="slidenum">
              <a:rPr lang="en-CA"/>
              <a:t>17</a:t>
            </a:fld>
            <a:endParaRPr lang="en-CA"/>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
        <p:nvSpPr>
          <p:cNvPr id="10" name="Slide Number Placeholder 10"/>
          <p:cNvSpPr>
            <a:spLocks noGrp="1"/>
          </p:cNvSpPr>
          <p:nvPr>
            <p:ph type="sldNum" sz="quarter" idx="12"/>
          </p:nvPr>
        </p:nvSpPr>
        <p:spPr/>
        <p:txBody>
          <a:bodyPr/>
          <a:lstStyle/>
          <a:p>
            <a:fld id="{9BFB2853-4965-4727-91C4-384EB30D99A4}" type="slidenum">
              <a:rPr lang="en-CA"/>
              <a:t>18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
        <p:nvSpPr>
          <p:cNvPr id="6" name="Slide Number Placeholder 6"/>
          <p:cNvSpPr>
            <a:spLocks noGrp="1"/>
          </p:cNvSpPr>
          <p:nvPr>
            <p:ph type="sldNum" sz="quarter" idx="12"/>
          </p:nvPr>
        </p:nvSpPr>
        <p:spPr/>
        <p:txBody>
          <a:bodyPr/>
          <a:lstStyle/>
          <a:p>
            <a:fld id="{9BFB2853-4965-4727-91C4-384EB30D99A4}" type="slidenum">
              <a:rPr lang="en-CA"/>
              <a:t>19</a:t>
            </a:fld>
            <a:endParaRPr lang="en-CA"/>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20</a:t>
            </a:fld>
            <a:endParaRPr lang="en-CA"/>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751037" y="1622742"/>
            <a:ext cx="5897879"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6844553" y="1691148"/>
            <a:ext cx="4678853" cy="2862322"/>
          </a:xfrm>
          <a:prstGeom prst="rect">
            <a:avLst/>
          </a:prstGeom>
          <a:noFill/>
        </p:spPr>
        <p:txBody>
          <a:bodyPr wrap="square" rtlCol="0">
            <a:spAutoFit/>
          </a:bodyPr>
          <a:lstStyle/>
          <a:p>
            <a:r>
              <a:rPr lang="en-CA" sz="2000" dirty="0"/>
              <a:t>Each observation is a line across the variable axes</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endParaRPr lang="en-CA" sz="2000" dirty="0"/>
          </a:p>
          <a:p>
            <a:r>
              <a:rPr lang="en-CA" sz="2000" dirty="0"/>
              <a:t>Using this interactively could make a tool for understanding</a:t>
            </a:r>
          </a:p>
        </p:txBody>
      </p:sp>
      <p:sp>
        <p:nvSpPr>
          <p:cNvPr id="7" name="Slide Number Placeholder 7"/>
          <p:cNvSpPr>
            <a:spLocks noGrp="1"/>
          </p:cNvSpPr>
          <p:nvPr>
            <p:ph type="sldNum" sz="quarter" idx="12"/>
          </p:nvPr>
        </p:nvSpPr>
        <p:spPr/>
        <p:txBody>
          <a:bodyPr/>
          <a:lstStyle/>
          <a:p>
            <a:fld id="{9BFB2853-4965-4727-91C4-384EB30D99A4}" type="slidenum">
              <a:rPr lang="en-CA"/>
              <a:t>21</a:t>
            </a:fld>
            <a:endParaRPr lang="en-CA"/>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r>
              <a:rPr lang="en-CA" dirty="0"/>
              <a:t> (</a:t>
            </a:r>
            <a:r>
              <a:rPr lang="en-CA" b="1" dirty="0" err="1">
                <a:latin typeface="Consolas" panose="020B0609020204030204" pitchFamily="49" charset="0"/>
              </a:rPr>
              <a:t>tourr</a:t>
            </a:r>
            <a:r>
              <a:rPr lang="en-CA" dirty="0"/>
              <a:t> pkg)</a:t>
            </a:r>
            <a:endParaRPr dirty="0"/>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
        <p:nvSpPr>
          <p:cNvPr id="5" name="Slide Number Placeholder 5"/>
          <p:cNvSpPr>
            <a:spLocks noGrp="1"/>
          </p:cNvSpPr>
          <p:nvPr>
            <p:ph type="sldNum" sz="quarter" idx="12"/>
          </p:nvPr>
        </p:nvSpPr>
        <p:spPr/>
        <p:txBody>
          <a:bodyPr/>
          <a:lstStyle/>
          <a:p>
            <a:fld id="{9BFB2853-4965-4727-91C4-384EB30D99A4}" type="slidenum">
              <a:rPr lang="en-CA"/>
              <a:t>22</a:t>
            </a:fld>
            <a:endParaRPr lang="en-CA"/>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
        <p:nvSpPr>
          <p:cNvPr id="4" name="Slide Number Placeholder 4"/>
          <p:cNvSpPr>
            <a:spLocks noGrp="1"/>
          </p:cNvSpPr>
          <p:nvPr>
            <p:ph type="sldNum" sz="quarter" idx="12"/>
          </p:nvPr>
        </p:nvSpPr>
        <p:spPr/>
        <p:txBody>
          <a:bodyPr/>
          <a:lstStyle/>
          <a:p>
            <a:fld id="{9BFB2853-4965-4727-91C4-384EB30D99A4}" type="slidenum">
              <a:rPr lang="en-CA"/>
              <a:t>23</a:t>
            </a:fld>
            <a:endParaRPr lang="en-CA"/>
          </a:p>
        </p:txBody>
      </p:sp>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p:nvPr/>
        </p:nvGrpSpPr>
        <p:grpSpPr>
          <a:xfrm>
            <a:off x="1288897" y="1486129"/>
            <a:ext cx="1942871" cy="1942871"/>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p:nvPr/>
        </p:nvGrpSpPr>
        <p:grpSpPr>
          <a:xfrm>
            <a:off x="3907129" y="2157412"/>
            <a:ext cx="3390900" cy="2543175"/>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chemeClr val="accent1">
              <a:lumMod val="50000"/>
            </a:schemeClr>
          </a:solidFill>
        </p:spPr>
        <p:txBody>
          <a:bodyPr wrap="square" rtlCol="0">
            <a:spAutoFit/>
          </a:bodyPr>
          <a:lstStyle/>
          <a:p>
            <a:r>
              <a:rPr lang="en-US" sz="4800" dirty="0">
                <a:solidFill>
                  <a:schemeClr val="bg1"/>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p:nvPr/>
        </p:nvGrpSpPr>
        <p:grpSpPr>
          <a:xfrm>
            <a:off x="8083903" y="3541758"/>
            <a:ext cx="1607344" cy="16002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
        <p:nvSpPr>
          <p:cNvPr id="14" name="Slide Number Placeholder 14"/>
          <p:cNvSpPr>
            <a:spLocks noGrp="1"/>
          </p:cNvSpPr>
          <p:nvPr>
            <p:ph type="sldNum" sz="quarter" idx="12"/>
          </p:nvPr>
        </p:nvSpPr>
        <p:spPr/>
        <p:txBody>
          <a:bodyPr/>
          <a:lstStyle/>
          <a:p>
            <a:fld id="{9BFB2853-4965-4727-91C4-384EB30D99A4}" type="slidenum">
              <a:rPr lang="en-CA"/>
              <a:t>24</a:t>
            </a:fld>
            <a:endParaRPr lang="en-CA"/>
          </a:p>
        </p:txBody>
      </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2194560"/>
            <a:ext cx="5394960" cy="2169825"/>
          </a:xfrm>
          <a:prstGeom prst="rect">
            <a:avLst/>
          </a:prstGeom>
          <a:noFill/>
        </p:spPr>
        <p:txBody>
          <a:bodyPr wrap="square">
            <a:spAutoFit/>
          </a:bodyPr>
          <a:lstStyle/>
          <a:p>
            <a:r>
              <a:rPr sz="2400" dirty="0"/>
              <a:t>PCA is a rotation of the axes: PC1 lies along the direction of greatest variance, PC2 is orthogonal to it.</a:t>
            </a:r>
          </a:p>
          <a:p>
            <a:pPr>
              <a:spcBef>
                <a:spcPts val="1800"/>
              </a:spcBef>
            </a:pPr>
            <a:r>
              <a:rPr sz="2400" b="0" dirty="0"/>
              <a:t>Outliers typically appear on the </a:t>
            </a:r>
            <a:r>
              <a:rPr sz="2400" b="1" dirty="0"/>
              <a:t>smallest</a:t>
            </a:r>
            <a:r>
              <a:rPr sz="2400" b="0" dirty="0"/>
              <a:t> dimensions</a:t>
            </a:r>
            <a:r>
              <a:rPr lang="en-CA" sz="2400" b="0" dirty="0"/>
              <a:t> (“Waldo space”)</a:t>
            </a:r>
            <a:endParaRPr sz="2400" b="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25</a:t>
            </a:fld>
            <a:endParaRPr lang="en-CA"/>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615705"/>
            <a:ext cx="4875713" cy="3139321"/>
          </a:xfrm>
          <a:prstGeom prst="rect">
            <a:avLst/>
          </a:prstGeom>
          <a:noFill/>
        </p:spPr>
        <p:txBody>
          <a:bodyPr wrap="square" rtlCol="0">
            <a:spAutoFit/>
          </a:bodyPr>
          <a:lstStyle/>
          <a:p>
            <a:r>
              <a:rPr lang="en-CA" dirty="0"/>
              <a:t>Least squares </a:t>
            </a:r>
            <a:r>
              <a:rPr lang="en-CA" dirty="0">
                <a:sym typeface="Symbol" panose="05050102010706020507" pitchFamily="18" charset="2"/>
              </a:rPr>
              <a:t> observations connected by springs </a:t>
            </a:r>
          </a:p>
          <a:p>
            <a:endParaRPr lang="en-CA" dirty="0">
              <a:sym typeface="Symbol" panose="05050102010706020507" pitchFamily="18" charset="2"/>
            </a:endParaRPr>
          </a:p>
          <a:p>
            <a:r>
              <a:rPr lang="en-CA" dirty="0">
                <a:sym typeface="Symbol" panose="05050102010706020507" pitchFamily="18" charset="2"/>
              </a:rPr>
              <a:t>For PCA, connect a rigid line to the points by springs</a:t>
            </a:r>
          </a:p>
          <a:p>
            <a:endParaRPr lang="en-CA" dirty="0">
              <a:sym typeface="Symbol" panose="05050102010706020507" pitchFamily="18" charset="2"/>
            </a:endParaRPr>
          </a:p>
          <a:p>
            <a:r>
              <a:rPr lang="en-CA" dirty="0"/>
              <a:t>Springs pull the line in proportion to squared distance</a:t>
            </a:r>
          </a:p>
          <a:p>
            <a:endParaRPr lang="en-CA" dirty="0"/>
          </a:p>
          <a:p>
            <a:r>
              <a:rPr lang="en-CA" dirty="0"/>
              <a:t>It settles on the first principal component</a:t>
            </a:r>
            <a:endParaRPr lang="en-CA" dirty="0">
              <a:sym typeface="Symbol" panose="05050102010706020507" pitchFamily="18" charset="2"/>
            </a:endParaRP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26</a:t>
            </a:fld>
            <a:endParaRPr lang="en-CA"/>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460599"/>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27</a:t>
            </a:fld>
            <a:endParaRPr lang="en-CA"/>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5" name="TextBox 4"/>
          <p:cNvSpPr txBox="1"/>
          <p:nvPr/>
        </p:nvSpPr>
        <p:spPr>
          <a:xfrm>
            <a:off x="838200" y="1412599"/>
            <a:ext cx="8160655" cy="1200329"/>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a:t>library(</a:t>
            </a:r>
            <a:r>
              <a:rPr lang="en-US" dirty="0" err="1"/>
              <a:t>ggbiplot</a:t>
            </a:r>
            <a:r>
              <a:rPr lang="en-US" dirty="0"/>
              <a:t>)</a:t>
            </a:r>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a:t>
            </a:r>
          </a:p>
        </p:txBody>
      </p:sp>
      <p:sp>
        <p:nvSpPr>
          <p:cNvPr id="6" name="TextBox 5"/>
          <p:cNvSpPr txBox="1"/>
          <p:nvPr/>
        </p:nvSpPr>
        <p:spPr>
          <a:xfrm>
            <a:off x="961390" y="2851152"/>
            <a:ext cx="5935169" cy="2031325"/>
          </a:xfrm>
          <a:prstGeom prst="rect">
            <a:avLst/>
          </a:prstGeom>
          <a:noFill/>
        </p:spPr>
        <p:txBody>
          <a:bodyPr wrap="square" rtlCol="0">
            <a:spAutoFit/>
          </a:bodyPr>
          <a:lstStyle/>
          <a:p>
            <a:r>
              <a:rPr lang="en-US" dirty="0"/>
              <a:t>PC1, PC2 ~ 88.1% of variance</a:t>
            </a: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3537438" y="6281429"/>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7" name="Picture 6" descr="A hexagon with arrows pointing to different colors&#10;&#10;Description automatically generated">
            <a:extLst>
              <a:ext uri="{FF2B5EF4-FFF2-40B4-BE49-F238E27FC236}">
                <a16:creationId xmlns:a16="http://schemas.microsoft.com/office/drawing/2014/main" id="{352CFB44-4705-A743-E8CA-66146EFFAA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65159" y="524599"/>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
        <p:nvSpPr>
          <p:cNvPr id="11" name="Slide Number Placeholder 11"/>
          <p:cNvSpPr>
            <a:spLocks noGrp="1"/>
          </p:cNvSpPr>
          <p:nvPr>
            <p:ph type="sldNum" sz="quarter" idx="12"/>
          </p:nvPr>
        </p:nvSpPr>
        <p:spPr/>
        <p:txBody>
          <a:bodyPr/>
          <a:lstStyle/>
          <a:p>
            <a:fld id="{9BFB2853-4965-4727-91C4-384EB30D99A4}" type="slidenum">
              <a:rPr lang="en-CA"/>
              <a:t>28</a:t>
            </a:fld>
            <a:endParaRPr lang="en-CA"/>
          </a:p>
        </p:txBody>
      </p:sp>
    </p:spTree>
    <p:extLst>
      <p:ext uri="{BB962C8B-B14F-4D97-AF65-F5344CB8AC3E}">
        <p14:creationId xmlns:p14="http://schemas.microsoft.com/office/powerpoint/2010/main" val="180814440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
        <p:nvSpPr>
          <p:cNvPr id="6" name="Slide Number Placeholder 6"/>
          <p:cNvSpPr>
            <a:spLocks noGrp="1"/>
          </p:cNvSpPr>
          <p:nvPr>
            <p:ph type="sldNum" sz="quarter" idx="12"/>
          </p:nvPr>
        </p:nvSpPr>
        <p:spPr/>
        <p:txBody>
          <a:bodyPr/>
          <a:lstStyle/>
          <a:p>
            <a:fld id="{9BFB2853-4965-4727-91C4-384EB30D99A4}" type="slidenum">
              <a:rPr lang="en-CA"/>
              <a:t>29</a:t>
            </a:fld>
            <a:endParaRPr lang="en-CA"/>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3754874"/>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the t-SNE one largely by a rotation.</a:t>
            </a:r>
          </a:p>
          <a:p>
            <a:endParaRPr lang="en-CA" sz="2000" dirty="0"/>
          </a:p>
          <a:p>
            <a:r>
              <a:rPr lang="en-CA" sz="2000" dirty="0"/>
              <a:t>But t-SNE achieves wider separation among groups</a:t>
            </a:r>
          </a:p>
          <a:p>
            <a:r>
              <a:rPr lang="en-CA" sz="2000" dirty="0"/>
              <a:t>The data ellipses here carry the visual message.</a:t>
            </a: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30</a:t>
            </a:fld>
            <a:endParaRPr lang="en-CA"/>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Understanding collinearity</a:t>
            </a:r>
          </a:p>
          <a:p>
            <a:pPr marL="342900" indent="-342900">
              <a:buFont typeface="Arial" panose="020B0604020202020204" pitchFamily="34" charset="0"/>
              <a:buChar char="•"/>
            </a:pPr>
            <a:r>
              <a:rPr lang="en-CA" dirty="0"/>
              <a:t>Ridge regression</a:t>
            </a:r>
            <a:endParaRPr dirty="0"/>
          </a:p>
        </p:txBody>
      </p:sp>
      <p:sp>
        <p:nvSpPr>
          <p:cNvPr id="4" name="Slide Number Placeholder 4"/>
          <p:cNvSpPr>
            <a:spLocks noGrp="1"/>
          </p:cNvSpPr>
          <p:nvPr>
            <p:ph type="sldNum" sz="quarter" idx="12"/>
          </p:nvPr>
        </p:nvSpPr>
        <p:spPr/>
        <p:txBody>
          <a:bodyPr/>
          <a:lstStyle/>
          <a:p>
            <a:fld id="{9BFB2853-4965-4727-91C4-384EB30D99A4}" type="slidenum">
              <a:rPr lang="en-CA"/>
              <a:t>31</a:t>
            </a:fld>
            <a:endParaRPr lang="en-CA"/>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a:t>
            </a:r>
            <a:r>
              <a:rPr lang="en-US" dirty="0" err="1"/>
              <a:t>univariate</a:t>
            </a:r>
            <a:r>
              <a:rPr lang="en-US" dirty="0"/>
              <a:t> views, but become readily apparent on the </a:t>
            </a:r>
            <a:r>
              <a:rPr lang="en-US" i="1" dirty="0">
                <a:solidFill>
                  <a:srgbClr val="FF0000"/>
                </a:solidFill>
              </a:rPr>
              <a:t>smallest</a:t>
            </a:r>
            <a:r>
              <a:rPr lang="en-US" dirty="0"/>
              <a:t> principal component</a:t>
            </a:r>
          </a:p>
          <a:p>
            <a:pPr lvl="1"/>
            <a:r>
              <a:rPr lang="en-US" dirty="0"/>
              <a:t>100 observations on two correlated normal variables with two bivariate outliers near (2,2), (-2, -2)</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
        <p:nvSpPr>
          <p:cNvPr id="18" name="Slide Number Placeholder 18"/>
          <p:cNvSpPr>
            <a:spLocks noGrp="1"/>
          </p:cNvSpPr>
          <p:nvPr>
            <p:ph type="sldNum" sz="quarter" idx="12"/>
          </p:nvPr>
        </p:nvSpPr>
        <p:spPr/>
        <p:txBody>
          <a:bodyPr/>
          <a:lstStyle/>
          <a:p>
            <a:fld id="{9BFB2853-4965-4727-91C4-384EB30D99A4}" type="slidenum">
              <a:rPr lang="en-CA"/>
              <a:t>32</a:t>
            </a:fld>
            <a:endParaRPr lang="en-CA"/>
          </a:p>
        </p:txBody>
      </p:sp>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grpSp>
        <p:nvGrpSpPr>
          <p:cNvPr id="14" name="Group 13">
            <a:extLst>
              <a:ext uri="{FF2B5EF4-FFF2-40B4-BE49-F238E27FC236}">
                <a16:creationId xmlns:a16="http://schemas.microsoft.com/office/drawing/2014/main" id="{0728BF96-A0F7-C957-E62B-262E4BCB0347}"/>
              </a:ext>
            </a:extLst>
          </p:cNvPr>
          <p:cNvGrpSpPr/>
          <p:nvPr/>
        </p:nvGrpSpPr>
        <p:grpSpPr>
          <a:xfrm>
            <a:off x="6236208" y="1537256"/>
            <a:ext cx="5120640" cy="4380786"/>
            <a:chOff x="6236208" y="1537256"/>
            <a:chExt cx="5120640" cy="4380786"/>
          </a:xfrm>
        </p:grpSpPr>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We can try to understand why they are unusual in data space of some variables </a:t>
              </a:r>
              <a:endParaRPr sz="1800" dirty="0"/>
            </a:p>
          </p:txBody>
        </p:sp>
      </p:grpSp>
      <p:sp>
        <p:nvSpPr>
          <p:cNvPr id="11" name="TextBox 10">
            <a:extLst>
              <a:ext uri="{FF2B5EF4-FFF2-40B4-BE49-F238E27FC236}">
                <a16:creationId xmlns:a16="http://schemas.microsoft.com/office/drawing/2014/main" id="{B7B1B822-CDD6-B8D6-EA82-C5F2B658B34B}"/>
              </a:ext>
            </a:extLst>
          </p:cNvPr>
          <p:cNvSpPr txBox="1"/>
          <p:nvPr/>
        </p:nvSpPr>
        <p:spPr>
          <a:xfrm>
            <a:off x="10510789" y="2446269"/>
            <a:ext cx="839963" cy="307777"/>
          </a:xfrm>
          <a:prstGeom prst="rect">
            <a:avLst/>
          </a:prstGeom>
          <a:solidFill>
            <a:schemeClr val="accent5">
              <a:lumMod val="75000"/>
              <a:alpha val="20000"/>
            </a:schemeClr>
          </a:solidFill>
        </p:spPr>
        <p:txBody>
          <a:bodyPr wrap="square" rtlCol="0">
            <a:spAutoFit/>
          </a:bodyPr>
          <a:lstStyle/>
          <a:p>
            <a:pPr algn="ctr"/>
            <a:r>
              <a:rPr lang="en-CA" sz="1400" dirty="0"/>
              <a:t>Cyrano</a:t>
            </a:r>
          </a:p>
        </p:txBody>
      </p:sp>
      <p:sp>
        <p:nvSpPr>
          <p:cNvPr id="13" name="TextBox 12">
            <a:extLst>
              <a:ext uri="{FF2B5EF4-FFF2-40B4-BE49-F238E27FC236}">
                <a16:creationId xmlns:a16="http://schemas.microsoft.com/office/drawing/2014/main" id="{30A4AC45-70A4-F6BB-40CF-B12C51195345}"/>
              </a:ext>
            </a:extLst>
          </p:cNvPr>
          <p:cNvSpPr txBox="1"/>
          <p:nvPr/>
        </p:nvSpPr>
        <p:spPr>
          <a:xfrm>
            <a:off x="6827520" y="1959243"/>
            <a:ext cx="1155032" cy="307777"/>
          </a:xfrm>
          <a:prstGeom prst="rect">
            <a:avLst/>
          </a:prstGeom>
          <a:solidFill>
            <a:schemeClr val="accent2">
              <a:lumMod val="40000"/>
              <a:lumOff val="60000"/>
              <a:alpha val="50000"/>
            </a:schemeClr>
          </a:solidFill>
        </p:spPr>
        <p:txBody>
          <a:bodyPr wrap="square" rtlCol="0">
            <a:spAutoFit/>
          </a:bodyPr>
          <a:lstStyle/>
          <a:p>
            <a:pPr algn="ctr"/>
            <a:r>
              <a:rPr lang="en-CA" sz="1400" dirty="0"/>
              <a:t>Hook Nose</a:t>
            </a:r>
          </a:p>
        </p:txBody>
      </p:sp>
      <p:sp>
        <p:nvSpPr>
          <p:cNvPr id="15" name="Slide Number Placeholder 15"/>
          <p:cNvSpPr>
            <a:spLocks noGrp="1"/>
          </p:cNvSpPr>
          <p:nvPr>
            <p:ph type="sldNum" sz="quarter" idx="12"/>
          </p:nvPr>
        </p:nvSpPr>
        <p:spPr/>
        <p:txBody>
          <a:bodyPr/>
          <a:lstStyle/>
          <a:p>
            <a:fld id="{9BFB2853-4965-4727-91C4-384EB30D99A4}" type="slidenum">
              <a:rPr lang="en-CA"/>
              <a:t>33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1000" fill="hold"/>
                                        <p:tgtEl>
                                          <p:spTgt spid="11"/>
                                        </p:tgtEl>
                                        <p:attrNameLst>
                                          <p:attrName>ppt_w</p:attrName>
                                        </p:attrNameLst>
                                      </p:cBhvr>
                                      <p:tavLst>
                                        <p:tav tm="0">
                                          <p:val>
                                            <p:fltVal val="0"/>
                                          </p:val>
                                        </p:tav>
                                        <p:tav tm="100000">
                                          <p:val>
                                            <p:strVal val="#ppt_w"/>
                                          </p:val>
                                        </p:tav>
                                      </p:tavLst>
                                    </p:anim>
                                    <p:anim calcmode="lin" valueType="num">
                                      <p:cBhvr>
                                        <p:cTn id="12" dur="1000" fill="hold"/>
                                        <p:tgtEl>
                                          <p:spTgt spid="11"/>
                                        </p:tgtEl>
                                        <p:attrNameLst>
                                          <p:attrName>ppt_h</p:attrName>
                                        </p:attrNameLst>
                                      </p:cBhvr>
                                      <p:tavLst>
                                        <p:tav tm="0">
                                          <p:val>
                                            <p:fltVal val="0"/>
                                          </p:val>
                                        </p:tav>
                                        <p:tav tm="100000">
                                          <p:val>
                                            <p:strVal val="#ppt_h"/>
                                          </p:val>
                                        </p:tav>
                                      </p:tavLst>
                                    </p:anim>
                                    <p:anim calcmode="lin" valueType="num">
                                      <p:cBhvr>
                                        <p:cTn id="13" dur="1000" fill="hold"/>
                                        <p:tgtEl>
                                          <p:spTgt spid="11"/>
                                        </p:tgtEl>
                                        <p:attrNameLst>
                                          <p:attrName>style.rotation</p:attrName>
                                        </p:attrNameLst>
                                      </p:cBhvr>
                                      <p:tavLst>
                                        <p:tav tm="0">
                                          <p:val>
                                            <p:fltVal val="90"/>
                                          </p:val>
                                        </p:tav>
                                        <p:tav tm="100000">
                                          <p:val>
                                            <p:fltVal val="0"/>
                                          </p:val>
                                        </p:tav>
                                      </p:tavLst>
                                    </p:anim>
                                    <p:animEffect transition="in" filter="fade">
                                      <p:cBhvr>
                                        <p:cTn id="14" dur="10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3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1000" fill="hold"/>
                                        <p:tgtEl>
                                          <p:spTgt spid="13"/>
                                        </p:tgtEl>
                                        <p:attrNameLst>
                                          <p:attrName>ppt_w</p:attrName>
                                        </p:attrNameLst>
                                      </p:cBhvr>
                                      <p:tavLst>
                                        <p:tav tm="0">
                                          <p:val>
                                            <p:fltVal val="0"/>
                                          </p:val>
                                        </p:tav>
                                        <p:tav tm="100000">
                                          <p:val>
                                            <p:strVal val="#ppt_w"/>
                                          </p:val>
                                        </p:tav>
                                      </p:tavLst>
                                    </p:anim>
                                    <p:anim calcmode="lin" valueType="num">
                                      <p:cBhvr>
                                        <p:cTn id="20" dur="1000" fill="hold"/>
                                        <p:tgtEl>
                                          <p:spTgt spid="13"/>
                                        </p:tgtEl>
                                        <p:attrNameLst>
                                          <p:attrName>ppt_h</p:attrName>
                                        </p:attrNameLst>
                                      </p:cBhvr>
                                      <p:tavLst>
                                        <p:tav tm="0">
                                          <p:val>
                                            <p:fltVal val="0"/>
                                          </p:val>
                                        </p:tav>
                                        <p:tav tm="100000">
                                          <p:val>
                                            <p:strVal val="#ppt_h"/>
                                          </p:val>
                                        </p:tav>
                                      </p:tavLst>
                                    </p:anim>
                                    <p:anim calcmode="lin" valueType="num">
                                      <p:cBhvr>
                                        <p:cTn id="21" dur="1000" fill="hold"/>
                                        <p:tgtEl>
                                          <p:spTgt spid="13"/>
                                        </p:tgtEl>
                                        <p:attrNameLst>
                                          <p:attrName>style.rotation</p:attrName>
                                        </p:attrNameLst>
                                      </p:cBhvr>
                                      <p:tavLst>
                                        <p:tav tm="0">
                                          <p:val>
                                            <p:fltVal val="90"/>
                                          </p:val>
                                        </p:tav>
                                        <p:tav tm="100000">
                                          <p:val>
                                            <p:fltVal val="0"/>
                                          </p:val>
                                        </p:tav>
                                      </p:tavLst>
                                    </p:anim>
                                    <p:animEffect transition="in" filter="fade">
                                      <p:cBhvr>
                                        <p:cTn id="22"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a:t>
            </a:r>
            <a:r>
              <a:rPr lang="en-CA" dirty="0"/>
              <a:t>the </a:t>
            </a:r>
            <a:r>
              <a:rPr dirty="0"/>
              <a:t>typical</a:t>
            </a:r>
            <a:r>
              <a:rPr lang="en-CA" dirty="0"/>
              <a:t> penguins</a:t>
            </a:r>
            <a:endParaRPr dirty="0"/>
          </a:p>
          <a:p>
            <a:r>
              <a:rPr dirty="0"/>
              <a:t>The last dimensions show what does not fit </a:t>
            </a:r>
            <a:r>
              <a:rPr dirty="0" err="1"/>
              <a:t>th</a:t>
            </a:r>
            <a:r>
              <a:rPr lang="en-CA" dirty="0"/>
              <a:t>at</a:t>
            </a:r>
            <a:r>
              <a:rPr dirty="0"/>
              <a:t> pattern</a:t>
            </a:r>
          </a:p>
          <a:p>
            <a:r>
              <a:rPr dirty="0"/>
              <a:t>Biplot of dimensions 3-4 of the penguin data</a:t>
            </a:r>
            <a:endParaRPr lang="en-CA" dirty="0"/>
          </a:p>
          <a:p>
            <a:pPr lvl="1"/>
            <a:r>
              <a:rPr lang="en-CA" dirty="0"/>
              <a:t>Variable vectors show relations to dimensions</a:t>
            </a:r>
          </a:p>
          <a:p>
            <a:pPr lvl="1"/>
            <a:r>
              <a:rPr lang="en-CA" dirty="0"/>
              <a:t>Ellipses show diffs among groups</a:t>
            </a:r>
          </a:p>
          <a:p>
            <a:r>
              <a:rPr lang="en-CA" dirty="0"/>
              <a:t>Outliers are often extremes in Waldo space </a:t>
            </a:r>
          </a:p>
          <a:p>
            <a:pPr lvl="1"/>
            <a:r>
              <a:rPr lang="en-CA" dirty="0">
                <a:sym typeface="Symbol" panose="05050102010706020507" pitchFamily="18" charset="2"/>
              </a:rPr>
              <a:t> why they’re weird</a:t>
            </a:r>
            <a:endParaRPr lang="en-CA" dirty="0"/>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solidFill>
            <a:schemeClr val="accent5">
              <a:lumMod val="75000"/>
              <a:alpha val="20000"/>
            </a:schemeClr>
          </a:solidFill>
        </p:spPr>
        <p:txBody>
          <a:bodyPr wrap="square" rtlCol="0">
            <a:spAutoFit/>
          </a:bodyPr>
          <a:lstStyle/>
          <a:p>
            <a:pPr algn="ctr"/>
            <a:r>
              <a:rPr lang="en-CA" sz="1600" dirty="0"/>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49273"/>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Hook Nose</a:t>
            </a:r>
          </a:p>
        </p:txBody>
      </p:sp>
      <p:pic>
        <p:nvPicPr>
          <p:cNvPr id="7" name="Picture 6">
            <a:extLst>
              <a:ext uri="{FF2B5EF4-FFF2-40B4-BE49-F238E27FC236}">
                <a16:creationId xmlns:a16="http://schemas.microsoft.com/office/drawing/2014/main" id="{43C94EC3-1E5F-B9F0-E6DF-F78F37E16132}"/>
              </a:ext>
            </a:extLst>
          </p:cNvPr>
          <p:cNvPicPr>
            <a:picLocks noChangeAspect="1"/>
          </p:cNvPicPr>
          <p:nvPr/>
        </p:nvPicPr>
        <p:blipFill>
          <a:blip r:embed="rId4"/>
          <a:stretch>
            <a:fillRect/>
          </a:stretch>
        </p:blipFill>
        <p:spPr>
          <a:xfrm>
            <a:off x="8477590" y="628416"/>
            <a:ext cx="568780" cy="568780"/>
          </a:xfrm>
          <a:prstGeom prst="rect">
            <a:avLst/>
          </a:prstGeom>
        </p:spPr>
      </p:pic>
      <p:sp>
        <p:nvSpPr>
          <p:cNvPr id="9" name="Oval 8">
            <a:extLst>
              <a:ext uri="{FF2B5EF4-FFF2-40B4-BE49-F238E27FC236}">
                <a16:creationId xmlns:a16="http://schemas.microsoft.com/office/drawing/2014/main" id="{1EE4686E-46B0-015D-AEC7-4AB8205148C7}"/>
              </a:ext>
            </a:extLst>
          </p:cNvPr>
          <p:cNvSpPr/>
          <p:nvPr/>
        </p:nvSpPr>
        <p:spPr>
          <a:xfrm>
            <a:off x="6149367" y="1754982"/>
            <a:ext cx="1105408" cy="439578"/>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D29959FF-9D58-0D20-8146-01A5BF7DE215}"/>
              </a:ext>
            </a:extLst>
          </p:cNvPr>
          <p:cNvSpPr/>
          <p:nvPr/>
        </p:nvSpPr>
        <p:spPr>
          <a:xfrm>
            <a:off x="10564288" y="4385693"/>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90AEDFDF-B464-BFE6-6D44-4DC15C2BF7B1}"/>
              </a:ext>
            </a:extLst>
          </p:cNvPr>
          <p:cNvSpPr/>
          <p:nvPr/>
        </p:nvSpPr>
        <p:spPr>
          <a:xfrm>
            <a:off x="9338217" y="1974771"/>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4" name="Picture 13">
            <a:extLst>
              <a:ext uri="{FF2B5EF4-FFF2-40B4-BE49-F238E27FC236}">
                <a16:creationId xmlns:a16="http://schemas.microsoft.com/office/drawing/2014/main" id="{B43C77F9-2A28-ED64-1B9B-EB53DE05DDBC}"/>
              </a:ext>
            </a:extLst>
          </p:cNvPr>
          <p:cNvPicPr>
            <a:picLocks noChangeAspect="1"/>
          </p:cNvPicPr>
          <p:nvPr/>
        </p:nvPicPr>
        <p:blipFill>
          <a:blip r:embed="rId4"/>
          <a:stretch>
            <a:fillRect/>
          </a:stretch>
        </p:blipFill>
        <p:spPr>
          <a:xfrm>
            <a:off x="9053827" y="628416"/>
            <a:ext cx="568780" cy="568780"/>
          </a:xfrm>
          <a:prstGeom prst="rect">
            <a:avLst/>
          </a:prstGeom>
        </p:spPr>
      </p:pic>
      <p:pic>
        <p:nvPicPr>
          <p:cNvPr id="15" name="Picture 14">
            <a:extLst>
              <a:ext uri="{FF2B5EF4-FFF2-40B4-BE49-F238E27FC236}">
                <a16:creationId xmlns:a16="http://schemas.microsoft.com/office/drawing/2014/main" id="{E6A1C750-3904-64B0-4EBF-F1A4C72D1606}"/>
              </a:ext>
            </a:extLst>
          </p:cNvPr>
          <p:cNvPicPr>
            <a:picLocks noChangeAspect="1"/>
          </p:cNvPicPr>
          <p:nvPr/>
        </p:nvPicPr>
        <p:blipFill>
          <a:blip r:embed="rId4"/>
          <a:stretch>
            <a:fillRect/>
          </a:stretch>
        </p:blipFill>
        <p:spPr>
          <a:xfrm>
            <a:off x="9865952" y="628416"/>
            <a:ext cx="568780" cy="568780"/>
          </a:xfrm>
          <a:prstGeom prst="rect">
            <a:avLst/>
          </a:prstGeom>
        </p:spPr>
      </p:pic>
      <p:sp>
        <p:nvSpPr>
          <p:cNvPr id="16" name="Slide Number Placeholder 16"/>
          <p:cNvSpPr>
            <a:spLocks noGrp="1"/>
          </p:cNvSpPr>
          <p:nvPr>
            <p:ph type="sldNum" sz="quarter" idx="12"/>
          </p:nvPr>
        </p:nvSpPr>
        <p:spPr/>
        <p:txBody>
          <a:bodyPr/>
          <a:lstStyle/>
          <a:p>
            <a:fld id="{9BFB2853-4965-4727-91C4-384EB30D99A4}" type="slidenum">
              <a:rPr lang="en-CA"/>
              <a:t>34</a:t>
            </a:fld>
            <a:endParaRPr lang="en-CA"/>
          </a:p>
        </p:txBody>
      </p:sp>
    </p:spTree>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6000">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14:bounceEnd="56000">
                                          <p:cBhvr additive="base">
                                            <p:cTn id="11" dur="500" fill="hold"/>
                                            <p:tgtEl>
                                              <p:spTgt spid="14"/>
                                            </p:tgtEl>
                                            <p:attrNameLst>
                                              <p:attrName>ppt_x</p:attrName>
                                            </p:attrNameLst>
                                          </p:cBhvr>
                                          <p:tavLst>
                                            <p:tav tm="0">
                                              <p:val>
                                                <p:strVal val="1+#ppt_w/2"/>
                                              </p:val>
                                            </p:tav>
                                            <p:tav tm="100000">
                                              <p:val>
                                                <p:strVal val="#ppt_x"/>
                                              </p:val>
                                            </p:tav>
                                          </p:tavLst>
                                        </p:anim>
                                        <p:anim calcmode="lin" valueType="num" p14:bounceEnd="56000">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1+#ppt_w/2"/>
                                              </p:val>
                                            </p:tav>
                                            <p:tav tm="100000">
                                              <p:val>
                                                <p:strVal val="#ppt_x"/>
                                              </p:val>
                                            </p:tav>
                                          </p:tavLst>
                                        </p:anim>
                                        <p:anim calcmode="lin" valueType="num">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479427"/>
            <a:ext cx="8229600" cy="715962"/>
          </a:xfrm>
        </p:spPr>
        <p:txBody>
          <a:bodyPr>
            <a:normAutofit/>
          </a:bodyPr>
          <a:lstStyle/>
          <a:p>
            <a:r>
              <a:rPr lang="en-US" dirty="0"/>
              <a:t>Elliptical insights: Measurement error</a:t>
            </a:r>
          </a:p>
        </p:txBody>
      </p:sp>
      <p:sp>
        <p:nvSpPr>
          <p:cNvPr id="3" name="Content Placeholder 2"/>
          <p:cNvSpPr>
            <a:spLocks noGrp="1"/>
          </p:cNvSpPr>
          <p:nvPr>
            <p:ph idx="1"/>
          </p:nvPr>
        </p:nvSpPr>
        <p:spPr/>
        <p:txBody>
          <a:bodyPr>
            <a:normAutofit/>
          </a:bodyPr>
          <a:lstStyle/>
          <a:p>
            <a:r>
              <a:rPr lang="en-US" dirty="0"/>
              <a:t>In classical linear models, predictors (X) are usually assumed to be fixed (non-random), or 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a:t>
            </a: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
        <p:nvSpPr>
          <p:cNvPr id="6" name="Slide Number Placeholder 6"/>
          <p:cNvSpPr>
            <a:spLocks noGrp="1"/>
          </p:cNvSpPr>
          <p:nvPr>
            <p:ph type="sldNum" sz="quarter" idx="12"/>
          </p:nvPr>
        </p:nvSpPr>
        <p:spPr/>
        <p:txBody>
          <a:bodyPr/>
          <a:lstStyle/>
          <a:p>
            <a:fld id="{9BFB2853-4965-4727-91C4-384EB30D99A4}" type="slidenum">
              <a:rPr lang="en-CA"/>
              <a:t>35</a:t>
            </a:fld>
            <a:endParaRPr lang="en-CA"/>
          </a:p>
        </p:txBody>
      </p:sp>
    </p:spTree>
    <p:extLst>
      <p:ext uri="{BB962C8B-B14F-4D97-AF65-F5344CB8AC3E}">
        <p14:creationId xmlns:p14="http://schemas.microsoft.com/office/powerpoint/2010/main" val="214040088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prstGeom prst="rect">
            <a:avLst/>
          </a:prstGeom>
          <a:noFill/>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
        <p:nvSpPr>
          <p:cNvPr id="8195" name="Slide Number Placeholder 8195"/>
          <p:cNvSpPr>
            <a:spLocks noGrp="1"/>
          </p:cNvSpPr>
          <p:nvPr>
            <p:ph type="sldNum" sz="quarter" idx="12"/>
          </p:nvPr>
        </p:nvSpPr>
        <p:spPr/>
        <p:txBody>
          <a:bodyPr/>
          <a:lstStyle/>
          <a:p>
            <a:fld id="{9BFB2853-4965-4727-91C4-384EB30D99A4}" type="slidenum">
              <a:rPr lang="en-CA"/>
              <a:t>36</a:t>
            </a:fld>
            <a:endParaRPr lang="en-CA"/>
          </a:p>
        </p:txBody>
      </p:sp>
    </p:spTree>
    <p:extLst>
      <p:ext uri="{BB962C8B-B14F-4D97-AF65-F5344CB8AC3E}">
        <p14:creationId xmlns:p14="http://schemas.microsoft.com/office/powerpoint/2010/main" val="19636508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515600" cy="369332"/>
          </a:xfrm>
          <a:prstGeom prst="rect">
            <a:avLst/>
          </a:prstGeom>
          <a:noFill/>
        </p:spPr>
        <p:txBody>
          <a:bodyPr wrap="square">
            <a:spAutoFit/>
          </a:bodyPr>
          <a:lstStyle/>
          <a:p>
            <a:r>
              <a:rPr sz="1800" dirty="0"/>
              <a:t>The </a:t>
            </a:r>
            <a:r>
              <a:rPr lang="en-CA" sz="1800" dirty="0"/>
              <a:t>data ellipse for the predictors (</a:t>
            </a:r>
            <a:r>
              <a:rPr lang="en-CA" sz="1800" b="1" dirty="0"/>
              <a:t>X’X</a:t>
            </a:r>
            <a:r>
              <a:rPr lang="en-CA" sz="1800" dirty="0"/>
              <a:t>) is the inverse of the </a:t>
            </a:r>
            <a:r>
              <a:rPr sz="1800" dirty="0"/>
              <a:t>confidence ellipse 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
        <p:nvSpPr>
          <p:cNvPr id="6" name="Slide Number Placeholder 6"/>
          <p:cNvSpPr>
            <a:spLocks noGrp="1"/>
          </p:cNvSpPr>
          <p:nvPr>
            <p:ph type="sldNum" sz="quarter" idx="12"/>
          </p:nvPr>
        </p:nvSpPr>
        <p:spPr/>
        <p:txBody>
          <a:bodyPr/>
          <a:lstStyle/>
          <a:p>
            <a:fld id="{9BFB2853-4965-4727-91C4-384EB30D99A4}" type="slidenum">
              <a:rPr lang="en-CA"/>
              <a:t>37</a:t>
            </a:fld>
            <a:endParaRPr lang="en-CA"/>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fontScale="90000"/>
          </a:bodyPr>
          <a:lstStyle/>
          <a:p>
            <a:r>
              <a:rPr lang="en-US" dirty="0"/>
              <a:t>Adding measurement error</a:t>
            </a:r>
          </a:p>
        </p:txBody>
      </p:sp>
      <p:sp>
        <p:nvSpPr>
          <p:cNvPr id="4" name="Content Placeholder 3"/>
          <p:cNvSpPr>
            <a:spLocks noGrp="1"/>
          </p:cNvSpPr>
          <p:nvPr>
            <p:ph idx="1"/>
          </p:nvPr>
        </p:nvSpPr>
        <p:spPr>
          <a:xfrm>
            <a:off x="838200" y="1196788"/>
            <a:ext cx="10896600" cy="1508760"/>
          </a:xfrm>
        </p:spPr>
        <p:txBody>
          <a:bodyPr>
            <a:normAutofit/>
          </a:bodyPr>
          <a:lstStyle/>
          <a:p>
            <a:r>
              <a:rPr lang="en-US" sz="2000" dirty="0"/>
              <a:t>Measurement error in Heart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a:t>
            </a:r>
            <a:endParaRPr lang="en-US" sz="2000" dirty="0"/>
          </a:p>
          <a:p>
            <a:r>
              <a:rPr lang="en-US" sz="2000" dirty="0"/>
              <a:t>With Coffee in the model, it also drives </a:t>
            </a:r>
            <a:r>
              <a:rPr lang="en-US" sz="2000" dirty="0">
                <a:solidFill>
                  <a:srgbClr val="FF0000"/>
                </a:solidFill>
              </a:rPr>
              <a:t>β</a:t>
            </a:r>
            <a:r>
              <a:rPr lang="en-US" sz="2000" baseline="-25000" dirty="0">
                <a:solidFill>
                  <a:srgbClr val="FF0000"/>
                </a:solidFill>
              </a:rPr>
              <a:t>Coffee</a:t>
            </a:r>
            <a:r>
              <a:rPr lang="en-US" sz="2000" dirty="0">
                <a:solidFill>
                  <a:srgbClr val="FF0000"/>
                </a:solidFill>
              </a:rPr>
              <a:t> toward its marginal value</a:t>
            </a:r>
            <a:r>
              <a:rPr lang="en-US" sz="2000" dirty="0"/>
              <a:t> (right)</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248" y="2834640"/>
            <a:ext cx="3291840" cy="3291840"/>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3128" y="2834640"/>
            <a:ext cx="3291840" cy="3291840"/>
          </a:xfrm>
          <a:prstGeom prst="rect">
            <a:avLst/>
          </a:prstGeom>
        </p:spPr>
      </p:pic>
      <p:pic>
        <p:nvPicPr>
          <p:cNvPr id="8" name="Beta space coffee-stress" descr="image.gif"/>
          <p:cNvPicPr>
            <a:picLocks noChangeAspect="1"/>
          </p:cNvPicPr>
          <p:nvPr/>
        </p:nvPicPr>
        <p:blipFill>
          <a:blip r:embed="rId5"/>
          <a:stretch>
            <a:fillRect/>
          </a:stretch>
        </p:blipFill>
        <p:spPr>
          <a:xfrm>
            <a:off x="8065008" y="2834640"/>
            <a:ext cx="3291840" cy="3291840"/>
          </a:xfrm>
          <a:prstGeom prst="rect">
            <a:avLst/>
          </a:prstGeom>
        </p:spPr>
      </p:pic>
      <p:sp>
        <p:nvSpPr>
          <p:cNvPr id="9" name="Slide Number Placeholder 9"/>
          <p:cNvSpPr>
            <a:spLocks noGrp="1"/>
          </p:cNvSpPr>
          <p:nvPr>
            <p:ph type="sldNum" sz="quarter" idx="12"/>
          </p:nvPr>
        </p:nvSpPr>
        <p:spPr/>
        <p:txBody>
          <a:bodyPr/>
          <a:lstStyle/>
          <a:p>
            <a:fld id="{9BFB2853-4965-4727-91C4-384EB30D99A4}" type="slidenum">
              <a:rPr lang="en-CA"/>
              <a:t>38</a:t>
            </a:fld>
            <a:endParaRPr lang="en-CA"/>
          </a:p>
        </p:txBody>
      </p:sp>
    </p:spTree>
    <p:extLst>
      <p:ext uri="{BB962C8B-B14F-4D97-AF65-F5344CB8AC3E}">
        <p14:creationId xmlns:p14="http://schemas.microsoft.com/office/powerpoint/2010/main" val="261527958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D51AE72-842B-4A4B-DC7D-AE4F2D561E63}"/>
              </a:ext>
            </a:extLst>
          </p:cNvPr>
          <p:cNvGrpSpPr/>
          <p:nvPr/>
        </p:nvGrpSpPr>
        <p:grpSpPr>
          <a:xfrm>
            <a:off x="6236208" y="1381125"/>
            <a:ext cx="5120640" cy="4105275"/>
            <a:chOff x="6236208" y="1381125"/>
            <a:chExt cx="5120640" cy="4105275"/>
          </a:xfrm>
        </p:grpSpPr>
        <p:pic>
          <p:nvPicPr>
            <p:cNvPr id="4" name="Picture 3" descr="fig-cars-collin-biplot-1.png"/>
            <p:cNvPicPr>
              <a:picLocks noChangeAspect="1"/>
            </p:cNvPicPr>
            <p:nvPr/>
          </p:nvPicPr>
          <p:blipFill>
            <a:blip r:embed="rId3"/>
            <a:stretch>
              <a:fillRect/>
            </a:stretch>
          </p:blipFill>
          <p:spPr>
            <a:xfrm>
              <a:off x="6236208" y="1828800"/>
              <a:ext cx="5120640" cy="3657600"/>
            </a:xfrm>
            <a:prstGeom prst="rect">
              <a:avLst/>
            </a:prstGeom>
          </p:spPr>
        </p:pic>
        <p:sp>
          <p:nvSpPr>
            <p:cNvPr id="13" name="TextBox 12">
              <a:extLst>
                <a:ext uri="{FF2B5EF4-FFF2-40B4-BE49-F238E27FC236}">
                  <a16:creationId xmlns:a16="http://schemas.microsoft.com/office/drawing/2014/main" id="{7891D371-0E92-FB60-6241-0361EBA4789D}"/>
                </a:ext>
              </a:extLst>
            </p:cNvPr>
            <p:cNvSpPr txBox="1"/>
            <p:nvPr/>
          </p:nvSpPr>
          <p:spPr>
            <a:xfrm>
              <a:off x="6667500" y="1381125"/>
              <a:ext cx="4521200" cy="369332"/>
            </a:xfrm>
            <a:prstGeom prst="rect">
              <a:avLst/>
            </a:prstGeom>
            <a:noFill/>
          </p:spPr>
          <p:txBody>
            <a:bodyPr wrap="square" rtlCol="0">
              <a:spAutoFit/>
            </a:bodyPr>
            <a:lstStyle/>
            <a:p>
              <a:r>
                <a:rPr lang="en-CA" dirty="0"/>
                <a:t>Collinearity problems live in Waldo space</a:t>
              </a:r>
            </a:p>
          </p:txBody>
        </p:sp>
      </p:grpSp>
      <p:sp>
        <p:nvSpPr>
          <p:cNvPr id="2" name="Title 1"/>
          <p:cNvSpPr>
            <a:spLocks noGrp="1"/>
          </p:cNvSpPr>
          <p:nvPr>
            <p:ph type="title"/>
          </p:nvPr>
        </p:nvSpPr>
        <p:spPr>
          <a:xfrm>
            <a:off x="838200" y="365125"/>
            <a:ext cx="10515600" cy="889635"/>
          </a:xfrm>
        </p:spPr>
        <p:txBody>
          <a:bodyPr/>
          <a:lstStyle/>
          <a:p>
            <a:r>
              <a:rPr lang="en-CA" dirty="0"/>
              <a:t>Understanding collinearity</a:t>
            </a:r>
            <a:endParaRPr dirty="0"/>
          </a:p>
        </p:txBody>
      </p:sp>
      <p:sp>
        <p:nvSpPr>
          <p:cNvPr id="5" name="TextBox 4"/>
          <p:cNvSpPr txBox="1"/>
          <p:nvPr/>
        </p:nvSpPr>
        <p:spPr>
          <a:xfrm>
            <a:off x="704088" y="108903"/>
            <a:ext cx="10515600" cy="369332"/>
          </a:xfrm>
          <a:prstGeom prst="rect">
            <a:avLst/>
          </a:prstGeom>
          <a:noFill/>
        </p:spPr>
        <p:txBody>
          <a:bodyPr wrap="square">
            <a:spAutoFit/>
          </a:bodyPr>
          <a:lstStyle/>
          <a:p>
            <a:endParaRPr sz="1800" dirty="0"/>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4"/>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0" name="Picture 9" descr="A hexagon with a diagram of different colored circles&#10;&#10;Description automatically generated">
            <a:extLst>
              <a:ext uri="{FF2B5EF4-FFF2-40B4-BE49-F238E27FC236}">
                <a16:creationId xmlns:a16="http://schemas.microsoft.com/office/drawing/2014/main" id="{6BAB72B0-CAD5-E775-B8B4-AEDE2955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61147" y="340360"/>
            <a:ext cx="792653" cy="914400"/>
          </a:xfrm>
          <a:prstGeom prst="rect">
            <a:avLst/>
          </a:prstGeom>
        </p:spPr>
      </p:pic>
      <p:grpSp>
        <p:nvGrpSpPr>
          <p:cNvPr id="14" name="Group 13">
            <a:extLst>
              <a:ext uri="{FF2B5EF4-FFF2-40B4-BE49-F238E27FC236}">
                <a16:creationId xmlns:a16="http://schemas.microsoft.com/office/drawing/2014/main" id="{78A5A869-79C2-AAA6-EF97-0C22CA87FDB1}"/>
              </a:ext>
            </a:extLst>
          </p:cNvPr>
          <p:cNvGrpSpPr/>
          <p:nvPr/>
        </p:nvGrpSpPr>
        <p:grpSpPr>
          <a:xfrm>
            <a:off x="838200" y="1381125"/>
            <a:ext cx="5126736" cy="4105275"/>
            <a:chOff x="838200" y="1381125"/>
            <a:chExt cx="5126736" cy="4105275"/>
          </a:xfrm>
        </p:grpSpPr>
        <p:pic>
          <p:nvPicPr>
            <p:cNvPr id="3" name="Picture 2" descr="fig-cars-tableplot-1.png"/>
            <p:cNvPicPr>
              <a:picLocks noChangeAspect="1"/>
            </p:cNvPicPr>
            <p:nvPr/>
          </p:nvPicPr>
          <p:blipFill>
            <a:blip r:embed="rId6"/>
            <a:stretch>
              <a:fillRect/>
            </a:stretch>
          </p:blipFill>
          <p:spPr>
            <a:xfrm>
              <a:off x="841248" y="1828800"/>
              <a:ext cx="5120640" cy="3657600"/>
            </a:xfrm>
            <a:prstGeom prst="rect">
              <a:avLst/>
            </a:prstGeom>
          </p:spPr>
        </p:pic>
        <p:sp>
          <p:nvSpPr>
            <p:cNvPr id="12" name="TextBox 11">
              <a:extLst>
                <a:ext uri="{FF2B5EF4-FFF2-40B4-BE49-F238E27FC236}">
                  <a16:creationId xmlns:a16="http://schemas.microsoft.com/office/drawing/2014/main" id="{F4A91128-D889-6BD4-6A40-3AE7480AEDFF}"/>
                </a:ext>
              </a:extLst>
            </p:cNvPr>
            <p:cNvSpPr txBox="1"/>
            <p:nvPr/>
          </p:nvSpPr>
          <p:spPr>
            <a:xfrm>
              <a:off x="838200" y="1381125"/>
              <a:ext cx="5126736" cy="369332"/>
            </a:xfrm>
            <a:prstGeom prst="rect">
              <a:avLst/>
            </a:prstGeom>
            <a:noFill/>
          </p:spPr>
          <p:txBody>
            <a:bodyPr wrap="square" rtlCol="0">
              <a:spAutoFit/>
            </a:bodyPr>
            <a:lstStyle/>
            <a:p>
              <a:r>
                <a:rPr lang="en-CA" dirty="0"/>
                <a:t>Visualizing VIFs, condition indices, variance %</a:t>
              </a:r>
            </a:p>
          </p:txBody>
        </p:sp>
      </p:grpSp>
      <p:sp>
        <p:nvSpPr>
          <p:cNvPr id="9" name="Rectangle: Rounded Corners 8">
            <a:extLst>
              <a:ext uri="{FF2B5EF4-FFF2-40B4-BE49-F238E27FC236}">
                <a16:creationId xmlns:a16="http://schemas.microsoft.com/office/drawing/2014/main" id="{D3927502-F632-50FE-450B-56A90E4BBE19}"/>
              </a:ext>
            </a:extLst>
          </p:cNvPr>
          <p:cNvSpPr/>
          <p:nvPr/>
        </p:nvSpPr>
        <p:spPr>
          <a:xfrm>
            <a:off x="704088" y="2123441"/>
            <a:ext cx="4268745" cy="130556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Slide Number Placeholder 16"/>
          <p:cNvSpPr>
            <a:spLocks noGrp="1"/>
          </p:cNvSpPr>
          <p:nvPr>
            <p:ph type="sldNum" sz="quarter" idx="12"/>
          </p:nvPr>
        </p:nvSpPr>
        <p:spPr/>
        <p:txBody>
          <a:bodyPr/>
          <a:lstStyle/>
          <a:p>
            <a:fld id="{9BFB2853-4965-4727-91C4-384EB30D99A4}" type="slidenum">
              <a:rPr lang="en-CA"/>
              <a:t>39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1000" fill="hold"/>
                                        <p:tgtEl>
                                          <p:spTgt spid="15"/>
                                        </p:tgtEl>
                                        <p:attrNameLst>
                                          <p:attrName>ppt_w</p:attrName>
                                        </p:attrNameLst>
                                      </p:cBhvr>
                                      <p:tavLst>
                                        <p:tav tm="0">
                                          <p:val>
                                            <p:fltVal val="0"/>
                                          </p:val>
                                        </p:tav>
                                        <p:tav tm="100000">
                                          <p:val>
                                            <p:strVal val="#ppt_w"/>
                                          </p:val>
                                        </p:tav>
                                      </p:tavLst>
                                    </p:anim>
                                    <p:anim calcmode="lin" valueType="num">
                                      <p:cBhvr>
                                        <p:cTn id="14" dur="1000" fill="hold"/>
                                        <p:tgtEl>
                                          <p:spTgt spid="15"/>
                                        </p:tgtEl>
                                        <p:attrNameLst>
                                          <p:attrName>ppt_h</p:attrName>
                                        </p:attrNameLst>
                                      </p:cBhvr>
                                      <p:tavLst>
                                        <p:tav tm="0">
                                          <p:val>
                                            <p:fltVal val="0"/>
                                          </p:val>
                                        </p:tav>
                                        <p:tav tm="100000">
                                          <p:val>
                                            <p:strVal val="#ppt_h"/>
                                          </p:val>
                                        </p:tav>
                                      </p:tavLst>
                                    </p:anim>
                                    <p:anim calcmode="lin" valueType="num">
                                      <p:cBhvr>
                                        <p:cTn id="15" dur="1000" fill="hold"/>
                                        <p:tgtEl>
                                          <p:spTgt spid="15"/>
                                        </p:tgtEl>
                                        <p:attrNameLst>
                                          <p:attrName>style.rotation</p:attrName>
                                        </p:attrNameLst>
                                      </p:cBhvr>
                                      <p:tavLst>
                                        <p:tav tm="0">
                                          <p:val>
                                            <p:fltVal val="90"/>
                                          </p:val>
                                        </p:tav>
                                        <p:tav tm="100000">
                                          <p:val>
                                            <p:fltVal val="0"/>
                                          </p:val>
                                        </p:tav>
                                      </p:tavLst>
                                    </p:anim>
                                    <p:animEffect transition="in" filter="fade">
                                      <p:cBhvr>
                                        <p:cTn id="16" dur="10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t>Constrain the size of the coefficients</a:t>
            </a:r>
          </a:p>
          <a:p>
            <a:r>
              <a:t>The estimate moves from the OLS solution toward the origin</a:t>
            </a:r>
          </a:p>
          <a:p>
            <a:r>
              <a:t>A little bias buys a lot of precision</a:t>
            </a:r>
          </a:p>
        </p:txBody>
      </p:sp>
      <p:pic>
        <p:nvPicPr>
          <p:cNvPr id="4" name="Picture 3" descr="ridge-demo.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249214"/>
            <a:ext cx="785973" cy="91440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40</a:t>
            </a:fld>
            <a:endParaRPr lang="en-CA"/>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a:xfrm>
            <a:off x="838200" y="1643063"/>
            <a:ext cx="4259893" cy="4533900"/>
          </a:xfrm>
        </p:spPr>
        <p:txBody>
          <a:bodyPr/>
          <a:lstStyle/>
          <a:p>
            <a:r>
              <a:rPr dirty="0"/>
              <a:t>Longley data: six highly collinear economic predictors</a:t>
            </a:r>
          </a:p>
          <a:p>
            <a:r>
              <a:rPr dirty="0"/>
              <a:t>Coefficients plotted against the shrinkage constant</a:t>
            </a:r>
          </a:p>
          <a:p>
            <a:r>
              <a:rPr dirty="0"/>
              <a:t>Shows the bias, but nothing about precision</a:t>
            </a:r>
          </a:p>
        </p:txBody>
      </p:sp>
      <p:pic>
        <p:nvPicPr>
          <p:cNvPr id="4" name="Picture 3" descr="fig-longley-traceplot1-1.png"/>
          <p:cNvPicPr>
            <a:picLocks noChangeAspect="1"/>
          </p:cNvPicPr>
          <p:nvPr/>
        </p:nvPicPr>
        <p:blipFill>
          <a:blip r:embed="rId3"/>
          <a:stretch>
            <a:fillRect/>
          </a:stretch>
        </p:blipFill>
        <p:spPr>
          <a:xfrm>
            <a:off x="5273458" y="1484021"/>
            <a:ext cx="6083390" cy="4345279"/>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dirty="0">
                <a:solidFill>
                  <a:srgbClr val="707070"/>
                </a:solidFill>
              </a:rPr>
              <a:t>Figure 9.10</a:t>
            </a:r>
          </a:p>
        </p:txBody>
      </p:sp>
      <p:sp>
        <p:nvSpPr>
          <p:cNvPr id="6" name="Slide Number Placeholder 6"/>
          <p:cNvSpPr>
            <a:spLocks noGrp="1"/>
          </p:cNvSpPr>
          <p:nvPr>
            <p:ph type="sldNum" sz="quarter" idx="12"/>
          </p:nvPr>
        </p:nvSpPr>
        <p:spPr/>
        <p:txBody>
          <a:bodyPr/>
          <a:lstStyle/>
          <a:p>
            <a:fld id="{9BFB2853-4965-4727-91C4-384EB30D99A4}" type="slidenum">
              <a:rPr lang="en-CA"/>
              <a:t>41</a:t>
            </a:fld>
            <a:endParaRPr lang="en-CA"/>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46278" y="230940"/>
            <a:ext cx="748963" cy="864000"/>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065102" y="274493"/>
            <a:ext cx="742652" cy="86400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42</a:t>
            </a:fld>
            <a:endParaRPr lang="en-CA"/>
          </a:p>
        </p:txBody>
      </p:sp>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p:txBody>
          <a:bodyPr/>
          <a:lstStyle/>
          <a:p>
            <a:r>
              <a:t>Transform to the principal component space of the predictors</a:t>
            </a:r>
          </a:p>
          <a:p>
            <a:r>
              <a:t>Shrinkage happens mostly in the smallest dimensions</a:t>
            </a:r>
          </a:p>
          <a:p>
            <a:r>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sp>
        <p:nvSpPr>
          <p:cNvPr id="8" name="Slide Number Placeholder 8"/>
          <p:cNvSpPr>
            <a:spLocks noGrp="1"/>
          </p:cNvSpPr>
          <p:nvPr>
            <p:ph type="sldNum" sz="quarter" idx="12"/>
          </p:nvPr>
        </p:nvSpPr>
        <p:spPr/>
        <p:txBody>
          <a:bodyPr/>
          <a:lstStyle/>
          <a:p>
            <a:fld id="{9BFB2853-4965-4727-91C4-384EB30D99A4}" type="slidenum">
              <a:rPr lang="en-CA"/>
              <a:t>43</a:t>
            </a:fld>
            <a:endParaRPr lang="en-CA"/>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HE plot framework</a:t>
            </a:r>
          </a:p>
        </p:txBody>
      </p:sp>
      <p:sp>
        <p:nvSpPr>
          <p:cNvPr id="3" name="Text Placeholder 2"/>
          <p:cNvSpPr>
            <a:spLocks noGrp="1"/>
          </p:cNvSpPr>
          <p:nvPr>
            <p:ph type="body" idx="1"/>
          </p:nvPr>
        </p:nvSpPr>
        <p:spPr/>
        <p:txBody>
          <a:bodyPr/>
          <a:lstStyle/>
          <a:p>
            <a:r>
              <a:t>Seeing multivariate tests as ellipses</a:t>
            </a:r>
          </a:p>
        </p:txBody>
      </p:sp>
      <p:sp>
        <p:nvSpPr>
          <p:cNvPr id="4" name="Slide Number Placeholder 4"/>
          <p:cNvSpPr>
            <a:spLocks noGrp="1"/>
          </p:cNvSpPr>
          <p:nvPr>
            <p:ph type="sldNum" sz="quarter" idx="12"/>
          </p:nvPr>
        </p:nvSpPr>
        <p:spPr/>
        <p:txBody>
          <a:bodyPr/>
          <a:lstStyle/>
          <a:p>
            <a:fld id="{9BFB2853-4965-4727-91C4-384EB30D99A4}" type="slidenum">
              <a:rPr lang="en-CA"/>
              <a:t>44</a:t>
            </a:fld>
            <a:endParaRPr lang="en-CA"/>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
        <p:nvSpPr>
          <p:cNvPr id="38" name="Slide Number Placeholder 38"/>
          <p:cNvSpPr>
            <a:spLocks noGrp="1"/>
          </p:cNvSpPr>
          <p:nvPr>
            <p:ph type="sldNum" sz="quarter" idx="12"/>
          </p:nvPr>
        </p:nvSpPr>
        <p:spPr/>
        <p:txBody>
          <a:bodyPr/>
          <a:lstStyle/>
          <a:p>
            <a:fld id="{9BFB2853-4965-4727-91C4-384EB30D99A4}" type="slidenum">
              <a:rPr lang="en-CA"/>
              <a:t>45</a:t>
            </a:fld>
            <a:endParaRPr lang="en-CA"/>
          </a:p>
        </p:txBody>
      </p:sp>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838200" y="4190999"/>
            <a:ext cx="10515600" cy="2285999"/>
          </a:xfrm>
        </p:spPr>
        <p:txBody>
          <a:bodyPr>
            <a:normAutofit/>
          </a:bodyPr>
          <a:lstStyle/>
          <a:p>
            <a:r>
              <a:rPr lang="en-US" sz="2000" dirty="0"/>
              <a:t>Differences between group 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600" dirty="0"/>
              <a:t>Direction shows relation of groups to response variables</a:t>
            </a:r>
          </a:p>
          <a:p>
            <a:pPr lvl="1"/>
            <a:r>
              <a:rPr lang="en-US" sz="1600" dirty="0"/>
              <a:t>Size shows “how big is H relative to E”</a:t>
            </a:r>
          </a:p>
          <a:p>
            <a:r>
              <a:rPr lang="en-US" sz="2000" dirty="0"/>
              <a:t>Variation within groups is reflected in the </a:t>
            </a:r>
            <a:r>
              <a:rPr lang="en-US" sz="2000" b="1" dirty="0"/>
              <a:t>E</a:t>
            </a:r>
            <a:r>
              <a:rPr lang="en-US" sz="2000" dirty="0"/>
              <a:t> ellipsoid-- data ellipsoid of the </a:t>
            </a:r>
            <a:r>
              <a:rPr lang="en-US" sz="2000" dirty="0">
                <a:solidFill>
                  <a:srgbClr val="FF0000"/>
                </a:solidFill>
              </a:rPr>
              <a:t>residuals</a:t>
            </a:r>
          </a:p>
          <a:p>
            <a:pPr lvl="1"/>
            <a:r>
              <a:rPr lang="en-US" sz="1600" dirty="0"/>
              <a:t>Direction: residual (partial) correlation between BM &amp; WP</a:t>
            </a:r>
          </a:p>
          <a:p>
            <a:pPr lvl="1"/>
            <a:r>
              <a:rPr lang="en-US" sz="16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3716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86500" y="13716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991600" y="1143000"/>
            <a:ext cx="2743200" cy="2743200"/>
          </a:xfrm>
          <a:prstGeom prst="rect">
            <a:avLst/>
          </a:prstGeom>
        </p:spPr>
      </p:pic>
      <p:cxnSp>
        <p:nvCxnSpPr>
          <p:cNvPr id="9" name="Straight Arrow Connector 8"/>
          <p:cNvCxnSpPr/>
          <p:nvPr/>
        </p:nvCxnSpPr>
        <p:spPr>
          <a:xfrm>
            <a:off x="5638800" y="17526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8305800" y="18991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2" name="Slide Number Placeholder 12"/>
          <p:cNvSpPr>
            <a:spLocks noGrp="1"/>
          </p:cNvSpPr>
          <p:nvPr>
            <p:ph type="sldNum" sz="quarter" idx="12"/>
          </p:nvPr>
        </p:nvSpPr>
        <p:spPr/>
        <p:txBody>
          <a:bodyPr/>
          <a:lstStyle/>
          <a:p>
            <a:fld id="{9BFB2853-4965-4727-91C4-384EB30D99A4}" type="slidenum">
              <a:rPr lang="en-CA"/>
              <a:t>46</a:t>
            </a:fld>
            <a:endParaRPr lang="en-CA"/>
          </a:p>
        </p:txBody>
      </p:sp>
    </p:spTree>
    <p:extLst>
      <p:ext uri="{BB962C8B-B14F-4D97-AF65-F5344CB8AC3E}">
        <p14:creationId xmlns:p14="http://schemas.microsoft.com/office/powerpoint/2010/main" val="114728400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1430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72400" y="1143000"/>
            <a:ext cx="3200400" cy="3200400"/>
          </a:xfrm>
          <a:prstGeom prst="rect">
            <a:avLst/>
          </a:prstGeom>
        </p:spPr>
      </p:pic>
      <p:cxnSp>
        <p:nvCxnSpPr>
          <p:cNvPr id="7" name="Straight Arrow Connector 6"/>
          <p:cNvCxnSpPr/>
          <p:nvPr/>
        </p:nvCxnSpPr>
        <p:spPr>
          <a:xfrm>
            <a:off x="6629400" y="19812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10896600" y="1447801"/>
            <a:ext cx="1066800" cy="646331"/>
          </a:xfrm>
          <a:prstGeom prst="rect">
            <a:avLst/>
          </a:prstGeom>
          <a:noFill/>
        </p:spPr>
        <p:txBody>
          <a:bodyPr wrap="square" rtlCol="0">
            <a:spAutoFit/>
          </a:bodyPr>
          <a:lstStyle/>
          <a:p>
            <a:r>
              <a:rPr lang="en-US" sz="1200" dirty="0"/>
              <a:t>Jittered fitted values</a:t>
            </a:r>
          </a:p>
          <a:p>
            <a:r>
              <a:rPr lang="en-US" sz="1200" dirty="0"/>
              <a:t>(</a:t>
            </a:r>
            <a:r>
              <a:rPr lang="en-US" sz="1200" dirty="0" err="1"/>
              <a:t>gp</a:t>
            </a:r>
            <a:r>
              <a:rPr lang="en-US" sz="1200" dirty="0"/>
              <a:t> means)</a:t>
            </a:r>
          </a:p>
        </p:txBody>
      </p:sp>
      <p:graphicFrame>
        <p:nvGraphicFramePr>
          <p:cNvPr id="9" name="Object 8"/>
          <p:cNvGraphicFramePr>
            <a:graphicFrameLocks noChangeAspect="1"/>
          </p:cNvGraphicFramePr>
          <p:nvPr>
            <p:extLst>
              <p:ext uri="{D42A27DB-BD31-4B8C-83A1-F6EECF244321}">
                <p14:modId xmlns:p14="http://schemas.microsoft.com/office/powerpoint/2010/main" val="2451739529"/>
              </p:ext>
            </p:extLst>
          </p:nvPr>
        </p:nvGraphicFramePr>
        <p:xfrm>
          <a:off x="6267450" y="6096000"/>
          <a:ext cx="1657350" cy="457200"/>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6267450" y="6096000"/>
                        <a:ext cx="1657350" cy="457200"/>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8934374" y="1646000"/>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9601200" y="2982200"/>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12"/>
          <p:cNvSpPr>
            <a:spLocks noGrp="1"/>
          </p:cNvSpPr>
          <p:nvPr>
            <p:ph type="sldNum" sz="quarter" idx="12"/>
          </p:nvPr>
        </p:nvSpPr>
        <p:spPr/>
        <p:txBody>
          <a:bodyPr/>
          <a:lstStyle/>
          <a:p>
            <a:fld id="{9BFB2853-4965-4727-91C4-384EB30D99A4}" type="slidenum">
              <a:rPr lang="en-CA"/>
              <a:t>47</a:t>
            </a:fld>
            <a:endParaRPr lang="en-CA"/>
          </a:p>
        </p:txBody>
      </p:sp>
    </p:spTree>
    <p:extLst>
      <p:ext uri="{BB962C8B-B14F-4D97-AF65-F5344CB8AC3E}">
        <p14:creationId xmlns:p14="http://schemas.microsoft.com/office/powerpoint/2010/main" val="298801793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3962400"/>
            <a:ext cx="10515600" cy="1905000"/>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called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86200" y="1099038"/>
            <a:ext cx="2286000" cy="2286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53200" y="1113692"/>
            <a:ext cx="2286000" cy="2286000"/>
          </a:xfrm>
          <a:prstGeom prst="rect">
            <a:avLst/>
          </a:prstGeom>
        </p:spPr>
      </p:pic>
      <p:cxnSp>
        <p:nvCxnSpPr>
          <p:cNvPr id="8" name="Straight Arrow Connector 7"/>
          <p:cNvCxnSpPr/>
          <p:nvPr/>
        </p:nvCxnSpPr>
        <p:spPr>
          <a:xfrm>
            <a:off x="5867400" y="16676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220200" y="1099038"/>
            <a:ext cx="2286000" cy="2286000"/>
          </a:xfrm>
          <a:prstGeom prst="rect">
            <a:avLst/>
          </a:prstGeom>
        </p:spPr>
      </p:pic>
      <p:cxnSp>
        <p:nvCxnSpPr>
          <p:cNvPr id="11" name="Straight Arrow Connector 10"/>
          <p:cNvCxnSpPr/>
          <p:nvPr/>
        </p:nvCxnSpPr>
        <p:spPr>
          <a:xfrm>
            <a:off x="8610600" y="16764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2074366849"/>
              </p:ext>
            </p:extLst>
          </p:nvPr>
        </p:nvGraphicFramePr>
        <p:xfrm>
          <a:off x="5867400" y="5562600"/>
          <a:ext cx="2514600" cy="457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5867400" y="5562600"/>
                        <a:ext cx="2514600" cy="457200"/>
                      </a:xfrm>
                      <a:prstGeom prst="rect">
                        <a:avLst/>
                      </a:prstGeom>
                    </p:spPr>
                  </p:pic>
                </p:oleObj>
              </mc:Fallback>
            </mc:AlternateContent>
          </a:graphicData>
        </a:graphic>
      </p:graphicFrame>
      <p:sp>
        <p:nvSpPr>
          <p:cNvPr id="13" name="Slide Number Placeholder 13"/>
          <p:cNvSpPr>
            <a:spLocks noGrp="1"/>
          </p:cNvSpPr>
          <p:nvPr>
            <p:ph type="sldNum" sz="quarter" idx="12"/>
          </p:nvPr>
        </p:nvSpPr>
        <p:spPr/>
        <p:txBody>
          <a:bodyPr/>
          <a:lstStyle/>
          <a:p>
            <a:fld id="{9BFB2853-4965-4727-91C4-384EB30D99A4}" type="slidenum">
              <a:rPr lang="en-CA"/>
              <a:t>48</a:t>
            </a:fld>
            <a:endParaRPr lang="en-CA"/>
          </a:p>
        </p:txBody>
      </p:sp>
    </p:spTree>
    <p:extLst>
      <p:ext uri="{BB962C8B-B14F-4D97-AF65-F5344CB8AC3E}">
        <p14:creationId xmlns:p14="http://schemas.microsoft.com/office/powerpoint/2010/main" val="379674940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3" name="Picture 2" descr="peng-HE-signif.png"/>
          <p:cNvPicPr>
            <a:picLocks noChangeAspect="1"/>
          </p:cNvPicPr>
          <p:nvPr/>
        </p:nvPicPr>
        <p:blipFill>
          <a:blip r:embed="rId3"/>
          <a:stretch>
            <a:fillRect/>
          </a:stretch>
        </p:blipFill>
        <p:spPr>
          <a:xfrm>
            <a:off x="556833" y="1579126"/>
            <a:ext cx="786384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a:t>
            </a:r>
          </a:p>
          <a:p>
            <a:endParaRPr lang="en-CA" dirty="0"/>
          </a:p>
          <a:p>
            <a:r>
              <a:rPr lang="en-CA" b="1" dirty="0"/>
              <a:t>Significance scaling</a:t>
            </a:r>
            <a:r>
              <a:rPr lang="en-CA" dirty="0"/>
              <a:t>: Scale H so an H ellipse that projects outside E signals a significant effect (Roy's test).</a:t>
            </a:r>
          </a:p>
          <a:p>
            <a:endParaRPr lang="en-CA" dirty="0"/>
          </a:p>
          <a:p>
            <a:r>
              <a:rPr lang="en-CA" b="1" dirty="0"/>
              <a:t>Direction of H vs. E </a:t>
            </a:r>
            <a:r>
              <a:rPr lang="en-CA" dirty="0"/>
              <a:t>shows how groups differ in a data-space view</a:t>
            </a:r>
          </a:p>
        </p:txBody>
      </p:sp>
      <p:sp>
        <p:nvSpPr>
          <p:cNvPr id="7" name="Slide Number Placeholder 7"/>
          <p:cNvSpPr>
            <a:spLocks noGrp="1"/>
          </p:cNvSpPr>
          <p:nvPr>
            <p:ph type="sldNum" sz="quarter" idx="12"/>
          </p:nvPr>
        </p:nvSpPr>
        <p:spPr/>
        <p:txBody>
          <a:bodyPr/>
          <a:lstStyle/>
          <a:p>
            <a:fld id="{9BFB2853-4965-4727-91C4-384EB30D99A4}" type="slidenum">
              <a:rPr lang="en-CA"/>
              <a:t>49</a:t>
            </a:fld>
            <a:endParaRPr lang="en-CA"/>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H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
        <p:nvSpPr>
          <p:cNvPr id="6" name="Slide Number Placeholder 6"/>
          <p:cNvSpPr>
            <a:spLocks noGrp="1"/>
          </p:cNvSpPr>
          <p:nvPr>
            <p:ph type="sldNum" sz="quarter" idx="12"/>
          </p:nvPr>
        </p:nvSpPr>
        <p:spPr/>
        <p:txBody>
          <a:bodyPr/>
          <a:lstStyle/>
          <a:p>
            <a:fld id="{9BFB2853-4965-4727-91C4-384EB30D99A4}" type="slidenum">
              <a:rPr lang="en-CA"/>
              <a:t>50</a:t>
            </a:fld>
            <a:endParaRPr lang="en-CA"/>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4" name="TextBox 3"/>
          <p:cNvSpPr txBox="1"/>
          <p:nvPr/>
        </p:nvSpPr>
        <p:spPr>
          <a:xfrm>
            <a:off x="950026" y="1219201"/>
            <a:ext cx="10525050" cy="707886"/>
          </a:xfrm>
          <a:prstGeom prst="rect">
            <a:avLst/>
          </a:prstGeom>
          <a:noFill/>
        </p:spPr>
        <p:txBody>
          <a:bodyPr wrap="square" rtlCol="0">
            <a:spAutoFit/>
          </a:bodyPr>
          <a:lstStyle/>
          <a:p>
            <a:r>
              <a:rPr lang="en-US" sz="2000" dirty="0"/>
              <a:t>The </a:t>
            </a:r>
            <a:r>
              <a:rPr lang="en-US" sz="2000" dirty="0">
                <a:solidFill>
                  <a:schemeClr val="accent6">
                    <a:lumMod val="50000"/>
                  </a:schemeClr>
                </a:solidFill>
                <a:latin typeface="Lucida Console" panose="020B0609040504020204" pitchFamily="49" charset="0"/>
              </a:rPr>
              <a:t>pairs() </a:t>
            </a:r>
            <a:r>
              <a:rPr lang="en-US" sz="2000" dirty="0"/>
              <a:t>method for </a:t>
            </a:r>
            <a:r>
              <a:rPr lang="en-US" sz="2000" dirty="0" err="1"/>
              <a:t>mlm</a:t>
            </a:r>
            <a:r>
              <a:rPr lang="en-US" sz="2000" dirty="0"/>
              <a:t> objects gives all pairwise HE plots in a scatterplot matrix format in </a:t>
            </a:r>
            <a:r>
              <a:rPr lang="en-US" sz="2000" dirty="0">
                <a:solidFill>
                  <a:srgbClr val="FF0000"/>
                </a:solidFill>
              </a:rPr>
              <a:t>data space</a:t>
            </a:r>
            <a:r>
              <a:rPr lang="en-US" sz="2000"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t>pairs(peng.mod0,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lide Number Placeholder 12"/>
          <p:cNvSpPr>
            <a:spLocks noGrp="1"/>
          </p:cNvSpPr>
          <p:nvPr>
            <p:ph type="sldNum" sz="quarter" idx="12"/>
          </p:nvPr>
        </p:nvSpPr>
        <p:spPr/>
        <p:txBody>
          <a:bodyPr/>
          <a:lstStyle/>
          <a:p>
            <a:fld id="{9BFB2853-4965-4727-91C4-384EB30D99A4}" type="slidenum">
              <a:rPr lang="en-CA"/>
              <a:t>51</a:t>
            </a:fld>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lnSpcReduction="10000"/>
          </a:bodyPr>
          <a:lstStyle/>
          <a:p>
            <a:r>
              <a:rPr dirty="0"/>
              <a:t>School data: 70 US schools in a program for disadvantaged students</a:t>
            </a:r>
          </a:p>
          <a:p>
            <a:pPr lvl="1"/>
            <a:r>
              <a:rPr dirty="0"/>
              <a:t>Outcomes: reading, mathematics, self-esteem</a:t>
            </a:r>
          </a:p>
          <a:p>
            <a:pPr lvl="1"/>
            <a:r>
              <a:rPr dirty="0"/>
              <a:t>Predictors: parents’ education &amp; occupation, school visits, counseling, number of teachers</a:t>
            </a:r>
          </a:p>
          <a:p>
            <a:r>
              <a:rPr b="1" dirty="0"/>
              <a:t>Length</a:t>
            </a:r>
            <a:r>
              <a:rPr dirty="0"/>
              <a:t>: the strength of the relationship</a:t>
            </a:r>
          </a:p>
          <a:p>
            <a:r>
              <a:rPr b="1" dirty="0"/>
              <a:t>Direction</a:t>
            </a:r>
            <a:r>
              <a:rPr dirty="0"/>
              <a:t>: how the predictor relates to the two responses</a:t>
            </a:r>
          </a:p>
          <a:p>
            <a:r>
              <a:rPr dirty="0"/>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
        <p:nvSpPr>
          <p:cNvPr id="6" name="Slide Number Placeholder 6"/>
          <p:cNvSpPr>
            <a:spLocks noGrp="1"/>
          </p:cNvSpPr>
          <p:nvPr>
            <p:ph type="sldNum" sz="quarter" idx="12"/>
          </p:nvPr>
        </p:nvSpPr>
        <p:spPr/>
        <p:txBody>
          <a:bodyPr/>
          <a:lstStyle/>
          <a:p>
            <a:fld id="{9BFB2853-4965-4727-91C4-384EB30D99A4}" type="slidenum">
              <a:rPr lang="en-CA"/>
              <a:t>52</a:t>
            </a:fld>
            <a:endParaRPr lang="en-CA"/>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1025591"/>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1025591"/>
                <a:ext cx="9372600" cy="2011678"/>
              </a:xfrm>
              <a:blipFill>
                <a:blip r:embed="rId3"/>
                <a:stretch>
                  <a:fillRect l="-586" t="-2727" b="-5455"/>
                </a:stretch>
              </a:blipFill>
            </p:spPr>
            <p:txBody>
              <a:bodyPr/>
              <a:lstStyle/>
              <a:p>
                <a:r>
                  <a:rPr lang="en-CA">
                    <a:noFill/>
                  </a:rPr>
                  <a:t> </a:t>
                </a:r>
              </a:p>
            </p:txBody>
          </p:sp>
        </mc:Fallback>
      </mc:AlternateContent>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
        <p:nvSpPr>
          <p:cNvPr id="11" name="Slide Number Placeholder 11"/>
          <p:cNvSpPr>
            <a:spLocks noGrp="1"/>
          </p:cNvSpPr>
          <p:nvPr>
            <p:ph type="sldNum" sz="quarter" idx="12"/>
          </p:nvPr>
        </p:nvSpPr>
        <p:spPr/>
        <p:txBody>
          <a:bodyPr/>
          <a:lstStyle/>
          <a:p>
            <a:fld id="{9BFB2853-4965-4727-91C4-384EB30D99A4}" type="slidenum">
              <a:rPr lang="en-CA"/>
              <a:t>53</a:t>
            </a:fld>
            <a:endParaRPr lang="en-CA"/>
          </a:p>
        </p:txBody>
      </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5212080"/>
          </a:xfrm>
          <a:prstGeom prst="rect">
            <a:avLst/>
          </a:prstGeom>
          <a:noFill/>
        </p:spPr>
        <p:txBody>
          <a:bodyPr wrap="square" anchor="ctr">
            <a:noAutofit/>
          </a:bodyPr>
          <a:lstStyle/>
          <a:p>
            <a:r>
              <a:rPr sz="2400"/>
              <a:t>Find the directions that best separate the groups, then classify by distance to the group means.</a:t>
            </a:r>
          </a:p>
        </p:txBody>
      </p:sp>
      <p:sp>
        <p:nvSpPr>
          <p:cNvPr id="5" name="Slide Number Placeholder 5"/>
          <p:cNvSpPr>
            <a:spLocks noGrp="1"/>
          </p:cNvSpPr>
          <p:nvPr>
            <p:ph type="sldNum" sz="quarter" idx="12"/>
          </p:nvPr>
        </p:nvSpPr>
        <p:spPr/>
        <p:txBody>
          <a:bodyPr/>
          <a:lstStyle/>
          <a:p>
            <a:fld id="{9BFB2853-4965-4727-91C4-384EB30D99A4}" type="slidenum">
              <a:rPr lang="en-CA"/>
              <a:t>54</a:t>
            </a:fld>
            <a:endParaRPr lang="en-CA"/>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
        <p:nvSpPr>
          <p:cNvPr id="5" name="Slide Number Placeholder 5"/>
          <p:cNvSpPr>
            <a:spLocks noGrp="1"/>
          </p:cNvSpPr>
          <p:nvPr>
            <p:ph type="sldNum" sz="quarter" idx="12"/>
          </p:nvPr>
        </p:nvSpPr>
        <p:spPr/>
        <p:txBody>
          <a:bodyPr/>
          <a:lstStyle/>
          <a:p>
            <a:fld id="{9BFB2853-4965-4727-91C4-384EB30D99A4}" type="slidenum">
              <a:rPr lang="en-CA"/>
              <a:t>55</a:t>
            </a:fld>
            <a:endParaRPr lang="en-CA"/>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p:txBody>
          <a:bodyPr/>
          <a:lstStyle/>
          <a:p>
            <a:r>
              <a:t>With three species, two discriminant dimensions show everything</a:t>
            </a:r>
          </a:p>
          <a:p>
            <a:r>
              <a:t>Variable vectors show which measures separate the species</a:t>
            </a:r>
          </a:p>
        </p:txBody>
      </p:sp>
      <p:pic>
        <p:nvPicPr>
          <p:cNvPr id="4" name="Picture 3" descr="fig-peng-LD-biplot-1.png"/>
          <p:cNvPicPr>
            <a:picLocks noChangeAspect="1"/>
          </p:cNvPicPr>
          <p:nvPr/>
        </p:nvPicPr>
        <p:blipFill>
          <a:blip r:embed="rId3"/>
          <a:stretch>
            <a:fillRect/>
          </a:stretch>
        </p:blipFill>
        <p:spPr>
          <a:xfrm>
            <a:off x="6144768" y="1417320"/>
            <a:ext cx="5212080" cy="521208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56</a:t>
            </a:fld>
            <a:endParaRPr lang="en-CA"/>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Checking multivariate models</a:t>
            </a:r>
          </a:p>
        </p:txBody>
      </p:sp>
      <p:sp>
        <p:nvSpPr>
          <p:cNvPr id="3" name="Text Placeholder 2"/>
          <p:cNvSpPr>
            <a:spLocks noGrp="1"/>
          </p:cNvSpPr>
          <p:nvPr>
            <p:ph type="body" idx="1"/>
          </p:nvPr>
        </p:nvSpPr>
        <p:spPr/>
        <p:txBody>
          <a:bodyPr/>
          <a:lstStyle/>
          <a:p>
            <a:r>
              <a:t>Outliers, influence and robust estimation</a:t>
            </a:r>
          </a:p>
        </p:txBody>
      </p:sp>
      <p:sp>
        <p:nvSpPr>
          <p:cNvPr id="4" name="Slide Number Placeholder 4"/>
          <p:cNvSpPr>
            <a:spLocks noGrp="1"/>
          </p:cNvSpPr>
          <p:nvPr>
            <p:ph type="sldNum" sz="quarter" idx="12"/>
          </p:nvPr>
        </p:nvSpPr>
        <p:spPr/>
        <p:txBody>
          <a:bodyPr/>
          <a:lstStyle/>
          <a:p>
            <a:fld id="{9BFB2853-4965-4727-91C4-384EB30D99A4}" type="slidenum">
              <a:rPr lang="en-CA"/>
              <a:t>57</a:t>
            </a:fld>
            <a:endParaRPr lang="en-CA"/>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dirty="0"/>
              <a:t>Distance plot: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103120"/>
          </a:xfrm>
          <a:prstGeom prst="rect">
            <a:avLst/>
          </a:prstGeom>
          <a:noFill/>
        </p:spPr>
        <p:txBody>
          <a:bodyPr wrap="square">
            <a:spAutoFit/>
          </a:bodyPr>
          <a:lstStyle/>
          <a:p>
            <a:pPr marL="228600" indent="-228600">
              <a:spcAft>
                <a:spcPts val="400"/>
              </a:spcAft>
              <a:buFont typeface="Arial"/>
              <a:buChar char="•"/>
            </a:pPr>
            <a:r>
              <a:rPr sz="1800"/>
              <a:t>Influence plot: bubble size ~ multivariate Cook’s D</a:t>
            </a:r>
          </a:p>
          <a:p>
            <a:pPr marL="228600" indent="-228600">
              <a:spcAft>
                <a:spcPts val="400"/>
              </a:spcAft>
              <a:buFont typeface="Arial"/>
              <a:buChar char="•"/>
            </a:pPr>
            <a:r>
              <a:rPr sz="1800" b="1">
                <a:solidFill>
                  <a:srgbClr val="FF0000"/>
                </a:solidFill>
              </a:rPr>
              <a:t>44, 59</a:t>
            </a:r>
            <a:r>
              <a:rPr sz="1800"/>
              <a:t>: high leverage and influential</a:t>
            </a:r>
          </a:p>
          <a:p>
            <a:pPr marL="228600" indent="-228600">
              <a:spcAft>
                <a:spcPts val="400"/>
              </a:spcAft>
              <a:buFont typeface="Arial"/>
              <a:buChar char="•"/>
            </a:pPr>
            <a:r>
              <a:rPr sz="1800" b="1">
                <a:solidFill>
                  <a:srgbClr val="0000FF"/>
                </a:solidFill>
              </a:rPr>
              <a:t>35</a:t>
            </a:r>
            <a:r>
              <a:rPr sz="1800"/>
              <a:t>: an outlier, but little influence</a:t>
            </a:r>
          </a:p>
          <a:p>
            <a:pPr marL="228600" indent="-228600">
              <a:spcAft>
                <a:spcPts val="400"/>
              </a:spcAft>
              <a:buFont typeface="Arial"/>
              <a:buChar char="•"/>
            </a:pPr>
            <a:r>
              <a:rPr sz="1800" b="1">
                <a:solidFill>
                  <a:srgbClr val="006400"/>
                </a:solidFill>
              </a:rPr>
              <a:t>66</a:t>
            </a:r>
            <a:r>
              <a:rPr sz="180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
        <p:nvSpPr>
          <p:cNvPr id="11" name="Slide Number Placeholder 11"/>
          <p:cNvSpPr>
            <a:spLocks noGrp="1"/>
          </p:cNvSpPr>
          <p:nvPr>
            <p:ph type="sldNum" sz="quarter" idx="12"/>
          </p:nvPr>
        </p:nvSpPr>
        <p:spPr/>
        <p:txBody>
          <a:bodyPr/>
          <a:lstStyle/>
          <a:p>
            <a:fld id="{9BFB2853-4965-4727-91C4-384EB30D99A4}" type="slidenum">
              <a:rPr lang="en-CA"/>
              <a:t>58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endParaRPr lang="en-CA" dirty="0"/>
          </a:p>
          <a:p>
            <a:r>
              <a:rPr dirty="0"/>
              <a:t>The most influential case is our Chinstrap friend 'Cyrano'</a:t>
            </a:r>
          </a:p>
          <a:p>
            <a:r>
              <a:rPr dirty="0"/>
              <a:t>'Hook Nose', 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
        <p:nvSpPr>
          <p:cNvPr id="6" name="Slide Number Placeholder 6"/>
          <p:cNvSpPr>
            <a:spLocks noGrp="1"/>
          </p:cNvSpPr>
          <p:nvPr>
            <p:ph type="sldNum" sz="quarter" idx="12"/>
          </p:nvPr>
        </p:nvSpPr>
        <p:spPr/>
        <p:txBody>
          <a:bodyPr/>
          <a:lstStyle/>
          <a:p>
            <a:fld id="{9BFB2853-4965-4727-91C4-384EB30D99A4}" type="slidenum">
              <a:rPr lang="en-CA"/>
              <a:t>59</a:t>
            </a:fld>
            <a:endParaRPr lang="en-CA"/>
          </a:p>
        </p:txBody>
      </p:sp>
      <p:pic>
        <p:nvPicPr>
          <p:cNvPr id="8" name="Picture 7" descr="logo.png">
            <a:extLst>
              <a:ext uri="{FF2B5EF4-FFF2-40B4-BE49-F238E27FC236}">
                <a16:creationId xmlns:a16="http://schemas.microsoft.com/office/drawing/2014/main" id="{8C078AC7-B6BA-1224-6A60-13C7E3AC7D34}"/>
              </a:ext>
            </a:extLst>
          </p:cNvPr>
          <p:cNvPicPr>
            <a:picLocks noChangeAspect="1"/>
          </p:cNvPicPr>
          <p:nvPr/>
        </p:nvPicPr>
        <p:blipFill>
          <a:blip r:embed="rId4"/>
          <a:stretch>
            <a:fillRect/>
          </a:stretch>
        </p:blipFill>
        <p:spPr>
          <a:xfrm>
            <a:off x="10794221" y="228600"/>
            <a:ext cx="788179" cy="914400"/>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Hook Nose gets 0.13</a:t>
            </a:r>
          </a:p>
        </p:txBody>
      </p:sp>
      <p:pic>
        <p:nvPicPr>
          <p:cNvPr id="4" name="Picture 3" descr="fig-peng-robmlm-plot-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
        <p:nvSpPr>
          <p:cNvPr id="6" name="Slide Number Placeholder 6"/>
          <p:cNvSpPr>
            <a:spLocks noGrp="1"/>
          </p:cNvSpPr>
          <p:nvPr>
            <p:ph type="sldNum" sz="quarter" idx="12"/>
          </p:nvPr>
        </p:nvSpPr>
        <p:spPr/>
        <p:txBody>
          <a:bodyPr/>
          <a:lstStyle/>
          <a:p>
            <a:fld id="{9BFB2853-4965-4727-91C4-384EB30D99A4}" type="slidenum">
              <a:rPr lang="en-CA"/>
              <a:t>60</a:t>
            </a:fld>
            <a:endParaRPr lang="en-CA"/>
          </a:p>
        </p:txBody>
      </p:sp>
      <p:pic>
        <p:nvPicPr>
          <p:cNvPr id="8" name="Picture 7" descr="logo.png">
            <a:extLst>
              <a:ext uri="{FF2B5EF4-FFF2-40B4-BE49-F238E27FC236}">
                <a16:creationId xmlns:a16="http://schemas.microsoft.com/office/drawing/2014/main" id="{8CEF84B3-671E-E514-73B1-77B869BE814F}"/>
              </a:ext>
            </a:extLst>
          </p:cNvPr>
          <p:cNvPicPr>
            <a:picLocks noChangeAspect="1"/>
          </p:cNvPicPr>
          <p:nvPr/>
        </p:nvPicPr>
        <p:blipFill>
          <a:blip r:embed="rId4"/>
          <a:stretch>
            <a:fillRect/>
          </a:stretch>
        </p:blipFill>
        <p:spPr>
          <a:xfrm>
            <a:off x="10794610" y="217170"/>
            <a:ext cx="787790" cy="914400"/>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ideas go a long way</a:t>
            </a:r>
          </a:p>
        </p:txBody>
      </p:sp>
      <p:sp>
        <p:nvSpPr>
          <p:cNvPr id="3" name="Content Placeholder 2"/>
          <p:cNvSpPr>
            <a:spLocks noGrp="1"/>
          </p:cNvSpPr>
          <p:nvPr>
            <p:ph idx="1"/>
          </p:nvPr>
        </p:nvSpPr>
        <p:spPr/>
        <p:txBody>
          <a:bodyPr/>
          <a:lstStyle/>
          <a:p>
            <a:r>
              <a:rPr b="1" dirty="0"/>
              <a:t>Ellipses</a:t>
            </a:r>
            <a:r>
              <a:rPr dirty="0"/>
              <a:t>: for data, for coefficients, and for hypotheses and error</a:t>
            </a:r>
          </a:p>
          <a:p>
            <a:r>
              <a:rPr b="1" dirty="0"/>
              <a:t>Projections</a:t>
            </a:r>
            <a:r>
              <a:rPr dirty="0"/>
              <a:t>: every plot is a view; choose the views that answer the question</a:t>
            </a:r>
            <a:endParaRPr lang="en-CA" dirty="0"/>
          </a:p>
          <a:p>
            <a:r>
              <a:rPr lang="en-CA" b="1" dirty="0"/>
              <a:t>Geometry</a:t>
            </a:r>
            <a:r>
              <a:rPr lang="en-CA" dirty="0"/>
              <a:t>: provides the connective tissue to understand relations in different, equivalent spaces.</a:t>
            </a:r>
            <a:endParaRPr dirty="0"/>
          </a:p>
          <a:p>
            <a:r>
              <a:rPr b="1" dirty="0"/>
              <a:t>Low-</a:t>
            </a:r>
            <a:r>
              <a:rPr lang="en-CA" b="1" dirty="0"/>
              <a:t>D</a:t>
            </a:r>
            <a:r>
              <a:rPr b="1" dirty="0"/>
              <a:t> views</a:t>
            </a:r>
            <a:r>
              <a:rPr dirty="0"/>
              <a:t>: biplots and canonical plots show many variables in the space that matters</a:t>
            </a:r>
          </a:p>
          <a:p>
            <a:r>
              <a:rPr b="1" dirty="0"/>
              <a:t>Visual thinning</a:t>
            </a:r>
            <a:r>
              <a:rPr dirty="0"/>
              <a:t>: summarize, so the message can be seen</a:t>
            </a:r>
          </a:p>
          <a:p>
            <a:r>
              <a:rPr dirty="0"/>
              <a:t>Multivariate models deserve graphs as good as those for a single response</a:t>
            </a:r>
          </a:p>
        </p:txBody>
      </p:sp>
      <p:sp>
        <p:nvSpPr>
          <p:cNvPr id="4" name="Slide Number Placeholder 4"/>
          <p:cNvSpPr>
            <a:spLocks noGrp="1"/>
          </p:cNvSpPr>
          <p:nvPr>
            <p:ph type="sldNum" sz="quarter" idx="12"/>
          </p:nvPr>
        </p:nvSpPr>
        <p:spPr/>
        <p:txBody>
          <a:bodyPr/>
          <a:lstStyle/>
          <a:p>
            <a:fld id="{9BFB2853-4965-4727-91C4-384EB30D99A4}" type="slidenum">
              <a:rPr lang="en-CA"/>
              <a:t>61</a:t>
            </a:fld>
            <a:endParaRPr lang="en-CA"/>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pic>
        <p:nvPicPr>
          <p:cNvPr id="4" name="Picture 3" descr="cover-peng.jpg"/>
          <p:cNvPicPr>
            <a:picLocks noChangeAspect="1"/>
          </p:cNvPicPr>
          <p:nvPr/>
        </p:nvPicPr>
        <p:blipFill>
          <a:blip r:embed="rId4"/>
          <a:stretch>
            <a:fillRect/>
          </a:stretch>
        </p:blipFill>
        <p:spPr>
          <a:xfrm>
            <a:off x="8051923" y="1197734"/>
            <a:ext cx="3530477" cy="4858555"/>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62</a:t>
            </a:fld>
            <a:endParaRPr lang="en-CA"/>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63</a:t>
            </a:fld>
            <a:endParaRPr lang="en-CA"/>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regression quartet</a:t>
            </a:r>
          </a:p>
        </p:txBody>
      </p:sp>
      <p:sp>
        <p:nvSpPr>
          <p:cNvPr id="3" name="Content Placeholder 2"/>
          <p:cNvSpPr>
            <a:spLocks noGrp="1"/>
          </p:cNvSpPr>
          <p:nvPr>
            <p:ph sz="half" idx="1"/>
          </p:nvPr>
        </p:nvSpPr>
        <p:spPr/>
        <p:txBody>
          <a:bodyPr/>
          <a:lstStyle/>
          <a:p>
            <a:r>
              <a:rPr dirty="0"/>
              <a:t>Residuals vs. fitted: nonlinearity</a:t>
            </a:r>
          </a:p>
          <a:p>
            <a:r>
              <a:rPr dirty="0"/>
              <a:t>Normal QQ: distribution of residuals</a:t>
            </a:r>
          </a:p>
          <a:p>
            <a:r>
              <a:rPr dirty="0"/>
              <a:t>Scale-location: non-constant variance</a:t>
            </a:r>
          </a:p>
          <a:p>
            <a:r>
              <a:rPr dirty="0"/>
              <a:t>Residuals vs. leverage: influential cases</a:t>
            </a:r>
          </a:p>
        </p:txBody>
      </p:sp>
      <p:pic>
        <p:nvPicPr>
          <p:cNvPr id="4" name="Picture 3" descr="fig-duncan-plot-model-1.png"/>
          <p:cNvPicPr>
            <a:picLocks noChangeAspect="1"/>
          </p:cNvPicPr>
          <p:nvPr/>
        </p:nvPicPr>
        <p:blipFill>
          <a:blip r:embed="rId3"/>
          <a:stretch>
            <a:fillRect/>
          </a:stretch>
        </p:blipFill>
        <p:spPr>
          <a:xfrm>
            <a:off x="6172200" y="1903780"/>
            <a:ext cx="5184648" cy="4147718"/>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a:t>
            </a:r>
          </a:p>
        </p:txBody>
      </p:sp>
      <p:sp>
        <p:nvSpPr>
          <p:cNvPr id="6" name="Slide Number Placeholder 6"/>
          <p:cNvSpPr>
            <a:spLocks noGrp="1"/>
          </p:cNvSpPr>
          <p:nvPr>
            <p:ph type="sldNum" sz="quarter" idx="12"/>
          </p:nvPr>
        </p:nvSpPr>
        <p:spPr/>
        <p:txBody>
          <a:bodyPr/>
          <a:lstStyle/>
          <a:p>
            <a:fld id="{9BFB2853-4965-4727-91C4-384EB30D99A4}" type="slidenum">
              <a:rPr lang="en-CA"/>
              <a:t>64</a:t>
            </a:fld>
            <a:endParaRPr lang="en-CA"/>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Coefficient plots: show the estimates, not a table</a:t>
            </a:r>
          </a:p>
        </p:txBody>
      </p:sp>
      <p:sp>
        <p:nvSpPr>
          <p:cNvPr id="3" name="Content Placeholder 2"/>
          <p:cNvSpPr>
            <a:spLocks noGrp="1"/>
          </p:cNvSpPr>
          <p:nvPr>
            <p:ph sz="half" idx="1"/>
          </p:nvPr>
        </p:nvSpPr>
        <p:spPr/>
        <p:txBody>
          <a:bodyPr/>
          <a:lstStyle/>
          <a:p>
            <a:r>
              <a:t>Estimates with confidence intervals</a:t>
            </a:r>
          </a:p>
          <a:p>
            <a:r>
              <a:t>Standardize, or the scales of the predictors dominate the picture</a:t>
            </a:r>
          </a:p>
          <a:p>
            <a:r>
              <a:t>Easy to compare several models</a:t>
            </a:r>
          </a:p>
        </p:txBody>
      </p:sp>
      <p:pic>
        <p:nvPicPr>
          <p:cNvPr id="4" name="Picture 3" descr="fig-modelplot3-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7.7</a:t>
            </a:r>
          </a:p>
        </p:txBody>
      </p:sp>
      <p:sp>
        <p:nvSpPr>
          <p:cNvPr id="6" name="Slide Number Placeholder 6"/>
          <p:cNvSpPr>
            <a:spLocks noGrp="1"/>
          </p:cNvSpPr>
          <p:nvPr>
            <p:ph type="sldNum" sz="quarter" idx="12"/>
          </p:nvPr>
        </p:nvSpPr>
        <p:spPr/>
        <p:txBody>
          <a:bodyPr/>
          <a:lstStyle/>
          <a:p>
            <a:fld id="{9BFB2853-4965-4727-91C4-384EB30D99A4}" type="slidenum">
              <a:rPr lang="en-CA"/>
              <a:t>65</a:t>
            </a:fld>
            <a:endParaRPr lang="en-CA"/>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Effect displays: what the model predicts</a:t>
            </a:r>
          </a:p>
        </p:txBody>
      </p:sp>
      <p:pic>
        <p:nvPicPr>
          <p:cNvPr id="3" name="Picture 2" descr="prestige-allEffects.png"/>
          <p:cNvPicPr>
            <a:picLocks noChangeAspect="1"/>
          </p:cNvPicPr>
          <p:nvPr/>
        </p:nvPicPr>
        <p:blipFill>
          <a:blip r:embed="rId3"/>
          <a:stretch>
            <a:fillRect/>
          </a:stretch>
        </p:blipFill>
        <p:spPr>
          <a:xfrm>
            <a:off x="1058125" y="1691640"/>
            <a:ext cx="10081846"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Fitted values for each predictor, averaging over the others.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7.17</a:t>
            </a:r>
          </a:p>
        </p:txBody>
      </p:sp>
      <p:sp>
        <p:nvSpPr>
          <p:cNvPr id="6" name="Slide Number Placeholder 6"/>
          <p:cNvSpPr>
            <a:spLocks noGrp="1"/>
          </p:cNvSpPr>
          <p:nvPr>
            <p:ph type="sldNum" sz="quarter" idx="12"/>
          </p:nvPr>
        </p:nvSpPr>
        <p:spPr/>
        <p:txBody>
          <a:bodyPr/>
          <a:lstStyle/>
          <a:p>
            <a:fld id="{9BFB2853-4965-4727-91C4-384EB30D99A4}" type="slidenum">
              <a:rPr lang="en-CA"/>
              <a:t>66</a:t>
            </a:fld>
            <a:endParaRPr lang="en-CA"/>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Collinearity and ridge regression</a:t>
            </a:r>
          </a:p>
        </p:txBody>
      </p:sp>
      <p:sp>
        <p:nvSpPr>
          <p:cNvPr id="3" name="Text Placeholder 2"/>
          <p:cNvSpPr>
            <a:spLocks noGrp="1"/>
          </p:cNvSpPr>
          <p:nvPr>
            <p:ph type="body" idx="1"/>
          </p:nvPr>
        </p:nvSpPr>
        <p:spPr/>
        <p:txBody>
          <a:bodyPr/>
          <a:lstStyle/>
          <a:p>
            <a:r>
              <a:t>Seeing the problem, and seeing the remedy</a:t>
            </a:r>
          </a:p>
        </p:txBody>
      </p:sp>
      <p:sp>
        <p:nvSpPr>
          <p:cNvPr id="4" name="Slide Number Placeholder 4"/>
          <p:cNvSpPr>
            <a:spLocks noGrp="1"/>
          </p:cNvSpPr>
          <p:nvPr>
            <p:ph type="sldNum" sz="quarter" idx="12"/>
          </p:nvPr>
        </p:nvSpPr>
        <p:spPr/>
        <p:txBody>
          <a:bodyPr/>
          <a:lstStyle/>
          <a:p>
            <a:fld id="{9BFB2853-4965-4727-91C4-384EB30D99A4}" type="slidenum">
              <a:rPr lang="en-CA"/>
              <a:t>67</a:t>
            </a:fld>
            <a:endParaRPr lang="en-CA"/>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Collinearity: narrow data</a:t>
            </a:r>
            <a:r>
              <a:rPr lang="en-CA" dirty="0"/>
              <a:t> </a:t>
            </a:r>
            <a:r>
              <a:rPr lang="en-CA" dirty="0">
                <a:sym typeface="Symbol" panose="05050102010706020507" pitchFamily="18" charset="2"/>
              </a:rPr>
              <a:t> increased </a:t>
            </a:r>
            <a:r>
              <a:rPr dirty="0"/>
              <a:t>uncertainty</a:t>
            </a:r>
          </a:p>
        </p:txBody>
      </p:sp>
      <p:pic>
        <p:nvPicPr>
          <p:cNvPr id="3" name="Picture 2" descr="fig-collin-data-beta-1.png"/>
          <p:cNvPicPr>
            <a:picLocks noChangeAspect="1"/>
          </p:cNvPicPr>
          <p:nvPr/>
        </p:nvPicPr>
        <p:blipFill>
          <a:blip r:embed="rId3"/>
          <a:stretch>
            <a:fillRect/>
          </a:stretch>
        </p:blipFill>
        <p:spPr>
          <a:xfrm>
            <a:off x="1757548" y="1677900"/>
            <a:ext cx="6229674" cy="444976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9.4</a:t>
            </a:r>
          </a:p>
        </p:txBody>
      </p:sp>
      <p:sp>
        <p:nvSpPr>
          <p:cNvPr id="6" name="TextBox 5">
            <a:extLst>
              <a:ext uri="{FF2B5EF4-FFF2-40B4-BE49-F238E27FC236}">
                <a16:creationId xmlns:a16="http://schemas.microsoft.com/office/drawing/2014/main" id="{9202E317-6E5D-AE86-6A53-062E16921753}"/>
              </a:ext>
            </a:extLst>
          </p:cNvPr>
          <p:cNvSpPr txBox="1"/>
          <p:nvPr/>
        </p:nvSpPr>
        <p:spPr>
          <a:xfrm>
            <a:off x="8158348" y="1828800"/>
            <a:ext cx="3503221" cy="1200329"/>
          </a:xfrm>
          <a:prstGeom prst="rect">
            <a:avLst/>
          </a:prstGeom>
          <a:noFill/>
        </p:spPr>
        <p:txBody>
          <a:bodyPr wrap="square" rtlCol="0">
            <a:spAutoFit/>
          </a:bodyPr>
          <a:lstStyle/>
          <a:p>
            <a:r>
              <a:rPr lang="en-CA" dirty="0"/>
              <a:t>As the predictors become more correlated, </a:t>
            </a:r>
          </a:p>
          <a:p>
            <a:pPr marL="285750" indent="-285750">
              <a:buFont typeface="Arial" panose="020B0604020202020204" pitchFamily="34" charset="0"/>
              <a:buChar char="•"/>
            </a:pPr>
            <a:r>
              <a:rPr lang="en-CA" dirty="0"/>
              <a:t>data ellipse narrows</a:t>
            </a:r>
          </a:p>
          <a:p>
            <a:pPr marL="285750" indent="-285750">
              <a:buFont typeface="Arial" panose="020B0604020202020204" pitchFamily="34" charset="0"/>
              <a:buChar char="•"/>
            </a:pPr>
            <a:r>
              <a:rPr lang="en-CA" dirty="0"/>
              <a:t>confidence ellipse balloons.</a:t>
            </a:r>
          </a:p>
        </p:txBody>
      </p:sp>
      <p:sp>
        <p:nvSpPr>
          <p:cNvPr id="7" name="TextBox 6">
            <a:extLst>
              <a:ext uri="{FF2B5EF4-FFF2-40B4-BE49-F238E27FC236}">
                <a16:creationId xmlns:a16="http://schemas.microsoft.com/office/drawing/2014/main" id="{E423839C-5377-FA4D-663D-00A64750B8C0}"/>
              </a:ext>
            </a:extLst>
          </p:cNvPr>
          <p:cNvSpPr txBox="1"/>
          <p:nvPr/>
        </p:nvSpPr>
        <p:spPr>
          <a:xfrm rot="16200000">
            <a:off x="168535" y="2452782"/>
            <a:ext cx="1803820" cy="369332"/>
          </a:xfrm>
          <a:prstGeom prst="rect">
            <a:avLst/>
          </a:prstGeom>
          <a:solidFill>
            <a:schemeClr val="accent6">
              <a:alpha val="40000"/>
            </a:schemeClr>
          </a:solidFill>
        </p:spPr>
        <p:txBody>
          <a:bodyPr wrap="square" rtlCol="0">
            <a:spAutoFit/>
          </a:bodyPr>
          <a:lstStyle/>
          <a:p>
            <a:pPr algn="ctr"/>
            <a:r>
              <a:rPr lang="en-CA" dirty="0"/>
              <a:t>Data space</a:t>
            </a:r>
          </a:p>
        </p:txBody>
      </p:sp>
      <p:sp>
        <p:nvSpPr>
          <p:cNvPr id="9" name="TextBox 8">
            <a:extLst>
              <a:ext uri="{FF2B5EF4-FFF2-40B4-BE49-F238E27FC236}">
                <a16:creationId xmlns:a16="http://schemas.microsoft.com/office/drawing/2014/main" id="{1209B9AA-2C34-7F8B-5AFA-AA8DCCD727AD}"/>
              </a:ext>
            </a:extLst>
          </p:cNvPr>
          <p:cNvSpPr txBox="1"/>
          <p:nvPr/>
        </p:nvSpPr>
        <p:spPr>
          <a:xfrm rot="16200000">
            <a:off x="96667" y="4691894"/>
            <a:ext cx="1947554" cy="369332"/>
          </a:xfrm>
          <a:prstGeom prst="rect">
            <a:avLst/>
          </a:prstGeom>
          <a:solidFill>
            <a:srgbClr val="FF0000">
              <a:alpha val="40000"/>
            </a:srgbClr>
          </a:solidFill>
        </p:spPr>
        <p:txBody>
          <a:bodyPr wrap="square" rtlCol="0">
            <a:spAutoFit/>
          </a:bodyPr>
          <a:lstStyle/>
          <a:p>
            <a:pPr algn="ctr"/>
            <a:r>
              <a:rPr lang="el-GR" b="1" dirty="0">
                <a:latin typeface="Cambria Math" panose="02040503050406030204" pitchFamily="18" charset="0"/>
                <a:ea typeface="Cambria Math" panose="02040503050406030204" pitchFamily="18" charset="0"/>
              </a:rPr>
              <a:t>β</a:t>
            </a:r>
            <a:r>
              <a:rPr lang="en-CA" dirty="0"/>
              <a:t> space</a:t>
            </a:r>
          </a:p>
        </p:txBody>
      </p:sp>
      <p:sp>
        <p:nvSpPr>
          <p:cNvPr id="10" name="Slide Number Placeholder 10"/>
          <p:cNvSpPr>
            <a:spLocks noGrp="1"/>
          </p:cNvSpPr>
          <p:nvPr>
            <p:ph type="sldNum" sz="quarter" idx="12"/>
          </p:nvPr>
        </p:nvSpPr>
        <p:spPr/>
        <p:txBody>
          <a:bodyPr/>
          <a:lstStyle/>
          <a:p>
            <a:fld id="{9BFB2853-4965-4727-91C4-384EB30D99A4}" type="slidenum">
              <a:rPr lang="en-CA"/>
              <a:t>68</a:t>
            </a:fld>
            <a:endParaRPr lang="en-CA"/>
          </a:p>
        </p:txBody>
      </p:sp>
    </p:spTree>
    <p:extLst>
      <p:ext uri="{BB962C8B-B14F-4D97-AF65-F5344CB8AC3E}">
        <p14:creationId xmlns:p14="http://schemas.microsoft.com/office/powerpoint/2010/main" val="255179568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Application: </a:t>
            </a:r>
            <a:r>
              <a:rPr lang="en-CA" dirty="0"/>
              <a:t>effect </a:t>
            </a:r>
            <a:r>
              <a:rPr dirty="0"/>
              <a:t>ordering variables in displays</a:t>
            </a:r>
          </a:p>
        </p:txBody>
      </p:sp>
      <p:pic>
        <p:nvPicPr>
          <p:cNvPr id="3" name="Picture 2" descr="fig-mtcars-corrplot-varorder-1.png"/>
          <p:cNvPicPr>
            <a:picLocks noChangeAspect="1"/>
          </p:cNvPicPr>
          <p:nvPr/>
        </p:nvPicPr>
        <p:blipFill>
          <a:blip r:embed="rId3"/>
          <a:stretch>
            <a:fillRect/>
          </a:stretch>
        </p:blipFill>
        <p:spPr>
          <a:xfrm>
            <a:off x="1435607" y="1691640"/>
            <a:ext cx="3931920" cy="3931920"/>
          </a:xfrm>
          <a:prstGeom prst="rect">
            <a:avLst/>
          </a:prstGeom>
        </p:spPr>
      </p:pic>
      <p:pic>
        <p:nvPicPr>
          <p:cNvPr id="4" name="Picture 3" descr="fig-mtcars-corrplot-pcaorder-1.png"/>
          <p:cNvPicPr>
            <a:picLocks noChangeAspect="1"/>
          </p:cNvPicPr>
          <p:nvPr/>
        </p:nvPicPr>
        <p:blipFill>
          <a:blip r:embed="rId4"/>
          <a:stretch>
            <a:fillRect/>
          </a:stretch>
        </p:blipFill>
        <p:spPr>
          <a:xfrm>
            <a:off x="6830568" y="1691640"/>
            <a:ext cx="3931920" cy="393192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The same correlations of the mtcars data: in dataset order (left) and in PCA order (right).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5.27, 5.29</a:t>
            </a:r>
          </a:p>
        </p:txBody>
      </p:sp>
      <p:sp>
        <p:nvSpPr>
          <p:cNvPr id="7" name="Slide Number Placeholder 7"/>
          <p:cNvSpPr>
            <a:spLocks noGrp="1"/>
          </p:cNvSpPr>
          <p:nvPr>
            <p:ph type="sldNum" sz="quarter" idx="12"/>
          </p:nvPr>
        </p:nvSpPr>
        <p:spPr/>
        <p:txBody>
          <a:bodyPr/>
          <a:lstStyle/>
          <a:p>
            <a:fld id="{9BFB2853-4965-4727-91C4-384EB30D99A4}" type="slidenum">
              <a:rPr lang="en-CA"/>
              <a:t>69</a:t>
            </a:fld>
            <a:endParaRPr lang="en-CA"/>
          </a:p>
        </p:txBody>
      </p:sp>
    </p:spTree>
    <p:extLst>
      <p:ext uri="{BB962C8B-B14F-4D97-AF65-F5344CB8AC3E}">
        <p14:creationId xmlns:p14="http://schemas.microsoft.com/office/powerpoint/2010/main" val="278782021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Measurement error for β</a:t>
            </a:r>
            <a:r>
              <a:rPr lang="en-US" baseline="-25000" dirty="0"/>
              <a:t>1</a:t>
            </a:r>
            <a:r>
              <a:rPr lang="en-US" dirty="0"/>
              <a:t> also biases </a:t>
            </a:r>
            <a:r>
              <a:rPr lang="el-GR" dirty="0"/>
              <a:t>β</a:t>
            </a:r>
            <a:r>
              <a:rPr lang="en-CA" baseline="-25000" dirty="0"/>
              <a:t>2</a:t>
            </a:r>
            <a:endParaRPr lang="en-US" baseline="-25000" dirty="0"/>
          </a:p>
        </p:txBody>
      </p:sp>
      <p:sp>
        <p:nvSpPr>
          <p:cNvPr id="6" name="Content Placeholder 5"/>
          <p:cNvSpPr>
            <a:spLocks noGrp="1"/>
          </p:cNvSpPr>
          <p:nvPr>
            <p:ph sz="half" idx="2"/>
          </p:nvPr>
        </p:nvSpPr>
        <p:spPr>
          <a:xfrm>
            <a:off x="5755754" y="1508125"/>
            <a:ext cx="5889978" cy="4533900"/>
          </a:xfrm>
        </p:spPr>
        <p:txBody>
          <a:bodyPr/>
          <a:lstStyle/>
          <a:p>
            <a:r>
              <a:rPr lang="en-US" dirty="0"/>
              <a:t>As error in Stress increases, </a:t>
            </a:r>
            <a:r>
              <a:rPr lang="el-GR" dirty="0"/>
              <a:t>β</a:t>
            </a:r>
            <a:r>
              <a:rPr lang="en-US" baseline="-25000" dirty="0"/>
              <a:t>Stress</a:t>
            </a:r>
            <a:r>
              <a:rPr lang="en-US" dirty="0"/>
              <a:t> </a:t>
            </a:r>
            <a:r>
              <a:rPr lang="en-US" dirty="0">
                <a:sym typeface="Symbol"/>
              </a:rPr>
              <a:t> 0 . </a:t>
            </a:r>
          </a:p>
          <a:p>
            <a:pPr lvl="1"/>
            <a:r>
              <a:rPr lang="en-US" dirty="0">
                <a:sym typeface="Symbol"/>
              </a:rPr>
              <a:t>OK, understand that now.</a:t>
            </a:r>
          </a:p>
          <a:p>
            <a:r>
              <a:rPr lang="en-US" dirty="0">
                <a:sym typeface="Symbol"/>
              </a:rPr>
              <a:t>But, at the same time, the effect of coffee, </a:t>
            </a:r>
            <a:r>
              <a:rPr lang="el-GR" dirty="0"/>
              <a:t>β</a:t>
            </a:r>
            <a:r>
              <a:rPr lang="en-US" baseline="-25000" dirty="0"/>
              <a:t>Coffee</a:t>
            </a:r>
            <a:r>
              <a:rPr lang="en-US" dirty="0"/>
              <a:t> seems to  become </a:t>
            </a:r>
            <a:r>
              <a:rPr lang="en-US" dirty="0">
                <a:solidFill>
                  <a:srgbClr val="FF0000"/>
                </a:solidFill>
              </a:rPr>
              <a:t>larger</a:t>
            </a:r>
            <a:r>
              <a:rPr lang="en-US" dirty="0"/>
              <a:t>!</a:t>
            </a:r>
          </a:p>
          <a:p>
            <a:r>
              <a:rPr lang="en-US" dirty="0"/>
              <a:t>Elliptical insight:</a:t>
            </a:r>
          </a:p>
          <a:p>
            <a:pPr lvl="1"/>
            <a:r>
              <a:rPr lang="en-US" dirty="0"/>
              <a:t>Increasing error in x</a:t>
            </a:r>
            <a:r>
              <a:rPr lang="en-US" baseline="-25000" dirty="0"/>
              <a:t>2</a:t>
            </a:r>
            <a:r>
              <a:rPr lang="en-US" dirty="0"/>
              <a:t> drives coefficient for x</a:t>
            </a:r>
            <a:r>
              <a:rPr lang="en-US" baseline="-25000" dirty="0"/>
              <a:t>1</a:t>
            </a:r>
            <a:r>
              <a:rPr lang="en-US" dirty="0"/>
              <a:t> toward the marginal model, ignoring x</a:t>
            </a:r>
            <a:r>
              <a:rPr lang="en-US" baseline="-25000" dirty="0"/>
              <a:t>2</a:t>
            </a:r>
            <a:endParaRPr lang="en-US" dirty="0"/>
          </a:p>
          <a:p>
            <a:pPr lvl="1"/>
            <a:r>
              <a:rPr lang="en-US" dirty="0"/>
              <a:t>You can also see that the std. errors of </a:t>
            </a:r>
            <a:r>
              <a:rPr lang="el-GR" dirty="0"/>
              <a:t>β</a:t>
            </a:r>
            <a:r>
              <a:rPr lang="en-US" baseline="-25000" dirty="0"/>
              <a:t>Coffee</a:t>
            </a:r>
            <a:r>
              <a:rPr lang="en-US" dirty="0"/>
              <a:t> </a:t>
            </a:r>
            <a:r>
              <a:rPr lang="en-US" dirty="0">
                <a:solidFill>
                  <a:srgbClr val="FF0000"/>
                </a:solidFill>
              </a:rPr>
              <a:t>decrease</a:t>
            </a:r>
            <a:r>
              <a:rPr lang="en-US" dirty="0"/>
              <a:t> with error in Stress!</a:t>
            </a:r>
          </a:p>
        </p:txBody>
      </p:sp>
      <p:pic>
        <p:nvPicPr>
          <p:cNvPr id="8" name="Content Placeholder 7"/>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a:xfrm>
            <a:off x="546268" y="1426281"/>
            <a:ext cx="4971667" cy="4956870"/>
          </a:xfrm>
        </p:spPr>
      </p:pic>
      <p:sp>
        <p:nvSpPr>
          <p:cNvPr id="9" name="Slide Number Placeholder 9"/>
          <p:cNvSpPr>
            <a:spLocks noGrp="1"/>
          </p:cNvSpPr>
          <p:nvPr>
            <p:ph type="sldNum" sz="quarter" idx="12"/>
          </p:nvPr>
        </p:nvSpPr>
        <p:spPr/>
        <p:txBody>
          <a:bodyPr/>
          <a:lstStyle/>
          <a:p>
            <a:fld id="{9BFB2853-4965-4727-91C4-384EB30D99A4}" type="slidenum">
              <a:rPr lang="en-CA"/>
              <a:t>70</a:t>
            </a:fld>
            <a:endParaRPr lang="en-CA"/>
          </a:p>
        </p:txBody>
      </p:sp>
    </p:spTree>
    <p:extLst>
      <p:ext uri="{BB962C8B-B14F-4D97-AF65-F5344CB8AC3E}">
        <p14:creationId xmlns:p14="http://schemas.microsoft.com/office/powerpoint/2010/main" val="370433655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16510"/>
          </a:xfrm>
        </p:spPr>
        <p:txBody>
          <a:bodyPr/>
          <a:lstStyle/>
          <a:p>
            <a:r>
              <a:rPr dirty="0"/>
              <a:t>Added-variable plots show partial relationships</a:t>
            </a:r>
          </a:p>
        </p:txBody>
      </p:sp>
      <p:pic>
        <p:nvPicPr>
          <p:cNvPr id="3" name="Picture 2" descr="fig-coffee-mcplot-1.png"/>
          <p:cNvPicPr>
            <a:picLocks noChangeAspect="1"/>
          </p:cNvPicPr>
          <p:nvPr/>
        </p:nvPicPr>
        <p:blipFill>
          <a:blip r:embed="rId3"/>
          <a:stretch>
            <a:fillRect/>
          </a:stretch>
        </p:blipFill>
        <p:spPr>
          <a:xfrm>
            <a:off x="835152" y="2080260"/>
            <a:ext cx="6740434"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7.12</a:t>
            </a:r>
          </a:p>
        </p:txBody>
      </p:sp>
      <p:sp>
        <p:nvSpPr>
          <p:cNvPr id="6" name="TextBox 5">
            <a:extLst>
              <a:ext uri="{FF2B5EF4-FFF2-40B4-BE49-F238E27FC236}">
                <a16:creationId xmlns:a16="http://schemas.microsoft.com/office/drawing/2014/main" id="{38A66034-0C18-89BA-CA9F-F30478798D03}"/>
              </a:ext>
            </a:extLst>
          </p:cNvPr>
          <p:cNvSpPr txBox="1"/>
          <p:nvPr/>
        </p:nvSpPr>
        <p:spPr>
          <a:xfrm>
            <a:off x="7799294" y="1919683"/>
            <a:ext cx="3778624" cy="4062651"/>
          </a:xfrm>
          <a:prstGeom prst="rect">
            <a:avLst/>
          </a:prstGeom>
          <a:noFill/>
        </p:spPr>
        <p:txBody>
          <a:bodyPr wrap="square" rtlCol="0">
            <a:spAutoFit/>
          </a:bodyPr>
          <a:lstStyle/>
          <a:p>
            <a:r>
              <a:rPr lang="en-CA" sz="2000" dirty="0"/>
              <a:t>Coffee, stress and heart damage:</a:t>
            </a:r>
          </a:p>
          <a:p>
            <a:endParaRPr lang="en-CA" sz="2000" dirty="0"/>
          </a:p>
          <a:p>
            <a:r>
              <a:rPr lang="en-CA" sz="2000" dirty="0"/>
              <a:t>Marginal &amp; partial slopes for coffee have opposite signs.</a:t>
            </a:r>
          </a:p>
          <a:p>
            <a:pPr marL="285750" indent="-285750">
              <a:buFont typeface="Symbol" panose="05050102010706020507" pitchFamily="18" charset="2"/>
              <a:buChar char="®"/>
            </a:pPr>
            <a:r>
              <a:rPr lang="en-CA" sz="2000" dirty="0">
                <a:sym typeface="Symbol" panose="05050102010706020507" pitchFamily="18" charset="2"/>
              </a:rPr>
              <a:t>Coffee is good, controlling for stress</a:t>
            </a:r>
          </a:p>
          <a:p>
            <a:pPr marL="285750" indent="-285750">
              <a:buFont typeface="Symbol" panose="05050102010706020507" pitchFamily="18" charset="2"/>
              <a:buChar char="®"/>
            </a:pPr>
            <a:endParaRPr lang="en-CA" sz="2000" dirty="0">
              <a:sym typeface="Symbol" panose="05050102010706020507" pitchFamily="18" charset="2"/>
            </a:endParaRPr>
          </a:p>
          <a:p>
            <a:r>
              <a:rPr lang="en-CA" sz="2000" dirty="0">
                <a:sym typeface="Symbol" panose="05050102010706020507" pitchFamily="18" charset="2"/>
              </a:rPr>
              <a:t>Slopes are similar for stress, but steeper when controlled for coffee</a:t>
            </a:r>
          </a:p>
          <a:p>
            <a:r>
              <a:rPr lang="en-CA" sz="2000" dirty="0">
                <a:sym typeface="Symbol" panose="05050102010706020507" pitchFamily="18" charset="2"/>
              </a:rPr>
              <a:t> Practice yoga at Starbucks?</a:t>
            </a:r>
            <a:endParaRPr lang="en-CA" sz="2000" dirty="0"/>
          </a:p>
          <a:p>
            <a:endParaRPr lang="en-CA" dirty="0"/>
          </a:p>
        </p:txBody>
      </p:sp>
      <p:sp>
        <p:nvSpPr>
          <p:cNvPr id="8" name="TextBox 7">
            <a:extLst>
              <a:ext uri="{FF2B5EF4-FFF2-40B4-BE49-F238E27FC236}">
                <a16:creationId xmlns:a16="http://schemas.microsoft.com/office/drawing/2014/main" id="{CDCFB3D1-79C1-9DAA-A981-BF792B698752}"/>
              </a:ext>
            </a:extLst>
          </p:cNvPr>
          <p:cNvSpPr txBox="1"/>
          <p:nvPr/>
        </p:nvSpPr>
        <p:spPr>
          <a:xfrm>
            <a:off x="835152" y="1195004"/>
            <a:ext cx="10408024" cy="369332"/>
          </a:xfrm>
          <a:prstGeom prst="rect">
            <a:avLst/>
          </a:prstGeom>
          <a:noFill/>
        </p:spPr>
        <p:txBody>
          <a:bodyPr wrap="square" rtlCol="0">
            <a:spAutoFit/>
          </a:bodyPr>
          <a:lstStyle/>
          <a:p>
            <a:r>
              <a:rPr lang="en-CA" dirty="0"/>
              <a:t>Control/adjust for all others to see the net relationship between Y and X</a:t>
            </a:r>
            <a:r>
              <a:rPr lang="en-CA" baseline="-25000" dirty="0"/>
              <a:t>i</a:t>
            </a:r>
          </a:p>
        </p:txBody>
      </p:sp>
      <p:sp>
        <p:nvSpPr>
          <p:cNvPr id="9" name="Slide Number Placeholder 9"/>
          <p:cNvSpPr>
            <a:spLocks noGrp="1"/>
          </p:cNvSpPr>
          <p:nvPr>
            <p:ph type="sldNum" sz="quarter" idx="12"/>
          </p:nvPr>
        </p:nvSpPr>
        <p:spPr/>
        <p:txBody>
          <a:bodyPr/>
          <a:lstStyle/>
          <a:p>
            <a:fld id="{9BFB2853-4965-4727-91C4-384EB30D99A4}" type="slidenum">
              <a:rPr lang="en-CA"/>
              <a:t>71</a:t>
            </a:fld>
            <a:endParaRPr lang="en-CA"/>
          </a:p>
        </p:txBody>
      </p:sp>
    </p:spTree>
    <p:extLst>
      <p:ext uri="{BB962C8B-B14F-4D97-AF65-F5344CB8AC3E}">
        <p14:creationId xmlns:p14="http://schemas.microsoft.com/office/powerpoint/2010/main" val="213160507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Leverage and influence</a:t>
            </a:r>
            <a:r>
              <a:rPr lang="en-CA" dirty="0"/>
              <a:t>: </a:t>
            </a:r>
            <a:r>
              <a:rPr lang="en-CA" sz="2800" dirty="0">
                <a:latin typeface="Courier New" panose="02070309020205020404" pitchFamily="49" charset="0"/>
                <a:cs typeface="Courier New" panose="02070309020205020404" pitchFamily="49" charset="0"/>
              </a:rPr>
              <a:t>car::</a:t>
            </a:r>
            <a:r>
              <a:rPr lang="en-CA" sz="2800" dirty="0" err="1">
                <a:latin typeface="Courier New" panose="02070309020205020404" pitchFamily="49" charset="0"/>
                <a:cs typeface="Courier New" panose="02070309020205020404" pitchFamily="49" charset="0"/>
              </a:rPr>
              <a:t>influencePlot</a:t>
            </a:r>
            <a:r>
              <a:rPr lang="en-CA" sz="2800" dirty="0">
                <a:latin typeface="Courier New" panose="02070309020205020404" pitchFamily="49" charset="0"/>
                <a:cs typeface="Courier New" panose="02070309020205020404" pitchFamily="49" charset="0"/>
              </a:rPr>
              <a:t>(model)</a:t>
            </a:r>
            <a:endParaRPr sz="2800" dirty="0">
              <a:latin typeface="Courier New" panose="02070309020205020404" pitchFamily="49" charset="0"/>
              <a:cs typeface="Courier New" panose="02070309020205020404" pitchFamily="49" charset="0"/>
            </a:endParaRPr>
          </a:p>
        </p:txBody>
      </p:sp>
      <p:sp>
        <p:nvSpPr>
          <p:cNvPr id="3" name="Content Placeholder 2"/>
          <p:cNvSpPr>
            <a:spLocks noGrp="1"/>
          </p:cNvSpPr>
          <p:nvPr>
            <p:ph sz="half" idx="1"/>
          </p:nvPr>
        </p:nvSpPr>
        <p:spPr>
          <a:xfrm>
            <a:off x="838200" y="1643063"/>
            <a:ext cx="4553197" cy="4533900"/>
          </a:xfrm>
        </p:spPr>
        <p:txBody>
          <a:bodyPr/>
          <a:lstStyle/>
          <a:p>
            <a:pPr marL="0" indent="0">
              <a:buNone/>
            </a:pPr>
            <a:r>
              <a:rPr lang="en-CA" dirty="0" err="1"/>
              <a:t>carData</a:t>
            </a:r>
            <a:r>
              <a:rPr lang="en-CA" dirty="0"/>
              <a:t>::Duncan</a:t>
            </a:r>
          </a:p>
          <a:p>
            <a:r>
              <a:rPr dirty="0"/>
              <a:t>Leverage: unusual in the predictors</a:t>
            </a:r>
            <a:r>
              <a:rPr lang="en-CA" dirty="0"/>
              <a:t> (hat values)</a:t>
            </a:r>
            <a:endParaRPr dirty="0"/>
          </a:p>
          <a:p>
            <a:r>
              <a:rPr dirty="0"/>
              <a:t>Outlier: a large residual</a:t>
            </a:r>
          </a:p>
          <a:p>
            <a:r>
              <a:rPr dirty="0">
                <a:solidFill>
                  <a:srgbClr val="FF0000"/>
                </a:solidFill>
              </a:rPr>
              <a:t>Influence</a:t>
            </a:r>
            <a:r>
              <a:rPr dirty="0"/>
              <a:t> = leverage x residual</a:t>
            </a:r>
          </a:p>
          <a:p>
            <a:r>
              <a:rPr lang="en-CA" dirty="0">
                <a:sym typeface="Symbol" panose="05050102010706020507" pitchFamily="18" charset="2"/>
              </a:rPr>
              <a:t> </a:t>
            </a:r>
            <a:r>
              <a:rPr dirty="0"/>
              <a:t>Bubble size: Cook's distance</a:t>
            </a:r>
            <a:r>
              <a:rPr lang="en-CA" dirty="0"/>
              <a:t> (</a:t>
            </a:r>
            <a:r>
              <a:rPr lang="en-CA" dirty="0">
                <a:sym typeface="Symbol" panose="05050102010706020507" pitchFamily="18" charset="2"/>
              </a:rPr>
              <a:t></a:t>
            </a:r>
            <a:r>
              <a:rPr lang="el-GR" b="1" dirty="0">
                <a:latin typeface="Cambria Math" panose="02040503050406030204" pitchFamily="18" charset="0"/>
                <a:ea typeface="Cambria Math" panose="02040503050406030204" pitchFamily="18" charset="0"/>
                <a:sym typeface="Symbol" panose="05050102010706020507" pitchFamily="18" charset="2"/>
              </a:rPr>
              <a:t>β</a:t>
            </a:r>
            <a:r>
              <a:rPr lang="en-CA" baseline="-25000" dirty="0">
                <a:latin typeface="Cambria Math" panose="02040503050406030204" pitchFamily="18" charset="0"/>
                <a:ea typeface="Cambria Math" panose="02040503050406030204" pitchFamily="18" charset="0"/>
                <a:sym typeface="Symbol" panose="05050102010706020507" pitchFamily="18" charset="2"/>
              </a:rPr>
              <a:t>(-i)</a:t>
            </a:r>
            <a:r>
              <a:rPr lang="en-CA" dirty="0">
                <a:latin typeface="Cambria Math" panose="02040503050406030204" pitchFamily="18" charset="0"/>
                <a:ea typeface="Cambria Math" panose="02040503050406030204" pitchFamily="18" charset="0"/>
                <a:sym typeface="Symbol" panose="05050102010706020507" pitchFamily="18" charset="2"/>
              </a:rPr>
              <a:t>)</a:t>
            </a:r>
          </a:p>
          <a:p>
            <a:r>
              <a:rPr lang="en-CA" dirty="0">
                <a:ea typeface="Cambria Math" panose="02040503050406030204" pitchFamily="18" charset="0"/>
                <a:sym typeface="Symbol" panose="05050102010706020507" pitchFamily="18" charset="2"/>
              </a:rPr>
              <a:t>But this doesn’t tell us why or how</a:t>
            </a:r>
            <a:endParaRPr dirty="0"/>
          </a:p>
        </p:txBody>
      </p:sp>
      <p:pic>
        <p:nvPicPr>
          <p:cNvPr id="4" name="Picture 3" descr="fig-duncan-infl-1.png"/>
          <p:cNvPicPr>
            <a:picLocks noChangeAspect="1"/>
          </p:cNvPicPr>
          <p:nvPr/>
        </p:nvPicPr>
        <p:blipFill>
          <a:blip r:embed="rId3"/>
          <a:stretch>
            <a:fillRect/>
          </a:stretch>
        </p:blipFill>
        <p:spPr>
          <a:xfrm>
            <a:off x="5307203" y="1508125"/>
            <a:ext cx="6389992" cy="45642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7.26</a:t>
            </a:r>
          </a:p>
        </p:txBody>
      </p:sp>
      <p:sp>
        <p:nvSpPr>
          <p:cNvPr id="6" name="Slide Number Placeholder 6"/>
          <p:cNvSpPr>
            <a:spLocks noGrp="1"/>
          </p:cNvSpPr>
          <p:nvPr>
            <p:ph type="sldNum" sz="quarter" idx="12"/>
          </p:nvPr>
        </p:nvSpPr>
        <p:spPr/>
        <p:txBody>
          <a:bodyPr/>
          <a:lstStyle/>
          <a:p>
            <a:fld id="{9BFB2853-4965-4727-91C4-384EB30D99A4}" type="slidenum">
              <a:rPr lang="en-CA"/>
              <a:t>72</a:t>
            </a:fld>
            <a:endParaRPr lang="en-CA"/>
          </a:p>
        </p:txBody>
      </p:sp>
    </p:spTree>
    <p:extLst>
      <p:ext uri="{BB962C8B-B14F-4D97-AF65-F5344CB8AC3E}">
        <p14:creationId xmlns:p14="http://schemas.microsoft.com/office/powerpoint/2010/main" val="171975335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91779"/>
          </a:xfrm>
        </p:spPr>
        <p:txBody>
          <a:bodyPr/>
          <a:lstStyle/>
          <a:p>
            <a:r>
              <a:rPr dirty="0"/>
              <a:t>Which observations drive the fit?</a:t>
            </a:r>
          </a:p>
        </p:txBody>
      </p:sp>
      <p:pic>
        <p:nvPicPr>
          <p:cNvPr id="3" name="Picture 2" descr="duncan-av-influence.png"/>
          <p:cNvPicPr>
            <a:picLocks noChangeAspect="1"/>
          </p:cNvPicPr>
          <p:nvPr/>
        </p:nvPicPr>
        <p:blipFill>
          <a:blip r:embed="rId3"/>
          <a:stretch>
            <a:fillRect/>
          </a:stretch>
        </p:blipFill>
        <p:spPr>
          <a:xfrm>
            <a:off x="813336" y="1691640"/>
            <a:ext cx="7863840" cy="3931920"/>
          </a:xfrm>
          <a:prstGeom prst="rect">
            <a:avLst/>
          </a:prstGeom>
        </p:spPr>
      </p:pic>
      <p:sp>
        <p:nvSpPr>
          <p:cNvPr id="4" name="TextBox 3"/>
          <p:cNvSpPr txBox="1"/>
          <p:nvPr/>
        </p:nvSpPr>
        <p:spPr>
          <a:xfrm>
            <a:off x="841248" y="5788030"/>
            <a:ext cx="10515600" cy="369332"/>
          </a:xfrm>
          <a:prstGeom prst="rect">
            <a:avLst/>
          </a:prstGeom>
          <a:noFill/>
        </p:spPr>
        <p:txBody>
          <a:bodyPr wrap="square">
            <a:spAutoFit/>
          </a:bodyPr>
          <a:lstStyle/>
          <a:p>
            <a:r>
              <a:rPr sz="1800" dirty="0"/>
              <a:t>.</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7.27</a:t>
            </a:r>
          </a:p>
        </p:txBody>
      </p:sp>
      <p:sp>
        <p:nvSpPr>
          <p:cNvPr id="6" name="TextBox 5">
            <a:extLst>
              <a:ext uri="{FF2B5EF4-FFF2-40B4-BE49-F238E27FC236}">
                <a16:creationId xmlns:a16="http://schemas.microsoft.com/office/drawing/2014/main" id="{B95E2660-92D6-9B3B-613E-29A2FA281EB3}"/>
              </a:ext>
            </a:extLst>
          </p:cNvPr>
          <p:cNvSpPr txBox="1"/>
          <p:nvPr/>
        </p:nvSpPr>
        <p:spPr>
          <a:xfrm>
            <a:off x="841248" y="1128161"/>
            <a:ext cx="10515600" cy="369332"/>
          </a:xfrm>
          <a:prstGeom prst="rect">
            <a:avLst/>
          </a:prstGeom>
          <a:noFill/>
        </p:spPr>
        <p:txBody>
          <a:bodyPr wrap="square" rtlCol="0">
            <a:spAutoFit/>
          </a:bodyPr>
          <a:lstStyle/>
          <a:p>
            <a:r>
              <a:rPr lang="en-CA" dirty="0"/>
              <a:t>Added-variable plots can show precisely the impact on regression slopes</a:t>
            </a:r>
          </a:p>
        </p:txBody>
      </p:sp>
      <p:sp>
        <p:nvSpPr>
          <p:cNvPr id="7" name="TextBox 6">
            <a:extLst>
              <a:ext uri="{FF2B5EF4-FFF2-40B4-BE49-F238E27FC236}">
                <a16:creationId xmlns:a16="http://schemas.microsoft.com/office/drawing/2014/main" id="{09BF7BAE-8390-AD5C-8EC7-1129184F71A4}"/>
              </a:ext>
            </a:extLst>
          </p:cNvPr>
          <p:cNvSpPr txBox="1"/>
          <p:nvPr/>
        </p:nvSpPr>
        <p:spPr>
          <a:xfrm>
            <a:off x="8847117" y="2315688"/>
            <a:ext cx="2719449" cy="923330"/>
          </a:xfrm>
          <a:prstGeom prst="rect">
            <a:avLst/>
          </a:prstGeom>
          <a:noFill/>
        </p:spPr>
        <p:txBody>
          <a:bodyPr wrap="square" rtlCol="0">
            <a:spAutoFit/>
          </a:bodyPr>
          <a:lstStyle/>
          <a:p>
            <a:r>
              <a:rPr lang="en-CA" dirty="0">
                <a:solidFill>
                  <a:srgbClr val="0070C0"/>
                </a:solidFill>
              </a:rPr>
              <a:t>Fitted line with all cases</a:t>
            </a:r>
          </a:p>
          <a:p>
            <a:r>
              <a:rPr lang="en-CA" dirty="0">
                <a:solidFill>
                  <a:srgbClr val="FF0000"/>
                </a:solidFill>
              </a:rPr>
              <a:t>Fitted line w/out 2 cases</a:t>
            </a:r>
          </a:p>
          <a:p>
            <a:r>
              <a:rPr lang="en-CA" dirty="0">
                <a:solidFill>
                  <a:srgbClr val="00B050"/>
                </a:solidFill>
              </a:rPr>
              <a:t>Residuals for those cases</a:t>
            </a:r>
          </a:p>
        </p:txBody>
      </p:sp>
      <p:sp>
        <p:nvSpPr>
          <p:cNvPr id="8" name="Slide Number Placeholder 8"/>
          <p:cNvSpPr>
            <a:spLocks noGrp="1"/>
          </p:cNvSpPr>
          <p:nvPr>
            <p:ph type="sldNum" sz="quarter" idx="12"/>
          </p:nvPr>
        </p:nvSpPr>
        <p:spPr/>
        <p:txBody>
          <a:bodyPr/>
          <a:lstStyle/>
          <a:p>
            <a:fld id="{9BFB2853-4965-4727-91C4-384EB30D99A4}" type="slidenum">
              <a:rPr lang="en-CA"/>
              <a:t>73</a:t>
            </a:fld>
            <a:endParaRPr lang="en-CA"/>
          </a:p>
        </p:txBody>
      </p:sp>
    </p:spTree>
    <p:extLst>
      <p:ext uri="{BB962C8B-B14F-4D97-AF65-F5344CB8AC3E}">
        <p14:creationId xmlns:p14="http://schemas.microsoft.com/office/powerpoint/2010/main" val="163707666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Bias </a:t>
            </a:r>
            <a:r>
              <a:rPr lang="en-US" i="1" dirty="0"/>
              <a:t>vs. </a:t>
            </a:r>
            <a:r>
              <a:rPr lang="en-US" dirty="0"/>
              <a:t>Precision tradeoff</a:t>
            </a:r>
          </a:p>
        </p:txBody>
      </p:sp>
      <p:sp>
        <p:nvSpPr>
          <p:cNvPr id="3" name="Content Placeholder 2"/>
          <p:cNvSpPr>
            <a:spLocks noGrp="1"/>
          </p:cNvSpPr>
          <p:nvPr>
            <p:ph idx="1"/>
          </p:nvPr>
        </p:nvSpPr>
        <p:spPr>
          <a:xfrm>
            <a:off x="3505200" y="1143000"/>
            <a:ext cx="8229600" cy="1981200"/>
          </a:xfrm>
        </p:spPr>
        <p:txBody>
          <a:bodyPr>
            <a:normAutofit/>
          </a:bodyPr>
          <a:lstStyle/>
          <a:p>
            <a:r>
              <a:rPr lang="en-US" dirty="0"/>
              <a:t>Particularly important when the goal is </a:t>
            </a:r>
            <a:r>
              <a:rPr lang="en-US" dirty="0">
                <a:solidFill>
                  <a:srgbClr val="FF0000"/>
                </a:solidFill>
              </a:rPr>
              <a:t>predictive accuracy</a:t>
            </a:r>
          </a:p>
          <a:p>
            <a:pPr lvl="1"/>
            <a:r>
              <a:rPr lang="en-US" dirty="0"/>
              <a:t>Complex models, many predictors, e.g., demand for medical care</a:t>
            </a:r>
          </a:p>
          <a:p>
            <a:pPr lvl="1"/>
            <a:r>
              <a:rPr lang="en-US" dirty="0"/>
              <a:t>In-sample prediction error decreases with model complexity</a:t>
            </a:r>
          </a:p>
          <a:p>
            <a:r>
              <a:rPr lang="en-US" dirty="0"/>
              <a:t>But, in </a:t>
            </a:r>
            <a:r>
              <a:rPr lang="en-US" dirty="0">
                <a:solidFill>
                  <a:srgbClr val="FF0000"/>
                </a:solidFill>
              </a:rPr>
              <a:t>new samples </a:t>
            </a:r>
            <a:r>
              <a:rPr lang="en-US" dirty="0"/>
              <a:t>prediction error suffers from high variance of complex models </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05600" y="3276600"/>
            <a:ext cx="4403810" cy="3055238"/>
          </a:xfrm>
          <a:prstGeom prst="rect">
            <a:avLst/>
          </a:prstGeom>
        </p:spPr>
      </p:pic>
      <p:sp>
        <p:nvSpPr>
          <p:cNvPr id="6" name="TextBox 5"/>
          <p:cNvSpPr txBox="1"/>
          <p:nvPr/>
        </p:nvSpPr>
        <p:spPr>
          <a:xfrm>
            <a:off x="3505200" y="3505201"/>
            <a:ext cx="3124200" cy="830997"/>
          </a:xfrm>
          <a:prstGeom prst="rect">
            <a:avLst/>
          </a:prstGeom>
          <a:noFill/>
        </p:spPr>
        <p:txBody>
          <a:bodyPr wrap="square" rtlCol="0">
            <a:spAutoFit/>
          </a:bodyPr>
          <a:lstStyle/>
          <a:p>
            <a:r>
              <a:rPr lang="en-US" sz="2400" dirty="0"/>
              <a:t>How to visualize the tradeoff in </a:t>
            </a:r>
            <a:r>
              <a:rPr lang="en-US" sz="2400" dirty="0">
                <a:solidFill>
                  <a:srgbClr val="FF0000"/>
                </a:solidFill>
              </a:rPr>
              <a:t>data</a:t>
            </a:r>
            <a:r>
              <a:rPr lang="en-US" sz="2400" dirty="0"/>
              <a:t>?</a:t>
            </a:r>
          </a:p>
        </p:txBody>
      </p:sp>
      <p:sp>
        <p:nvSpPr>
          <p:cNvPr id="7" name="TextBox 6"/>
          <p:cNvSpPr txBox="1"/>
          <p:nvPr/>
        </p:nvSpPr>
        <p:spPr>
          <a:xfrm>
            <a:off x="3581400" y="4572001"/>
            <a:ext cx="2971800" cy="830997"/>
          </a:xfrm>
          <a:prstGeom prst="rect">
            <a:avLst/>
          </a:prstGeom>
          <a:noFill/>
        </p:spPr>
        <p:txBody>
          <a:bodyPr wrap="square" rtlCol="0">
            <a:spAutoFit/>
          </a:bodyPr>
          <a:lstStyle/>
          <a:p>
            <a:r>
              <a:rPr lang="en-US" sz="2400" dirty="0"/>
              <a:t>+1 if you guessed an ellipse !</a:t>
            </a:r>
          </a:p>
        </p:txBody>
      </p:sp>
      <p:sp>
        <p:nvSpPr>
          <p:cNvPr id="8" name="Slide Number Placeholder 8"/>
          <p:cNvSpPr>
            <a:spLocks noGrp="1"/>
          </p:cNvSpPr>
          <p:nvPr>
            <p:ph type="sldNum" sz="quarter" idx="12"/>
          </p:nvPr>
        </p:nvSpPr>
        <p:spPr/>
        <p:txBody>
          <a:bodyPr/>
          <a:lstStyle/>
          <a:p>
            <a:fld id="{9BFB2853-4965-4727-91C4-384EB30D99A4}" type="slidenum">
              <a:rPr lang="en-CA"/>
              <a:t>74</a:t>
            </a:fld>
            <a:endParaRPr lang="en-CA"/>
          </a:p>
        </p:txBody>
      </p:sp>
    </p:spTree>
    <p:extLst>
      <p:ext uri="{BB962C8B-B14F-4D97-AF65-F5344CB8AC3E}">
        <p14:creationId xmlns:p14="http://schemas.microsoft.com/office/powerpoint/2010/main" val="350268914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From the </a:t>
            </a:r>
            <a:r>
              <a:rPr i="1" dirty="0"/>
              <a:t>t</a:t>
            </a:r>
            <a:r>
              <a:rPr dirty="0"/>
              <a:t>-test to Hotelling's </a:t>
            </a:r>
            <a:r>
              <a:rPr b="1" dirty="0"/>
              <a:t>T</a:t>
            </a:r>
            <a:r>
              <a:rPr dirty="0"/>
              <a:t>²</a:t>
            </a:r>
          </a:p>
        </p:txBody>
      </p:sp>
      <p:sp>
        <p:nvSpPr>
          <p:cNvPr id="3" name="Content Placeholder 2"/>
          <p:cNvSpPr>
            <a:spLocks noGrp="1"/>
          </p:cNvSpPr>
          <p:nvPr>
            <p:ph sz="half" idx="1"/>
          </p:nvPr>
        </p:nvSpPr>
        <p:spPr/>
        <p:txBody>
          <a:bodyPr/>
          <a:lstStyle/>
          <a:p>
            <a:r>
              <a:t>Two groups, several responses</a:t>
            </a:r>
          </a:p>
          <a:p>
            <a:r>
              <a:t>T² is the largest squared t over all linear combinations of the responses</a:t>
            </a:r>
          </a:p>
          <a:p>
            <a:r>
              <a:t>That best combination is the discriminant axis</a:t>
            </a:r>
          </a:p>
        </p:txBody>
      </p:sp>
      <p:pic>
        <p:nvPicPr>
          <p:cNvPr id="4" name="Picture 3" descr="T2-diagram.png"/>
          <p:cNvPicPr>
            <a:picLocks noChangeAspect="1"/>
          </p:cNvPicPr>
          <p:nvPr/>
        </p:nvPicPr>
        <p:blipFill>
          <a:blip r:embed="rId3"/>
          <a:stretch>
            <a:fillRect/>
          </a:stretch>
        </p:blipFill>
        <p:spPr>
          <a:xfrm>
            <a:off x="6350508" y="1783080"/>
            <a:ext cx="4828032"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10.1</a:t>
            </a:r>
          </a:p>
        </p:txBody>
      </p:sp>
      <p:sp>
        <p:nvSpPr>
          <p:cNvPr id="6" name="Slide Number Placeholder 6"/>
          <p:cNvSpPr>
            <a:spLocks noGrp="1"/>
          </p:cNvSpPr>
          <p:nvPr>
            <p:ph type="sldNum" sz="quarter" idx="12"/>
          </p:nvPr>
        </p:nvSpPr>
        <p:spPr/>
        <p:txBody>
          <a:bodyPr/>
          <a:lstStyle/>
          <a:p>
            <a:fld id="{9BFB2853-4965-4727-91C4-384EB30D99A4}" type="slidenum">
              <a:rPr lang="en-CA"/>
              <a:t>75</a:t>
            </a:fld>
            <a:endParaRPr lang="en-CA"/>
          </a:p>
        </p:txBody>
      </p:sp>
    </p:spTree>
    <p:extLst>
      <p:ext uri="{BB962C8B-B14F-4D97-AF65-F5344CB8AC3E}">
        <p14:creationId xmlns:p14="http://schemas.microsoft.com/office/powerpoint/2010/main" val="300956220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Hypothesis-Error plot framework</a:t>
            </a:r>
          </a:p>
        </p:txBody>
      </p:sp>
      <p:pic>
        <p:nvPicPr>
          <p:cNvPr id="3" name="Picture 2" descr="HE-framework.png"/>
          <p:cNvPicPr>
            <a:picLocks noChangeAspect="1"/>
          </p:cNvPicPr>
          <p:nvPr/>
        </p:nvPicPr>
        <p:blipFill>
          <a:blip r:embed="rId3"/>
          <a:stretch>
            <a:fillRect/>
          </a:stretch>
        </p:blipFill>
        <p:spPr>
          <a:xfrm>
            <a:off x="841248" y="1417320"/>
            <a:ext cx="7229900" cy="5212080"/>
          </a:xfrm>
          <a:prstGeom prst="rect">
            <a:avLst/>
          </a:prstGeom>
        </p:spPr>
      </p:pic>
      <p:sp>
        <p:nvSpPr>
          <p:cNvPr id="4" name="TextBox 3"/>
          <p:cNvSpPr txBox="1"/>
          <p:nvPr/>
        </p:nvSpPr>
        <p:spPr>
          <a:xfrm>
            <a:off x="8436908" y="1417320"/>
            <a:ext cx="3192108" cy="5212080"/>
          </a:xfrm>
          <a:prstGeom prst="rect">
            <a:avLst/>
          </a:prstGeom>
          <a:noFill/>
        </p:spPr>
        <p:txBody>
          <a:bodyPr wrap="square" anchor="ctr">
            <a:noAutofit/>
          </a:bodyPr>
          <a:lstStyle/>
          <a:p>
            <a:r>
              <a:rPr sz="2400" dirty="0"/>
              <a:t>Data ellipses </a:t>
            </a:r>
            <a:r>
              <a:rPr lang="en-CA" sz="2400" dirty="0">
                <a:sym typeface="Symbol" panose="05050102010706020507" pitchFamily="18" charset="2"/>
              </a:rPr>
              <a:t></a:t>
            </a:r>
            <a:r>
              <a:rPr sz="2400" dirty="0"/>
              <a:t> </a:t>
            </a:r>
            <a:r>
              <a:rPr sz="2400" b="1" dirty="0"/>
              <a:t>E</a:t>
            </a:r>
            <a:r>
              <a:rPr sz="2400" dirty="0"/>
              <a:t> ellipse </a:t>
            </a:r>
            <a:endParaRPr lang="en-CA" sz="2400" dirty="0"/>
          </a:p>
          <a:p>
            <a:endParaRPr lang="en-CA" sz="2400" dirty="0"/>
          </a:p>
          <a:p>
            <a:r>
              <a:rPr lang="en-CA" sz="2400" dirty="0"/>
              <a:t>G</a:t>
            </a:r>
            <a:r>
              <a:rPr sz="2400" dirty="0" err="1"/>
              <a:t>roup</a:t>
            </a:r>
            <a:r>
              <a:rPr sz="2400" dirty="0"/>
              <a:t> means </a:t>
            </a:r>
            <a:r>
              <a:rPr lang="en-CA" sz="2400" dirty="0">
                <a:sym typeface="Symbol" panose="05050102010706020507" pitchFamily="18" charset="2"/>
              </a:rPr>
              <a:t></a:t>
            </a:r>
            <a:r>
              <a:rPr sz="2400" dirty="0"/>
              <a:t> </a:t>
            </a:r>
            <a:r>
              <a:rPr sz="2400" b="1" dirty="0"/>
              <a:t>H</a:t>
            </a:r>
            <a:endParaRPr lang="en-CA" sz="2400" b="1" dirty="0"/>
          </a:p>
          <a:p>
            <a:r>
              <a:rPr sz="2400" dirty="0"/>
              <a:t> </a:t>
            </a:r>
            <a:endParaRPr lang="en-CA" sz="2400" dirty="0"/>
          </a:p>
          <a:p>
            <a:r>
              <a:rPr lang="en-CA" sz="2400" dirty="0"/>
              <a:t>P</a:t>
            </a:r>
            <a:r>
              <a:rPr sz="2400" dirty="0" err="1"/>
              <a:t>rojection</a:t>
            </a:r>
            <a:r>
              <a:rPr sz="2400" dirty="0"/>
              <a:t> </a:t>
            </a:r>
            <a:r>
              <a:rPr lang="en-CA" sz="2400" dirty="0">
                <a:sym typeface="Symbol" panose="05050102010706020507" pitchFamily="18" charset="2"/>
              </a:rPr>
              <a:t> </a:t>
            </a:r>
            <a:r>
              <a:rPr sz="2400" dirty="0"/>
              <a:t>discriminant view.</a:t>
            </a:r>
          </a:p>
        </p:txBody>
      </p:sp>
      <p:sp>
        <p:nvSpPr>
          <p:cNvPr id="5" name="Slide Number Placeholder 5"/>
          <p:cNvSpPr>
            <a:spLocks noGrp="1"/>
          </p:cNvSpPr>
          <p:nvPr>
            <p:ph type="sldNum" sz="quarter" idx="12"/>
          </p:nvPr>
        </p:nvSpPr>
        <p:spPr/>
        <p:txBody>
          <a:bodyPr/>
          <a:lstStyle/>
          <a:p>
            <a:fld id="{9BFB2853-4965-4727-91C4-384EB30D99A4}" type="slidenum">
              <a:rPr lang="en-CA"/>
              <a:t>76</a:t>
            </a:fld>
            <a:endParaRPr lang="en-CA"/>
          </a:p>
        </p:txBody>
      </p:sp>
    </p:spTree>
    <p:extLst>
      <p:ext uri="{BB962C8B-B14F-4D97-AF65-F5344CB8AC3E}">
        <p14:creationId xmlns:p14="http://schemas.microsoft.com/office/powerpoint/2010/main" val="29171991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MANOVA: the same sums of squares, now as matrices</a:t>
            </a:r>
          </a:p>
        </p:txBody>
      </p:sp>
      <p:pic>
        <p:nvPicPr>
          <p:cNvPr id="3" name="Picture 2" descr="VisualizingSSP.png"/>
          <p:cNvPicPr>
            <a:picLocks noChangeAspect="1"/>
          </p:cNvPicPr>
          <p:nvPr/>
        </p:nvPicPr>
        <p:blipFill>
          <a:blip r:embed="rId3"/>
          <a:stretch>
            <a:fillRect/>
          </a:stretch>
        </p:blipFill>
        <p:spPr>
          <a:xfrm>
            <a:off x="852273" y="1691640"/>
            <a:ext cx="10493548"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Total = Hypothesis + Error. Each is a matrix, so each can be drawn as an ellipse.</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11.2</a:t>
            </a:r>
          </a:p>
        </p:txBody>
      </p:sp>
      <p:sp>
        <p:nvSpPr>
          <p:cNvPr id="6" name="Slide Number Placeholder 6"/>
          <p:cNvSpPr>
            <a:spLocks noGrp="1"/>
          </p:cNvSpPr>
          <p:nvPr>
            <p:ph type="sldNum" sz="quarter" idx="12"/>
          </p:nvPr>
        </p:nvSpPr>
        <p:spPr/>
        <p:txBody>
          <a:bodyPr/>
          <a:lstStyle/>
          <a:p>
            <a:fld id="{9BFB2853-4965-4727-91C4-384EB30D99A4}" type="slidenum">
              <a:rPr lang="en-CA"/>
              <a:t>77</a:t>
            </a:fld>
            <a:endParaRPr lang="en-CA"/>
          </a:p>
        </p:txBody>
      </p:sp>
    </p:spTree>
    <p:extLst>
      <p:ext uri="{BB962C8B-B14F-4D97-AF65-F5344CB8AC3E}">
        <p14:creationId xmlns:p14="http://schemas.microsoft.com/office/powerpoint/2010/main" val="26081731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Canonical correlation in an HE plot</a:t>
            </a:r>
          </a:p>
        </p:txBody>
      </p:sp>
      <p:sp>
        <p:nvSpPr>
          <p:cNvPr id="3" name="Content Placeholder 2"/>
          <p:cNvSpPr>
            <a:spLocks noGrp="1"/>
          </p:cNvSpPr>
          <p:nvPr>
            <p:ph sz="half" idx="1"/>
          </p:nvPr>
        </p:nvSpPr>
        <p:spPr/>
        <p:txBody>
          <a:bodyPr/>
          <a:lstStyle/>
          <a:p>
            <a:r>
              <a:rPr dirty="0"/>
              <a:t>Canonical correlation: the weighted sums of the </a:t>
            </a:r>
            <a:r>
              <a:rPr lang="en-CA" dirty="0"/>
              <a:t>Y</a:t>
            </a:r>
            <a:r>
              <a:rPr dirty="0"/>
              <a:t> and </a:t>
            </a:r>
            <a:r>
              <a:rPr lang="en-CA" dirty="0"/>
              <a:t>X</a:t>
            </a:r>
            <a:r>
              <a:rPr dirty="0"/>
              <a:t> variables that correlate most highly</a:t>
            </a:r>
          </a:p>
          <a:p>
            <a:r>
              <a:rPr dirty="0"/>
              <a:t>Shown as an HE plot in the canonical space</a:t>
            </a:r>
            <a:r>
              <a:rPr lang="en-CA" dirty="0"/>
              <a:t>, with vectors for X &amp; Y variables</a:t>
            </a:r>
            <a:endParaRPr dirty="0"/>
          </a:p>
        </p:txBody>
      </p:sp>
      <p:pic>
        <p:nvPicPr>
          <p:cNvPr id="4" name="Picture 3" descr="fig-school-hecan-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12.22</a:t>
            </a:r>
          </a:p>
        </p:txBody>
      </p:sp>
      <p:sp>
        <p:nvSpPr>
          <p:cNvPr id="6" name="Slide Number Placeholder 6"/>
          <p:cNvSpPr>
            <a:spLocks noGrp="1"/>
          </p:cNvSpPr>
          <p:nvPr>
            <p:ph type="sldNum" sz="quarter" idx="12"/>
          </p:nvPr>
        </p:nvSpPr>
        <p:spPr/>
        <p:txBody>
          <a:bodyPr/>
          <a:lstStyle/>
          <a:p>
            <a:fld id="{9BFB2853-4965-4727-91C4-384EB30D99A4}" type="slidenum">
              <a:rPr lang="en-CA"/>
              <a:t>78</a:t>
            </a:fld>
            <a:endParaRPr lang="en-CA"/>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Factorial designs: main effects and interactions</a:t>
            </a:r>
          </a:p>
        </p:txBody>
      </p:sp>
      <p:sp>
        <p:nvSpPr>
          <p:cNvPr id="3" name="Content Placeholder 2"/>
          <p:cNvSpPr>
            <a:spLocks noGrp="1"/>
          </p:cNvSpPr>
          <p:nvPr>
            <p:ph sz="half" idx="1"/>
          </p:nvPr>
        </p:nvSpPr>
        <p:spPr/>
        <p:txBody>
          <a:bodyPr/>
          <a:lstStyle/>
          <a:p>
            <a:r>
              <a:t>Plastic film data: tear and gloss by rate of extrusion and amount of additive</a:t>
            </a:r>
          </a:p>
          <a:p>
            <a:r>
              <a:t>One H ellipse for each term in the model</a:t>
            </a:r>
          </a:p>
        </p:txBody>
      </p:sp>
      <p:pic>
        <p:nvPicPr>
          <p:cNvPr id="4" name="Picture 3" descr="fig-plastic-HE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12.11</a:t>
            </a:r>
          </a:p>
        </p:txBody>
      </p:sp>
      <p:sp>
        <p:nvSpPr>
          <p:cNvPr id="6" name="Slide Number Placeholder 6"/>
          <p:cNvSpPr>
            <a:spLocks noGrp="1"/>
          </p:cNvSpPr>
          <p:nvPr>
            <p:ph type="sldNum" sz="quarter" idx="12"/>
          </p:nvPr>
        </p:nvSpPr>
        <p:spPr/>
        <p:txBody>
          <a:bodyPr/>
          <a:lstStyle/>
          <a:p>
            <a:fld id="{9BFB2853-4965-4727-91C4-384EB30D99A4}" type="slidenum">
              <a:rPr lang="en-CA"/>
              <a:t>79</a:t>
            </a:fld>
            <a:endParaRPr lang="en-CA"/>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MANCOVA: are the regressions the same across groups?</a:t>
            </a:r>
          </a:p>
        </p:txBody>
      </p:sp>
      <p:sp>
        <p:nvSpPr>
          <p:cNvPr id="3" name="Content Placeholder 2"/>
          <p:cNvSpPr>
            <a:spLocks noGrp="1"/>
          </p:cNvSpPr>
          <p:nvPr>
            <p:ph sz="half" idx="1"/>
          </p:nvPr>
        </p:nvSpPr>
        <p:spPr/>
        <p:txBody>
          <a:bodyPr/>
          <a:lstStyle/>
          <a:p>
            <a:r>
              <a:t>Rohwer data: aptitude and achievement predicted from paired-associate tasks</a:t>
            </a:r>
          </a:p>
          <a:p>
            <a:r>
              <a:t>Overlaid HE plots for the low and high SES groups</a:t>
            </a:r>
          </a:p>
        </p:txBody>
      </p:sp>
      <p:pic>
        <p:nvPicPr>
          <p:cNvPr id="4" name="Picture 3" descr="fig-rohwer-HE-lohi-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12.25</a:t>
            </a:r>
          </a:p>
        </p:txBody>
      </p:sp>
      <p:sp>
        <p:nvSpPr>
          <p:cNvPr id="6" name="Slide Number Placeholder 6"/>
          <p:cNvSpPr>
            <a:spLocks noGrp="1"/>
          </p:cNvSpPr>
          <p:nvPr>
            <p:ph type="sldNum" sz="quarter" idx="12"/>
          </p:nvPr>
        </p:nvSpPr>
        <p:spPr/>
        <p:txBody>
          <a:bodyPr/>
          <a:lstStyle/>
          <a:p>
            <a:fld id="{9BFB2853-4965-4727-91C4-384EB30D99A4}" type="slidenum">
              <a:rPr lang="en-CA"/>
              <a:t>80</a:t>
            </a:fld>
            <a:endParaRPr lang="en-CA"/>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Are the covariance matrices equal?</a:t>
            </a:r>
          </a:p>
        </p:txBody>
      </p:sp>
      <p:sp>
        <p:nvSpPr>
          <p:cNvPr id="3" name="Content Placeholder 2"/>
          <p:cNvSpPr>
            <a:spLocks noGrp="1"/>
          </p:cNvSpPr>
          <p:nvPr>
            <p:ph sz="half" idx="1"/>
          </p:nvPr>
        </p:nvSpPr>
        <p:spPr/>
        <p:txBody>
          <a:bodyPr/>
          <a:lstStyle/>
          <a:p>
            <a:r>
              <a:t>MANOVA assumes equal within-group covariance matrices</a:t>
            </a:r>
          </a:p>
          <a:p>
            <a:r>
              <a:t>Compare the data ellipse of each group with the pooled one</a:t>
            </a:r>
          </a:p>
          <a:p>
            <a:r>
              <a:t>Look for differences in size and shape</a:t>
            </a:r>
          </a:p>
        </p:txBody>
      </p:sp>
      <p:pic>
        <p:nvPicPr>
          <p:cNvPr id="4" name="Picture 3" descr="fig-peng-covEllipse-pairs-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13.4</a:t>
            </a:r>
          </a:p>
        </p:txBody>
      </p:sp>
      <p:sp>
        <p:nvSpPr>
          <p:cNvPr id="6" name="Slide Number Placeholder 6"/>
          <p:cNvSpPr>
            <a:spLocks noGrp="1"/>
          </p:cNvSpPr>
          <p:nvPr>
            <p:ph type="sldNum" sz="quarter" idx="12"/>
          </p:nvPr>
        </p:nvSpPr>
        <p:spPr/>
        <p:txBody>
          <a:bodyPr/>
          <a:lstStyle/>
          <a:p>
            <a:fld id="{9BFB2853-4965-4727-91C4-384EB30D99A4}" type="slidenum">
              <a:rPr lang="en-CA"/>
              <a:t>81</a:t>
            </a:fld>
            <a:endParaRPr lang="en-CA"/>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Visualizing Box's M test</a:t>
            </a:r>
          </a:p>
        </p:txBody>
      </p:sp>
      <p:pic>
        <p:nvPicPr>
          <p:cNvPr id="3" name="Picture 2" descr="fig-peng-iris-boxm-plots-1.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Box's M compares the log determinants of the group covariance matrices with that of the pooled matrix.</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13.6</a:t>
            </a:r>
          </a:p>
        </p:txBody>
      </p:sp>
      <p:sp>
        <p:nvSpPr>
          <p:cNvPr id="6" name="Slide Number Placeholder 6"/>
          <p:cNvSpPr>
            <a:spLocks noGrp="1"/>
          </p:cNvSpPr>
          <p:nvPr>
            <p:ph type="sldNum" sz="quarter" idx="12"/>
          </p:nvPr>
        </p:nvSpPr>
        <p:spPr/>
        <p:txBody>
          <a:bodyPr/>
          <a:lstStyle/>
          <a:p>
            <a:fld id="{9BFB2853-4965-4727-91C4-384EB30D99A4}" type="slidenum">
              <a:rPr lang="en-CA"/>
              <a:t>82</a:t>
            </a:fld>
            <a:endParaRPr lang="en-CA"/>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Discriminant analysis</a:t>
            </a:r>
          </a:p>
        </p:txBody>
      </p:sp>
      <p:sp>
        <p:nvSpPr>
          <p:cNvPr id="3" name="Text Placeholder 2"/>
          <p:cNvSpPr>
            <a:spLocks noGrp="1"/>
          </p:cNvSpPr>
          <p:nvPr>
            <p:ph type="body" idx="1"/>
          </p:nvPr>
        </p:nvSpPr>
        <p:spPr/>
        <p:txBody>
          <a:bodyPr/>
          <a:lstStyle/>
          <a:p>
            <a:r>
              <a:t>MANOVA turned around: predicting the group</a:t>
            </a:r>
          </a:p>
        </p:txBody>
      </p:sp>
      <p:sp>
        <p:nvSpPr>
          <p:cNvPr id="4" name="Slide Number Placeholder 4"/>
          <p:cNvSpPr>
            <a:spLocks noGrp="1"/>
          </p:cNvSpPr>
          <p:nvPr>
            <p:ph type="sldNum" sz="quarter" idx="12"/>
          </p:nvPr>
        </p:nvSpPr>
        <p:spPr/>
        <p:txBody>
          <a:bodyPr/>
          <a:lstStyle/>
          <a:p>
            <a:fld id="{9BFB2853-4965-4727-91C4-384EB30D99A4}" type="slidenum">
              <a:rPr lang="en-CA"/>
              <a:t>83</a:t>
            </a:fld>
            <a:endParaRPr lang="en-CA"/>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Quadratic discriminant analysis</a:t>
            </a:r>
          </a:p>
        </p:txBody>
      </p:sp>
      <p:pic>
        <p:nvPicPr>
          <p:cNvPr id="3" name="Picture 2" descr="fig-peng-qda-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With a separate covariance matrix for each group, the boundaries become curved.</a:t>
            </a:r>
          </a:p>
        </p:txBody>
      </p:sp>
      <p:sp>
        <p:nvSpPr>
          <p:cNvPr id="5" name="Slide Number Placeholder 5"/>
          <p:cNvSpPr>
            <a:spLocks noGrp="1"/>
          </p:cNvSpPr>
          <p:nvPr>
            <p:ph type="sldNum" sz="quarter" idx="12"/>
          </p:nvPr>
        </p:nvSpPr>
        <p:spPr/>
        <p:txBody>
          <a:bodyPr/>
          <a:lstStyle/>
          <a:p>
            <a:fld id="{9BFB2853-4965-4727-91C4-384EB30D99A4}" type="slidenum">
              <a:rPr lang="en-CA"/>
              <a:t>84</a:t>
            </a:fld>
            <a:endParaRPr lang="en-CA"/>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6342</TotalTime>
  <Words>6572</Words>
  <Application>Microsoft Office PowerPoint</Application>
  <PresentationFormat>Widescreen</PresentationFormat>
  <Paragraphs>693</Paragraphs>
  <Slides>84</Slides>
  <Notes>78</Notes>
  <HiddenSlides>21</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1</vt:i4>
      </vt:variant>
      <vt:variant>
        <vt:lpstr>Slide Titles</vt:lpstr>
      </vt:variant>
      <vt:variant>
        <vt:i4>84</vt:i4>
      </vt:variant>
    </vt:vector>
  </HeadingPairs>
  <TitlesOfParts>
    <vt:vector size="95" baseType="lpstr">
      <vt:lpstr>Aptos</vt:lpstr>
      <vt:lpstr>Aptos Display</vt:lpstr>
      <vt:lpstr>Arial</vt:lpstr>
      <vt:lpstr>Cambria Math</vt:lpstr>
      <vt:lpstr>Consolas</vt:lpstr>
      <vt:lpstr>Courier New</vt:lpstr>
      <vt:lpstr>Lucida Console</vt:lpstr>
      <vt:lpstr>Symbol</vt:lpstr>
      <vt:lpstr>Wingdings</vt:lpstr>
      <vt:lpstr>Office Theme</vt:lpstr>
      <vt:lpstr>Equation</vt:lpstr>
      <vt:lpstr>Visualizing Multivariate Data and Models in R</vt:lpstr>
      <vt:lpstr>The book</vt:lpstr>
      <vt:lpstr>R packages</vt:lpstr>
      <vt:lpstr>Ideas I’ll talk about today (thematic)</vt:lpstr>
      <vt:lpstr>Why a romance in many dimensions?</vt:lpstr>
      <vt:lpstr>Planeland: we only ever see 2D projections</vt:lpstr>
      <vt:lpstr>EUREKA! Structure can hide in many dimensions</vt:lpstr>
      <vt:lpstr>Multivariate discovery: kinds of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What if I'm not Normal?</vt:lpstr>
      <vt:lpstr>Simpson's paradox: marginal &amp; conditional relations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 (tourr pkg)</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When a linear view is not enough: PCA vs t-SNE</vt:lpstr>
      <vt:lpstr>From PCA to t-SNE, animated</vt:lpstr>
      <vt:lpstr>Elliptical Insights</vt:lpstr>
      <vt:lpstr>Outlier detection: Waar is Wally?</vt:lpstr>
      <vt:lpstr>Multivariate outliers: which penguins are unusual?</vt:lpstr>
      <vt:lpstr>Outliers hide in the smallest dimensions</vt:lpstr>
      <vt:lpstr>Elliptical insights: Measurement error</vt:lpstr>
      <vt:lpstr>Coffee, stress and heart disease</vt:lpstr>
      <vt:lpstr>Data space and beta space are dual</vt:lpstr>
      <vt:lpstr>Adding measurement error</vt:lpstr>
      <vt:lpstr>Understanding collinearity</vt:lpstr>
      <vt:lpstr>Ridge regression: shrink to gain precision</vt:lpstr>
      <vt:lpstr>The usual ridge trace shows only the estimates</vt:lpstr>
      <vt:lpstr>Generalized ridge trace plots</vt:lpstr>
      <vt:lpstr>A low-rank view of ridge regression</vt:lpstr>
      <vt:lpstr>The HE plot framework</vt:lpstr>
      <vt:lpstr>HE plots: Visual overview</vt:lpstr>
      <vt:lpstr>Data  Data ellipses  HE plot</vt:lpstr>
      <vt:lpstr>The H ellipse</vt:lpstr>
      <vt:lpstr>The E ellipse</vt:lpstr>
      <vt:lpstr>HE plots: Effect scaling vs. Significance scaling</vt:lpstr>
      <vt:lpstr>Contrasts &amp; linear hypotheses: What diffces make H big?</vt:lpstr>
      <vt:lpstr>HE pairs() plots</vt:lpstr>
      <vt:lpstr>Quantitative predictors: each effect is a line</vt:lpstr>
      <vt:lpstr>Canonical discriminant plots: The MANOVA juicer</vt:lpstr>
      <vt:lpstr>Linear discriminant analysis: main ideas</vt:lpstr>
      <vt:lpstr>Prediction regions in data space</vt:lpstr>
      <vt:lpstr>Prediction regions in discriminant space</vt:lpstr>
      <vt:lpstr>Checking multivariate models</vt:lpstr>
      <vt:lpstr>Unusual is not the same as influential</vt:lpstr>
      <vt:lpstr>Who are the influential penguins?</vt:lpstr>
      <vt:lpstr>Robust MLMs: down-weight what does not fit</vt:lpstr>
      <vt:lpstr>Summary: A few ideas go a long way</vt:lpstr>
      <vt:lpstr>Book, code and packages</vt:lpstr>
      <vt:lpstr>Questions? Discussion?</vt:lpstr>
      <vt:lpstr>The regression quartet</vt:lpstr>
      <vt:lpstr>Coefficient plots: show the estimates, not a table</vt:lpstr>
      <vt:lpstr>Effect displays: what the model predicts</vt:lpstr>
      <vt:lpstr>Collinearity and ridge regression</vt:lpstr>
      <vt:lpstr>Collinearity: narrow data  increased uncertainty</vt:lpstr>
      <vt:lpstr>Application: effect ordering variables in displays</vt:lpstr>
      <vt:lpstr>Measurement error for β1 also biases β2</vt:lpstr>
      <vt:lpstr>Added-variable plots show partial relationships</vt:lpstr>
      <vt:lpstr>Leverage and influence: car::influencePlot(model)</vt:lpstr>
      <vt:lpstr>Which observations drive the fit?</vt:lpstr>
      <vt:lpstr>Bias vs. Precision tradeoff</vt:lpstr>
      <vt:lpstr>From the t-test to Hotelling's T²</vt:lpstr>
      <vt:lpstr>The Hypothesis-Error plot framework</vt:lpstr>
      <vt:lpstr>MANOVA: the same sums of squares, now as matrices</vt:lpstr>
      <vt:lpstr>Canonical correlation in an HE plot</vt:lpstr>
      <vt:lpstr>Factorial designs: main effects and interactions</vt:lpstr>
      <vt:lpstr>MANCOVA: are the regressions the same across groups?</vt:lpstr>
      <vt:lpstr>Are the covariance matrices equal?</vt:lpstr>
      <vt:lpstr>Visualizing Box's M test</vt:lpstr>
      <vt:lpstr>Discriminant analysis</vt:lpstr>
      <vt:lpstr>Quadratic discriminant analysis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57</cp:revision>
  <dcterms:created xsi:type="dcterms:W3CDTF">2026-10-06T18:00:03Z</dcterms:created>
  <dcterms:modified xsi:type="dcterms:W3CDTF">2026-10-19T19:54:39Z</dcterms:modified>
</cp:coreProperties>
</file>