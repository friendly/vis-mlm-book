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56" r:id="rId2"/>
    <p:sldId id="257" r:id="rId3"/>
    <p:sldId id="325" r:id="rId4"/>
    <p:sldId id="258" r:id="rId5"/>
    <p:sldId id="259" r:id="rId6"/>
    <p:sldId id="260" r:id="rId7"/>
    <p:sldId id="261" r:id="rId8"/>
    <p:sldId id="262" r:id="rId9"/>
    <p:sldId id="263" r:id="rId10"/>
    <p:sldId id="264" r:id="rId11"/>
    <p:sldId id="456" r:id="rId12"/>
    <p:sldId id="457" r:id="rId13"/>
    <p:sldId id="458" r:id="rId14"/>
    <p:sldId id="326" r:id="rId15"/>
    <p:sldId id="266" r:id="rId16"/>
    <p:sldId id="470" r:id="rId17"/>
    <p:sldId id="473" r:id="rId18"/>
    <p:sldId id="267" r:id="rId19"/>
    <p:sldId id="268" r:id="rId20"/>
    <p:sldId id="269" r:id="rId21"/>
    <p:sldId id="270" r:id="rId22"/>
    <p:sldId id="271" r:id="rId23"/>
    <p:sldId id="273" r:id="rId24"/>
    <p:sldId id="467" r:id="rId25"/>
    <p:sldId id="274" r:id="rId26"/>
    <p:sldId id="275" r:id="rId27"/>
    <p:sldId id="276" r:id="rId28"/>
    <p:sldId id="468" r:id="rId29"/>
    <p:sldId id="277" r:id="rId30"/>
    <p:sldId id="278" r:id="rId31"/>
    <p:sldId id="282" r:id="rId32"/>
    <p:sldId id="471" r:id="rId33"/>
    <p:sldId id="272" r:id="rId34"/>
    <p:sldId id="281" r:id="rId35"/>
    <p:sldId id="472" r:id="rId36"/>
    <p:sldId id="460" r:id="rId37"/>
    <p:sldId id="289" r:id="rId38"/>
    <p:sldId id="461" r:id="rId39"/>
    <p:sldId id="293" r:id="rId40"/>
    <p:sldId id="294" r:id="rId41"/>
    <p:sldId id="295" r:id="rId42"/>
    <p:sldId id="465" r:id="rId43"/>
    <p:sldId id="297" r:id="rId44"/>
    <p:sldId id="298" r:id="rId45"/>
    <p:sldId id="466" r:id="rId46"/>
    <p:sldId id="327" r:id="rId47"/>
    <p:sldId id="328" r:id="rId48"/>
    <p:sldId id="329" r:id="rId49"/>
    <p:sldId id="302" r:id="rId50"/>
    <p:sldId id="303" r:id="rId51"/>
    <p:sldId id="449" r:id="rId52"/>
    <p:sldId id="306" r:id="rId53"/>
    <p:sldId id="469" r:id="rId54"/>
    <p:sldId id="318" r:id="rId55"/>
    <p:sldId id="319" r:id="rId56"/>
    <p:sldId id="320" r:id="rId57"/>
    <p:sldId id="310" r:id="rId58"/>
    <p:sldId id="311" r:id="rId59"/>
    <p:sldId id="313" r:id="rId60"/>
    <p:sldId id="314" r:id="rId61"/>
    <p:sldId id="322" r:id="rId62"/>
    <p:sldId id="323" r:id="rId63"/>
    <p:sldId id="324" r:id="rId64"/>
    <p:sldId id="283" r:id="rId65"/>
    <p:sldId id="284" r:id="rId66"/>
    <p:sldId id="286" r:id="rId67"/>
    <p:sldId id="291" r:id="rId68"/>
    <p:sldId id="292" r:id="rId69"/>
    <p:sldId id="279" r:id="rId70"/>
    <p:sldId id="462" r:id="rId71"/>
    <p:sldId id="285" r:id="rId72"/>
    <p:sldId id="287" r:id="rId73"/>
    <p:sldId id="288" r:id="rId74"/>
    <p:sldId id="463" r:id="rId75"/>
    <p:sldId id="299" r:id="rId76"/>
    <p:sldId id="300" r:id="rId77"/>
    <p:sldId id="301" r:id="rId78"/>
    <p:sldId id="307" r:id="rId79"/>
    <p:sldId id="308" r:id="rId80"/>
    <p:sldId id="309" r:id="rId81"/>
    <p:sldId id="315" r:id="rId82"/>
    <p:sldId id="316" r:id="rId83"/>
    <p:sldId id="317" r:id="rId84"/>
    <p:sldId id="321"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A6EF18E-6D16-4A5B-A8B8-B0B7462DD26E}">
          <p14:sldIdLst>
            <p14:sldId id="256"/>
            <p14:sldId id="257"/>
            <p14:sldId id="325"/>
            <p14:sldId id="258"/>
          </p14:sldIdLst>
        </p14:section>
        <p14:section name="0. Why a romance?" id="{1AEE5DC6-40B2-471D-9CB4-004A8392A312}">
          <p14:sldIdLst>
            <p14:sldId id="259"/>
            <p14:sldId id="260"/>
            <p14:sldId id="261"/>
            <p14:sldId id="262"/>
            <p14:sldId id="263"/>
          </p14:sldIdLst>
        </p14:section>
        <p14:section name="1. Ellipses everywhere: seeing multivariate data" id="{342421AD-6C42-4061-9440-37F93863C901}">
          <p14:sldIdLst>
            <p14:sldId id="264"/>
            <p14:sldId id="456"/>
            <p14:sldId id="457"/>
            <p14:sldId id="458"/>
            <p14:sldId id="326"/>
            <p14:sldId id="266"/>
            <p14:sldId id="470"/>
            <p14:sldId id="473"/>
            <p14:sldId id="267"/>
            <p14:sldId id="268"/>
            <p14:sldId id="269"/>
            <p14:sldId id="270"/>
            <p14:sldId id="271"/>
          </p14:sldIdLst>
        </p14:section>
        <p14:section name="2. Multivariate juicers and Waldo space" id="{DA27F9D7-637D-4DEC-ADC4-C5706219A457}">
          <p14:sldIdLst>
            <p14:sldId id="273"/>
            <p14:sldId id="467"/>
            <p14:sldId id="274"/>
            <p14:sldId id="275"/>
            <p14:sldId id="276"/>
            <p14:sldId id="468"/>
            <p14:sldId id="277"/>
            <p14:sldId id="278"/>
          </p14:sldIdLst>
        </p14:section>
        <p14:section name="3. Elliptical insights" id="{EAA495C8-47F8-453B-93BF-84216DBE3542}">
          <p14:sldIdLst>
            <p14:sldId id="282"/>
            <p14:sldId id="471"/>
            <p14:sldId id="272"/>
            <p14:sldId id="281"/>
            <p14:sldId id="472"/>
            <p14:sldId id="460"/>
            <p14:sldId id="289"/>
            <p14:sldId id="461"/>
            <p14:sldId id="293"/>
            <p14:sldId id="294"/>
            <p14:sldId id="295"/>
            <p14:sldId id="465"/>
            <p14:sldId id="297"/>
          </p14:sldIdLst>
        </p14:section>
        <p14:section name="4. The HE plot framework" id="{19AF699C-459B-4008-BE93-C8454174BFDD}">
          <p14:sldIdLst>
            <p14:sldId id="298"/>
            <p14:sldId id="466"/>
            <p14:sldId id="327"/>
            <p14:sldId id="328"/>
            <p14:sldId id="329"/>
            <p14:sldId id="302"/>
            <p14:sldId id="303"/>
            <p14:sldId id="449"/>
            <p14:sldId id="306"/>
            <p14:sldId id="469"/>
            <p14:sldId id="318"/>
            <p14:sldId id="319"/>
            <p14:sldId id="320"/>
          </p14:sldIdLst>
        </p14:section>
        <p14:section name="5. Checking multivariate models" id="{6A48B39A-9055-4C28-B86C-25D5CE1DEB29}">
          <p14:sldIdLst>
            <p14:sldId id="310"/>
            <p14:sldId id="311"/>
            <p14:sldId id="313"/>
            <p14:sldId id="314"/>
          </p14:sldIdLst>
        </p14:section>
        <p14:section name="Closing" id="{6192B6EA-3336-4F76-86C9-584437A1262F}">
          <p14:sldIdLst>
            <p14:sldId id="322"/>
            <p14:sldId id="323"/>
            <p14:sldId id="324"/>
          </p14:sldIdLst>
        </p14:section>
        <p14:section name="Backup (hidden)" id="{7A8258A9-8C35-45CC-AE73-779A558EF0F6}">
          <p14:sldIdLst>
            <p14:sldId id="283"/>
            <p14:sldId id="284"/>
            <p14:sldId id="286"/>
            <p14:sldId id="291"/>
            <p14:sldId id="292"/>
            <p14:sldId id="279"/>
            <p14:sldId id="462"/>
            <p14:sldId id="285"/>
            <p14:sldId id="287"/>
            <p14:sldId id="288"/>
            <p14:sldId id="463"/>
            <p14:sldId id="299"/>
            <p14:sldId id="300"/>
            <p14:sldId id="301"/>
            <p14:sldId id="307"/>
            <p14:sldId id="308"/>
            <p14:sldId id="309"/>
            <p14:sldId id="315"/>
            <p14:sldId id="316"/>
            <p14:sldId id="317"/>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8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267" autoAdjust="0"/>
  </p:normalViewPr>
  <p:slideViewPr>
    <p:cSldViewPr snapToGrid="0">
      <p:cViewPr varScale="1">
        <p:scale>
          <a:sx n="74" d="100"/>
          <a:sy n="74" d="100"/>
        </p:scale>
        <p:origin x="618" y="72"/>
      </p:cViewPr>
      <p:guideLst/>
    </p:cSldViewPr>
  </p:slideViewPr>
  <p:notesTextViewPr>
    <p:cViewPr>
      <p:scale>
        <a:sx n="1" d="1"/>
        <a:sy n="1" d="1"/>
      </p:scale>
      <p:origin x="0" y="0"/>
    </p:cViewPr>
  </p:notesTextViewPr>
  <p:sorterViewPr>
    <p:cViewPr varScale="1">
      <p:scale>
        <a:sx n="100" d="100"/>
        <a:sy n="100" d="100"/>
      </p:scale>
      <p:origin x="0" y="-139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8204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I’m so glad to be with you here today. </a:t>
            </a:r>
          </a:p>
          <a:p>
            <a:r>
              <a:rPr lang="en-CA" dirty="0"/>
              <a:t>I just returned from Leuven, where I was on the jury for the </a:t>
            </a:r>
            <a:r>
              <a:rPr lang="en-CA" dirty="0" err="1"/>
              <a:t>Rousseeuw</a:t>
            </a:r>
            <a:r>
              <a:rPr lang="en-CA" dirty="0"/>
              <a:t> Prize in Statistics, which was happily awarded to </a:t>
            </a:r>
            <a:r>
              <a:rPr lang="en-CA" b="1" dirty="0"/>
              <a:t>The R Project </a:t>
            </a:r>
            <a:r>
              <a:rPr lang="en-CA" dirty="0"/>
              <a:t>in Statistical Computing &amp; Graphics</a:t>
            </a:r>
          </a:p>
          <a:p>
            <a:r>
              <a:rPr lang="en-CA" dirty="0"/>
              <a:t>As a bonus, daughter’s family lives in Utrecht, so I was happy to see them all.</a:t>
            </a:r>
          </a:p>
          <a:p>
            <a:r>
              <a:rPr lang="en-CA" dirty="0"/>
              <a:t>And now, I’ll give the first public talk about my current book.</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This book is the outcome of what, in one way or another, I’ve been working on for nearly my entire career. I’m happy to be able to share it with you today</a:t>
            </a:r>
          </a:p>
          <a:p>
            <a:r>
              <a:rPr lang="en-CA" dirty="0"/>
              <a:t>It started in my first grad course, Multivariate Data Analysis when I arrived at York in 1971</a:t>
            </a:r>
          </a:p>
          <a:p>
            <a:pPr marL="171450" indent="-171450">
              <a:buFont typeface="Arial" panose="020B0604020202020204" pitchFamily="34" charset="0"/>
              <a:buChar char="•"/>
            </a:pPr>
            <a:r>
              <a:rPr lang="en-CA" dirty="0"/>
              <a:t>How to teach the essential ideas of multivariate analysis? </a:t>
            </a:r>
          </a:p>
          <a:p>
            <a:pPr marL="0" indent="0">
              <a:buFont typeface="Arial" panose="020B0604020202020204" pitchFamily="34" charset="0"/>
              <a:buNone/>
            </a:pPr>
            <a:r>
              <a:rPr lang="en-CA" dirty="0"/>
              <a:t>     – Notation: Matrix algebra? </a:t>
            </a:r>
          </a:p>
          <a:p>
            <a:pPr marL="0" indent="0">
              <a:buFont typeface="Arial" panose="020B0604020202020204" pitchFamily="34" charset="0"/>
              <a:buNone/>
            </a:pPr>
            <a:r>
              <a:rPr lang="en-CA" dirty="0"/>
              <a:t>     - Visual understanding: Geometry</a:t>
            </a:r>
          </a:p>
          <a:p>
            <a:pPr marL="171450" indent="-171450">
              <a:buFont typeface="Arial" panose="020B0604020202020204" pitchFamily="34" charset="0"/>
              <a:buChar char="•"/>
            </a:pPr>
            <a:r>
              <a:rPr lang="en-CA" dirty="0"/>
              <a:t>How to make it easier for researchers to use these methods to answer multivariate questions?</a:t>
            </a:r>
          </a:p>
          <a:p>
            <a:pPr marL="171450" indent="-171450">
              <a:buFont typeface="Arial" panose="020B0604020202020204" pitchFamily="34" charset="0"/>
              <a:buChar char="•"/>
            </a:pPr>
            <a:endParaRPr lang="en-CA" dirty="0"/>
          </a:p>
          <a:p>
            <a:r>
              <a:rPr lang="en-CA" dirty="0"/>
              <a:t>The print copy is in the hand of Copy Editing Surgeons at CRC press.</a:t>
            </a:r>
          </a:p>
          <a:p>
            <a:r>
              <a:rPr lang="en-CA" dirty="0"/>
              <a:t>But I’m allowed to share an </a:t>
            </a:r>
            <a:r>
              <a:rPr dirty="0"/>
              <a:t>online version</a:t>
            </a:r>
            <a:r>
              <a:rPr lang="en-CA" dirty="0"/>
              <a:t> that also</a:t>
            </a:r>
            <a:r>
              <a:rPr dirty="0"/>
              <a:t> has animations </a:t>
            </a:r>
            <a:r>
              <a:rPr lang="en-CA" dirty="0"/>
              <a:t>I could not do in print </a:t>
            </a:r>
            <a:r>
              <a:rPr dirty="0"/>
              <a:t>and </a:t>
            </a:r>
            <a:r>
              <a:rPr lang="en-CA" dirty="0"/>
              <a:t>put </a:t>
            </a:r>
            <a:r>
              <a:rPr dirty="0"/>
              <a:t>all the R code</a:t>
            </a:r>
            <a:r>
              <a:rPr lang="en-CA" dirty="0"/>
              <a:t> online.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Theory to practice: the methods in the book are only useful if people can apply them. These four packages implement most of what follows: heplots (HE plots and related methods), candisc (canonical views), mvinfluence (multivariate influence), genridge (ridge trace plots).</a:t>
            </a:r>
          </a:p>
        </p:txBody>
      </p:sp>
    </p:spTree>
    <p:extLst>
      <p:ext uri="{BB962C8B-B14F-4D97-AF65-F5344CB8AC3E}">
        <p14:creationId xmlns:p14="http://schemas.microsoft.com/office/powerpoint/2010/main" val="2308996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Roadmap</a:t>
            </a:r>
            <a:r>
              <a:rPr lang="en-CA" dirty="0"/>
              <a:t>:</a:t>
            </a:r>
            <a:r>
              <a:rPr dirty="0"/>
              <a:t> </a:t>
            </a:r>
            <a:r>
              <a:rPr lang="en-CA" dirty="0"/>
              <a:t>T</a:t>
            </a:r>
            <a:r>
              <a:rPr dirty="0"/>
              <a:t>he book</a:t>
            </a:r>
            <a:r>
              <a:rPr lang="en-CA" dirty="0"/>
              <a:t> follows a linear path</a:t>
            </a:r>
            <a:r>
              <a:rPr dirty="0"/>
              <a:t>: plots of data, then models with one response, then models with many responses. </a:t>
            </a:r>
            <a:endParaRPr lang="en-CA" dirty="0"/>
          </a:p>
          <a:p>
            <a:r>
              <a:rPr lang="en-CA" dirty="0"/>
              <a:t>Today, I want to talk about the main themes of the book.</a:t>
            </a:r>
          </a:p>
          <a:p>
            <a:r>
              <a:rPr lang="en-CA" dirty="0"/>
              <a:t>Themes: </a:t>
            </a:r>
          </a:p>
          <a:p>
            <a:pPr marL="171450" indent="-171450">
              <a:buFont typeface="Arial" panose="020B0604020202020204" pitchFamily="34" charset="0"/>
              <a:buChar char="•"/>
            </a:pPr>
            <a:r>
              <a:rPr dirty="0"/>
              <a:t>The ellipse is the recurring </a:t>
            </a:r>
            <a:r>
              <a:rPr lang="en-CA" dirty="0"/>
              <a:t>visual </a:t>
            </a:r>
            <a:r>
              <a:rPr dirty="0"/>
              <a:t>device</a:t>
            </a:r>
            <a:r>
              <a:rPr lang="en-CA" dirty="0"/>
              <a:t> I use to understand multivariate phenomena. </a:t>
            </a:r>
          </a:p>
          <a:p>
            <a:pPr marL="171450" indent="-171450">
              <a:buFont typeface="Arial" panose="020B0604020202020204" pitchFamily="34" charset="0"/>
              <a:buChar char="•"/>
            </a:pPr>
            <a:r>
              <a:rPr lang="en-CA" dirty="0"/>
              <a:t>I’ll try to show how a wide variety of multivariate problems can be understood with insightful visual tools.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I chose this subtitle to reflect the love I’ve always had about understanding high-D </a:t>
            </a:r>
            <a:r>
              <a:rPr lang="en-CA" dirty="0" err="1"/>
              <a:t>phenonema</a:t>
            </a:r>
            <a:r>
              <a:rPr lang="en-CA" dirty="0"/>
              <a:t> data through the visual and analysis tools we have at our disposal</a:t>
            </a:r>
          </a:p>
          <a:p>
            <a:r>
              <a:rPr lang="en-CA" dirty="0"/>
              <a:t>Our goal in data analysis &amp; visualization should be to help understand scientific phenomena</a:t>
            </a:r>
          </a:p>
          <a:p>
            <a:r>
              <a:rPr lang="en-CA" dirty="0"/>
              <a:t>Yet our data </a:t>
            </a:r>
            <a:r>
              <a:rPr lang="en-CA" dirty="0" err="1"/>
              <a:t>ofen</a:t>
            </a:r>
            <a:r>
              <a:rPr lang="en-CA" dirty="0"/>
              <a:t> live in </a:t>
            </a:r>
            <a:r>
              <a:rPr lang="en-CA" dirty="0" err="1"/>
              <a:t>Spaceland</a:t>
            </a:r>
            <a:r>
              <a:rPr lang="en-CA" dirty="0"/>
              <a:t>, sometimes high-D. </a:t>
            </a:r>
          </a:p>
          <a:p>
            <a:r>
              <a:rPr lang="en-CA" dirty="0"/>
              <a:t>But, we are forced to plot them in 2D space.</a:t>
            </a:r>
          </a:p>
        </p:txBody>
      </p:sp>
    </p:spTree>
    <p:extLst>
      <p:ext uri="{BB962C8B-B14F-4D97-AF65-F5344CB8AC3E}">
        <p14:creationId xmlns:p14="http://schemas.microsoft.com/office/powerpoint/2010/main" val="3654899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book's subtitle is a nod to Abbott's 'Flatland: A Romance of Many Dimensions'. The Flatlander sees only a slice of the sphere. We are in the same position with p &gt; 2 variables.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Animation (plays in slide show mode). </a:t>
            </a:r>
            <a:endParaRPr lang="en-CA" dirty="0"/>
          </a:p>
          <a:p>
            <a:r>
              <a:rPr dirty="0"/>
              <a:t>The </a:t>
            </a:r>
            <a:r>
              <a:rPr lang="en-CA" dirty="0"/>
              <a:t>P</a:t>
            </a:r>
            <a:r>
              <a:rPr dirty="0" err="1"/>
              <a:t>ollen</a:t>
            </a:r>
            <a:r>
              <a:rPr dirty="0"/>
              <a:t> data</a:t>
            </a:r>
            <a:r>
              <a:rPr lang="en-CA" dirty="0"/>
              <a:t>set contains 5 variables measured on grains of pollen. It was created for the 1986 JSM Data Exposition:</a:t>
            </a:r>
          </a:p>
          <a:p>
            <a:r>
              <a:rPr lang="en-CA" dirty="0"/>
              <a:t>The invitation was “Show your stuff!”, “Find something interesting here”.</a:t>
            </a:r>
          </a:p>
          <a:p>
            <a:r>
              <a:rPr lang="en-CA" dirty="0"/>
              <a:t>It was a challenge, because, to most graphic methods of the day, it</a:t>
            </a:r>
            <a:r>
              <a:rPr dirty="0"/>
              <a:t> look</a:t>
            </a:r>
            <a:r>
              <a:rPr lang="en-CA" dirty="0"/>
              <a:t>s</a:t>
            </a:r>
            <a:r>
              <a:rPr dirty="0"/>
              <a:t> like a featureless cloud </a:t>
            </a:r>
            <a:r>
              <a:rPr lang="en-CA" dirty="0"/>
              <a:t>of points.</a:t>
            </a:r>
          </a:p>
          <a:p>
            <a:r>
              <a:rPr lang="en-CA" dirty="0"/>
              <a:t>The secret hidden there was only revealed from one orientation in 5D space when </a:t>
            </a:r>
            <a:r>
              <a:rPr dirty="0"/>
              <a:t>you zoom in on the dense center, where the points spell out a word.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example of a scientific discovery that came from looking at data in more than two dimensions. The Diabetes data come back later in the dimension reduction section.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table classifies linear model techniques by the number and type of responses and predictors. The right-hand column, multivariate responses, is where graphical methods have been thin.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The first act in understanding multivariate data is to be able to “see” it</a:t>
            </a:r>
          </a:p>
        </p:txBody>
      </p:sp>
    </p:spTree>
    <p:extLst>
      <p:ext uri="{BB962C8B-B14F-4D97-AF65-F5344CB8AC3E}">
        <p14:creationId xmlns:p14="http://schemas.microsoft.com/office/powerpoint/2010/main" val="1152286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0A88B6-83A7-469D-9A3E-EAB0252B3F61}" type="slidenum">
              <a:rPr lang="en-US" altLang="en-US"/>
              <a:pPr/>
              <a:t>11</a:t>
            </a:fld>
            <a:endParaRPr lang="en-US" altLang="en-US"/>
          </a:p>
        </p:txBody>
      </p:sp>
      <p:sp>
        <p:nvSpPr>
          <p:cNvPr id="79874" name="Rectangle 2"/>
          <p:cNvSpPr>
            <a:spLocks noGrp="1" noRot="1" noChangeAspect="1" noChangeArrowheads="1" noTextEdit="1"/>
          </p:cNvSpPr>
          <p:nvPr>
            <p:ph type="sldImg"/>
          </p:nvPr>
        </p:nvSpPr>
        <p:spPr>
          <a:xfrm>
            <a:off x="417513" y="301625"/>
            <a:ext cx="6096000" cy="3429000"/>
          </a:xfrm>
          <a:ln/>
        </p:spPr>
      </p:sp>
      <p:sp>
        <p:nvSpPr>
          <p:cNvPr id="79875" name="Rectangle 3"/>
          <p:cNvSpPr>
            <a:spLocks noGrp="1" noChangeArrowheads="1"/>
          </p:cNvSpPr>
          <p:nvPr>
            <p:ph type="body" idx="1"/>
          </p:nvPr>
        </p:nvSpPr>
        <p:spPr>
          <a:xfrm>
            <a:off x="671218" y="3897692"/>
            <a:ext cx="5484316" cy="4644571"/>
          </a:xfrm>
        </p:spPr>
        <p:txBody>
          <a:bodyPr/>
          <a:lstStyle/>
          <a:p>
            <a:r>
              <a:rPr lang="en-US" altLang="en-US" baseline="0" dirty="0"/>
              <a:t>My path to multivariate visualization begins </a:t>
            </a:r>
            <a:r>
              <a:rPr lang="en-US" altLang="en-US" dirty="0"/>
              <a:t>with Galton’s remarkable visual insight from a table of heights of parents and their offspring, that later gave rise to the theory of correlation and regression.</a:t>
            </a:r>
          </a:p>
        </p:txBody>
      </p:sp>
    </p:spTree>
    <p:extLst>
      <p:ext uri="{BB962C8B-B14F-4D97-AF65-F5344CB8AC3E}">
        <p14:creationId xmlns:p14="http://schemas.microsoft.com/office/powerpoint/2010/main" val="2893555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773280-0619-4A13-9DC6-29894BAC3638}" type="slidenum">
              <a:rPr lang="en-US" altLang="en-US"/>
              <a:pPr/>
              <a:t>12</a:t>
            </a:fld>
            <a:endParaRPr lang="en-US" altLang="en-US"/>
          </a:p>
        </p:txBody>
      </p:sp>
      <p:sp>
        <p:nvSpPr>
          <p:cNvPr id="81922" name="Rectangle 2"/>
          <p:cNvSpPr>
            <a:spLocks noGrp="1" noRot="1" noChangeAspect="1" noChangeArrowheads="1" noTextEdit="1"/>
          </p:cNvSpPr>
          <p:nvPr>
            <p:ph type="sldImg"/>
          </p:nvPr>
        </p:nvSpPr>
        <p:spPr>
          <a:xfrm>
            <a:off x="417513" y="301625"/>
            <a:ext cx="6096000" cy="3429000"/>
          </a:xfrm>
          <a:ln/>
        </p:spPr>
      </p:sp>
      <p:sp>
        <p:nvSpPr>
          <p:cNvPr id="81923" name="Rectangle 3"/>
          <p:cNvSpPr>
            <a:spLocks noGrp="1" noChangeArrowheads="1"/>
          </p:cNvSpPr>
          <p:nvPr>
            <p:ph type="body" idx="1"/>
          </p:nvPr>
        </p:nvSpPr>
        <p:spPr>
          <a:xfrm>
            <a:off x="671218" y="3897692"/>
            <a:ext cx="5484316" cy="4644571"/>
          </a:xfrm>
        </p:spPr>
        <p:txBody>
          <a:bodyPr/>
          <a:lstStyle/>
          <a:p>
            <a:r>
              <a:rPr lang="en-US" altLang="en-US" dirty="0"/>
              <a:t>It is really more a semi-graphic table, recording frequency in this bivariate distribution.  </a:t>
            </a:r>
          </a:p>
          <a:p>
            <a:pPr marL="285750" indent="-285750">
              <a:buFont typeface="Arial" panose="020B0604020202020204" pitchFamily="34" charset="0"/>
              <a:buChar char="•"/>
            </a:pPr>
            <a:r>
              <a:rPr lang="en-US" altLang="en-US" dirty="0"/>
              <a:t>Galton drew smoothed curves- by eye and brain- of equal frequency</a:t>
            </a:r>
          </a:p>
          <a:p>
            <a:pPr marL="285750" indent="-285750">
              <a:buFont typeface="Arial" panose="020B0604020202020204" pitchFamily="34" charset="0"/>
              <a:buChar char="•"/>
            </a:pPr>
            <a:r>
              <a:rPr lang="en-US" altLang="en-US" dirty="0"/>
              <a:t>He noticed that these formed “concentric and similar ellipses,” and </a:t>
            </a:r>
          </a:p>
          <a:p>
            <a:pPr marL="285750" indent="-285750">
              <a:buFont typeface="Arial" panose="020B0604020202020204" pitchFamily="34" charset="0"/>
              <a:buChar char="•"/>
            </a:pPr>
            <a:r>
              <a:rPr lang="en-US" altLang="en-US" dirty="0"/>
              <a:t>that the lines of means of </a:t>
            </a:r>
            <a:r>
              <a:rPr lang="en-US" altLang="en-US" dirty="0" err="1"/>
              <a:t>x|y</a:t>
            </a:r>
            <a:r>
              <a:rPr lang="en-US" altLang="en-US" dirty="0"/>
              <a:t> and </a:t>
            </a:r>
            <a:r>
              <a:rPr lang="en-US" altLang="en-US" dirty="0" err="1"/>
              <a:t>y|x</a:t>
            </a:r>
            <a:r>
              <a:rPr lang="en-US" altLang="en-US" dirty="0"/>
              <a:t> were the loci of conjugate tangents of the ellipses.</a:t>
            </a:r>
          </a:p>
          <a:p>
            <a:endParaRPr lang="en-US" altLang="en-US" dirty="0"/>
          </a:p>
        </p:txBody>
      </p:sp>
    </p:spTree>
    <p:extLst>
      <p:ext uri="{BB962C8B-B14F-4D97-AF65-F5344CB8AC3E}">
        <p14:creationId xmlns:p14="http://schemas.microsoft.com/office/powerpoint/2010/main" val="594397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942214-3791-483C-B540-622842037CC6}" type="slidenum">
              <a:rPr lang="en-US" altLang="en-US"/>
              <a:pPr/>
              <a:t>13</a:t>
            </a:fld>
            <a:endParaRPr lang="en-US" altLang="en-US"/>
          </a:p>
        </p:txBody>
      </p:sp>
      <p:sp>
        <p:nvSpPr>
          <p:cNvPr id="83970" name="Rectangle 2"/>
          <p:cNvSpPr>
            <a:spLocks noGrp="1" noRot="1" noChangeAspect="1" noChangeArrowheads="1" noTextEdit="1"/>
          </p:cNvSpPr>
          <p:nvPr>
            <p:ph type="sldImg"/>
          </p:nvPr>
        </p:nvSpPr>
        <p:spPr>
          <a:xfrm>
            <a:off x="417513" y="301625"/>
            <a:ext cx="6096000" cy="3429000"/>
          </a:xfrm>
          <a:ln/>
        </p:spPr>
      </p:sp>
      <p:sp>
        <p:nvSpPr>
          <p:cNvPr id="83971" name="Rectangle 3"/>
          <p:cNvSpPr>
            <a:spLocks noGrp="1" noChangeArrowheads="1"/>
          </p:cNvSpPr>
          <p:nvPr>
            <p:ph type="body" idx="1"/>
          </p:nvPr>
        </p:nvSpPr>
        <p:spPr>
          <a:xfrm>
            <a:off x="671218" y="3897692"/>
            <a:ext cx="5484316" cy="4644571"/>
          </a:xfrm>
        </p:spPr>
        <p:txBody>
          <a:bodyPr/>
          <a:lstStyle/>
          <a:p>
            <a:r>
              <a:rPr lang="en-US" altLang="en-US" dirty="0"/>
              <a:t>From this, evolved the famous Galton diagram of correlation and regression shown at the right, where:</a:t>
            </a:r>
          </a:p>
          <a:p>
            <a:pPr marL="285750" indent="-285750">
              <a:buFont typeface="Arial" panose="020B0604020202020204" pitchFamily="34" charset="0"/>
              <a:buChar char="•"/>
            </a:pPr>
            <a:r>
              <a:rPr lang="en-US" altLang="en-US" dirty="0"/>
              <a:t>level curves of equal frequency are concentric ellipses and </a:t>
            </a:r>
          </a:p>
          <a:p>
            <a:pPr marL="285750" indent="-285750">
              <a:buFont typeface="Arial" panose="020B0604020202020204" pitchFamily="34" charset="0"/>
              <a:buChar char="•"/>
            </a:pPr>
            <a:r>
              <a:rPr lang="en-US" altLang="en-US" dirty="0"/>
              <a:t>the two regression lines, </a:t>
            </a:r>
            <a:r>
              <a:rPr lang="en-US" altLang="en-US" dirty="0" err="1"/>
              <a:t>x|y</a:t>
            </a:r>
            <a:r>
              <a:rPr lang="en-US" altLang="en-US" dirty="0"/>
              <a:t> and </a:t>
            </a:r>
            <a:r>
              <a:rPr lang="en-US" altLang="en-US" dirty="0" err="1"/>
              <a:t>y|x</a:t>
            </a:r>
            <a:r>
              <a:rPr lang="en-US" altLang="en-US" dirty="0"/>
              <a:t> are the loci of conjugate tangents.</a:t>
            </a:r>
          </a:p>
          <a:p>
            <a:r>
              <a:rPr lang="en-US" altLang="en-US" dirty="0"/>
              <a:t>Equally remarkable,  he shows the major and minor axes of the ellipse, which would later be shown to be the principal component directions in a bivariate distribution.</a:t>
            </a:r>
          </a:p>
        </p:txBody>
      </p:sp>
    </p:spTree>
    <p:extLst>
      <p:ext uri="{BB962C8B-B14F-4D97-AF65-F5344CB8AC3E}">
        <p14:creationId xmlns:p14="http://schemas.microsoft.com/office/powerpoint/2010/main" val="2691736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Galton's data on the heights of parents and children. Data ellipses of 50%, 68% and 95% coverage. The ellipse is the workhorse of the book: the same idea returns as confidence ellipses for coefficients and as H and E ellipses for multivariate tests.</a:t>
            </a:r>
          </a:p>
        </p:txBody>
      </p:sp>
    </p:spTree>
    <p:extLst>
      <p:ext uri="{BB962C8B-B14F-4D97-AF65-F5344CB8AC3E}">
        <p14:creationId xmlns:p14="http://schemas.microsoft.com/office/powerpoint/2010/main" val="3761389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Palmer penguins </a:t>
            </a:r>
            <a:r>
              <a:rPr lang="en-CA" dirty="0"/>
              <a:t>data is a main</a:t>
            </a:r>
            <a:r>
              <a:rPr dirty="0"/>
              <a:t> running example</a:t>
            </a:r>
            <a:r>
              <a:rPr lang="en-CA" dirty="0"/>
              <a:t> in the book</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 classic iris data seems to have been eclipsed b/c of Fisher’s association with the eugenics movement because often called “Fisher’s Iris data” even though it came from Edgar Anderson.</a:t>
            </a:r>
          </a:p>
          <a:p>
            <a:endParaRPr lang="en-CA" dirty="0"/>
          </a:p>
          <a:p>
            <a:r>
              <a:rPr dirty="0"/>
              <a:t> Here: bill length and bill depth with data ellipses and regression lines for each species.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 illustrate what I mean when I say “sufficient visual summary”– let’s start with an ordinary scatterplot…</a:t>
            </a:r>
          </a:p>
          <a:p>
            <a:endParaRPr lang="en-CA" dirty="0"/>
          </a:p>
          <a:p>
            <a:endParaRPr lang="en-CA" dirty="0"/>
          </a:p>
        </p:txBody>
      </p:sp>
      <p:sp>
        <p:nvSpPr>
          <p:cNvPr id="4" name="Slide Number Placeholder 3"/>
          <p:cNvSpPr>
            <a:spLocks noGrp="1"/>
          </p:cNvSpPr>
          <p:nvPr>
            <p:ph type="sldNum" sz="quarter" idx="5"/>
          </p:nvPr>
        </p:nvSpPr>
        <p:spPr/>
        <p:txBody>
          <a:bodyPr/>
          <a:lstStyle/>
          <a:p>
            <a:fld id="{33E20828-1A1A-4225-BE3A-F8540A5E6146}" type="slidenum">
              <a:rPr lang="en-US" smtClean="0"/>
              <a:t>16</a:t>
            </a:fld>
            <a:endParaRPr lang="en-US"/>
          </a:p>
        </p:txBody>
      </p:sp>
    </p:spTree>
    <p:extLst>
      <p:ext uri="{BB962C8B-B14F-4D97-AF65-F5344CB8AC3E}">
        <p14:creationId xmlns:p14="http://schemas.microsoft.com/office/powerpoint/2010/main" val="1923282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If you’re worried about the assumption of bivariate normality in these plots, there are several non-parametric alternatives, just for the asking.</a:t>
            </a:r>
          </a:p>
        </p:txBody>
      </p:sp>
    </p:spTree>
    <p:extLst>
      <p:ext uri="{BB962C8B-B14F-4D97-AF65-F5344CB8AC3E}">
        <p14:creationId xmlns:p14="http://schemas.microsoft.com/office/powerpoint/2010/main" val="18266391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Panels: (a) ignoring species, (b) by species, (c) pooled within species. The data ellipses make the reversal immediate.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Scatterplot matrix of the quantitative penguin variables.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Corrplot of the crime data, with variables reordered. The ordering idea is taken up again under PCA.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lang="en-CA" dirty="0"/>
              <a:t>Do this quick</a:t>
            </a:r>
            <a:r>
              <a:rPr dirty="0"/>
              <a:t>] Parallel coordinates plot of the penguin size variables, colored by species.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Yet another idea is to animate a sequence of 2D projections, on a travel through </a:t>
            </a:r>
            <a:r>
              <a:rPr lang="en-CA" dirty="0" err="1"/>
              <a:t>nD</a:t>
            </a:r>
            <a:r>
              <a:rPr lang="en-CA" dirty="0"/>
              <a:t> space</a:t>
            </a:r>
          </a:p>
          <a:p>
            <a:r>
              <a:rPr dirty="0"/>
              <a:t>Animation (plays in slide show mode): grand tour of the penguin data. Guided tours optimize an index, e.g. separation of groups or the presence of anomalies.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With more than a few variables, you can gain greater understanding with a multivariate juicer.</a:t>
            </a:r>
          </a:p>
          <a:p>
            <a:r>
              <a:rPr lang="en-CA" dirty="0"/>
              <a:t>I know this is SO cheesy! But I find this a nice analogy to explain what we do with low-D methods</a:t>
            </a:r>
          </a:p>
        </p:txBody>
      </p:sp>
      <p:sp>
        <p:nvSpPr>
          <p:cNvPr id="4" name="Slide Number Placeholder 3"/>
          <p:cNvSpPr>
            <a:spLocks noGrp="1"/>
          </p:cNvSpPr>
          <p:nvPr>
            <p:ph type="sldNum" sz="quarter" idx="5"/>
          </p:nvPr>
        </p:nvSpPr>
        <p:spPr/>
        <p:txBody>
          <a:bodyPr/>
          <a:lstStyle/>
          <a:p>
            <a:fld id="{33E20828-1A1A-4225-BE3A-F8540A5E6146}" type="slidenum">
              <a:rPr lang="en-US" smtClean="0"/>
              <a:t>24</a:t>
            </a:fld>
            <a:endParaRPr lang="en-US"/>
          </a:p>
        </p:txBody>
      </p:sp>
    </p:spTree>
    <p:extLst>
      <p:ext uri="{BB962C8B-B14F-4D97-AF65-F5344CB8AC3E}">
        <p14:creationId xmlns:p14="http://schemas.microsoft.com/office/powerpoint/2010/main" val="25620205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rotation from data space to PCA space, with two added points (101, 102). They are not extreme on either original variable, but stand out on the smallest principal component. Geometry of PCA as a rotation. Tie back to the data ellipse: its major and minor axes are PC1 and PC2.</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The blue points are connected to their projections on the red line by springs perpendicular to that line. A physical intuition for least squares. One of the figures the organizer singled out.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Basic biplot of the crime data. The biplot is the low-D view used again and again: for collinearity, for canonical discriminant analysis, and for ridge regression.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28</a:t>
            </a:fld>
            <a:endParaRPr lang="en-US"/>
          </a:p>
        </p:txBody>
      </p:sp>
    </p:spTree>
    <p:extLst>
      <p:ext uri="{BB962C8B-B14F-4D97-AF65-F5344CB8AC3E}">
        <p14:creationId xmlns:p14="http://schemas.microsoft.com/office/powerpoint/2010/main" val="28599706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Comparison of the PCA and t-SNE 2D representations of the Diabetes data. Nonlinear methods preserve local neighborhoods at the cost of global geometry.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Animation (plays in slide show mode): interpolating between the PCA and t-SNE solutions for the Diabetes data. </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Like Galton, I’ve been impressed with the insights that can be had from elliptical thinking.</a:t>
            </a:r>
          </a:p>
          <a:p>
            <a:endParaRPr lang="en-CA" dirty="0"/>
          </a:p>
          <a:p>
            <a:r>
              <a:rPr lang="en-CA" dirty="0"/>
              <a:t>Just a simple demonstration of how outliers become apparent when viewed in the space of small principal components.</a:t>
            </a:r>
          </a:p>
          <a:p>
            <a:r>
              <a:rPr lang="en-CA" dirty="0"/>
              <a:t>I call this Waldo space, by analogy with Martin Hansford’s popular books, Where’s Waldo? (</a:t>
            </a:r>
            <a:r>
              <a:rPr lang="en-CA" dirty="0" err="1"/>
              <a:t>Waar</a:t>
            </a:r>
            <a:r>
              <a:rPr lang="en-CA" dirty="0"/>
              <a:t> is Wally? in Dutch)</a:t>
            </a:r>
          </a:p>
        </p:txBody>
      </p:sp>
      <p:sp>
        <p:nvSpPr>
          <p:cNvPr id="4" name="Slide Number Placeholder 3"/>
          <p:cNvSpPr>
            <a:spLocks noGrp="1"/>
          </p:cNvSpPr>
          <p:nvPr>
            <p:ph type="sldNum" sz="quarter" idx="5"/>
          </p:nvPr>
        </p:nvSpPr>
        <p:spPr/>
        <p:txBody>
          <a:bodyPr/>
          <a:lstStyle/>
          <a:p>
            <a:fld id="{33E20828-1A1A-4225-BE3A-F8540A5E6146}" type="slidenum">
              <a:rPr lang="en-US" smtClean="0"/>
              <a:t>32</a:t>
            </a:fld>
            <a:endParaRPr lang="en-US"/>
          </a:p>
        </p:txBody>
      </p:sp>
    </p:spTree>
    <p:extLst>
      <p:ext uri="{BB962C8B-B14F-4D97-AF65-F5344CB8AC3E}">
        <p14:creationId xmlns:p14="http://schemas.microsoft.com/office/powerpoint/2010/main" val="18681898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Standard method: </a:t>
            </a:r>
            <a:r>
              <a:rPr dirty="0"/>
              <a:t>Chi-square QQ plot for the penguin data,</a:t>
            </a:r>
            <a:endParaRPr lang="en-CA" dirty="0"/>
          </a:p>
          <a:p>
            <a:r>
              <a:rPr lang="en-CA" dirty="0"/>
              <a:t>We can look at these in 2D plots -- </a:t>
            </a:r>
            <a:r>
              <a:rPr dirty="0"/>
              <a:t>the unusual birds identified in the bill length-bill depth plot. </a:t>
            </a:r>
            <a:endParaRPr lang="en-CA" dirty="0"/>
          </a:p>
          <a:p>
            <a:r>
              <a:rPr dirty="0"/>
              <a:t>Two of them, nicknamed </a:t>
            </a:r>
            <a:endParaRPr lang="en-CA" dirty="0"/>
          </a:p>
          <a:p>
            <a:r>
              <a:rPr dirty="0"/>
              <a:t>Cyrano </a:t>
            </a:r>
            <a:r>
              <a:rPr lang="en-CA" dirty="0"/>
              <a:t>– really long billed Chinstrap</a:t>
            </a:r>
          </a:p>
          <a:p>
            <a:r>
              <a:rPr dirty="0"/>
              <a:t>Hook Nose</a:t>
            </a:r>
            <a:r>
              <a:rPr lang="en-CA" dirty="0"/>
              <a:t> – largest curvature</a:t>
            </a:r>
          </a:p>
          <a:p>
            <a:r>
              <a:rPr lang="en-CA" dirty="0"/>
              <a:t>Bird 35 doesn’t seem at all unusual for an Adelie</a:t>
            </a:r>
          </a:p>
          <a:p>
            <a:endParaRPr lang="en-CA" dirty="0"/>
          </a:p>
          <a:p>
            <a:r>
              <a:rPr lang="en-CA" dirty="0"/>
              <a:t>I’ll follow these birds in </a:t>
            </a:r>
            <a:r>
              <a:rPr dirty="0"/>
              <a:t>the influence and robust sections.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An 'elliptical insight': multivariate outliers often show up in the dimensions with the least variance.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Another insight comes from considering the effect of measure error in predictors in linear models.</a:t>
            </a:r>
          </a:p>
          <a:p>
            <a:endParaRPr lang="en-CA" dirty="0"/>
          </a:p>
          <a:p>
            <a:r>
              <a:rPr lang="en-CA" dirty="0"/>
              <a:t>In data space, we can see these effects on bias and precision of coefficients.</a:t>
            </a:r>
          </a:p>
          <a:p>
            <a:endParaRPr lang="en-CA" dirty="0"/>
          </a:p>
          <a:p>
            <a:r>
              <a:rPr lang="en-CA" dirty="0"/>
              <a:t>But there is also a dual space of the parameters – beta space.</a:t>
            </a:r>
          </a:p>
        </p:txBody>
      </p:sp>
      <p:sp>
        <p:nvSpPr>
          <p:cNvPr id="4" name="Slide Number Placeholder 3"/>
          <p:cNvSpPr>
            <a:spLocks noGrp="1"/>
          </p:cNvSpPr>
          <p:nvPr>
            <p:ph type="sldNum" sz="quarter" idx="5"/>
          </p:nvPr>
        </p:nvSpPr>
        <p:spPr/>
        <p:txBody>
          <a:bodyPr/>
          <a:lstStyle/>
          <a:p>
            <a:fld id="{33E20828-1A1A-4225-BE3A-F8540A5E6146}" type="slidenum">
              <a:rPr lang="en-US" smtClean="0"/>
              <a:t>35</a:t>
            </a:fld>
            <a:endParaRPr lang="en-US"/>
          </a:p>
        </p:txBody>
      </p:sp>
    </p:spTree>
    <p:extLst>
      <p:ext uri="{BB962C8B-B14F-4D97-AF65-F5344CB8AC3E}">
        <p14:creationId xmlns:p14="http://schemas.microsoft.com/office/powerpoint/2010/main" val="31183505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36</a:t>
            </a:fld>
            <a:endParaRPr lang="en-US"/>
          </a:p>
        </p:txBody>
      </p:sp>
    </p:spTree>
    <p:extLst>
      <p:ext uri="{BB962C8B-B14F-4D97-AF65-F5344CB8AC3E}">
        <p14:creationId xmlns:p14="http://schemas.microsoft.com/office/powerpoint/2010/main" val="42638141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Data space and beta space for the coffee data. Where the predictors have a wide spread, the coefficients are estimated precisely, and vice versa. This sets up collinearity.</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Animations (play in slide show mode), with increasing measurement error added to Stress.</a:t>
            </a:r>
          </a:p>
          <a:p>
            <a:r>
              <a:t>Left, data space: the data ellipse for Heart and Stress gets wider, and the slope flattens.</a:t>
            </a:r>
          </a:p>
          <a:p>
            <a:r>
              <a:t>Middle, beta space for the simple regression: the coefficient for Stress is attenuated toward 0.</a:t>
            </a:r>
          </a:p>
          <a:p>
            <a:r>
              <a:t>OK, we understand that now. But, at the same time, in the model with both predictors (right), the effect of coffee becomes larger: it moves toward its marginal value, the slope you get ignoring Stress.</a:t>
            </a:r>
          </a:p>
          <a:p>
            <a:r>
              <a:t>Elliptical insight: increasing error in x2 drives the coefficient for x1 toward the marginal model. You can also see that the standard error of the Coffee coefficient decreases as error in Stress increases.</a:t>
            </a:r>
          </a:p>
        </p:txBody>
      </p:sp>
      <p:sp>
        <p:nvSpPr>
          <p:cNvPr id="4" name="Slide Number Placeholder 3"/>
          <p:cNvSpPr>
            <a:spLocks noGrp="1"/>
          </p:cNvSpPr>
          <p:nvPr>
            <p:ph type="sldNum" sz="quarter" idx="5"/>
          </p:nvPr>
        </p:nvSpPr>
        <p:spPr/>
        <p:txBody>
          <a:bodyPr/>
          <a:lstStyle/>
          <a:p>
            <a:fld id="{33E20828-1A1A-4225-BE3A-F8540A5E6146}" type="slidenum">
              <a:rPr lang="en-US" smtClean="0"/>
              <a:t>38</a:t>
            </a:fld>
            <a:endParaRPr lang="en-US"/>
          </a:p>
        </p:txBody>
      </p:sp>
    </p:spTree>
    <p:extLst>
      <p:ext uri="{BB962C8B-B14F-4D97-AF65-F5344CB8AC3E}">
        <p14:creationId xmlns:p14="http://schemas.microsoft.com/office/powerpoint/2010/main" val="34755398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A visual approach also helps to understand problems of collinearity--- high correlations among predictors--- in linear models</a:t>
            </a:r>
          </a:p>
          <a:p>
            <a:r>
              <a:rPr dirty="0"/>
              <a:t>The standard collinearity diagnostics table hides the important information. </a:t>
            </a:r>
            <a:endParaRPr lang="en-CA" dirty="0"/>
          </a:p>
          <a:p>
            <a:pPr marL="171450" indent="-171450">
              <a:buFont typeface="Arial" panose="020B0604020202020204" pitchFamily="34" charset="0"/>
              <a:buChar char="•"/>
            </a:pPr>
            <a:r>
              <a:rPr lang="en-CA" dirty="0"/>
              <a:t>A</a:t>
            </a:r>
            <a:r>
              <a:rPr dirty="0"/>
              <a:t> </a:t>
            </a:r>
            <a:r>
              <a:rPr dirty="0" err="1"/>
              <a:t>tableplot</a:t>
            </a:r>
            <a:r>
              <a:rPr dirty="0"/>
              <a:t> makes </a:t>
            </a:r>
            <a:r>
              <a:rPr lang="en-CA" dirty="0"/>
              <a:t>what you should attend to</a:t>
            </a:r>
            <a:r>
              <a:rPr dirty="0"/>
              <a:t> stand out</a:t>
            </a:r>
            <a:r>
              <a:rPr lang="en-CA" dirty="0"/>
              <a:t>– ordered by condition indices</a:t>
            </a:r>
          </a:p>
          <a:p>
            <a:endParaRPr lang="en-CA" dirty="0"/>
          </a:p>
          <a:p>
            <a:r>
              <a:rPr lang="en-CA" dirty="0"/>
              <a:t>A </a:t>
            </a:r>
            <a:r>
              <a:rPr dirty="0"/>
              <a:t>collinearity biplot shows which variables are involved</a:t>
            </a:r>
            <a:r>
              <a:rPr lang="en-CA" dirty="0"/>
              <a:t> and possible outliers appear in Waldo space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Geometric interpretation of ridge regression.</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Univariate ridge trace plot for the Longley data.</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Instead of plotting point estimates, we can see effects of ridge shrinkage by plotting bivariate ellipsoids for pairs of parameters</a:t>
            </a:r>
          </a:p>
        </p:txBody>
      </p:sp>
      <p:sp>
        <p:nvSpPr>
          <p:cNvPr id="4" name="Slide Number Placeholder 3"/>
          <p:cNvSpPr>
            <a:spLocks noGrp="1"/>
          </p:cNvSpPr>
          <p:nvPr>
            <p:ph type="sldNum" sz="quarter" idx="5"/>
          </p:nvPr>
        </p:nvSpPr>
        <p:spPr/>
        <p:txBody>
          <a:bodyPr/>
          <a:lstStyle/>
          <a:p>
            <a:fld id="{33E20828-1A1A-4225-BE3A-F8540A5E6146}" type="slidenum">
              <a:rPr lang="en-US" smtClean="0"/>
              <a:t>42</a:t>
            </a:fld>
            <a:endParaRPr lang="en-US"/>
          </a:p>
        </p:txBody>
      </p:sp>
    </p:spTree>
    <p:extLst>
      <p:ext uri="{BB962C8B-B14F-4D97-AF65-F5344CB8AC3E}">
        <p14:creationId xmlns:p14="http://schemas.microsoft.com/office/powerpoint/2010/main" val="3337362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Transforming the predictors to PCA space makes them uncorrelated.</a:t>
            </a:r>
          </a:p>
          <a:p>
            <a:r>
              <a:rPr dirty="0"/>
              <a:t>Biplot view of the ridge trace plot for the smallest dimensions.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HE plot framework starts with data ellipses for the groups in a multivariate linear model</a:t>
            </a:r>
          </a:p>
          <a:p>
            <a:r>
              <a:rPr lang="en-CA" dirty="0"/>
              <a:t>An “HE plot” summarizes the evidence for differences among groups in a MANOVA design</a:t>
            </a:r>
          </a:p>
          <a:p>
            <a:r>
              <a:rPr lang="en-CA" dirty="0"/>
              <a:t>Equally, this can be cast as a discriminant analysis problem</a:t>
            </a:r>
          </a:p>
          <a:p>
            <a:r>
              <a:rPr lang="en-CA" dirty="0"/>
              <a:t>A simple description can be seen in an HE plot in canonical space</a:t>
            </a:r>
          </a:p>
        </p:txBody>
      </p:sp>
      <p:sp>
        <p:nvSpPr>
          <p:cNvPr id="4" name="Slide Number Placeholder 3"/>
          <p:cNvSpPr>
            <a:spLocks noGrp="1"/>
          </p:cNvSpPr>
          <p:nvPr>
            <p:ph type="sldNum" sz="quarter" idx="5"/>
          </p:nvPr>
        </p:nvSpPr>
        <p:spPr/>
        <p:txBody>
          <a:bodyPr/>
          <a:lstStyle/>
          <a:p>
            <a:fld id="{33E20828-1A1A-4225-BE3A-F8540A5E6146}" type="slidenum">
              <a:rPr lang="en-US" smtClean="0"/>
              <a:t>45</a:t>
            </a:fld>
            <a:endParaRPr lang="en-US"/>
          </a:p>
        </p:txBody>
      </p:sp>
    </p:spTree>
    <p:extLst>
      <p:ext uri="{BB962C8B-B14F-4D97-AF65-F5344CB8AC3E}">
        <p14:creationId xmlns:p14="http://schemas.microsoft.com/office/powerpoint/2010/main" val="1647346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Mathscore data: two groups, basic math (BM) and word problems (WP). From the data to data ellipses to the HE plot. From the short course, lecture 2.</a:t>
            </a:r>
          </a:p>
        </p:txBody>
      </p:sp>
    </p:spTree>
    <p:extLst>
      <p:ext uri="{BB962C8B-B14F-4D97-AF65-F5344CB8AC3E}">
        <p14:creationId xmlns:p14="http://schemas.microsoft.com/office/powerpoint/2010/main" val="12706028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 H ellipse is the data ellipse of the fitted values; with 1 df it collapses to a line. From the short course, lecture 2.</a:t>
            </a:r>
          </a:p>
        </p:txBody>
      </p:sp>
    </p:spTree>
    <p:extLst>
      <p:ext uri="{BB962C8B-B14F-4D97-AF65-F5344CB8AC3E}">
        <p14:creationId xmlns:p14="http://schemas.microsoft.com/office/powerpoint/2010/main" val="30671182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 E ellipse is the data ellipse of the residuals: the pooled within-group covariance. From the short course, lecture 2.</a:t>
            </a:r>
          </a:p>
        </p:txBody>
      </p:sp>
    </p:spTree>
    <p:extLst>
      <p:ext uri="{BB962C8B-B14F-4D97-AF65-F5344CB8AC3E}">
        <p14:creationId xmlns:p14="http://schemas.microsoft.com/office/powerpoint/2010/main" val="12147426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 plots for bill depth vs bill length in the penguin data, with effect scaling (left) and significance scaling (right). </a:t>
            </a:r>
            <a:endParaRPr lang="en-CA" dirty="0"/>
          </a:p>
          <a:p>
            <a:r>
              <a:rPr dirty="0"/>
              <a:t>E: within-group variation. H: variation of the group means. </a:t>
            </a:r>
            <a:endParaRPr lang="en-CA"/>
          </a:p>
          <a:p>
            <a:r>
              <a:t>The </a:t>
            </a:r>
            <a:r>
              <a:rPr dirty="0"/>
              <a:t>orientation of H shows how the groups differ. The species effect is so strong that, with significance scaling, H dwarfs 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[OPTIONAL for a 45-minute talk] </a:t>
            </a:r>
            <a:endParaRPr lang="en-CA" dirty="0"/>
          </a:p>
          <a:p>
            <a:r>
              <a:rPr dirty="0"/>
              <a:t>HE plot</a:t>
            </a:r>
            <a:r>
              <a:rPr lang="en-CA" dirty="0"/>
              <a:t>s also allow us to decompose an overall effect of group differences into effects related to contrasts among the factor levels</a:t>
            </a:r>
          </a:p>
          <a:p>
            <a:r>
              <a:rPr lang="en-CA" dirty="0"/>
              <a:t>F</a:t>
            </a:r>
            <a:r>
              <a:rPr dirty="0"/>
              <a:t>or bill length and depth in the penguin data, showing two orthogonal contrasts: Adelie vs Chinstrap (A:C), and those two vs Gentoo (AC:G). </a:t>
            </a:r>
            <a:endParaRPr lang="en-CA" dirty="0"/>
          </a:p>
          <a:p>
            <a:r>
              <a:rPr dirty="0"/>
              <a:t>Each is a line; together they are conjugate axes of the H ellipse.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3E20828-1A1A-4225-BE3A-F8540A5E6146}" type="slidenum">
              <a:rPr lang="en-US" smtClean="0"/>
              <a:t>51</a:t>
            </a:fld>
            <a:endParaRPr lang="en-US"/>
          </a:p>
        </p:txBody>
      </p:sp>
    </p:spTree>
    <p:extLst>
      <p:ext uri="{BB962C8B-B14F-4D97-AF65-F5344CB8AC3E}">
        <p14:creationId xmlns:p14="http://schemas.microsoft.com/office/powerpoint/2010/main" val="15453837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HE plot for the multivariate regression model for the school data. Each predictor has 1 df, so its H 'ellipse' collapses to a line.</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53</a:t>
            </a:fld>
            <a:endParaRPr lang="en-US"/>
          </a:p>
        </p:txBody>
      </p:sp>
    </p:spTree>
    <p:extLst>
      <p:ext uri="{BB962C8B-B14F-4D97-AF65-F5344CB8AC3E}">
        <p14:creationId xmlns:p14="http://schemas.microsoft.com/office/powerpoint/2010/main" val="2630712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Illustration of the main ideas of linear discriminant analysis.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Linear discriminant prediction regions for the penguin data.</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The penguin data in discriminant space, with variable vectors.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distance plot is one of the figures the organizer singled out. School data model: reading, mathematics and self-esteem on five predictors, 70 schools. Distance plot (</a:t>
            </a:r>
            <a:r>
              <a:rPr dirty="0" err="1"/>
              <a:t>heplots</a:t>
            </a:r>
            <a:r>
              <a:rPr dirty="0"/>
              <a:t>::</a:t>
            </a:r>
            <a:r>
              <a:rPr dirty="0" err="1"/>
              <a:t>distancePlot</a:t>
            </a:r>
            <a:r>
              <a:rPr dirty="0"/>
              <a:t>) and influence plot (</a:t>
            </a:r>
            <a:r>
              <a:rPr dirty="0" err="1"/>
              <a:t>mvinfluence</a:t>
            </a:r>
            <a:r>
              <a:rPr dirty="0"/>
              <a:t>::</a:t>
            </a:r>
            <a:r>
              <a:rPr dirty="0" err="1"/>
              <a:t>influencePlot</a:t>
            </a:r>
            <a:r>
              <a:rPr dirty="0"/>
              <a:t>), re-drawn as a matched pair with the same cases in the same colors (talks/R/school-</a:t>
            </a:r>
            <a:r>
              <a:rPr dirty="0" err="1"/>
              <a:t>diagnostics.R</a:t>
            </a:r>
            <a:r>
              <a:rPr dirty="0"/>
              <a:t>). </a:t>
            </a:r>
            <a:endParaRPr lang="en-CA" dirty="0"/>
          </a:p>
          <a:p>
            <a:r>
              <a:rPr dirty="0"/>
              <a:t>Click 1: influence plot. Click 2: sensitivity analysis. Cook's D: 59 = 2.99, 44 = 1.60, 33 = 0.71, 35 = 0.30, 66 = 0.07. Without 44 and 59, education, occupation and visit remain significant; relative change in coefficients: visit 104% (reading), 77% (math); counseling 332%, 305%.</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Influence plot for the penguin MANOVA model.</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heplots::robmlm() applied to the penguin model. Most coefficients change little; the largest changes are for Chinstrap, reflecting the removal of Cyrano.</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of the themes that recur through the book.</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find the book and the software.</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standard diagnostic plots, here for Duncan's data on the prestige of occupations predicted from income and education.</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Plot of standardized coefficients and their confidence intervals.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Predictor effect plots for all terms in the model for the Prestige data.</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Other problems in fitting &amp; understanding linear models are also made simpler with visual, geometric and dimension reduction ideas</a:t>
            </a:r>
          </a:p>
        </p:txBody>
      </p:sp>
    </p:spTree>
    <p:extLst>
      <p:ext uri="{BB962C8B-B14F-4D97-AF65-F5344CB8AC3E}">
        <p14:creationId xmlns:p14="http://schemas.microsoft.com/office/powerpoint/2010/main" val="28639695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95% data ellipses for x1, x2 and the corresponding confidence ellipses for their coefficients, for increasing correlation.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793973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Ordering variables by their angles in the biplot puts similar variables together and makes the pattern visible.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181069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3E20828-1A1A-4225-BE3A-F8540A5E6146}" type="slidenum">
              <a:rPr lang="en-US" smtClean="0"/>
              <a:t>70</a:t>
            </a:fld>
            <a:endParaRPr lang="en-US"/>
          </a:p>
        </p:txBody>
      </p:sp>
    </p:spTree>
    <p:extLst>
      <p:ext uri="{BB962C8B-B14F-4D97-AF65-F5344CB8AC3E}">
        <p14:creationId xmlns:p14="http://schemas.microsoft.com/office/powerpoint/2010/main" val="38590277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Marginal + conditional (added-variable) plots for the coffee data. Each added-variable plot shows the relation of y to one predictor with the others </a:t>
            </a:r>
            <a:r>
              <a:rPr dirty="0" err="1"/>
              <a:t>partialled</a:t>
            </a:r>
            <a:r>
              <a:rPr dirty="0"/>
              <a:t> out; the slope is the coefficient in the full model.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28879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Influence plot for the Duncan model. Minister and conductor stand out.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766928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The two occupations pull the income and education slopes in opposite directions.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265181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74</a:t>
            </a:fld>
            <a:endParaRPr lang="en-US"/>
          </a:p>
        </p:txBody>
      </p:sp>
    </p:spTree>
    <p:extLst>
      <p:ext uri="{BB962C8B-B14F-4D97-AF65-F5344CB8AC3E}">
        <p14:creationId xmlns:p14="http://schemas.microsoft.com/office/powerpoint/2010/main" val="29335694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Hotelling's T-squared as a generalized t-test.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4433200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Above: data ellipses summarized in an HE plot showing the pooled within-group error ellipse (E) and the H 'ellipse' for the group means. Below: observations projected on the line joining the means.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6528608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Breakdown of the total SSP matrix into H and E. The Wilks, Pillai, Hotelling-Lawley and Roy tests are all functions of the eigenvalues of H relative to 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1236767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HE plot for the canonical correlation analysis of the school data.</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HE plot for the two-way MANOVA of the plastic film data.</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Overlaid HE plots for SAT and PPVT for the two SES groups.</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All pairwise covariance ellipses for the penguin data.</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Plots of the contributions to Box's M for the penguin and iris data.</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Quadratic discriminant prediction regions for the penguin data.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86A3-DB18-D473-3C2C-21A9E94FF9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885EA81-E434-D1B7-C80B-62E4ADD59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C4680C3-BA4B-8E4A-D7F3-32B19F0BCA80}"/>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FEA94193-AC1D-9679-4A87-E42BDF4F874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F6E5A0-F9CF-689C-8D61-E098A3F929DB}"/>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59673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3552C-0BFD-199A-C290-82E0E7DD88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2955B4E-7FFE-4BCA-4057-8E5B63DCE1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00ECAC-6645-C1FA-580D-1382315A14F2}"/>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AE48408E-18C9-AE29-9B14-B3056D00FA5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FE9CE17-62C5-B7EA-54A9-AA954533BA0B}"/>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27754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C1116-2C7D-3653-A739-58A48640D8B9}"/>
              </a:ext>
            </a:extLst>
          </p:cNvPr>
          <p:cNvSpPr>
            <a:spLocks noGrp="1"/>
          </p:cNvSpPr>
          <p:nvPr>
            <p:ph type="title"/>
          </p:nvPr>
        </p:nvSpPr>
        <p:spPr>
          <a:xfrm>
            <a:off x="839788" y="365125"/>
            <a:ext cx="10515600" cy="1143000"/>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C3CF436-57B9-4904-9302-3AE3EF354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B7906C-0394-6DDE-10C3-9764E8C3EF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C81D87C-73DF-EE7D-BA63-DA561306EA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BC3BF-5FEF-C7F5-A648-7AD79E8830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10A4B92-FB68-E7CC-DE9B-0329CFE8DFFE}"/>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8" name="Footer Placeholder 7">
            <a:extLst>
              <a:ext uri="{FF2B5EF4-FFF2-40B4-BE49-F238E27FC236}">
                <a16:creationId xmlns:a16="http://schemas.microsoft.com/office/drawing/2014/main" id="{FCC62FE2-5BA9-8351-CBA5-3F87C81D998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D0DDAA6C-1E0B-34E0-7DFF-FF2D380B8D8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42346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E9229C-D7D2-65B0-65BD-6AFF2B6E6460}"/>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3" name="Footer Placeholder 2">
            <a:extLst>
              <a:ext uri="{FF2B5EF4-FFF2-40B4-BE49-F238E27FC236}">
                <a16:creationId xmlns:a16="http://schemas.microsoft.com/office/drawing/2014/main" id="{222892CD-C6D8-0C0D-C9C0-68452DB5C412}"/>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3430F02E-8D0A-A2EB-DB42-8F87B8DB7077}"/>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953958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15CE4-71A6-692F-C003-94BADEA4D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29278F44-D0EC-1988-26FA-8B8E2FC38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725C2EF-17DE-9B90-ED6D-D6E91086AA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4E512C-223F-E79F-15ED-0ECA2BE2C312}"/>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6" name="Footer Placeholder 5">
            <a:extLst>
              <a:ext uri="{FF2B5EF4-FFF2-40B4-BE49-F238E27FC236}">
                <a16:creationId xmlns:a16="http://schemas.microsoft.com/office/drawing/2014/main" id="{858AB3E7-2C8E-F043-C0C1-1F8DA5459CD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3F348E1-3AEA-6F6F-23FD-BD544AF1FB8C}"/>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244808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0F1B-959C-540A-AD2E-7D6FEC5E31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D645BF4-A48B-E174-8718-5B35693139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56434C3-A68D-43AB-B28F-F34494BCB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8CEE8-2C4C-8620-737C-AE8F04CF1D5E}"/>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6" name="Footer Placeholder 5">
            <a:extLst>
              <a:ext uri="{FF2B5EF4-FFF2-40B4-BE49-F238E27FC236}">
                <a16:creationId xmlns:a16="http://schemas.microsoft.com/office/drawing/2014/main" id="{A2C675F7-9A4B-E2CB-776C-2A336043AEE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49A8741-0324-E12F-C095-4E7CC97648EC}"/>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584298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7D17A-4D48-28EE-A810-A3D24288230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BA77A73-0C15-3706-044A-408FF3649E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71D1EA6-4923-146A-49B3-D75AFA21352F}"/>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C10D5968-094E-28D6-8177-E63130DFF92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6FEAFB7-FDF1-A809-AA81-D948CE9A5F8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43929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7B1715-C993-D91F-4787-F8D7CA3A5F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D02B27B-63DC-598F-B6E2-B748A7336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0A44A46-36D5-9B0F-3EB6-9306071F0FAB}"/>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7C43ADB4-0946-1EFA-F8DB-66A4A7E332E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EA21D21-57D3-5D15-389F-E7ADDDD8E105}"/>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269032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 sec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1F3864">
              <a:alpha val="22000"/>
            </a:srgbClr>
          </a:solidFill>
          <a:ln w="19050">
            <a:solidFill>
              <a:srgbClr val="1F3864">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 sec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1F3864">
              <a:alpha val="22000"/>
            </a:srgbClr>
          </a:solidFill>
          <a:ln w="19050">
            <a:solidFill>
              <a:srgbClr val="1F3864">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 sec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1F3864">
              <a:alpha val="22000"/>
            </a:srgbClr>
          </a:solidFill>
          <a:ln w="19050">
            <a:solidFill>
              <a:srgbClr val="1F3864">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 sec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2E5EAA">
              <a:alpha val="22000"/>
            </a:srgbClr>
          </a:solidFill>
          <a:ln w="19050">
            <a:solidFill>
              <a:srgbClr val="2E5EAA">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 sec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2E5EAA">
              <a:alpha val="22000"/>
            </a:srgbClr>
          </a:solidFill>
          <a:ln w="19050">
            <a:solidFill>
              <a:srgbClr val="2E5EAA">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 sec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2E5EAA">
              <a:alpha val="22000"/>
            </a:srgbClr>
          </a:solidFill>
          <a:ln w="19050">
            <a:solidFill>
              <a:srgbClr val="2E5EAA">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 sec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008080">
              <a:alpha val="22000"/>
            </a:srgbClr>
          </a:solidFill>
          <a:ln w="19050">
            <a:solidFill>
              <a:srgbClr val="00808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 sec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008080">
              <a:alpha val="22000"/>
            </a:srgbClr>
          </a:solidFill>
          <a:ln w="19050">
            <a:solidFill>
              <a:srgbClr val="00808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 sec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008080">
              <a:alpha val="22000"/>
            </a:srgbClr>
          </a:solidFill>
          <a:ln w="19050">
            <a:solidFill>
              <a:srgbClr val="00808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 sec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267342">
              <a:alpha val="22000"/>
            </a:srgbClr>
          </a:solidFill>
          <a:ln w="19050">
            <a:solidFill>
              <a:srgbClr val="267342">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 sec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267342">
              <a:alpha val="22000"/>
            </a:srgbClr>
          </a:solidFill>
          <a:ln w="19050">
            <a:solidFill>
              <a:srgbClr val="267342">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 sec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267342">
              <a:alpha val="22000"/>
            </a:srgbClr>
          </a:solidFill>
          <a:ln w="19050">
            <a:solidFill>
              <a:srgbClr val="267342">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 sec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CC6600">
              <a:alpha val="22000"/>
            </a:srgbClr>
          </a:solidFill>
          <a:ln w="19050">
            <a:solidFill>
              <a:srgbClr val="CC660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 sec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CC6600">
              <a:alpha val="22000"/>
            </a:srgbClr>
          </a:solidFill>
          <a:ln w="19050">
            <a:solidFill>
              <a:srgbClr val="CC660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 sec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CC6600">
              <a:alpha val="22000"/>
            </a:srgbClr>
          </a:solidFill>
          <a:ln w="19050">
            <a:solidFill>
              <a:srgbClr val="CC660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 sec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A33B2B">
              <a:alpha val="22000"/>
            </a:srgbClr>
          </a:solidFill>
          <a:ln w="19050">
            <a:solidFill>
              <a:srgbClr val="A33B2B">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 sec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A33B2B">
              <a:alpha val="22000"/>
            </a:srgbClr>
          </a:solidFill>
          <a:ln w="19050">
            <a:solidFill>
              <a:srgbClr val="A33B2B">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 sec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A33B2B">
              <a:alpha val="22000"/>
            </a:srgbClr>
          </a:solidFill>
          <a:ln w="19050">
            <a:solidFill>
              <a:srgbClr val="A33B2B">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2026-10-20</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CB12B1-0D45-5083-3C07-79A68792FA93}"/>
              </a:ext>
            </a:extLst>
          </p:cNvPr>
          <p:cNvSpPr>
            <a:spLocks noGrp="1"/>
          </p:cNvSpPr>
          <p:nvPr>
            <p:ph type="title"/>
          </p:nvPr>
        </p:nvSpPr>
        <p:spPr>
          <a:xfrm>
            <a:off x="838200" y="365125"/>
            <a:ext cx="10515600" cy="1143000"/>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F559808-3D32-7A37-D584-26815CFBC628}"/>
              </a:ext>
            </a:extLst>
          </p:cNvPr>
          <p:cNvSpPr>
            <a:spLocks noGrp="1"/>
          </p:cNvSpPr>
          <p:nvPr>
            <p:ph type="body" idx="1"/>
          </p:nvPr>
        </p:nvSpPr>
        <p:spPr>
          <a:xfrm>
            <a:off x="838200" y="1643063"/>
            <a:ext cx="10515600" cy="4533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F2819E6-998B-212B-C4AA-B9496436B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D10891-3358-4CD0-A583-DA65327EA413}" type="datetimeFigureOut">
              <a:rPr lang="en-CA" smtClean="0"/>
              <a:t>2026-10-20</a:t>
            </a:fld>
            <a:endParaRPr lang="en-CA"/>
          </a:p>
        </p:txBody>
      </p:sp>
      <p:sp>
        <p:nvSpPr>
          <p:cNvPr id="5" name="Footer Placeholder 4">
            <a:extLst>
              <a:ext uri="{FF2B5EF4-FFF2-40B4-BE49-F238E27FC236}">
                <a16:creationId xmlns:a16="http://schemas.microsoft.com/office/drawing/2014/main" id="{5CF8078D-866B-F3B4-630F-FE1A8ED65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691377B5-A28A-9D03-B379-6A7984C147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FB2853-4965-4727-91C4-384EB30D99A4}" type="slidenum">
              <a:rPr lang="en-CA" smtClean="0"/>
              <a:t>‹#›</a:t>
            </a:fld>
            <a:endParaRPr lang="en-CA"/>
          </a:p>
        </p:txBody>
      </p:sp>
    </p:spTree>
    <p:extLst>
      <p:ext uri="{BB962C8B-B14F-4D97-AF65-F5344CB8AC3E}">
        <p14:creationId xmlns:p14="http://schemas.microsoft.com/office/powerpoint/2010/main" val="3957992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friendly.github.io/"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datavis.ca/"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friendly.github.io/Vis-MLM-book/"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18.svg"/><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20.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image" Target="../media/image35.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7.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4.jp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43.png"/><Relationship Id="rId5" Type="http://schemas.microsoft.com/office/2007/relationships/hdphoto" Target="../media/hdphoto1.wdp"/><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20.xml"/><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hyperlink" Target="https://rpubs.com/friendly/penguin-biplots" TargetMode="External"/><Relationship Id="rId2" Type="http://schemas.openxmlformats.org/officeDocument/2006/relationships/notesSlide" Target="../notesSlides/notesSlide27.xml"/><Relationship Id="rId1" Type="http://schemas.openxmlformats.org/officeDocument/2006/relationships/slideLayout" Target="../slideLayouts/slideLayout18.xml"/><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22.xml"/><Relationship Id="rId6" Type="http://schemas.openxmlformats.org/officeDocument/2006/relationships/image" Target="../media/image55.emf"/><Relationship Id="rId5" Type="http://schemas.openxmlformats.org/officeDocument/2006/relationships/image" Target="../media/image54.png"/><Relationship Id="rId4" Type="http://schemas.openxmlformats.org/officeDocument/2006/relationships/hyperlink" Target="http://www.datavis.ca/gallery/animation/outlier-demo/"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21.xml"/><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23.xml"/><Relationship Id="rId4" Type="http://schemas.openxmlformats.org/officeDocument/2006/relationships/image" Target="../media/image55.emf"/></Relationships>
</file>

<file path=ppt/slides/_rels/slide35.xml.rels><?xml version="1.0" encoding="UTF-8" standalone="yes"?>
<Relationships xmlns="http://schemas.openxmlformats.org/package/2006/relationships"><Relationship Id="rId3" Type="http://schemas.openxmlformats.org/officeDocument/2006/relationships/hyperlink" Target="https://www.datavis.ca/papers/ellipses-STS402.pdf" TargetMode="External"/><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21.xml"/><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62.gif"/><Relationship Id="rId2" Type="http://schemas.openxmlformats.org/officeDocument/2006/relationships/notesSlide" Target="../notesSlides/notesSlide36.xml"/><Relationship Id="rId1" Type="http://schemas.openxmlformats.org/officeDocument/2006/relationships/slideLayout" Target="../slideLayouts/slideLayout22.xml"/><Relationship Id="rId5" Type="http://schemas.openxmlformats.org/officeDocument/2006/relationships/image" Target="../media/image64.gif"/><Relationship Id="rId4" Type="http://schemas.openxmlformats.org/officeDocument/2006/relationships/image" Target="../media/image63.gif"/></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7.xml"/><Relationship Id="rId1" Type="http://schemas.openxmlformats.org/officeDocument/2006/relationships/slideLayout" Target="../slideLayouts/slideLayout21.xml"/><Relationship Id="rId6" Type="http://schemas.openxmlformats.org/officeDocument/2006/relationships/image" Target="../media/image66.png"/><Relationship Id="rId5" Type="http://schemas.openxmlformats.org/officeDocument/2006/relationships/image" Target="../media/image10.png"/><Relationship Id="rId4" Type="http://schemas.openxmlformats.org/officeDocument/2006/relationships/image" Target="../media/image55.emf"/></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8.xml"/><Relationship Id="rId1" Type="http://schemas.openxmlformats.org/officeDocument/2006/relationships/slideLayout" Target="../slideLayouts/slideLayout23.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9.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0.xml"/><Relationship Id="rId1" Type="http://schemas.openxmlformats.org/officeDocument/2006/relationships/slideLayout" Target="../slideLayouts/slideLayout21.xml"/><Relationship Id="rId5" Type="http://schemas.openxmlformats.org/officeDocument/2006/relationships/image" Target="../media/image70.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1.xml"/><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42.xml"/><Relationship Id="rId1" Type="http://schemas.openxmlformats.org/officeDocument/2006/relationships/slideLayout" Target="../slideLayouts/slideLayout24.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4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3.xml"/><Relationship Id="rId1" Type="http://schemas.openxmlformats.org/officeDocument/2006/relationships/slideLayout" Target="../slideLayouts/slideLayout25.xml"/><Relationship Id="rId5" Type="http://schemas.openxmlformats.org/officeDocument/2006/relationships/image" Target="../media/image80.png"/><Relationship Id="rId4" Type="http://schemas.openxmlformats.org/officeDocument/2006/relationships/image" Target="../media/image79.png"/></Relationships>
</file>

<file path=ppt/slides/_rels/slide4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4.xml"/><Relationship Id="rId1" Type="http://schemas.openxmlformats.org/officeDocument/2006/relationships/slideLayout" Target="../slideLayouts/slideLayout25.xml"/><Relationship Id="rId6" Type="http://schemas.openxmlformats.org/officeDocument/2006/relationships/image" Target="../media/image82.wmf"/><Relationship Id="rId5" Type="http://schemas.openxmlformats.org/officeDocument/2006/relationships/oleObject" Target="../embeddings/oleObject1.bin"/><Relationship Id="rId4" Type="http://schemas.openxmlformats.org/officeDocument/2006/relationships/image" Target="../media/image81.png"/></Relationships>
</file>

<file path=ppt/slides/_rels/slide48.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5.wmf"/><Relationship Id="rId2" Type="http://schemas.openxmlformats.org/officeDocument/2006/relationships/notesSlide" Target="../notesSlides/notesSlide45.xml"/><Relationship Id="rId1" Type="http://schemas.openxmlformats.org/officeDocument/2006/relationships/slideLayout" Target="../slideLayouts/slideLayout25.xml"/><Relationship Id="rId6" Type="http://schemas.openxmlformats.org/officeDocument/2006/relationships/oleObject" Target="../embeddings/oleObject2.bin"/><Relationship Id="rId5" Type="http://schemas.openxmlformats.org/officeDocument/2006/relationships/image" Target="../media/image84.png"/><Relationship Id="rId4" Type="http://schemas.openxmlformats.org/officeDocument/2006/relationships/image" Target="../media/image83.png"/></Relationships>
</file>

<file path=ppt/slides/_rels/slide4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6.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7.xm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8.xml"/><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0.xml"/><Relationship Id="rId1" Type="http://schemas.openxmlformats.org/officeDocument/2006/relationships/slideLayout" Target="../slideLayouts/slideLayout25.xml"/><Relationship Id="rId5" Type="http://schemas.openxmlformats.org/officeDocument/2006/relationships/image" Target="../media/image91.png"/><Relationship Id="rId4" Type="http://schemas.openxmlformats.org/officeDocument/2006/relationships/image" Target="../media/image90.png"/></Relationships>
</file>

<file path=ppt/slides/_rels/slide54.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notesSlide" Target="../notesSlides/notesSlide51.xml"/><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2.xml"/><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4.xml"/><Relationship Id="rId1" Type="http://schemas.openxmlformats.org/officeDocument/2006/relationships/slideLayout" Target="../slideLayouts/slideLayout29.xml"/><Relationship Id="rId4" Type="http://schemas.openxmlformats.org/officeDocument/2006/relationships/image" Target="../media/image96.png"/></Relationships>
</file>

<file path=ppt/slides/_rels/slide5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5.xml"/><Relationship Id="rId1" Type="http://schemas.openxmlformats.org/officeDocument/2006/relationships/slideLayout" Target="../slideLayouts/slideLayout29.xml"/><Relationship Id="rId4" Type="http://schemas.openxmlformats.org/officeDocument/2006/relationships/image" Target="../media/image8.png"/></Relationships>
</file>

<file path=ppt/slides/_rels/slide6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6.xml"/><Relationship Id="rId1" Type="http://schemas.openxmlformats.org/officeDocument/2006/relationships/slideLayout" Target="../slideLayouts/slideLayout29.xml"/><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8.xml"/></Relationships>
</file>

<file path=ppt/slides/_rels/slide62.xml.rels><?xml version="1.0" encoding="UTF-8" standalone="yes"?>
<Relationships xmlns="http://schemas.openxmlformats.org/package/2006/relationships"><Relationship Id="rId3" Type="http://schemas.openxmlformats.org/officeDocument/2006/relationships/hyperlink" Target="https://friendly.github.io/Vis-MLM-book/" TargetMode="External"/><Relationship Id="rId2" Type="http://schemas.openxmlformats.org/officeDocument/2006/relationships/notesSlide" Target="../notesSlides/notesSlide58.xml"/><Relationship Id="rId1" Type="http://schemas.openxmlformats.org/officeDocument/2006/relationships/slideLayout" Target="../slideLayouts/slideLayout29.xml"/><Relationship Id="rId4" Type="http://schemas.openxmlformats.org/officeDocument/2006/relationships/image" Target="../media/image5.jpg"/></Relationships>
</file>

<file path=ppt/slides/_rels/slide63.xml.rels><?xml version="1.0" encoding="UTF-8" standalone="yes"?>
<Relationships xmlns="http://schemas.openxmlformats.org/package/2006/relationships"><Relationship Id="rId2" Type="http://schemas.openxmlformats.org/officeDocument/2006/relationships/image" Target="../media/image99.gif"/><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4.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70.xml.rels><?xml version="1.0" encoding="UTF-8" standalone="yes"?>
<Relationships xmlns="http://schemas.openxmlformats.org/package/2006/relationships"><Relationship Id="rId3" Type="http://schemas.openxmlformats.org/officeDocument/2006/relationships/image" Target="../media/image64.gif"/><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2000">
              <a:schemeClr val="accent1">
                <a:lumMod val="40000"/>
                <a:lumOff val="60000"/>
              </a:schemeClr>
            </a:gs>
            <a:gs pos="41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7048" y="2794434"/>
            <a:ext cx="9144000" cy="1828800"/>
          </a:xfrm>
        </p:spPr>
        <p:txBody>
          <a:bodyPr/>
          <a:lstStyle/>
          <a:p>
            <a:r>
              <a:rPr dirty="0"/>
              <a:t>Visualizing Multivariate Data and Models in R</a:t>
            </a:r>
          </a:p>
        </p:txBody>
      </p:sp>
      <p:sp>
        <p:nvSpPr>
          <p:cNvPr id="3" name="Subtitle 2"/>
          <p:cNvSpPr>
            <a:spLocks noGrp="1"/>
          </p:cNvSpPr>
          <p:nvPr>
            <p:ph type="subTitle" idx="1"/>
          </p:nvPr>
        </p:nvSpPr>
        <p:spPr>
          <a:xfrm>
            <a:off x="1527048" y="4626538"/>
            <a:ext cx="9144000" cy="1655064"/>
          </a:xfrm>
        </p:spPr>
        <p:txBody>
          <a:bodyPr>
            <a:normAutofit fontScale="92500" lnSpcReduction="10000"/>
          </a:bodyPr>
          <a:lstStyle/>
          <a:p>
            <a:r>
              <a:rPr sz="3200" dirty="0"/>
              <a:t>A Romance in Many Dimensions</a:t>
            </a:r>
          </a:p>
          <a:p>
            <a:endParaRPr dirty="0"/>
          </a:p>
          <a:p>
            <a:r>
              <a:rPr lang="en-CA" dirty="0"/>
              <a:t>Methodology &amp; Statistics Group, Utrecht, Nov. 2026</a:t>
            </a:r>
          </a:p>
          <a:p>
            <a:r>
              <a:rPr dirty="0"/>
              <a:t>Michael Friendly, York University</a:t>
            </a:r>
            <a:r>
              <a:rPr lang="en-CA" dirty="0"/>
              <a:t>,              </a:t>
            </a:r>
            <a:r>
              <a:rPr lang="en-CA" dirty="0">
                <a:hlinkClick r:id="rId3"/>
              </a:rPr>
              <a:t>friendly.github.io </a:t>
            </a:r>
            <a:r>
              <a:rPr lang="en-CA" dirty="0"/>
              <a:t>| </a:t>
            </a:r>
            <a:r>
              <a:rPr lang="en-CA" dirty="0">
                <a:hlinkClick r:id="rId4"/>
              </a:rPr>
              <a:t>datavis.ca</a:t>
            </a:r>
            <a:endParaRPr dirty="0"/>
          </a:p>
        </p:txBody>
      </p:sp>
      <p:pic>
        <p:nvPicPr>
          <p:cNvPr id="4" name="Thumbnail: data ellipses" descr="image.png"/>
          <p:cNvPicPr>
            <a:picLocks noChangeAspect="1"/>
          </p:cNvPicPr>
          <p:nvPr/>
        </p:nvPicPr>
        <p:blipFill>
          <a:blip r:embed="rId5"/>
          <a:stretch>
            <a:fillRect/>
          </a:stretch>
        </p:blipFill>
        <p:spPr>
          <a:xfrm>
            <a:off x="1484330" y="320039"/>
            <a:ext cx="2340000" cy="2340000"/>
          </a:xfrm>
          <a:prstGeom prst="rect">
            <a:avLst/>
          </a:prstGeom>
        </p:spPr>
      </p:pic>
      <p:pic>
        <p:nvPicPr>
          <p:cNvPr id="5" name="Thumbnail: biplot" descr="fig-diabetes-ggbiplot-1.png"/>
          <p:cNvPicPr>
            <a:picLocks noChangeAspect="1"/>
          </p:cNvPicPr>
          <p:nvPr/>
        </p:nvPicPr>
        <p:blipFill>
          <a:blip r:embed="rId6"/>
          <a:stretch>
            <a:fillRect/>
          </a:stretch>
        </p:blipFill>
        <p:spPr>
          <a:xfrm>
            <a:off x="3962245" y="320040"/>
            <a:ext cx="3276000" cy="2340000"/>
          </a:xfrm>
          <a:prstGeom prst="rect">
            <a:avLst/>
          </a:prstGeom>
        </p:spPr>
      </p:pic>
      <p:pic>
        <p:nvPicPr>
          <p:cNvPr id="6" name="Thumbnail: HE plot" descr="image.png"/>
          <p:cNvPicPr>
            <a:picLocks noChangeAspect="1"/>
          </p:cNvPicPr>
          <p:nvPr/>
        </p:nvPicPr>
        <p:blipFill>
          <a:blip r:embed="rId7"/>
          <a:stretch>
            <a:fillRect/>
          </a:stretch>
        </p:blipFill>
        <p:spPr>
          <a:xfrm>
            <a:off x="7376160" y="320040"/>
            <a:ext cx="3276000" cy="2340000"/>
          </a:xfrm>
          <a:prstGeom prst="rect">
            <a:avLst/>
          </a:prstGeom>
        </p:spPr>
      </p:pic>
      <p:pic>
        <p:nvPicPr>
          <p:cNvPr id="8" name="Picture 7">
            <a:extLst>
              <a:ext uri="{FF2B5EF4-FFF2-40B4-BE49-F238E27FC236}">
                <a16:creationId xmlns:a16="http://schemas.microsoft.com/office/drawing/2014/main" id="{E4802ABD-082F-BC7F-2791-4E06016AE1D7}"/>
              </a:ext>
            </a:extLst>
          </p:cNvPr>
          <p:cNvPicPr>
            <a:picLocks noChangeAspect="1"/>
          </p:cNvPicPr>
          <p:nvPr/>
        </p:nvPicPr>
        <p:blipFill>
          <a:blip r:embed="rId8"/>
          <a:stretch>
            <a:fillRect/>
          </a:stretch>
        </p:blipFill>
        <p:spPr>
          <a:xfrm>
            <a:off x="6229529" y="5901328"/>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181600" cy="1143000"/>
          </a:xfrm>
        </p:spPr>
        <p:txBody>
          <a:bodyPr/>
          <a:lstStyle/>
          <a:p>
            <a:r>
              <a:rPr dirty="0"/>
              <a:t>The book</a:t>
            </a:r>
          </a:p>
        </p:txBody>
      </p:sp>
      <p:sp>
        <p:nvSpPr>
          <p:cNvPr id="3" name="Content Placeholder 2"/>
          <p:cNvSpPr>
            <a:spLocks noGrp="1"/>
          </p:cNvSpPr>
          <p:nvPr>
            <p:ph sz="half" idx="1"/>
          </p:nvPr>
        </p:nvSpPr>
        <p:spPr/>
        <p:txBody>
          <a:bodyPr/>
          <a:lstStyle/>
          <a:p>
            <a:r>
              <a:rPr dirty="0"/>
              <a:t>Graphical methods for multivariate data and for multivariate linear models</a:t>
            </a:r>
          </a:p>
          <a:p>
            <a:r>
              <a:rPr dirty="0"/>
              <a:t>15 chapters in four parts, from exploratory plots to MANOVA and discriminant analysis</a:t>
            </a:r>
          </a:p>
          <a:p>
            <a:r>
              <a:rPr dirty="0"/>
              <a:t>To appear CRC Press / Chapman &amp; Hall</a:t>
            </a:r>
            <a:r>
              <a:rPr lang="en-CA" dirty="0"/>
              <a:t>, 2027</a:t>
            </a:r>
            <a:endParaRPr dirty="0"/>
          </a:p>
          <a:p>
            <a:r>
              <a:rPr dirty="0"/>
              <a:t>Online version: </a:t>
            </a:r>
            <a:r>
              <a:rPr dirty="0">
                <a:hlinkClick r:id="rId3"/>
              </a:rPr>
              <a:t>friendly.github.io/Vis-MLM-book</a:t>
            </a:r>
            <a:endParaRPr dirty="0"/>
          </a:p>
        </p:txBody>
      </p:sp>
      <p:pic>
        <p:nvPicPr>
          <p:cNvPr id="4" name="Picture 3" descr="cover-peng.jpg"/>
          <p:cNvPicPr>
            <a:picLocks noChangeAspect="1"/>
          </p:cNvPicPr>
          <p:nvPr/>
        </p:nvPicPr>
        <p:blipFill>
          <a:blip r:embed="rId4"/>
          <a:stretch>
            <a:fillRect/>
          </a:stretch>
        </p:blipFill>
        <p:spPr>
          <a:xfrm>
            <a:off x="6331974" y="630023"/>
            <a:ext cx="4218039" cy="5804761"/>
          </a:xfrm>
          <a:prstGeom prst="rect">
            <a:avLst/>
          </a:prstGeom>
        </p:spPr>
      </p:pic>
      <p:sp>
        <p:nvSpPr>
          <p:cNvPr id="5" name="Slide Number Placeholder 5"/>
          <p:cNvSpPr>
            <a:spLocks noGrp="1"/>
          </p:cNvSpPr>
          <p:nvPr>
            <p:ph type="sldNum" sz="quarter" idx="12"/>
          </p:nvPr>
        </p:nvSpPr>
        <p:spPr/>
        <p:txBody>
          <a:bodyPr/>
          <a:lstStyle/>
          <a:p>
            <a:fld id="{9BFB2853-4965-4727-91C4-384EB30D99A4}" type="slidenum">
              <a:rPr lang="en-CA"/>
              <a:t>2</a:t>
            </a:fld>
            <a:endParaRPr lang="en-C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844"/>
            <a:ext cx="10515600" cy="1143000"/>
          </a:xfrm>
        </p:spPr>
        <p:txBody>
          <a:bodyPr/>
          <a:lstStyle/>
          <a:p>
            <a:r>
              <a:rPr dirty="0"/>
              <a:t>R packages</a:t>
            </a:r>
          </a:p>
        </p:txBody>
      </p:sp>
      <p:sp>
        <p:nvSpPr>
          <p:cNvPr id="3" name="TextBox 2"/>
          <p:cNvSpPr txBox="1"/>
          <p:nvPr/>
        </p:nvSpPr>
        <p:spPr>
          <a:xfrm>
            <a:off x="5162236" y="423756"/>
            <a:ext cx="6191564" cy="461665"/>
          </a:xfrm>
          <a:prstGeom prst="rect">
            <a:avLst/>
          </a:prstGeom>
          <a:noFill/>
        </p:spPr>
        <p:txBody>
          <a:bodyPr wrap="square">
            <a:spAutoFit/>
          </a:bodyPr>
          <a:lstStyle/>
          <a:p>
            <a:r>
              <a:rPr sz="2400" b="1" dirty="0"/>
              <a:t>Theory → Practice: Making tools accessible</a:t>
            </a:r>
          </a:p>
        </p:txBody>
      </p:sp>
      <p:grpSp>
        <p:nvGrpSpPr>
          <p:cNvPr id="12" name="Group 11">
            <a:extLst>
              <a:ext uri="{FF2B5EF4-FFF2-40B4-BE49-F238E27FC236}">
                <a16:creationId xmlns:a16="http://schemas.microsoft.com/office/drawing/2014/main" id="{33967763-0F0C-C845-A659-1022577544B1}"/>
              </a:ext>
            </a:extLst>
          </p:cNvPr>
          <p:cNvGrpSpPr/>
          <p:nvPr/>
        </p:nvGrpSpPr>
        <p:grpSpPr>
          <a:xfrm>
            <a:off x="904552" y="1409255"/>
            <a:ext cx="10434008" cy="932688"/>
            <a:chOff x="904552" y="1409255"/>
            <a:chExt cx="10434008" cy="932688"/>
          </a:xfrm>
        </p:grpSpPr>
        <p:pic>
          <p:nvPicPr>
            <p:cNvPr id="4" name="Picture 3" descr="logo.png"/>
            <p:cNvPicPr>
              <a:picLocks noChangeAspect="1"/>
            </p:cNvPicPr>
            <p:nvPr/>
          </p:nvPicPr>
          <p:blipFill>
            <a:blip r:embed="rId3"/>
            <a:stretch>
              <a:fillRect/>
            </a:stretch>
          </p:blipFill>
          <p:spPr>
            <a:xfrm>
              <a:off x="904552" y="1409255"/>
              <a:ext cx="787790" cy="914400"/>
            </a:xfrm>
            <a:prstGeom prst="rect">
              <a:avLst/>
            </a:prstGeom>
          </p:spPr>
        </p:pic>
        <p:sp>
          <p:nvSpPr>
            <p:cNvPr id="5" name="TextBox 4"/>
            <p:cNvSpPr txBox="1"/>
            <p:nvPr/>
          </p:nvSpPr>
          <p:spPr>
            <a:xfrm>
              <a:off x="2011680" y="1427543"/>
              <a:ext cx="9326880" cy="914400"/>
            </a:xfrm>
            <a:prstGeom prst="roundRect">
              <a:avLst>
                <a:gd name="adj" fmla="val 12000"/>
              </a:avLst>
            </a:prstGeom>
            <a:solidFill>
              <a:srgbClr val="3E5BC8">
                <a:alpha val="17000"/>
              </a:srgbClr>
            </a:solidFill>
            <a:ln w="9525">
              <a:solidFill>
                <a:srgbClr val="3E5BC8">
                  <a:alpha val="55000"/>
                </a:srgbClr>
              </a:solidFill>
            </a:ln>
          </p:spPr>
          <p:txBody>
            <a:bodyPr wrap="square" anchor="ctr">
              <a:noAutofit/>
            </a:bodyPr>
            <a:lstStyle/>
            <a:p>
              <a:r>
                <a:rPr sz="2400" b="1" dirty="0" err="1"/>
                <a:t>heplots</a:t>
              </a:r>
              <a:endParaRPr sz="2400" b="1" dirty="0"/>
            </a:p>
            <a:p>
              <a:r>
                <a:rPr sz="1800" dirty="0"/>
                <a:t>Visualizing hypothesis tests in multivariate linear models: HE plots, covariance ellipses, robust MLMs</a:t>
              </a:r>
            </a:p>
          </p:txBody>
        </p:sp>
      </p:grpSp>
      <p:grpSp>
        <p:nvGrpSpPr>
          <p:cNvPr id="14" name="Group 13">
            <a:extLst>
              <a:ext uri="{FF2B5EF4-FFF2-40B4-BE49-F238E27FC236}">
                <a16:creationId xmlns:a16="http://schemas.microsoft.com/office/drawing/2014/main" id="{48DF4B43-20C0-59BD-C282-14EA2A92C45E}"/>
              </a:ext>
            </a:extLst>
          </p:cNvPr>
          <p:cNvGrpSpPr/>
          <p:nvPr/>
        </p:nvGrpSpPr>
        <p:grpSpPr>
          <a:xfrm>
            <a:off x="894440" y="2433383"/>
            <a:ext cx="10444120" cy="932688"/>
            <a:chOff x="894440" y="2433383"/>
            <a:chExt cx="10444120" cy="932688"/>
          </a:xfrm>
        </p:grpSpPr>
        <p:pic>
          <p:nvPicPr>
            <p:cNvPr id="6" name="Picture 5" descr="logo.png"/>
            <p:cNvPicPr>
              <a:picLocks noChangeAspect="1"/>
            </p:cNvPicPr>
            <p:nvPr/>
          </p:nvPicPr>
          <p:blipFill>
            <a:blip r:embed="rId4"/>
            <a:stretch>
              <a:fillRect/>
            </a:stretch>
          </p:blipFill>
          <p:spPr>
            <a:xfrm>
              <a:off x="894440" y="2433383"/>
              <a:ext cx="808015" cy="914400"/>
            </a:xfrm>
            <a:prstGeom prst="rect">
              <a:avLst/>
            </a:prstGeom>
          </p:spPr>
        </p:pic>
        <p:sp>
          <p:nvSpPr>
            <p:cNvPr id="7" name="TextBox 6"/>
            <p:cNvSpPr txBox="1"/>
            <p:nvPr/>
          </p:nvSpPr>
          <p:spPr>
            <a:xfrm>
              <a:off x="2011680" y="2451671"/>
              <a:ext cx="9326880" cy="914400"/>
            </a:xfrm>
            <a:prstGeom prst="roundRect">
              <a:avLst>
                <a:gd name="adj" fmla="val 12000"/>
              </a:avLst>
            </a:prstGeom>
            <a:solidFill>
              <a:srgbClr val="E00000">
                <a:alpha val="17000"/>
              </a:srgbClr>
            </a:solidFill>
            <a:ln w="9525">
              <a:solidFill>
                <a:srgbClr val="E00000">
                  <a:alpha val="55000"/>
                </a:srgbClr>
              </a:solidFill>
            </a:ln>
          </p:spPr>
          <p:txBody>
            <a:bodyPr wrap="square" anchor="ctr">
              <a:noAutofit/>
            </a:bodyPr>
            <a:lstStyle/>
            <a:p>
              <a:r>
                <a:rPr sz="2400" b="1"/>
                <a:t>candisc</a:t>
              </a:r>
            </a:p>
            <a:p>
              <a:r>
                <a:rPr sz="1800"/>
                <a:t>Canonical discriminant and canonical correlation analysis: low-dimensional views of multivariate effects</a:t>
              </a:r>
            </a:p>
          </p:txBody>
        </p:sp>
      </p:grpSp>
      <p:grpSp>
        <p:nvGrpSpPr>
          <p:cNvPr id="16" name="Group 15">
            <a:extLst>
              <a:ext uri="{FF2B5EF4-FFF2-40B4-BE49-F238E27FC236}">
                <a16:creationId xmlns:a16="http://schemas.microsoft.com/office/drawing/2014/main" id="{7F60F8B4-7A0F-32D1-586B-5ABECF61E09B}"/>
              </a:ext>
            </a:extLst>
          </p:cNvPr>
          <p:cNvGrpSpPr/>
          <p:nvPr/>
        </p:nvGrpSpPr>
        <p:grpSpPr>
          <a:xfrm>
            <a:off x="904358" y="3457511"/>
            <a:ext cx="10434202" cy="932687"/>
            <a:chOff x="904358" y="3457511"/>
            <a:chExt cx="10434202" cy="932687"/>
          </a:xfrm>
        </p:grpSpPr>
        <p:pic>
          <p:nvPicPr>
            <p:cNvPr id="8" name="Picture 7" descr="logo.png"/>
            <p:cNvPicPr>
              <a:picLocks noChangeAspect="1"/>
            </p:cNvPicPr>
            <p:nvPr/>
          </p:nvPicPr>
          <p:blipFill>
            <a:blip r:embed="rId5"/>
            <a:stretch>
              <a:fillRect/>
            </a:stretch>
          </p:blipFill>
          <p:spPr>
            <a:xfrm>
              <a:off x="904358" y="3457511"/>
              <a:ext cx="788179" cy="914400"/>
            </a:xfrm>
            <a:prstGeom prst="rect">
              <a:avLst/>
            </a:prstGeom>
          </p:spPr>
        </p:pic>
        <p:sp>
          <p:nvSpPr>
            <p:cNvPr id="9" name="TextBox 8"/>
            <p:cNvSpPr txBox="1"/>
            <p:nvPr/>
          </p:nvSpPr>
          <p:spPr>
            <a:xfrm>
              <a:off x="2011680" y="3475798"/>
              <a:ext cx="9326880" cy="914400"/>
            </a:xfrm>
            <a:prstGeom prst="roundRect">
              <a:avLst>
                <a:gd name="adj" fmla="val 12000"/>
              </a:avLst>
            </a:prstGeom>
            <a:solidFill>
              <a:srgbClr val="0A78B4">
                <a:alpha val="17000"/>
              </a:srgbClr>
            </a:solidFill>
            <a:ln w="9525">
              <a:solidFill>
                <a:srgbClr val="0A78B4">
                  <a:alpha val="55000"/>
                </a:srgbClr>
              </a:solidFill>
            </a:ln>
          </p:spPr>
          <p:txBody>
            <a:bodyPr wrap="square" anchor="ctr">
              <a:noAutofit/>
            </a:bodyPr>
            <a:lstStyle/>
            <a:p>
              <a:r>
                <a:rPr sz="2400" b="1"/>
                <a:t>mvinfluence</a:t>
              </a:r>
            </a:p>
            <a:p>
              <a:r>
                <a:rPr sz="1800"/>
                <a:t>Influence measures and diagnostic plots for multivariate linear models</a:t>
              </a:r>
            </a:p>
          </p:txBody>
        </p:sp>
      </p:grpSp>
      <p:grpSp>
        <p:nvGrpSpPr>
          <p:cNvPr id="17" name="Group 16">
            <a:extLst>
              <a:ext uri="{FF2B5EF4-FFF2-40B4-BE49-F238E27FC236}">
                <a16:creationId xmlns:a16="http://schemas.microsoft.com/office/drawing/2014/main" id="{AE5235DF-0E0C-A117-A669-D29327ED0BC4}"/>
              </a:ext>
            </a:extLst>
          </p:cNvPr>
          <p:cNvGrpSpPr/>
          <p:nvPr/>
        </p:nvGrpSpPr>
        <p:grpSpPr>
          <a:xfrm>
            <a:off x="905461" y="4481639"/>
            <a:ext cx="10433099" cy="932688"/>
            <a:chOff x="905461" y="4481639"/>
            <a:chExt cx="10433099" cy="932688"/>
          </a:xfrm>
        </p:grpSpPr>
        <p:pic>
          <p:nvPicPr>
            <p:cNvPr id="10" name="Picture 9" descr="logo.png"/>
            <p:cNvPicPr>
              <a:picLocks noChangeAspect="1"/>
            </p:cNvPicPr>
            <p:nvPr/>
          </p:nvPicPr>
          <p:blipFill>
            <a:blip r:embed="rId6"/>
            <a:stretch>
              <a:fillRect/>
            </a:stretch>
          </p:blipFill>
          <p:spPr>
            <a:xfrm>
              <a:off x="905461" y="4481639"/>
              <a:ext cx="785973" cy="914400"/>
            </a:xfrm>
            <a:prstGeom prst="rect">
              <a:avLst/>
            </a:prstGeom>
          </p:spPr>
        </p:pic>
        <p:sp>
          <p:nvSpPr>
            <p:cNvPr id="11" name="TextBox 10"/>
            <p:cNvSpPr txBox="1"/>
            <p:nvPr/>
          </p:nvSpPr>
          <p:spPr>
            <a:xfrm>
              <a:off x="2011680" y="4499927"/>
              <a:ext cx="9326880" cy="914400"/>
            </a:xfrm>
            <a:prstGeom prst="roundRect">
              <a:avLst>
                <a:gd name="adj" fmla="val 12000"/>
              </a:avLst>
            </a:prstGeom>
            <a:solidFill>
              <a:srgbClr val="C0409A">
                <a:alpha val="17000"/>
              </a:srgbClr>
            </a:solidFill>
            <a:ln w="9525">
              <a:solidFill>
                <a:srgbClr val="C0409A">
                  <a:alpha val="55000"/>
                </a:srgbClr>
              </a:solidFill>
            </a:ln>
          </p:spPr>
          <p:txBody>
            <a:bodyPr wrap="square" anchor="ctr">
              <a:noAutofit/>
            </a:bodyPr>
            <a:lstStyle/>
            <a:p>
              <a:r>
                <a:rPr sz="2400" b="1" dirty="0" err="1"/>
                <a:t>genridge</a:t>
              </a:r>
              <a:endParaRPr sz="2400" b="1" dirty="0"/>
            </a:p>
            <a:p>
              <a:r>
                <a:rPr sz="1800" dirty="0"/>
                <a:t>Generalized ridge trace plots: bias and precision in ridge regression</a:t>
              </a:r>
            </a:p>
          </p:txBody>
        </p:sp>
      </p:grpSp>
      <p:grpSp>
        <p:nvGrpSpPr>
          <p:cNvPr id="18" name="Group 17">
            <a:extLst>
              <a:ext uri="{FF2B5EF4-FFF2-40B4-BE49-F238E27FC236}">
                <a16:creationId xmlns:a16="http://schemas.microsoft.com/office/drawing/2014/main" id="{E2493E90-30E4-B2D8-164E-B14BEDF83A6F}"/>
              </a:ext>
            </a:extLst>
          </p:cNvPr>
          <p:cNvGrpSpPr/>
          <p:nvPr/>
        </p:nvGrpSpPr>
        <p:grpSpPr>
          <a:xfrm>
            <a:off x="905461" y="5535470"/>
            <a:ext cx="10433099" cy="932688"/>
            <a:chOff x="905461" y="5535470"/>
            <a:chExt cx="10433099" cy="932688"/>
          </a:xfrm>
        </p:grpSpPr>
        <p:pic>
          <p:nvPicPr>
            <p:cNvPr id="13" name="Picture 12" descr="A hexagon with a diagram of different colored circles&#10;&#10;Description automatically generated">
              <a:extLst>
                <a:ext uri="{FF2B5EF4-FFF2-40B4-BE49-F238E27FC236}">
                  <a16:creationId xmlns:a16="http://schemas.microsoft.com/office/drawing/2014/main" id="{E16B3A6A-2367-4801-DDDC-6CC3035B49C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5461" y="5535470"/>
              <a:ext cx="792653" cy="914400"/>
            </a:xfrm>
            <a:prstGeom prst="rect">
              <a:avLst/>
            </a:prstGeom>
          </p:spPr>
        </p:pic>
        <p:sp>
          <p:nvSpPr>
            <p:cNvPr id="15" name="TextBox 14">
              <a:extLst>
                <a:ext uri="{FF2B5EF4-FFF2-40B4-BE49-F238E27FC236}">
                  <a16:creationId xmlns:a16="http://schemas.microsoft.com/office/drawing/2014/main" id="{CDA35D59-091F-DC77-2ACE-3734742E5CB0}"/>
                </a:ext>
              </a:extLst>
            </p:cNvPr>
            <p:cNvSpPr txBox="1"/>
            <p:nvPr/>
          </p:nvSpPr>
          <p:spPr>
            <a:xfrm>
              <a:off x="2011680" y="5553758"/>
              <a:ext cx="9326880" cy="914400"/>
            </a:xfrm>
            <a:prstGeom prst="roundRect">
              <a:avLst>
                <a:gd name="adj" fmla="val 12000"/>
              </a:avLst>
            </a:prstGeom>
            <a:solidFill>
              <a:srgbClr val="5AA83C">
                <a:alpha val="17000"/>
              </a:srgbClr>
            </a:solidFill>
            <a:ln w="9525">
              <a:solidFill>
                <a:srgbClr val="5AA83C">
                  <a:alpha val="55000"/>
                </a:srgbClr>
              </a:solidFill>
            </a:ln>
          </p:spPr>
          <p:txBody>
            <a:bodyPr wrap="square" anchor="ctr">
              <a:noAutofit/>
            </a:bodyPr>
            <a:lstStyle/>
            <a:p>
              <a:r>
                <a:rPr lang="en-CA" sz="2400" b="1" dirty="0" err="1"/>
                <a:t>VisCollin</a:t>
              </a:r>
              <a:endParaRPr sz="2400" b="1" dirty="0"/>
            </a:p>
            <a:p>
              <a:r>
                <a:rPr lang="en-CA" sz="1800" dirty="0"/>
                <a:t>Understanding problems of collinearity thru visualization and reduced-rank views</a:t>
              </a:r>
              <a:endParaRPr sz="1800" dirty="0"/>
            </a:p>
          </p:txBody>
        </p:sp>
      </p:grpSp>
      <p:sp>
        <p:nvSpPr>
          <p:cNvPr id="19" name="Slide Number Placeholder 19"/>
          <p:cNvSpPr>
            <a:spLocks noGrp="1"/>
          </p:cNvSpPr>
          <p:nvPr>
            <p:ph type="sldNum" sz="quarter" idx="12"/>
          </p:nvPr>
        </p:nvSpPr>
        <p:spPr/>
        <p:txBody>
          <a:bodyPr/>
          <a:lstStyle/>
          <a:p>
            <a:fld id="{9BFB2853-4965-4727-91C4-384EB30D99A4}" type="slidenum">
              <a:rPr lang="en-CA"/>
              <a:t>3</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Ideas I’ll talk about today (thematic)</a:t>
            </a:r>
            <a:endParaRPr dirty="0"/>
          </a:p>
        </p:txBody>
      </p:sp>
      <p:sp>
        <p:nvSpPr>
          <p:cNvPr id="3" name="Content Placeholder 2"/>
          <p:cNvSpPr>
            <a:spLocks noGrp="1"/>
          </p:cNvSpPr>
          <p:nvPr>
            <p:ph idx="1"/>
          </p:nvPr>
        </p:nvSpPr>
        <p:spPr>
          <a:xfrm>
            <a:off x="838200" y="1309036"/>
            <a:ext cx="10515600" cy="4867927"/>
          </a:xfrm>
        </p:spPr>
        <p:txBody>
          <a:bodyPr/>
          <a:lstStyle/>
          <a:p>
            <a:r>
              <a:rPr dirty="0"/>
              <a:t>Why </a:t>
            </a:r>
            <a:r>
              <a:rPr lang="en-CA" dirty="0"/>
              <a:t>a romance in </a:t>
            </a:r>
            <a:r>
              <a:rPr dirty="0"/>
              <a:t>many dimensions?</a:t>
            </a:r>
          </a:p>
          <a:p>
            <a:r>
              <a:rPr lang="en-CA" dirty="0"/>
              <a:t>S</a:t>
            </a:r>
            <a:r>
              <a:rPr dirty="0" err="1"/>
              <a:t>eeing</a:t>
            </a:r>
            <a:r>
              <a:rPr dirty="0"/>
              <a:t> multivariate data</a:t>
            </a:r>
            <a:r>
              <a:rPr lang="en-CA" dirty="0"/>
              <a:t>: ellipses everywhere</a:t>
            </a:r>
            <a:endParaRPr dirty="0"/>
          </a:p>
          <a:p>
            <a:r>
              <a:rPr dirty="0"/>
              <a:t>Multivariate juicers: low-D views, and Waldo space</a:t>
            </a:r>
          </a:p>
          <a:p>
            <a:r>
              <a:rPr dirty="0"/>
              <a:t>Elliptical insights: models with one response</a:t>
            </a:r>
          </a:p>
          <a:p>
            <a:r>
              <a:rPr dirty="0"/>
              <a:t>The HE plot framework for multivariate models</a:t>
            </a:r>
          </a:p>
          <a:p>
            <a:r>
              <a:rPr dirty="0"/>
              <a:t>Checking multivariate models</a:t>
            </a:r>
          </a:p>
        </p:txBody>
      </p:sp>
      <p:pic>
        <p:nvPicPr>
          <p:cNvPr id="4" name="Picture 3" descr="fig-book-parts-1.png"/>
          <p:cNvPicPr>
            <a:picLocks noChangeAspect="1"/>
          </p:cNvPicPr>
          <p:nvPr/>
        </p:nvPicPr>
        <p:blipFill>
          <a:blip r:embed="rId3"/>
          <a:stretch>
            <a:fillRect/>
          </a:stretch>
        </p:blipFill>
        <p:spPr>
          <a:xfrm>
            <a:off x="1771886" y="5212080"/>
            <a:ext cx="8654323" cy="960120"/>
          </a:xfrm>
          <a:prstGeom prst="rect">
            <a:avLst/>
          </a:prstGeom>
        </p:spPr>
      </p:pic>
      <p:sp>
        <p:nvSpPr>
          <p:cNvPr id="5" name="TextBox 4">
            <a:extLst>
              <a:ext uri="{FF2B5EF4-FFF2-40B4-BE49-F238E27FC236}">
                <a16:creationId xmlns:a16="http://schemas.microsoft.com/office/drawing/2014/main" id="{05F1A3BA-35FB-D6D9-E220-ADE371743536}"/>
              </a:ext>
            </a:extLst>
          </p:cNvPr>
          <p:cNvSpPr txBox="1"/>
          <p:nvPr/>
        </p:nvSpPr>
        <p:spPr>
          <a:xfrm>
            <a:off x="838200" y="4146318"/>
            <a:ext cx="9843052" cy="646331"/>
          </a:xfrm>
          <a:prstGeom prst="rect">
            <a:avLst/>
          </a:prstGeom>
          <a:noFill/>
        </p:spPr>
        <p:txBody>
          <a:bodyPr wrap="square" rtlCol="0">
            <a:spAutoFit/>
          </a:bodyPr>
          <a:lstStyle/>
          <a:p>
            <a:r>
              <a:rPr lang="en-CA" sz="3600" dirty="0"/>
              <a:t>Road map of the book (linear)</a:t>
            </a:r>
          </a:p>
        </p:txBody>
      </p:sp>
      <p:sp>
        <p:nvSpPr>
          <p:cNvPr id="6" name="Slide Number Placeholder 6"/>
          <p:cNvSpPr>
            <a:spLocks noGrp="1"/>
          </p:cNvSpPr>
          <p:nvPr>
            <p:ph type="sldNum" sz="quarter" idx="12"/>
          </p:nvPr>
        </p:nvSpPr>
        <p:spPr/>
        <p:txBody>
          <a:bodyPr/>
          <a:lstStyle/>
          <a:p>
            <a:fld id="{9BFB2853-4965-4727-91C4-384EB30D99A4}" type="slidenum">
              <a:rPr lang="en-CA"/>
              <a:t>4</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2"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3"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4" dur="1000"/>
                                        <p:tgtEl>
                                          <p:spTgt spid="3">
                                            <p:txEl>
                                              <p:pRg st="0" end="0"/>
                                            </p:txEl>
                                          </p:spTgt>
                                        </p:tgtEl>
                                      </p:cBhvr>
                                    </p:animEffect>
                                  </p:childTnLst>
                                </p:cTn>
                              </p:par>
                              <p:par>
                                <p:cTn id="15" presetID="31"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p:cTn id="1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0" dur="1000"/>
                                        <p:tgtEl>
                                          <p:spTgt spid="3">
                                            <p:txEl>
                                              <p:pRg st="1" end="1"/>
                                            </p:txEl>
                                          </p:spTgt>
                                        </p:tgtEl>
                                      </p:cBhvr>
                                    </p:animEffect>
                                  </p:childTnLst>
                                </p:cTn>
                              </p:par>
                              <p:par>
                                <p:cTn id="21" presetID="31"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par>
                                <p:cTn id="27" presetID="31"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p:cTn id="2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2" dur="1000"/>
                                        <p:tgtEl>
                                          <p:spTgt spid="3">
                                            <p:txEl>
                                              <p:pRg st="3" end="3"/>
                                            </p:txEl>
                                          </p:spTgt>
                                        </p:tgtEl>
                                      </p:cBhvr>
                                    </p:animEffect>
                                  </p:childTnLst>
                                </p:cTn>
                              </p:par>
                              <p:par>
                                <p:cTn id="33" presetID="31" presetClass="entr" presetSubtype="0" fill="hold"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7"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8" dur="1000"/>
                                        <p:tgtEl>
                                          <p:spTgt spid="3">
                                            <p:txEl>
                                              <p:pRg st="4" end="4"/>
                                            </p:txEl>
                                          </p:spTgt>
                                        </p:tgtEl>
                                      </p:cBhvr>
                                    </p:animEffect>
                                  </p:childTnLst>
                                </p:cTn>
                              </p:par>
                              <p:par>
                                <p:cTn id="39" presetID="31" presetClass="entr" presetSubtype="0" fill="hold"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p:cTn id="41"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2"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43"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44"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3F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 romance in many dimensions?</a:t>
            </a:r>
          </a:p>
        </p:txBody>
      </p:sp>
      <p:sp>
        <p:nvSpPr>
          <p:cNvPr id="3" name="Text Placeholder 2"/>
          <p:cNvSpPr>
            <a:spLocks noGrp="1"/>
          </p:cNvSpPr>
          <p:nvPr>
            <p:ph type="body" idx="1"/>
          </p:nvPr>
        </p:nvSpPr>
        <p:spPr/>
        <p:txBody>
          <a:bodyPr/>
          <a:lstStyle/>
          <a:p>
            <a:r>
              <a:rPr lang="en-CA" dirty="0"/>
              <a:t>How can we understand important scientific phenomena?</a:t>
            </a:r>
          </a:p>
          <a:p>
            <a:r>
              <a:rPr lang="en-CA" dirty="0"/>
              <a:t>Our data</a:t>
            </a:r>
            <a:r>
              <a:rPr dirty="0"/>
              <a:t> live in </a:t>
            </a:r>
            <a:r>
              <a:rPr dirty="0" err="1"/>
              <a:t>Spaceland</a:t>
            </a:r>
            <a:r>
              <a:rPr dirty="0"/>
              <a:t>,</a:t>
            </a:r>
            <a:r>
              <a:rPr lang="en-CA" dirty="0"/>
              <a:t> sometimes high-D,</a:t>
            </a:r>
            <a:r>
              <a:rPr dirty="0"/>
              <a:t> but we plot in </a:t>
            </a:r>
            <a:r>
              <a:rPr lang="en-CA" dirty="0"/>
              <a:t>Plane</a:t>
            </a:r>
            <a:r>
              <a:rPr dirty="0"/>
              <a:t>land</a:t>
            </a:r>
          </a:p>
        </p:txBody>
      </p:sp>
      <p:sp>
        <p:nvSpPr>
          <p:cNvPr id="4" name="Slide Number Placeholder 4"/>
          <p:cNvSpPr>
            <a:spLocks noGrp="1"/>
          </p:cNvSpPr>
          <p:nvPr>
            <p:ph type="sldNum" sz="quarter" idx="12"/>
          </p:nvPr>
        </p:nvSpPr>
        <p:spPr/>
        <p:txBody>
          <a:bodyPr/>
          <a:lstStyle/>
          <a:p>
            <a:fld id="{9BFB2853-4965-4727-91C4-384EB30D99A4}" type="slidenum">
              <a:rPr lang="en-CA"/>
              <a:t>5</a:t>
            </a:fld>
            <a:endParaRPr lang="en-CA"/>
          </a:p>
        </p:txBody>
      </p:sp>
      <p:pic>
        <p:nvPicPr>
          <p:cNvPr id="6" name="Section 0 Flatland illustration" descr="Flatland illustration: a sphere rising through Planeland appears as circles of changing size.">
            <a:extLst>
              <a:ext uri="{FF2B5EF4-FFF2-40B4-BE49-F238E27FC236}">
                <a16:creationId xmlns:a16="http://schemas.microsoft.com/office/drawing/2014/main" id="{D9C3AAA9-CA9A-E23E-D92E-E6B699AD575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14500" y="127000"/>
            <a:ext cx="8763000" cy="2667000"/>
          </a:xfrm>
          <a:prstGeom prst="rect">
            <a:avLst/>
          </a:prstGeom>
        </p:spPr>
      </p:pic>
      <p:sp>
        <p:nvSpPr>
          <p:cNvPr id="7" name="Flatland illustration softening overlay">
            <a:extLst>
              <a:ext uri="{FF2B5EF4-FFF2-40B4-BE49-F238E27FC236}">
                <a16:creationId xmlns:a16="http://schemas.microsoft.com/office/drawing/2014/main" id="{F552B44C-F7FB-62C0-548F-6A2AB67C42C5}"/>
              </a:ext>
            </a:extLst>
          </p:cNvPr>
          <p:cNvSpPr/>
          <p:nvPr/>
        </p:nvSpPr>
        <p:spPr>
          <a:xfrm>
            <a:off x="1714500" y="127000"/>
            <a:ext cx="8763000" cy="2667000"/>
          </a:xfrm>
          <a:prstGeom prst="rect">
            <a:avLst/>
          </a:prstGeom>
          <a:solidFill>
            <a:srgbClr val="F2F3F6">
              <a:alpha val="3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Plane</a:t>
            </a:r>
            <a:r>
              <a:rPr dirty="0"/>
              <a:t>land: we only ever see </a:t>
            </a:r>
            <a:r>
              <a:rPr lang="en-CA" dirty="0"/>
              <a:t>2D </a:t>
            </a:r>
            <a:r>
              <a:rPr dirty="0"/>
              <a:t>projections</a:t>
            </a:r>
          </a:p>
        </p:txBody>
      </p:sp>
      <p:sp>
        <p:nvSpPr>
          <p:cNvPr id="3" name="Content Placeholder 2"/>
          <p:cNvSpPr>
            <a:spLocks noGrp="1"/>
          </p:cNvSpPr>
          <p:nvPr>
            <p:ph sz="half" idx="1"/>
          </p:nvPr>
        </p:nvSpPr>
        <p:spPr/>
        <p:txBody>
          <a:bodyPr/>
          <a:lstStyle/>
          <a:p>
            <a:r>
              <a:rPr dirty="0"/>
              <a:t>Abbott's Flatland (1884): a sphere passing through a 2D world is seen as a circle that grows and shrinks</a:t>
            </a:r>
          </a:p>
          <a:p>
            <a:r>
              <a:rPr dirty="0"/>
              <a:t>Our </a:t>
            </a:r>
            <a:r>
              <a:rPr lang="en-CA" dirty="0"/>
              <a:t>2D </a:t>
            </a:r>
            <a:r>
              <a:rPr dirty="0"/>
              <a:t>plots are Flatland views of data that live in many dimensions</a:t>
            </a:r>
          </a:p>
          <a:p>
            <a:r>
              <a:rPr dirty="0"/>
              <a:t>Multivariate visualization is the art of </a:t>
            </a:r>
            <a:r>
              <a:rPr b="1" dirty="0"/>
              <a:t>choosing good views</a:t>
            </a:r>
            <a:endParaRPr lang="en-CA" b="1" dirty="0"/>
          </a:p>
          <a:p>
            <a:r>
              <a:rPr lang="en-CA" dirty="0">
                <a:solidFill>
                  <a:srgbClr val="C00000"/>
                </a:solidFill>
              </a:rPr>
              <a:t>#dataviz </a:t>
            </a:r>
            <a:r>
              <a:rPr lang="en-CA" dirty="0"/>
              <a:t>is the art of making plots </a:t>
            </a:r>
            <a:r>
              <a:rPr lang="en-CA" b="1" dirty="0"/>
              <a:t>informative</a:t>
            </a:r>
            <a:r>
              <a:rPr lang="en-CA" dirty="0"/>
              <a:t> (&amp; pretty!)</a:t>
            </a:r>
          </a:p>
          <a:p>
            <a:r>
              <a:rPr lang="en-CA" b="1" dirty="0"/>
              <a:t>Truth &amp; Beauty</a:t>
            </a:r>
            <a:r>
              <a:rPr lang="en-CA" dirty="0"/>
              <a:t>: That’s the Romance!</a:t>
            </a:r>
            <a:endParaRPr dirty="0"/>
          </a:p>
        </p:txBody>
      </p:sp>
      <p:pic>
        <p:nvPicPr>
          <p:cNvPr id="4" name="Picture 3" descr="flatland-spheres.jpg"/>
          <p:cNvPicPr>
            <a:picLocks noChangeAspect="1"/>
          </p:cNvPicPr>
          <p:nvPr/>
        </p:nvPicPr>
        <p:blipFill>
          <a:blip r:embed="rId3"/>
          <a:stretch>
            <a:fillRect/>
          </a:stretch>
        </p:blipFill>
        <p:spPr>
          <a:xfrm>
            <a:off x="6169152" y="1752981"/>
            <a:ext cx="5184648" cy="157829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a:t>
            </a:r>
          </a:p>
        </p:txBody>
      </p:sp>
      <p:pic>
        <p:nvPicPr>
          <p:cNvPr id="7" name="Picture 6">
            <a:extLst>
              <a:ext uri="{FF2B5EF4-FFF2-40B4-BE49-F238E27FC236}">
                <a16:creationId xmlns:a16="http://schemas.microsoft.com/office/drawing/2014/main" id="{81E909CF-4995-827F-E9C7-23F0A1CE0088}"/>
              </a:ext>
            </a:extLst>
          </p:cNvPr>
          <p:cNvPicPr>
            <a:picLocks noChangeAspect="1"/>
          </p:cNvPicPr>
          <p:nvPr/>
        </p:nvPicPr>
        <p:blipFill>
          <a:blip r:embed="rId4"/>
          <a:stretch>
            <a:fillRect/>
          </a:stretch>
        </p:blipFill>
        <p:spPr>
          <a:xfrm>
            <a:off x="6325994" y="3695590"/>
            <a:ext cx="3947314" cy="2819510"/>
          </a:xfrm>
          <a:prstGeom prst="rect">
            <a:avLst/>
          </a:prstGeom>
        </p:spPr>
      </p:pic>
      <p:sp>
        <p:nvSpPr>
          <p:cNvPr id="8" name="Slide Number Placeholder 8"/>
          <p:cNvSpPr>
            <a:spLocks noGrp="1"/>
          </p:cNvSpPr>
          <p:nvPr>
            <p:ph type="sldNum" sz="quarter" idx="12"/>
          </p:nvPr>
        </p:nvSpPr>
        <p:spPr/>
        <p:txBody>
          <a:bodyPr/>
          <a:lstStyle/>
          <a:p>
            <a:fld id="{9BFB2853-4965-4727-91C4-384EB30D99A4}" type="slidenum">
              <a:rPr lang="en-CA"/>
              <a:t>6</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 calcmode="lin" valueType="num">
                                      <p:cBhvr additive="base">
                                        <p:cTn id="9" dur="500" fill="hold"/>
                                        <p:tgtEl>
                                          <p:spTgt spid="7"/>
                                        </p:tgtEl>
                                        <p:attrNameLst>
                                          <p:attrName>ppt_x</p:attrName>
                                        </p:attrNameLst>
                                      </p:cBhvr>
                                      <p:tavLst>
                                        <p:tav tm="0">
                                          <p:val>
                                            <p:strVal val="#ppt_x"/>
                                          </p:val>
                                        </p:tav>
                                        <p:tav tm="100000">
                                          <p:val>
                                            <p:strVal val="#ppt_x"/>
                                          </p:val>
                                        </p:tav>
                                      </p:tavLst>
                                    </p:anim>
                                    <p:anim calcmode="lin" valueType="num">
                                      <p:cBhvr additive="base">
                                        <p:cTn id="1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EUREKA! Structure can hide in many dimensions</a:t>
            </a:r>
          </a:p>
        </p:txBody>
      </p:sp>
      <p:pic>
        <p:nvPicPr>
          <p:cNvPr id="3" name="Picture 2" descr="pollen-eureka.gif"/>
          <p:cNvPicPr>
            <a:picLocks noChangeAspect="1"/>
          </p:cNvPicPr>
          <p:nvPr/>
        </p:nvPicPr>
        <p:blipFill>
          <a:blip r:embed="rId3"/>
          <a:stretch>
            <a:fillRect/>
          </a:stretch>
        </p:blipFill>
        <p:spPr>
          <a:xfrm>
            <a:off x="950439" y="1603498"/>
            <a:ext cx="5095308" cy="465965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1.5</a:t>
            </a:r>
          </a:p>
        </p:txBody>
      </p:sp>
      <p:sp>
        <p:nvSpPr>
          <p:cNvPr id="6" name="TextBox 5">
            <a:extLst>
              <a:ext uri="{FF2B5EF4-FFF2-40B4-BE49-F238E27FC236}">
                <a16:creationId xmlns:a16="http://schemas.microsoft.com/office/drawing/2014/main" id="{8C3F38F2-2587-3C51-3889-B647D224D5F9}"/>
              </a:ext>
            </a:extLst>
          </p:cNvPr>
          <p:cNvSpPr txBox="1"/>
          <p:nvPr/>
        </p:nvSpPr>
        <p:spPr>
          <a:xfrm>
            <a:off x="6942025" y="1720645"/>
            <a:ext cx="4679704" cy="4154984"/>
          </a:xfrm>
          <a:prstGeom prst="rect">
            <a:avLst/>
          </a:prstGeom>
          <a:noFill/>
        </p:spPr>
        <p:txBody>
          <a:bodyPr wrap="square" rtlCol="0">
            <a:spAutoFit/>
          </a:bodyPr>
          <a:lstStyle/>
          <a:p>
            <a:r>
              <a:rPr lang="en-CA" sz="2400" dirty="0" err="1"/>
              <a:t>HistData</a:t>
            </a:r>
            <a:r>
              <a:rPr lang="en-CA" sz="2400" dirty="0"/>
              <a:t>::Pollen, 5D, from the 1986 JSM Data Exposition: “</a:t>
            </a:r>
            <a:r>
              <a:rPr lang="en-CA" sz="2400" dirty="0">
                <a:solidFill>
                  <a:schemeClr val="accent2">
                    <a:lumMod val="75000"/>
                  </a:schemeClr>
                </a:solidFill>
              </a:rPr>
              <a:t>Find something interesting here</a:t>
            </a:r>
            <a:r>
              <a:rPr lang="en-CA" sz="2400" dirty="0"/>
              <a:t>”</a:t>
            </a:r>
          </a:p>
          <a:p>
            <a:endParaRPr lang="en-CA" sz="2400" dirty="0"/>
          </a:p>
          <a:p>
            <a:r>
              <a:rPr lang="en-CA" sz="2400" dirty="0"/>
              <a:t>Zooming in on the </a:t>
            </a:r>
            <a:r>
              <a:rPr lang="en-CA" sz="2400" b="1" dirty="0"/>
              <a:t>right view </a:t>
            </a:r>
            <a:r>
              <a:rPr lang="en-CA" sz="2400" dirty="0"/>
              <a:t>reveals what no summary statistic could ever do</a:t>
            </a:r>
          </a:p>
          <a:p>
            <a:endParaRPr lang="en-CA" sz="2400" dirty="0"/>
          </a:p>
          <a:p>
            <a:r>
              <a:rPr lang="en-CA" sz="2400" dirty="0"/>
              <a:t>History of science gives many Eureka Moments revealed by graphs</a:t>
            </a:r>
          </a:p>
        </p:txBody>
      </p:sp>
      <p:sp>
        <p:nvSpPr>
          <p:cNvPr id="7" name="Slide Number Placeholder 7"/>
          <p:cNvSpPr>
            <a:spLocks noGrp="1"/>
          </p:cNvSpPr>
          <p:nvPr>
            <p:ph type="sldNum" sz="quarter" idx="12"/>
          </p:nvPr>
        </p:nvSpPr>
        <p:spPr/>
        <p:txBody>
          <a:bodyPr/>
          <a:lstStyle/>
          <a:p>
            <a:fld id="{9BFB2853-4965-4727-91C4-384EB30D99A4}" type="slidenum">
              <a:rPr lang="en-CA"/>
              <a:t>7</a:t>
            </a:fld>
            <a:endParaRPr lang="en-CA"/>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a:t>
            </a:r>
            <a:r>
              <a:rPr dirty="0" err="1"/>
              <a:t>ultivariate</a:t>
            </a:r>
            <a:r>
              <a:rPr dirty="0"/>
              <a:t> discovery: kinds of diabetes</a:t>
            </a:r>
          </a:p>
        </p:txBody>
      </p:sp>
      <p:sp>
        <p:nvSpPr>
          <p:cNvPr id="3" name="Content Placeholder 2"/>
          <p:cNvSpPr>
            <a:spLocks noGrp="1"/>
          </p:cNvSpPr>
          <p:nvPr>
            <p:ph sz="half" idx="1"/>
          </p:nvPr>
        </p:nvSpPr>
        <p:spPr/>
        <p:txBody>
          <a:bodyPr/>
          <a:lstStyle/>
          <a:p>
            <a:r>
              <a:rPr dirty="0"/>
              <a:t>Reaven &amp; Miller (1979) viewed glucose and insulin measures in 3D with PRIM-9</a:t>
            </a:r>
            <a:endParaRPr lang="en-CA" dirty="0"/>
          </a:p>
          <a:p>
            <a:r>
              <a:rPr lang="en-CA" dirty="0"/>
              <a:t>Earlier 1968 study: murky in 2D</a:t>
            </a:r>
            <a:endParaRPr dirty="0"/>
          </a:p>
          <a:p>
            <a:r>
              <a:rPr dirty="0"/>
              <a:t>The 3D view showed distinct groups that 2D plots had obscured</a:t>
            </a:r>
          </a:p>
          <a:p>
            <a:r>
              <a:rPr dirty="0"/>
              <a:t>The picture changed how the disease was classified</a:t>
            </a:r>
          </a:p>
        </p:txBody>
      </p:sp>
      <p:pic>
        <p:nvPicPr>
          <p:cNvPr id="4" name="Picture 3" descr="ReavenMiller-3d-annotated.png"/>
          <p:cNvPicPr>
            <a:picLocks noChangeAspect="1"/>
          </p:cNvPicPr>
          <p:nvPr/>
        </p:nvPicPr>
        <p:blipFill>
          <a:blip r:embed="rId3"/>
          <a:stretch>
            <a:fillRect/>
          </a:stretch>
        </p:blipFill>
        <p:spPr>
          <a:xfrm>
            <a:off x="6172200" y="1915849"/>
            <a:ext cx="5184648" cy="412358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1.7</a:t>
            </a:r>
          </a:p>
        </p:txBody>
      </p:sp>
      <p:sp>
        <p:nvSpPr>
          <p:cNvPr id="6" name="Slide Number Placeholder 6"/>
          <p:cNvSpPr>
            <a:spLocks noGrp="1"/>
          </p:cNvSpPr>
          <p:nvPr>
            <p:ph type="sldNum" sz="quarter" idx="12"/>
          </p:nvPr>
        </p:nvSpPr>
        <p:spPr/>
        <p:txBody>
          <a:bodyPr/>
          <a:lstStyle/>
          <a:p>
            <a:fld id="{9BFB2853-4965-4727-91C4-384EB30D99A4}" type="slidenum">
              <a:rPr lang="en-CA"/>
              <a:t>8</a:t>
            </a:fld>
            <a:endParaRPr lang="en-CA"/>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MLM</a:t>
            </a:r>
            <a:r>
              <a:rPr dirty="0"/>
              <a:t> problem: easy to fit, hard to see</a:t>
            </a:r>
          </a:p>
        </p:txBody>
      </p:sp>
      <p:sp>
        <p:nvSpPr>
          <p:cNvPr id="3" name="Content Placeholder 2"/>
          <p:cNvSpPr>
            <a:spLocks noGrp="1"/>
          </p:cNvSpPr>
          <p:nvPr>
            <p:ph sz="half" idx="1"/>
          </p:nvPr>
        </p:nvSpPr>
        <p:spPr/>
        <p:txBody>
          <a:bodyPr/>
          <a:lstStyle/>
          <a:p>
            <a:r>
              <a:rPr dirty="0"/>
              <a:t>With one response, we have a rich toolkit of plots for linear models</a:t>
            </a:r>
          </a:p>
          <a:p>
            <a:r>
              <a:rPr dirty="0"/>
              <a:t>With several responses, </a:t>
            </a:r>
            <a:r>
              <a:rPr dirty="0" err="1"/>
              <a:t>lm</a:t>
            </a:r>
            <a:r>
              <a:rPr dirty="0"/>
              <a:t>(</a:t>
            </a:r>
            <a:r>
              <a:rPr dirty="0" err="1"/>
              <a:t>cbind</a:t>
            </a:r>
            <a:r>
              <a:rPr dirty="0"/>
              <a:t>(y1, y2, y3) ~ ...) is just as easy to fit</a:t>
            </a:r>
            <a:endParaRPr lang="en-CA" dirty="0"/>
          </a:p>
          <a:p>
            <a:r>
              <a:rPr lang="en-CA" dirty="0"/>
              <a:t>Math is beautiful &amp; easy too: y </a:t>
            </a:r>
            <a:r>
              <a:rPr lang="en-CA" dirty="0">
                <a:latin typeface="Cambria Math" panose="02040503050406030204" pitchFamily="18" charset="0"/>
                <a:ea typeface="Cambria Math" panose="02040503050406030204" pitchFamily="18" charset="0"/>
              </a:rPr>
              <a:t>⤳ </a:t>
            </a:r>
            <a:r>
              <a:rPr lang="en-CA" b="1" dirty="0">
                <a:latin typeface="Cambria Math" panose="02040503050406030204" pitchFamily="18" charset="0"/>
                <a:ea typeface="Cambria Math" panose="02040503050406030204" pitchFamily="18" charset="0"/>
              </a:rPr>
              <a:t>Y</a:t>
            </a:r>
            <a:endParaRPr b="1" dirty="0"/>
          </a:p>
          <a:p>
            <a:r>
              <a:rPr dirty="0"/>
              <a:t>But the results arrive as tables of multivariate tests</a:t>
            </a:r>
            <a:r>
              <a:rPr lang="en-CA" dirty="0"/>
              <a:t> </a:t>
            </a:r>
            <a:endParaRPr dirty="0"/>
          </a:p>
          <a:p>
            <a:r>
              <a:rPr dirty="0"/>
              <a:t>Goal: plots that show what those tests mean</a:t>
            </a:r>
            <a:r>
              <a:rPr lang="en-CA" dirty="0"/>
              <a:t>, visual inference?</a:t>
            </a:r>
            <a:endParaRPr dirty="0"/>
          </a:p>
        </p:txBody>
      </p:sp>
      <p:pic>
        <p:nvPicPr>
          <p:cNvPr id="4" name="Picture 3" descr="techniques-table.png"/>
          <p:cNvPicPr>
            <a:picLocks noChangeAspect="1"/>
          </p:cNvPicPr>
          <p:nvPr/>
        </p:nvPicPr>
        <p:blipFill>
          <a:blip r:embed="rId3"/>
          <a:stretch>
            <a:fillRect/>
          </a:stretch>
        </p:blipFill>
        <p:spPr>
          <a:xfrm>
            <a:off x="6068816" y="1508125"/>
            <a:ext cx="5926315" cy="345384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6.1</a:t>
            </a:r>
          </a:p>
        </p:txBody>
      </p:sp>
      <p:sp>
        <p:nvSpPr>
          <p:cNvPr id="6" name="Arrow: Right 5">
            <a:extLst>
              <a:ext uri="{FF2B5EF4-FFF2-40B4-BE49-F238E27FC236}">
                <a16:creationId xmlns:a16="http://schemas.microsoft.com/office/drawing/2014/main" id="{6D7CD635-CA86-50B5-DD23-04F9E0409321}"/>
              </a:ext>
            </a:extLst>
          </p:cNvPr>
          <p:cNvSpPr/>
          <p:nvPr/>
        </p:nvSpPr>
        <p:spPr>
          <a:xfrm>
            <a:off x="7194174" y="4961965"/>
            <a:ext cx="1452285" cy="389965"/>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Rounded Corners 8">
            <a:extLst>
              <a:ext uri="{FF2B5EF4-FFF2-40B4-BE49-F238E27FC236}">
                <a16:creationId xmlns:a16="http://schemas.microsoft.com/office/drawing/2014/main" id="{E613832E-1EF0-5E3E-044A-946E739AFD84}"/>
              </a:ext>
            </a:extLst>
          </p:cNvPr>
          <p:cNvSpPr/>
          <p:nvPr/>
        </p:nvSpPr>
        <p:spPr>
          <a:xfrm>
            <a:off x="6683188" y="1761565"/>
            <a:ext cx="2911464" cy="319834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 name="Graphic 7" descr="Angry face outline with solid fill">
            <a:extLst>
              <a:ext uri="{FF2B5EF4-FFF2-40B4-BE49-F238E27FC236}">
                <a16:creationId xmlns:a16="http://schemas.microsoft.com/office/drawing/2014/main" id="{C781B4D4-3EBB-3404-EA14-5C779757B8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8337" y="4290460"/>
            <a:ext cx="467443" cy="467443"/>
          </a:xfrm>
          <a:prstGeom prst="rect">
            <a:avLst/>
          </a:prstGeom>
        </p:spPr>
      </p:pic>
      <p:pic>
        <p:nvPicPr>
          <p:cNvPr id="11" name="Graphic 10" descr="Angel face outline with solid fill">
            <a:extLst>
              <a:ext uri="{FF2B5EF4-FFF2-40B4-BE49-F238E27FC236}">
                <a16:creationId xmlns:a16="http://schemas.microsoft.com/office/drawing/2014/main" id="{1E4FE850-C800-2417-5B77-7A99C0129D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09949" y="5117930"/>
            <a:ext cx="468000" cy="468000"/>
          </a:xfrm>
          <a:prstGeom prst="rect">
            <a:avLst/>
          </a:prstGeom>
        </p:spPr>
      </p:pic>
      <p:sp>
        <p:nvSpPr>
          <p:cNvPr id="12" name="Slide Number Placeholder 12"/>
          <p:cNvSpPr>
            <a:spLocks noGrp="1"/>
          </p:cNvSpPr>
          <p:nvPr>
            <p:ph type="sldNum" sz="quarter" idx="12"/>
          </p:nvPr>
        </p:nvSpPr>
        <p:spPr/>
        <p:txBody>
          <a:bodyPr/>
          <a:lstStyle/>
          <a:p>
            <a:fld id="{9BFB2853-4965-4727-91C4-384EB30D99A4}" type="slidenum">
              <a:rPr lang="en-CA"/>
              <a:t>9</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 calcmode="lin" valueType="num">
                                      <p:cBhvr additive="base">
                                        <p:cTn id="9" dur="500" fill="hold"/>
                                        <p:tgtEl>
                                          <p:spTgt spid="8"/>
                                        </p:tgtEl>
                                        <p:attrNameLst>
                                          <p:attrName>ppt_x</p:attrName>
                                        </p:attrNameLst>
                                      </p:cBhvr>
                                      <p:tavLst>
                                        <p:tav tm="0">
                                          <p:val>
                                            <p:strVal val="#ppt_x"/>
                                          </p:val>
                                        </p:tav>
                                        <p:tav tm="100000">
                                          <p:val>
                                            <p:strVal val="#ppt_x"/>
                                          </p:val>
                                        </p:tav>
                                      </p:tavLst>
                                    </p:anim>
                                    <p:anim calcmode="lin" valueType="num">
                                      <p:cBhvr additive="base">
                                        <p:cTn id="1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Three penguins walking, with data ellipses">
            <a:extLst>
              <a:ext uri="{FF2B5EF4-FFF2-40B4-BE49-F238E27FC236}">
                <a16:creationId xmlns:a16="http://schemas.microsoft.com/office/drawing/2014/main" id="{3139B4EB-ECB5-A62E-A0B0-F5445F7851A8}"/>
              </a:ext>
            </a:extLst>
          </p:cNvPr>
          <p:cNvPicPr>
            <a:picLocks noChangeAspect="1"/>
          </p:cNvPicPr>
          <p:nvPr/>
        </p:nvPicPr>
        <p:blipFill>
          <a:blip r:embed="rId3"/>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7280" y="325550"/>
            <a:ext cx="10058400" cy="3666482"/>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8000" dirty="0">
                <a:solidFill>
                  <a:srgbClr val="FFFFFF"/>
                </a:solidFill>
              </a:rPr>
              <a:t>Seeing multivariate data</a:t>
            </a:r>
          </a:p>
        </p:txBody>
      </p:sp>
      <p:sp>
        <p:nvSpPr>
          <p:cNvPr id="3" name="Text Placeholder 2"/>
          <p:cNvSpPr>
            <a:spLocks noGrp="1"/>
          </p:cNvSpPr>
          <p:nvPr>
            <p:ph type="body" idx="1"/>
          </p:nvPr>
        </p:nvSpPr>
        <p:spPr>
          <a:xfrm>
            <a:off x="1097280" y="6007100"/>
            <a:ext cx="10058400" cy="645355"/>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sz="2800" dirty="0">
                <a:solidFill>
                  <a:schemeClr val="tx1"/>
                </a:solidFill>
              </a:rPr>
              <a:t>Data ellipses, penguins, and looking at many variables at once</a:t>
            </a:r>
          </a:p>
        </p:txBody>
      </p:sp>
      <p:pic>
        <p:nvPicPr>
          <p:cNvPr id="5" name="Picture 4" descr="fig-peng-ggplot1-1.png">
            <a:extLst>
              <a:ext uri="{FF2B5EF4-FFF2-40B4-BE49-F238E27FC236}">
                <a16:creationId xmlns:a16="http://schemas.microsoft.com/office/drawing/2014/main" id="{6E39EAD4-0504-7D4A-931A-1C933D3D21A2}"/>
              </a:ext>
            </a:extLst>
          </p:cNvPr>
          <p:cNvPicPr>
            <a:picLocks noChangeAspect="1"/>
          </p:cNvPicPr>
          <p:nvPr/>
        </p:nvPicPr>
        <p:blipFill>
          <a:blip r:embed="rId4"/>
          <a:stretch>
            <a:fillRect/>
          </a:stretch>
        </p:blipFill>
        <p:spPr>
          <a:xfrm>
            <a:off x="348488" y="424820"/>
            <a:ext cx="2178932" cy="1556380"/>
          </a:xfrm>
          <a:prstGeom prst="rect">
            <a:avLst/>
          </a:prstGeom>
        </p:spPr>
      </p:pic>
      <p:pic>
        <p:nvPicPr>
          <p:cNvPr id="7" name="Picture 6">
            <a:extLst>
              <a:ext uri="{FF2B5EF4-FFF2-40B4-BE49-F238E27FC236}">
                <a16:creationId xmlns:a16="http://schemas.microsoft.com/office/drawing/2014/main" id="{C93F1C11-5B63-1B14-ECC3-A5F3A8898BDD}"/>
              </a:ext>
            </a:extLst>
          </p:cNvPr>
          <p:cNvPicPr>
            <a:picLocks noChangeAspect="1"/>
          </p:cNvPicPr>
          <p:nvPr/>
        </p:nvPicPr>
        <p:blipFill>
          <a:blip r:embed="rId5"/>
          <a:stretch>
            <a:fillRect/>
          </a:stretch>
        </p:blipFill>
        <p:spPr>
          <a:xfrm>
            <a:off x="10209005" y="4083276"/>
            <a:ext cx="1771429" cy="1809524"/>
          </a:xfrm>
          <a:prstGeom prst="rect">
            <a:avLst/>
          </a:prstGeom>
        </p:spPr>
      </p:pic>
      <p:sp>
        <p:nvSpPr>
          <p:cNvPr id="14" name="Slide Number Placeholder 14"/>
          <p:cNvSpPr>
            <a:spLocks noGrp="1"/>
          </p:cNvSpPr>
          <p:nvPr>
            <p:ph type="sldNum" sz="quarter" idx="12"/>
          </p:nvPr>
        </p:nvSpPr>
        <p:spPr/>
        <p:txBody>
          <a:bodyPr/>
          <a:lstStyle/>
          <a:p>
            <a:fld id="{9BFB2853-4965-4727-91C4-384EB30D99A4}" type="slidenum">
              <a:rPr lang="en-CA"/>
              <a:t>10</a:t>
            </a:fld>
            <a:endParaRPr lang="en-CA"/>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618781" y="331786"/>
            <a:ext cx="8229600" cy="838200"/>
          </a:xfrm>
        </p:spPr>
        <p:txBody>
          <a:bodyPr>
            <a:normAutofit fontScale="90000"/>
          </a:bodyPr>
          <a:lstStyle/>
          <a:p>
            <a:pPr>
              <a:lnSpc>
                <a:spcPct val="85000"/>
              </a:lnSpc>
            </a:pPr>
            <a:r>
              <a:rPr lang="en-US" altLang="en-US" sz="3200" dirty="0"/>
              <a:t>Galton’s visual discovery:</a:t>
            </a:r>
            <a:br>
              <a:rPr lang="en-US" altLang="en-US" sz="3200" dirty="0"/>
            </a:br>
            <a:r>
              <a:rPr lang="en-US" altLang="en-US" sz="3200" dirty="0"/>
              <a:t> </a:t>
            </a:r>
            <a:r>
              <a:rPr lang="en-US" altLang="en-US" sz="2400" dirty="0"/>
              <a:t>Bivariate normal correlation surface (1886)</a:t>
            </a:r>
          </a:p>
        </p:txBody>
      </p:sp>
      <p:pic>
        <p:nvPicPr>
          <p:cNvPr id="78851" name="Picture 3" descr="galton-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2483" y="1355797"/>
            <a:ext cx="8492935" cy="5148000"/>
          </a:xfrm>
          <a:prstGeom prst="rect">
            <a:avLst/>
          </a:prstGeom>
          <a:noFill/>
          <a:extLst>
            <a:ext uri="{909E8E84-426E-40DD-AFC4-6F175D3DCCD1}">
              <a14:hiddenFill xmlns:a14="http://schemas.microsoft.com/office/drawing/2010/main">
                <a:solidFill>
                  <a:srgbClr val="FFFFFF"/>
                </a:solidFill>
              </a14:hiddenFill>
            </a:ext>
          </a:extLst>
        </p:spPr>
      </p:pic>
      <p:sp>
        <p:nvSpPr>
          <p:cNvPr id="78852" name="Slide Number Placeholder 78852"/>
          <p:cNvSpPr>
            <a:spLocks noGrp="1"/>
          </p:cNvSpPr>
          <p:nvPr>
            <p:ph type="sldNum" sz="quarter" idx="12"/>
          </p:nvPr>
        </p:nvSpPr>
        <p:spPr/>
        <p:txBody>
          <a:bodyPr/>
          <a:lstStyle/>
          <a:p>
            <a:fld id="{9BFB2853-4965-4727-91C4-384EB30D99A4}" type="slidenum">
              <a:rPr lang="en-CA"/>
              <a:t>11</a:t>
            </a:fld>
            <a:endParaRPr lang="en-CA"/>
          </a:p>
        </p:txBody>
      </p:sp>
    </p:spTree>
    <p:extLst>
      <p:ext uri="{BB962C8B-B14F-4D97-AF65-F5344CB8AC3E}">
        <p14:creationId xmlns:p14="http://schemas.microsoft.com/office/powerpoint/2010/main" val="733946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684882" y="327024"/>
            <a:ext cx="8229600" cy="793438"/>
          </a:xfrm>
        </p:spPr>
        <p:txBody>
          <a:bodyPr/>
          <a:lstStyle/>
          <a:p>
            <a:pPr>
              <a:lnSpc>
                <a:spcPct val="85000"/>
              </a:lnSpc>
            </a:pPr>
            <a:r>
              <a:rPr lang="en-US" altLang="en-US" sz="3200" dirty="0"/>
              <a:t>Visual smoothing </a:t>
            </a:r>
            <a:r>
              <a:rPr lang="en-US" altLang="en-US" sz="3200" dirty="0">
                <a:sym typeface="Symbol" panose="05050102010706020507" pitchFamily="18" charset="2"/>
              </a:rPr>
              <a:t></a:t>
            </a:r>
            <a:r>
              <a:rPr lang="en-US" altLang="en-US" sz="3200" dirty="0"/>
              <a:t> Insight</a:t>
            </a:r>
          </a:p>
        </p:txBody>
      </p:sp>
      <p:pic>
        <p:nvPicPr>
          <p:cNvPr id="80899" name="Picture 3" descr="galton-table-merg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2800" y="1213200"/>
            <a:ext cx="8578876" cy="5148000"/>
          </a:xfrm>
          <a:prstGeom prst="rect">
            <a:avLst/>
          </a:prstGeom>
          <a:noFill/>
          <a:extLst>
            <a:ext uri="{909E8E84-426E-40DD-AFC4-6F175D3DCCD1}">
              <a14:hiddenFill xmlns:a14="http://schemas.microsoft.com/office/drawing/2010/main">
                <a:solidFill>
                  <a:srgbClr val="FFFFFF"/>
                </a:solidFill>
              </a14:hiddenFill>
            </a:ext>
          </a:extLst>
        </p:spPr>
      </p:pic>
      <p:sp>
        <p:nvSpPr>
          <p:cNvPr id="80900" name="Slide Number Placeholder 80900"/>
          <p:cNvSpPr>
            <a:spLocks noGrp="1"/>
          </p:cNvSpPr>
          <p:nvPr>
            <p:ph type="sldNum" sz="quarter" idx="12"/>
          </p:nvPr>
        </p:nvSpPr>
        <p:spPr/>
        <p:txBody>
          <a:bodyPr/>
          <a:lstStyle/>
          <a:p>
            <a:fld id="{9BFB2853-4965-4727-91C4-384EB30D99A4}" type="slidenum">
              <a:rPr lang="en-CA"/>
              <a:t>12</a:t>
            </a:fld>
            <a:endParaRPr lang="en-CA"/>
          </a:p>
        </p:txBody>
      </p:sp>
    </p:spTree>
    <p:extLst>
      <p:ext uri="{BB962C8B-B14F-4D97-AF65-F5344CB8AC3E}">
        <p14:creationId xmlns:p14="http://schemas.microsoft.com/office/powerpoint/2010/main" val="1904790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650082" y="466726"/>
            <a:ext cx="8229600" cy="731372"/>
          </a:xfrm>
        </p:spPr>
        <p:txBody>
          <a:bodyPr/>
          <a:lstStyle/>
          <a:p>
            <a:pPr>
              <a:lnSpc>
                <a:spcPct val="85000"/>
              </a:lnSpc>
            </a:pPr>
            <a:r>
              <a:rPr lang="en-US" altLang="en-US" sz="3200" dirty="0"/>
              <a:t>Visual insight </a:t>
            </a:r>
            <a:r>
              <a:rPr lang="en-US" altLang="en-US" sz="3200" dirty="0">
                <a:sym typeface="Symbol" panose="05050102010706020507" pitchFamily="18" charset="2"/>
              </a:rPr>
              <a:t></a:t>
            </a:r>
            <a:r>
              <a:rPr lang="en-US" altLang="en-US" sz="3200" dirty="0"/>
              <a:t> Theory (the OMG! moment)</a:t>
            </a:r>
          </a:p>
        </p:txBody>
      </p:sp>
      <p:pic>
        <p:nvPicPr>
          <p:cNvPr id="82947" name="Picture 3" descr="galton-cor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294438" y="1643063"/>
            <a:ext cx="5416550" cy="4591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948" name="Text Box 4"/>
          <p:cNvSpPr txBox="1">
            <a:spLocks noChangeArrowheads="1"/>
          </p:cNvSpPr>
          <p:nvPr/>
        </p:nvSpPr>
        <p:spPr bwMode="auto">
          <a:xfrm>
            <a:off x="816072" y="1320335"/>
            <a:ext cx="5478366" cy="10156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buFontTx/>
              <a:buChar char="•"/>
            </a:pPr>
            <a:r>
              <a:rPr lang="en-US" altLang="en-US" sz="2000" dirty="0">
                <a:solidFill>
                  <a:schemeClr val="tx2"/>
                </a:solidFill>
                <a:cs typeface="Arial" charset="0"/>
              </a:rPr>
              <a:t> 3D Level curves are </a:t>
            </a:r>
            <a:r>
              <a:rPr lang="en-US" altLang="en-US" sz="2000" b="1" dirty="0">
                <a:solidFill>
                  <a:schemeClr val="tx2"/>
                </a:solidFill>
                <a:cs typeface="Arial" charset="0"/>
              </a:rPr>
              <a:t>ellipses</a:t>
            </a:r>
          </a:p>
          <a:p>
            <a:pPr algn="l">
              <a:buFontTx/>
              <a:buChar char="•"/>
            </a:pPr>
            <a:r>
              <a:rPr lang="en-US" altLang="en-US" sz="2000" dirty="0">
                <a:solidFill>
                  <a:schemeClr val="tx2"/>
                </a:solidFill>
                <a:cs typeface="Arial" charset="0"/>
              </a:rPr>
              <a:t> Regression lines are loci of conjugate </a:t>
            </a:r>
            <a:r>
              <a:rPr lang="en-US" altLang="en-US" sz="2000" b="1" dirty="0">
                <a:solidFill>
                  <a:schemeClr val="tx2"/>
                </a:solidFill>
                <a:cs typeface="Arial" charset="0"/>
              </a:rPr>
              <a:t>tangents</a:t>
            </a:r>
          </a:p>
          <a:p>
            <a:pPr algn="l">
              <a:buFontTx/>
              <a:buChar char="•"/>
            </a:pPr>
            <a:r>
              <a:rPr lang="en-US" altLang="en-US" sz="2000" b="1" dirty="0">
                <a:solidFill>
                  <a:schemeClr val="tx2"/>
                </a:solidFill>
                <a:cs typeface="Arial" charset="0"/>
              </a:rPr>
              <a:t> </a:t>
            </a:r>
            <a:r>
              <a:rPr lang="en-US" altLang="en-US" sz="2000" dirty="0">
                <a:solidFill>
                  <a:schemeClr val="tx2"/>
                </a:solidFill>
                <a:cs typeface="Arial" charset="0"/>
              </a:rPr>
              <a:t>PCA dims are </a:t>
            </a:r>
            <a:r>
              <a:rPr lang="en-US" altLang="en-US" sz="2000" b="1" dirty="0">
                <a:solidFill>
                  <a:schemeClr val="tx2"/>
                </a:solidFill>
                <a:cs typeface="Arial" charset="0"/>
              </a:rPr>
              <a:t>major / minor axes</a:t>
            </a:r>
          </a:p>
        </p:txBody>
      </p:sp>
      <p:sp>
        <p:nvSpPr>
          <p:cNvPr id="82949" name="Text Box 5"/>
          <p:cNvSpPr txBox="1">
            <a:spLocks noChangeArrowheads="1"/>
          </p:cNvSpPr>
          <p:nvPr/>
        </p:nvSpPr>
        <p:spPr bwMode="auto">
          <a:xfrm>
            <a:off x="816072" y="5054600"/>
            <a:ext cx="4777904" cy="10772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sz="1600" i="1" dirty="0">
                <a:solidFill>
                  <a:schemeClr val="tx2"/>
                </a:solidFill>
                <a:cs typeface="Arial" charset="0"/>
              </a:rPr>
              <a:t>… that Galton should have evolved all this … is to my mind one of the most note-worthy scientific discoveries arising from analysis of pure observation</a:t>
            </a:r>
            <a:r>
              <a:rPr lang="en-US" altLang="en-US" sz="1600" dirty="0">
                <a:solidFill>
                  <a:schemeClr val="tx2"/>
                </a:solidFill>
                <a:cs typeface="Arial" charset="0"/>
              </a:rPr>
              <a:t> (Pearson 1920, p37) </a:t>
            </a:r>
          </a:p>
        </p:txBody>
      </p:sp>
      <p:sp>
        <p:nvSpPr>
          <p:cNvPr id="82950" name="Text Box 6"/>
          <p:cNvSpPr txBox="1">
            <a:spLocks noChangeArrowheads="1"/>
          </p:cNvSpPr>
          <p:nvPr/>
        </p:nvSpPr>
        <p:spPr bwMode="auto">
          <a:xfrm>
            <a:off x="6294439" y="6367464"/>
            <a:ext cx="5170487" cy="27463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200">
                <a:solidFill>
                  <a:schemeClr val="tx2"/>
                </a:solidFill>
                <a:cs typeface="Arial" charset="0"/>
              </a:rPr>
              <a:t>Galton (1886, Pl X): Smoothed contours of heights of parents and children</a:t>
            </a:r>
          </a:p>
        </p:txBody>
      </p:sp>
      <p:pic>
        <p:nvPicPr>
          <p:cNvPr id="82951" name="Picture 7" descr="galton-kdes-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5952" y="2477995"/>
            <a:ext cx="2843213" cy="2319338"/>
          </a:xfrm>
          <a:prstGeom prst="rect">
            <a:avLst/>
          </a:prstGeom>
          <a:noFill/>
          <a:extLst>
            <a:ext uri="{909E8E84-426E-40DD-AFC4-6F175D3DCCD1}">
              <a14:hiddenFill xmlns:a14="http://schemas.microsoft.com/office/drawing/2010/main">
                <a:solidFill>
                  <a:srgbClr val="FFFFFF"/>
                </a:solidFill>
              </a14:hiddenFill>
            </a:ext>
          </a:extLst>
        </p:spPr>
      </p:pic>
      <p:sp>
        <p:nvSpPr>
          <p:cNvPr id="82952" name="Slide Number Placeholder 82952"/>
          <p:cNvSpPr>
            <a:spLocks noGrp="1"/>
          </p:cNvSpPr>
          <p:nvPr>
            <p:ph type="sldNum" sz="quarter" idx="12"/>
          </p:nvPr>
        </p:nvSpPr>
        <p:spPr/>
        <p:txBody>
          <a:bodyPr/>
          <a:lstStyle/>
          <a:p>
            <a:fld id="{9BFB2853-4965-4727-91C4-384EB30D99A4}" type="slidenum">
              <a:rPr lang="en-CA"/>
              <a:t>13</a:t>
            </a:fld>
            <a:endParaRPr lang="en-CA"/>
          </a:p>
        </p:txBody>
      </p:sp>
    </p:spTree>
    <p:extLst>
      <p:ext uri="{BB962C8B-B14F-4D97-AF65-F5344CB8AC3E}">
        <p14:creationId xmlns:p14="http://schemas.microsoft.com/office/powerpoint/2010/main" val="4118619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2880"/>
            <a:ext cx="10972800" cy="1143000"/>
          </a:xfrm>
        </p:spPr>
        <p:txBody>
          <a:bodyPr>
            <a:normAutofit fontScale="90000"/>
          </a:bodyPr>
          <a:lstStyle/>
          <a:p>
            <a:r>
              <a:rPr lang="en-CA" dirty="0"/>
              <a:t>The data ellipse summarizes means, spread &amp; correlation – a </a:t>
            </a:r>
            <a:r>
              <a:rPr lang="en-CA" b="1" dirty="0"/>
              <a:t>sufficient visual summary </a:t>
            </a:r>
            <a:r>
              <a:rPr lang="en-CA" dirty="0"/>
              <a:t>for </a:t>
            </a:r>
            <a:r>
              <a:rPr lang="en-CA" i="1" dirty="0"/>
              <a:t>N</a:t>
            </a:r>
            <a:r>
              <a:rPr lang="en-CA" dirty="0"/>
              <a:t>(µ, </a:t>
            </a:r>
            <a:r>
              <a:rPr lang="el-GR" dirty="0">
                <a:latin typeface="Cambria Math" panose="02040503050406030204" pitchFamily="18" charset="0"/>
                <a:ea typeface="Cambria Math" panose="02040503050406030204" pitchFamily="18" charset="0"/>
              </a:rPr>
              <a:t>Σ</a:t>
            </a:r>
            <a:r>
              <a:rPr lang="en-CA" dirty="0">
                <a:latin typeface="Cambria Math" panose="02040503050406030204" pitchFamily="18" charset="0"/>
                <a:ea typeface="Cambria Math" panose="02040503050406030204" pitchFamily="18" charset="0"/>
              </a:rPr>
              <a:t>)</a:t>
            </a:r>
            <a:endParaRPr lang="en-US" dirty="0"/>
          </a:p>
        </p:txBody>
      </p:sp>
      <p:sp>
        <p:nvSpPr>
          <p:cNvPr id="3" name="Content Placeholder 2"/>
          <p:cNvSpPr>
            <a:spLocks noGrp="1"/>
          </p:cNvSpPr>
          <p:nvPr>
            <p:ph idx="1"/>
          </p:nvPr>
        </p:nvSpPr>
        <p:spPr>
          <a:xfrm>
            <a:off x="838200" y="1635386"/>
            <a:ext cx="10515600" cy="4533900"/>
          </a:xfrm>
        </p:spPr>
        <p:txBody>
          <a:bodyPr/>
          <a:lstStyle/>
          <a:p>
            <a:r>
              <a:rPr lang="en-US" dirty="0"/>
              <a:t>Ellipsoid boundary: </a:t>
            </a:r>
            <a:r>
              <a:rPr lang="en-US" dirty="0" err="1"/>
              <a:t>Mahalanobis</a:t>
            </a:r>
            <a:r>
              <a:rPr lang="en-US" dirty="0"/>
              <a:t>  D</a:t>
            </a:r>
            <a:r>
              <a:rPr lang="en-US" baseline="-25000" dirty="0"/>
              <a:t>M</a:t>
            </a:r>
            <a:r>
              <a:rPr lang="en-US" baseline="30000" dirty="0"/>
              <a:t>2</a:t>
            </a:r>
            <a:r>
              <a:rPr lang="en-US" dirty="0"/>
              <a:t> (</a:t>
            </a:r>
            <a:r>
              <a:rPr lang="en-US" dirty="0" err="1"/>
              <a:t>y</a:t>
            </a:r>
            <a:r>
              <a:rPr lang="en-US" baseline="-25000" dirty="0" err="1"/>
              <a:t>i</a:t>
            </a:r>
            <a:r>
              <a:rPr lang="en-US" dirty="0"/>
              <a:t>) ~ </a:t>
            </a:r>
            <a:r>
              <a:rPr lang="en-US" dirty="0">
                <a:sym typeface="Symbol"/>
              </a:rPr>
              <a:t></a:t>
            </a:r>
            <a:r>
              <a:rPr lang="en-US" baseline="-25000" dirty="0">
                <a:sym typeface="Symbol"/>
              </a:rPr>
              <a:t>p</a:t>
            </a:r>
            <a:r>
              <a:rPr lang="en-US" baseline="30000" dirty="0">
                <a:sym typeface="Symbol"/>
              </a:rPr>
              <a:t>2</a:t>
            </a:r>
            <a:endParaRPr lang="en-US" baseline="30000" dirty="0"/>
          </a:p>
          <a:p>
            <a:pPr lvl="1"/>
            <a:r>
              <a:rPr lang="en-US" i="1" dirty="0"/>
              <a:t>p</a:t>
            </a:r>
            <a:r>
              <a:rPr lang="en-US" dirty="0"/>
              <a:t>=2: shadows generalize </a:t>
            </a:r>
            <a:r>
              <a:rPr lang="en-US" dirty="0" err="1"/>
              <a:t>univariate</a:t>
            </a:r>
            <a:r>
              <a:rPr lang="en-US" dirty="0"/>
              <a:t> </a:t>
            </a:r>
            <a:r>
              <a:rPr lang="en-US" dirty="0">
                <a:solidFill>
                  <a:srgbClr val="FF0000"/>
                </a:solidFill>
              </a:rPr>
              <a:t>confidence intervals</a:t>
            </a:r>
          </a:p>
          <a:p>
            <a:pPr lvl="1"/>
            <a:r>
              <a:rPr lang="en-US" dirty="0"/>
              <a:t>eccentricity: precision; </a:t>
            </a:r>
            <a:r>
              <a:rPr lang="en-US" dirty="0">
                <a:solidFill>
                  <a:srgbClr val="FF0000"/>
                </a:solidFill>
              </a:rPr>
              <a:t>visual estimate </a:t>
            </a:r>
            <a:r>
              <a:rPr lang="en-US" dirty="0"/>
              <a:t>of correlation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0201" y="2819400"/>
            <a:ext cx="6442667" cy="3669334"/>
          </a:xfrm>
          <a:prstGeom prst="rect">
            <a:avLst/>
          </a:prstGeom>
        </p:spPr>
      </p:pic>
      <p:sp>
        <p:nvSpPr>
          <p:cNvPr id="6" name="TextBox 5"/>
          <p:cNvSpPr txBox="1"/>
          <p:nvPr/>
        </p:nvSpPr>
        <p:spPr>
          <a:xfrm>
            <a:off x="10638696" y="3996098"/>
            <a:ext cx="1143000" cy="307777"/>
          </a:xfrm>
          <a:prstGeom prst="rect">
            <a:avLst/>
          </a:prstGeom>
          <a:noFill/>
        </p:spPr>
        <p:txBody>
          <a:bodyPr wrap="square" rtlCol="0">
            <a:spAutoFit/>
          </a:bodyPr>
          <a:lstStyle/>
          <a:p>
            <a:r>
              <a:rPr lang="en-US" sz="1400" dirty="0"/>
              <a:t>r </a:t>
            </a:r>
            <a:r>
              <a:rPr lang="en-US" sz="1400" dirty="0">
                <a:sym typeface="Symbol"/>
              </a:rPr>
              <a:t> 0.5 here</a:t>
            </a:r>
            <a:endParaRPr lang="en-US" sz="1400" dirty="0"/>
          </a:p>
        </p:txBody>
      </p:sp>
      <p:sp>
        <p:nvSpPr>
          <p:cNvPr id="7" name="Right Brace 6"/>
          <p:cNvSpPr/>
          <p:nvPr/>
        </p:nvSpPr>
        <p:spPr>
          <a:xfrm>
            <a:off x="10287000" y="3902336"/>
            <a:ext cx="274320" cy="495300"/>
          </a:xfrm>
          <a:prstGeom prst="rightBrace">
            <a:avLst>
              <a:gd name="adj1" fmla="val 65000"/>
              <a:gd name="adj2" fmla="val 50000"/>
            </a:avLst>
          </a:prstGeom>
          <a:ln w="31750">
            <a:solidFill>
              <a:srgbClr val="FF0000"/>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Slide Number Placeholder 8"/>
          <p:cNvSpPr>
            <a:spLocks noGrp="1"/>
          </p:cNvSpPr>
          <p:nvPr>
            <p:ph type="sldNum" sz="quarter" idx="12"/>
          </p:nvPr>
        </p:nvSpPr>
        <p:spPr/>
        <p:txBody>
          <a:bodyPr/>
          <a:lstStyle/>
          <a:p>
            <a:fld id="{9BFB2853-4965-4727-91C4-384EB30D99A4}" type="slidenum">
              <a:rPr lang="en-CA"/>
              <a:t>14</a:t>
            </a:fld>
            <a:endParaRPr lang="en-CA"/>
          </a:p>
        </p:txBody>
      </p:sp>
      <p:sp>
        <p:nvSpPr>
          <p:cNvPr id="4" name="TextBox 3">
            <a:extLst>
              <a:ext uri="{FF2B5EF4-FFF2-40B4-BE49-F238E27FC236}">
                <a16:creationId xmlns:a16="http://schemas.microsoft.com/office/drawing/2014/main" id="{A77FE8ED-10AA-0457-1A28-238B03B528CD}"/>
              </a:ext>
            </a:extLst>
          </p:cNvPr>
          <p:cNvSpPr txBox="1"/>
          <p:nvPr/>
        </p:nvSpPr>
        <p:spPr>
          <a:xfrm>
            <a:off x="6646683" y="4059082"/>
            <a:ext cx="669702" cy="338554"/>
          </a:xfrm>
          <a:prstGeom prst="rect">
            <a:avLst/>
          </a:prstGeom>
          <a:noFill/>
        </p:spPr>
        <p:txBody>
          <a:bodyPr wrap="square" rtlCol="0">
            <a:spAutoFit/>
          </a:bodyPr>
          <a:lstStyle/>
          <a:p>
            <a:pPr algn="ctr"/>
            <a:r>
              <a:rPr lang="en-CA" sz="1600" b="1" dirty="0">
                <a:solidFill>
                  <a:srgbClr val="0070C0"/>
                </a:solidFill>
              </a:rPr>
              <a:t>40%</a:t>
            </a:r>
          </a:p>
        </p:txBody>
      </p:sp>
      <p:sp>
        <p:nvSpPr>
          <p:cNvPr id="10" name="TextBox 9">
            <a:extLst>
              <a:ext uri="{FF2B5EF4-FFF2-40B4-BE49-F238E27FC236}">
                <a16:creationId xmlns:a16="http://schemas.microsoft.com/office/drawing/2014/main" id="{A70DFDF0-1802-D0F9-BD4D-2F54630A83DC}"/>
              </a:ext>
            </a:extLst>
          </p:cNvPr>
          <p:cNvSpPr txBox="1"/>
          <p:nvPr/>
        </p:nvSpPr>
        <p:spPr>
          <a:xfrm>
            <a:off x="8019580" y="3811432"/>
            <a:ext cx="669702" cy="338554"/>
          </a:xfrm>
          <a:prstGeom prst="rect">
            <a:avLst/>
          </a:prstGeom>
          <a:noFill/>
        </p:spPr>
        <p:txBody>
          <a:bodyPr wrap="square" rtlCol="0">
            <a:spAutoFit/>
          </a:bodyPr>
          <a:lstStyle/>
          <a:p>
            <a:pPr algn="ctr"/>
            <a:r>
              <a:rPr lang="en-CA" sz="1600" b="1" dirty="0">
                <a:solidFill>
                  <a:srgbClr val="FF0000"/>
                </a:solidFill>
              </a:rPr>
              <a:t>68%</a:t>
            </a:r>
          </a:p>
        </p:txBody>
      </p:sp>
      <p:sp>
        <p:nvSpPr>
          <p:cNvPr id="12" name="TextBox 11">
            <a:extLst>
              <a:ext uri="{FF2B5EF4-FFF2-40B4-BE49-F238E27FC236}">
                <a16:creationId xmlns:a16="http://schemas.microsoft.com/office/drawing/2014/main" id="{CFA85B36-96D9-C8EB-B449-2D8C35545C83}"/>
              </a:ext>
            </a:extLst>
          </p:cNvPr>
          <p:cNvSpPr txBox="1"/>
          <p:nvPr/>
        </p:nvSpPr>
        <p:spPr>
          <a:xfrm>
            <a:off x="8853571" y="3429000"/>
            <a:ext cx="669702" cy="338554"/>
          </a:xfrm>
          <a:prstGeom prst="rect">
            <a:avLst/>
          </a:prstGeom>
          <a:noFill/>
        </p:spPr>
        <p:txBody>
          <a:bodyPr wrap="square" rtlCol="0">
            <a:spAutoFit/>
          </a:bodyPr>
          <a:lstStyle/>
          <a:p>
            <a:pPr algn="ctr"/>
            <a:r>
              <a:rPr lang="en-CA" sz="1600" b="1" dirty="0"/>
              <a:t>95%</a:t>
            </a:r>
          </a:p>
        </p:txBody>
      </p:sp>
    </p:spTree>
    <p:extLst>
      <p:ext uri="{BB962C8B-B14F-4D97-AF65-F5344CB8AC3E}">
        <p14:creationId xmlns:p14="http://schemas.microsoft.com/office/powerpoint/2010/main" val="99551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par>
                          <p:cTn id="9" fill="hold">
                            <p:stCondLst>
                              <p:cond delay="0"/>
                            </p:stCondLst>
                            <p:childTnLst>
                              <p:par>
                                <p:cTn id="10" presetID="2" presetClass="entr" presetSubtype="2" fill="hold" grpId="0" nodeType="afterEffect">
                                  <p:stCondLst>
                                    <p:cond delay="10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5E74599-60B8-D4F2-07BA-54E00DEC44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9684" y="936307"/>
            <a:ext cx="2342959" cy="1508125"/>
          </a:xfrm>
          <a:prstGeom prst="rect">
            <a:avLst/>
          </a:prstGeom>
        </p:spPr>
      </p:pic>
      <p:sp>
        <p:nvSpPr>
          <p:cNvPr id="2" name="Title 1"/>
          <p:cNvSpPr>
            <a:spLocks noGrp="1"/>
          </p:cNvSpPr>
          <p:nvPr>
            <p:ph type="title"/>
          </p:nvPr>
        </p:nvSpPr>
        <p:spPr>
          <a:xfrm>
            <a:off x="838200" y="365125"/>
            <a:ext cx="4789868" cy="1143000"/>
          </a:xfrm>
        </p:spPr>
        <p:txBody>
          <a:bodyPr/>
          <a:lstStyle/>
          <a:p>
            <a:r>
              <a:rPr dirty="0"/>
              <a:t>Meet the penguins</a:t>
            </a:r>
          </a:p>
        </p:txBody>
      </p:sp>
      <p:pic>
        <p:nvPicPr>
          <p:cNvPr id="3" name="Picture 2" descr="penguins-horst.png"/>
          <p:cNvPicPr>
            <a:picLocks noChangeAspect="1"/>
          </p:cNvPicPr>
          <p:nvPr/>
        </p:nvPicPr>
        <p:blipFill>
          <a:blip r:embed="rId4"/>
          <a:stretch>
            <a:fillRect/>
          </a:stretch>
        </p:blipFill>
        <p:spPr>
          <a:xfrm>
            <a:off x="725337" y="2129942"/>
            <a:ext cx="5120640" cy="3055315"/>
          </a:xfrm>
          <a:prstGeom prst="rect">
            <a:avLst/>
          </a:prstGeom>
        </p:spPr>
      </p:pic>
      <p:pic>
        <p:nvPicPr>
          <p:cNvPr id="4" name="Picture 3" descr="fig-peng-ggplot1-1.png"/>
          <p:cNvPicPr>
            <a:picLocks noChangeAspect="1"/>
          </p:cNvPicPr>
          <p:nvPr/>
        </p:nvPicPr>
        <p:blipFill>
          <a:blip r:embed="rId5"/>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Three species, four size measures: bill length, bill depth, flipper length, body mass. Artwork: Allison Horst.</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4.17, 4.19</a:t>
            </a:r>
          </a:p>
        </p:txBody>
      </p:sp>
      <p:sp>
        <p:nvSpPr>
          <p:cNvPr id="7" name="Slide Number Placeholder 7"/>
          <p:cNvSpPr>
            <a:spLocks noGrp="1"/>
          </p:cNvSpPr>
          <p:nvPr>
            <p:ph type="sldNum" sz="quarter" idx="12"/>
          </p:nvPr>
        </p:nvSpPr>
        <p:spPr/>
        <p:txBody>
          <a:bodyPr/>
          <a:lstStyle/>
          <a:p>
            <a:fld id="{9BFB2853-4965-4727-91C4-384EB30D99A4}" type="slidenum">
              <a:rPr lang="en-CA"/>
              <a:t>15</a:t>
            </a:fld>
            <a:endParaRPr lang="en-CA"/>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C9A55-FDC9-9AB1-4F6B-B5079890DBD7}"/>
              </a:ext>
            </a:extLst>
          </p:cNvPr>
          <p:cNvSpPr>
            <a:spLocks noGrp="1"/>
          </p:cNvSpPr>
          <p:nvPr>
            <p:ph type="title"/>
          </p:nvPr>
        </p:nvSpPr>
        <p:spPr/>
        <p:txBody>
          <a:bodyPr>
            <a:normAutofit/>
          </a:bodyPr>
          <a:lstStyle/>
          <a:p>
            <a:r>
              <a:rPr lang="en-CA" dirty="0"/>
              <a:t>Data ellipses: Sufficient visual summary</a:t>
            </a:r>
          </a:p>
        </p:txBody>
      </p:sp>
      <p:sp>
        <p:nvSpPr>
          <p:cNvPr id="11" name="TextBox 10">
            <a:extLst>
              <a:ext uri="{FF2B5EF4-FFF2-40B4-BE49-F238E27FC236}">
                <a16:creationId xmlns:a16="http://schemas.microsoft.com/office/drawing/2014/main" id="{F262F993-85E8-DA3F-AF57-8F6D5C5FB71C}"/>
              </a:ext>
            </a:extLst>
          </p:cNvPr>
          <p:cNvSpPr txBox="1"/>
          <p:nvPr/>
        </p:nvSpPr>
        <p:spPr>
          <a:xfrm>
            <a:off x="854839" y="1663432"/>
            <a:ext cx="10360007" cy="1323439"/>
          </a:xfrm>
          <a:prstGeom prst="rect">
            <a:avLst/>
          </a:prstGeom>
          <a:noFill/>
        </p:spPr>
        <p:txBody>
          <a:bodyPr wrap="square" rtlCol="0">
            <a:spAutoFit/>
          </a:bodyPr>
          <a:lstStyle/>
          <a:p>
            <a:r>
              <a:rPr lang="en-CA" sz="2000" dirty="0"/>
              <a:t>Plot annotations are </a:t>
            </a:r>
            <a:r>
              <a:rPr lang="en-CA" sz="2000" b="1" dirty="0"/>
              <a:t>visual summaries </a:t>
            </a:r>
            <a:r>
              <a:rPr lang="en-CA" sz="2000" dirty="0"/>
              <a:t>(ellipse, regression line, conf. band)</a:t>
            </a:r>
          </a:p>
          <a:p>
            <a:pPr marL="285750" indent="-285750">
              <a:buFont typeface="Arial" panose="020B0604020202020204" pitchFamily="34" charset="0"/>
              <a:buChar char="•"/>
            </a:pPr>
            <a:r>
              <a:rPr lang="en-CA" sz="2000" dirty="0"/>
              <a:t>Add </a:t>
            </a:r>
            <a:r>
              <a:rPr lang="en-CA" sz="2000" b="1" dirty="0"/>
              <a:t>data ellipses </a:t>
            </a:r>
            <a:r>
              <a:rPr lang="en-CA" sz="2000" dirty="0"/>
              <a:t>to show w/in group means &amp; scatter (sufficient for N(</a:t>
            </a:r>
            <a:r>
              <a:rPr lang="en-CA" sz="2000" b="1" dirty="0"/>
              <a:t>µ, </a:t>
            </a:r>
            <a:r>
              <a:rPr lang="el-GR" sz="2000" b="1" dirty="0">
                <a:latin typeface="Cambria Math" panose="02040503050406030204" pitchFamily="18" charset="0"/>
                <a:ea typeface="Cambria Math" panose="02040503050406030204" pitchFamily="18" charset="0"/>
              </a:rPr>
              <a:t>Σ</a:t>
            </a:r>
            <a:r>
              <a:rPr lang="en-CA" sz="2000" dirty="0">
                <a:latin typeface="Cambria Math" panose="02040503050406030204" pitchFamily="18" charset="0"/>
                <a:ea typeface="Cambria Math" panose="02040503050406030204" pitchFamily="18" charset="0"/>
              </a:rPr>
              <a:t>))</a:t>
            </a:r>
            <a:endParaRPr lang="en-CA" sz="2000" dirty="0"/>
          </a:p>
          <a:p>
            <a:pPr marL="285750" indent="-285750">
              <a:buFont typeface="Arial" panose="020B0604020202020204" pitchFamily="34" charset="0"/>
              <a:buChar char="•"/>
            </a:pPr>
            <a:r>
              <a:rPr lang="en-CA" sz="2000" dirty="0"/>
              <a:t>Remove the points to show the overall </a:t>
            </a:r>
            <a:r>
              <a:rPr lang="en-CA" sz="2000" b="1" dirty="0"/>
              <a:t>patterns</a:t>
            </a:r>
            <a:r>
              <a:rPr lang="en-CA" sz="2000" dirty="0"/>
              <a:t>: means, shape, corr., precision</a:t>
            </a:r>
          </a:p>
          <a:p>
            <a:pPr marL="285750" indent="-285750">
              <a:buFont typeface="Arial" panose="020B0604020202020204" pitchFamily="34" charset="0"/>
              <a:buChar char="•"/>
            </a:pPr>
            <a:r>
              <a:rPr lang="en-CA" sz="2000" dirty="0"/>
              <a:t>What remains is all that linear models care about (ellipses can be made robust!)</a:t>
            </a:r>
          </a:p>
        </p:txBody>
      </p:sp>
      <p:grpSp>
        <p:nvGrpSpPr>
          <p:cNvPr id="3" name="Group 2">
            <a:extLst>
              <a:ext uri="{FF2B5EF4-FFF2-40B4-BE49-F238E27FC236}">
                <a16:creationId xmlns:a16="http://schemas.microsoft.com/office/drawing/2014/main" id="{41E8FD65-CEE9-7835-E19B-452A0BFF3F5E}"/>
              </a:ext>
            </a:extLst>
          </p:cNvPr>
          <p:cNvGrpSpPr/>
          <p:nvPr/>
        </p:nvGrpSpPr>
        <p:grpSpPr>
          <a:xfrm>
            <a:off x="1788460" y="3127935"/>
            <a:ext cx="2599710" cy="3240000"/>
            <a:chOff x="533400" y="2667000"/>
            <a:chExt cx="2599710" cy="2985995"/>
          </a:xfrm>
        </p:grpSpPr>
        <p:pic>
          <p:nvPicPr>
            <p:cNvPr id="6" name="Picture 5" descr="A diagram of different species&#10;&#10;Description automatically generated with medium confidence">
              <a:extLst>
                <a:ext uri="{FF2B5EF4-FFF2-40B4-BE49-F238E27FC236}">
                  <a16:creationId xmlns:a16="http://schemas.microsoft.com/office/drawing/2014/main" id="{C96AB326-5E7A-3AE2-EEB8-D258C5BC2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880995"/>
              <a:ext cx="2599710" cy="2772000"/>
            </a:xfrm>
            <a:prstGeom prst="rect">
              <a:avLst/>
            </a:prstGeom>
          </p:spPr>
        </p:pic>
        <p:sp>
          <p:nvSpPr>
            <p:cNvPr id="12" name="TextBox 11">
              <a:extLst>
                <a:ext uri="{FF2B5EF4-FFF2-40B4-BE49-F238E27FC236}">
                  <a16:creationId xmlns:a16="http://schemas.microsoft.com/office/drawing/2014/main" id="{B821E6C9-613E-6243-8896-1831A6B770B8}"/>
                </a:ext>
              </a:extLst>
            </p:cNvPr>
            <p:cNvSpPr txBox="1"/>
            <p:nvPr/>
          </p:nvSpPr>
          <p:spPr>
            <a:xfrm>
              <a:off x="914400" y="2667000"/>
              <a:ext cx="2057400" cy="338554"/>
            </a:xfrm>
            <a:prstGeom prst="rect">
              <a:avLst/>
            </a:prstGeom>
            <a:noFill/>
          </p:spPr>
          <p:txBody>
            <a:bodyPr wrap="square" rtlCol="0">
              <a:spAutoFit/>
            </a:bodyPr>
            <a:lstStyle/>
            <a:p>
              <a:r>
                <a:rPr lang="en-CA" sz="1600" dirty="0"/>
                <a:t>Standard scatterplot</a:t>
              </a:r>
            </a:p>
          </p:txBody>
        </p:sp>
      </p:grpSp>
      <p:grpSp>
        <p:nvGrpSpPr>
          <p:cNvPr id="5" name="Group 4">
            <a:extLst>
              <a:ext uri="{FF2B5EF4-FFF2-40B4-BE49-F238E27FC236}">
                <a16:creationId xmlns:a16="http://schemas.microsoft.com/office/drawing/2014/main" id="{AAEEE1DC-761F-3128-02B3-C5765465B0AF}"/>
              </a:ext>
            </a:extLst>
          </p:cNvPr>
          <p:cNvGrpSpPr/>
          <p:nvPr/>
        </p:nvGrpSpPr>
        <p:grpSpPr>
          <a:xfrm>
            <a:off x="4772134" y="3127935"/>
            <a:ext cx="2599713" cy="3240000"/>
            <a:chOff x="3301922" y="2667000"/>
            <a:chExt cx="2599713" cy="2985995"/>
          </a:xfrm>
        </p:grpSpPr>
        <p:pic>
          <p:nvPicPr>
            <p:cNvPr id="8" name="Picture 7" descr="A diagram of different colored circles&#10;&#10;Description automatically generated">
              <a:extLst>
                <a:ext uri="{FF2B5EF4-FFF2-40B4-BE49-F238E27FC236}">
                  <a16:creationId xmlns:a16="http://schemas.microsoft.com/office/drawing/2014/main" id="{638FAB1A-695F-034A-B921-8090B9240B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1922" y="2880995"/>
              <a:ext cx="2599713" cy="2772000"/>
            </a:xfrm>
            <a:prstGeom prst="rect">
              <a:avLst/>
            </a:prstGeom>
          </p:spPr>
        </p:pic>
        <p:sp>
          <p:nvSpPr>
            <p:cNvPr id="13" name="TextBox 12">
              <a:extLst>
                <a:ext uri="{FF2B5EF4-FFF2-40B4-BE49-F238E27FC236}">
                  <a16:creationId xmlns:a16="http://schemas.microsoft.com/office/drawing/2014/main" id="{EF69B037-1D0F-358B-0951-E8D83C58972D}"/>
                </a:ext>
              </a:extLst>
            </p:cNvPr>
            <p:cNvSpPr txBox="1"/>
            <p:nvPr/>
          </p:nvSpPr>
          <p:spPr>
            <a:xfrm>
              <a:off x="3733800" y="2667000"/>
              <a:ext cx="2057400" cy="338554"/>
            </a:xfrm>
            <a:prstGeom prst="rect">
              <a:avLst/>
            </a:prstGeom>
            <a:noFill/>
          </p:spPr>
          <p:txBody>
            <a:bodyPr wrap="square" rtlCol="0">
              <a:spAutoFit/>
            </a:bodyPr>
            <a:lstStyle/>
            <a:p>
              <a:r>
                <a:rPr lang="en-CA" sz="1600" dirty="0"/>
                <a:t>Add data ellipses</a:t>
              </a:r>
            </a:p>
          </p:txBody>
        </p:sp>
      </p:grpSp>
      <p:grpSp>
        <p:nvGrpSpPr>
          <p:cNvPr id="7" name="Group 6">
            <a:extLst>
              <a:ext uri="{FF2B5EF4-FFF2-40B4-BE49-F238E27FC236}">
                <a16:creationId xmlns:a16="http://schemas.microsoft.com/office/drawing/2014/main" id="{BF5B620F-C3FA-F6B3-F441-F8DE91F20E8E}"/>
              </a:ext>
            </a:extLst>
          </p:cNvPr>
          <p:cNvGrpSpPr/>
          <p:nvPr/>
        </p:nvGrpSpPr>
        <p:grpSpPr>
          <a:xfrm>
            <a:off x="7755812" y="3127935"/>
            <a:ext cx="2599713" cy="3240000"/>
            <a:chOff x="6070447" y="2667000"/>
            <a:chExt cx="2599713" cy="2985995"/>
          </a:xfrm>
        </p:grpSpPr>
        <p:pic>
          <p:nvPicPr>
            <p:cNvPr id="10" name="Picture 9" descr="A graph of different colored circles&#10;&#10;Description automatically generated">
              <a:extLst>
                <a:ext uri="{FF2B5EF4-FFF2-40B4-BE49-F238E27FC236}">
                  <a16:creationId xmlns:a16="http://schemas.microsoft.com/office/drawing/2014/main" id="{3E5CC049-3D6F-1FD6-F533-6E17226CA1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70447" y="2880995"/>
              <a:ext cx="2599713" cy="2772000"/>
            </a:xfrm>
            <a:prstGeom prst="rect">
              <a:avLst/>
            </a:prstGeom>
          </p:spPr>
        </p:pic>
        <p:sp>
          <p:nvSpPr>
            <p:cNvPr id="14" name="TextBox 13">
              <a:extLst>
                <a:ext uri="{FF2B5EF4-FFF2-40B4-BE49-F238E27FC236}">
                  <a16:creationId xmlns:a16="http://schemas.microsoft.com/office/drawing/2014/main" id="{7ED490C7-517C-74BC-4FE5-137D1F681835}"/>
                </a:ext>
              </a:extLst>
            </p:cNvPr>
            <p:cNvSpPr txBox="1"/>
            <p:nvPr/>
          </p:nvSpPr>
          <p:spPr>
            <a:xfrm>
              <a:off x="6476414" y="2667000"/>
              <a:ext cx="2057400" cy="338554"/>
            </a:xfrm>
            <a:prstGeom prst="rect">
              <a:avLst/>
            </a:prstGeom>
            <a:noFill/>
          </p:spPr>
          <p:txBody>
            <a:bodyPr wrap="square" rtlCol="0">
              <a:spAutoFit/>
            </a:bodyPr>
            <a:lstStyle/>
            <a:p>
              <a:r>
                <a:rPr lang="en-CA" sz="1600" dirty="0"/>
                <a:t>Remove points</a:t>
              </a:r>
            </a:p>
          </p:txBody>
        </p:sp>
      </p:grpSp>
      <p:sp>
        <p:nvSpPr>
          <p:cNvPr id="15" name="Slide Number Placeholder 15"/>
          <p:cNvSpPr>
            <a:spLocks noGrp="1"/>
          </p:cNvSpPr>
          <p:nvPr>
            <p:ph type="sldNum" sz="quarter" idx="12"/>
          </p:nvPr>
        </p:nvSpPr>
        <p:spPr/>
        <p:txBody>
          <a:bodyPr/>
          <a:lstStyle/>
          <a:p>
            <a:fld id="{9BFB2853-4965-4727-91C4-384EB30D99A4}" type="slidenum">
              <a:rPr lang="en-CA"/>
              <a:t>16</a:t>
            </a:fld>
            <a:endParaRPr lang="en-CA"/>
          </a:p>
        </p:txBody>
      </p:sp>
    </p:spTree>
    <p:extLst>
      <p:ext uri="{BB962C8B-B14F-4D97-AF65-F5344CB8AC3E}">
        <p14:creationId xmlns:p14="http://schemas.microsoft.com/office/powerpoint/2010/main" val="400342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par>
                                <p:cTn id="11" presetID="42"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471160" cy="610235"/>
          </a:xfrm>
        </p:spPr>
        <p:txBody>
          <a:bodyPr>
            <a:normAutofit fontScale="90000"/>
          </a:bodyPr>
          <a:lstStyle/>
          <a:p>
            <a:r>
              <a:rPr dirty="0"/>
              <a:t>What if I'm not Normal?</a:t>
            </a:r>
          </a:p>
        </p:txBody>
      </p:sp>
      <p:grpSp>
        <p:nvGrpSpPr>
          <p:cNvPr id="8" name="Group 7">
            <a:extLst>
              <a:ext uri="{FF2B5EF4-FFF2-40B4-BE49-F238E27FC236}">
                <a16:creationId xmlns:a16="http://schemas.microsoft.com/office/drawing/2014/main" id="{96FE6B5C-712E-4A04-D7B2-10CF77D7153A}"/>
              </a:ext>
            </a:extLst>
          </p:cNvPr>
          <p:cNvGrpSpPr/>
          <p:nvPr/>
        </p:nvGrpSpPr>
        <p:grpSpPr>
          <a:xfrm>
            <a:off x="841248" y="1264920"/>
            <a:ext cx="5568696" cy="4434839"/>
            <a:chOff x="841248" y="1600200"/>
            <a:chExt cx="5568696" cy="4434839"/>
          </a:xfrm>
        </p:grpSpPr>
        <p:pic>
          <p:nvPicPr>
            <p:cNvPr id="3" name="Bagplot" descr="fig-peng-bagplot-1.png"/>
            <p:cNvPicPr>
              <a:picLocks noChangeAspect="1"/>
            </p:cNvPicPr>
            <p:nvPr/>
          </p:nvPicPr>
          <p:blipFill>
            <a:blip r:embed="rId3"/>
            <a:stretch>
              <a:fillRect/>
            </a:stretch>
          </p:blipFill>
          <p:spPr>
            <a:xfrm>
              <a:off x="841248" y="2057400"/>
              <a:ext cx="5568696" cy="3977639"/>
            </a:xfrm>
            <a:prstGeom prst="rect">
              <a:avLst/>
            </a:prstGeom>
          </p:spPr>
        </p:pic>
        <p:sp>
          <p:nvSpPr>
            <p:cNvPr id="5" name="Label bagplot"/>
            <p:cNvSpPr txBox="1"/>
            <p:nvPr/>
          </p:nvSpPr>
          <p:spPr>
            <a:xfrm>
              <a:off x="841248" y="1600200"/>
              <a:ext cx="5568696" cy="411480"/>
            </a:xfrm>
            <a:prstGeom prst="rect">
              <a:avLst/>
            </a:prstGeom>
            <a:noFill/>
          </p:spPr>
          <p:txBody>
            <a:bodyPr wrap="none" lIns="0" rIns="0">
              <a:spAutoFit/>
            </a:bodyPr>
            <a:lstStyle/>
            <a:p>
              <a:pPr algn="ctr"/>
              <a:r>
                <a:rPr sz="2200" b="1" dirty="0" err="1">
                  <a:latin typeface="Consolas"/>
                </a:rPr>
                <a:t>gggda</a:t>
              </a:r>
              <a:r>
                <a:rPr sz="2200" b="1" dirty="0">
                  <a:latin typeface="Consolas"/>
                </a:rPr>
                <a:t>::</a:t>
              </a:r>
              <a:r>
                <a:rPr sz="2200" b="1" dirty="0" err="1">
                  <a:latin typeface="Consolas"/>
                </a:rPr>
                <a:t>geom_bagplot</a:t>
              </a:r>
              <a:r>
                <a:rPr sz="2200" b="1" dirty="0">
                  <a:latin typeface="Consolas"/>
                </a:rPr>
                <a:t>()</a:t>
              </a:r>
            </a:p>
          </p:txBody>
        </p:sp>
      </p:grpSp>
      <p:grpSp>
        <p:nvGrpSpPr>
          <p:cNvPr id="9" name="Group 8">
            <a:extLst>
              <a:ext uri="{FF2B5EF4-FFF2-40B4-BE49-F238E27FC236}">
                <a16:creationId xmlns:a16="http://schemas.microsoft.com/office/drawing/2014/main" id="{30FD26DA-DF6B-7E03-9FCB-CAAEAAA07D79}"/>
              </a:ext>
            </a:extLst>
          </p:cNvPr>
          <p:cNvGrpSpPr/>
          <p:nvPr/>
        </p:nvGrpSpPr>
        <p:grpSpPr>
          <a:xfrm>
            <a:off x="6775704" y="1264920"/>
            <a:ext cx="4387102" cy="4434839"/>
            <a:chOff x="6775704" y="1600200"/>
            <a:chExt cx="4387102" cy="4434839"/>
          </a:xfrm>
        </p:grpSpPr>
        <p:pic>
          <p:nvPicPr>
            <p:cNvPr id="4" name="HDR" descr="peng-hdr-panel.png"/>
            <p:cNvPicPr>
              <a:picLocks noChangeAspect="1"/>
            </p:cNvPicPr>
            <p:nvPr/>
          </p:nvPicPr>
          <p:blipFill>
            <a:blip r:embed="rId4"/>
            <a:stretch>
              <a:fillRect/>
            </a:stretch>
          </p:blipFill>
          <p:spPr>
            <a:xfrm>
              <a:off x="6775704" y="2057400"/>
              <a:ext cx="4387102" cy="3977639"/>
            </a:xfrm>
            <a:prstGeom prst="rect">
              <a:avLst/>
            </a:prstGeom>
          </p:spPr>
        </p:pic>
        <p:sp>
          <p:nvSpPr>
            <p:cNvPr id="6" name="Label hdr"/>
            <p:cNvSpPr txBox="1"/>
            <p:nvPr/>
          </p:nvSpPr>
          <p:spPr>
            <a:xfrm>
              <a:off x="6775704" y="1600200"/>
              <a:ext cx="4387102" cy="411480"/>
            </a:xfrm>
            <a:prstGeom prst="rect">
              <a:avLst/>
            </a:prstGeom>
            <a:noFill/>
          </p:spPr>
          <p:txBody>
            <a:bodyPr wrap="none" lIns="0" rIns="0">
              <a:spAutoFit/>
            </a:bodyPr>
            <a:lstStyle/>
            <a:p>
              <a:pPr algn="ctr"/>
              <a:r>
                <a:rPr sz="2200" b="1" dirty="0" err="1">
                  <a:latin typeface="Consolas"/>
                </a:rPr>
                <a:t>ggdensity</a:t>
              </a:r>
              <a:r>
                <a:rPr sz="2200" b="1" dirty="0">
                  <a:latin typeface="Consolas"/>
                </a:rPr>
                <a:t>::</a:t>
              </a:r>
              <a:r>
                <a:rPr sz="2200" b="1" dirty="0" err="1">
                  <a:latin typeface="Consolas"/>
                </a:rPr>
                <a:t>geom_hdr</a:t>
              </a:r>
              <a:r>
                <a:rPr sz="2200" b="1" dirty="0">
                  <a:latin typeface="Consolas"/>
                </a:rPr>
                <a:t>()</a:t>
              </a:r>
            </a:p>
          </p:txBody>
        </p:sp>
      </p:grpSp>
      <p:sp>
        <p:nvSpPr>
          <p:cNvPr id="7"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4.21, 4.22</a:t>
            </a:r>
          </a:p>
        </p:txBody>
      </p:sp>
      <p:sp>
        <p:nvSpPr>
          <p:cNvPr id="10" name="TextBox 9">
            <a:extLst>
              <a:ext uri="{FF2B5EF4-FFF2-40B4-BE49-F238E27FC236}">
                <a16:creationId xmlns:a16="http://schemas.microsoft.com/office/drawing/2014/main" id="{48F2FAAE-DE0D-5C94-D28A-0B87FDF080EE}"/>
              </a:ext>
            </a:extLst>
          </p:cNvPr>
          <p:cNvSpPr txBox="1"/>
          <p:nvPr/>
        </p:nvSpPr>
        <p:spPr>
          <a:xfrm>
            <a:off x="6409944" y="459740"/>
            <a:ext cx="5379720" cy="369332"/>
          </a:xfrm>
          <a:prstGeom prst="rect">
            <a:avLst/>
          </a:prstGeom>
          <a:noFill/>
        </p:spPr>
        <p:txBody>
          <a:bodyPr wrap="square" rtlCol="0">
            <a:spAutoFit/>
          </a:bodyPr>
          <a:lstStyle/>
          <a:p>
            <a:r>
              <a:rPr lang="en-CA" dirty="0"/>
              <a:t>Don’t worry: there are non-parametric alternatives</a:t>
            </a:r>
          </a:p>
        </p:txBody>
      </p:sp>
      <p:sp>
        <p:nvSpPr>
          <p:cNvPr id="11" name="TextBox 10">
            <a:extLst>
              <a:ext uri="{FF2B5EF4-FFF2-40B4-BE49-F238E27FC236}">
                <a16:creationId xmlns:a16="http://schemas.microsoft.com/office/drawing/2014/main" id="{6CF2FA7F-2D02-2C0C-6B3A-58CEA7D80EDF}"/>
              </a:ext>
            </a:extLst>
          </p:cNvPr>
          <p:cNvSpPr txBox="1"/>
          <p:nvPr/>
        </p:nvSpPr>
        <p:spPr>
          <a:xfrm>
            <a:off x="1290320" y="5699759"/>
            <a:ext cx="9692640" cy="655321"/>
          </a:xfrm>
          <a:prstGeom prst="rect">
            <a:avLst/>
          </a:prstGeom>
          <a:noFill/>
        </p:spPr>
        <p:txBody>
          <a:bodyPr wrap="square" rtlCol="0">
            <a:spAutoFit/>
          </a:bodyPr>
          <a:lstStyle/>
          <a:p>
            <a:r>
              <a:rPr lang="en-CA" dirty="0"/>
              <a:t>Bags and high-density regions don't assume normality, yet for the penguins they come out nearly elliptical</a:t>
            </a:r>
          </a:p>
        </p:txBody>
      </p:sp>
      <p:sp>
        <p:nvSpPr>
          <p:cNvPr id="12" name="Slide Number Placeholder 12"/>
          <p:cNvSpPr>
            <a:spLocks noGrp="1"/>
          </p:cNvSpPr>
          <p:nvPr>
            <p:ph type="sldNum" sz="quarter" idx="12"/>
          </p:nvPr>
        </p:nvSpPr>
        <p:spPr/>
        <p:txBody>
          <a:bodyPr/>
          <a:lstStyle/>
          <a:p>
            <a:fld id="{9BFB2853-4965-4727-91C4-384EB30D99A4}" type="slidenum">
              <a:rPr lang="en-CA"/>
              <a:t>17</a:t>
            </a:fld>
            <a:endParaRPr lang="en-CA"/>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Simpson's paradox: marginal </a:t>
            </a:r>
            <a:r>
              <a:rPr lang="en-CA" dirty="0"/>
              <a:t>&amp;</a:t>
            </a:r>
            <a:r>
              <a:rPr dirty="0"/>
              <a:t> conditional relations</a:t>
            </a:r>
          </a:p>
        </p:txBody>
      </p:sp>
      <p:pic>
        <p:nvPicPr>
          <p:cNvPr id="6" name="Ignoring species" descr="peng-simpsons-1-ignoring.png"/>
          <p:cNvPicPr>
            <a:picLocks noChangeAspect="1"/>
          </p:cNvPicPr>
          <p:nvPr/>
        </p:nvPicPr>
        <p:blipFill>
          <a:blip r:embed="rId3"/>
          <a:stretch>
            <a:fillRect/>
          </a:stretch>
        </p:blipFill>
        <p:spPr>
          <a:xfrm>
            <a:off x="841248" y="1639531"/>
            <a:ext cx="3505200" cy="3505199"/>
          </a:xfrm>
          <a:prstGeom prst="rect">
            <a:avLst/>
          </a:prstGeom>
        </p:spPr>
      </p:pic>
      <p:pic>
        <p:nvPicPr>
          <p:cNvPr id="7" name="By species" descr="peng-simpsons-2-by.png"/>
          <p:cNvPicPr>
            <a:picLocks noChangeAspect="1"/>
          </p:cNvPicPr>
          <p:nvPr/>
        </p:nvPicPr>
        <p:blipFill>
          <a:blip r:embed="rId4"/>
          <a:stretch>
            <a:fillRect/>
          </a:stretch>
        </p:blipFill>
        <p:spPr>
          <a:xfrm>
            <a:off x="4346448" y="1639531"/>
            <a:ext cx="3505200" cy="3505199"/>
          </a:xfrm>
          <a:prstGeom prst="rect">
            <a:avLst/>
          </a:prstGeom>
        </p:spPr>
      </p:pic>
      <p:pic>
        <p:nvPicPr>
          <p:cNvPr id="8" name="Within species" descr="peng-simpsons-3-within.png"/>
          <p:cNvPicPr>
            <a:picLocks noChangeAspect="1"/>
          </p:cNvPicPr>
          <p:nvPr/>
        </p:nvPicPr>
        <p:blipFill>
          <a:blip r:embed="rId5"/>
          <a:stretch>
            <a:fillRect/>
          </a:stretch>
        </p:blipFill>
        <p:spPr>
          <a:xfrm>
            <a:off x="7851648" y="1639531"/>
            <a:ext cx="3505200" cy="3505199"/>
          </a:xfrm>
          <a:prstGeom prst="rect">
            <a:avLst/>
          </a:prstGeom>
        </p:spPr>
      </p:pic>
      <p:sp>
        <p:nvSpPr>
          <p:cNvPr id="4" name="TextBox 3"/>
          <p:cNvSpPr txBox="1"/>
          <p:nvPr/>
        </p:nvSpPr>
        <p:spPr>
          <a:xfrm>
            <a:off x="1077222" y="5249690"/>
            <a:ext cx="3681591" cy="646331"/>
          </a:xfrm>
          <a:prstGeom prst="rect">
            <a:avLst/>
          </a:prstGeom>
          <a:noFill/>
        </p:spPr>
        <p:txBody>
          <a:bodyPr wrap="square">
            <a:spAutoFit/>
          </a:bodyPr>
          <a:lstStyle/>
          <a:p>
            <a:r>
              <a:rPr sz="1800" dirty="0"/>
              <a:t>Ignoring species, longer bills </a:t>
            </a:r>
            <a:r>
              <a:rPr lang="en-CA" dirty="0"/>
              <a:t>are</a:t>
            </a:r>
            <a:r>
              <a:rPr sz="1800" dirty="0"/>
              <a:t> shallower </a:t>
            </a:r>
            <a:endParaRPr lang="en-CA" sz="1800"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4.23</a:t>
            </a:r>
          </a:p>
        </p:txBody>
      </p:sp>
      <p:sp>
        <p:nvSpPr>
          <p:cNvPr id="3" name="TextBox 2">
            <a:extLst>
              <a:ext uri="{FF2B5EF4-FFF2-40B4-BE49-F238E27FC236}">
                <a16:creationId xmlns:a16="http://schemas.microsoft.com/office/drawing/2014/main" id="{88DD035A-BBF7-B55F-5790-B32F05AA7F39}"/>
              </a:ext>
            </a:extLst>
          </p:cNvPr>
          <p:cNvSpPr txBox="1"/>
          <p:nvPr/>
        </p:nvSpPr>
        <p:spPr>
          <a:xfrm>
            <a:off x="8318091" y="5249690"/>
            <a:ext cx="2920180" cy="646331"/>
          </a:xfrm>
          <a:prstGeom prst="rect">
            <a:avLst/>
          </a:prstGeom>
          <a:noFill/>
        </p:spPr>
        <p:txBody>
          <a:bodyPr wrap="square" rtlCol="0">
            <a:spAutoFit/>
          </a:bodyPr>
          <a:lstStyle/>
          <a:p>
            <a:r>
              <a:rPr lang="en-CA" dirty="0"/>
              <a:t>Within species shows diffs in slopes &amp; covariances</a:t>
            </a:r>
          </a:p>
        </p:txBody>
      </p:sp>
      <p:sp>
        <p:nvSpPr>
          <p:cNvPr id="9" name="TextBox 8">
            <a:extLst>
              <a:ext uri="{FF2B5EF4-FFF2-40B4-BE49-F238E27FC236}">
                <a16:creationId xmlns:a16="http://schemas.microsoft.com/office/drawing/2014/main" id="{84C0DE35-D87E-44B9-F0AB-884345159189}"/>
              </a:ext>
            </a:extLst>
          </p:cNvPr>
          <p:cNvSpPr txBox="1"/>
          <p:nvPr/>
        </p:nvSpPr>
        <p:spPr>
          <a:xfrm>
            <a:off x="4886629" y="5249690"/>
            <a:ext cx="3092835" cy="646331"/>
          </a:xfrm>
          <a:prstGeom prst="rect">
            <a:avLst/>
          </a:prstGeom>
          <a:noFill/>
        </p:spPr>
        <p:txBody>
          <a:bodyPr wrap="square" rtlCol="0">
            <a:spAutoFit/>
          </a:bodyPr>
          <a:lstStyle/>
          <a:p>
            <a:r>
              <a:rPr lang="en-CA" dirty="0"/>
              <a:t>By species, relation is positive for each</a:t>
            </a:r>
          </a:p>
        </p:txBody>
      </p:sp>
      <p:sp>
        <p:nvSpPr>
          <p:cNvPr id="10" name="Slide Number Placeholder 10"/>
          <p:cNvSpPr>
            <a:spLocks noGrp="1"/>
          </p:cNvSpPr>
          <p:nvPr>
            <p:ph type="sldNum" sz="quarter" idx="12"/>
          </p:nvPr>
        </p:nvSpPr>
        <p:spPr/>
        <p:txBody>
          <a:bodyPr/>
          <a:lstStyle/>
          <a:p>
            <a:fld id="{9BFB2853-4965-4727-91C4-384EB30D99A4}" type="slidenum">
              <a:rPr lang="en-CA"/>
              <a:t>18</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anim calcmode="lin" valueType="num">
                                      <p:cBhvr additive="base">
                                        <p:cTn id="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2" presetClass="entr" presetSubtype="4"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2880"/>
            <a:ext cx="10972800" cy="1143000"/>
          </a:xfrm>
        </p:spPr>
        <p:txBody>
          <a:bodyPr/>
          <a:lstStyle/>
          <a:p>
            <a:r>
              <a:rPr lang="en-CA" dirty="0"/>
              <a:t>How to visualize </a:t>
            </a:r>
            <a:r>
              <a:rPr lang="en-CA" i="1" dirty="0"/>
              <a:t>p</a:t>
            </a:r>
            <a:r>
              <a:rPr lang="en-CA" dirty="0"/>
              <a:t> &gt; 2 variables in </a:t>
            </a:r>
            <a:r>
              <a:rPr lang="en-CA" dirty="0" err="1"/>
              <a:t>Planeland</a:t>
            </a:r>
            <a:r>
              <a:rPr lang="en-CA" dirty="0"/>
              <a:t>?</a:t>
            </a:r>
            <a:br>
              <a:rPr lang="en-CA" dirty="0"/>
            </a:br>
            <a:r>
              <a:rPr sz="2800" dirty="0"/>
              <a:t>Scatterplot matrices: all pairs at once</a:t>
            </a:r>
          </a:p>
        </p:txBody>
      </p:sp>
      <p:sp>
        <p:nvSpPr>
          <p:cNvPr id="3" name="Content Placeholder 2"/>
          <p:cNvSpPr>
            <a:spLocks noGrp="1"/>
          </p:cNvSpPr>
          <p:nvPr>
            <p:ph sz="half" idx="1"/>
          </p:nvPr>
        </p:nvSpPr>
        <p:spPr>
          <a:xfrm>
            <a:off x="838200" y="1643063"/>
            <a:ext cx="4304071" cy="4533900"/>
          </a:xfrm>
        </p:spPr>
        <p:txBody>
          <a:bodyPr/>
          <a:lstStyle/>
          <a:p>
            <a:r>
              <a:rPr dirty="0"/>
              <a:t>Every pairwise view in one display</a:t>
            </a:r>
          </a:p>
          <a:p>
            <a:r>
              <a:rPr dirty="0"/>
              <a:t>Data ellipses </a:t>
            </a:r>
            <a:r>
              <a:rPr lang="en-CA" dirty="0"/>
              <a:t>&amp;</a:t>
            </a:r>
            <a:r>
              <a:rPr dirty="0"/>
              <a:t> regression lines by species</a:t>
            </a:r>
          </a:p>
          <a:p>
            <a:r>
              <a:rPr dirty="0"/>
              <a:t>Works well up to a moderate number of variables</a:t>
            </a:r>
            <a:endParaRPr lang="en-CA" dirty="0"/>
          </a:p>
          <a:p>
            <a:r>
              <a:rPr lang="en-CA" b="1" dirty="0"/>
              <a:t>Visual thinning</a:t>
            </a:r>
            <a:r>
              <a:rPr lang="en-CA" dirty="0"/>
              <a:t>: data </a:t>
            </a:r>
            <a:r>
              <a:rPr lang="en-CA" dirty="0">
                <a:sym typeface="Symbol" panose="05050102010706020507" pitchFamily="18" charset="2"/>
              </a:rPr>
              <a:t></a:t>
            </a:r>
            <a:r>
              <a:rPr lang="en-CA" dirty="0"/>
              <a:t> ellipses + regression lines</a:t>
            </a:r>
            <a:endParaRPr dirty="0"/>
          </a:p>
        </p:txBody>
      </p:sp>
      <p:pic>
        <p:nvPicPr>
          <p:cNvPr id="4" name="Picture 3" descr="fig-peng-spm-1.png"/>
          <p:cNvPicPr>
            <a:picLocks noChangeAspect="1"/>
          </p:cNvPicPr>
          <p:nvPr/>
        </p:nvPicPr>
        <p:blipFill>
          <a:blip r:embed="rId3"/>
          <a:stretch>
            <a:fillRect/>
          </a:stretch>
        </p:blipFill>
        <p:spPr>
          <a:xfrm>
            <a:off x="5864353" y="1508125"/>
            <a:ext cx="5088194" cy="5088194"/>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4.31</a:t>
            </a:r>
          </a:p>
        </p:txBody>
      </p:sp>
      <p:sp>
        <p:nvSpPr>
          <p:cNvPr id="6" name="Slide Number Placeholder 6"/>
          <p:cNvSpPr>
            <a:spLocks noGrp="1"/>
          </p:cNvSpPr>
          <p:nvPr>
            <p:ph type="sldNum" sz="quarter" idx="12"/>
          </p:nvPr>
        </p:nvSpPr>
        <p:spPr/>
        <p:txBody>
          <a:bodyPr/>
          <a:lstStyle/>
          <a:p>
            <a:fld id="{9BFB2853-4965-4727-91C4-384EB30D99A4}" type="slidenum">
              <a:rPr lang="en-CA"/>
              <a:t>19</a:t>
            </a:fld>
            <a:endParaRPr lang="en-CA"/>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2880"/>
            <a:ext cx="10972800" cy="1143000"/>
          </a:xfrm>
        </p:spPr>
        <p:txBody>
          <a:bodyPr>
            <a:normAutofit fontScale="90000"/>
          </a:bodyPr>
          <a:lstStyle/>
          <a:p>
            <a:r>
              <a:rPr b="1" dirty="0"/>
              <a:t>Visual thinning</a:t>
            </a:r>
            <a:r>
              <a:rPr dirty="0"/>
              <a:t>: show less to see more</a:t>
            </a:r>
            <a:br>
              <a:rPr lang="en-CA" dirty="0"/>
            </a:br>
            <a:r>
              <a:rPr lang="en-CA" b="1" dirty="0"/>
              <a:t>Effect order</a:t>
            </a:r>
            <a:r>
              <a:rPr lang="en-CA" dirty="0"/>
              <a:t>: order variables to see what you want to show </a:t>
            </a:r>
            <a:endParaRPr dirty="0"/>
          </a:p>
        </p:txBody>
      </p:sp>
      <p:sp>
        <p:nvSpPr>
          <p:cNvPr id="3" name="Content Placeholder 2"/>
          <p:cNvSpPr>
            <a:spLocks noGrp="1"/>
          </p:cNvSpPr>
          <p:nvPr>
            <p:ph sz="half" idx="1"/>
          </p:nvPr>
        </p:nvSpPr>
        <p:spPr>
          <a:xfrm>
            <a:off x="838200" y="2046185"/>
            <a:ext cx="5181600" cy="3194408"/>
          </a:xfrm>
        </p:spPr>
        <p:txBody>
          <a:bodyPr/>
          <a:lstStyle/>
          <a:p>
            <a:r>
              <a:rPr lang="en-CA" dirty="0" err="1">
                <a:latin typeface="Courier New" panose="02070309020205020404" pitchFamily="49" charset="0"/>
                <a:cs typeface="Courier New" panose="02070309020205020404" pitchFamily="49" charset="0"/>
              </a:rPr>
              <a:t>corrplot</a:t>
            </a:r>
            <a:r>
              <a:rPr lang="en-CA" dirty="0">
                <a:latin typeface="Courier New" panose="02070309020205020404" pitchFamily="49" charset="0"/>
                <a:cs typeface="Courier New" panose="02070309020205020404" pitchFamily="49" charset="0"/>
              </a:rPr>
              <a:t>()</a:t>
            </a:r>
            <a:r>
              <a:rPr lang="en-CA" dirty="0"/>
              <a:t>: </a:t>
            </a:r>
            <a:r>
              <a:rPr dirty="0"/>
              <a:t>With many variables, replace the points by a rendering of each correlation</a:t>
            </a:r>
          </a:p>
          <a:p>
            <a:r>
              <a:rPr dirty="0"/>
              <a:t>Order the </a:t>
            </a:r>
            <a:r>
              <a:rPr dirty="0">
                <a:solidFill>
                  <a:schemeClr val="accent2">
                    <a:lumMod val="75000"/>
                  </a:schemeClr>
                </a:solidFill>
              </a:rPr>
              <a:t>variables</a:t>
            </a:r>
            <a:r>
              <a:rPr dirty="0"/>
              <a:t> so that similar ones are adjacent</a:t>
            </a:r>
          </a:p>
          <a:p>
            <a:r>
              <a:rPr dirty="0"/>
              <a:t>Here: ordered by the angles of the variable vectors from a PCA</a:t>
            </a:r>
          </a:p>
        </p:txBody>
      </p:sp>
      <p:pic>
        <p:nvPicPr>
          <p:cNvPr id="4" name="Picture 3" descr="fig-crime-corrplot-AOE-1.png"/>
          <p:cNvPicPr>
            <a:picLocks noChangeAspect="1"/>
          </p:cNvPicPr>
          <p:nvPr/>
        </p:nvPicPr>
        <p:blipFill>
          <a:blip r:embed="rId3"/>
          <a:stretch>
            <a:fillRect/>
          </a:stretch>
        </p:blipFill>
        <p:spPr>
          <a:xfrm>
            <a:off x="6569964" y="1783080"/>
            <a:ext cx="4389120" cy="4389120"/>
          </a:xfrm>
          <a:prstGeom prst="rect">
            <a:avLst/>
          </a:prstGeom>
        </p:spPr>
      </p:pic>
      <p:pic>
        <p:nvPicPr>
          <p:cNvPr id="7" name="Picture 6" descr="fig-mtcars-corrplot-pcaorder-1.png">
            <a:extLst>
              <a:ext uri="{FF2B5EF4-FFF2-40B4-BE49-F238E27FC236}">
                <a16:creationId xmlns:a16="http://schemas.microsoft.com/office/drawing/2014/main" id="{FFC74894-A605-75C8-700C-990AEB2E5F61}"/>
              </a:ext>
            </a:extLst>
          </p:cNvPr>
          <p:cNvPicPr>
            <a:picLocks noChangeAspect="1"/>
          </p:cNvPicPr>
          <p:nvPr/>
        </p:nvPicPr>
        <p:blipFill>
          <a:blip r:embed="rId4"/>
          <a:stretch>
            <a:fillRect/>
          </a:stretch>
        </p:blipFill>
        <p:spPr>
          <a:xfrm>
            <a:off x="6569964" y="1585800"/>
            <a:ext cx="5089320" cy="5089320"/>
          </a:xfrm>
          <a:prstGeom prst="rect">
            <a:avLst/>
          </a:prstGeom>
        </p:spPr>
      </p:pic>
      <p:sp>
        <p:nvSpPr>
          <p:cNvPr id="8" name="Slide Number Placeholder 8"/>
          <p:cNvSpPr>
            <a:spLocks noGrp="1"/>
          </p:cNvSpPr>
          <p:nvPr>
            <p:ph type="sldNum" sz="quarter" idx="12"/>
          </p:nvPr>
        </p:nvSpPr>
        <p:spPr/>
        <p:txBody>
          <a:bodyPr/>
          <a:lstStyle/>
          <a:p>
            <a:fld id="{9BFB2853-4965-4727-91C4-384EB30D99A4}" type="slidenum">
              <a:rPr lang="en-CA"/>
              <a:t>20</a:t>
            </a:fld>
            <a:endParaRPr lang="en-CA"/>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 coordinates: one line per penguin</a:t>
            </a:r>
          </a:p>
        </p:txBody>
      </p:sp>
      <p:pic>
        <p:nvPicPr>
          <p:cNvPr id="3" name="Picture 2" descr="fig-peng-ggpcp2-1.png"/>
          <p:cNvPicPr>
            <a:picLocks noChangeAspect="1"/>
          </p:cNvPicPr>
          <p:nvPr/>
        </p:nvPicPr>
        <p:blipFill>
          <a:blip r:embed="rId3"/>
          <a:stretch>
            <a:fillRect/>
          </a:stretch>
        </p:blipFill>
        <p:spPr>
          <a:xfrm>
            <a:off x="345347" y="1352282"/>
            <a:ext cx="6742088" cy="449472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4.40</a:t>
            </a:r>
          </a:p>
        </p:txBody>
      </p:sp>
      <p:sp>
        <p:nvSpPr>
          <p:cNvPr id="6" name="TextBox 5">
            <a:extLst>
              <a:ext uri="{FF2B5EF4-FFF2-40B4-BE49-F238E27FC236}">
                <a16:creationId xmlns:a16="http://schemas.microsoft.com/office/drawing/2014/main" id="{99500E15-93E9-6301-71FE-84750F373D4D}"/>
              </a:ext>
            </a:extLst>
          </p:cNvPr>
          <p:cNvSpPr txBox="1"/>
          <p:nvPr/>
        </p:nvSpPr>
        <p:spPr>
          <a:xfrm>
            <a:off x="7276563" y="1352282"/>
            <a:ext cx="4246843" cy="2862322"/>
          </a:xfrm>
          <a:prstGeom prst="rect">
            <a:avLst/>
          </a:prstGeom>
          <a:noFill/>
        </p:spPr>
        <p:txBody>
          <a:bodyPr wrap="square" rtlCol="0">
            <a:spAutoFit/>
          </a:bodyPr>
          <a:lstStyle/>
          <a:p>
            <a:r>
              <a:rPr lang="en-CA" sz="2000" dirty="0"/>
              <a:t>Each observation is a line across the variable axes</a:t>
            </a:r>
          </a:p>
          <a:p>
            <a:pPr marL="285750" indent="-285750">
              <a:buFont typeface="Arial" panose="020B0604020202020204" pitchFamily="34" charset="0"/>
              <a:buChar char="•"/>
            </a:pPr>
            <a:r>
              <a:rPr lang="en-CA" sz="2000" dirty="0"/>
              <a:t>Groups appear as bundles</a:t>
            </a:r>
          </a:p>
          <a:p>
            <a:pPr marL="285750" indent="-285750">
              <a:buFont typeface="Arial" panose="020B0604020202020204" pitchFamily="34" charset="0"/>
              <a:buChar char="•"/>
            </a:pPr>
            <a:r>
              <a:rPr lang="en-CA" sz="2000" dirty="0"/>
              <a:t>Easy to extend to more variables</a:t>
            </a:r>
          </a:p>
          <a:p>
            <a:pPr marL="285750" indent="-285750">
              <a:buFont typeface="Arial" panose="020B0604020202020204" pitchFamily="34" charset="0"/>
              <a:buChar char="•"/>
            </a:pPr>
            <a:endParaRPr lang="en-CA" sz="2000" dirty="0"/>
          </a:p>
          <a:p>
            <a:r>
              <a:rPr lang="en-CA" sz="2000" dirty="0"/>
              <a:t>Variable ordering is important here</a:t>
            </a:r>
          </a:p>
          <a:p>
            <a:endParaRPr lang="en-CA" sz="2000" dirty="0"/>
          </a:p>
          <a:p>
            <a:r>
              <a:rPr lang="en-CA" sz="2000" dirty="0"/>
              <a:t>Using this interactively could make a tool for understanding</a:t>
            </a:r>
          </a:p>
        </p:txBody>
      </p:sp>
      <p:sp>
        <p:nvSpPr>
          <p:cNvPr id="7" name="Slide Number Placeholder 7"/>
          <p:cNvSpPr>
            <a:spLocks noGrp="1"/>
          </p:cNvSpPr>
          <p:nvPr>
            <p:ph type="sldNum" sz="quarter" idx="12"/>
          </p:nvPr>
        </p:nvSpPr>
        <p:spPr/>
        <p:txBody>
          <a:bodyPr/>
          <a:lstStyle/>
          <a:p>
            <a:fld id="{9BFB2853-4965-4727-91C4-384EB30D99A4}" type="slidenum">
              <a:rPr lang="en-CA"/>
              <a:t>21</a:t>
            </a:fld>
            <a:endParaRPr lang="en-CA"/>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Animated tours: </a:t>
            </a:r>
            <a:r>
              <a:rPr lang="en-CA" dirty="0"/>
              <a:t>flying</a:t>
            </a:r>
            <a:r>
              <a:rPr dirty="0"/>
              <a:t> through projections</a:t>
            </a:r>
            <a:r>
              <a:rPr lang="en-CA" dirty="0"/>
              <a:t> (</a:t>
            </a:r>
            <a:r>
              <a:rPr lang="en-CA" b="1" dirty="0" err="1">
                <a:latin typeface="Consolas" panose="020B0609020204030204" pitchFamily="49" charset="0"/>
              </a:rPr>
              <a:t>tourr</a:t>
            </a:r>
            <a:r>
              <a:rPr lang="en-CA" dirty="0"/>
              <a:t> pkg)</a:t>
            </a:r>
            <a:endParaRPr dirty="0"/>
          </a:p>
        </p:txBody>
      </p:sp>
      <p:pic>
        <p:nvPicPr>
          <p:cNvPr id="3" name="Picture 2" descr="peng-tourr-grand.gif"/>
          <p:cNvPicPr>
            <a:picLocks noChangeAspect="1"/>
          </p:cNvPicPr>
          <p:nvPr/>
        </p:nvPicPr>
        <p:blipFill>
          <a:blip r:embed="rId3"/>
          <a:stretch>
            <a:fillRect/>
          </a:stretch>
        </p:blipFill>
        <p:spPr>
          <a:xfrm>
            <a:off x="838200" y="1645285"/>
            <a:ext cx="4785852" cy="4785852"/>
          </a:xfrm>
          <a:prstGeom prst="rect">
            <a:avLst/>
          </a:prstGeom>
        </p:spPr>
      </p:pic>
      <p:sp>
        <p:nvSpPr>
          <p:cNvPr id="4" name="TextBox 3"/>
          <p:cNvSpPr txBox="1"/>
          <p:nvPr/>
        </p:nvSpPr>
        <p:spPr>
          <a:xfrm>
            <a:off x="5955300" y="1645285"/>
            <a:ext cx="5794248" cy="3477875"/>
          </a:xfrm>
          <a:prstGeom prst="rect">
            <a:avLst/>
          </a:prstGeom>
          <a:noFill/>
        </p:spPr>
        <p:txBody>
          <a:bodyPr wrap="square">
            <a:spAutoFit/>
          </a:bodyPr>
          <a:lstStyle/>
          <a:p>
            <a:r>
              <a:rPr lang="en-CA" sz="2000" dirty="0"/>
              <a:t>Animation adds one more dimension to what we can see from 2D projections</a:t>
            </a:r>
          </a:p>
          <a:p>
            <a:endParaRPr lang="en-CA" sz="2000" dirty="0"/>
          </a:p>
          <a:p>
            <a:r>
              <a:rPr sz="2000" dirty="0"/>
              <a:t>A </a:t>
            </a:r>
            <a:r>
              <a:rPr sz="2000" b="1" dirty="0"/>
              <a:t>grand tour </a:t>
            </a:r>
            <a:r>
              <a:rPr sz="2000" dirty="0"/>
              <a:t>shows a smooth sequence of 2D projections</a:t>
            </a:r>
            <a:endParaRPr lang="en-CA" sz="2000" dirty="0"/>
          </a:p>
          <a:p>
            <a:pPr marL="285750" indent="-285750">
              <a:buFont typeface="Arial" panose="020B0604020202020204" pitchFamily="34" charset="0"/>
              <a:buChar char="•"/>
            </a:pPr>
            <a:r>
              <a:rPr lang="en-CA" sz="2000" dirty="0"/>
              <a:t>Variable vectors show where you are in n-D space (as in biplot)</a:t>
            </a:r>
          </a:p>
          <a:p>
            <a:pPr marL="285750" indent="-285750">
              <a:buFont typeface="Arial" panose="020B0604020202020204" pitchFamily="34" charset="0"/>
              <a:buChar char="•"/>
            </a:pPr>
            <a:endParaRPr lang="en-CA" sz="2000" dirty="0"/>
          </a:p>
          <a:p>
            <a:r>
              <a:rPr lang="en-CA" sz="2000" dirty="0"/>
              <a:t>A</a:t>
            </a:r>
            <a:r>
              <a:rPr sz="2000" dirty="0"/>
              <a:t> </a:t>
            </a:r>
            <a:r>
              <a:rPr sz="2000" b="1" dirty="0"/>
              <a:t>guided tour </a:t>
            </a:r>
            <a:r>
              <a:rPr sz="2000" dirty="0"/>
              <a:t>steers toward interesting ones.</a:t>
            </a:r>
            <a:endParaRPr lang="en-CA" sz="2000" dirty="0"/>
          </a:p>
          <a:p>
            <a:pPr marL="285750" indent="-285750">
              <a:buFont typeface="Arial" panose="020B0604020202020204" pitchFamily="34" charset="0"/>
              <a:buChar char="•"/>
            </a:pPr>
            <a:r>
              <a:rPr lang="en-CA" sz="2000" dirty="0"/>
              <a:t>Optimize an index: separation of groups, anomalies (outliers)</a:t>
            </a:r>
            <a:endParaRPr sz="2000" dirty="0"/>
          </a:p>
        </p:txBody>
      </p:sp>
      <p:sp>
        <p:nvSpPr>
          <p:cNvPr id="5" name="Slide Number Placeholder 5"/>
          <p:cNvSpPr>
            <a:spLocks noGrp="1"/>
          </p:cNvSpPr>
          <p:nvPr>
            <p:ph type="sldNum" sz="quarter" idx="12"/>
          </p:nvPr>
        </p:nvSpPr>
        <p:spPr/>
        <p:txBody>
          <a:bodyPr/>
          <a:lstStyle/>
          <a:p>
            <a:fld id="{9BFB2853-4965-4727-91C4-384EB30D99A4}" type="slidenum">
              <a:rPr lang="en-CA"/>
              <a:t>22</a:t>
            </a:fld>
            <a:endParaRPr lang="en-CA"/>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Flatland and </a:t>
            </a:r>
            <a:r>
              <a:rPr dirty="0" err="1"/>
              <a:t>Spaceland</a:t>
            </a:r>
            <a:r>
              <a:rPr dirty="0"/>
              <a:t>: dimension reduction</a:t>
            </a:r>
          </a:p>
        </p:txBody>
      </p:sp>
      <p:sp>
        <p:nvSpPr>
          <p:cNvPr id="3" name="Text Placeholder 2"/>
          <p:cNvSpPr>
            <a:spLocks noGrp="1"/>
          </p:cNvSpPr>
          <p:nvPr>
            <p:ph type="body" idx="1"/>
          </p:nvPr>
        </p:nvSpPr>
        <p:spPr/>
        <p:txBody>
          <a:bodyPr/>
          <a:lstStyle/>
          <a:p>
            <a:r>
              <a:t>PCA, biplots, and nonlinear methods</a:t>
            </a:r>
          </a:p>
        </p:txBody>
      </p:sp>
      <p:sp>
        <p:nvSpPr>
          <p:cNvPr id="4" name="Slide Number Placeholder 4"/>
          <p:cNvSpPr>
            <a:spLocks noGrp="1"/>
          </p:cNvSpPr>
          <p:nvPr>
            <p:ph type="sldNum" sz="quarter" idx="12"/>
          </p:nvPr>
        </p:nvSpPr>
        <p:spPr/>
        <p:txBody>
          <a:bodyPr/>
          <a:lstStyle/>
          <a:p>
            <a:fld id="{9BFB2853-4965-4727-91C4-384EB30D99A4}" type="slidenum">
              <a:rPr lang="en-CA"/>
              <a:t>23</a:t>
            </a:fld>
            <a:endParaRPr lang="en-CA"/>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A080066-61B6-40D6-D08D-6460A5447ABF}"/>
              </a:ext>
            </a:extLst>
          </p:cNvPr>
          <p:cNvGrpSpPr/>
          <p:nvPr/>
        </p:nvGrpSpPr>
        <p:grpSpPr>
          <a:xfrm>
            <a:off x="1288897" y="1486129"/>
            <a:ext cx="1942871" cy="1942871"/>
            <a:chOff x="1366471" y="1486129"/>
            <a:chExt cx="1942871" cy="1942871"/>
          </a:xfrm>
        </p:grpSpPr>
        <p:pic>
          <p:nvPicPr>
            <p:cNvPr id="8" name="Picture 7" descr="A picture containing colorful, fresh&#10;&#10;Description automatically generated">
              <a:extLst>
                <a:ext uri="{FF2B5EF4-FFF2-40B4-BE49-F238E27FC236}">
                  <a16:creationId xmlns:a16="http://schemas.microsoft.com/office/drawing/2014/main" id="{11EC24D1-F4F5-4911-9BFA-87CD5F05C835}"/>
                </a:ext>
              </a:extLst>
            </p:cNvPr>
            <p:cNvPicPr>
              <a:picLocks noChangeAspect="1"/>
            </p:cNvPicPr>
            <p:nvPr/>
          </p:nvPicPr>
          <p:blipFill>
            <a:blip r:embed="rId3"/>
            <a:stretch>
              <a:fillRect/>
            </a:stretch>
          </p:blipFill>
          <p:spPr>
            <a:xfrm>
              <a:off x="1366471" y="1486129"/>
              <a:ext cx="1942871" cy="1942871"/>
            </a:xfrm>
            <a:prstGeom prst="rect">
              <a:avLst/>
            </a:prstGeom>
          </p:spPr>
        </p:pic>
        <p:sp>
          <p:nvSpPr>
            <p:cNvPr id="3" name="TextBox 2">
              <a:extLst>
                <a:ext uri="{FF2B5EF4-FFF2-40B4-BE49-F238E27FC236}">
                  <a16:creationId xmlns:a16="http://schemas.microsoft.com/office/drawing/2014/main" id="{9BE0B87A-62D7-88CE-0346-1AD2C9227512}"/>
                </a:ext>
              </a:extLst>
            </p:cNvPr>
            <p:cNvSpPr txBox="1"/>
            <p:nvPr/>
          </p:nvSpPr>
          <p:spPr>
            <a:xfrm>
              <a:off x="1523999" y="1630048"/>
              <a:ext cx="1422889" cy="369332"/>
            </a:xfrm>
            <a:prstGeom prst="rect">
              <a:avLst/>
            </a:prstGeom>
            <a:noFill/>
          </p:spPr>
          <p:txBody>
            <a:bodyPr wrap="square" rtlCol="0">
              <a:spAutoFit/>
            </a:bodyPr>
            <a:lstStyle/>
            <a:p>
              <a:r>
                <a:rPr lang="en-CA" dirty="0"/>
                <a:t>data</a:t>
              </a:r>
            </a:p>
          </p:txBody>
        </p:sp>
      </p:grpSp>
      <p:grpSp>
        <p:nvGrpSpPr>
          <p:cNvPr id="13" name="Group 12">
            <a:extLst>
              <a:ext uri="{FF2B5EF4-FFF2-40B4-BE49-F238E27FC236}">
                <a16:creationId xmlns:a16="http://schemas.microsoft.com/office/drawing/2014/main" id="{D4946A77-5613-960F-AECE-7C7AF2109F0F}"/>
              </a:ext>
            </a:extLst>
          </p:cNvPr>
          <p:cNvGrpSpPr/>
          <p:nvPr/>
        </p:nvGrpSpPr>
        <p:grpSpPr>
          <a:xfrm>
            <a:off x="3907129" y="2157412"/>
            <a:ext cx="3390900" cy="2543175"/>
            <a:chOff x="2946889" y="2338754"/>
            <a:chExt cx="3390900" cy="2543175"/>
          </a:xfrm>
        </p:grpSpPr>
        <p:pic>
          <p:nvPicPr>
            <p:cNvPr id="2" name="Picture 1" descr="Diagram, engineering drawing&#10;&#10;Description automatically generated with medium confidence">
              <a:extLst>
                <a:ext uri="{FF2B5EF4-FFF2-40B4-BE49-F238E27FC236}">
                  <a16:creationId xmlns:a16="http://schemas.microsoft.com/office/drawing/2014/main" id="{72FD6771-D775-4B9D-9F0D-498B99014C16}"/>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3742" b="98597" l="2313" r="99563">
                          <a14:foregroundMark x1="8313" y1="11880" x2="9750" y2="24041"/>
                          <a14:foregroundMark x1="9750" y1="24041" x2="33500" y2="34892"/>
                          <a14:foregroundMark x1="33500" y1="34892" x2="52500" y2="84939"/>
                          <a14:foregroundMark x1="52500" y1="84939" x2="52500" y2="84939"/>
                          <a14:foregroundMark x1="52500" y1="84659" x2="87813" y2="66511"/>
                          <a14:foregroundMark x1="87813" y1="66511" x2="90000" y2="47521"/>
                          <a14:foregroundMark x1="90000" y1="47521" x2="90000" y2="47521"/>
                          <a14:foregroundMark x1="71875" y1="22544" x2="57563" y2="22451"/>
                          <a14:foregroundMark x1="57563" y1="22451" x2="37188" y2="34238"/>
                          <a14:foregroundMark x1="37188" y1="34238" x2="39688" y2="50889"/>
                          <a14:foregroundMark x1="39688" y1="50889" x2="67313" y2="49298"/>
                          <a14:foregroundMark x1="64699" y1="37180" x2="59562" y2="13377"/>
                          <a14:foregroundMark x1="44364" y1="47152" x2="32875" y2="72685"/>
                          <a14:foregroundMark x1="59562" y1="13377" x2="48449" y2="38073"/>
                          <a14:foregroundMark x1="32875" y1="72685" x2="83250" y2="57624"/>
                          <a14:foregroundMark x1="83250" y1="57624" x2="66066" y2="44375"/>
                          <a14:foregroundMark x1="21250" y1="21328" x2="14125" y2="26754"/>
                          <a14:foregroundMark x1="14125" y1="26754" x2="9625" y2="33489"/>
                          <a14:foregroundMark x1="9625" y1="33489" x2="43425" y2="44695"/>
                          <a14:foregroundMark x1="64569" y1="37137" x2="67813" y2="35360"/>
                          <a14:foregroundMark x1="67813" y1="35360" x2="69625" y2="12254"/>
                          <a14:foregroundMark x1="48283" y1="47579" x2="36563" y2="66978"/>
                          <a14:foregroundMark x1="69625" y1="12254" x2="55024" y2="36421"/>
                          <a14:foregroundMark x1="36563" y1="66978" x2="50000" y2="69317"/>
                          <a14:foregroundMark x1="50000" y1="69317" x2="62500" y2="48176"/>
                          <a14:foregroundMark x1="62500" y1="48176" x2="62625" y2="67166"/>
                          <a14:foregroundMark x1="62625" y1="67166" x2="72750" y2="69691"/>
                          <a14:foregroundMark x1="72750" y1="69691" x2="74875" y2="76894"/>
                          <a14:foregroundMark x1="74875" y1="76894" x2="75063" y2="85968"/>
                          <a14:foregroundMark x1="95813" y1="72404" x2="89500" y2="89804"/>
                          <a14:foregroundMark x1="89500" y1="89804" x2="94375" y2="84378"/>
                          <a14:foregroundMark x1="94375" y1="84378" x2="89188" y2="96632"/>
                          <a14:foregroundMark x1="89188" y1="96632" x2="95500" y2="90833"/>
                          <a14:foregroundMark x1="95500" y1="90833" x2="84875" y2="88400"/>
                          <a14:foregroundMark x1="84875" y1="88400" x2="84375" y2="80355"/>
                          <a14:foregroundMark x1="84375" y1="80355" x2="76250" y2="82226"/>
                          <a14:foregroundMark x1="76250" y1="82226" x2="80688" y2="63704"/>
                          <a14:foregroundMark x1="80688" y1="63704" x2="70625" y2="72030"/>
                          <a14:foregroundMark x1="70625" y1="72030" x2="66688" y2="59027"/>
                          <a14:foregroundMark x1="66688" y1="59027" x2="59688" y2="58653"/>
                          <a14:foregroundMark x1="59688" y1="58653" x2="52250" y2="70065"/>
                          <a14:foregroundMark x1="52250" y1="70065" x2="70000" y2="41534"/>
                          <a14:foregroundMark x1="57241" y1="46759" x2="44875" y2="51824"/>
                          <a14:foregroundMark x1="70000" y1="41534" x2="66313" y2="43043"/>
                          <a14:foregroundMark x1="44875" y1="51824" x2="34313" y2="47053"/>
                          <a14:foregroundMark x1="34313" y1="47053" x2="30500" y2="34799"/>
                          <a14:foregroundMark x1="30500" y1="34799" x2="27000" y2="29935"/>
                          <a14:foregroundMark x1="27000" y1="29935" x2="21750" y2="34331"/>
                          <a14:foregroundMark x1="21750" y1="34331" x2="18500" y2="17493"/>
                          <a14:foregroundMark x1="16313" y1="40879" x2="18500" y2="40879"/>
                          <a14:foregroundMark x1="20563" y1="42937" x2="29250" y2="55659"/>
                          <a14:foregroundMark x1="33313" y1="26660" x2="36688" y2="20767"/>
                          <a14:foregroundMark x1="36688" y1="20767" x2="31000" y2="26567"/>
                          <a14:foregroundMark x1="31000" y1="26567" x2="36063" y2="23480"/>
                          <a14:foregroundMark x1="36063" y1="23480" x2="37375" y2="27689"/>
                          <a14:foregroundMark x1="71688" y1="87933" x2="71688" y2="89242"/>
                          <a14:foregroundMark x1="43125" y1="87746" x2="41813" y2="92049"/>
                          <a14:foregroundMark x1="84438" y1="12442" x2="83750" y2="22077"/>
                          <a14:foregroundMark x1="83750" y1="22077" x2="85250" y2="30028"/>
                          <a14:foregroundMark x1="85250" y1="30028" x2="88375" y2="17961"/>
                          <a14:foregroundMark x1="88375" y1="17961" x2="87625" y2="26286"/>
                          <a14:foregroundMark x1="87625" y1="26286" x2="91563" y2="30496"/>
                          <a14:foregroundMark x1="9000" y1="60524" x2="8875" y2="86342"/>
                          <a14:foregroundMark x1="8875" y1="86342" x2="14750" y2="81197"/>
                          <a14:foregroundMark x1="14750" y1="81197" x2="22688" y2="78017"/>
                          <a14:foregroundMark x1="22688" y1="78017" x2="27187" y2="95136"/>
                          <a14:foregroundMark x1="27187" y1="95136" x2="31625" y2="98690"/>
                          <a14:foregroundMark x1="31625" y1="98690" x2="31625" y2="98690"/>
                          <a14:foregroundMark x1="5813" y1="87746" x2="1688" y2="94761"/>
                          <a14:foregroundMark x1="1688" y1="94761" x2="3938" y2="78391"/>
                          <a14:foregroundMark x1="3938" y1="78391" x2="2438" y2="51169"/>
                          <a14:foregroundMark x1="2438" y1="51169" x2="4188" y2="39196"/>
                          <a14:foregroundMark x1="4188" y1="39196" x2="375" y2="44715"/>
                          <a14:foregroundMark x1="375" y1="44715" x2="2313" y2="8419"/>
                          <a14:foregroundMark x1="2313" y1="8419" x2="13250" y2="16183"/>
                          <a14:foregroundMark x1="13250" y1="16183" x2="14438" y2="13938"/>
                          <a14:foregroundMark x1="97500" y1="95323" x2="98625" y2="83349"/>
                          <a14:foregroundMark x1="98625" y1="83349" x2="94750" y2="87278"/>
                          <a14:foregroundMark x1="94750" y1="87278" x2="98625" y2="10384"/>
                          <a14:foregroundMark x1="98625" y1="10384" x2="96250" y2="29280"/>
                          <a14:foregroundMark x1="96250" y1="29280" x2="96250" y2="21048"/>
                          <a14:foregroundMark x1="96250" y1="21048" x2="94750" y2="29747"/>
                          <a14:foregroundMark x1="94750" y1="29747" x2="90188" y2="34705"/>
                          <a14:foregroundMark x1="90188" y1="34705" x2="90250" y2="22825"/>
                          <a14:foregroundMark x1="90250" y1="22825" x2="85875" y2="26193"/>
                          <a14:foregroundMark x1="85875" y1="26193" x2="80938" y2="12909"/>
                          <a14:foregroundMark x1="80938" y1="12909" x2="76125" y2="17493"/>
                          <a14:foregroundMark x1="76125" y1="17493" x2="71063" y2="14406"/>
                          <a14:foregroundMark x1="71063" y1="14406" x2="60375" y2="15248"/>
                          <a14:foregroundMark x1="60375" y1="15248" x2="58938" y2="13190"/>
                          <a14:foregroundMark x1="97500" y1="61272" x2="98875" y2="98129"/>
                          <a14:foregroundMark x1="98875" y1="98129" x2="96375" y2="40692"/>
                          <a14:foregroundMark x1="96375" y1="40692" x2="99375" y2="65949"/>
                          <a14:foregroundMark x1="99375" y1="65949" x2="96938" y2="17399"/>
                          <a14:foregroundMark x1="96938" y1="17399" x2="99125" y2="38634"/>
                          <a14:foregroundMark x1="99125" y1="38634" x2="96938" y2="14125"/>
                          <a14:foregroundMark x1="96938" y1="14125" x2="97688" y2="6455"/>
                          <a14:foregroundMark x1="97688" y1="6455" x2="89250" y2="11880"/>
                          <a14:foregroundMark x1="89250" y1="11880" x2="86563" y2="5145"/>
                          <a14:foregroundMark x1="86563" y1="5145" x2="83250" y2="3742"/>
                          <a14:foregroundMark x1="98313" y1="69411" x2="98313" y2="91768"/>
                          <a14:foregroundMark x1="98313" y1="91768" x2="98250" y2="77923"/>
                          <a14:foregroundMark x1="98250" y1="77923" x2="99813" y2="84846"/>
                          <a14:foregroundMark x1="99813" y1="84846" x2="99563" y2="72498"/>
                          <a14:foregroundMark x1="99563" y1="72498" x2="98188" y2="69130"/>
                          <a14:foregroundMark x1="43313" y1="45557" x2="43500" y2="44341"/>
                          <a14:foregroundMark x1="43375" y1="44808" x2="43438" y2="44715"/>
                          <a14:foregroundMark x1="43313" y1="45370" x2="43563" y2="45744"/>
                          <a14:foregroundMark x1="43563" y1="46024" x2="43813" y2="46866"/>
                          <a14:backgroundMark x1="50813" y1="42470" x2="56688" y2="43312"/>
                          <a14:backgroundMark x1="56688" y1="43312" x2="50313" y2="42657"/>
                          <a14:backgroundMark x1="51125" y1="41908" x2="53000" y2="45276"/>
                          <a14:backgroundMark x1="52000" y1="42189" x2="57563" y2="43031"/>
                          <a14:backgroundMark x1="57563" y1="43031" x2="56875" y2="43966"/>
                          <a14:backgroundMark x1="57938" y1="43686" x2="59813" y2="43686"/>
                          <a14:backgroundMark x1="57938" y1="43218" x2="59813" y2="44434"/>
                          <a14:backgroundMark x1="56250" y1="41628" x2="57063" y2="39850"/>
                          <a14:backgroundMark x1="51625" y1="41628" x2="53312" y2="45276"/>
                          <a14:backgroundMark x1="52125" y1="40692" x2="50813" y2="41628"/>
                          <a14:backgroundMark x1="54875" y1="40131" x2="60875" y2="42657"/>
                          <a14:backgroundMark x1="60875" y1="42657" x2="61313" y2="43218"/>
                          <a14:backgroundMark x1="60500" y1="42657" x2="53938" y2="39850"/>
                          <a14:backgroundMark x1="53938" y1="39850" x2="48125" y2="41534"/>
                          <a14:backgroundMark x1="48125" y1="41534" x2="53312" y2="44715"/>
                          <a14:backgroundMark x1="53312" y1="44715" x2="53312" y2="44715"/>
                          <a14:backgroundMark x1="45375" y1="42657" x2="50063" y2="43312"/>
                          <a14:backgroundMark x1="50063" y1="43312" x2="48750" y2="44995"/>
                          <a14:backgroundMark x1="44875" y1="43966" x2="49063" y2="38634"/>
                          <a14:backgroundMark x1="49063" y1="38634" x2="49438" y2="38634"/>
                          <a14:backgroundMark x1="58250" y1="42189" x2="62750" y2="40225"/>
                          <a14:backgroundMark x1="62750" y1="40225" x2="63500" y2="44434"/>
                          <a14:backgroundMark x1="63188" y1="41908" x2="64875" y2="44715"/>
                          <a14:backgroundMark x1="58625" y1="45276" x2="57438" y2="45463"/>
                          <a14:backgroundMark x1="58750" y1="40131" x2="61000" y2="39850"/>
                          <a14:backgroundMark x1="59813" y1="45744" x2="61813" y2="44247"/>
                          <a14:backgroundMark x1="61313" y1="45744" x2="62000" y2="44434"/>
                          <a14:backgroundMark x1="58938" y1="46024" x2="58938" y2="45463"/>
                          <a14:backgroundMark x1="47750" y1="46211" x2="45188" y2="45744"/>
                          <a14:backgroundMark x1="46875" y1="45744" x2="47250" y2="43686"/>
                          <a14:backgroundMark x1="44660" y1="45804" x2="48250" y2="46024"/>
                          <a14:backgroundMark x1="49625" y1="45744" x2="47875" y2="46024"/>
                          <a14:backgroundMark x1="44688" y1="44247" x2="45375" y2="44434"/>
                          <a14:backgroundMark x1="63500" y1="39383" x2="65875" y2="40131"/>
                          <a14:backgroundMark x1="62687" y1="45276" x2="57438" y2="46024"/>
                          <a14:backgroundMark x1="46875" y1="38634" x2="47375" y2="38634"/>
                          <a14:backgroundMark x1="47750" y1="38073" x2="47750" y2="38354"/>
                          <a14:backgroundMark x1="47875" y1="38354" x2="48750" y2="37886"/>
                          <a14:backgroundMark x1="47875" y1="38915" x2="48438" y2="38354"/>
                          <a14:backgroundMark x1="53000" y1="39850" x2="58375" y2="40412"/>
                          <a14:backgroundMark x1="58375" y1="40412" x2="63500" y2="38915"/>
                          <a14:backgroundMark x1="63500" y1="38915" x2="56063" y2="38915"/>
                          <a14:backgroundMark x1="56063" y1="38915" x2="63313" y2="38354"/>
                          <a14:backgroundMark x1="63313" y1="38354" x2="53312" y2="37605"/>
                          <a14:backgroundMark x1="52500" y1="38634" x2="53688" y2="39102"/>
                          <a14:backgroundMark x1="47563" y1="38634" x2="48063" y2="38354"/>
                          <a14:backgroundMark x1="48063" y1="38354" x2="48563" y2="38073"/>
                          <a14:backgroundMark x1="64563" y1="41160" x2="65750" y2="40692"/>
                          <a14:backgroundMark x1="65563" y1="40692" x2="65375" y2="41441"/>
                          <a14:backgroundMark x1="65750" y1="45463" x2="65875" y2="43218"/>
                          <a14:backgroundMark x1="65563" y1="45744" x2="65563" y2="42189"/>
                          <a14:backgroundMark x1="65375" y1="45463" x2="65375" y2="42470"/>
                          <a14:backgroundMark x1="64875" y1="45276" x2="64875" y2="42189"/>
                          <a14:backgroundMark x1="64875" y1="44715" x2="64688" y2="42189"/>
                          <a14:backgroundMark x1="64375" y1="42189" x2="64375" y2="42189"/>
                          <a14:backgroundMark x1="64563" y1="43218" x2="65375" y2="44995"/>
                          <a14:backgroundMark x1="65063" y1="41441" x2="65250" y2="42470"/>
                          <a14:backgroundMark x1="65250" y1="42470" x2="65250" y2="44247"/>
                          <a14:backgroundMark x1="57375" y1="46399" x2="58438" y2="46024"/>
                          <a14:backgroundMark x1="65938" y1="43779" x2="66000" y2="44247"/>
                          <a14:backgroundMark x1="66000" y1="44621" x2="65938" y2="43779"/>
                          <a14:backgroundMark x1="66063" y1="44995" x2="66063" y2="44153"/>
                          <a14:backgroundMark x1="63188" y1="38167" x2="64875" y2="38728"/>
                          <a14:backgroundMark x1="48438" y1="38073" x2="48500" y2="37979"/>
                          <a14:backgroundMark x1="48375" y1="37979" x2="48188" y2="37792"/>
                          <a14:backgroundMark x1="48500" y1="37886" x2="48625" y2="37979"/>
                          <a14:backgroundMark x1="48500" y1="37792" x2="48188" y2="37792"/>
                          <a14:backgroundMark x1="48313" y1="37605" x2="49063" y2="37886"/>
                        </a14:backgroundRemoval>
                      </a14:imgEffect>
                    </a14:imgLayer>
                  </a14:imgProps>
                </a:ext>
              </a:extLst>
            </a:blip>
            <a:srcRect l="11000"/>
            <a:stretch/>
          </p:blipFill>
          <p:spPr>
            <a:xfrm>
              <a:off x="2946889" y="2338754"/>
              <a:ext cx="3390900" cy="2543175"/>
            </a:xfrm>
            <a:prstGeom prst="rect">
              <a:avLst/>
            </a:prstGeom>
          </p:spPr>
        </p:pic>
        <p:pic>
          <p:nvPicPr>
            <p:cNvPr id="9" name="Picture 8" descr="Diagram&#10;&#10;Description automatically generated">
              <a:extLst>
                <a:ext uri="{FF2B5EF4-FFF2-40B4-BE49-F238E27FC236}">
                  <a16:creationId xmlns:a16="http://schemas.microsoft.com/office/drawing/2014/main" id="{E4814DF3-06D3-4C35-9F20-1E6EBDD378E5}"/>
                </a:ext>
              </a:extLst>
            </p:cNvPr>
            <p:cNvPicPr>
              <a:picLocks noChangeAspect="1"/>
            </p:cNvPicPr>
            <p:nvPr/>
          </p:nvPicPr>
          <p:blipFill>
            <a:blip r:embed="rId6"/>
            <a:stretch>
              <a:fillRect/>
            </a:stretch>
          </p:blipFill>
          <p:spPr>
            <a:xfrm>
              <a:off x="4117480" y="3543300"/>
              <a:ext cx="1049718" cy="359601"/>
            </a:xfrm>
            <a:prstGeom prst="rect">
              <a:avLst/>
            </a:prstGeom>
          </p:spPr>
        </p:pic>
      </p:grpSp>
      <p:sp>
        <p:nvSpPr>
          <p:cNvPr id="10" name="TextBox 9">
            <a:extLst>
              <a:ext uri="{FF2B5EF4-FFF2-40B4-BE49-F238E27FC236}">
                <a16:creationId xmlns:a16="http://schemas.microsoft.com/office/drawing/2014/main" id="{2DB497BF-02CE-45A4-90D0-3FBF562109AE}"/>
              </a:ext>
            </a:extLst>
          </p:cNvPr>
          <p:cNvSpPr txBox="1"/>
          <p:nvPr/>
        </p:nvSpPr>
        <p:spPr>
          <a:xfrm>
            <a:off x="892366" y="353979"/>
            <a:ext cx="10540683" cy="830997"/>
          </a:xfrm>
          <a:prstGeom prst="rect">
            <a:avLst/>
          </a:prstGeom>
          <a:solidFill>
            <a:schemeClr val="accent1">
              <a:lumMod val="50000"/>
            </a:schemeClr>
          </a:solidFill>
        </p:spPr>
        <p:txBody>
          <a:bodyPr wrap="square" rtlCol="0">
            <a:spAutoFit/>
          </a:bodyPr>
          <a:lstStyle/>
          <a:p>
            <a:r>
              <a:rPr lang="en-US" sz="4800" dirty="0">
                <a:solidFill>
                  <a:schemeClr val="bg1"/>
                </a:solidFill>
              </a:rPr>
              <a:t>Multivariate Juicers</a:t>
            </a:r>
          </a:p>
        </p:txBody>
      </p:sp>
      <p:sp>
        <p:nvSpPr>
          <p:cNvPr id="11" name="TextBox 10">
            <a:extLst>
              <a:ext uri="{FF2B5EF4-FFF2-40B4-BE49-F238E27FC236}">
                <a16:creationId xmlns:a16="http://schemas.microsoft.com/office/drawing/2014/main" id="{1E6CEBBC-13DA-44D1-85B3-86960864DB49}"/>
              </a:ext>
            </a:extLst>
          </p:cNvPr>
          <p:cNvSpPr txBox="1"/>
          <p:nvPr/>
        </p:nvSpPr>
        <p:spPr>
          <a:xfrm>
            <a:off x="6858000" y="1398652"/>
            <a:ext cx="4648200" cy="954107"/>
          </a:xfrm>
          <a:prstGeom prst="rect">
            <a:avLst/>
          </a:prstGeom>
          <a:noFill/>
        </p:spPr>
        <p:txBody>
          <a:bodyPr wrap="square" rtlCol="0">
            <a:spAutoFit/>
          </a:bodyPr>
          <a:lstStyle/>
          <a:p>
            <a:r>
              <a:rPr lang="en-US" sz="2800" dirty="0"/>
              <a:t>Squeeze the most flavor from your data in low-D space</a:t>
            </a:r>
          </a:p>
        </p:txBody>
      </p:sp>
      <p:sp>
        <p:nvSpPr>
          <p:cNvPr id="12" name="TextBox 11">
            <a:extLst>
              <a:ext uri="{FF2B5EF4-FFF2-40B4-BE49-F238E27FC236}">
                <a16:creationId xmlns:a16="http://schemas.microsoft.com/office/drawing/2014/main" id="{021F364F-8409-4682-B75D-C19ED2684FDE}"/>
              </a:ext>
            </a:extLst>
          </p:cNvPr>
          <p:cNvSpPr txBox="1"/>
          <p:nvPr/>
        </p:nvSpPr>
        <p:spPr>
          <a:xfrm>
            <a:off x="1288897" y="4894817"/>
            <a:ext cx="5236465" cy="954107"/>
          </a:xfrm>
          <a:prstGeom prst="rect">
            <a:avLst/>
          </a:prstGeom>
          <a:noFill/>
        </p:spPr>
        <p:txBody>
          <a:bodyPr wrap="square" rtlCol="0">
            <a:spAutoFit/>
          </a:bodyPr>
          <a:lstStyle/>
          <a:p>
            <a:pPr marL="342900" indent="-342900">
              <a:buClr>
                <a:srgbClr val="FF0000"/>
              </a:buClr>
              <a:buSzPct val="110000"/>
              <a:buFont typeface="Wingdings" panose="05000000000000000000" pitchFamily="2" charset="2"/>
              <a:buChar char="v"/>
            </a:pPr>
            <a:r>
              <a:rPr lang="en-US" sz="2800" dirty="0"/>
              <a:t>Biplot: The data juicer</a:t>
            </a:r>
          </a:p>
          <a:p>
            <a:pPr marL="342900" indent="-342900">
              <a:buClr>
                <a:srgbClr val="FF0000"/>
              </a:buClr>
              <a:buSzPct val="110000"/>
              <a:buFont typeface="Wingdings" panose="05000000000000000000" pitchFamily="2" charset="2"/>
              <a:buChar char="v"/>
            </a:pPr>
            <a:r>
              <a:rPr lang="en-US" sz="2800" dirty="0"/>
              <a:t>CDA plots: The MANOVA juicer</a:t>
            </a:r>
          </a:p>
        </p:txBody>
      </p:sp>
      <p:grpSp>
        <p:nvGrpSpPr>
          <p:cNvPr id="7" name="Group 6">
            <a:extLst>
              <a:ext uri="{FF2B5EF4-FFF2-40B4-BE49-F238E27FC236}">
                <a16:creationId xmlns:a16="http://schemas.microsoft.com/office/drawing/2014/main" id="{78A900CB-AAED-D1C7-286D-675A1FA53DC9}"/>
              </a:ext>
            </a:extLst>
          </p:cNvPr>
          <p:cNvGrpSpPr/>
          <p:nvPr/>
        </p:nvGrpSpPr>
        <p:grpSpPr>
          <a:xfrm>
            <a:off x="8083903" y="3541758"/>
            <a:ext cx="1607344" cy="1600200"/>
            <a:chOff x="6247759" y="3543300"/>
            <a:chExt cx="1607344" cy="1600200"/>
          </a:xfrm>
        </p:grpSpPr>
        <p:pic>
          <p:nvPicPr>
            <p:cNvPr id="4" name="Picture 3" descr="A picture containing text&#10;&#10;Description automatically generated">
              <a:extLst>
                <a:ext uri="{FF2B5EF4-FFF2-40B4-BE49-F238E27FC236}">
                  <a16:creationId xmlns:a16="http://schemas.microsoft.com/office/drawing/2014/main" id="{F91B85D0-E564-489F-B755-5DBEB0E53B71}"/>
                </a:ext>
              </a:extLst>
            </p:cNvPr>
            <p:cNvPicPr>
              <a:picLocks noChangeAspect="1"/>
            </p:cNvPicPr>
            <p:nvPr/>
          </p:nvPicPr>
          <p:blipFill>
            <a:blip r:embed="rId7"/>
            <a:stretch>
              <a:fillRect/>
            </a:stretch>
          </p:blipFill>
          <p:spPr>
            <a:xfrm>
              <a:off x="6247759" y="3543300"/>
              <a:ext cx="1607344" cy="1600200"/>
            </a:xfrm>
            <a:prstGeom prst="rect">
              <a:avLst/>
            </a:prstGeom>
          </p:spPr>
        </p:pic>
        <p:sp>
          <p:nvSpPr>
            <p:cNvPr id="5" name="TextBox 4">
              <a:extLst>
                <a:ext uri="{FF2B5EF4-FFF2-40B4-BE49-F238E27FC236}">
                  <a16:creationId xmlns:a16="http://schemas.microsoft.com/office/drawing/2014/main" id="{AFB16C60-4D7D-1973-96CA-0075D4FE1350}"/>
                </a:ext>
              </a:extLst>
            </p:cNvPr>
            <p:cNvSpPr txBox="1"/>
            <p:nvPr/>
          </p:nvSpPr>
          <p:spPr>
            <a:xfrm>
              <a:off x="6690069" y="4500929"/>
              <a:ext cx="1143000" cy="381000"/>
            </a:xfrm>
            <a:prstGeom prst="rect">
              <a:avLst/>
            </a:prstGeom>
            <a:noFill/>
          </p:spPr>
          <p:txBody>
            <a:bodyPr wrap="square" rtlCol="0">
              <a:spAutoFit/>
            </a:bodyPr>
            <a:lstStyle/>
            <a:p>
              <a:r>
                <a:rPr lang="en-CA" dirty="0">
                  <a:solidFill>
                    <a:schemeClr val="bg1"/>
                  </a:solidFill>
                </a:rPr>
                <a:t>insight</a:t>
              </a:r>
            </a:p>
          </p:txBody>
        </p:sp>
      </p:grpSp>
      <p:sp>
        <p:nvSpPr>
          <p:cNvPr id="14" name="Slide Number Placeholder 14"/>
          <p:cNvSpPr>
            <a:spLocks noGrp="1"/>
          </p:cNvSpPr>
          <p:nvPr>
            <p:ph type="sldNum" sz="quarter" idx="12"/>
          </p:nvPr>
        </p:nvSpPr>
        <p:spPr/>
        <p:txBody>
          <a:bodyPr/>
          <a:lstStyle/>
          <a:p>
            <a:fld id="{9BFB2853-4965-4727-91C4-384EB30D99A4}" type="slidenum">
              <a:rPr lang="en-CA"/>
              <a:t>24</a:t>
            </a:fld>
            <a:endParaRPr lang="en-CA"/>
          </a:p>
        </p:txBody>
      </p:sp>
    </p:spTree>
    <p:extLst>
      <p:ext uri="{BB962C8B-B14F-4D97-AF65-F5344CB8AC3E}">
        <p14:creationId xmlns:p14="http://schemas.microsoft.com/office/powerpoint/2010/main" val="177217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150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 calcmode="lin" valueType="num">
                                      <p:cBhvr>
                                        <p:cTn id="17" dur="1000" fill="hold"/>
                                        <p:tgtEl>
                                          <p:spTgt spid="7"/>
                                        </p:tgtEl>
                                        <p:attrNameLst>
                                          <p:attrName>style.rotation</p:attrName>
                                        </p:attrNameLst>
                                      </p:cBhvr>
                                      <p:tavLst>
                                        <p:tav tm="0">
                                          <p:val>
                                            <p:fltVal val="90"/>
                                          </p:val>
                                        </p:tav>
                                        <p:tav tm="100000">
                                          <p:val>
                                            <p:fltVal val="0"/>
                                          </p:val>
                                        </p:tav>
                                      </p:tavLst>
                                    </p:anim>
                                    <p:animEffect transition="in" filter="fade">
                                      <p:cBhvr>
                                        <p:cTn id="18" dur="1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par>
                                <p:cTn id="23" presetID="3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1000" fill="hold"/>
                                        <p:tgtEl>
                                          <p:spTgt spid="13"/>
                                        </p:tgtEl>
                                        <p:attrNameLst>
                                          <p:attrName>ppt_w</p:attrName>
                                        </p:attrNameLst>
                                      </p:cBhvr>
                                      <p:tavLst>
                                        <p:tav tm="0">
                                          <p:val>
                                            <p:fltVal val="0"/>
                                          </p:val>
                                        </p:tav>
                                        <p:tav tm="100000">
                                          <p:val>
                                            <p:strVal val="#ppt_w"/>
                                          </p:val>
                                        </p:tav>
                                      </p:tavLst>
                                    </p:anim>
                                    <p:anim calcmode="lin" valueType="num">
                                      <p:cBhvr>
                                        <p:cTn id="26" dur="1000" fill="hold"/>
                                        <p:tgtEl>
                                          <p:spTgt spid="13"/>
                                        </p:tgtEl>
                                        <p:attrNameLst>
                                          <p:attrName>ppt_h</p:attrName>
                                        </p:attrNameLst>
                                      </p:cBhvr>
                                      <p:tavLst>
                                        <p:tav tm="0">
                                          <p:val>
                                            <p:fltVal val="0"/>
                                          </p:val>
                                        </p:tav>
                                        <p:tav tm="100000">
                                          <p:val>
                                            <p:strVal val="#ppt_h"/>
                                          </p:val>
                                        </p:tav>
                                      </p:tavLst>
                                    </p:anim>
                                    <p:anim calcmode="lin" valueType="num">
                                      <p:cBhvr>
                                        <p:cTn id="27" dur="1000" fill="hold"/>
                                        <p:tgtEl>
                                          <p:spTgt spid="13"/>
                                        </p:tgtEl>
                                        <p:attrNameLst>
                                          <p:attrName>style.rotation</p:attrName>
                                        </p:attrNameLst>
                                      </p:cBhvr>
                                      <p:tavLst>
                                        <p:tav tm="0">
                                          <p:val>
                                            <p:fltVal val="90"/>
                                          </p:val>
                                        </p:tav>
                                        <p:tav tm="100000">
                                          <p:val>
                                            <p:fltVal val="0"/>
                                          </p:val>
                                        </p:tav>
                                      </p:tavLst>
                                    </p:anim>
                                    <p:animEffect transition="in" filter="fade">
                                      <p:cBhvr>
                                        <p:cTn id="28" dur="1000"/>
                                        <p:tgtEl>
                                          <p:spTgt spid="13"/>
                                        </p:tgtEl>
                                      </p:cBhvr>
                                    </p:animEffect>
                                  </p:childTnLst>
                                </p:cTn>
                              </p:par>
                              <p:par>
                                <p:cTn id="29" presetID="42" presetClass="entr" presetSubtype="0" fill="hold" nodeType="with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Effect transition="in" filter="fade">
                                      <p:cBhvr>
                                        <p:cTn id="31" dur="1000"/>
                                        <p:tgtEl>
                                          <p:spTgt spid="12">
                                            <p:txEl>
                                              <p:pRg st="0" end="0"/>
                                            </p:txEl>
                                          </p:spTgt>
                                        </p:tgtEl>
                                      </p:cBhvr>
                                    </p:animEffect>
                                    <p:anim calcmode="lin" valueType="num">
                                      <p:cBhvr>
                                        <p:cTn id="32"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2">
                                            <p:txEl>
                                              <p:pRg st="1" end="1"/>
                                            </p:txEl>
                                          </p:spTgt>
                                        </p:tgtEl>
                                        <p:attrNameLst>
                                          <p:attrName>style.visibility</p:attrName>
                                        </p:attrNameLst>
                                      </p:cBhvr>
                                      <p:to>
                                        <p:strVal val="visible"/>
                                      </p:to>
                                    </p:set>
                                    <p:animEffect transition="in" filter="fade">
                                      <p:cBhvr>
                                        <p:cTn id="36" dur="1000"/>
                                        <p:tgtEl>
                                          <p:spTgt spid="12">
                                            <p:txEl>
                                              <p:pRg st="1" end="1"/>
                                            </p:txEl>
                                          </p:spTgt>
                                        </p:tgtEl>
                                      </p:cBhvr>
                                    </p:animEffect>
                                    <p:anim calcmode="lin" valueType="num">
                                      <p:cBhvr>
                                        <p:cTn id="37"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PCA: rotate to the views that show the most</a:t>
            </a:r>
            <a:r>
              <a:rPr lang="en-CA" dirty="0"/>
              <a:t> variance</a:t>
            </a:r>
            <a:endParaRPr dirty="0"/>
          </a:p>
        </p:txBody>
      </p:sp>
      <p:sp>
        <p:nvSpPr>
          <p:cNvPr id="4" name="TextBox 3"/>
          <p:cNvSpPr txBox="1"/>
          <p:nvPr/>
        </p:nvSpPr>
        <p:spPr>
          <a:xfrm>
            <a:off x="5943600" y="2194560"/>
            <a:ext cx="5394960" cy="2169825"/>
          </a:xfrm>
          <a:prstGeom prst="rect">
            <a:avLst/>
          </a:prstGeom>
          <a:noFill/>
        </p:spPr>
        <p:txBody>
          <a:bodyPr wrap="square">
            <a:spAutoFit/>
          </a:bodyPr>
          <a:lstStyle/>
          <a:p>
            <a:r>
              <a:rPr sz="2400" dirty="0"/>
              <a:t>PCA is a rotation of the axes: PC1 lies along the direction of greatest variance, PC2 is orthogonal to it.</a:t>
            </a:r>
          </a:p>
          <a:p>
            <a:pPr>
              <a:spcBef>
                <a:spcPts val="1800"/>
              </a:spcBef>
            </a:pPr>
            <a:r>
              <a:rPr sz="2400" b="0" dirty="0"/>
              <a:t>Outliers typically appear on the </a:t>
            </a:r>
            <a:r>
              <a:rPr sz="2400" b="1" dirty="0"/>
              <a:t>smallest</a:t>
            </a:r>
            <a:r>
              <a:rPr sz="2400" b="0" dirty="0"/>
              <a:t> dimensions</a:t>
            </a:r>
            <a:r>
              <a:rPr lang="en-CA" sz="2400" b="0" dirty="0"/>
              <a:t> (“Waldo space”)</a:t>
            </a:r>
            <a:endParaRPr sz="2400" b="0"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5.35</a:t>
            </a:r>
          </a:p>
        </p:txBody>
      </p:sp>
      <p:pic>
        <p:nvPicPr>
          <p:cNvPr id="6" name="Picture 5" descr="outlier-demo.gif"/>
          <p:cNvPicPr>
            <a:picLocks noChangeAspect="1"/>
          </p:cNvPicPr>
          <p:nvPr/>
        </p:nvPicPr>
        <p:blipFill>
          <a:blip r:embed="rId3"/>
          <a:stretch>
            <a:fillRect/>
          </a:stretch>
        </p:blipFill>
        <p:spPr>
          <a:xfrm>
            <a:off x="841248" y="1600200"/>
            <a:ext cx="4663440" cy="4663440"/>
          </a:xfrm>
          <a:prstGeom prst="rect">
            <a:avLst/>
          </a:prstGeom>
        </p:spPr>
      </p:pic>
      <p:sp>
        <p:nvSpPr>
          <p:cNvPr id="7" name="Slide Number Placeholder 7"/>
          <p:cNvSpPr>
            <a:spLocks noGrp="1"/>
          </p:cNvSpPr>
          <p:nvPr>
            <p:ph type="sldNum" sz="quarter" idx="12"/>
          </p:nvPr>
        </p:nvSpPr>
        <p:spPr/>
        <p:txBody>
          <a:bodyPr/>
          <a:lstStyle/>
          <a:p>
            <a:fld id="{9BFB2853-4965-4727-91C4-384EB30D99A4}" type="slidenum">
              <a:rPr lang="en-CA"/>
              <a:t>25</a:t>
            </a:fld>
            <a:endParaRPr lang="en-CA"/>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PCA fitted by springs</a:t>
            </a:r>
            <a:r>
              <a:rPr lang="en-CA" dirty="0"/>
              <a:t>: Physical analog</a:t>
            </a:r>
            <a:endParaRPr dirty="0"/>
          </a:p>
        </p:txBody>
      </p:sp>
      <p:pic>
        <p:nvPicPr>
          <p:cNvPr id="3" name="Picture 2" descr="pca-springs-cropped.gif"/>
          <p:cNvPicPr>
            <a:picLocks noChangeAspect="1"/>
          </p:cNvPicPr>
          <p:nvPr/>
        </p:nvPicPr>
        <p:blipFill>
          <a:blip r:embed="rId3"/>
          <a:stretch>
            <a:fillRect/>
          </a:stretch>
        </p:blipFill>
        <p:spPr>
          <a:xfrm>
            <a:off x="641873" y="1522254"/>
            <a:ext cx="5454127" cy="481869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5.5</a:t>
            </a:r>
          </a:p>
        </p:txBody>
      </p:sp>
      <p:sp>
        <p:nvSpPr>
          <p:cNvPr id="6" name="TextBox 5">
            <a:extLst>
              <a:ext uri="{FF2B5EF4-FFF2-40B4-BE49-F238E27FC236}">
                <a16:creationId xmlns:a16="http://schemas.microsoft.com/office/drawing/2014/main" id="{698B2365-5A5E-F011-8658-438DB0B23149}"/>
              </a:ext>
            </a:extLst>
          </p:cNvPr>
          <p:cNvSpPr txBox="1"/>
          <p:nvPr/>
        </p:nvSpPr>
        <p:spPr>
          <a:xfrm>
            <a:off x="6702014" y="1615705"/>
            <a:ext cx="4875713" cy="3139321"/>
          </a:xfrm>
          <a:prstGeom prst="rect">
            <a:avLst/>
          </a:prstGeom>
          <a:noFill/>
        </p:spPr>
        <p:txBody>
          <a:bodyPr wrap="square" rtlCol="0">
            <a:spAutoFit/>
          </a:bodyPr>
          <a:lstStyle/>
          <a:p>
            <a:r>
              <a:rPr lang="en-CA" dirty="0"/>
              <a:t>Least squares </a:t>
            </a:r>
            <a:r>
              <a:rPr lang="en-CA" dirty="0">
                <a:sym typeface="Symbol" panose="05050102010706020507" pitchFamily="18" charset="2"/>
              </a:rPr>
              <a:t> observations connected by springs </a:t>
            </a:r>
          </a:p>
          <a:p>
            <a:endParaRPr lang="en-CA" dirty="0">
              <a:sym typeface="Symbol" panose="05050102010706020507" pitchFamily="18" charset="2"/>
            </a:endParaRPr>
          </a:p>
          <a:p>
            <a:r>
              <a:rPr lang="en-CA" dirty="0">
                <a:sym typeface="Symbol" panose="05050102010706020507" pitchFamily="18" charset="2"/>
              </a:rPr>
              <a:t>For PCA, connect a rigid line to the points by springs</a:t>
            </a:r>
          </a:p>
          <a:p>
            <a:endParaRPr lang="en-CA" dirty="0">
              <a:sym typeface="Symbol" panose="05050102010706020507" pitchFamily="18" charset="2"/>
            </a:endParaRPr>
          </a:p>
          <a:p>
            <a:r>
              <a:rPr lang="en-CA" dirty="0"/>
              <a:t>Springs pull the line in proportion to squared distance</a:t>
            </a:r>
          </a:p>
          <a:p>
            <a:endParaRPr lang="en-CA" dirty="0"/>
          </a:p>
          <a:p>
            <a:r>
              <a:rPr lang="en-CA" dirty="0"/>
              <a:t>It settles on the first principal component</a:t>
            </a:r>
            <a:endParaRPr lang="en-CA" dirty="0">
              <a:sym typeface="Symbol" panose="05050102010706020507" pitchFamily="18" charset="2"/>
            </a:endParaRPr>
          </a:p>
          <a:p>
            <a:endParaRPr lang="en-CA" dirty="0"/>
          </a:p>
        </p:txBody>
      </p:sp>
      <p:sp>
        <p:nvSpPr>
          <p:cNvPr id="7" name="Slide Number Placeholder 7"/>
          <p:cNvSpPr>
            <a:spLocks noGrp="1"/>
          </p:cNvSpPr>
          <p:nvPr>
            <p:ph type="sldNum" sz="quarter" idx="12"/>
          </p:nvPr>
        </p:nvSpPr>
        <p:spPr/>
        <p:txBody>
          <a:bodyPr/>
          <a:lstStyle/>
          <a:p>
            <a:fld id="{9BFB2853-4965-4727-91C4-384EB30D99A4}" type="slidenum">
              <a:rPr lang="en-CA"/>
              <a:t>26</a:t>
            </a:fld>
            <a:endParaRPr lang="en-CA"/>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Biplots: observations and variables in one view</a:t>
            </a:r>
          </a:p>
        </p:txBody>
      </p:sp>
      <p:sp>
        <p:nvSpPr>
          <p:cNvPr id="3" name="Content Placeholder 2"/>
          <p:cNvSpPr>
            <a:spLocks noGrp="1"/>
          </p:cNvSpPr>
          <p:nvPr>
            <p:ph sz="half" idx="1"/>
          </p:nvPr>
        </p:nvSpPr>
        <p:spPr>
          <a:xfrm>
            <a:off x="838200" y="1643063"/>
            <a:ext cx="4754078" cy="4533900"/>
          </a:xfrm>
        </p:spPr>
        <p:txBody>
          <a:bodyPr/>
          <a:lstStyle/>
          <a:p>
            <a:r>
              <a:rPr b="1" dirty="0"/>
              <a:t>Points</a:t>
            </a:r>
            <a:r>
              <a:rPr dirty="0"/>
              <a:t>: observations (US states) in the PC1-PC2 plane</a:t>
            </a:r>
          </a:p>
          <a:p>
            <a:r>
              <a:rPr b="1" dirty="0"/>
              <a:t>Vectors</a:t>
            </a:r>
            <a:r>
              <a:rPr dirty="0"/>
              <a:t>: variables (crime rates)</a:t>
            </a:r>
          </a:p>
          <a:p>
            <a:pPr lvl="1"/>
            <a:r>
              <a:rPr b="1" dirty="0"/>
              <a:t>Angles</a:t>
            </a:r>
            <a:r>
              <a:rPr dirty="0"/>
              <a:t> between vectors approximate correlations</a:t>
            </a:r>
          </a:p>
          <a:p>
            <a:pPr lvl="1"/>
            <a:r>
              <a:rPr b="1" dirty="0"/>
              <a:t>Projecting</a:t>
            </a:r>
            <a:r>
              <a:rPr dirty="0"/>
              <a:t> a point on a vector approximates its value on that variable</a:t>
            </a:r>
            <a:endParaRPr lang="en-CA" dirty="0"/>
          </a:p>
          <a:p>
            <a:r>
              <a:rPr lang="en-CA" dirty="0"/>
              <a:t>Interpretation:</a:t>
            </a:r>
          </a:p>
          <a:p>
            <a:pPr lvl="1"/>
            <a:r>
              <a:rPr lang="en-CA" dirty="0"/>
              <a:t>PC1: Overall crime rate</a:t>
            </a:r>
          </a:p>
          <a:p>
            <a:pPr lvl="1"/>
            <a:r>
              <a:rPr lang="en-CA" dirty="0"/>
              <a:t>PC2: Personal vs. property crime</a:t>
            </a:r>
          </a:p>
          <a:p>
            <a:pPr lvl="1"/>
            <a:r>
              <a:rPr lang="en-CA" dirty="0"/>
              <a:t>Region: summarizes diffs</a:t>
            </a:r>
            <a:endParaRPr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5.14</a:t>
            </a:r>
          </a:p>
        </p:txBody>
      </p:sp>
      <p:pic>
        <p:nvPicPr>
          <p:cNvPr id="7" name="Picture 6" descr="ggbiplot-logo.png"/>
          <p:cNvPicPr>
            <a:picLocks noChangeAspect="1"/>
          </p:cNvPicPr>
          <p:nvPr/>
        </p:nvPicPr>
        <p:blipFill>
          <a:blip r:embed="rId3"/>
          <a:stretch>
            <a:fillRect/>
          </a:stretch>
        </p:blipFill>
        <p:spPr>
          <a:xfrm>
            <a:off x="10530840" y="460599"/>
            <a:ext cx="822960" cy="952051"/>
          </a:xfrm>
          <a:prstGeom prst="rect">
            <a:avLst/>
          </a:prstGeom>
        </p:spPr>
      </p:pic>
      <p:pic>
        <p:nvPicPr>
          <p:cNvPr id="6" name="Picture 5">
            <a:extLst>
              <a:ext uri="{FF2B5EF4-FFF2-40B4-BE49-F238E27FC236}">
                <a16:creationId xmlns:a16="http://schemas.microsoft.com/office/drawing/2014/main" id="{99D97459-E713-AD46-89DA-B4BCEAF419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1602" y="1487891"/>
            <a:ext cx="4754078" cy="5008227"/>
          </a:xfrm>
          <a:prstGeom prst="rect">
            <a:avLst/>
          </a:prstGeom>
        </p:spPr>
      </p:pic>
      <p:sp>
        <p:nvSpPr>
          <p:cNvPr id="8" name="Slide Number Placeholder 8"/>
          <p:cNvSpPr>
            <a:spLocks noGrp="1"/>
          </p:cNvSpPr>
          <p:nvPr>
            <p:ph type="sldNum" sz="quarter" idx="12"/>
          </p:nvPr>
        </p:nvSpPr>
        <p:spPr/>
        <p:txBody>
          <a:bodyPr/>
          <a:lstStyle/>
          <a:p>
            <a:fld id="{9BFB2853-4965-4727-91C4-384EB30D99A4}" type="slidenum">
              <a:rPr lang="en-CA"/>
              <a:t>27</a:t>
            </a:fld>
            <a:endParaRPr lang="en-CA"/>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Biplot: The data juicer</a:t>
            </a:r>
          </a:p>
        </p:txBody>
      </p:sp>
      <p:sp>
        <p:nvSpPr>
          <p:cNvPr id="5" name="TextBox 4"/>
          <p:cNvSpPr txBox="1"/>
          <p:nvPr/>
        </p:nvSpPr>
        <p:spPr>
          <a:xfrm>
            <a:off x="838200" y="1412599"/>
            <a:ext cx="8160655" cy="1200329"/>
          </a:xfrm>
          <a:prstGeom prst="rect">
            <a:avLst/>
          </a:prstGeom>
          <a:solidFill>
            <a:srgbClr val="FFFF00">
              <a:alpha val="10000"/>
            </a:srgbClr>
          </a:solidFill>
        </p:spPr>
        <p:txBody>
          <a:bodyPr wrap="square" rtlCol="0">
            <a:spAutoFit/>
          </a:bodyPr>
          <a:lstStyle/>
          <a:p>
            <a:r>
              <a:rPr lang="en-US" dirty="0" err="1"/>
              <a:t>peng.pca</a:t>
            </a:r>
            <a:r>
              <a:rPr lang="en-US" dirty="0"/>
              <a:t> &lt;- </a:t>
            </a:r>
            <a:r>
              <a:rPr lang="en-CA" dirty="0" err="1"/>
              <a:t>prcomp</a:t>
            </a:r>
            <a:r>
              <a:rPr lang="en-CA" dirty="0"/>
              <a:t> (~ </a:t>
            </a:r>
            <a:r>
              <a:rPr lang="en-CA" dirty="0" err="1"/>
              <a:t>bill_length</a:t>
            </a:r>
            <a:r>
              <a:rPr lang="en-CA" dirty="0"/>
              <a:t> + </a:t>
            </a:r>
            <a:r>
              <a:rPr lang="en-CA" dirty="0" err="1"/>
              <a:t>bill_depth</a:t>
            </a:r>
            <a:r>
              <a:rPr lang="en-CA" dirty="0"/>
              <a:t> + </a:t>
            </a:r>
            <a:r>
              <a:rPr lang="en-CA" dirty="0" err="1"/>
              <a:t>flipper_length</a:t>
            </a:r>
            <a:r>
              <a:rPr lang="en-CA" dirty="0"/>
              <a:t> + </a:t>
            </a:r>
            <a:r>
              <a:rPr lang="en-CA" dirty="0" err="1"/>
              <a:t>body_mass</a:t>
            </a:r>
            <a:r>
              <a:rPr lang="en-CA" dirty="0"/>
              <a:t>)</a:t>
            </a:r>
            <a:endParaRPr lang="en-US" dirty="0"/>
          </a:p>
          <a:p>
            <a:r>
              <a:rPr lang="en-US" dirty="0"/>
              <a:t>library(</a:t>
            </a:r>
            <a:r>
              <a:rPr lang="en-US" dirty="0" err="1"/>
              <a:t>ggbiplot</a:t>
            </a:r>
            <a:r>
              <a:rPr lang="en-US" dirty="0"/>
              <a:t>)</a:t>
            </a:r>
          </a:p>
          <a:p>
            <a:r>
              <a:rPr lang="en-US" dirty="0" err="1"/>
              <a:t>ggbiplot</a:t>
            </a:r>
            <a:r>
              <a:rPr lang="en-US" dirty="0"/>
              <a:t>(</a:t>
            </a:r>
            <a:r>
              <a:rPr lang="en-US" dirty="0" err="1"/>
              <a:t>peng.pca</a:t>
            </a:r>
            <a:r>
              <a:rPr lang="en-US" dirty="0"/>
              <a:t>, </a:t>
            </a:r>
            <a:r>
              <a:rPr lang="en-US" dirty="0" err="1"/>
              <a:t>obs.scale</a:t>
            </a:r>
            <a:r>
              <a:rPr lang="en-US" dirty="0"/>
              <a:t> = 1, </a:t>
            </a:r>
            <a:r>
              <a:rPr lang="en-US" dirty="0" err="1"/>
              <a:t>var.scale</a:t>
            </a:r>
            <a:r>
              <a:rPr lang="en-US" dirty="0"/>
              <a:t> = 1,</a:t>
            </a:r>
          </a:p>
          <a:p>
            <a:r>
              <a:rPr lang="en-US" dirty="0"/>
              <a:t>         groups = </a:t>
            </a:r>
            <a:r>
              <a:rPr lang="en-US" dirty="0" err="1"/>
              <a:t>peng$species</a:t>
            </a:r>
            <a:r>
              <a:rPr lang="en-US" dirty="0"/>
              <a:t>,  ellipse = TRUE) </a:t>
            </a:r>
          </a:p>
        </p:txBody>
      </p:sp>
      <p:sp>
        <p:nvSpPr>
          <p:cNvPr id="6" name="TextBox 5"/>
          <p:cNvSpPr txBox="1"/>
          <p:nvPr/>
        </p:nvSpPr>
        <p:spPr>
          <a:xfrm>
            <a:off x="961390" y="2851152"/>
            <a:ext cx="5935169" cy="2031325"/>
          </a:xfrm>
          <a:prstGeom prst="rect">
            <a:avLst/>
          </a:prstGeom>
          <a:noFill/>
        </p:spPr>
        <p:txBody>
          <a:bodyPr wrap="square" rtlCol="0">
            <a:spAutoFit/>
          </a:bodyPr>
          <a:lstStyle/>
          <a:p>
            <a:r>
              <a:rPr lang="en-US" dirty="0"/>
              <a:t>PC1, PC2 ~ 88.1% of variance</a:t>
            </a:r>
          </a:p>
          <a:p>
            <a:endParaRPr lang="en-US" dirty="0"/>
          </a:p>
          <a:p>
            <a:pPr marL="285750" indent="-285750">
              <a:buFont typeface="Arial" pitchFamily="34" charset="0"/>
              <a:buChar char="•"/>
            </a:pPr>
            <a:r>
              <a:rPr lang="en-US" dirty="0"/>
              <a:t>PC1: largely flipper length &amp; body mass: “penguin size”</a:t>
            </a:r>
          </a:p>
          <a:p>
            <a:pPr marL="285750" indent="-285750">
              <a:buFont typeface="Arial" pitchFamily="34" charset="0"/>
              <a:buChar char="•"/>
            </a:pPr>
            <a:r>
              <a:rPr lang="en-US" dirty="0"/>
              <a:t>PC2: relates to “bill shape”</a:t>
            </a:r>
          </a:p>
          <a:p>
            <a:endParaRPr lang="en-US" dirty="0"/>
          </a:p>
          <a:p>
            <a:r>
              <a:rPr lang="en-US" dirty="0"/>
              <a:t>Easy to characterize the species in terms of these variables</a:t>
            </a:r>
          </a:p>
        </p:txBody>
      </p:sp>
      <p:sp>
        <p:nvSpPr>
          <p:cNvPr id="10" name="Rectangle 9"/>
          <p:cNvSpPr/>
          <p:nvPr/>
        </p:nvSpPr>
        <p:spPr>
          <a:xfrm>
            <a:off x="3537438" y="6281429"/>
            <a:ext cx="4158762" cy="307777"/>
          </a:xfrm>
          <a:prstGeom prst="rect">
            <a:avLst/>
          </a:prstGeom>
        </p:spPr>
        <p:txBody>
          <a:bodyPr wrap="square">
            <a:spAutoFit/>
          </a:bodyPr>
          <a:lstStyle/>
          <a:p>
            <a:r>
              <a:rPr lang="en-US" sz="1400" dirty="0"/>
              <a:t>See: </a:t>
            </a:r>
            <a:r>
              <a:rPr lang="en-US" sz="1400" dirty="0">
                <a:hlinkClick r:id="rId3"/>
              </a:rPr>
              <a:t>https://rpubs.com/friendly/penguin-biplots</a:t>
            </a:r>
            <a:r>
              <a:rPr lang="en-US" sz="1400" dirty="0"/>
              <a:t> </a:t>
            </a:r>
          </a:p>
        </p:txBody>
      </p:sp>
      <p:pic>
        <p:nvPicPr>
          <p:cNvPr id="7" name="Picture 6" descr="A hexagon with arrows pointing to different colors&#10;&#10;Description automatically generated">
            <a:extLst>
              <a:ext uri="{FF2B5EF4-FFF2-40B4-BE49-F238E27FC236}">
                <a16:creationId xmlns:a16="http://schemas.microsoft.com/office/drawing/2014/main" id="{352CFB44-4705-A743-E8CA-66146EFFAA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65159" y="524599"/>
            <a:ext cx="888641" cy="1028036"/>
          </a:xfrm>
          <a:prstGeom prst="rect">
            <a:avLst/>
          </a:prstGeom>
        </p:spPr>
      </p:pic>
      <p:pic>
        <p:nvPicPr>
          <p:cNvPr id="8" name="Picture 7">
            <a:extLst>
              <a:ext uri="{FF2B5EF4-FFF2-40B4-BE49-F238E27FC236}">
                <a16:creationId xmlns:a16="http://schemas.microsoft.com/office/drawing/2014/main" id="{5362A697-C83C-9B56-621B-3B63161F45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99681" y="2310400"/>
            <a:ext cx="4686559" cy="4045950"/>
          </a:xfrm>
          <a:prstGeom prst="rect">
            <a:avLst/>
          </a:prstGeom>
        </p:spPr>
      </p:pic>
      <p:sp>
        <p:nvSpPr>
          <p:cNvPr id="11" name="Slide Number Placeholder 11"/>
          <p:cNvSpPr>
            <a:spLocks noGrp="1"/>
          </p:cNvSpPr>
          <p:nvPr>
            <p:ph type="sldNum" sz="quarter" idx="12"/>
          </p:nvPr>
        </p:nvSpPr>
        <p:spPr/>
        <p:txBody>
          <a:bodyPr/>
          <a:lstStyle/>
          <a:p>
            <a:fld id="{9BFB2853-4965-4727-91C4-384EB30D99A4}" type="slidenum">
              <a:rPr lang="en-CA"/>
              <a:t>28</a:t>
            </a:fld>
            <a:endParaRPr lang="en-CA"/>
          </a:p>
        </p:txBody>
      </p:sp>
    </p:spTree>
    <p:extLst>
      <p:ext uri="{BB962C8B-B14F-4D97-AF65-F5344CB8AC3E}">
        <p14:creationId xmlns:p14="http://schemas.microsoft.com/office/powerpoint/2010/main" val="1808144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When a linear view is not enough: PCA </a:t>
            </a:r>
            <a:r>
              <a:rPr lang="en-CA" dirty="0"/>
              <a:t>vs</a:t>
            </a:r>
            <a:r>
              <a:rPr dirty="0"/>
              <a:t> t-SNE</a:t>
            </a:r>
          </a:p>
        </p:txBody>
      </p:sp>
      <p:pic>
        <p:nvPicPr>
          <p:cNvPr id="3" name="Picture 2" descr="diabetes-pca-tsne.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707886"/>
          </a:xfrm>
          <a:prstGeom prst="rect">
            <a:avLst/>
          </a:prstGeom>
          <a:noFill/>
        </p:spPr>
        <p:txBody>
          <a:bodyPr wrap="square">
            <a:spAutoFit/>
          </a:bodyPr>
          <a:lstStyle/>
          <a:p>
            <a:r>
              <a:rPr sz="2000" dirty="0"/>
              <a:t>t-SNE separates the Diabetes groups more cleanly, but distances </a:t>
            </a:r>
            <a:r>
              <a:rPr lang="en-CA" sz="2000" dirty="0"/>
              <a:t>&amp;</a:t>
            </a:r>
            <a:r>
              <a:rPr sz="2000" dirty="0"/>
              <a:t> axes no longer have a direct meaning.</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5.25</a:t>
            </a:r>
          </a:p>
        </p:txBody>
      </p:sp>
      <p:sp>
        <p:nvSpPr>
          <p:cNvPr id="6" name="Slide Number Placeholder 6"/>
          <p:cNvSpPr>
            <a:spLocks noGrp="1"/>
          </p:cNvSpPr>
          <p:nvPr>
            <p:ph type="sldNum" sz="quarter" idx="12"/>
          </p:nvPr>
        </p:nvSpPr>
        <p:spPr/>
        <p:txBody>
          <a:bodyPr/>
          <a:lstStyle/>
          <a:p>
            <a:fld id="{9BFB2853-4965-4727-91C4-384EB30D99A4}" type="slidenum">
              <a:rPr lang="en-CA"/>
              <a:t>29</a:t>
            </a:fld>
            <a:endParaRPr lang="en-CA"/>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PCA to t-SNE, animated</a:t>
            </a:r>
          </a:p>
        </p:txBody>
      </p:sp>
      <p:pic>
        <p:nvPicPr>
          <p:cNvPr id="3" name="Picture 2" descr="diabetes-pca-tsne.gif"/>
          <p:cNvPicPr>
            <a:picLocks noChangeAspect="1"/>
          </p:cNvPicPr>
          <p:nvPr/>
        </p:nvPicPr>
        <p:blipFill>
          <a:blip r:embed="rId3"/>
          <a:stretch>
            <a:fillRect/>
          </a:stretch>
        </p:blipFill>
        <p:spPr>
          <a:xfrm>
            <a:off x="6333424" y="1327485"/>
            <a:ext cx="4861560" cy="486156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5.26</a:t>
            </a:r>
          </a:p>
        </p:txBody>
      </p:sp>
      <p:sp>
        <p:nvSpPr>
          <p:cNvPr id="6" name="TextBox 5">
            <a:extLst>
              <a:ext uri="{FF2B5EF4-FFF2-40B4-BE49-F238E27FC236}">
                <a16:creationId xmlns:a16="http://schemas.microsoft.com/office/drawing/2014/main" id="{309B4190-46A6-9C16-602C-E46B6788A35E}"/>
              </a:ext>
            </a:extLst>
          </p:cNvPr>
          <p:cNvSpPr txBox="1"/>
          <p:nvPr/>
        </p:nvSpPr>
        <p:spPr>
          <a:xfrm>
            <a:off x="838201" y="1665171"/>
            <a:ext cx="5379720" cy="3754874"/>
          </a:xfrm>
          <a:prstGeom prst="rect">
            <a:avLst/>
          </a:prstGeom>
          <a:noFill/>
        </p:spPr>
        <p:txBody>
          <a:bodyPr wrap="square" rtlCol="0">
            <a:spAutoFit/>
          </a:bodyPr>
          <a:lstStyle/>
          <a:p>
            <a:r>
              <a:rPr lang="en-CA" sz="2000" dirty="0"/>
              <a:t>We can better understand algorithms visually by animating a </a:t>
            </a:r>
            <a:r>
              <a:rPr lang="en-CA" sz="2000" b="1" dirty="0"/>
              <a:t>smooth interpolation </a:t>
            </a:r>
            <a:r>
              <a:rPr lang="en-CA" sz="2000" dirty="0"/>
              <a:t>from one to another</a:t>
            </a:r>
          </a:p>
          <a:p>
            <a:endParaRPr lang="en-CA" sz="2000" dirty="0"/>
          </a:p>
          <a:p>
            <a:r>
              <a:rPr lang="en-CA" sz="2000" dirty="0"/>
              <a:t>Here, the PCA configuration morphs into the t-SNE one largely by a rotation.</a:t>
            </a:r>
          </a:p>
          <a:p>
            <a:endParaRPr lang="en-CA" sz="2000" dirty="0"/>
          </a:p>
          <a:p>
            <a:r>
              <a:rPr lang="en-CA" sz="2000" dirty="0"/>
              <a:t>But t-SNE achieves wider separation among groups</a:t>
            </a:r>
          </a:p>
          <a:p>
            <a:r>
              <a:rPr lang="en-CA" sz="2000" dirty="0"/>
              <a:t>The data ellipses here carry the visual message.</a:t>
            </a:r>
          </a:p>
          <a:p>
            <a:endParaRPr lang="en-CA" dirty="0"/>
          </a:p>
        </p:txBody>
      </p:sp>
      <p:sp>
        <p:nvSpPr>
          <p:cNvPr id="7" name="Slide Number Placeholder 7"/>
          <p:cNvSpPr>
            <a:spLocks noGrp="1"/>
          </p:cNvSpPr>
          <p:nvPr>
            <p:ph type="sldNum" sz="quarter" idx="12"/>
          </p:nvPr>
        </p:nvSpPr>
        <p:spPr/>
        <p:txBody>
          <a:bodyPr/>
          <a:lstStyle/>
          <a:p>
            <a:fld id="{9BFB2853-4965-4727-91C4-384EB30D99A4}" type="slidenum">
              <a:rPr lang="en-CA"/>
              <a:t>30</a:t>
            </a:fld>
            <a:endParaRPr lang="en-CA"/>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497883"/>
            <a:ext cx="10515600" cy="2852737"/>
          </a:xfrm>
        </p:spPr>
        <p:txBody>
          <a:bodyPr/>
          <a:lstStyle/>
          <a:p>
            <a:r>
              <a:rPr lang="en-CA" dirty="0"/>
              <a:t>Elliptical Insights</a:t>
            </a:r>
            <a:endParaRPr dirty="0"/>
          </a:p>
        </p:txBody>
      </p:sp>
      <p:sp>
        <p:nvSpPr>
          <p:cNvPr id="3" name="Text Placeholder 2"/>
          <p:cNvSpPr>
            <a:spLocks noGrp="1"/>
          </p:cNvSpPr>
          <p:nvPr>
            <p:ph type="body" idx="1"/>
          </p:nvPr>
        </p:nvSpPr>
        <p:spPr>
          <a:xfrm>
            <a:off x="831850" y="3664044"/>
            <a:ext cx="10515600" cy="3001161"/>
          </a:xfrm>
        </p:spPr>
        <p:txBody>
          <a:bodyPr/>
          <a:lstStyle/>
          <a:p>
            <a:r>
              <a:rPr lang="en-CA" dirty="0"/>
              <a:t>Visual understanding of problems in statistics that only confound us in tables &amp; formulas</a:t>
            </a:r>
          </a:p>
          <a:p>
            <a:pPr marL="342900" indent="-342900">
              <a:buFont typeface="Arial" panose="020B0604020202020204" pitchFamily="34" charset="0"/>
              <a:buChar char="•"/>
            </a:pPr>
            <a:r>
              <a:rPr lang="en-CA" dirty="0"/>
              <a:t>Outlier detection</a:t>
            </a:r>
          </a:p>
          <a:p>
            <a:pPr marL="342900" indent="-342900">
              <a:buFont typeface="Arial" panose="020B0604020202020204" pitchFamily="34" charset="0"/>
              <a:buChar char="•"/>
            </a:pPr>
            <a:r>
              <a:rPr lang="en-CA" dirty="0"/>
              <a:t>Measurement error</a:t>
            </a:r>
          </a:p>
          <a:p>
            <a:pPr marL="342900" indent="-342900">
              <a:buFont typeface="Arial" panose="020B0604020202020204" pitchFamily="34" charset="0"/>
              <a:buChar char="•"/>
            </a:pPr>
            <a:r>
              <a:rPr lang="en-CA" dirty="0"/>
              <a:t>Understanding collinearity</a:t>
            </a:r>
          </a:p>
          <a:p>
            <a:pPr marL="342900" indent="-342900">
              <a:buFont typeface="Arial" panose="020B0604020202020204" pitchFamily="34" charset="0"/>
              <a:buChar char="•"/>
            </a:pPr>
            <a:r>
              <a:rPr lang="en-CA" dirty="0"/>
              <a:t>Ridge regression</a:t>
            </a:r>
            <a:endParaRPr dirty="0"/>
          </a:p>
        </p:txBody>
      </p:sp>
      <p:sp>
        <p:nvSpPr>
          <p:cNvPr id="4" name="Slide Number Placeholder 4"/>
          <p:cNvSpPr>
            <a:spLocks noGrp="1"/>
          </p:cNvSpPr>
          <p:nvPr>
            <p:ph type="sldNum" sz="quarter" idx="12"/>
          </p:nvPr>
        </p:nvSpPr>
        <p:spPr/>
        <p:txBody>
          <a:bodyPr/>
          <a:lstStyle/>
          <a:p>
            <a:fld id="{9BFB2853-4965-4727-91C4-384EB30D99A4}" type="slidenum">
              <a:rPr lang="en-CA"/>
              <a:t>31</a:t>
            </a:fld>
            <a:endParaRPr lang="en-CA"/>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Outlier detection: </a:t>
            </a:r>
            <a:r>
              <a:rPr lang="en-CA" dirty="0" err="1"/>
              <a:t>Waar</a:t>
            </a:r>
            <a:r>
              <a:rPr lang="en-CA" dirty="0"/>
              <a:t> is Wally?</a:t>
            </a:r>
            <a:endParaRPr lang="en-US" dirty="0"/>
          </a:p>
        </p:txBody>
      </p:sp>
      <p:sp>
        <p:nvSpPr>
          <p:cNvPr id="3" name="Content Placeholder 2"/>
          <p:cNvSpPr>
            <a:spLocks noGrp="1"/>
          </p:cNvSpPr>
          <p:nvPr>
            <p:ph idx="1"/>
          </p:nvPr>
        </p:nvSpPr>
        <p:spPr>
          <a:xfrm>
            <a:off x="838200" y="1143000"/>
            <a:ext cx="10515600" cy="1600200"/>
          </a:xfrm>
        </p:spPr>
        <p:txBody>
          <a:bodyPr>
            <a:normAutofit/>
          </a:bodyPr>
          <a:lstStyle/>
          <a:p>
            <a:r>
              <a:rPr lang="en-US" dirty="0"/>
              <a:t>Multivariate outliers might be invisible in </a:t>
            </a:r>
            <a:r>
              <a:rPr lang="en-US" dirty="0" err="1"/>
              <a:t>univariate</a:t>
            </a:r>
            <a:r>
              <a:rPr lang="en-US" dirty="0"/>
              <a:t> views, but become readily apparent on the </a:t>
            </a:r>
            <a:r>
              <a:rPr lang="en-US" i="1" dirty="0">
                <a:solidFill>
                  <a:srgbClr val="FF0000"/>
                </a:solidFill>
              </a:rPr>
              <a:t>smallest</a:t>
            </a:r>
            <a:r>
              <a:rPr lang="en-US" dirty="0"/>
              <a:t> principal component</a:t>
            </a:r>
          </a:p>
          <a:p>
            <a:pPr lvl="1"/>
            <a:r>
              <a:rPr lang="en-US" dirty="0"/>
              <a:t>100 observations on two correlated normal variables with two bivariate outliers near (2,2), (-2, -2)</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2895600"/>
            <a:ext cx="3335714" cy="3228572"/>
          </a:xfrm>
          <a:prstGeom prst="rect">
            <a:avLst/>
          </a:prstGeom>
        </p:spPr>
      </p:pic>
      <p:sp>
        <p:nvSpPr>
          <p:cNvPr id="7" name="TextBox 6"/>
          <p:cNvSpPr txBox="1"/>
          <p:nvPr/>
        </p:nvSpPr>
        <p:spPr>
          <a:xfrm>
            <a:off x="1134737" y="6170024"/>
            <a:ext cx="7933063" cy="369332"/>
          </a:xfrm>
          <a:prstGeom prst="rect">
            <a:avLst/>
          </a:prstGeom>
          <a:noFill/>
        </p:spPr>
        <p:txBody>
          <a:bodyPr wrap="square" rtlCol="0">
            <a:spAutoFit/>
          </a:bodyPr>
          <a:lstStyle/>
          <a:p>
            <a:r>
              <a:rPr lang="en-US" dirty="0"/>
              <a:t>Animation: </a:t>
            </a:r>
            <a:r>
              <a:rPr lang="en-US" dirty="0">
                <a:hlinkClick r:id="rId4"/>
              </a:rPr>
              <a:t>http://www.datavis.ca/gallery/animation/outlier-demo/</a:t>
            </a:r>
            <a:r>
              <a:rPr lang="en-US" dirty="0"/>
              <a:t> </a:t>
            </a:r>
          </a:p>
        </p:txBody>
      </p:sp>
      <p:sp>
        <p:nvSpPr>
          <p:cNvPr id="10" name="Oval 9">
            <a:extLst>
              <a:ext uri="{FF2B5EF4-FFF2-40B4-BE49-F238E27FC236}">
                <a16:creationId xmlns:a16="http://schemas.microsoft.com/office/drawing/2014/main" id="{BB337D7C-21AE-3280-AE87-D795CAF4F77B}"/>
              </a:ext>
            </a:extLst>
          </p:cNvPr>
          <p:cNvSpPr/>
          <p:nvPr/>
        </p:nvSpPr>
        <p:spPr>
          <a:xfrm>
            <a:off x="3243945" y="3505200"/>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001ABCAC-63E1-2F1E-AD2A-BB18D9F3332D}"/>
              </a:ext>
            </a:extLst>
          </p:cNvPr>
          <p:cNvSpPr/>
          <p:nvPr/>
        </p:nvSpPr>
        <p:spPr>
          <a:xfrm>
            <a:off x="4724400" y="4876800"/>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4601" y="2901045"/>
            <a:ext cx="3385715" cy="3221429"/>
          </a:xfrm>
          <a:prstGeom prst="rect">
            <a:avLst/>
          </a:prstGeom>
        </p:spPr>
      </p:pic>
      <p:grpSp>
        <p:nvGrpSpPr>
          <p:cNvPr id="14" name="Group 13">
            <a:extLst>
              <a:ext uri="{FF2B5EF4-FFF2-40B4-BE49-F238E27FC236}">
                <a16:creationId xmlns:a16="http://schemas.microsoft.com/office/drawing/2014/main" id="{30671532-BF30-807E-8298-B842C5155737}"/>
              </a:ext>
            </a:extLst>
          </p:cNvPr>
          <p:cNvGrpSpPr/>
          <p:nvPr/>
        </p:nvGrpSpPr>
        <p:grpSpPr>
          <a:xfrm>
            <a:off x="8010926" y="3133998"/>
            <a:ext cx="488934" cy="2581003"/>
            <a:chOff x="6486926" y="3133997"/>
            <a:chExt cx="488934" cy="2581003"/>
          </a:xfrm>
        </p:grpSpPr>
        <p:sp>
          <p:nvSpPr>
            <p:cNvPr id="9" name="Oval 8">
              <a:extLst>
                <a:ext uri="{FF2B5EF4-FFF2-40B4-BE49-F238E27FC236}">
                  <a16:creationId xmlns:a16="http://schemas.microsoft.com/office/drawing/2014/main" id="{ECB8E533-E97C-C8DF-C06A-008964E0F708}"/>
                </a:ext>
              </a:extLst>
            </p:cNvPr>
            <p:cNvSpPr/>
            <p:nvPr/>
          </p:nvSpPr>
          <p:spPr>
            <a:xfrm>
              <a:off x="6671060" y="5410200"/>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8A759897-B997-4E5D-6B0E-E6ACE70AC9B7}"/>
                </a:ext>
              </a:extLst>
            </p:cNvPr>
            <p:cNvSpPr/>
            <p:nvPr/>
          </p:nvSpPr>
          <p:spPr>
            <a:xfrm>
              <a:off x="6486926" y="3133997"/>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13" name="Arrow: Right 12">
            <a:extLst>
              <a:ext uri="{FF2B5EF4-FFF2-40B4-BE49-F238E27FC236}">
                <a16:creationId xmlns:a16="http://schemas.microsoft.com/office/drawing/2014/main" id="{8AFCCD3D-C3CA-5C4D-647D-D576A42BF5B4}"/>
              </a:ext>
            </a:extLst>
          </p:cNvPr>
          <p:cNvSpPr/>
          <p:nvPr/>
        </p:nvSpPr>
        <p:spPr>
          <a:xfrm>
            <a:off x="5676900" y="2895600"/>
            <a:ext cx="838200" cy="293132"/>
          </a:xfrm>
          <a:prstGeom prst="rightArrow">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1806E20-2B2C-7093-DC94-1E5418255902}"/>
              </a:ext>
            </a:extLst>
          </p:cNvPr>
          <p:cNvSpPr txBox="1"/>
          <p:nvPr/>
        </p:nvSpPr>
        <p:spPr>
          <a:xfrm>
            <a:off x="7506427" y="2541858"/>
            <a:ext cx="1655386" cy="369332"/>
          </a:xfrm>
          <a:prstGeom prst="rect">
            <a:avLst/>
          </a:prstGeom>
          <a:noFill/>
        </p:spPr>
        <p:txBody>
          <a:bodyPr wrap="square" rtlCol="0">
            <a:spAutoFit/>
          </a:bodyPr>
          <a:lstStyle/>
          <a:p>
            <a:r>
              <a:rPr lang="en-CA" dirty="0"/>
              <a:t>Waldo space</a:t>
            </a:r>
          </a:p>
        </p:txBody>
      </p:sp>
      <p:sp>
        <p:nvSpPr>
          <p:cNvPr id="15" name="TextBox 14">
            <a:extLst>
              <a:ext uri="{FF2B5EF4-FFF2-40B4-BE49-F238E27FC236}">
                <a16:creationId xmlns:a16="http://schemas.microsoft.com/office/drawing/2014/main" id="{8D4B3D34-1EC3-540D-C439-CF4C834763E1}"/>
              </a:ext>
            </a:extLst>
          </p:cNvPr>
          <p:cNvSpPr txBox="1"/>
          <p:nvPr/>
        </p:nvSpPr>
        <p:spPr>
          <a:xfrm>
            <a:off x="2286000" y="2581460"/>
            <a:ext cx="1655386" cy="369332"/>
          </a:xfrm>
          <a:prstGeom prst="rect">
            <a:avLst/>
          </a:prstGeom>
          <a:noFill/>
        </p:spPr>
        <p:txBody>
          <a:bodyPr wrap="square" rtlCol="0">
            <a:spAutoFit/>
          </a:bodyPr>
          <a:lstStyle/>
          <a:p>
            <a:r>
              <a:rPr lang="en-CA" dirty="0"/>
              <a:t>Data space</a:t>
            </a:r>
          </a:p>
        </p:txBody>
      </p:sp>
      <p:pic>
        <p:nvPicPr>
          <p:cNvPr id="17" name="Picture 16">
            <a:extLst>
              <a:ext uri="{FF2B5EF4-FFF2-40B4-BE49-F238E27FC236}">
                <a16:creationId xmlns:a16="http://schemas.microsoft.com/office/drawing/2014/main" id="{CC742673-A5D6-1F75-0409-79B0C4FA7BF1}"/>
              </a:ext>
            </a:extLst>
          </p:cNvPr>
          <p:cNvPicPr>
            <a:picLocks noChangeAspect="1"/>
          </p:cNvPicPr>
          <p:nvPr/>
        </p:nvPicPr>
        <p:blipFill>
          <a:blip r:embed="rId6"/>
          <a:stretch>
            <a:fillRect/>
          </a:stretch>
        </p:blipFill>
        <p:spPr>
          <a:xfrm>
            <a:off x="9066870" y="2515508"/>
            <a:ext cx="568780" cy="568780"/>
          </a:xfrm>
          <a:prstGeom prst="rect">
            <a:avLst/>
          </a:prstGeom>
        </p:spPr>
      </p:pic>
      <p:sp>
        <p:nvSpPr>
          <p:cNvPr id="18" name="Slide Number Placeholder 18"/>
          <p:cNvSpPr>
            <a:spLocks noGrp="1"/>
          </p:cNvSpPr>
          <p:nvPr>
            <p:ph type="sldNum" sz="quarter" idx="12"/>
          </p:nvPr>
        </p:nvSpPr>
        <p:spPr/>
        <p:txBody>
          <a:bodyPr/>
          <a:lstStyle/>
          <a:p>
            <a:fld id="{9BFB2853-4965-4727-91C4-384EB30D99A4}" type="slidenum">
              <a:rPr lang="en-CA"/>
              <a:t>32</a:t>
            </a:fld>
            <a:endParaRPr lang="en-CA"/>
          </a:p>
        </p:txBody>
      </p:sp>
    </p:spTree>
    <p:extLst>
      <p:ext uri="{BB962C8B-B14F-4D97-AF65-F5344CB8AC3E}">
        <p14:creationId xmlns:p14="http://schemas.microsoft.com/office/powerpoint/2010/main" val="420905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2" presetClass="entr" presetSubtype="2"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 calcmode="lin" valueType="num">
                                      <p:cBhvr additive="base">
                                        <p:cTn id="9" dur="500" fill="hold"/>
                                        <p:tgtEl>
                                          <p:spTgt spid="6"/>
                                        </p:tgtEl>
                                        <p:attrNameLst>
                                          <p:attrName>ppt_x</p:attrName>
                                        </p:attrNameLst>
                                      </p:cBhvr>
                                      <p:tavLst>
                                        <p:tav tm="0">
                                          <p:val>
                                            <p:strVal val="1+#ppt_w/2"/>
                                          </p:val>
                                        </p:tav>
                                        <p:tav tm="100000">
                                          <p:val>
                                            <p:strVal val="#ppt_x"/>
                                          </p:val>
                                        </p:tav>
                                      </p:tavLst>
                                    </p:anim>
                                    <p:anim calcmode="lin" valueType="num">
                                      <p:cBhvr additive="base">
                                        <p:cTn id="1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Multivariate outliers: which penguins are unusual?</a:t>
            </a:r>
          </a:p>
        </p:txBody>
      </p:sp>
      <p:pic>
        <p:nvPicPr>
          <p:cNvPr id="3" name="Picture 2" descr="fig-peng-cqplot-1.png"/>
          <p:cNvPicPr>
            <a:picLocks noChangeAspect="1"/>
          </p:cNvPicPr>
          <p:nvPr/>
        </p:nvPicPr>
        <p:blipFill>
          <a:blip r:embed="rId3"/>
          <a:stretch>
            <a:fillRect/>
          </a:stretch>
        </p:blipFill>
        <p:spPr>
          <a:xfrm>
            <a:off x="841248" y="1537256"/>
            <a:ext cx="5120640" cy="3657600"/>
          </a:xfrm>
          <a:prstGeom prst="rect">
            <a:avLst/>
          </a:prstGeom>
        </p:spPr>
      </p:pic>
      <p:sp>
        <p:nvSpPr>
          <p:cNvPr id="5" name="TextBox 4"/>
          <p:cNvSpPr txBox="1"/>
          <p:nvPr/>
        </p:nvSpPr>
        <p:spPr>
          <a:xfrm>
            <a:off x="841248" y="5271712"/>
            <a:ext cx="4923448" cy="646331"/>
          </a:xfrm>
          <a:prstGeom prst="rect">
            <a:avLst/>
          </a:prstGeom>
          <a:noFill/>
        </p:spPr>
        <p:txBody>
          <a:bodyPr wrap="square">
            <a:spAutoFit/>
          </a:bodyPr>
          <a:lstStyle/>
          <a:p>
            <a:r>
              <a:rPr sz="1800" dirty="0" err="1"/>
              <a:t>Mahalanobis</a:t>
            </a:r>
            <a:r>
              <a:rPr sz="1800" dirty="0"/>
              <a:t> </a:t>
            </a:r>
            <a:r>
              <a:rPr lang="en-CA" sz="1800" dirty="0"/>
              <a:t>D</a:t>
            </a:r>
            <a:r>
              <a:rPr lang="en-CA" sz="1800" baseline="30000" dirty="0"/>
              <a:t>2</a:t>
            </a:r>
            <a:r>
              <a:rPr lang="en-CA" sz="1800" dirty="0"/>
              <a:t> </a:t>
            </a:r>
            <a:r>
              <a:rPr sz="1800" dirty="0"/>
              <a:t>distances against </a:t>
            </a:r>
            <a:r>
              <a:rPr lang="el-GR" sz="1800" dirty="0">
                <a:latin typeface="Cambria Math" panose="02040503050406030204" pitchFamily="18" charset="0"/>
                <a:ea typeface="Cambria Math" panose="02040503050406030204" pitchFamily="18" charset="0"/>
              </a:rPr>
              <a:t>χ</a:t>
            </a:r>
            <a:r>
              <a:rPr lang="en-CA" sz="1800" baseline="30000" dirty="0">
                <a:latin typeface="Cambria Math" panose="02040503050406030204" pitchFamily="18" charset="0"/>
                <a:ea typeface="Cambria Math" panose="02040503050406030204" pitchFamily="18" charset="0"/>
              </a:rPr>
              <a:t>2</a:t>
            </a:r>
            <a:r>
              <a:rPr sz="1800" dirty="0"/>
              <a:t> quantiles</a:t>
            </a:r>
            <a:r>
              <a:rPr lang="en-CA" sz="1800" dirty="0"/>
              <a:t> shows which ones are unusual</a:t>
            </a:r>
            <a:r>
              <a:rPr sz="1800" dirty="0"/>
              <a:t> </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4.26, 4.27</a:t>
            </a:r>
          </a:p>
        </p:txBody>
      </p:sp>
      <p:grpSp>
        <p:nvGrpSpPr>
          <p:cNvPr id="14" name="Group 13">
            <a:extLst>
              <a:ext uri="{FF2B5EF4-FFF2-40B4-BE49-F238E27FC236}">
                <a16:creationId xmlns:a16="http://schemas.microsoft.com/office/drawing/2014/main" id="{0728BF96-A0F7-C957-E62B-262E4BCB0347}"/>
              </a:ext>
            </a:extLst>
          </p:cNvPr>
          <p:cNvGrpSpPr/>
          <p:nvPr/>
        </p:nvGrpSpPr>
        <p:grpSpPr>
          <a:xfrm>
            <a:off x="6236208" y="1537256"/>
            <a:ext cx="5120640" cy="4380786"/>
            <a:chOff x="6236208" y="1537256"/>
            <a:chExt cx="5120640" cy="4380786"/>
          </a:xfrm>
        </p:grpSpPr>
        <p:pic>
          <p:nvPicPr>
            <p:cNvPr id="4" name="Picture 3" descr="fig-peng-ggplot-out-1.png"/>
            <p:cNvPicPr>
              <a:picLocks noChangeAspect="1"/>
            </p:cNvPicPr>
            <p:nvPr/>
          </p:nvPicPr>
          <p:blipFill>
            <a:blip r:embed="rId4"/>
            <a:stretch>
              <a:fillRect/>
            </a:stretch>
          </p:blipFill>
          <p:spPr>
            <a:xfrm>
              <a:off x="6236208" y="1537256"/>
              <a:ext cx="5120640" cy="3657600"/>
            </a:xfrm>
            <a:prstGeom prst="rect">
              <a:avLst/>
            </a:prstGeom>
          </p:spPr>
        </p:pic>
        <p:sp>
          <p:nvSpPr>
            <p:cNvPr id="10" name="TextBox 9">
              <a:extLst>
                <a:ext uri="{FF2B5EF4-FFF2-40B4-BE49-F238E27FC236}">
                  <a16:creationId xmlns:a16="http://schemas.microsoft.com/office/drawing/2014/main" id="{312E0EF4-E400-D653-CF4B-538E18E836DC}"/>
                </a:ext>
              </a:extLst>
            </p:cNvPr>
            <p:cNvSpPr txBox="1"/>
            <p:nvPr/>
          </p:nvSpPr>
          <p:spPr>
            <a:xfrm>
              <a:off x="6236208" y="5271711"/>
              <a:ext cx="4923448" cy="646331"/>
            </a:xfrm>
            <a:prstGeom prst="rect">
              <a:avLst/>
            </a:prstGeom>
            <a:noFill/>
          </p:spPr>
          <p:txBody>
            <a:bodyPr wrap="square">
              <a:spAutoFit/>
            </a:bodyPr>
            <a:lstStyle/>
            <a:p>
              <a:r>
                <a:rPr lang="en-CA" sz="1800" dirty="0"/>
                <a:t>We can try to understand why they are unusual in data space of some variables </a:t>
              </a:r>
              <a:endParaRPr sz="1800" dirty="0"/>
            </a:p>
          </p:txBody>
        </p:sp>
      </p:grpSp>
      <p:sp>
        <p:nvSpPr>
          <p:cNvPr id="11" name="TextBox 10">
            <a:extLst>
              <a:ext uri="{FF2B5EF4-FFF2-40B4-BE49-F238E27FC236}">
                <a16:creationId xmlns:a16="http://schemas.microsoft.com/office/drawing/2014/main" id="{B7B1B822-CDD6-B8D6-EA82-C5F2B658B34B}"/>
              </a:ext>
            </a:extLst>
          </p:cNvPr>
          <p:cNvSpPr txBox="1"/>
          <p:nvPr/>
        </p:nvSpPr>
        <p:spPr>
          <a:xfrm>
            <a:off x="10510789" y="2446269"/>
            <a:ext cx="839963" cy="307777"/>
          </a:xfrm>
          <a:prstGeom prst="rect">
            <a:avLst/>
          </a:prstGeom>
          <a:solidFill>
            <a:schemeClr val="accent5">
              <a:lumMod val="75000"/>
              <a:alpha val="20000"/>
            </a:schemeClr>
          </a:solidFill>
        </p:spPr>
        <p:txBody>
          <a:bodyPr wrap="square" rtlCol="0">
            <a:spAutoFit/>
          </a:bodyPr>
          <a:lstStyle/>
          <a:p>
            <a:pPr algn="ctr"/>
            <a:r>
              <a:rPr lang="en-CA" sz="1400" dirty="0"/>
              <a:t>Cyrano</a:t>
            </a:r>
          </a:p>
        </p:txBody>
      </p:sp>
      <p:sp>
        <p:nvSpPr>
          <p:cNvPr id="13" name="TextBox 12">
            <a:extLst>
              <a:ext uri="{FF2B5EF4-FFF2-40B4-BE49-F238E27FC236}">
                <a16:creationId xmlns:a16="http://schemas.microsoft.com/office/drawing/2014/main" id="{30A4AC45-70A4-F6BB-40CF-B12C51195345}"/>
              </a:ext>
            </a:extLst>
          </p:cNvPr>
          <p:cNvSpPr txBox="1"/>
          <p:nvPr/>
        </p:nvSpPr>
        <p:spPr>
          <a:xfrm>
            <a:off x="6827520" y="1959243"/>
            <a:ext cx="1155032" cy="307777"/>
          </a:xfrm>
          <a:prstGeom prst="rect">
            <a:avLst/>
          </a:prstGeom>
          <a:solidFill>
            <a:schemeClr val="accent2">
              <a:lumMod val="40000"/>
              <a:lumOff val="60000"/>
              <a:alpha val="50000"/>
            </a:schemeClr>
          </a:solidFill>
        </p:spPr>
        <p:txBody>
          <a:bodyPr wrap="square" rtlCol="0">
            <a:spAutoFit/>
          </a:bodyPr>
          <a:lstStyle/>
          <a:p>
            <a:pPr algn="ctr"/>
            <a:r>
              <a:rPr lang="en-CA" sz="1400" dirty="0"/>
              <a:t>Hook Nose</a:t>
            </a:r>
          </a:p>
        </p:txBody>
      </p:sp>
      <p:sp>
        <p:nvSpPr>
          <p:cNvPr id="15" name="Slide Number Placeholder 15"/>
          <p:cNvSpPr>
            <a:spLocks noGrp="1"/>
          </p:cNvSpPr>
          <p:nvPr>
            <p:ph type="sldNum" sz="quarter" idx="12"/>
          </p:nvPr>
        </p:nvSpPr>
        <p:spPr/>
        <p:txBody>
          <a:bodyPr/>
          <a:lstStyle/>
          <a:p>
            <a:fld id="{9BFB2853-4965-4727-91C4-384EB30D99A4}" type="slidenum">
              <a:rPr lang="en-CA"/>
              <a:t>33</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1000" fill="hold"/>
                                        <p:tgtEl>
                                          <p:spTgt spid="11"/>
                                        </p:tgtEl>
                                        <p:attrNameLst>
                                          <p:attrName>ppt_w</p:attrName>
                                        </p:attrNameLst>
                                      </p:cBhvr>
                                      <p:tavLst>
                                        <p:tav tm="0">
                                          <p:val>
                                            <p:fltVal val="0"/>
                                          </p:val>
                                        </p:tav>
                                        <p:tav tm="100000">
                                          <p:val>
                                            <p:strVal val="#ppt_w"/>
                                          </p:val>
                                        </p:tav>
                                      </p:tavLst>
                                    </p:anim>
                                    <p:anim calcmode="lin" valueType="num">
                                      <p:cBhvr>
                                        <p:cTn id="12" dur="1000" fill="hold"/>
                                        <p:tgtEl>
                                          <p:spTgt spid="11"/>
                                        </p:tgtEl>
                                        <p:attrNameLst>
                                          <p:attrName>ppt_h</p:attrName>
                                        </p:attrNameLst>
                                      </p:cBhvr>
                                      <p:tavLst>
                                        <p:tav tm="0">
                                          <p:val>
                                            <p:fltVal val="0"/>
                                          </p:val>
                                        </p:tav>
                                        <p:tav tm="100000">
                                          <p:val>
                                            <p:strVal val="#ppt_h"/>
                                          </p:val>
                                        </p:tav>
                                      </p:tavLst>
                                    </p:anim>
                                    <p:anim calcmode="lin" valueType="num">
                                      <p:cBhvr>
                                        <p:cTn id="13" dur="1000" fill="hold"/>
                                        <p:tgtEl>
                                          <p:spTgt spid="11"/>
                                        </p:tgtEl>
                                        <p:attrNameLst>
                                          <p:attrName>style.rotation</p:attrName>
                                        </p:attrNameLst>
                                      </p:cBhvr>
                                      <p:tavLst>
                                        <p:tav tm="0">
                                          <p:val>
                                            <p:fltVal val="90"/>
                                          </p:val>
                                        </p:tav>
                                        <p:tav tm="100000">
                                          <p:val>
                                            <p:fltVal val="0"/>
                                          </p:val>
                                        </p:tav>
                                      </p:tavLst>
                                    </p:anim>
                                    <p:animEffect transition="in" filter="fade">
                                      <p:cBhvr>
                                        <p:cTn id="14" dur="10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1000" fill="hold"/>
                                        <p:tgtEl>
                                          <p:spTgt spid="13"/>
                                        </p:tgtEl>
                                        <p:attrNameLst>
                                          <p:attrName>ppt_w</p:attrName>
                                        </p:attrNameLst>
                                      </p:cBhvr>
                                      <p:tavLst>
                                        <p:tav tm="0">
                                          <p:val>
                                            <p:fltVal val="0"/>
                                          </p:val>
                                        </p:tav>
                                        <p:tav tm="100000">
                                          <p:val>
                                            <p:strVal val="#ppt_w"/>
                                          </p:val>
                                        </p:tav>
                                      </p:tavLst>
                                    </p:anim>
                                    <p:anim calcmode="lin" valueType="num">
                                      <p:cBhvr>
                                        <p:cTn id="20" dur="1000" fill="hold"/>
                                        <p:tgtEl>
                                          <p:spTgt spid="13"/>
                                        </p:tgtEl>
                                        <p:attrNameLst>
                                          <p:attrName>ppt_h</p:attrName>
                                        </p:attrNameLst>
                                      </p:cBhvr>
                                      <p:tavLst>
                                        <p:tav tm="0">
                                          <p:val>
                                            <p:fltVal val="0"/>
                                          </p:val>
                                        </p:tav>
                                        <p:tav tm="100000">
                                          <p:val>
                                            <p:strVal val="#ppt_h"/>
                                          </p:val>
                                        </p:tav>
                                      </p:tavLst>
                                    </p:anim>
                                    <p:anim calcmode="lin" valueType="num">
                                      <p:cBhvr>
                                        <p:cTn id="21" dur="1000" fill="hold"/>
                                        <p:tgtEl>
                                          <p:spTgt spid="13"/>
                                        </p:tgtEl>
                                        <p:attrNameLst>
                                          <p:attrName>style.rotation</p:attrName>
                                        </p:attrNameLst>
                                      </p:cBhvr>
                                      <p:tavLst>
                                        <p:tav tm="0">
                                          <p:val>
                                            <p:fltVal val="90"/>
                                          </p:val>
                                        </p:tav>
                                        <p:tav tm="100000">
                                          <p:val>
                                            <p:fltVal val="0"/>
                                          </p:val>
                                        </p:tav>
                                      </p:tavLst>
                                    </p:anim>
                                    <p:animEffect transition="in" filter="fade">
                                      <p:cBhvr>
                                        <p:cTn id="2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Outliers hide in the smallest dimensions</a:t>
            </a:r>
          </a:p>
        </p:txBody>
      </p:sp>
      <p:sp>
        <p:nvSpPr>
          <p:cNvPr id="3" name="Content Placeholder 2"/>
          <p:cNvSpPr>
            <a:spLocks noGrp="1"/>
          </p:cNvSpPr>
          <p:nvPr>
            <p:ph sz="half" idx="1"/>
          </p:nvPr>
        </p:nvSpPr>
        <p:spPr>
          <a:xfrm>
            <a:off x="838200" y="1643063"/>
            <a:ext cx="4752902" cy="4533900"/>
          </a:xfrm>
        </p:spPr>
        <p:txBody>
          <a:bodyPr/>
          <a:lstStyle/>
          <a:p>
            <a:r>
              <a:rPr dirty="0"/>
              <a:t>The first two dimensions show </a:t>
            </a:r>
            <a:r>
              <a:rPr lang="en-CA" dirty="0"/>
              <a:t>the </a:t>
            </a:r>
            <a:r>
              <a:rPr dirty="0"/>
              <a:t>typical</a:t>
            </a:r>
            <a:r>
              <a:rPr lang="en-CA" dirty="0"/>
              <a:t> penguins</a:t>
            </a:r>
            <a:endParaRPr dirty="0"/>
          </a:p>
          <a:p>
            <a:r>
              <a:rPr dirty="0"/>
              <a:t>The last dimensions show what does not fit </a:t>
            </a:r>
            <a:r>
              <a:rPr dirty="0" err="1"/>
              <a:t>th</a:t>
            </a:r>
            <a:r>
              <a:rPr lang="en-CA" dirty="0"/>
              <a:t>at</a:t>
            </a:r>
            <a:r>
              <a:rPr dirty="0"/>
              <a:t> pattern</a:t>
            </a:r>
          </a:p>
          <a:p>
            <a:r>
              <a:rPr dirty="0"/>
              <a:t>Biplot of dimensions 3-4 of the penguin data</a:t>
            </a:r>
            <a:endParaRPr lang="en-CA" dirty="0"/>
          </a:p>
          <a:p>
            <a:pPr lvl="1"/>
            <a:r>
              <a:rPr lang="en-CA" dirty="0"/>
              <a:t>Variable vectors show relations to dimensions</a:t>
            </a:r>
          </a:p>
          <a:p>
            <a:pPr lvl="1"/>
            <a:r>
              <a:rPr lang="en-CA" dirty="0"/>
              <a:t>Ellipses show diffs among groups</a:t>
            </a:r>
          </a:p>
          <a:p>
            <a:r>
              <a:rPr lang="en-CA" dirty="0"/>
              <a:t>Outliers are often extremes in Waldo space </a:t>
            </a:r>
          </a:p>
          <a:p>
            <a:pPr lvl="1"/>
            <a:r>
              <a:rPr lang="en-CA" dirty="0">
                <a:sym typeface="Symbol" panose="05050102010706020507" pitchFamily="18" charset="2"/>
              </a:rPr>
              <a:t> why they’re weird</a:t>
            </a:r>
            <a:endParaRPr lang="en-CA" dirty="0"/>
          </a:p>
        </p:txBody>
      </p:sp>
      <p:pic>
        <p:nvPicPr>
          <p:cNvPr id="4" name="Picture 3" descr="peng-out-biplot-34.png"/>
          <p:cNvPicPr>
            <a:picLocks noChangeAspect="1"/>
          </p:cNvPicPr>
          <p:nvPr/>
        </p:nvPicPr>
        <p:blipFill>
          <a:blip r:embed="rId3"/>
          <a:stretch>
            <a:fillRect/>
          </a:stretch>
        </p:blipFill>
        <p:spPr>
          <a:xfrm>
            <a:off x="5881036" y="1314851"/>
            <a:ext cx="5592278" cy="5164251"/>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5.37</a:t>
            </a:r>
          </a:p>
        </p:txBody>
      </p:sp>
      <p:sp>
        <p:nvSpPr>
          <p:cNvPr id="6" name="TextBox 5">
            <a:extLst>
              <a:ext uri="{FF2B5EF4-FFF2-40B4-BE49-F238E27FC236}">
                <a16:creationId xmlns:a16="http://schemas.microsoft.com/office/drawing/2014/main" id="{261F3790-7C81-A423-611E-69850CE3B84D}"/>
              </a:ext>
            </a:extLst>
          </p:cNvPr>
          <p:cNvSpPr txBox="1"/>
          <p:nvPr/>
        </p:nvSpPr>
        <p:spPr>
          <a:xfrm>
            <a:off x="6439301" y="2194560"/>
            <a:ext cx="1155032" cy="338554"/>
          </a:xfrm>
          <a:prstGeom prst="rect">
            <a:avLst/>
          </a:prstGeom>
          <a:solidFill>
            <a:schemeClr val="accent5">
              <a:lumMod val="75000"/>
              <a:alpha val="20000"/>
            </a:schemeClr>
          </a:solidFill>
        </p:spPr>
        <p:txBody>
          <a:bodyPr wrap="square" rtlCol="0">
            <a:spAutoFit/>
          </a:bodyPr>
          <a:lstStyle/>
          <a:p>
            <a:pPr algn="ctr"/>
            <a:r>
              <a:rPr lang="en-CA" sz="1600" dirty="0"/>
              <a:t>Cyrano</a:t>
            </a:r>
          </a:p>
        </p:txBody>
      </p:sp>
      <p:sp>
        <p:nvSpPr>
          <p:cNvPr id="8" name="TextBox 7">
            <a:extLst>
              <a:ext uri="{FF2B5EF4-FFF2-40B4-BE49-F238E27FC236}">
                <a16:creationId xmlns:a16="http://schemas.microsoft.com/office/drawing/2014/main" id="{84FE8F6D-06F2-501D-DC84-24957B149041}"/>
              </a:ext>
            </a:extLst>
          </p:cNvPr>
          <p:cNvSpPr txBox="1"/>
          <p:nvPr/>
        </p:nvSpPr>
        <p:spPr>
          <a:xfrm>
            <a:off x="10539476" y="4149273"/>
            <a:ext cx="1155032" cy="338554"/>
          </a:xfrm>
          <a:prstGeom prst="rect">
            <a:avLst/>
          </a:prstGeom>
          <a:solidFill>
            <a:schemeClr val="accent2">
              <a:lumMod val="40000"/>
              <a:lumOff val="60000"/>
              <a:alpha val="50000"/>
            </a:schemeClr>
          </a:solidFill>
        </p:spPr>
        <p:txBody>
          <a:bodyPr wrap="square" rtlCol="0">
            <a:spAutoFit/>
          </a:bodyPr>
          <a:lstStyle/>
          <a:p>
            <a:pPr algn="ctr"/>
            <a:r>
              <a:rPr lang="en-CA" sz="1600" dirty="0"/>
              <a:t>Hook Nose</a:t>
            </a:r>
          </a:p>
        </p:txBody>
      </p:sp>
      <p:pic>
        <p:nvPicPr>
          <p:cNvPr id="7" name="Picture 6">
            <a:extLst>
              <a:ext uri="{FF2B5EF4-FFF2-40B4-BE49-F238E27FC236}">
                <a16:creationId xmlns:a16="http://schemas.microsoft.com/office/drawing/2014/main" id="{43C94EC3-1E5F-B9F0-E6DF-F78F37E16132}"/>
              </a:ext>
            </a:extLst>
          </p:cNvPr>
          <p:cNvPicPr>
            <a:picLocks noChangeAspect="1"/>
          </p:cNvPicPr>
          <p:nvPr/>
        </p:nvPicPr>
        <p:blipFill>
          <a:blip r:embed="rId4"/>
          <a:stretch>
            <a:fillRect/>
          </a:stretch>
        </p:blipFill>
        <p:spPr>
          <a:xfrm>
            <a:off x="8477590" y="628416"/>
            <a:ext cx="568780" cy="568780"/>
          </a:xfrm>
          <a:prstGeom prst="rect">
            <a:avLst/>
          </a:prstGeom>
        </p:spPr>
      </p:pic>
      <p:sp>
        <p:nvSpPr>
          <p:cNvPr id="9" name="Oval 8">
            <a:extLst>
              <a:ext uri="{FF2B5EF4-FFF2-40B4-BE49-F238E27FC236}">
                <a16:creationId xmlns:a16="http://schemas.microsoft.com/office/drawing/2014/main" id="{1EE4686E-46B0-015D-AEC7-4AB8205148C7}"/>
              </a:ext>
            </a:extLst>
          </p:cNvPr>
          <p:cNvSpPr/>
          <p:nvPr/>
        </p:nvSpPr>
        <p:spPr>
          <a:xfrm>
            <a:off x="6149367" y="1754982"/>
            <a:ext cx="1105408" cy="439578"/>
          </a:xfrm>
          <a:prstGeom prst="ellipse">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D29959FF-9D58-0D20-8146-01A5BF7DE215}"/>
              </a:ext>
            </a:extLst>
          </p:cNvPr>
          <p:cNvSpPr/>
          <p:nvPr/>
        </p:nvSpPr>
        <p:spPr>
          <a:xfrm>
            <a:off x="10564288" y="4385693"/>
            <a:ext cx="1105408" cy="439578"/>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90AEDFDF-B464-BFE6-6D44-4DC15C2BF7B1}"/>
              </a:ext>
            </a:extLst>
          </p:cNvPr>
          <p:cNvSpPr/>
          <p:nvPr/>
        </p:nvSpPr>
        <p:spPr>
          <a:xfrm>
            <a:off x="9338217" y="1974771"/>
            <a:ext cx="1105408" cy="439578"/>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a:extLst>
              <a:ext uri="{FF2B5EF4-FFF2-40B4-BE49-F238E27FC236}">
                <a16:creationId xmlns:a16="http://schemas.microsoft.com/office/drawing/2014/main" id="{B43C77F9-2A28-ED64-1B9B-EB53DE05DDBC}"/>
              </a:ext>
            </a:extLst>
          </p:cNvPr>
          <p:cNvPicPr>
            <a:picLocks noChangeAspect="1"/>
          </p:cNvPicPr>
          <p:nvPr/>
        </p:nvPicPr>
        <p:blipFill>
          <a:blip r:embed="rId4"/>
          <a:stretch>
            <a:fillRect/>
          </a:stretch>
        </p:blipFill>
        <p:spPr>
          <a:xfrm>
            <a:off x="9053827" y="628416"/>
            <a:ext cx="568780" cy="568780"/>
          </a:xfrm>
          <a:prstGeom prst="rect">
            <a:avLst/>
          </a:prstGeom>
        </p:spPr>
      </p:pic>
      <p:pic>
        <p:nvPicPr>
          <p:cNvPr id="15" name="Picture 14">
            <a:extLst>
              <a:ext uri="{FF2B5EF4-FFF2-40B4-BE49-F238E27FC236}">
                <a16:creationId xmlns:a16="http://schemas.microsoft.com/office/drawing/2014/main" id="{E6A1C750-3904-64B0-4EBF-F1A4C72D1606}"/>
              </a:ext>
            </a:extLst>
          </p:cNvPr>
          <p:cNvPicPr>
            <a:picLocks noChangeAspect="1"/>
          </p:cNvPicPr>
          <p:nvPr/>
        </p:nvPicPr>
        <p:blipFill>
          <a:blip r:embed="rId4"/>
          <a:stretch>
            <a:fillRect/>
          </a:stretch>
        </p:blipFill>
        <p:spPr>
          <a:xfrm>
            <a:off x="9865952" y="628416"/>
            <a:ext cx="568780" cy="568780"/>
          </a:xfrm>
          <a:prstGeom prst="rect">
            <a:avLst/>
          </a:prstGeom>
        </p:spPr>
      </p:pic>
      <p:sp>
        <p:nvSpPr>
          <p:cNvPr id="16" name="Slide Number Placeholder 16"/>
          <p:cNvSpPr>
            <a:spLocks noGrp="1"/>
          </p:cNvSpPr>
          <p:nvPr>
            <p:ph type="sldNum" sz="quarter" idx="12"/>
          </p:nvPr>
        </p:nvSpPr>
        <p:spPr/>
        <p:txBody>
          <a:bodyPr/>
          <a:lstStyle/>
          <a:p>
            <a:fld id="{9BFB2853-4965-4727-91C4-384EB30D99A4}" type="slidenum">
              <a:rPr lang="en-CA"/>
              <a:t>34</a:t>
            </a:fld>
            <a:endParaRPr lang="en-CA"/>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7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56000">
                                      <p:stCondLst>
                                        <p:cond delay="750"/>
                                      </p:stCondLst>
                                      <p:childTnLst>
                                        <p:set>
                                          <p:cBhvr>
                                            <p:cTn id="10" dur="1" fill="hold">
                                              <p:stCondLst>
                                                <p:cond delay="0"/>
                                              </p:stCondLst>
                                            </p:cTn>
                                            <p:tgtEl>
                                              <p:spTgt spid="14"/>
                                            </p:tgtEl>
                                            <p:attrNameLst>
                                              <p:attrName>style.visibility</p:attrName>
                                            </p:attrNameLst>
                                          </p:cBhvr>
                                          <p:to>
                                            <p:strVal val="visible"/>
                                          </p:to>
                                        </p:set>
                                        <p:anim calcmode="lin" valueType="num" p14:bounceEnd="56000">
                                          <p:cBhvr additive="base">
                                            <p:cTn id="11" dur="500" fill="hold"/>
                                            <p:tgtEl>
                                              <p:spTgt spid="14"/>
                                            </p:tgtEl>
                                            <p:attrNameLst>
                                              <p:attrName>ppt_x</p:attrName>
                                            </p:attrNameLst>
                                          </p:cBhvr>
                                          <p:tavLst>
                                            <p:tav tm="0">
                                              <p:val>
                                                <p:strVal val="1+#ppt_w/2"/>
                                              </p:val>
                                            </p:tav>
                                            <p:tav tm="100000">
                                              <p:val>
                                                <p:strVal val="#ppt_x"/>
                                              </p:val>
                                            </p:tav>
                                          </p:tavLst>
                                        </p:anim>
                                        <p:anim calcmode="lin" valueType="num" p14:bounceEnd="56000">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6" fill="hold" nodeType="afterEffect">
                                      <p:stCondLst>
                                        <p:cond delay="100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1+#ppt_w/2"/>
                                              </p:val>
                                            </p:tav>
                                            <p:tav tm="100000">
                                              <p:val>
                                                <p:strVal val="#ppt_x"/>
                                              </p:val>
                                            </p:tav>
                                          </p:tavLst>
                                        </p:anim>
                                        <p:anim calcmode="lin" valueType="num">
                                          <p:cBhvr additive="base">
                                            <p:cTn id="1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ppt_x"/>
                                              </p:val>
                                            </p:tav>
                                            <p:tav tm="100000">
                                              <p:val>
                                                <p:strVal val="#ppt_x"/>
                                              </p:val>
                                            </p:tav>
                                          </p:tavLst>
                                        </p:anim>
                                        <p:anim calcmode="lin" valueType="num">
                                          <p:cBhvr additive="base">
                                            <p:cTn id="35" dur="500" fill="hold"/>
                                            <p:tgtEl>
                                              <p:spTgt spid="13"/>
                                            </p:tgtEl>
                                            <p:attrNameLst>
                                              <p:attrName>ppt_y</p:attrName>
                                            </p:attrNameLst>
                                          </p:cBhvr>
                                          <p:tavLst>
                                            <p:tav tm="0">
                                              <p:val>
                                                <p:strVal val="1+#ppt_h/2"/>
                                              </p:val>
                                            </p:tav>
                                            <p:tav tm="100000">
                                              <p:val>
                                                <p:strVal val="#ppt_y"/>
                                              </p:val>
                                            </p:tav>
                                          </p:tavLst>
                                        </p:anim>
                                      </p:childTnLst>
                                    </p:cTn>
                                  </p:par>
                                  <p:par>
                                    <p:cTn id="36" presetID="2" presetClass="entr" presetSubtype="1"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7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75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6" fill="hold" nodeType="afterEffect">
                                      <p:stCondLst>
                                        <p:cond delay="100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1+#ppt_w/2"/>
                                              </p:val>
                                            </p:tav>
                                            <p:tav tm="100000">
                                              <p:val>
                                                <p:strVal val="#ppt_x"/>
                                              </p:val>
                                            </p:tav>
                                          </p:tavLst>
                                        </p:anim>
                                        <p:anim calcmode="lin" valueType="num">
                                          <p:cBhvr additive="base">
                                            <p:cTn id="1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ppt_x"/>
                                              </p:val>
                                            </p:tav>
                                            <p:tav tm="100000">
                                              <p:val>
                                                <p:strVal val="#ppt_x"/>
                                              </p:val>
                                            </p:tav>
                                          </p:tavLst>
                                        </p:anim>
                                        <p:anim calcmode="lin" valueType="num">
                                          <p:cBhvr additive="base">
                                            <p:cTn id="35" dur="500" fill="hold"/>
                                            <p:tgtEl>
                                              <p:spTgt spid="13"/>
                                            </p:tgtEl>
                                            <p:attrNameLst>
                                              <p:attrName>ppt_y</p:attrName>
                                            </p:attrNameLst>
                                          </p:cBhvr>
                                          <p:tavLst>
                                            <p:tav tm="0">
                                              <p:val>
                                                <p:strVal val="1+#ppt_h/2"/>
                                              </p:val>
                                            </p:tav>
                                            <p:tav tm="100000">
                                              <p:val>
                                                <p:strVal val="#ppt_y"/>
                                              </p:val>
                                            </p:tav>
                                          </p:tavLst>
                                        </p:anim>
                                      </p:childTnLst>
                                    </p:cTn>
                                  </p:par>
                                  <p:par>
                                    <p:cTn id="36" presetID="2" presetClass="entr" presetSubtype="1"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9427"/>
            <a:ext cx="8229600" cy="715962"/>
          </a:xfrm>
        </p:spPr>
        <p:txBody>
          <a:bodyPr>
            <a:normAutofit/>
          </a:bodyPr>
          <a:lstStyle/>
          <a:p>
            <a:r>
              <a:rPr lang="en-US" dirty="0"/>
              <a:t>Elliptical insights: Measurement error</a:t>
            </a:r>
          </a:p>
        </p:txBody>
      </p:sp>
      <p:sp>
        <p:nvSpPr>
          <p:cNvPr id="3" name="Content Placeholder 2"/>
          <p:cNvSpPr>
            <a:spLocks noGrp="1"/>
          </p:cNvSpPr>
          <p:nvPr>
            <p:ph idx="1"/>
          </p:nvPr>
        </p:nvSpPr>
        <p:spPr/>
        <p:txBody>
          <a:bodyPr>
            <a:normAutofit/>
          </a:bodyPr>
          <a:lstStyle/>
          <a:p>
            <a:r>
              <a:rPr lang="en-US" dirty="0"/>
              <a:t>In classical linear models, predictors (X) are usually assumed to be fixed (non-random), or measured w/o error</a:t>
            </a:r>
          </a:p>
          <a:p>
            <a:pPr lvl="1"/>
            <a:r>
              <a:rPr lang="en-US" dirty="0"/>
              <a:t>Rarely true in social science, medicine, …</a:t>
            </a:r>
          </a:p>
          <a:p>
            <a:pPr lvl="1"/>
            <a:r>
              <a:rPr lang="en-US" dirty="0"/>
              <a:t>(Structural equation models often used to account for this)</a:t>
            </a:r>
          </a:p>
          <a:p>
            <a:pPr lvl="1"/>
            <a:r>
              <a:rPr lang="en-US" dirty="0"/>
              <a:t>What effects do errors in </a:t>
            </a:r>
            <a:r>
              <a:rPr lang="en-US" b="1" dirty="0"/>
              <a:t>predictors</a:t>
            </a:r>
            <a:r>
              <a:rPr lang="en-US" dirty="0"/>
              <a:t> have on typical regression models?</a:t>
            </a:r>
          </a:p>
          <a:p>
            <a:r>
              <a:rPr lang="en-US" dirty="0"/>
              <a:t>Main ideas:</a:t>
            </a:r>
          </a:p>
          <a:p>
            <a:pPr lvl="1"/>
            <a:r>
              <a:rPr lang="en-US" dirty="0"/>
              <a:t>Ellipses in </a:t>
            </a:r>
            <a:r>
              <a:rPr lang="en-US" dirty="0">
                <a:solidFill>
                  <a:srgbClr val="00B050"/>
                </a:solidFill>
              </a:rPr>
              <a:t>data space </a:t>
            </a:r>
            <a:r>
              <a:rPr lang="en-US" dirty="0"/>
              <a:t>show effects on </a:t>
            </a:r>
            <a:r>
              <a:rPr lang="en-US" dirty="0">
                <a:solidFill>
                  <a:srgbClr val="FF0000"/>
                </a:solidFill>
              </a:rPr>
              <a:t>bias</a:t>
            </a:r>
            <a:r>
              <a:rPr lang="en-US" dirty="0"/>
              <a:t> and </a:t>
            </a:r>
            <a:r>
              <a:rPr lang="en-US" dirty="0">
                <a:solidFill>
                  <a:srgbClr val="FF0000"/>
                </a:solidFill>
              </a:rPr>
              <a:t>precision</a:t>
            </a:r>
          </a:p>
          <a:p>
            <a:pPr lvl="1"/>
            <a:r>
              <a:rPr lang="en-US" dirty="0"/>
              <a:t>The same effects can be seen in </a:t>
            </a:r>
            <a:r>
              <a:rPr lang="en-US" dirty="0">
                <a:solidFill>
                  <a:srgbClr val="00B050"/>
                </a:solidFill>
              </a:rPr>
              <a:t>parameter (</a:t>
            </a:r>
            <a:r>
              <a:rPr lang="el-GR" b="1" dirty="0">
                <a:solidFill>
                  <a:srgbClr val="00B050"/>
                </a:solidFill>
              </a:rPr>
              <a:t>β</a:t>
            </a:r>
            <a:r>
              <a:rPr lang="en-US" dirty="0">
                <a:solidFill>
                  <a:srgbClr val="00B050"/>
                </a:solidFill>
              </a:rPr>
              <a:t>) space</a:t>
            </a:r>
          </a:p>
        </p:txBody>
      </p:sp>
      <p:sp>
        <p:nvSpPr>
          <p:cNvPr id="5" name="TextBox 4">
            <a:extLst>
              <a:ext uri="{FF2B5EF4-FFF2-40B4-BE49-F238E27FC236}">
                <a16:creationId xmlns:a16="http://schemas.microsoft.com/office/drawing/2014/main" id="{635A9DAD-1188-B676-0CE8-BA39623413C1}"/>
              </a:ext>
            </a:extLst>
          </p:cNvPr>
          <p:cNvSpPr txBox="1"/>
          <p:nvPr/>
        </p:nvSpPr>
        <p:spPr>
          <a:xfrm>
            <a:off x="997527" y="6096001"/>
            <a:ext cx="8756073" cy="461665"/>
          </a:xfrm>
          <a:prstGeom prst="rect">
            <a:avLst/>
          </a:prstGeom>
          <a:noFill/>
        </p:spPr>
        <p:txBody>
          <a:bodyPr wrap="square" rtlCol="0">
            <a:spAutoFit/>
          </a:bodyPr>
          <a:lstStyle/>
          <a:p>
            <a:r>
              <a:rPr lang="en-CA" sz="1200" dirty="0">
                <a:solidFill>
                  <a:srgbClr val="000000"/>
                </a:solidFill>
              </a:rPr>
              <a:t>Friendly, Monette &amp; Fox (2013). Elliptical Insights: Understanding Statistical Methods Through Elliptical Geometry. </a:t>
            </a:r>
            <a:r>
              <a:rPr lang="en-CA" sz="1200" i="1" dirty="0">
                <a:solidFill>
                  <a:srgbClr val="000000"/>
                </a:solidFill>
              </a:rPr>
              <a:t>Statistical Science</a:t>
            </a:r>
            <a:r>
              <a:rPr lang="en-CA" sz="1200" dirty="0">
                <a:solidFill>
                  <a:srgbClr val="000000"/>
                </a:solidFill>
              </a:rPr>
              <a:t>, </a:t>
            </a:r>
            <a:r>
              <a:rPr lang="en-CA" sz="1200" i="1" dirty="0">
                <a:solidFill>
                  <a:srgbClr val="000000"/>
                </a:solidFill>
              </a:rPr>
              <a:t>28</a:t>
            </a:r>
            <a:r>
              <a:rPr lang="en-CA" sz="1200" dirty="0">
                <a:solidFill>
                  <a:srgbClr val="000000"/>
                </a:solidFill>
              </a:rPr>
              <a:t>, 1–39. </a:t>
            </a:r>
            <a:r>
              <a:rPr lang="en-CA" sz="1200" dirty="0">
                <a:solidFill>
                  <a:srgbClr val="000000"/>
                </a:solidFill>
                <a:hlinkClick r:id="rId3"/>
              </a:rPr>
              <a:t>https://www.datavis.ca/papers/ellipses-STS402.pdf</a:t>
            </a:r>
            <a:r>
              <a:rPr lang="en-CA" sz="1200" dirty="0">
                <a:solidFill>
                  <a:srgbClr val="000000"/>
                </a:solidFill>
              </a:rPr>
              <a:t> </a:t>
            </a:r>
            <a:endParaRPr lang="en-CA" sz="1200" dirty="0"/>
          </a:p>
        </p:txBody>
      </p:sp>
      <p:sp>
        <p:nvSpPr>
          <p:cNvPr id="6" name="Slide Number Placeholder 6"/>
          <p:cNvSpPr>
            <a:spLocks noGrp="1"/>
          </p:cNvSpPr>
          <p:nvPr>
            <p:ph type="sldNum" sz="quarter" idx="12"/>
          </p:nvPr>
        </p:nvSpPr>
        <p:spPr/>
        <p:txBody>
          <a:bodyPr/>
          <a:lstStyle/>
          <a:p>
            <a:fld id="{9BFB2853-4965-4727-91C4-384EB30D99A4}" type="slidenum">
              <a:rPr lang="en-CA"/>
              <a:t>35</a:t>
            </a:fld>
            <a:endParaRPr lang="en-CA"/>
          </a:p>
        </p:txBody>
      </p:sp>
    </p:spTree>
    <p:extLst>
      <p:ext uri="{BB962C8B-B14F-4D97-AF65-F5344CB8AC3E}">
        <p14:creationId xmlns:p14="http://schemas.microsoft.com/office/powerpoint/2010/main" val="21404008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Coffee, stress and heart disease</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349" y="1465731"/>
            <a:ext cx="4420953" cy="4478572"/>
          </a:xfrm>
          <a:prstGeom prst="rect">
            <a:avLst/>
          </a:prstGeom>
        </p:spPr>
      </p:pic>
      <p:sp>
        <p:nvSpPr>
          <p:cNvPr id="3" name="TextBox 2"/>
          <p:cNvSpPr txBox="1"/>
          <p:nvPr/>
        </p:nvSpPr>
        <p:spPr>
          <a:xfrm>
            <a:off x="5755341" y="1219200"/>
            <a:ext cx="5927071" cy="1277273"/>
          </a:xfrm>
          <a:prstGeom prst="rect">
            <a:avLst/>
          </a:prstGeom>
          <a:noFill/>
        </p:spPr>
        <p:txBody>
          <a:bodyPr wrap="square" rtlCol="0">
            <a:spAutoFit/>
          </a:bodyPr>
          <a:lstStyle/>
          <a:p>
            <a:pPr>
              <a:spcAft>
                <a:spcPts val="600"/>
              </a:spcAft>
            </a:pPr>
            <a:r>
              <a:rPr lang="en-US" dirty="0"/>
              <a:t>Imagine a small study investigating the relation between a measure of heart disease (y), and coffee consumption (x</a:t>
            </a:r>
            <a:r>
              <a:rPr lang="en-US" baseline="-25000" dirty="0"/>
              <a:t>1</a:t>
            </a:r>
            <a:r>
              <a:rPr lang="en-US" dirty="0"/>
              <a:t>) and stress (x</a:t>
            </a:r>
            <a:r>
              <a:rPr lang="en-US" baseline="-25000" dirty="0"/>
              <a:t>2</a:t>
            </a:r>
            <a:r>
              <a:rPr lang="en-US" dirty="0"/>
              <a:t>)</a:t>
            </a:r>
          </a:p>
          <a:p>
            <a:pPr>
              <a:spcAft>
                <a:spcPts val="600"/>
              </a:spcAft>
            </a:pPr>
            <a:r>
              <a:rPr lang="en-US" dirty="0"/>
              <a:t>Results: lm(Heart ~ Coffee + Stress)</a:t>
            </a:r>
          </a:p>
        </p:txBody>
      </p:sp>
      <p:sp>
        <p:nvSpPr>
          <p:cNvPr id="5" name="TextBox 4"/>
          <p:cNvSpPr txBox="1"/>
          <p:nvPr/>
        </p:nvSpPr>
        <p:spPr>
          <a:xfrm>
            <a:off x="5755341" y="4648200"/>
            <a:ext cx="5927071" cy="1477328"/>
          </a:xfrm>
          <a:prstGeom prst="rect">
            <a:avLst/>
          </a:prstGeom>
          <a:noFill/>
        </p:spPr>
        <p:txBody>
          <a:bodyPr wrap="square" rtlCol="0">
            <a:spAutoFit/>
          </a:bodyPr>
          <a:lstStyle/>
          <a:p>
            <a:r>
              <a:rPr lang="en-US" dirty="0"/>
              <a:t>Wow! That means I can drink all the coffee I want as long as I avoid stress.</a:t>
            </a:r>
          </a:p>
          <a:p>
            <a:endParaRPr lang="en-US" dirty="0"/>
          </a:p>
          <a:p>
            <a:r>
              <a:rPr lang="en-US" dirty="0"/>
              <a:t>But what happens if there is measurement error in y or x</a:t>
            </a:r>
            <a:r>
              <a:rPr lang="en-US" baseline="-25000" dirty="0"/>
              <a:t>1</a:t>
            </a:r>
            <a:r>
              <a:rPr lang="en-US" dirty="0"/>
              <a:t> , x</a:t>
            </a:r>
            <a:r>
              <a:rPr lang="en-US" baseline="-25000" dirty="0"/>
              <a:t>2</a:t>
            </a:r>
            <a:r>
              <a:rPr lang="en-US" dirty="0"/>
              <a:t> ?</a:t>
            </a:r>
          </a:p>
        </p:txBody>
      </p:sp>
      <p:grpSp>
        <p:nvGrpSpPr>
          <p:cNvPr id="9" name="Group 8">
            <a:extLst>
              <a:ext uri="{FF2B5EF4-FFF2-40B4-BE49-F238E27FC236}">
                <a16:creationId xmlns:a16="http://schemas.microsoft.com/office/drawing/2014/main" id="{E97C4BA4-60CF-97D7-47BF-9A616519B6BB}"/>
              </a:ext>
            </a:extLst>
          </p:cNvPr>
          <p:cNvGrpSpPr/>
          <p:nvPr/>
        </p:nvGrpSpPr>
        <p:grpSpPr>
          <a:xfrm>
            <a:off x="6185648" y="2608729"/>
            <a:ext cx="4666128" cy="1909483"/>
            <a:chOff x="8005355" y="2819401"/>
            <a:chExt cx="3958045" cy="1476375"/>
          </a:xfrm>
        </p:grpSpPr>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5355" y="2819401"/>
              <a:ext cx="3629025"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1506200" y="3940294"/>
              <a:ext cx="457200" cy="307777"/>
            </a:xfrm>
            <a:prstGeom prst="rect">
              <a:avLst/>
            </a:prstGeom>
            <a:noFill/>
          </p:spPr>
          <p:txBody>
            <a:bodyPr wrap="square" rtlCol="0">
              <a:spAutoFit/>
            </a:bodyPr>
            <a:lstStyle/>
            <a:p>
              <a:pPr algn="ctr"/>
              <a:r>
                <a:rPr lang="en-US" sz="1400" dirty="0">
                  <a:solidFill>
                    <a:srgbClr val="00B050"/>
                  </a:solidFill>
                  <a:sym typeface="Wingdings"/>
                </a:rPr>
                <a:t></a:t>
              </a:r>
              <a:endParaRPr lang="en-US" sz="1400" dirty="0">
                <a:solidFill>
                  <a:srgbClr val="00B050"/>
                </a:solidFill>
              </a:endParaRPr>
            </a:p>
          </p:txBody>
        </p:sp>
        <p:sp>
          <p:nvSpPr>
            <p:cNvPr id="8" name="TextBox 7"/>
            <p:cNvSpPr txBox="1"/>
            <p:nvPr/>
          </p:nvSpPr>
          <p:spPr>
            <a:xfrm>
              <a:off x="11506200" y="3786405"/>
              <a:ext cx="457200" cy="307777"/>
            </a:xfrm>
            <a:prstGeom prst="rect">
              <a:avLst/>
            </a:prstGeom>
            <a:noFill/>
          </p:spPr>
          <p:txBody>
            <a:bodyPr wrap="square" rtlCol="0">
              <a:spAutoFit/>
            </a:bodyPr>
            <a:lstStyle/>
            <a:p>
              <a:pPr algn="ctr"/>
              <a:r>
                <a:rPr lang="en-US" sz="1400" dirty="0">
                  <a:solidFill>
                    <a:srgbClr val="FF0000"/>
                  </a:solidFill>
                  <a:sym typeface="Wingdings"/>
                </a:rPr>
                <a:t></a:t>
              </a:r>
              <a:endParaRPr lang="en-US" sz="1400" dirty="0">
                <a:solidFill>
                  <a:srgbClr val="FF0000"/>
                </a:solidFill>
              </a:endParaRPr>
            </a:p>
          </p:txBody>
        </p:sp>
      </p:grpSp>
      <p:sp>
        <p:nvSpPr>
          <p:cNvPr id="8195" name="Slide Number Placeholder 8195"/>
          <p:cNvSpPr>
            <a:spLocks noGrp="1"/>
          </p:cNvSpPr>
          <p:nvPr>
            <p:ph type="sldNum" sz="quarter" idx="12"/>
          </p:nvPr>
        </p:nvSpPr>
        <p:spPr/>
        <p:txBody>
          <a:bodyPr/>
          <a:lstStyle/>
          <a:p>
            <a:fld id="{9BFB2853-4965-4727-91C4-384EB30D99A4}" type="slidenum">
              <a:rPr lang="en-CA"/>
              <a:t>36</a:t>
            </a:fld>
            <a:endParaRPr lang="en-CA"/>
          </a:p>
        </p:txBody>
      </p:sp>
    </p:spTree>
    <p:extLst>
      <p:ext uri="{BB962C8B-B14F-4D97-AF65-F5344CB8AC3E}">
        <p14:creationId xmlns:p14="http://schemas.microsoft.com/office/powerpoint/2010/main" val="19636508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996"/>
            <a:ext cx="10515600" cy="845110"/>
          </a:xfrm>
        </p:spPr>
        <p:txBody>
          <a:bodyPr/>
          <a:lstStyle/>
          <a:p>
            <a:r>
              <a:rPr dirty="0"/>
              <a:t>Data space and beta space are dual</a:t>
            </a:r>
          </a:p>
        </p:txBody>
      </p:sp>
      <p:pic>
        <p:nvPicPr>
          <p:cNvPr id="3" name="Picture 2" descr="coffee-data-beta-both.png"/>
          <p:cNvPicPr>
            <a:picLocks noChangeAspect="1"/>
          </p:cNvPicPr>
          <p:nvPr/>
        </p:nvPicPr>
        <p:blipFill>
          <a:blip r:embed="rId3"/>
          <a:stretch>
            <a:fillRect/>
          </a:stretch>
        </p:blipFill>
        <p:spPr>
          <a:xfrm>
            <a:off x="1197148" y="1324998"/>
            <a:ext cx="9033311" cy="4298562"/>
          </a:xfrm>
          <a:prstGeom prst="rect">
            <a:avLst/>
          </a:prstGeom>
        </p:spPr>
      </p:pic>
      <p:sp>
        <p:nvSpPr>
          <p:cNvPr id="4" name="TextBox 3"/>
          <p:cNvSpPr txBox="1"/>
          <p:nvPr/>
        </p:nvSpPr>
        <p:spPr>
          <a:xfrm>
            <a:off x="838200" y="5776856"/>
            <a:ext cx="10515600" cy="369332"/>
          </a:xfrm>
          <a:prstGeom prst="rect">
            <a:avLst/>
          </a:prstGeom>
          <a:noFill/>
        </p:spPr>
        <p:txBody>
          <a:bodyPr wrap="square">
            <a:spAutoFit/>
          </a:bodyPr>
          <a:lstStyle/>
          <a:p>
            <a:r>
              <a:rPr sz="1800" dirty="0"/>
              <a:t>The </a:t>
            </a:r>
            <a:r>
              <a:rPr lang="en-CA" sz="1800" dirty="0"/>
              <a:t>data ellipse for the predictors (</a:t>
            </a:r>
            <a:r>
              <a:rPr lang="en-CA" sz="1800" b="1" dirty="0"/>
              <a:t>X’X</a:t>
            </a:r>
            <a:r>
              <a:rPr lang="en-CA" sz="1800" dirty="0"/>
              <a:t>) is the inverse of the </a:t>
            </a:r>
            <a:r>
              <a:rPr sz="1800" dirty="0"/>
              <a:t>confidence ellipse for the coefficients</a:t>
            </a:r>
            <a:r>
              <a:rPr lang="en-CA" sz="1800" dirty="0"/>
              <a:t>, (</a:t>
            </a:r>
            <a:r>
              <a:rPr lang="en-CA" sz="1800" b="1" dirty="0"/>
              <a:t>X’X</a:t>
            </a:r>
            <a:r>
              <a:rPr lang="en-CA" sz="1800" dirty="0"/>
              <a:t>)</a:t>
            </a:r>
            <a:r>
              <a:rPr lang="en-CA" sz="1800" baseline="30000" dirty="0"/>
              <a:t>-1</a:t>
            </a:r>
            <a:endParaRPr sz="1800" baseline="30000"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8.3</a:t>
            </a:r>
          </a:p>
        </p:txBody>
      </p:sp>
      <p:sp>
        <p:nvSpPr>
          <p:cNvPr id="6" name="Slide Number Placeholder 6"/>
          <p:cNvSpPr>
            <a:spLocks noGrp="1"/>
          </p:cNvSpPr>
          <p:nvPr>
            <p:ph type="sldNum" sz="quarter" idx="12"/>
          </p:nvPr>
        </p:nvSpPr>
        <p:spPr/>
        <p:txBody>
          <a:bodyPr/>
          <a:lstStyle/>
          <a:p>
            <a:fld id="{9BFB2853-4965-4727-91C4-384EB30D99A4}" type="slidenum">
              <a:rPr lang="en-CA"/>
              <a:t>37</a:t>
            </a:fld>
            <a:endParaRPr lang="en-CA"/>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714"/>
          </a:xfrm>
        </p:spPr>
        <p:txBody>
          <a:bodyPr>
            <a:normAutofit fontScale="90000"/>
          </a:bodyPr>
          <a:lstStyle/>
          <a:p>
            <a:r>
              <a:rPr lang="en-US" dirty="0"/>
              <a:t>Adding measurement error</a:t>
            </a:r>
          </a:p>
        </p:txBody>
      </p:sp>
      <p:sp>
        <p:nvSpPr>
          <p:cNvPr id="4" name="Content Placeholder 3"/>
          <p:cNvSpPr>
            <a:spLocks noGrp="1"/>
          </p:cNvSpPr>
          <p:nvPr>
            <p:ph idx="1"/>
          </p:nvPr>
        </p:nvSpPr>
        <p:spPr>
          <a:xfrm>
            <a:off x="838200" y="1196788"/>
            <a:ext cx="10896600" cy="1508760"/>
          </a:xfrm>
        </p:spPr>
        <p:txBody>
          <a:bodyPr>
            <a:normAutofit/>
          </a:bodyPr>
          <a:lstStyle/>
          <a:p>
            <a:r>
              <a:rPr lang="en-US" sz="2000" dirty="0"/>
              <a:t>Measurement error in Heart (y) </a:t>
            </a:r>
            <a:r>
              <a:rPr lang="en-US" sz="2000" dirty="0">
                <a:solidFill>
                  <a:srgbClr val="FF0000"/>
                </a:solidFill>
              </a:rPr>
              <a:t>decreases precision </a:t>
            </a:r>
            <a:r>
              <a:rPr lang="en-US" sz="2000" dirty="0"/>
              <a:t>(</a:t>
            </a:r>
            <a:r>
              <a:rPr lang="en-US" sz="2000" dirty="0">
                <a:sym typeface="Symbol" panose="05050102010706020507" pitchFamily="18" charset="2"/>
              </a:rPr>
              <a:t> std. errors)</a:t>
            </a:r>
            <a:endParaRPr lang="en-US" sz="2000" dirty="0"/>
          </a:p>
          <a:p>
            <a:r>
              <a:rPr lang="en-US" sz="2000" dirty="0"/>
              <a:t>Measurement error in Stress (x</a:t>
            </a:r>
            <a:r>
              <a:rPr lang="en-US" sz="2000" baseline="-25000" dirty="0"/>
              <a:t>2</a:t>
            </a:r>
            <a:r>
              <a:rPr lang="en-US" sz="2000" dirty="0"/>
              <a:t>) biases its effect </a:t>
            </a:r>
            <a:r>
              <a:rPr lang="el-GR" sz="2000" dirty="0">
                <a:solidFill>
                  <a:srgbClr val="FF0000"/>
                </a:solidFill>
              </a:rPr>
              <a:t>β</a:t>
            </a:r>
            <a:r>
              <a:rPr lang="en-US" sz="2000" baseline="-25000" dirty="0">
                <a:solidFill>
                  <a:srgbClr val="FF0000"/>
                </a:solidFill>
              </a:rPr>
              <a:t>Stress</a:t>
            </a:r>
            <a:r>
              <a:rPr lang="en-US" sz="2000" dirty="0">
                <a:solidFill>
                  <a:srgbClr val="FF0000"/>
                </a:solidFill>
              </a:rPr>
              <a:t> </a:t>
            </a:r>
            <a:r>
              <a:rPr lang="en-US" sz="2000" dirty="0">
                <a:solidFill>
                  <a:srgbClr val="FF0000"/>
                </a:solidFill>
                <a:sym typeface="Symbol"/>
              </a:rPr>
              <a:t> 0</a:t>
            </a:r>
            <a:endParaRPr lang="en-US" sz="2000" dirty="0"/>
          </a:p>
          <a:p>
            <a:r>
              <a:rPr lang="en-US" sz="2000" dirty="0"/>
              <a:t>With Coffee in the model, it also drives </a:t>
            </a:r>
            <a:r>
              <a:rPr lang="en-US" sz="2000" dirty="0">
                <a:solidFill>
                  <a:srgbClr val="FF0000"/>
                </a:solidFill>
              </a:rPr>
              <a:t>β</a:t>
            </a:r>
            <a:r>
              <a:rPr lang="en-US" sz="2000" baseline="-25000" dirty="0">
                <a:solidFill>
                  <a:srgbClr val="FF0000"/>
                </a:solidFill>
              </a:rPr>
              <a:t>Coffee</a:t>
            </a:r>
            <a:r>
              <a:rPr lang="en-US" sz="2000" dirty="0">
                <a:solidFill>
                  <a:srgbClr val="FF0000"/>
                </a:solidFill>
              </a:rPr>
              <a:t> toward its marginal value</a:t>
            </a:r>
            <a:r>
              <a:rPr lang="en-US" sz="2000" dirty="0"/>
              <a:t> (right)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248" y="2834640"/>
            <a:ext cx="3291840" cy="329184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3128" y="2834640"/>
            <a:ext cx="3291840" cy="3291840"/>
          </a:xfrm>
          <a:prstGeom prst="rect">
            <a:avLst/>
          </a:prstGeom>
        </p:spPr>
      </p:pic>
      <p:pic>
        <p:nvPicPr>
          <p:cNvPr id="8" name="Beta space coffee-stress" descr="image.gif"/>
          <p:cNvPicPr>
            <a:picLocks noChangeAspect="1"/>
          </p:cNvPicPr>
          <p:nvPr/>
        </p:nvPicPr>
        <p:blipFill>
          <a:blip r:embed="rId5"/>
          <a:stretch>
            <a:fillRect/>
          </a:stretch>
        </p:blipFill>
        <p:spPr>
          <a:xfrm>
            <a:off x="8065008" y="2834640"/>
            <a:ext cx="3291840" cy="3291840"/>
          </a:xfrm>
          <a:prstGeom prst="rect">
            <a:avLst/>
          </a:prstGeom>
        </p:spPr>
      </p:pic>
      <p:sp>
        <p:nvSpPr>
          <p:cNvPr id="9" name="Slide Number Placeholder 9"/>
          <p:cNvSpPr>
            <a:spLocks noGrp="1"/>
          </p:cNvSpPr>
          <p:nvPr>
            <p:ph type="sldNum" sz="quarter" idx="12"/>
          </p:nvPr>
        </p:nvSpPr>
        <p:spPr/>
        <p:txBody>
          <a:bodyPr/>
          <a:lstStyle/>
          <a:p>
            <a:fld id="{9BFB2853-4965-4727-91C4-384EB30D99A4}" type="slidenum">
              <a:rPr lang="en-CA"/>
              <a:t>38</a:t>
            </a:fld>
            <a:endParaRPr lang="en-CA"/>
          </a:p>
        </p:txBody>
      </p:sp>
    </p:spTree>
    <p:extLst>
      <p:ext uri="{BB962C8B-B14F-4D97-AF65-F5344CB8AC3E}">
        <p14:creationId xmlns:p14="http://schemas.microsoft.com/office/powerpoint/2010/main" val="26152795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2D51AE72-842B-4A4B-DC7D-AE4F2D561E63}"/>
              </a:ext>
            </a:extLst>
          </p:cNvPr>
          <p:cNvGrpSpPr/>
          <p:nvPr/>
        </p:nvGrpSpPr>
        <p:grpSpPr>
          <a:xfrm>
            <a:off x="6236208" y="1381125"/>
            <a:ext cx="5120640" cy="4105275"/>
            <a:chOff x="6236208" y="1381125"/>
            <a:chExt cx="5120640" cy="4105275"/>
          </a:xfrm>
        </p:grpSpPr>
        <p:pic>
          <p:nvPicPr>
            <p:cNvPr id="4" name="Picture 3" descr="fig-cars-collin-biplot-1.png"/>
            <p:cNvPicPr>
              <a:picLocks noChangeAspect="1"/>
            </p:cNvPicPr>
            <p:nvPr/>
          </p:nvPicPr>
          <p:blipFill>
            <a:blip r:embed="rId3"/>
            <a:stretch>
              <a:fillRect/>
            </a:stretch>
          </p:blipFill>
          <p:spPr>
            <a:xfrm>
              <a:off x="6236208" y="1828800"/>
              <a:ext cx="5120640" cy="3657600"/>
            </a:xfrm>
            <a:prstGeom prst="rect">
              <a:avLst/>
            </a:prstGeom>
          </p:spPr>
        </p:pic>
        <p:sp>
          <p:nvSpPr>
            <p:cNvPr id="13" name="TextBox 12">
              <a:extLst>
                <a:ext uri="{FF2B5EF4-FFF2-40B4-BE49-F238E27FC236}">
                  <a16:creationId xmlns:a16="http://schemas.microsoft.com/office/drawing/2014/main" id="{7891D371-0E92-FB60-6241-0361EBA4789D}"/>
                </a:ext>
              </a:extLst>
            </p:cNvPr>
            <p:cNvSpPr txBox="1"/>
            <p:nvPr/>
          </p:nvSpPr>
          <p:spPr>
            <a:xfrm>
              <a:off x="6667500" y="1381125"/>
              <a:ext cx="4521200" cy="369332"/>
            </a:xfrm>
            <a:prstGeom prst="rect">
              <a:avLst/>
            </a:prstGeom>
            <a:noFill/>
          </p:spPr>
          <p:txBody>
            <a:bodyPr wrap="square" rtlCol="0">
              <a:spAutoFit/>
            </a:bodyPr>
            <a:lstStyle/>
            <a:p>
              <a:r>
                <a:rPr lang="en-CA" dirty="0"/>
                <a:t>Collinearity problems live in Waldo space</a:t>
              </a:r>
            </a:p>
          </p:txBody>
        </p:sp>
      </p:grpSp>
      <p:sp>
        <p:nvSpPr>
          <p:cNvPr id="2" name="Title 1"/>
          <p:cNvSpPr>
            <a:spLocks noGrp="1"/>
          </p:cNvSpPr>
          <p:nvPr>
            <p:ph type="title"/>
          </p:nvPr>
        </p:nvSpPr>
        <p:spPr>
          <a:xfrm>
            <a:off x="838200" y="365125"/>
            <a:ext cx="10515600" cy="889635"/>
          </a:xfrm>
        </p:spPr>
        <p:txBody>
          <a:bodyPr/>
          <a:lstStyle/>
          <a:p>
            <a:r>
              <a:rPr lang="en-CA" dirty="0"/>
              <a:t>Understanding collinearity</a:t>
            </a:r>
            <a:endParaRPr dirty="0"/>
          </a:p>
        </p:txBody>
      </p:sp>
      <p:sp>
        <p:nvSpPr>
          <p:cNvPr id="5" name="TextBox 4"/>
          <p:cNvSpPr txBox="1"/>
          <p:nvPr/>
        </p:nvSpPr>
        <p:spPr>
          <a:xfrm>
            <a:off x="704088" y="108903"/>
            <a:ext cx="10515600" cy="369332"/>
          </a:xfrm>
          <a:prstGeom prst="rect">
            <a:avLst/>
          </a:prstGeom>
          <a:noFill/>
        </p:spPr>
        <p:txBody>
          <a:bodyPr wrap="square">
            <a:spAutoFit/>
          </a:bodyPr>
          <a:lstStyle/>
          <a:p>
            <a:endParaRPr sz="1800" dirty="0"/>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9.6, 9.7</a:t>
            </a:r>
          </a:p>
        </p:txBody>
      </p:sp>
      <p:pic>
        <p:nvPicPr>
          <p:cNvPr id="7" name="Picture 6">
            <a:extLst>
              <a:ext uri="{FF2B5EF4-FFF2-40B4-BE49-F238E27FC236}">
                <a16:creationId xmlns:a16="http://schemas.microsoft.com/office/drawing/2014/main" id="{56CED087-F66B-2266-D14C-EF56C91CA2CE}"/>
              </a:ext>
            </a:extLst>
          </p:cNvPr>
          <p:cNvPicPr>
            <a:picLocks noChangeAspect="1"/>
          </p:cNvPicPr>
          <p:nvPr/>
        </p:nvPicPr>
        <p:blipFill>
          <a:blip r:embed="rId4"/>
          <a:stretch>
            <a:fillRect/>
          </a:stretch>
        </p:blipFill>
        <p:spPr>
          <a:xfrm>
            <a:off x="11465513" y="4569594"/>
            <a:ext cx="568780" cy="568780"/>
          </a:xfrm>
          <a:prstGeom prst="rect">
            <a:avLst/>
          </a:prstGeom>
        </p:spPr>
      </p:pic>
      <p:sp>
        <p:nvSpPr>
          <p:cNvPr id="8" name="Oval 7">
            <a:extLst>
              <a:ext uri="{FF2B5EF4-FFF2-40B4-BE49-F238E27FC236}">
                <a16:creationId xmlns:a16="http://schemas.microsoft.com/office/drawing/2014/main" id="{EBDC8D63-15B0-2373-D30E-2317C37A7920}"/>
              </a:ext>
            </a:extLst>
          </p:cNvPr>
          <p:cNvSpPr/>
          <p:nvPr/>
        </p:nvSpPr>
        <p:spPr>
          <a:xfrm>
            <a:off x="10734262" y="4569594"/>
            <a:ext cx="731252" cy="568780"/>
          </a:xfrm>
          <a:prstGeom prst="ellipse">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0" name="Picture 9" descr="A hexagon with a diagram of different colored circles&#10;&#10;Description automatically generated">
            <a:extLst>
              <a:ext uri="{FF2B5EF4-FFF2-40B4-BE49-F238E27FC236}">
                <a16:creationId xmlns:a16="http://schemas.microsoft.com/office/drawing/2014/main" id="{6BAB72B0-CAD5-E775-B8B4-AEDE2955D2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61147" y="340360"/>
            <a:ext cx="792653" cy="914400"/>
          </a:xfrm>
          <a:prstGeom prst="rect">
            <a:avLst/>
          </a:prstGeom>
        </p:spPr>
      </p:pic>
      <p:grpSp>
        <p:nvGrpSpPr>
          <p:cNvPr id="14" name="Group 13">
            <a:extLst>
              <a:ext uri="{FF2B5EF4-FFF2-40B4-BE49-F238E27FC236}">
                <a16:creationId xmlns:a16="http://schemas.microsoft.com/office/drawing/2014/main" id="{78A5A869-79C2-AAA6-EF97-0C22CA87FDB1}"/>
              </a:ext>
            </a:extLst>
          </p:cNvPr>
          <p:cNvGrpSpPr/>
          <p:nvPr/>
        </p:nvGrpSpPr>
        <p:grpSpPr>
          <a:xfrm>
            <a:off x="838200" y="1381125"/>
            <a:ext cx="5126736" cy="4105275"/>
            <a:chOff x="838200" y="1381125"/>
            <a:chExt cx="5126736" cy="4105275"/>
          </a:xfrm>
        </p:grpSpPr>
        <p:pic>
          <p:nvPicPr>
            <p:cNvPr id="3" name="Picture 2" descr="fig-cars-tableplot-1.png"/>
            <p:cNvPicPr>
              <a:picLocks noChangeAspect="1"/>
            </p:cNvPicPr>
            <p:nvPr/>
          </p:nvPicPr>
          <p:blipFill>
            <a:blip r:embed="rId6"/>
            <a:stretch>
              <a:fillRect/>
            </a:stretch>
          </p:blipFill>
          <p:spPr>
            <a:xfrm>
              <a:off x="841248" y="1828800"/>
              <a:ext cx="5120640" cy="3657600"/>
            </a:xfrm>
            <a:prstGeom prst="rect">
              <a:avLst/>
            </a:prstGeom>
          </p:spPr>
        </p:pic>
        <p:sp>
          <p:nvSpPr>
            <p:cNvPr id="12" name="TextBox 11">
              <a:extLst>
                <a:ext uri="{FF2B5EF4-FFF2-40B4-BE49-F238E27FC236}">
                  <a16:creationId xmlns:a16="http://schemas.microsoft.com/office/drawing/2014/main" id="{F4A91128-D889-6BD4-6A40-3AE7480AEDFF}"/>
                </a:ext>
              </a:extLst>
            </p:cNvPr>
            <p:cNvSpPr txBox="1"/>
            <p:nvPr/>
          </p:nvSpPr>
          <p:spPr>
            <a:xfrm>
              <a:off x="838200" y="1381125"/>
              <a:ext cx="5126736" cy="369332"/>
            </a:xfrm>
            <a:prstGeom prst="rect">
              <a:avLst/>
            </a:prstGeom>
            <a:noFill/>
          </p:spPr>
          <p:txBody>
            <a:bodyPr wrap="square" rtlCol="0">
              <a:spAutoFit/>
            </a:bodyPr>
            <a:lstStyle/>
            <a:p>
              <a:r>
                <a:rPr lang="en-CA" dirty="0"/>
                <a:t>Visualizing VIFs, condition indices, variance %</a:t>
              </a:r>
            </a:p>
          </p:txBody>
        </p:sp>
      </p:grpSp>
      <p:sp>
        <p:nvSpPr>
          <p:cNvPr id="9" name="Rectangle: Rounded Corners 8">
            <a:extLst>
              <a:ext uri="{FF2B5EF4-FFF2-40B4-BE49-F238E27FC236}">
                <a16:creationId xmlns:a16="http://schemas.microsoft.com/office/drawing/2014/main" id="{D3927502-F632-50FE-450B-56A90E4BBE19}"/>
              </a:ext>
            </a:extLst>
          </p:cNvPr>
          <p:cNvSpPr/>
          <p:nvPr/>
        </p:nvSpPr>
        <p:spPr>
          <a:xfrm>
            <a:off x="704088" y="2123441"/>
            <a:ext cx="4268745" cy="13055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Slide Number Placeholder 16"/>
          <p:cNvSpPr>
            <a:spLocks noGrp="1"/>
          </p:cNvSpPr>
          <p:nvPr>
            <p:ph type="sldNum" sz="quarter" idx="12"/>
          </p:nvPr>
        </p:nvSpPr>
        <p:spPr/>
        <p:txBody>
          <a:bodyPr/>
          <a:lstStyle/>
          <a:p>
            <a:fld id="{9BFB2853-4965-4727-91C4-384EB30D99A4}" type="slidenum">
              <a:rPr lang="en-CA"/>
              <a:t>39</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1000" fill="hold"/>
                                        <p:tgtEl>
                                          <p:spTgt spid="15"/>
                                        </p:tgtEl>
                                        <p:attrNameLst>
                                          <p:attrName>ppt_w</p:attrName>
                                        </p:attrNameLst>
                                      </p:cBhvr>
                                      <p:tavLst>
                                        <p:tav tm="0">
                                          <p:val>
                                            <p:fltVal val="0"/>
                                          </p:val>
                                        </p:tav>
                                        <p:tav tm="100000">
                                          <p:val>
                                            <p:strVal val="#ppt_w"/>
                                          </p:val>
                                        </p:tav>
                                      </p:tavLst>
                                    </p:anim>
                                    <p:anim calcmode="lin" valueType="num">
                                      <p:cBhvr>
                                        <p:cTn id="14" dur="1000" fill="hold"/>
                                        <p:tgtEl>
                                          <p:spTgt spid="15"/>
                                        </p:tgtEl>
                                        <p:attrNameLst>
                                          <p:attrName>ppt_h</p:attrName>
                                        </p:attrNameLst>
                                      </p:cBhvr>
                                      <p:tavLst>
                                        <p:tav tm="0">
                                          <p:val>
                                            <p:fltVal val="0"/>
                                          </p:val>
                                        </p:tav>
                                        <p:tav tm="100000">
                                          <p:val>
                                            <p:strVal val="#ppt_h"/>
                                          </p:val>
                                        </p:tav>
                                      </p:tavLst>
                                    </p:anim>
                                    <p:anim calcmode="lin" valueType="num">
                                      <p:cBhvr>
                                        <p:cTn id="15" dur="1000" fill="hold"/>
                                        <p:tgtEl>
                                          <p:spTgt spid="15"/>
                                        </p:tgtEl>
                                        <p:attrNameLst>
                                          <p:attrName>style.rotation</p:attrName>
                                        </p:attrNameLst>
                                      </p:cBhvr>
                                      <p:tavLst>
                                        <p:tav tm="0">
                                          <p:val>
                                            <p:fltVal val="90"/>
                                          </p:val>
                                        </p:tav>
                                        <p:tav tm="100000">
                                          <p:val>
                                            <p:fltVal val="0"/>
                                          </p:val>
                                        </p:tav>
                                      </p:tavLst>
                                    </p:anim>
                                    <p:animEffect transition="in" filter="fade">
                                      <p:cBhvr>
                                        <p:cTn id="16" dur="10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Ridge regression: shrink to gain precision</a:t>
            </a:r>
          </a:p>
        </p:txBody>
      </p:sp>
      <p:sp>
        <p:nvSpPr>
          <p:cNvPr id="3" name="Content Placeholder 2"/>
          <p:cNvSpPr>
            <a:spLocks noGrp="1"/>
          </p:cNvSpPr>
          <p:nvPr>
            <p:ph sz="half" idx="1"/>
          </p:nvPr>
        </p:nvSpPr>
        <p:spPr/>
        <p:txBody>
          <a:bodyPr/>
          <a:lstStyle/>
          <a:p>
            <a:r>
              <a:t>Constrain the size of the coefficients</a:t>
            </a:r>
          </a:p>
          <a:p>
            <a:r>
              <a:t>The estimate moves from the OLS solution toward the origin</a:t>
            </a:r>
          </a:p>
          <a:p>
            <a:r>
              <a:t>A little bias buys a lot of precision</a:t>
            </a:r>
          </a:p>
        </p:txBody>
      </p:sp>
      <p:pic>
        <p:nvPicPr>
          <p:cNvPr id="4" name="Picture 3" descr="ridge-demo.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9.9</a:t>
            </a:r>
          </a:p>
        </p:txBody>
      </p:sp>
      <p:pic>
        <p:nvPicPr>
          <p:cNvPr id="7" name="Picture 6" descr="logo.png">
            <a:extLst>
              <a:ext uri="{FF2B5EF4-FFF2-40B4-BE49-F238E27FC236}">
                <a16:creationId xmlns:a16="http://schemas.microsoft.com/office/drawing/2014/main" id="{0D4E33D8-FD24-E2AF-1168-8C9676AF6E34}"/>
              </a:ext>
            </a:extLst>
          </p:cNvPr>
          <p:cNvPicPr>
            <a:picLocks noChangeAspect="1"/>
          </p:cNvPicPr>
          <p:nvPr/>
        </p:nvPicPr>
        <p:blipFill>
          <a:blip r:embed="rId4"/>
          <a:stretch>
            <a:fillRect/>
          </a:stretch>
        </p:blipFill>
        <p:spPr>
          <a:xfrm>
            <a:off x="10567827" y="249214"/>
            <a:ext cx="785973" cy="914400"/>
          </a:xfrm>
          <a:prstGeom prst="rect">
            <a:avLst/>
          </a:prstGeom>
        </p:spPr>
      </p:pic>
      <p:sp>
        <p:nvSpPr>
          <p:cNvPr id="8" name="Slide Number Placeholder 8"/>
          <p:cNvSpPr>
            <a:spLocks noGrp="1"/>
          </p:cNvSpPr>
          <p:nvPr>
            <p:ph type="sldNum" sz="quarter" idx="12"/>
          </p:nvPr>
        </p:nvSpPr>
        <p:spPr/>
        <p:txBody>
          <a:bodyPr/>
          <a:lstStyle/>
          <a:p>
            <a:fld id="{9BFB2853-4965-4727-91C4-384EB30D99A4}" type="slidenum">
              <a:rPr lang="en-CA"/>
              <a:t>40</a:t>
            </a:fld>
            <a:endParaRPr lang="en-CA"/>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usual ridge trace shows only the estimates</a:t>
            </a:r>
          </a:p>
        </p:txBody>
      </p:sp>
      <p:sp>
        <p:nvSpPr>
          <p:cNvPr id="3" name="Content Placeholder 2"/>
          <p:cNvSpPr>
            <a:spLocks noGrp="1"/>
          </p:cNvSpPr>
          <p:nvPr>
            <p:ph sz="half" idx="1"/>
          </p:nvPr>
        </p:nvSpPr>
        <p:spPr>
          <a:xfrm>
            <a:off x="838200" y="1643063"/>
            <a:ext cx="4259893" cy="4533900"/>
          </a:xfrm>
        </p:spPr>
        <p:txBody>
          <a:bodyPr/>
          <a:lstStyle/>
          <a:p>
            <a:r>
              <a:rPr dirty="0"/>
              <a:t>Longley data: six highly collinear economic predictors</a:t>
            </a:r>
          </a:p>
          <a:p>
            <a:r>
              <a:rPr dirty="0"/>
              <a:t>Coefficients plotted against the shrinkage constant</a:t>
            </a:r>
          </a:p>
          <a:p>
            <a:r>
              <a:rPr dirty="0"/>
              <a:t>Shows the bias, but nothing about precision</a:t>
            </a:r>
          </a:p>
        </p:txBody>
      </p:sp>
      <p:pic>
        <p:nvPicPr>
          <p:cNvPr id="4" name="Picture 3" descr="fig-longley-traceplot1-1.png"/>
          <p:cNvPicPr>
            <a:picLocks noChangeAspect="1"/>
          </p:cNvPicPr>
          <p:nvPr/>
        </p:nvPicPr>
        <p:blipFill>
          <a:blip r:embed="rId3"/>
          <a:stretch>
            <a:fillRect/>
          </a:stretch>
        </p:blipFill>
        <p:spPr>
          <a:xfrm>
            <a:off x="5273458" y="1484021"/>
            <a:ext cx="6083390" cy="4345279"/>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dirty="0">
                <a:solidFill>
                  <a:srgbClr val="707070"/>
                </a:solidFill>
              </a:rPr>
              <a:t>Figure 9.10</a:t>
            </a:r>
          </a:p>
        </p:txBody>
      </p:sp>
      <p:sp>
        <p:nvSpPr>
          <p:cNvPr id="6" name="Slide Number Placeholder 6"/>
          <p:cNvSpPr>
            <a:spLocks noGrp="1"/>
          </p:cNvSpPr>
          <p:nvPr>
            <p:ph type="sldNum" sz="quarter" idx="12"/>
          </p:nvPr>
        </p:nvSpPr>
        <p:spPr/>
        <p:txBody>
          <a:bodyPr/>
          <a:lstStyle/>
          <a:p>
            <a:fld id="{9BFB2853-4965-4727-91C4-384EB30D99A4}" type="slidenum">
              <a:rPr lang="en-CA"/>
              <a:t>41</a:t>
            </a:fld>
            <a:endParaRPr lang="en-CA"/>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Generalized ridge trace plots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978" y="1143001"/>
            <a:ext cx="9200927" cy="5051429"/>
          </a:xfrm>
          <a:prstGeom prst="rect">
            <a:avLst/>
          </a:prstGeom>
        </p:spPr>
      </p:pic>
      <p:pic>
        <p:nvPicPr>
          <p:cNvPr id="5" name="Picture 4" descr="A hexagon with a diagram of different colored circles&#10;&#10;Description automatically generated">
            <a:extLst>
              <a:ext uri="{FF2B5EF4-FFF2-40B4-BE49-F238E27FC236}">
                <a16:creationId xmlns:a16="http://schemas.microsoft.com/office/drawing/2014/main" id="{32D3F16A-C57B-F52D-0588-2DF6EC723F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46278" y="230940"/>
            <a:ext cx="748963" cy="864000"/>
          </a:xfrm>
          <a:prstGeom prst="rect">
            <a:avLst/>
          </a:prstGeom>
        </p:spPr>
      </p:pic>
      <p:pic>
        <p:nvPicPr>
          <p:cNvPr id="6" name="Picture 5" descr="A hexagon with colorful circles and dots&#10;&#10;Description automatically generated">
            <a:extLst>
              <a:ext uri="{FF2B5EF4-FFF2-40B4-BE49-F238E27FC236}">
                <a16:creationId xmlns:a16="http://schemas.microsoft.com/office/drawing/2014/main" id="{E1061739-8352-1D68-F9A7-4743B94F0A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65102" y="274493"/>
            <a:ext cx="742652" cy="864000"/>
          </a:xfrm>
          <a:prstGeom prst="rect">
            <a:avLst/>
          </a:prstGeom>
        </p:spPr>
      </p:pic>
      <p:sp>
        <p:nvSpPr>
          <p:cNvPr id="7" name="Slide Number Placeholder 7"/>
          <p:cNvSpPr>
            <a:spLocks noGrp="1"/>
          </p:cNvSpPr>
          <p:nvPr>
            <p:ph type="sldNum" sz="quarter" idx="12"/>
          </p:nvPr>
        </p:nvSpPr>
        <p:spPr/>
        <p:txBody>
          <a:bodyPr/>
          <a:lstStyle/>
          <a:p>
            <a:fld id="{9BFB2853-4965-4727-91C4-384EB30D99A4}" type="slidenum">
              <a:rPr lang="en-CA"/>
              <a:t>42</a:t>
            </a:fld>
            <a:endParaRPr lang="en-CA"/>
          </a:p>
        </p:txBody>
      </p:sp>
    </p:spTree>
    <p:extLst>
      <p:ext uri="{BB962C8B-B14F-4D97-AF65-F5344CB8AC3E}">
        <p14:creationId xmlns:p14="http://schemas.microsoft.com/office/powerpoint/2010/main" val="318033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low-rank view of ridge regression</a:t>
            </a:r>
          </a:p>
        </p:txBody>
      </p:sp>
      <p:sp>
        <p:nvSpPr>
          <p:cNvPr id="3" name="Content Placeholder 2"/>
          <p:cNvSpPr>
            <a:spLocks noGrp="1"/>
          </p:cNvSpPr>
          <p:nvPr>
            <p:ph sz="half" idx="1"/>
          </p:nvPr>
        </p:nvSpPr>
        <p:spPr/>
        <p:txBody>
          <a:bodyPr/>
          <a:lstStyle/>
          <a:p>
            <a:r>
              <a:t>Transform to the principal component space of the predictors</a:t>
            </a:r>
          </a:p>
          <a:p>
            <a:r>
              <a:t>Shrinkage happens mostly in the smallest dimensions</a:t>
            </a:r>
          </a:p>
          <a:p>
            <a:r>
              <a:t>A biplot shows how the variables relate to them</a:t>
            </a:r>
          </a:p>
        </p:txBody>
      </p:sp>
      <p:pic>
        <p:nvPicPr>
          <p:cNvPr id="4" name="Picture 3" descr="fig-longley-pca-biplot-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9.18</a:t>
            </a:r>
          </a:p>
        </p:txBody>
      </p:sp>
      <p:sp>
        <p:nvSpPr>
          <p:cNvPr id="8" name="Slide Number Placeholder 8"/>
          <p:cNvSpPr>
            <a:spLocks noGrp="1"/>
          </p:cNvSpPr>
          <p:nvPr>
            <p:ph type="sldNum" sz="quarter" idx="12"/>
          </p:nvPr>
        </p:nvSpPr>
        <p:spPr/>
        <p:txBody>
          <a:bodyPr/>
          <a:lstStyle/>
          <a:p>
            <a:fld id="{9BFB2853-4965-4727-91C4-384EB30D99A4}" type="slidenum">
              <a:rPr lang="en-CA"/>
              <a:t>43</a:t>
            </a:fld>
            <a:endParaRPr lang="en-CA"/>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HE plot framework</a:t>
            </a:r>
          </a:p>
        </p:txBody>
      </p:sp>
      <p:sp>
        <p:nvSpPr>
          <p:cNvPr id="3" name="Text Placeholder 2"/>
          <p:cNvSpPr>
            <a:spLocks noGrp="1"/>
          </p:cNvSpPr>
          <p:nvPr>
            <p:ph type="body" idx="1"/>
          </p:nvPr>
        </p:nvSpPr>
        <p:spPr/>
        <p:txBody>
          <a:bodyPr/>
          <a:lstStyle/>
          <a:p>
            <a:r>
              <a:t>Seeing multivariate tests as ellipses</a:t>
            </a:r>
          </a:p>
        </p:txBody>
      </p:sp>
      <p:sp>
        <p:nvSpPr>
          <p:cNvPr id="4" name="Slide Number Placeholder 4"/>
          <p:cNvSpPr>
            <a:spLocks noGrp="1"/>
          </p:cNvSpPr>
          <p:nvPr>
            <p:ph type="sldNum" sz="quarter" idx="12"/>
          </p:nvPr>
        </p:nvSpPr>
        <p:spPr/>
        <p:txBody>
          <a:bodyPr/>
          <a:lstStyle/>
          <a:p>
            <a:fld id="{9BFB2853-4965-4727-91C4-384EB30D99A4}" type="slidenum">
              <a:rPr lang="en-CA"/>
              <a:t>44</a:t>
            </a:fld>
            <a:endParaRPr lang="en-CA"/>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A0AE-DBB2-AE3D-3076-61638ADA8B4B}"/>
              </a:ext>
            </a:extLst>
          </p:cNvPr>
          <p:cNvSpPr>
            <a:spLocks noGrp="1"/>
          </p:cNvSpPr>
          <p:nvPr>
            <p:ph type="title"/>
          </p:nvPr>
        </p:nvSpPr>
        <p:spPr>
          <a:xfrm>
            <a:off x="7916560" y="274638"/>
            <a:ext cx="3818240" cy="1781134"/>
          </a:xfrm>
        </p:spPr>
        <p:txBody>
          <a:bodyPr>
            <a:normAutofit/>
          </a:bodyPr>
          <a:lstStyle/>
          <a:p>
            <a:r>
              <a:rPr lang="en-CA" sz="3200" dirty="0"/>
              <a:t>HE plots: Visual overview</a:t>
            </a:r>
          </a:p>
        </p:txBody>
      </p:sp>
      <p:grpSp>
        <p:nvGrpSpPr>
          <p:cNvPr id="27" name="Group 26">
            <a:extLst>
              <a:ext uri="{FF2B5EF4-FFF2-40B4-BE49-F238E27FC236}">
                <a16:creationId xmlns:a16="http://schemas.microsoft.com/office/drawing/2014/main" id="{CA4E0976-94D6-BD14-0C25-42A03307EEAB}"/>
              </a:ext>
            </a:extLst>
          </p:cNvPr>
          <p:cNvGrpSpPr/>
          <p:nvPr/>
        </p:nvGrpSpPr>
        <p:grpSpPr>
          <a:xfrm>
            <a:off x="1310509" y="240268"/>
            <a:ext cx="2898951" cy="3429332"/>
            <a:chOff x="186309" y="240268"/>
            <a:chExt cx="2898951" cy="3429332"/>
          </a:xfrm>
        </p:grpSpPr>
        <p:pic>
          <p:nvPicPr>
            <p:cNvPr id="9" name="Picture 8" descr="A diagram of different colored circles&#10;&#10;Description automatically generated">
              <a:extLst>
                <a:ext uri="{FF2B5EF4-FFF2-40B4-BE49-F238E27FC236}">
                  <a16:creationId xmlns:a16="http://schemas.microsoft.com/office/drawing/2014/main" id="{2723CB26-B161-9E65-6863-59BA16DA04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309" y="609600"/>
              <a:ext cx="2898951" cy="3060000"/>
            </a:xfrm>
            <a:prstGeom prst="rect">
              <a:avLst/>
            </a:prstGeom>
          </p:spPr>
        </p:pic>
        <p:sp>
          <p:nvSpPr>
            <p:cNvPr id="16" name="TextBox 15">
              <a:extLst>
                <a:ext uri="{FF2B5EF4-FFF2-40B4-BE49-F238E27FC236}">
                  <a16:creationId xmlns:a16="http://schemas.microsoft.com/office/drawing/2014/main" id="{01346B4E-1C2E-F5A9-8AE3-60863479CEFB}"/>
                </a:ext>
              </a:extLst>
            </p:cNvPr>
            <p:cNvSpPr txBox="1"/>
            <p:nvPr/>
          </p:nvSpPr>
          <p:spPr>
            <a:xfrm>
              <a:off x="751438" y="240268"/>
              <a:ext cx="1600200" cy="369332"/>
            </a:xfrm>
            <a:prstGeom prst="rect">
              <a:avLst/>
            </a:prstGeom>
            <a:noFill/>
          </p:spPr>
          <p:txBody>
            <a:bodyPr wrap="square" rtlCol="0">
              <a:spAutoFit/>
            </a:bodyPr>
            <a:lstStyle/>
            <a:p>
              <a:r>
                <a:rPr lang="en-CA" dirty="0"/>
                <a:t>Data ellipses</a:t>
              </a:r>
            </a:p>
          </p:txBody>
        </p:sp>
      </p:grpSp>
      <p:grpSp>
        <p:nvGrpSpPr>
          <p:cNvPr id="28" name="Group 27">
            <a:extLst>
              <a:ext uri="{FF2B5EF4-FFF2-40B4-BE49-F238E27FC236}">
                <a16:creationId xmlns:a16="http://schemas.microsoft.com/office/drawing/2014/main" id="{CDF3D762-7C82-66A5-CD3D-225CEC92305F}"/>
              </a:ext>
            </a:extLst>
          </p:cNvPr>
          <p:cNvGrpSpPr/>
          <p:nvPr/>
        </p:nvGrpSpPr>
        <p:grpSpPr>
          <a:xfrm>
            <a:off x="4399120" y="278182"/>
            <a:ext cx="2898958" cy="3391418"/>
            <a:chOff x="3274921" y="278182"/>
            <a:chExt cx="2898958" cy="3391418"/>
          </a:xfrm>
        </p:grpSpPr>
        <p:pic>
          <p:nvPicPr>
            <p:cNvPr id="11" name="Picture 10" descr="A diagram of different types of species&#10;&#10;Description automatically generated">
              <a:extLst>
                <a:ext uri="{FF2B5EF4-FFF2-40B4-BE49-F238E27FC236}">
                  <a16:creationId xmlns:a16="http://schemas.microsoft.com/office/drawing/2014/main" id="{23A0FC60-DA35-4DF2-EC09-D3C81BBE34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4921" y="609600"/>
              <a:ext cx="2898958" cy="3060000"/>
            </a:xfrm>
            <a:prstGeom prst="rect">
              <a:avLst/>
            </a:prstGeom>
          </p:spPr>
        </p:pic>
        <p:sp>
          <p:nvSpPr>
            <p:cNvPr id="17" name="TextBox 16">
              <a:extLst>
                <a:ext uri="{FF2B5EF4-FFF2-40B4-BE49-F238E27FC236}">
                  <a16:creationId xmlns:a16="http://schemas.microsoft.com/office/drawing/2014/main" id="{A31BD52C-6907-FEB7-82D6-16D2966F7429}"/>
                </a:ext>
              </a:extLst>
            </p:cNvPr>
            <p:cNvSpPr txBox="1"/>
            <p:nvPr/>
          </p:nvSpPr>
          <p:spPr>
            <a:xfrm>
              <a:off x="3771900" y="278182"/>
              <a:ext cx="1600200" cy="369332"/>
            </a:xfrm>
            <a:prstGeom prst="rect">
              <a:avLst/>
            </a:prstGeom>
            <a:noFill/>
          </p:spPr>
          <p:txBody>
            <a:bodyPr wrap="square" rtlCol="0">
              <a:spAutoFit/>
            </a:bodyPr>
            <a:lstStyle/>
            <a:p>
              <a:r>
                <a:rPr lang="en-CA" dirty="0"/>
                <a:t> HE plot</a:t>
              </a:r>
            </a:p>
          </p:txBody>
        </p:sp>
      </p:grpSp>
      <p:grpSp>
        <p:nvGrpSpPr>
          <p:cNvPr id="35" name="Group 34">
            <a:extLst>
              <a:ext uri="{FF2B5EF4-FFF2-40B4-BE49-F238E27FC236}">
                <a16:creationId xmlns:a16="http://schemas.microsoft.com/office/drawing/2014/main" id="{6AB93CCE-DAE8-55F2-06A2-4580521AA299}"/>
              </a:ext>
            </a:extLst>
          </p:cNvPr>
          <p:cNvGrpSpPr/>
          <p:nvPr/>
        </p:nvGrpSpPr>
        <p:grpSpPr>
          <a:xfrm>
            <a:off x="5848600" y="3798000"/>
            <a:ext cx="4064217" cy="2942968"/>
            <a:chOff x="4724400" y="3798000"/>
            <a:chExt cx="4064217" cy="2942968"/>
          </a:xfrm>
        </p:grpSpPr>
        <p:pic>
          <p:nvPicPr>
            <p:cNvPr id="13" name="Picture 12" descr="A diagram of a number of objects&#10;&#10;Description automatically generated with medium confidence">
              <a:extLst>
                <a:ext uri="{FF2B5EF4-FFF2-40B4-BE49-F238E27FC236}">
                  <a16:creationId xmlns:a16="http://schemas.microsoft.com/office/drawing/2014/main" id="{9CB9E4E5-278B-05BC-95EF-0A0860C6D9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090392"/>
              <a:ext cx="4064217" cy="2650576"/>
            </a:xfrm>
            <a:prstGeom prst="rect">
              <a:avLst/>
            </a:prstGeom>
          </p:spPr>
        </p:pic>
        <p:sp>
          <p:nvSpPr>
            <p:cNvPr id="19" name="TextBox 18">
              <a:extLst>
                <a:ext uri="{FF2B5EF4-FFF2-40B4-BE49-F238E27FC236}">
                  <a16:creationId xmlns:a16="http://schemas.microsoft.com/office/drawing/2014/main" id="{9C3C4EF9-B1DF-F16D-0E9E-81CF349883AD}"/>
                </a:ext>
              </a:extLst>
            </p:cNvPr>
            <p:cNvSpPr txBox="1"/>
            <p:nvPr/>
          </p:nvSpPr>
          <p:spPr>
            <a:xfrm>
              <a:off x="5410200" y="3798000"/>
              <a:ext cx="2561973" cy="369332"/>
            </a:xfrm>
            <a:prstGeom prst="rect">
              <a:avLst/>
            </a:prstGeom>
            <a:noFill/>
          </p:spPr>
          <p:txBody>
            <a:bodyPr wrap="square" rtlCol="0">
              <a:spAutoFit/>
            </a:bodyPr>
            <a:lstStyle/>
            <a:p>
              <a:r>
                <a:rPr lang="en-CA" dirty="0"/>
                <a:t>Canonical space</a:t>
              </a:r>
            </a:p>
          </p:txBody>
        </p:sp>
      </p:grpSp>
      <p:sp>
        <p:nvSpPr>
          <p:cNvPr id="24" name="Arrow: Right 23">
            <a:extLst>
              <a:ext uri="{FF2B5EF4-FFF2-40B4-BE49-F238E27FC236}">
                <a16:creationId xmlns:a16="http://schemas.microsoft.com/office/drawing/2014/main" id="{91B6A1B1-3BB8-0829-6A35-27BC37FB53A7}"/>
              </a:ext>
            </a:extLst>
          </p:cNvPr>
          <p:cNvSpPr/>
          <p:nvPr/>
        </p:nvSpPr>
        <p:spPr>
          <a:xfrm>
            <a:off x="3980020" y="319527"/>
            <a:ext cx="838200" cy="293132"/>
          </a:xfrm>
          <a:prstGeom prst="rightArrow">
            <a:avLst/>
          </a:prstGeom>
          <a:solidFill>
            <a:schemeClr val="tx2">
              <a:lumMod val="40000"/>
              <a:lumOff val="60000"/>
              <a:alpha val="40000"/>
            </a:schemeClr>
          </a:solid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D7877107-2E00-2B32-40F8-537EE19284AF}"/>
              </a:ext>
            </a:extLst>
          </p:cNvPr>
          <p:cNvSpPr/>
          <p:nvPr/>
        </p:nvSpPr>
        <p:spPr>
          <a:xfrm>
            <a:off x="5552800" y="3811437"/>
            <a:ext cx="838200" cy="293132"/>
          </a:xfrm>
          <a:prstGeom prst="rightArrow">
            <a:avLst/>
          </a:prstGeom>
          <a:solidFill>
            <a:schemeClr val="tx2">
              <a:lumMod val="40000"/>
              <a:lumOff val="60000"/>
              <a:alpha val="40000"/>
            </a:schemeClr>
          </a:solid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42110AAC-B411-20F6-93EE-1650EC7F84A5}"/>
              </a:ext>
            </a:extLst>
          </p:cNvPr>
          <p:cNvGrpSpPr/>
          <p:nvPr/>
        </p:nvGrpSpPr>
        <p:grpSpPr>
          <a:xfrm>
            <a:off x="1937107" y="3798000"/>
            <a:ext cx="3610050" cy="3060000"/>
            <a:chOff x="812908" y="3798000"/>
            <a:chExt cx="3610050" cy="3060000"/>
          </a:xfrm>
        </p:grpSpPr>
        <p:pic>
          <p:nvPicPr>
            <p:cNvPr id="15" name="Picture 14" descr="A diagram of different colored circles&#10;&#10;Description automatically generated">
              <a:extLst>
                <a:ext uri="{FF2B5EF4-FFF2-40B4-BE49-F238E27FC236}">
                  <a16:creationId xmlns:a16="http://schemas.microsoft.com/office/drawing/2014/main" id="{DF8FA137-1692-78D9-9BF5-ACAD058793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4000" y="3798000"/>
              <a:ext cx="2898958" cy="3060000"/>
            </a:xfrm>
            <a:prstGeom prst="rect">
              <a:avLst/>
            </a:prstGeom>
          </p:spPr>
        </p:pic>
        <p:sp>
          <p:nvSpPr>
            <p:cNvPr id="18" name="TextBox 17">
              <a:extLst>
                <a:ext uri="{FF2B5EF4-FFF2-40B4-BE49-F238E27FC236}">
                  <a16:creationId xmlns:a16="http://schemas.microsoft.com/office/drawing/2014/main" id="{288E692D-E918-7910-1DFF-C6B9B9C434E9}"/>
                </a:ext>
              </a:extLst>
            </p:cNvPr>
            <p:cNvSpPr txBox="1"/>
            <p:nvPr/>
          </p:nvSpPr>
          <p:spPr>
            <a:xfrm>
              <a:off x="812908" y="4030072"/>
              <a:ext cx="1015892" cy="646331"/>
            </a:xfrm>
            <a:prstGeom prst="rect">
              <a:avLst/>
            </a:prstGeom>
            <a:noFill/>
          </p:spPr>
          <p:txBody>
            <a:bodyPr wrap="square" rtlCol="0">
              <a:spAutoFit/>
            </a:bodyPr>
            <a:lstStyle/>
            <a:p>
              <a:r>
                <a:rPr lang="en-CA" dirty="0" err="1"/>
                <a:t>Discrim</a:t>
              </a:r>
              <a:r>
                <a:rPr lang="en-CA" dirty="0"/>
                <a:t> axes</a:t>
              </a:r>
            </a:p>
          </p:txBody>
        </p:sp>
        <p:cxnSp>
          <p:nvCxnSpPr>
            <p:cNvPr id="21" name="Straight Connector 20">
              <a:extLst>
                <a:ext uri="{FF2B5EF4-FFF2-40B4-BE49-F238E27FC236}">
                  <a16:creationId xmlns:a16="http://schemas.microsoft.com/office/drawing/2014/main" id="{1826A6F3-5C3B-30D6-DE90-B03343035FE3}"/>
                </a:ext>
              </a:extLst>
            </p:cNvPr>
            <p:cNvCxnSpPr>
              <a:cxnSpLocks/>
            </p:cNvCxnSpPr>
            <p:nvPr/>
          </p:nvCxnSpPr>
          <p:spPr>
            <a:xfrm>
              <a:off x="2764956" y="4167332"/>
              <a:ext cx="1143000" cy="1547668"/>
            </a:xfrm>
            <a:prstGeom prst="line">
              <a:avLst/>
            </a:prstGeom>
            <a:ln w="34925">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85BFB4B-2236-F2CA-726B-BF6B54E1FF55}"/>
                </a:ext>
              </a:extLst>
            </p:cNvPr>
            <p:cNvCxnSpPr>
              <a:cxnSpLocks/>
            </p:cNvCxnSpPr>
            <p:nvPr/>
          </p:nvCxnSpPr>
          <p:spPr>
            <a:xfrm flipV="1">
              <a:off x="3332982" y="4353237"/>
              <a:ext cx="724183" cy="587929"/>
            </a:xfrm>
            <a:prstGeom prst="line">
              <a:avLst/>
            </a:prstGeom>
            <a:ln w="34925">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grpSp>
      <p:sp>
        <p:nvSpPr>
          <p:cNvPr id="25" name="Arrow: Right 24">
            <a:extLst>
              <a:ext uri="{FF2B5EF4-FFF2-40B4-BE49-F238E27FC236}">
                <a16:creationId xmlns:a16="http://schemas.microsoft.com/office/drawing/2014/main" id="{7E4FF141-783E-7B47-3969-A864601D8FE2}"/>
              </a:ext>
            </a:extLst>
          </p:cNvPr>
          <p:cNvSpPr/>
          <p:nvPr/>
        </p:nvSpPr>
        <p:spPr>
          <a:xfrm rot="6766895">
            <a:off x="3667210" y="2907061"/>
            <a:ext cx="1601892" cy="383179"/>
          </a:xfrm>
          <a:prstGeom prst="rightArrow">
            <a:avLst/>
          </a:prstGeom>
          <a:solidFill>
            <a:schemeClr val="tx2">
              <a:lumMod val="40000"/>
              <a:lumOff val="60000"/>
              <a:alpha val="40000"/>
            </a:schemeClr>
          </a:solid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F88A1C6E-4EDC-C549-C60B-5F3D1687204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205472" y="2087119"/>
            <a:ext cx="1050420" cy="1188720"/>
          </a:xfrm>
          <a:prstGeom prst="rect">
            <a:avLst/>
          </a:prstGeom>
        </p:spPr>
      </p:pic>
      <p:pic>
        <p:nvPicPr>
          <p:cNvPr id="37" name="Picture 36" descr="A picture containing text&#10;&#10;Description automatically generated">
            <a:extLst>
              <a:ext uri="{FF2B5EF4-FFF2-40B4-BE49-F238E27FC236}">
                <a16:creationId xmlns:a16="http://schemas.microsoft.com/office/drawing/2014/main" id="{B6238DEA-3F8A-997D-D444-32088AA89A9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21396" y="2087119"/>
            <a:ext cx="1024128" cy="1188720"/>
          </a:xfrm>
          <a:prstGeom prst="rect">
            <a:avLst/>
          </a:prstGeom>
        </p:spPr>
      </p:pic>
      <p:sp>
        <p:nvSpPr>
          <p:cNvPr id="38" name="Slide Number Placeholder 38"/>
          <p:cNvSpPr>
            <a:spLocks noGrp="1"/>
          </p:cNvSpPr>
          <p:nvPr>
            <p:ph type="sldNum" sz="quarter" idx="12"/>
          </p:nvPr>
        </p:nvSpPr>
        <p:spPr/>
        <p:txBody>
          <a:bodyPr/>
          <a:lstStyle/>
          <a:p>
            <a:fld id="{9BFB2853-4965-4727-91C4-384EB30D99A4}" type="slidenum">
              <a:rPr lang="en-CA"/>
              <a:t>45</a:t>
            </a:fld>
            <a:endParaRPr lang="en-CA"/>
          </a:p>
        </p:txBody>
      </p:sp>
    </p:spTree>
    <p:extLst>
      <p:ext uri="{BB962C8B-B14F-4D97-AF65-F5344CB8AC3E}">
        <p14:creationId xmlns:p14="http://schemas.microsoft.com/office/powerpoint/2010/main" val="407714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2" presetClass="entr" presetSubtype="2" fill="hold" nodeType="withEffect">
                                  <p:stCondLst>
                                    <p:cond delay="0"/>
                                  </p:stCondLst>
                                  <p:childTnLst>
                                    <p:set>
                                      <p:cBhvr>
                                        <p:cTn id="8" dur="1" fill="hold">
                                          <p:stCondLst>
                                            <p:cond delay="0"/>
                                          </p:stCondLst>
                                        </p:cTn>
                                        <p:tgtEl>
                                          <p:spTgt spid="28"/>
                                        </p:tgtEl>
                                        <p:attrNameLst>
                                          <p:attrName>style.visibility</p:attrName>
                                        </p:attrNameLst>
                                      </p:cBhvr>
                                      <p:to>
                                        <p:strVal val="visible"/>
                                      </p:to>
                                    </p:set>
                                    <p:anim calcmode="lin" valueType="num">
                                      <p:cBhvr additive="base">
                                        <p:cTn id="9" dur="500" fill="hold"/>
                                        <p:tgtEl>
                                          <p:spTgt spid="28"/>
                                        </p:tgtEl>
                                        <p:attrNameLst>
                                          <p:attrName>ppt_x</p:attrName>
                                        </p:attrNameLst>
                                      </p:cBhvr>
                                      <p:tavLst>
                                        <p:tav tm="0">
                                          <p:val>
                                            <p:strVal val="1+#ppt_w/2"/>
                                          </p:val>
                                        </p:tav>
                                        <p:tav tm="100000">
                                          <p:val>
                                            <p:strVal val="#ppt_x"/>
                                          </p:val>
                                        </p:tav>
                                      </p:tavLst>
                                    </p:anim>
                                    <p:anim calcmode="lin" valueType="num">
                                      <p:cBhvr additive="base">
                                        <p:cTn id="1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ppt_x"/>
                                          </p:val>
                                        </p:tav>
                                        <p:tav tm="100000">
                                          <p:val>
                                            <p:strVal val="#ppt_x"/>
                                          </p:val>
                                        </p:tav>
                                      </p:tavLst>
                                    </p:anim>
                                    <p:anim calcmode="lin" valueType="num">
                                      <p:cBhvr additive="base">
                                        <p:cTn id="1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t>
            </a:r>
            <a:r>
              <a:rPr lang="en-US" dirty="0">
                <a:sym typeface="Symbol"/>
              </a:rPr>
              <a:t> </a:t>
            </a:r>
            <a:r>
              <a:rPr lang="en-US" dirty="0"/>
              <a:t>Data ellipses </a:t>
            </a:r>
            <a:r>
              <a:rPr lang="en-US" dirty="0">
                <a:sym typeface="Symbol"/>
              </a:rPr>
              <a:t></a:t>
            </a:r>
            <a:r>
              <a:rPr lang="en-US" dirty="0"/>
              <a:t> HE plot</a:t>
            </a:r>
          </a:p>
        </p:txBody>
      </p:sp>
      <p:sp>
        <p:nvSpPr>
          <p:cNvPr id="7" name="Content Placeholder 6"/>
          <p:cNvSpPr>
            <a:spLocks noGrp="1"/>
          </p:cNvSpPr>
          <p:nvPr>
            <p:ph idx="1"/>
          </p:nvPr>
        </p:nvSpPr>
        <p:spPr>
          <a:xfrm>
            <a:off x="838200" y="4190999"/>
            <a:ext cx="10515600" cy="2285999"/>
          </a:xfrm>
        </p:spPr>
        <p:txBody>
          <a:bodyPr>
            <a:normAutofit/>
          </a:bodyPr>
          <a:lstStyle/>
          <a:p>
            <a:r>
              <a:rPr lang="en-US" sz="2000" dirty="0"/>
              <a:t>Differences between group means are shown by the </a:t>
            </a:r>
            <a:r>
              <a:rPr lang="en-US" sz="2000" b="1" dirty="0"/>
              <a:t>H</a:t>
            </a:r>
            <a:r>
              <a:rPr lang="en-US" sz="2000" dirty="0"/>
              <a:t> ellipsoid– data ellipsoid of the </a:t>
            </a:r>
            <a:r>
              <a:rPr lang="en-US" sz="2000" dirty="0">
                <a:solidFill>
                  <a:srgbClr val="FF0000"/>
                </a:solidFill>
              </a:rPr>
              <a:t>fitted</a:t>
            </a:r>
            <a:r>
              <a:rPr lang="en-US" sz="2000" dirty="0"/>
              <a:t> values (w/ 1 </a:t>
            </a:r>
            <a:r>
              <a:rPr lang="en-US" sz="2000" dirty="0" err="1"/>
              <a:t>df</a:t>
            </a:r>
            <a:r>
              <a:rPr lang="en-US" sz="2000" dirty="0"/>
              <a:t>, degenerates to a line)</a:t>
            </a:r>
          </a:p>
          <a:p>
            <a:pPr lvl="1"/>
            <a:r>
              <a:rPr lang="en-US" sz="1600" dirty="0"/>
              <a:t>Direction shows relation of groups to response variables</a:t>
            </a:r>
          </a:p>
          <a:p>
            <a:pPr lvl="1"/>
            <a:r>
              <a:rPr lang="en-US" sz="1600" dirty="0"/>
              <a:t>Size shows “how big is H relative to E”</a:t>
            </a:r>
          </a:p>
          <a:p>
            <a:r>
              <a:rPr lang="en-US" sz="2000" dirty="0"/>
              <a:t>Variation within groups is reflected in the </a:t>
            </a:r>
            <a:r>
              <a:rPr lang="en-US" sz="2000" b="1" dirty="0"/>
              <a:t>E</a:t>
            </a:r>
            <a:r>
              <a:rPr lang="en-US" sz="2000" dirty="0"/>
              <a:t> ellipsoid-- data ellipsoid of the </a:t>
            </a:r>
            <a:r>
              <a:rPr lang="en-US" sz="2000" dirty="0">
                <a:solidFill>
                  <a:srgbClr val="FF0000"/>
                </a:solidFill>
              </a:rPr>
              <a:t>residuals</a:t>
            </a:r>
          </a:p>
          <a:p>
            <a:pPr lvl="1"/>
            <a:r>
              <a:rPr lang="en-US" sz="1600" dirty="0"/>
              <a:t>Direction: residual (partial) correlation between BM &amp; WP</a:t>
            </a:r>
          </a:p>
          <a:p>
            <a:pPr lvl="1"/>
            <a:r>
              <a:rPr lang="en-US" sz="1600" dirty="0"/>
              <a:t>Size/shape: residual variance</a:t>
            </a:r>
          </a:p>
          <a:p>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1371600"/>
            <a:ext cx="2286000" cy="22860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0" y="1371600"/>
            <a:ext cx="2286000" cy="228600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1600" y="1143000"/>
            <a:ext cx="2743200" cy="2743200"/>
          </a:xfrm>
          <a:prstGeom prst="rect">
            <a:avLst/>
          </a:prstGeom>
        </p:spPr>
      </p:pic>
      <p:cxnSp>
        <p:nvCxnSpPr>
          <p:cNvPr id="9" name="Straight Arrow Connector 8"/>
          <p:cNvCxnSpPr/>
          <p:nvPr/>
        </p:nvCxnSpPr>
        <p:spPr>
          <a:xfrm>
            <a:off x="5638800" y="1752600"/>
            <a:ext cx="10668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8305800" y="1899136"/>
            <a:ext cx="12954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Slide Number Placeholder 12"/>
          <p:cNvSpPr>
            <a:spLocks noGrp="1"/>
          </p:cNvSpPr>
          <p:nvPr>
            <p:ph type="sldNum" sz="quarter" idx="12"/>
          </p:nvPr>
        </p:nvSpPr>
        <p:spPr/>
        <p:txBody>
          <a:bodyPr/>
          <a:lstStyle/>
          <a:p>
            <a:fld id="{9BFB2853-4965-4727-91C4-384EB30D99A4}" type="slidenum">
              <a:rPr lang="en-CA"/>
              <a:t>46</a:t>
            </a:fld>
            <a:endParaRPr lang="en-CA"/>
          </a:p>
        </p:txBody>
      </p:sp>
    </p:spTree>
    <p:extLst>
      <p:ext uri="{BB962C8B-B14F-4D97-AF65-F5344CB8AC3E}">
        <p14:creationId xmlns:p14="http://schemas.microsoft.com/office/powerpoint/2010/main" val="11472840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 ellipse</a:t>
            </a:r>
          </a:p>
        </p:txBody>
      </p:sp>
      <p:sp>
        <p:nvSpPr>
          <p:cNvPr id="6" name="Content Placeholder 5"/>
          <p:cNvSpPr>
            <a:spLocks noGrp="1"/>
          </p:cNvSpPr>
          <p:nvPr>
            <p:ph idx="1"/>
          </p:nvPr>
        </p:nvSpPr>
        <p:spPr>
          <a:xfrm>
            <a:off x="838200" y="4648200"/>
            <a:ext cx="10515600" cy="1828800"/>
          </a:xfrm>
        </p:spPr>
        <p:txBody>
          <a:bodyPr>
            <a:normAutofit/>
          </a:bodyPr>
          <a:lstStyle/>
          <a:p>
            <a:r>
              <a:rPr lang="en-US" dirty="0"/>
              <a:t>The </a:t>
            </a:r>
            <a:r>
              <a:rPr lang="en-US" b="1" dirty="0"/>
              <a:t>H</a:t>
            </a:r>
            <a:r>
              <a:rPr lang="en-US" dirty="0"/>
              <a:t> ellipse is the data ellipse of the fitted values (group means, here)</a:t>
            </a:r>
          </a:p>
          <a:p>
            <a:pPr lvl="1"/>
            <a:r>
              <a:rPr lang="en-US" dirty="0"/>
              <a:t>The </a:t>
            </a:r>
            <a:r>
              <a:rPr lang="en-US" b="1" dirty="0"/>
              <a:t>H</a:t>
            </a:r>
            <a:r>
              <a:rPr lang="en-US" dirty="0"/>
              <a:t> matrix is the sum of squares and </a:t>
            </a:r>
            <a:r>
              <a:rPr lang="en-US" dirty="0" err="1"/>
              <a:t>crossproducts</a:t>
            </a:r>
            <a:r>
              <a:rPr lang="en-US" dirty="0"/>
              <a:t> of the fitted values, corrected for the grand mean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1143000"/>
            <a:ext cx="3200400" cy="32004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2400" y="1143000"/>
            <a:ext cx="3200400" cy="3200400"/>
          </a:xfrm>
          <a:prstGeom prst="rect">
            <a:avLst/>
          </a:prstGeom>
        </p:spPr>
      </p:pic>
      <p:cxnSp>
        <p:nvCxnSpPr>
          <p:cNvPr id="7" name="Straight Arrow Connector 6"/>
          <p:cNvCxnSpPr/>
          <p:nvPr/>
        </p:nvCxnSpPr>
        <p:spPr>
          <a:xfrm>
            <a:off x="6629400" y="1981200"/>
            <a:ext cx="12954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896600" y="1447801"/>
            <a:ext cx="1066800" cy="646331"/>
          </a:xfrm>
          <a:prstGeom prst="rect">
            <a:avLst/>
          </a:prstGeom>
          <a:noFill/>
        </p:spPr>
        <p:txBody>
          <a:bodyPr wrap="square" rtlCol="0">
            <a:spAutoFit/>
          </a:bodyPr>
          <a:lstStyle/>
          <a:p>
            <a:r>
              <a:rPr lang="en-US" sz="1200" dirty="0"/>
              <a:t>Jittered fitted values</a:t>
            </a:r>
          </a:p>
          <a:p>
            <a:r>
              <a:rPr lang="en-US" sz="1200" dirty="0"/>
              <a:t>(</a:t>
            </a:r>
            <a:r>
              <a:rPr lang="en-US" sz="1200" dirty="0" err="1"/>
              <a:t>gp</a:t>
            </a:r>
            <a:r>
              <a:rPr lang="en-US" sz="1200" dirty="0"/>
              <a:t> means)</a:t>
            </a:r>
          </a:p>
        </p:txBody>
      </p:sp>
      <p:graphicFrame>
        <p:nvGraphicFramePr>
          <p:cNvPr id="9" name="Object 8"/>
          <p:cNvGraphicFramePr>
            <a:graphicFrameLocks noChangeAspect="1"/>
          </p:cNvGraphicFramePr>
          <p:nvPr>
            <p:extLst>
              <p:ext uri="{D42A27DB-BD31-4B8C-83A1-F6EECF244321}">
                <p14:modId xmlns:p14="http://schemas.microsoft.com/office/powerpoint/2010/main" val="2451739529"/>
              </p:ext>
            </p:extLst>
          </p:nvPr>
        </p:nvGraphicFramePr>
        <p:xfrm>
          <a:off x="6267450" y="6096000"/>
          <a:ext cx="1657350" cy="457200"/>
        </p:xfrm>
        <a:graphic>
          <a:graphicData uri="http://schemas.openxmlformats.org/presentationml/2006/ole">
            <mc:AlternateContent xmlns:mc="http://schemas.openxmlformats.org/markup-compatibility/2006">
              <mc:Choice xmlns:v="urn:schemas-microsoft-com:vml" Requires="v">
                <p:oleObj name="Equation" r:id="rId5" imgW="1104840" imgH="304560" progId="Equation.DSMT4">
                  <p:embed/>
                </p:oleObj>
              </mc:Choice>
              <mc:Fallback>
                <p:oleObj name="Equation" r:id="rId5" imgW="1104840" imgH="304560" progId="Equation.DSMT4">
                  <p:embed/>
                  <p:pic>
                    <p:nvPicPr>
                      <p:cNvPr id="9" name="Object 8"/>
                      <p:cNvPicPr/>
                      <p:nvPr/>
                    </p:nvPicPr>
                    <p:blipFill>
                      <a:blip r:embed="rId6"/>
                      <a:stretch>
                        <a:fillRect/>
                      </a:stretch>
                    </p:blipFill>
                    <p:spPr>
                      <a:xfrm>
                        <a:off x="6267450" y="6096000"/>
                        <a:ext cx="1657350" cy="457200"/>
                      </a:xfrm>
                      <a:prstGeom prst="rect">
                        <a:avLst/>
                      </a:prstGeom>
                    </p:spPr>
                  </p:pic>
                </p:oleObj>
              </mc:Fallback>
            </mc:AlternateContent>
          </a:graphicData>
        </a:graphic>
      </p:graphicFrame>
      <p:sp>
        <p:nvSpPr>
          <p:cNvPr id="10" name="Flowchart: Connector 9">
            <a:extLst>
              <a:ext uri="{FF2B5EF4-FFF2-40B4-BE49-F238E27FC236}">
                <a16:creationId xmlns:a16="http://schemas.microsoft.com/office/drawing/2014/main" id="{7784F65C-FE98-460D-BC76-73AC6D915D96}"/>
              </a:ext>
            </a:extLst>
          </p:cNvPr>
          <p:cNvSpPr>
            <a:spLocks noChangeAspect="1"/>
          </p:cNvSpPr>
          <p:nvPr/>
        </p:nvSpPr>
        <p:spPr>
          <a:xfrm>
            <a:off x="8934374" y="1646000"/>
            <a:ext cx="590702" cy="594201"/>
          </a:xfrm>
          <a:prstGeom prst="flowChartConnector">
            <a:avLst/>
          </a:prstGeom>
          <a:solidFill>
            <a:schemeClr val="tx2">
              <a:lumMod val="20000"/>
              <a:lumOff val="80000"/>
              <a:alpha val="20000"/>
            </a:schemeClr>
          </a:solidFill>
          <a:ln>
            <a:solidFill>
              <a:schemeClr val="accent1">
                <a:shade val="50000"/>
                <a:alpha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27054BEF-17C4-42CD-BD3C-F07E37ED3804}"/>
              </a:ext>
            </a:extLst>
          </p:cNvPr>
          <p:cNvSpPr>
            <a:spLocks noChangeAspect="1"/>
          </p:cNvSpPr>
          <p:nvPr/>
        </p:nvSpPr>
        <p:spPr>
          <a:xfrm>
            <a:off x="9601200" y="2982200"/>
            <a:ext cx="590702" cy="594201"/>
          </a:xfrm>
          <a:prstGeom prst="flowChartConnector">
            <a:avLst/>
          </a:prstGeom>
          <a:solidFill>
            <a:srgbClr val="00B050">
              <a:alpha val="20000"/>
            </a:srgbClr>
          </a:solidFill>
          <a:ln>
            <a:solidFill>
              <a:srgbClr val="00B050">
                <a:alpha val="9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2"/>
          <p:cNvSpPr>
            <a:spLocks noGrp="1"/>
          </p:cNvSpPr>
          <p:nvPr>
            <p:ph type="sldNum" sz="quarter" idx="12"/>
          </p:nvPr>
        </p:nvSpPr>
        <p:spPr/>
        <p:txBody>
          <a:bodyPr/>
          <a:lstStyle/>
          <a:p>
            <a:fld id="{9BFB2853-4965-4727-91C4-384EB30D99A4}" type="slidenum">
              <a:rPr lang="en-CA"/>
              <a:t>47</a:t>
            </a:fld>
            <a:endParaRPr lang="en-CA"/>
          </a:p>
        </p:txBody>
      </p:sp>
    </p:spTree>
    <p:extLst>
      <p:ext uri="{BB962C8B-B14F-4D97-AF65-F5344CB8AC3E}">
        <p14:creationId xmlns:p14="http://schemas.microsoft.com/office/powerpoint/2010/main" val="29880179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 ellipse</a:t>
            </a:r>
          </a:p>
        </p:txBody>
      </p:sp>
      <p:sp>
        <p:nvSpPr>
          <p:cNvPr id="7" name="Content Placeholder 6"/>
          <p:cNvSpPr>
            <a:spLocks noGrp="1"/>
          </p:cNvSpPr>
          <p:nvPr>
            <p:ph idx="1"/>
          </p:nvPr>
        </p:nvSpPr>
        <p:spPr>
          <a:xfrm>
            <a:off x="838200" y="3962400"/>
            <a:ext cx="10515600" cy="1905000"/>
          </a:xfrm>
        </p:spPr>
        <p:txBody>
          <a:bodyPr>
            <a:normAutofit/>
          </a:bodyPr>
          <a:lstStyle/>
          <a:p>
            <a:r>
              <a:rPr lang="en-US" dirty="0"/>
              <a:t>The </a:t>
            </a:r>
            <a:r>
              <a:rPr lang="en-US" b="1" dirty="0"/>
              <a:t>E</a:t>
            </a:r>
            <a:r>
              <a:rPr lang="en-US" dirty="0"/>
              <a:t> ellipse is the data ellipse  of the residuals </a:t>
            </a:r>
          </a:p>
          <a:p>
            <a:pPr lvl="1"/>
            <a:r>
              <a:rPr lang="en-US" dirty="0"/>
              <a:t>What you get when you subtract the group means from all observations, shifting them to the grand means.</a:t>
            </a:r>
          </a:p>
          <a:p>
            <a:pPr lvl="1"/>
            <a:r>
              <a:rPr lang="en-US" b="1" dirty="0"/>
              <a:t>E</a:t>
            </a:r>
            <a:r>
              <a:rPr lang="en-US" dirty="0"/>
              <a:t> matrix called the “within-group </a:t>
            </a:r>
            <a:r>
              <a:rPr lang="en-US" b="1" dirty="0"/>
              <a:t>pooled</a:t>
            </a:r>
            <a:r>
              <a:rPr lang="en-US" dirty="0"/>
              <a:t> covariance matrix”</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0" y="1099038"/>
            <a:ext cx="2286000" cy="22860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200" y="1113692"/>
            <a:ext cx="2286000" cy="2286000"/>
          </a:xfrm>
          <a:prstGeom prst="rect">
            <a:avLst/>
          </a:prstGeom>
        </p:spPr>
      </p:pic>
      <p:cxnSp>
        <p:nvCxnSpPr>
          <p:cNvPr id="8" name="Straight Arrow Connector 7"/>
          <p:cNvCxnSpPr/>
          <p:nvPr/>
        </p:nvCxnSpPr>
        <p:spPr>
          <a:xfrm>
            <a:off x="5867400" y="1667608"/>
            <a:ext cx="762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20200" y="1099038"/>
            <a:ext cx="2286000" cy="2286000"/>
          </a:xfrm>
          <a:prstGeom prst="rect">
            <a:avLst/>
          </a:prstGeom>
        </p:spPr>
      </p:pic>
      <p:cxnSp>
        <p:nvCxnSpPr>
          <p:cNvPr id="11" name="Straight Arrow Connector 10"/>
          <p:cNvCxnSpPr/>
          <p:nvPr/>
        </p:nvCxnSpPr>
        <p:spPr>
          <a:xfrm>
            <a:off x="8610600" y="1676400"/>
            <a:ext cx="762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2" name="Object 11"/>
          <p:cNvGraphicFramePr>
            <a:graphicFrameLocks noChangeAspect="1"/>
          </p:cNvGraphicFramePr>
          <p:nvPr>
            <p:extLst>
              <p:ext uri="{D42A27DB-BD31-4B8C-83A1-F6EECF244321}">
                <p14:modId xmlns:p14="http://schemas.microsoft.com/office/powerpoint/2010/main" val="2074366849"/>
              </p:ext>
            </p:extLst>
          </p:nvPr>
        </p:nvGraphicFramePr>
        <p:xfrm>
          <a:off x="5867400" y="5562600"/>
          <a:ext cx="2514600" cy="457200"/>
        </p:xfrm>
        <a:graphic>
          <a:graphicData uri="http://schemas.openxmlformats.org/presentationml/2006/ole">
            <mc:AlternateContent xmlns:mc="http://schemas.openxmlformats.org/markup-compatibility/2006">
              <mc:Choice xmlns:v="urn:schemas-microsoft-com:vml" Requires="v">
                <p:oleObj name="Equation" r:id="rId6" imgW="1676160" imgH="304560" progId="Equation.DSMT4">
                  <p:embed/>
                </p:oleObj>
              </mc:Choice>
              <mc:Fallback>
                <p:oleObj name="Equation" r:id="rId6" imgW="1676160" imgH="304560" progId="Equation.DSMT4">
                  <p:embed/>
                  <p:pic>
                    <p:nvPicPr>
                      <p:cNvPr id="12" name="Object 11"/>
                      <p:cNvPicPr/>
                      <p:nvPr/>
                    </p:nvPicPr>
                    <p:blipFill>
                      <a:blip r:embed="rId7"/>
                      <a:stretch>
                        <a:fillRect/>
                      </a:stretch>
                    </p:blipFill>
                    <p:spPr>
                      <a:xfrm>
                        <a:off x="5867400" y="5562600"/>
                        <a:ext cx="2514600" cy="457200"/>
                      </a:xfrm>
                      <a:prstGeom prst="rect">
                        <a:avLst/>
                      </a:prstGeom>
                    </p:spPr>
                  </p:pic>
                </p:oleObj>
              </mc:Fallback>
            </mc:AlternateContent>
          </a:graphicData>
        </a:graphic>
      </p:graphicFrame>
      <p:sp>
        <p:nvSpPr>
          <p:cNvPr id="13" name="Slide Number Placeholder 13"/>
          <p:cNvSpPr>
            <a:spLocks noGrp="1"/>
          </p:cNvSpPr>
          <p:nvPr>
            <p:ph type="sldNum" sz="quarter" idx="12"/>
          </p:nvPr>
        </p:nvSpPr>
        <p:spPr/>
        <p:txBody>
          <a:bodyPr/>
          <a:lstStyle/>
          <a:p>
            <a:fld id="{9BFB2853-4965-4727-91C4-384EB30D99A4}" type="slidenum">
              <a:rPr lang="en-CA"/>
              <a:t>48</a:t>
            </a:fld>
            <a:endParaRPr lang="en-CA"/>
          </a:p>
        </p:txBody>
      </p:sp>
    </p:spTree>
    <p:extLst>
      <p:ext uri="{BB962C8B-B14F-4D97-AF65-F5344CB8AC3E}">
        <p14:creationId xmlns:p14="http://schemas.microsoft.com/office/powerpoint/2010/main" val="37967494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HE plots: </a:t>
            </a:r>
            <a:r>
              <a:rPr lang="en-CA" dirty="0"/>
              <a:t>Effect scaling vs. Significance scaling</a:t>
            </a:r>
            <a:endParaRPr dirty="0"/>
          </a:p>
        </p:txBody>
      </p:sp>
      <p:pic>
        <p:nvPicPr>
          <p:cNvPr id="3" name="Picture 2" descr="peng-HE-signif.png"/>
          <p:cNvPicPr>
            <a:picLocks noChangeAspect="1"/>
          </p:cNvPicPr>
          <p:nvPr/>
        </p:nvPicPr>
        <p:blipFill>
          <a:blip r:embed="rId3"/>
          <a:stretch>
            <a:fillRect/>
          </a:stretch>
        </p:blipFill>
        <p:spPr>
          <a:xfrm>
            <a:off x="556833" y="1579126"/>
            <a:ext cx="7863840" cy="39319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cf. Figure 12.5</a:t>
            </a:r>
          </a:p>
        </p:txBody>
      </p:sp>
      <p:sp>
        <p:nvSpPr>
          <p:cNvPr id="6" name="TextBox 5">
            <a:extLst>
              <a:ext uri="{FF2B5EF4-FFF2-40B4-BE49-F238E27FC236}">
                <a16:creationId xmlns:a16="http://schemas.microsoft.com/office/drawing/2014/main" id="{23C41AFD-3F6A-F21D-7C85-4F057DF483B7}"/>
              </a:ext>
            </a:extLst>
          </p:cNvPr>
          <p:cNvSpPr txBox="1"/>
          <p:nvPr/>
        </p:nvSpPr>
        <p:spPr>
          <a:xfrm>
            <a:off x="8420673" y="1876301"/>
            <a:ext cx="3214494" cy="3139321"/>
          </a:xfrm>
          <a:prstGeom prst="rect">
            <a:avLst/>
          </a:prstGeom>
          <a:noFill/>
        </p:spPr>
        <p:txBody>
          <a:bodyPr wrap="square" rtlCol="0">
            <a:spAutoFit/>
          </a:bodyPr>
          <a:lstStyle/>
          <a:p>
            <a:r>
              <a:rPr lang="en-CA" b="1" dirty="0"/>
              <a:t>Effect scaling</a:t>
            </a:r>
            <a:r>
              <a:rPr lang="en-CA" dirty="0"/>
              <a:t>: Plot ellipses for H &amp; E directly</a:t>
            </a:r>
          </a:p>
          <a:p>
            <a:endParaRPr lang="en-CA" dirty="0"/>
          </a:p>
          <a:p>
            <a:r>
              <a:rPr lang="en-CA" b="1" dirty="0"/>
              <a:t>Significance scaling</a:t>
            </a:r>
            <a:r>
              <a:rPr lang="en-CA" dirty="0"/>
              <a:t>: Scale H so an H ellipse that projects outside E signals a significant effect (Roy's test).</a:t>
            </a:r>
          </a:p>
          <a:p>
            <a:endParaRPr lang="en-CA" dirty="0"/>
          </a:p>
          <a:p>
            <a:r>
              <a:rPr lang="en-CA" b="1" dirty="0"/>
              <a:t>Direction of H vs. E </a:t>
            </a:r>
            <a:r>
              <a:rPr lang="en-CA" dirty="0"/>
              <a:t>shows how groups differ in a data-space view</a:t>
            </a:r>
          </a:p>
        </p:txBody>
      </p:sp>
      <p:sp>
        <p:nvSpPr>
          <p:cNvPr id="7" name="Slide Number Placeholder 7"/>
          <p:cNvSpPr>
            <a:spLocks noGrp="1"/>
          </p:cNvSpPr>
          <p:nvPr>
            <p:ph type="sldNum" sz="quarter" idx="12"/>
          </p:nvPr>
        </p:nvSpPr>
        <p:spPr/>
        <p:txBody>
          <a:bodyPr/>
          <a:lstStyle/>
          <a:p>
            <a:fld id="{9BFB2853-4965-4727-91C4-384EB30D99A4}" type="slidenum">
              <a:rPr lang="en-CA"/>
              <a:t>49</a:t>
            </a:fld>
            <a:endParaRPr lang="en-CA"/>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Contrasts </a:t>
            </a:r>
            <a:r>
              <a:rPr lang="en-CA" dirty="0"/>
              <a:t>&amp;</a:t>
            </a:r>
            <a:r>
              <a:rPr dirty="0"/>
              <a:t> linear hypotheses</a:t>
            </a:r>
            <a:r>
              <a:rPr lang="en-CA" dirty="0"/>
              <a:t>: What </a:t>
            </a:r>
            <a:r>
              <a:rPr lang="en-CA" dirty="0" err="1"/>
              <a:t>diff</a:t>
            </a:r>
            <a:r>
              <a:rPr lang="en-CA" baseline="30000" dirty="0" err="1"/>
              <a:t>ces</a:t>
            </a:r>
            <a:r>
              <a:rPr lang="en-CA" dirty="0"/>
              <a:t> make H big?</a:t>
            </a:r>
            <a:endParaRPr dirty="0"/>
          </a:p>
        </p:txBody>
      </p:sp>
      <p:sp>
        <p:nvSpPr>
          <p:cNvPr id="3" name="Content Placeholder 2"/>
          <p:cNvSpPr>
            <a:spLocks noGrp="1"/>
          </p:cNvSpPr>
          <p:nvPr>
            <p:ph sz="half" idx="1"/>
          </p:nvPr>
        </p:nvSpPr>
        <p:spPr/>
        <p:txBody>
          <a:bodyPr/>
          <a:lstStyle/>
          <a:p>
            <a:r>
              <a:rPr dirty="0"/>
              <a:t>Any linear hypothesis has its own </a:t>
            </a:r>
            <a:r>
              <a:rPr b="1" dirty="0"/>
              <a:t>H</a:t>
            </a:r>
          </a:p>
          <a:p>
            <a:r>
              <a:rPr dirty="0"/>
              <a:t>A 1 </a:t>
            </a:r>
            <a:r>
              <a:rPr dirty="0" err="1"/>
              <a:t>df</a:t>
            </a:r>
            <a:r>
              <a:rPr dirty="0"/>
              <a:t> hypothesis is a line</a:t>
            </a:r>
          </a:p>
          <a:p>
            <a:r>
              <a:rPr lang="en-CA" dirty="0"/>
              <a:t>Orthogonal c</a:t>
            </a:r>
            <a:r>
              <a:rPr dirty="0" err="1"/>
              <a:t>ontrasts</a:t>
            </a:r>
            <a:r>
              <a:rPr dirty="0"/>
              <a:t> decompose the overall effect</a:t>
            </a:r>
            <a:r>
              <a:rPr lang="en-CA" dirty="0"/>
              <a:t>: </a:t>
            </a:r>
            <a:r>
              <a:rPr lang="en-CA" b="1" dirty="0"/>
              <a:t>H</a:t>
            </a:r>
            <a:r>
              <a:rPr lang="en-CA" dirty="0"/>
              <a:t> = </a:t>
            </a:r>
            <a:r>
              <a:rPr lang="en-CA" b="1" dirty="0"/>
              <a:t>H</a:t>
            </a:r>
            <a:r>
              <a:rPr lang="en-CA" baseline="-25000" dirty="0"/>
              <a:t>1</a:t>
            </a:r>
            <a:r>
              <a:rPr lang="en-CA" dirty="0"/>
              <a:t> + </a:t>
            </a:r>
            <a:r>
              <a:rPr lang="en-CA" b="1" dirty="0"/>
              <a:t>H</a:t>
            </a:r>
            <a:r>
              <a:rPr lang="en-CA" baseline="-25000" dirty="0"/>
              <a:t>2</a:t>
            </a:r>
          </a:p>
          <a:p>
            <a:pPr lvl="1"/>
            <a:r>
              <a:rPr lang="en-CA" b="1" dirty="0"/>
              <a:t>H</a:t>
            </a:r>
            <a:r>
              <a:rPr lang="en-CA" baseline="-25000" dirty="0"/>
              <a:t>1</a:t>
            </a:r>
            <a:r>
              <a:rPr lang="en-CA" dirty="0"/>
              <a:t>: (Adelie, Chinstrap) vs Gentoo</a:t>
            </a:r>
          </a:p>
          <a:p>
            <a:pPr lvl="1"/>
            <a:r>
              <a:rPr lang="en-CA" b="1" dirty="0"/>
              <a:t>H</a:t>
            </a:r>
            <a:r>
              <a:rPr lang="en-CA" baseline="-25000" dirty="0"/>
              <a:t>2</a:t>
            </a:r>
            <a:r>
              <a:rPr lang="en-CA" dirty="0"/>
              <a:t>: Adelie vs Chinstrap</a:t>
            </a:r>
          </a:p>
          <a:p>
            <a:r>
              <a:rPr lang="en-CA" dirty="0"/>
              <a:t>These are conjugate axes of </a:t>
            </a:r>
            <a:r>
              <a:rPr lang="en-CA" b="1" dirty="0"/>
              <a:t>H</a:t>
            </a:r>
          </a:p>
          <a:p>
            <a:r>
              <a:rPr lang="en-CA" dirty="0"/>
              <a:t>Each “pushes” the </a:t>
            </a:r>
            <a:r>
              <a:rPr lang="en-CA" b="1" dirty="0"/>
              <a:t>H</a:t>
            </a:r>
            <a:r>
              <a:rPr lang="en-CA" dirty="0"/>
              <a:t> ellipse out in the direction of mean differences.</a:t>
            </a:r>
            <a:endParaRPr dirty="0"/>
          </a:p>
        </p:txBody>
      </p:sp>
      <p:pic>
        <p:nvPicPr>
          <p:cNvPr id="4" name="Picture 3" descr="peng-HE-contrasts.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cf. Figure 12.7</a:t>
            </a:r>
          </a:p>
        </p:txBody>
      </p:sp>
      <p:sp>
        <p:nvSpPr>
          <p:cNvPr id="6" name="Slide Number Placeholder 6"/>
          <p:cNvSpPr>
            <a:spLocks noGrp="1"/>
          </p:cNvSpPr>
          <p:nvPr>
            <p:ph type="sldNum" sz="quarter" idx="12"/>
          </p:nvPr>
        </p:nvSpPr>
        <p:spPr/>
        <p:txBody>
          <a:bodyPr/>
          <a:lstStyle/>
          <a:p>
            <a:fld id="{9BFB2853-4965-4727-91C4-384EB30D99A4}" type="slidenum">
              <a:rPr lang="en-CA"/>
              <a:t>50</a:t>
            </a:fld>
            <a:endParaRPr lang="en-CA"/>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HE pairs() plots</a:t>
            </a:r>
          </a:p>
        </p:txBody>
      </p:sp>
      <p:sp>
        <p:nvSpPr>
          <p:cNvPr id="4" name="TextBox 3"/>
          <p:cNvSpPr txBox="1"/>
          <p:nvPr/>
        </p:nvSpPr>
        <p:spPr>
          <a:xfrm>
            <a:off x="950026" y="1219201"/>
            <a:ext cx="10525050" cy="707886"/>
          </a:xfrm>
          <a:prstGeom prst="rect">
            <a:avLst/>
          </a:prstGeom>
          <a:noFill/>
        </p:spPr>
        <p:txBody>
          <a:bodyPr wrap="square" rtlCol="0">
            <a:spAutoFit/>
          </a:bodyPr>
          <a:lstStyle/>
          <a:p>
            <a:r>
              <a:rPr lang="en-US" sz="2000" dirty="0"/>
              <a:t>The </a:t>
            </a:r>
            <a:r>
              <a:rPr lang="en-US" sz="2000" dirty="0">
                <a:solidFill>
                  <a:schemeClr val="accent6">
                    <a:lumMod val="50000"/>
                  </a:schemeClr>
                </a:solidFill>
                <a:latin typeface="Lucida Console" panose="020B0609040504020204" pitchFamily="49" charset="0"/>
              </a:rPr>
              <a:t>pairs() </a:t>
            </a:r>
            <a:r>
              <a:rPr lang="en-US" sz="2000" dirty="0"/>
              <a:t>method for </a:t>
            </a:r>
            <a:r>
              <a:rPr lang="en-US" sz="2000" dirty="0" err="1"/>
              <a:t>mlm</a:t>
            </a:r>
            <a:r>
              <a:rPr lang="en-US" sz="2000" dirty="0"/>
              <a:t> objects gives all pairwise HE plots in a scatterplot matrix format in </a:t>
            </a:r>
            <a:r>
              <a:rPr lang="en-US" sz="2000" dirty="0">
                <a:solidFill>
                  <a:srgbClr val="FF0000"/>
                </a:solidFill>
              </a:rPr>
              <a:t>data space</a:t>
            </a:r>
            <a:r>
              <a:rPr lang="en-US" sz="2000" dirty="0"/>
              <a:t>.</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495" y="2172195"/>
            <a:ext cx="4001059" cy="4001059"/>
          </a:xfrm>
          <a:prstGeom prst="rect">
            <a:avLst/>
          </a:prstGeom>
        </p:spPr>
      </p:pic>
      <p:sp>
        <p:nvSpPr>
          <p:cNvPr id="6" name="TextBox 5"/>
          <p:cNvSpPr txBox="1"/>
          <p:nvPr/>
        </p:nvSpPr>
        <p:spPr>
          <a:xfrm>
            <a:off x="5664530" y="2114620"/>
            <a:ext cx="4999512" cy="400110"/>
          </a:xfrm>
          <a:prstGeom prst="rect">
            <a:avLst/>
          </a:prstGeom>
          <a:solidFill>
            <a:srgbClr val="FFFF00">
              <a:alpha val="10000"/>
            </a:srgbClr>
          </a:solidFill>
        </p:spPr>
        <p:txBody>
          <a:bodyPr wrap="square" rtlCol="0">
            <a:spAutoFit/>
          </a:bodyPr>
          <a:lstStyle/>
          <a:p>
            <a:r>
              <a:rPr lang="en-US" sz="2000" dirty="0"/>
              <a:t>pairs(peng.mod0, size="effect",  …) </a:t>
            </a:r>
          </a:p>
        </p:txBody>
      </p:sp>
      <p:sp>
        <p:nvSpPr>
          <p:cNvPr id="7" name="TextBox 6"/>
          <p:cNvSpPr txBox="1"/>
          <p:nvPr/>
        </p:nvSpPr>
        <p:spPr>
          <a:xfrm>
            <a:off x="5664530" y="2719608"/>
            <a:ext cx="5605153" cy="2893100"/>
          </a:xfrm>
          <a:prstGeom prst="rect">
            <a:avLst/>
          </a:prstGeom>
          <a:noFill/>
        </p:spPr>
        <p:txBody>
          <a:bodyPr wrap="square" rtlCol="0">
            <a:spAutoFit/>
          </a:bodyPr>
          <a:lstStyle/>
          <a:p>
            <a:r>
              <a:rPr lang="en-US" sz="2400" dirty="0"/>
              <a:t>Something new here:</a:t>
            </a:r>
          </a:p>
          <a:p>
            <a:pPr marL="285750" indent="-285750">
              <a:buFont typeface="Arial" pitchFamily="34" charset="0"/>
              <a:buChar char="•"/>
            </a:pPr>
            <a:r>
              <a:rPr lang="en-US" sz="2400" dirty="0"/>
              <a:t>avg. bill depth is negatively correlated with “size” variables – larger penguin species have smaller bill depths (curvature?)</a:t>
            </a:r>
          </a:p>
          <a:p>
            <a:pPr marL="285750" indent="-285750">
              <a:buFont typeface="Arial" pitchFamily="34" charset="0"/>
              <a:buChar char="•"/>
            </a:pPr>
            <a:r>
              <a:rPr lang="en-US" sz="2400" dirty="0"/>
              <a:t>correlation of avg. bill depth with body mass nearly -1</a:t>
            </a:r>
          </a:p>
          <a:p>
            <a:endParaRPr lang="en-US" sz="1400" dirty="0"/>
          </a:p>
        </p:txBody>
      </p:sp>
      <p:sp>
        <p:nvSpPr>
          <p:cNvPr id="8" name="Rectangle 7">
            <a:extLst>
              <a:ext uri="{FF2B5EF4-FFF2-40B4-BE49-F238E27FC236}">
                <a16:creationId xmlns:a16="http://schemas.microsoft.com/office/drawing/2014/main" id="{C1C2239F-4951-2804-9CBB-B30DB3EA8427}"/>
              </a:ext>
            </a:extLst>
          </p:cNvPr>
          <p:cNvSpPr/>
          <p:nvPr/>
        </p:nvSpPr>
        <p:spPr>
          <a:xfrm>
            <a:off x="3052949" y="3162794"/>
            <a:ext cx="990601" cy="990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8DF7AE1B-459C-073D-2423-7CD81978C07B}"/>
              </a:ext>
            </a:extLst>
          </p:cNvPr>
          <p:cNvSpPr/>
          <p:nvPr/>
        </p:nvSpPr>
        <p:spPr>
          <a:xfrm>
            <a:off x="2062348" y="4172723"/>
            <a:ext cx="990600" cy="990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a:extLst>
              <a:ext uri="{FF2B5EF4-FFF2-40B4-BE49-F238E27FC236}">
                <a16:creationId xmlns:a16="http://schemas.microsoft.com/office/drawing/2014/main" id="{523F0C99-81FE-04DB-AA0F-B4F4076F4328}"/>
              </a:ext>
            </a:extLst>
          </p:cNvPr>
          <p:cNvSpPr/>
          <p:nvPr/>
        </p:nvSpPr>
        <p:spPr>
          <a:xfrm>
            <a:off x="4086433" y="3162794"/>
            <a:ext cx="990601" cy="990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2DBE4D58-6967-598B-C33F-AB9C1BC9515B}"/>
              </a:ext>
            </a:extLst>
          </p:cNvPr>
          <p:cNvSpPr/>
          <p:nvPr/>
        </p:nvSpPr>
        <p:spPr>
          <a:xfrm>
            <a:off x="2062348" y="5164692"/>
            <a:ext cx="990601" cy="990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Slide Number Placeholder 12"/>
          <p:cNvSpPr>
            <a:spLocks noGrp="1"/>
          </p:cNvSpPr>
          <p:nvPr>
            <p:ph type="sldNum" sz="quarter" idx="12"/>
          </p:nvPr>
        </p:nvSpPr>
        <p:spPr/>
        <p:txBody>
          <a:bodyPr/>
          <a:lstStyle/>
          <a:p>
            <a:fld id="{9BFB2853-4965-4727-91C4-384EB30D99A4}" type="slidenum">
              <a:rPr lang="en-CA"/>
              <a:t>51</a:t>
            </a:fld>
            <a:endParaRPr lang="en-CA"/>
          </a:p>
        </p:txBody>
      </p:sp>
    </p:spTree>
    <p:extLst>
      <p:ext uri="{BB962C8B-B14F-4D97-AF65-F5344CB8AC3E}">
        <p14:creationId xmlns:p14="http://schemas.microsoft.com/office/powerpoint/2010/main" val="96593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1000"/>
                                        <p:tgtEl>
                                          <p:spTgt spid="8"/>
                                        </p:tgtEl>
                                      </p:cBhvr>
                                    </p:animEffect>
                                    <p:anim calcmode="lin" valueType="num">
                                      <p:cBhvr>
                                        <p:cTn id="10" dur="1000" fill="hold"/>
                                        <p:tgtEl>
                                          <p:spTgt spid="8"/>
                                        </p:tgtEl>
                                        <p:attrNameLst>
                                          <p:attrName>ppt_x</p:attrName>
                                        </p:attrNameLst>
                                      </p:cBhvr>
                                      <p:tavLst>
                                        <p:tav tm="0">
                                          <p:val>
                                            <p:strVal val="#ppt_x"/>
                                          </p:val>
                                        </p:tav>
                                        <p:tav tm="100000">
                                          <p:val>
                                            <p:strVal val="#ppt_x"/>
                                          </p:val>
                                        </p:tav>
                                      </p:tavLst>
                                    </p:anim>
                                    <p:anim calcmode="lin" valueType="num">
                                      <p:cBhvr>
                                        <p:cTn id="11" dur="10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par>
                                <p:cTn id="21" presetID="42"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Quantitative predictors: each effect is a line</a:t>
            </a:r>
          </a:p>
        </p:txBody>
      </p:sp>
      <p:sp>
        <p:nvSpPr>
          <p:cNvPr id="3" name="Content Placeholder 2"/>
          <p:cNvSpPr>
            <a:spLocks noGrp="1"/>
          </p:cNvSpPr>
          <p:nvPr>
            <p:ph sz="half" idx="1"/>
          </p:nvPr>
        </p:nvSpPr>
        <p:spPr/>
        <p:txBody>
          <a:bodyPr>
            <a:normAutofit lnSpcReduction="10000"/>
          </a:bodyPr>
          <a:lstStyle/>
          <a:p>
            <a:r>
              <a:rPr dirty="0"/>
              <a:t>School data: 70 US schools in a program for disadvantaged students</a:t>
            </a:r>
          </a:p>
          <a:p>
            <a:pPr lvl="1"/>
            <a:r>
              <a:rPr dirty="0"/>
              <a:t>Outcomes: reading, mathematics, self-esteem</a:t>
            </a:r>
          </a:p>
          <a:p>
            <a:pPr lvl="1"/>
            <a:r>
              <a:rPr dirty="0"/>
              <a:t>Predictors: parents’ education &amp; occupation, school visits, counseling, number of teachers</a:t>
            </a:r>
          </a:p>
          <a:p>
            <a:r>
              <a:rPr b="1" dirty="0"/>
              <a:t>Length</a:t>
            </a:r>
            <a:r>
              <a:rPr dirty="0"/>
              <a:t>: the strength of the relationship</a:t>
            </a:r>
          </a:p>
          <a:p>
            <a:r>
              <a:rPr b="1" dirty="0"/>
              <a:t>Direction</a:t>
            </a:r>
            <a:r>
              <a:rPr dirty="0"/>
              <a:t>: how the predictor relates to the two responses</a:t>
            </a:r>
          </a:p>
          <a:p>
            <a:r>
              <a:rPr dirty="0"/>
              <a:t>The overall test is the ellipse for all predictors jointly</a:t>
            </a:r>
          </a:p>
        </p:txBody>
      </p:sp>
      <p:pic>
        <p:nvPicPr>
          <p:cNvPr id="4" name="Picture 3" descr="fig-school-heplot1-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12.17</a:t>
            </a:r>
          </a:p>
        </p:txBody>
      </p:sp>
      <p:sp>
        <p:nvSpPr>
          <p:cNvPr id="6" name="Slide Number Placeholder 6"/>
          <p:cNvSpPr>
            <a:spLocks noGrp="1"/>
          </p:cNvSpPr>
          <p:nvPr>
            <p:ph type="sldNum" sz="quarter" idx="12"/>
          </p:nvPr>
        </p:nvSpPr>
        <p:spPr/>
        <p:txBody>
          <a:bodyPr/>
          <a:lstStyle/>
          <a:p>
            <a:fld id="{9BFB2853-4965-4727-91C4-384EB30D99A4}" type="slidenum">
              <a:rPr lang="en-CA"/>
              <a:t>52</a:t>
            </a:fld>
            <a:endParaRPr lang="en-CA"/>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2678-4B78-8E16-B271-6B71F149BE44}"/>
              </a:ext>
            </a:extLst>
          </p:cNvPr>
          <p:cNvSpPr>
            <a:spLocks noGrp="1"/>
          </p:cNvSpPr>
          <p:nvPr>
            <p:ph type="title"/>
          </p:nvPr>
        </p:nvSpPr>
        <p:spPr>
          <a:xfrm>
            <a:off x="838200" y="52703"/>
            <a:ext cx="10515600" cy="831219"/>
          </a:xfrm>
        </p:spPr>
        <p:txBody>
          <a:bodyPr>
            <a:normAutofit/>
          </a:bodyPr>
          <a:lstStyle/>
          <a:p>
            <a:r>
              <a:rPr lang="en-CA" sz="2800" dirty="0"/>
              <a:t>Canonical discriminant plots: The MANOVA juicer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E06A756-658D-C8F2-6A93-03A89E7F7BF1}"/>
                  </a:ext>
                </a:extLst>
              </p:cNvPr>
              <p:cNvSpPr>
                <a:spLocks noGrp="1"/>
              </p:cNvSpPr>
              <p:nvPr>
                <p:ph idx="1"/>
              </p:nvPr>
            </p:nvSpPr>
            <p:spPr>
              <a:xfrm>
                <a:off x="838200" y="1025591"/>
                <a:ext cx="9372600" cy="2011678"/>
              </a:xfrm>
            </p:spPr>
            <p:txBody>
              <a:bodyPr>
                <a:normAutofit/>
              </a:bodyPr>
              <a:lstStyle/>
              <a:p>
                <a:r>
                  <a:rPr lang="en-CA" sz="2000" dirty="0"/>
                  <a:t>As with biplot, we can visualize MLM for all responses by projecting H and E into low-rank space</a:t>
                </a:r>
              </a:p>
              <a:p>
                <a:pPr lvl="1"/>
                <a:r>
                  <a:rPr lang="en-CA" sz="1600" dirty="0"/>
                  <a:t>Canonical projection: </a:t>
                </a:r>
                <a14:m>
                  <m:oMath xmlns:m="http://schemas.openxmlformats.org/officeDocument/2006/math">
                    <m:r>
                      <a:rPr lang="en-CA" sz="1600" b="1" i="1">
                        <a:latin typeface="Cambria Math" panose="02040503050406030204" pitchFamily="18" charset="0"/>
                      </a:rPr>
                      <m:t>𝒀</m:t>
                    </m:r>
                    <m:r>
                      <a:rPr lang="en-CA" sz="1600" i="1">
                        <a:latin typeface="Cambria Math" panose="02040503050406030204" pitchFamily="18" charset="0"/>
                        <a:ea typeface="Cambria Math" panose="02040503050406030204" pitchFamily="18" charset="0"/>
                      </a:rPr>
                      <m:t>→</m:t>
                    </m:r>
                    <m:r>
                      <a:rPr lang="en-CA" sz="1600" b="1" i="1">
                        <a:latin typeface="Cambria Math" panose="02040503050406030204" pitchFamily="18" charset="0"/>
                        <a:ea typeface="Cambria Math" panose="02040503050406030204" pitchFamily="18" charset="0"/>
                      </a:rPr>
                      <m:t>𝒁</m:t>
                    </m:r>
                    <m:r>
                      <a:rPr lang="en-CA" sz="1600" i="1">
                        <a:latin typeface="Cambria Math" panose="02040503050406030204" pitchFamily="18" charset="0"/>
                        <a:ea typeface="Cambria Math" panose="02040503050406030204" pitchFamily="18" charset="0"/>
                      </a:rPr>
                      <m:t>=</m:t>
                    </m:r>
                    <m:r>
                      <a:rPr lang="en-CA" sz="1600" b="1" i="1">
                        <a:latin typeface="Cambria Math" panose="02040503050406030204" pitchFamily="18" charset="0"/>
                        <a:ea typeface="Cambria Math" panose="02040503050406030204" pitchFamily="18" charset="0"/>
                      </a:rPr>
                      <m:t>𝒀</m:t>
                    </m:r>
                    <m:sSup>
                      <m:sSupPr>
                        <m:ctrlPr>
                          <a:rPr lang="en-CA" sz="1600" b="1" i="1">
                            <a:latin typeface="Cambria Math" panose="02040503050406030204" pitchFamily="18" charset="0"/>
                            <a:ea typeface="Cambria Math" panose="02040503050406030204" pitchFamily="18" charset="0"/>
                          </a:rPr>
                        </m:ctrlPr>
                      </m:sSupPr>
                      <m:e>
                        <m:r>
                          <a:rPr lang="en-CA" sz="1600" b="1" i="1">
                            <a:latin typeface="Cambria Math" panose="02040503050406030204" pitchFamily="18" charset="0"/>
                            <a:ea typeface="Cambria Math" panose="02040503050406030204" pitchFamily="18" charset="0"/>
                          </a:rPr>
                          <m:t>𝑬</m:t>
                        </m:r>
                      </m:e>
                      <m:sup>
                        <m:r>
                          <a:rPr lang="en-CA" sz="1600" i="1">
                            <a:latin typeface="Cambria Math" panose="02040503050406030204" pitchFamily="18" charset="0"/>
                            <a:ea typeface="Cambria Math" panose="02040503050406030204" pitchFamily="18" charset="0"/>
                          </a:rPr>
                          <m:t>−1/2</m:t>
                        </m:r>
                      </m:sup>
                    </m:sSup>
                    <m:r>
                      <a:rPr lang="en-CA" sz="1600" b="1">
                        <a:latin typeface="Cambria Math" panose="02040503050406030204" pitchFamily="18" charset="0"/>
                        <a:ea typeface="Cambria Math" panose="02040503050406030204" pitchFamily="18" charset="0"/>
                      </a:rPr>
                      <m:t>𝐕</m:t>
                    </m:r>
                  </m:oMath>
                </a14:m>
                <a:r>
                  <a:rPr lang="en-CA" sz="1600" dirty="0"/>
                  <a:t> where </a:t>
                </a:r>
                <a:r>
                  <a:rPr lang="en-CA" sz="1600" b="1" dirty="0"/>
                  <a:t>V</a:t>
                </a:r>
                <a:r>
                  <a:rPr lang="en-CA" sz="1600" dirty="0"/>
                  <a:t> = eigenvectors of HE</a:t>
                </a:r>
                <a:r>
                  <a:rPr lang="en-CA" sz="1600" baseline="30000" dirty="0"/>
                  <a:t>-1 </a:t>
                </a:r>
              </a:p>
              <a:p>
                <a:r>
                  <a:rPr lang="en-CA" sz="2000" dirty="0"/>
                  <a:t>This is the view that maximally discriminates among groups</a:t>
                </a:r>
              </a:p>
              <a:p>
                <a:r>
                  <a:rPr lang="en-CA" sz="2000" dirty="0"/>
                  <a:t>CD HE plot: vectors show structure </a:t>
                </a:r>
                <a:r>
                  <a:rPr lang="en-CA" sz="2000" dirty="0" err="1"/>
                  <a:t>coefs</a:t>
                </a:r>
                <a:r>
                  <a:rPr lang="en-CA" sz="2000" dirty="0"/>
                  <a:t> (correlations) of variables w/ CD dimensions</a:t>
                </a:r>
              </a:p>
              <a:p>
                <a:pPr marL="0" indent="0">
                  <a:buNone/>
                </a:pPr>
                <a:endParaRPr lang="en-CA" baseline="-25000" dirty="0"/>
              </a:p>
            </p:txBody>
          </p:sp>
        </mc:Choice>
        <mc:Fallback xmlns="">
          <p:sp>
            <p:nvSpPr>
              <p:cNvPr id="4" name="Content Placeholder 3">
                <a:extLst>
                  <a:ext uri="{FF2B5EF4-FFF2-40B4-BE49-F238E27FC236}">
                    <a16:creationId xmlns:a16="http://schemas.microsoft.com/office/drawing/2014/main" id="{DE06A756-658D-C8F2-6A93-03A89E7F7BF1}"/>
                  </a:ext>
                </a:extLst>
              </p:cNvPr>
              <p:cNvSpPr>
                <a:spLocks noGrp="1" noRot="1" noChangeAspect="1" noMove="1" noResize="1" noEditPoints="1" noAdjustHandles="1" noChangeArrowheads="1" noChangeShapeType="1" noTextEdit="1"/>
              </p:cNvSpPr>
              <p:nvPr>
                <p:ph idx="1"/>
              </p:nvPr>
            </p:nvSpPr>
            <p:spPr>
              <a:xfrm>
                <a:off x="838200" y="1025591"/>
                <a:ext cx="9372600" cy="2011678"/>
              </a:xfrm>
              <a:blipFill>
                <a:blip r:embed="rId3"/>
                <a:stretch>
                  <a:fillRect l="-586" t="-2727" b="-5455"/>
                </a:stretch>
              </a:blipFill>
            </p:spPr>
            <p:txBody>
              <a:bodyPr/>
              <a:lstStyle/>
              <a:p>
                <a:r>
                  <a:rPr lang="en-CA">
                    <a:noFill/>
                  </a:rPr>
                  <a:t> </a:t>
                </a:r>
              </a:p>
            </p:txBody>
          </p:sp>
        </mc:Fallback>
      </mc:AlternateContent>
      <p:grpSp>
        <p:nvGrpSpPr>
          <p:cNvPr id="5" name="Group 4">
            <a:extLst>
              <a:ext uri="{FF2B5EF4-FFF2-40B4-BE49-F238E27FC236}">
                <a16:creationId xmlns:a16="http://schemas.microsoft.com/office/drawing/2014/main" id="{695628D6-2D2E-935C-F902-C312DE871F31}"/>
              </a:ext>
            </a:extLst>
          </p:cNvPr>
          <p:cNvGrpSpPr/>
          <p:nvPr/>
        </p:nvGrpSpPr>
        <p:grpSpPr>
          <a:xfrm>
            <a:off x="1676402" y="3109597"/>
            <a:ext cx="4195588" cy="3600000"/>
            <a:chOff x="609600" y="3048000"/>
            <a:chExt cx="3848098" cy="3383278"/>
          </a:xfrm>
        </p:grpSpPr>
        <p:pic>
          <p:nvPicPr>
            <p:cNvPr id="6" name="Picture 5">
              <a:extLst>
                <a:ext uri="{FF2B5EF4-FFF2-40B4-BE49-F238E27FC236}">
                  <a16:creationId xmlns:a16="http://schemas.microsoft.com/office/drawing/2014/main" id="{7A244B28-5061-7FF6-14F6-575B970295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3352800"/>
              <a:ext cx="3848098" cy="3078478"/>
            </a:xfrm>
            <a:prstGeom prst="rect">
              <a:avLst/>
            </a:prstGeom>
          </p:spPr>
        </p:pic>
        <p:sp>
          <p:nvSpPr>
            <p:cNvPr id="7" name="TextBox 6">
              <a:extLst>
                <a:ext uri="{FF2B5EF4-FFF2-40B4-BE49-F238E27FC236}">
                  <a16:creationId xmlns:a16="http://schemas.microsoft.com/office/drawing/2014/main" id="{48C2BA2B-B71B-8E52-DB74-8DFFDF3E2BF3}"/>
                </a:ext>
              </a:extLst>
            </p:cNvPr>
            <p:cNvSpPr txBox="1"/>
            <p:nvPr/>
          </p:nvSpPr>
          <p:spPr>
            <a:xfrm>
              <a:off x="990600" y="3048000"/>
              <a:ext cx="3352800" cy="369332"/>
            </a:xfrm>
            <a:prstGeom prst="rect">
              <a:avLst/>
            </a:prstGeom>
            <a:noFill/>
          </p:spPr>
          <p:txBody>
            <a:bodyPr wrap="square" rtlCol="0">
              <a:spAutoFit/>
            </a:bodyPr>
            <a:lstStyle/>
            <a:p>
              <a:r>
                <a:rPr lang="en-CA" dirty="0"/>
                <a:t>Biplot of canonical scores</a:t>
              </a:r>
            </a:p>
          </p:txBody>
        </p:sp>
      </p:grpSp>
      <p:grpSp>
        <p:nvGrpSpPr>
          <p:cNvPr id="8" name="Group 7">
            <a:extLst>
              <a:ext uri="{FF2B5EF4-FFF2-40B4-BE49-F238E27FC236}">
                <a16:creationId xmlns:a16="http://schemas.microsoft.com/office/drawing/2014/main" id="{1DBA765B-5EB1-2F74-65AC-844ACA9CA564}"/>
              </a:ext>
            </a:extLst>
          </p:cNvPr>
          <p:cNvGrpSpPr/>
          <p:nvPr/>
        </p:nvGrpSpPr>
        <p:grpSpPr>
          <a:xfrm>
            <a:off x="6448539" y="3109597"/>
            <a:ext cx="3848098" cy="3600000"/>
            <a:chOff x="5048252" y="3048000"/>
            <a:chExt cx="3848098" cy="3352800"/>
          </a:xfrm>
        </p:grpSpPr>
        <p:pic>
          <p:nvPicPr>
            <p:cNvPr id="9" name="Picture 8">
              <a:extLst>
                <a:ext uri="{FF2B5EF4-FFF2-40B4-BE49-F238E27FC236}">
                  <a16:creationId xmlns:a16="http://schemas.microsoft.com/office/drawing/2014/main" id="{481D13BC-C0F5-D55E-6BED-C228FD386F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8252" y="3322322"/>
              <a:ext cx="3848098" cy="3078478"/>
            </a:xfrm>
            <a:prstGeom prst="rect">
              <a:avLst/>
            </a:prstGeom>
          </p:spPr>
        </p:pic>
        <p:sp>
          <p:nvSpPr>
            <p:cNvPr id="10" name="TextBox 9">
              <a:extLst>
                <a:ext uri="{FF2B5EF4-FFF2-40B4-BE49-F238E27FC236}">
                  <a16:creationId xmlns:a16="http://schemas.microsoft.com/office/drawing/2014/main" id="{55A51909-49FE-D007-E4C7-7B434C74E9FB}"/>
                </a:ext>
              </a:extLst>
            </p:cNvPr>
            <p:cNvSpPr txBox="1"/>
            <p:nvPr/>
          </p:nvSpPr>
          <p:spPr>
            <a:xfrm>
              <a:off x="5486400" y="3048000"/>
              <a:ext cx="3352800" cy="369332"/>
            </a:xfrm>
            <a:prstGeom prst="rect">
              <a:avLst/>
            </a:prstGeom>
            <a:noFill/>
          </p:spPr>
          <p:txBody>
            <a:bodyPr wrap="square" rtlCol="0">
              <a:spAutoFit/>
            </a:bodyPr>
            <a:lstStyle/>
            <a:p>
              <a:r>
                <a:rPr lang="en-CA" dirty="0"/>
                <a:t>HE plot of canonical scores</a:t>
              </a:r>
            </a:p>
          </p:txBody>
        </p:sp>
      </p:grpSp>
      <p:sp>
        <p:nvSpPr>
          <p:cNvPr id="11" name="Slide Number Placeholder 11"/>
          <p:cNvSpPr>
            <a:spLocks noGrp="1"/>
          </p:cNvSpPr>
          <p:nvPr>
            <p:ph type="sldNum" sz="quarter" idx="12"/>
          </p:nvPr>
        </p:nvSpPr>
        <p:spPr/>
        <p:txBody>
          <a:bodyPr/>
          <a:lstStyle/>
          <a:p>
            <a:fld id="{9BFB2853-4965-4727-91C4-384EB30D99A4}" type="slidenum">
              <a:rPr lang="en-CA"/>
              <a:t>53</a:t>
            </a:fld>
            <a:endParaRPr lang="en-CA"/>
          </a:p>
        </p:txBody>
      </p:sp>
    </p:spTree>
    <p:extLst>
      <p:ext uri="{BB962C8B-B14F-4D97-AF65-F5344CB8AC3E}">
        <p14:creationId xmlns:p14="http://schemas.microsoft.com/office/powerpoint/2010/main" val="200499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42"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1000"/>
                                        <p:tgtEl>
                                          <p:spTgt spid="8"/>
                                        </p:tgtEl>
                                      </p:cBhvr>
                                    </p:animEffect>
                                    <p:anim calcmode="lin" valueType="num">
                                      <p:cBhvr>
                                        <p:cTn id="10" dur="1000" fill="hold"/>
                                        <p:tgtEl>
                                          <p:spTgt spid="8"/>
                                        </p:tgtEl>
                                        <p:attrNameLst>
                                          <p:attrName>ppt_x</p:attrName>
                                        </p:attrNameLst>
                                      </p:cBhvr>
                                      <p:tavLst>
                                        <p:tav tm="0">
                                          <p:val>
                                            <p:strVal val="#ppt_x"/>
                                          </p:val>
                                        </p:tav>
                                        <p:tav tm="100000">
                                          <p:val>
                                            <p:strVal val="#ppt_x"/>
                                          </p:val>
                                        </p:tav>
                                      </p:tavLst>
                                    </p:anim>
                                    <p:anim calcmode="lin" valueType="num">
                                      <p:cBhvr>
                                        <p:cTn id="1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Linear discriminant analysis: main ideas</a:t>
            </a:r>
          </a:p>
        </p:txBody>
      </p:sp>
      <p:pic>
        <p:nvPicPr>
          <p:cNvPr id="3" name="Picture 2" descr="discrim-demo-both.jpg"/>
          <p:cNvPicPr>
            <a:picLocks noChangeAspect="1"/>
          </p:cNvPicPr>
          <p:nvPr/>
        </p:nvPicPr>
        <p:blipFill>
          <a:blip r:embed="rId3"/>
          <a:stretch>
            <a:fillRect/>
          </a:stretch>
        </p:blipFill>
        <p:spPr>
          <a:xfrm>
            <a:off x="841248" y="1406303"/>
            <a:ext cx="5157003" cy="5212080"/>
          </a:xfrm>
          <a:prstGeom prst="rect">
            <a:avLst/>
          </a:prstGeom>
        </p:spPr>
      </p:pic>
      <p:sp>
        <p:nvSpPr>
          <p:cNvPr id="4" name="TextBox 3"/>
          <p:cNvSpPr txBox="1"/>
          <p:nvPr/>
        </p:nvSpPr>
        <p:spPr>
          <a:xfrm>
            <a:off x="6364011" y="1417320"/>
            <a:ext cx="4992837" cy="5212080"/>
          </a:xfrm>
          <a:prstGeom prst="rect">
            <a:avLst/>
          </a:prstGeom>
          <a:noFill/>
        </p:spPr>
        <p:txBody>
          <a:bodyPr wrap="square" anchor="ctr">
            <a:noAutofit/>
          </a:bodyPr>
          <a:lstStyle/>
          <a:p>
            <a:r>
              <a:rPr sz="2400"/>
              <a:t>Find the directions that best separate the groups, then classify by distance to the group means.</a:t>
            </a:r>
          </a:p>
        </p:txBody>
      </p:sp>
      <p:sp>
        <p:nvSpPr>
          <p:cNvPr id="5" name="Slide Number Placeholder 5"/>
          <p:cNvSpPr>
            <a:spLocks noGrp="1"/>
          </p:cNvSpPr>
          <p:nvPr>
            <p:ph type="sldNum" sz="quarter" idx="12"/>
          </p:nvPr>
        </p:nvSpPr>
        <p:spPr/>
        <p:txBody>
          <a:bodyPr/>
          <a:lstStyle/>
          <a:p>
            <a:fld id="{9BFB2853-4965-4727-91C4-384EB30D99A4}" type="slidenum">
              <a:rPr lang="en-CA"/>
              <a:t>54</a:t>
            </a:fld>
            <a:endParaRPr lang="en-CA"/>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 regions in data space</a:t>
            </a:r>
          </a:p>
        </p:txBody>
      </p:sp>
      <p:pic>
        <p:nvPicPr>
          <p:cNvPr id="3" name="Picture 2" descr="fig-peng-regions-1.png"/>
          <p:cNvPicPr>
            <a:picLocks noChangeAspect="1"/>
          </p:cNvPicPr>
          <p:nvPr/>
        </p:nvPicPr>
        <p:blipFill>
          <a:blip r:embed="rId3"/>
          <a:stretch>
            <a:fillRect/>
          </a:stretch>
        </p:blipFill>
        <p:spPr>
          <a:xfrm>
            <a:off x="1380744" y="1417320"/>
            <a:ext cx="9436608" cy="4718304"/>
          </a:xfrm>
          <a:prstGeom prst="rect">
            <a:avLst/>
          </a:prstGeom>
        </p:spPr>
      </p:pic>
      <p:sp>
        <p:nvSpPr>
          <p:cNvPr id="4" name="TextBox 3"/>
          <p:cNvSpPr txBox="1"/>
          <p:nvPr/>
        </p:nvSpPr>
        <p:spPr>
          <a:xfrm>
            <a:off x="841248" y="6181344"/>
            <a:ext cx="10515600" cy="548640"/>
          </a:xfrm>
          <a:prstGeom prst="rect">
            <a:avLst/>
          </a:prstGeom>
          <a:noFill/>
        </p:spPr>
        <p:txBody>
          <a:bodyPr wrap="square">
            <a:spAutoFit/>
          </a:bodyPr>
          <a:lstStyle/>
          <a:p>
            <a:r>
              <a:rPr sz="1800"/>
              <a:t>Classify every point in a grid of values: the LDA boundaries are linear.</a:t>
            </a:r>
          </a:p>
        </p:txBody>
      </p:sp>
      <p:sp>
        <p:nvSpPr>
          <p:cNvPr id="5" name="Slide Number Placeholder 5"/>
          <p:cNvSpPr>
            <a:spLocks noGrp="1"/>
          </p:cNvSpPr>
          <p:nvPr>
            <p:ph type="sldNum" sz="quarter" idx="12"/>
          </p:nvPr>
        </p:nvSpPr>
        <p:spPr/>
        <p:txBody>
          <a:bodyPr/>
          <a:lstStyle/>
          <a:p>
            <a:fld id="{9BFB2853-4965-4727-91C4-384EB30D99A4}" type="slidenum">
              <a:rPr lang="en-CA"/>
              <a:t>55</a:t>
            </a:fld>
            <a:endParaRPr lang="en-CA"/>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 regions in discriminant space</a:t>
            </a:r>
          </a:p>
        </p:txBody>
      </p:sp>
      <p:sp>
        <p:nvSpPr>
          <p:cNvPr id="3" name="Content Placeholder 2"/>
          <p:cNvSpPr>
            <a:spLocks noGrp="1"/>
          </p:cNvSpPr>
          <p:nvPr>
            <p:ph sz="half" idx="1"/>
          </p:nvPr>
        </p:nvSpPr>
        <p:spPr/>
        <p:txBody>
          <a:bodyPr/>
          <a:lstStyle/>
          <a:p>
            <a:r>
              <a:t>With three species, two discriminant dimensions show everything</a:t>
            </a:r>
          </a:p>
          <a:p>
            <a:r>
              <a:t>Variable vectors show which measures separate the species</a:t>
            </a:r>
          </a:p>
        </p:txBody>
      </p:sp>
      <p:pic>
        <p:nvPicPr>
          <p:cNvPr id="4" name="Picture 3" descr="fig-peng-LD-biplot-1.png"/>
          <p:cNvPicPr>
            <a:picLocks noChangeAspect="1"/>
          </p:cNvPicPr>
          <p:nvPr/>
        </p:nvPicPr>
        <p:blipFill>
          <a:blip r:embed="rId3"/>
          <a:stretch>
            <a:fillRect/>
          </a:stretch>
        </p:blipFill>
        <p:spPr>
          <a:xfrm>
            <a:off x="6144768" y="1417320"/>
            <a:ext cx="5212080" cy="5212080"/>
          </a:xfrm>
          <a:prstGeom prst="rect">
            <a:avLst/>
          </a:prstGeom>
        </p:spPr>
      </p:pic>
      <p:sp>
        <p:nvSpPr>
          <p:cNvPr id="5" name="Slide Number Placeholder 5"/>
          <p:cNvSpPr>
            <a:spLocks noGrp="1"/>
          </p:cNvSpPr>
          <p:nvPr>
            <p:ph type="sldNum" sz="quarter" idx="12"/>
          </p:nvPr>
        </p:nvSpPr>
        <p:spPr/>
        <p:txBody>
          <a:bodyPr/>
          <a:lstStyle/>
          <a:p>
            <a:fld id="{9BFB2853-4965-4727-91C4-384EB30D99A4}" type="slidenum">
              <a:rPr lang="en-CA"/>
              <a:t>56</a:t>
            </a:fld>
            <a:endParaRPr lang="en-CA"/>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Checking multivariate models</a:t>
            </a:r>
          </a:p>
        </p:txBody>
      </p:sp>
      <p:sp>
        <p:nvSpPr>
          <p:cNvPr id="3" name="Text Placeholder 2"/>
          <p:cNvSpPr>
            <a:spLocks noGrp="1"/>
          </p:cNvSpPr>
          <p:nvPr>
            <p:ph type="body" idx="1"/>
          </p:nvPr>
        </p:nvSpPr>
        <p:spPr/>
        <p:txBody>
          <a:bodyPr/>
          <a:lstStyle/>
          <a:p>
            <a:r>
              <a:t>Outliers, influence and robust estimation</a:t>
            </a:r>
          </a:p>
        </p:txBody>
      </p:sp>
      <p:sp>
        <p:nvSpPr>
          <p:cNvPr id="4" name="Slide Number Placeholder 4"/>
          <p:cNvSpPr>
            <a:spLocks noGrp="1"/>
          </p:cNvSpPr>
          <p:nvPr>
            <p:ph type="sldNum" sz="quarter" idx="12"/>
          </p:nvPr>
        </p:nvSpPr>
        <p:spPr/>
        <p:txBody>
          <a:bodyPr/>
          <a:lstStyle/>
          <a:p>
            <a:fld id="{9BFB2853-4965-4727-91C4-384EB30D99A4}" type="slidenum">
              <a:rPr lang="en-CA"/>
              <a:t>57</a:t>
            </a:fld>
            <a:endParaRPr lang="en-CA"/>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Unusual is not the same as influential</a:t>
            </a:r>
          </a:p>
        </p:txBody>
      </p:sp>
      <p:sp>
        <p:nvSpPr>
          <p:cNvPr id="3" name="Content Placeholder 2"/>
          <p:cNvSpPr>
            <a:spLocks noGrp="1"/>
          </p:cNvSpPr>
          <p:nvPr>
            <p:ph sz="half" idx="1"/>
          </p:nvPr>
        </p:nvSpPr>
        <p:spPr>
          <a:xfrm>
            <a:off x="502920" y="1600200"/>
            <a:ext cx="3429000" cy="2103120"/>
          </a:xfrm>
        </p:spPr>
        <p:txBody>
          <a:bodyPr/>
          <a:lstStyle/>
          <a:p>
            <a:r>
              <a:rPr sz="1800" dirty="0"/>
              <a:t>School data: 70 schools, 3 outcomes, 5 predictors</a:t>
            </a:r>
          </a:p>
          <a:p>
            <a:r>
              <a:rPr sz="1800" dirty="0"/>
              <a:t>Distance plot: predictor distance (leverage) vs. residual distance (outliers)</a:t>
            </a:r>
          </a:p>
          <a:p>
            <a:r>
              <a:rPr lang="en-CA" sz="1800" dirty="0"/>
              <a:t>Lines: cutoffs for “large”</a:t>
            </a:r>
          </a:p>
        </p:txBody>
      </p:sp>
      <p:pic>
        <p:nvPicPr>
          <p:cNvPr id="4" name="dist-pic" descr="fig-school-distplot-1.png"/>
          <p:cNvPicPr>
            <a:picLocks noChangeAspect="1"/>
          </p:cNvPicPr>
          <p:nvPr/>
        </p:nvPicPr>
        <p:blipFill>
          <a:blip r:embed="rId3"/>
          <a:stretch>
            <a:fillRect/>
          </a:stretch>
        </p:blipFill>
        <p:spPr>
          <a:xfrm>
            <a:off x="4023360" y="1783080"/>
            <a:ext cx="3931920" cy="39319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11.18, 11.19</a:t>
            </a:r>
          </a:p>
        </p:txBody>
      </p:sp>
      <p:pic>
        <p:nvPicPr>
          <p:cNvPr id="6" name="infl-pic" descr="school-diag-2-influence.png"/>
          <p:cNvPicPr>
            <a:picLocks noChangeAspect="1"/>
          </p:cNvPicPr>
          <p:nvPr/>
        </p:nvPicPr>
        <p:blipFill>
          <a:blip r:embed="rId4"/>
          <a:stretch>
            <a:fillRect/>
          </a:stretch>
        </p:blipFill>
        <p:spPr>
          <a:xfrm>
            <a:off x="8092440" y="1783080"/>
            <a:ext cx="3931920" cy="3931920"/>
          </a:xfrm>
          <a:prstGeom prst="rect">
            <a:avLst/>
          </a:prstGeom>
        </p:spPr>
      </p:pic>
      <p:sp>
        <p:nvSpPr>
          <p:cNvPr id="7" name="dist-cap"/>
          <p:cNvSpPr txBox="1"/>
          <p:nvPr/>
        </p:nvSpPr>
        <p:spPr>
          <a:xfrm>
            <a:off x="4023360" y="1371600"/>
            <a:ext cx="3931920" cy="365760"/>
          </a:xfrm>
          <a:prstGeom prst="rect">
            <a:avLst/>
          </a:prstGeom>
          <a:noFill/>
        </p:spPr>
        <p:txBody>
          <a:bodyPr wrap="none">
            <a:spAutoFit/>
          </a:bodyPr>
          <a:lstStyle/>
          <a:p>
            <a:pPr algn="ctr"/>
            <a:r>
              <a:rPr sz="1800" b="1"/>
              <a:t>Distance plot: where is it unusual?</a:t>
            </a:r>
          </a:p>
        </p:txBody>
      </p:sp>
      <p:sp>
        <p:nvSpPr>
          <p:cNvPr id="8" name="infl-cap"/>
          <p:cNvSpPr txBox="1"/>
          <p:nvPr/>
        </p:nvSpPr>
        <p:spPr>
          <a:xfrm>
            <a:off x="8092440" y="1371600"/>
            <a:ext cx="3931920" cy="365760"/>
          </a:xfrm>
          <a:prstGeom prst="rect">
            <a:avLst/>
          </a:prstGeom>
          <a:noFill/>
        </p:spPr>
        <p:txBody>
          <a:bodyPr wrap="none">
            <a:spAutoFit/>
          </a:bodyPr>
          <a:lstStyle/>
          <a:p>
            <a:pPr algn="ctr"/>
            <a:r>
              <a:rPr sz="1800" b="1"/>
              <a:t>Influence plot: does it matter?</a:t>
            </a:r>
          </a:p>
        </p:txBody>
      </p:sp>
      <p:sp>
        <p:nvSpPr>
          <p:cNvPr id="9" name="infl-text"/>
          <p:cNvSpPr txBox="1"/>
          <p:nvPr/>
        </p:nvSpPr>
        <p:spPr>
          <a:xfrm>
            <a:off x="502920" y="3703320"/>
            <a:ext cx="3429000" cy="2103120"/>
          </a:xfrm>
          <a:prstGeom prst="rect">
            <a:avLst/>
          </a:prstGeom>
          <a:noFill/>
        </p:spPr>
        <p:txBody>
          <a:bodyPr wrap="square">
            <a:spAutoFit/>
          </a:bodyPr>
          <a:lstStyle/>
          <a:p>
            <a:pPr marL="228600" indent="-228600">
              <a:spcAft>
                <a:spcPts val="400"/>
              </a:spcAft>
              <a:buFont typeface="Arial"/>
              <a:buChar char="•"/>
            </a:pPr>
            <a:r>
              <a:rPr sz="1800"/>
              <a:t>Influence plot: bubble size ~ multivariate Cook’s D</a:t>
            </a:r>
          </a:p>
          <a:p>
            <a:pPr marL="228600" indent="-228600">
              <a:spcAft>
                <a:spcPts val="400"/>
              </a:spcAft>
              <a:buFont typeface="Arial"/>
              <a:buChar char="•"/>
            </a:pPr>
            <a:r>
              <a:rPr sz="1800" b="1">
                <a:solidFill>
                  <a:srgbClr val="FF0000"/>
                </a:solidFill>
              </a:rPr>
              <a:t>44, 59</a:t>
            </a:r>
            <a:r>
              <a:rPr sz="1800"/>
              <a:t>: high leverage and influential</a:t>
            </a:r>
          </a:p>
          <a:p>
            <a:pPr marL="228600" indent="-228600">
              <a:spcAft>
                <a:spcPts val="400"/>
              </a:spcAft>
              <a:buFont typeface="Arial"/>
              <a:buChar char="•"/>
            </a:pPr>
            <a:r>
              <a:rPr sz="1800" b="1">
                <a:solidFill>
                  <a:srgbClr val="0000FF"/>
                </a:solidFill>
              </a:rPr>
              <a:t>35</a:t>
            </a:r>
            <a:r>
              <a:rPr sz="1800"/>
              <a:t>: an outlier, but little influence</a:t>
            </a:r>
          </a:p>
          <a:p>
            <a:pPr marL="228600" indent="-228600">
              <a:spcAft>
                <a:spcPts val="400"/>
              </a:spcAft>
              <a:buFont typeface="Arial"/>
              <a:buChar char="•"/>
            </a:pPr>
            <a:r>
              <a:rPr sz="1800" b="1">
                <a:solidFill>
                  <a:srgbClr val="006400"/>
                </a:solidFill>
              </a:rPr>
              <a:t>66</a:t>
            </a:r>
            <a:r>
              <a:rPr sz="1800"/>
              <a:t>: high leverage, but harmless</a:t>
            </a:r>
          </a:p>
        </p:txBody>
      </p:sp>
      <p:sp>
        <p:nvSpPr>
          <p:cNvPr id="10" name="sens-text"/>
          <p:cNvSpPr txBox="1"/>
          <p:nvPr/>
        </p:nvSpPr>
        <p:spPr>
          <a:xfrm>
            <a:off x="4023360" y="5760720"/>
            <a:ext cx="8001000" cy="640080"/>
          </a:xfrm>
          <a:prstGeom prst="rect">
            <a:avLst/>
          </a:prstGeom>
          <a:noFill/>
        </p:spPr>
        <p:txBody>
          <a:bodyPr wrap="square">
            <a:spAutoFit/>
          </a:bodyPr>
          <a:lstStyle/>
          <a:p>
            <a:pPr>
              <a:spcAft>
                <a:spcPts val="400"/>
              </a:spcAft>
            </a:pPr>
            <a:r>
              <a:rPr sz="1600"/>
              <a:t>Refit without </a:t>
            </a:r>
            <a:r>
              <a:rPr sz="1600" b="1">
                <a:solidFill>
                  <a:srgbClr val="FF0000"/>
                </a:solidFill>
              </a:rPr>
              <a:t>44</a:t>
            </a:r>
            <a:r>
              <a:rPr sz="1600"/>
              <a:t> and </a:t>
            </a:r>
            <a:r>
              <a:rPr sz="1600" b="1">
                <a:solidFill>
                  <a:srgbClr val="FF0000"/>
                </a:solidFill>
              </a:rPr>
              <a:t>59</a:t>
            </a:r>
            <a:r>
              <a:rPr sz="1600"/>
              <a:t>: the same three predictors stay significant, but the reading and mathematics coefficients change by 77–104% for visit and over 300% for counseling.</a:t>
            </a:r>
          </a:p>
        </p:txBody>
      </p:sp>
      <p:sp>
        <p:nvSpPr>
          <p:cNvPr id="11" name="Slide Number Placeholder 11"/>
          <p:cNvSpPr>
            <a:spLocks noGrp="1"/>
          </p:cNvSpPr>
          <p:nvPr>
            <p:ph type="sldNum" sz="quarter" idx="12"/>
          </p:nvPr>
        </p:nvSpPr>
        <p:spPr/>
        <p:txBody>
          <a:bodyPr/>
          <a:lstStyle/>
          <a:p>
            <a:fld id="{9BFB2853-4965-4727-91C4-384EB30D99A4}" type="slidenum">
              <a:rPr lang="en-CA"/>
              <a:t>58</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are the influential penguins?</a:t>
            </a:r>
          </a:p>
        </p:txBody>
      </p:sp>
      <p:sp>
        <p:nvSpPr>
          <p:cNvPr id="3" name="Content Placeholder 2"/>
          <p:cNvSpPr>
            <a:spLocks noGrp="1"/>
          </p:cNvSpPr>
          <p:nvPr>
            <p:ph sz="half" idx="1"/>
          </p:nvPr>
        </p:nvSpPr>
        <p:spPr/>
        <p:txBody>
          <a:bodyPr/>
          <a:lstStyle/>
          <a:p>
            <a:r>
              <a:rPr dirty="0"/>
              <a:t>Multivariate influence plot </a:t>
            </a:r>
            <a:endParaRPr lang="en-CA" dirty="0"/>
          </a:p>
          <a:p>
            <a:r>
              <a:rPr dirty="0"/>
              <a:t>The most influential case is our Chinstrap friend 'Cyrano'</a:t>
            </a:r>
          </a:p>
          <a:p>
            <a:r>
              <a:rPr dirty="0"/>
              <a:t>'Hook Nose', an Adélie, is among the others</a:t>
            </a:r>
          </a:p>
          <a:p>
            <a:r>
              <a:rPr dirty="0"/>
              <a:t>One factor as predictor: hat values depend only on group size, so three columns</a:t>
            </a:r>
          </a:p>
        </p:txBody>
      </p:sp>
      <p:pic>
        <p:nvPicPr>
          <p:cNvPr id="4" name="Picture 3" descr="fig-peng-inflplot1-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14.8</a:t>
            </a:r>
          </a:p>
        </p:txBody>
      </p:sp>
      <p:sp>
        <p:nvSpPr>
          <p:cNvPr id="6" name="Slide Number Placeholder 6"/>
          <p:cNvSpPr>
            <a:spLocks noGrp="1"/>
          </p:cNvSpPr>
          <p:nvPr>
            <p:ph type="sldNum" sz="quarter" idx="12"/>
          </p:nvPr>
        </p:nvSpPr>
        <p:spPr/>
        <p:txBody>
          <a:bodyPr/>
          <a:lstStyle/>
          <a:p>
            <a:fld id="{9BFB2853-4965-4727-91C4-384EB30D99A4}" type="slidenum">
              <a:rPr lang="en-CA"/>
              <a:t>59</a:t>
            </a:fld>
            <a:endParaRPr lang="en-CA"/>
          </a:p>
        </p:txBody>
      </p:sp>
      <p:pic>
        <p:nvPicPr>
          <p:cNvPr id="8" name="Picture 7" descr="logo.png">
            <a:extLst>
              <a:ext uri="{FF2B5EF4-FFF2-40B4-BE49-F238E27FC236}">
                <a16:creationId xmlns:a16="http://schemas.microsoft.com/office/drawing/2014/main" id="{8C078AC7-B6BA-1224-6A60-13C7E3AC7D34}"/>
              </a:ext>
            </a:extLst>
          </p:cNvPr>
          <p:cNvPicPr>
            <a:picLocks noChangeAspect="1"/>
          </p:cNvPicPr>
          <p:nvPr/>
        </p:nvPicPr>
        <p:blipFill>
          <a:blip r:embed="rId4"/>
          <a:stretch>
            <a:fillRect/>
          </a:stretch>
        </p:blipFill>
        <p:spPr>
          <a:xfrm>
            <a:off x="10794221" y="228600"/>
            <a:ext cx="788179" cy="9144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Robust MLMs: down-weight what does not fit</a:t>
            </a:r>
          </a:p>
        </p:txBody>
      </p:sp>
      <p:sp>
        <p:nvSpPr>
          <p:cNvPr id="3" name="Content Placeholder 2"/>
          <p:cNvSpPr>
            <a:spLocks noGrp="1"/>
          </p:cNvSpPr>
          <p:nvPr>
            <p:ph sz="half" idx="1"/>
          </p:nvPr>
        </p:nvSpPr>
        <p:spPr/>
        <p:txBody>
          <a:bodyPr/>
          <a:lstStyle/>
          <a:p>
            <a:r>
              <a:t>robmlm(): iteratively reweighted least squares for a multivariate model</a:t>
            </a:r>
          </a:p>
          <a:p>
            <a:r>
              <a:t>Index plot of the final observation weights</a:t>
            </a:r>
          </a:p>
          <a:p>
            <a:r>
              <a:t>Cyrano gets weight 0; Hook Nose gets 0.13</a:t>
            </a:r>
          </a:p>
        </p:txBody>
      </p:sp>
      <p:pic>
        <p:nvPicPr>
          <p:cNvPr id="4" name="Picture 3" descr="fig-peng-robmlm-plot-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14.10</a:t>
            </a:r>
          </a:p>
        </p:txBody>
      </p:sp>
      <p:sp>
        <p:nvSpPr>
          <p:cNvPr id="6" name="Slide Number Placeholder 6"/>
          <p:cNvSpPr>
            <a:spLocks noGrp="1"/>
          </p:cNvSpPr>
          <p:nvPr>
            <p:ph type="sldNum" sz="quarter" idx="12"/>
          </p:nvPr>
        </p:nvSpPr>
        <p:spPr/>
        <p:txBody>
          <a:bodyPr/>
          <a:lstStyle/>
          <a:p>
            <a:fld id="{9BFB2853-4965-4727-91C4-384EB30D99A4}" type="slidenum">
              <a:rPr lang="en-CA"/>
              <a:t>60</a:t>
            </a:fld>
            <a:endParaRPr lang="en-CA"/>
          </a:p>
        </p:txBody>
      </p:sp>
      <p:pic>
        <p:nvPicPr>
          <p:cNvPr id="8" name="Picture 7" descr="logo.png">
            <a:extLst>
              <a:ext uri="{FF2B5EF4-FFF2-40B4-BE49-F238E27FC236}">
                <a16:creationId xmlns:a16="http://schemas.microsoft.com/office/drawing/2014/main" id="{8CEF84B3-671E-E514-73B1-77B869BE814F}"/>
              </a:ext>
            </a:extLst>
          </p:cNvPr>
          <p:cNvPicPr>
            <a:picLocks noChangeAspect="1"/>
          </p:cNvPicPr>
          <p:nvPr/>
        </p:nvPicPr>
        <p:blipFill>
          <a:blip r:embed="rId4"/>
          <a:stretch>
            <a:fillRect/>
          </a:stretch>
        </p:blipFill>
        <p:spPr>
          <a:xfrm>
            <a:off x="10794610" y="217170"/>
            <a:ext cx="787790" cy="9144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Summary: </a:t>
            </a:r>
            <a:r>
              <a:rPr dirty="0"/>
              <a:t>A few ideas go a long way</a:t>
            </a:r>
          </a:p>
        </p:txBody>
      </p:sp>
      <p:sp>
        <p:nvSpPr>
          <p:cNvPr id="3" name="Content Placeholder 2"/>
          <p:cNvSpPr>
            <a:spLocks noGrp="1"/>
          </p:cNvSpPr>
          <p:nvPr>
            <p:ph idx="1"/>
          </p:nvPr>
        </p:nvSpPr>
        <p:spPr/>
        <p:txBody>
          <a:bodyPr/>
          <a:lstStyle/>
          <a:p>
            <a:r>
              <a:rPr b="1" dirty="0"/>
              <a:t>Ellipses</a:t>
            </a:r>
            <a:r>
              <a:rPr dirty="0"/>
              <a:t>: for data, for coefficients, and for hypotheses and error</a:t>
            </a:r>
          </a:p>
          <a:p>
            <a:r>
              <a:rPr b="1" dirty="0"/>
              <a:t>Projections</a:t>
            </a:r>
            <a:r>
              <a:rPr dirty="0"/>
              <a:t>: every plot is a view; choose the views that answer the question</a:t>
            </a:r>
            <a:endParaRPr lang="en-CA" dirty="0"/>
          </a:p>
          <a:p>
            <a:r>
              <a:rPr lang="en-CA" b="1" dirty="0"/>
              <a:t>Geometry</a:t>
            </a:r>
            <a:r>
              <a:rPr lang="en-CA" dirty="0"/>
              <a:t>: provides the connective tissue to understand relations in different, equivalent spaces.</a:t>
            </a:r>
            <a:endParaRPr dirty="0"/>
          </a:p>
          <a:p>
            <a:r>
              <a:rPr b="1" dirty="0"/>
              <a:t>Low-</a:t>
            </a:r>
            <a:r>
              <a:rPr lang="en-CA" b="1" dirty="0"/>
              <a:t>D</a:t>
            </a:r>
            <a:r>
              <a:rPr b="1" dirty="0"/>
              <a:t> views</a:t>
            </a:r>
            <a:r>
              <a:rPr dirty="0"/>
              <a:t>: biplots and canonical plots show many variables in the space that matters</a:t>
            </a:r>
          </a:p>
          <a:p>
            <a:r>
              <a:rPr b="1" dirty="0"/>
              <a:t>Visual thinning</a:t>
            </a:r>
            <a:r>
              <a:rPr dirty="0"/>
              <a:t>: summarize, so the message can be seen</a:t>
            </a:r>
          </a:p>
          <a:p>
            <a:r>
              <a:rPr dirty="0"/>
              <a:t>Multivariate models deserve graphs as good as those for a single response</a:t>
            </a:r>
          </a:p>
        </p:txBody>
      </p:sp>
      <p:sp>
        <p:nvSpPr>
          <p:cNvPr id="4" name="Slide Number Placeholder 4"/>
          <p:cNvSpPr>
            <a:spLocks noGrp="1"/>
          </p:cNvSpPr>
          <p:nvPr>
            <p:ph type="sldNum" sz="quarter" idx="12"/>
          </p:nvPr>
        </p:nvSpPr>
        <p:spPr/>
        <p:txBody>
          <a:bodyPr/>
          <a:lstStyle/>
          <a:p>
            <a:fld id="{9BFB2853-4965-4727-91C4-384EB30D99A4}" type="slidenum">
              <a:rPr lang="en-CA"/>
              <a:t>61</a:t>
            </a:fld>
            <a:endParaRPr lang="en-CA"/>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Book, code and packages</a:t>
            </a:r>
          </a:p>
        </p:txBody>
      </p:sp>
      <p:sp>
        <p:nvSpPr>
          <p:cNvPr id="3" name="Content Placeholder 2"/>
          <p:cNvSpPr>
            <a:spLocks noGrp="1"/>
          </p:cNvSpPr>
          <p:nvPr>
            <p:ph sz="half" idx="1"/>
          </p:nvPr>
        </p:nvSpPr>
        <p:spPr/>
        <p:txBody>
          <a:bodyPr/>
          <a:lstStyle/>
          <a:p>
            <a:r>
              <a:rPr dirty="0"/>
              <a:t>Online version: </a:t>
            </a:r>
            <a:r>
              <a:rPr dirty="0">
                <a:hlinkClick r:id="rId3"/>
              </a:rPr>
              <a:t>friendly.github.io/Vis-MLM-book</a:t>
            </a:r>
            <a:endParaRPr dirty="0"/>
          </a:p>
          <a:p>
            <a:r>
              <a:rPr dirty="0"/>
              <a:t>Source and R code: </a:t>
            </a:r>
            <a:r>
              <a:rPr dirty="0">
                <a:hlinkClick r:id="rId3"/>
              </a:rPr>
              <a:t>github.com/</a:t>
            </a:r>
            <a:r>
              <a:rPr dirty="0" err="1">
                <a:hlinkClick r:id="rId3"/>
              </a:rPr>
              <a:t>friendly/vis-MLM-book</a:t>
            </a:r>
            <a:endParaRPr dirty="0"/>
          </a:p>
          <a:p>
            <a:r>
              <a:rPr dirty="0"/>
              <a:t>R packages: </a:t>
            </a:r>
            <a:r>
              <a:rPr dirty="0" err="1"/>
              <a:t>heplots</a:t>
            </a:r>
            <a:r>
              <a:rPr dirty="0"/>
              <a:t>, </a:t>
            </a:r>
            <a:r>
              <a:rPr dirty="0" err="1"/>
              <a:t>candisc</a:t>
            </a:r>
            <a:r>
              <a:rPr dirty="0"/>
              <a:t>, </a:t>
            </a:r>
            <a:r>
              <a:rPr dirty="0" err="1"/>
              <a:t>mvinfluence</a:t>
            </a:r>
            <a:r>
              <a:rPr dirty="0"/>
              <a:t>, </a:t>
            </a:r>
            <a:r>
              <a:rPr dirty="0" err="1"/>
              <a:t>genridge</a:t>
            </a:r>
            <a:r>
              <a:rPr lang="en-CA" dirty="0"/>
              <a:t>, </a:t>
            </a:r>
            <a:r>
              <a:rPr lang="en-CA" dirty="0" err="1"/>
              <a:t>VisCollin</a:t>
            </a:r>
            <a:endParaRPr dirty="0"/>
          </a:p>
          <a:p>
            <a:r>
              <a:rPr dirty="0"/>
              <a:t>To appear with CRC Press / Chapman &amp; Hall</a:t>
            </a:r>
            <a:r>
              <a:rPr lang="en-CA" dirty="0"/>
              <a:t>, 2027</a:t>
            </a:r>
            <a:endParaRPr dirty="0"/>
          </a:p>
        </p:txBody>
      </p:sp>
      <p:pic>
        <p:nvPicPr>
          <p:cNvPr id="4" name="Picture 3" descr="cover-peng.jpg"/>
          <p:cNvPicPr>
            <a:picLocks noChangeAspect="1"/>
          </p:cNvPicPr>
          <p:nvPr/>
        </p:nvPicPr>
        <p:blipFill>
          <a:blip r:embed="rId4"/>
          <a:stretch>
            <a:fillRect/>
          </a:stretch>
        </p:blipFill>
        <p:spPr>
          <a:xfrm>
            <a:off x="8051923" y="1197734"/>
            <a:ext cx="3530477" cy="4858555"/>
          </a:xfrm>
          <a:prstGeom prst="rect">
            <a:avLst/>
          </a:prstGeom>
        </p:spPr>
      </p:pic>
      <p:sp>
        <p:nvSpPr>
          <p:cNvPr id="5" name="Slide Number Placeholder 5"/>
          <p:cNvSpPr>
            <a:spLocks noGrp="1"/>
          </p:cNvSpPr>
          <p:nvPr>
            <p:ph type="sldNum" sz="quarter" idx="12"/>
          </p:nvPr>
        </p:nvSpPr>
        <p:spPr/>
        <p:txBody>
          <a:bodyPr/>
          <a:lstStyle/>
          <a:p>
            <a:fld id="{9BFB2853-4965-4727-91C4-384EB30D99A4}" type="slidenum">
              <a:rPr lang="en-CA"/>
              <a:t>62</a:t>
            </a:fld>
            <a:endParaRPr lang="en-CA"/>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0" y="2103120"/>
            <a:ext cx="4754880" cy="2651760"/>
          </a:xfrm>
        </p:spPr>
        <p:txBody>
          <a:bodyPr anchor="ctr"/>
          <a:lstStyle/>
          <a:p>
            <a:r>
              <a:t>Questions?</a:t>
            </a:r>
            <a:br/>
            <a:r>
              <a:t>Discussion?</a:t>
            </a:r>
          </a:p>
        </p:txBody>
      </p:sp>
      <p:pic>
        <p:nvPicPr>
          <p:cNvPr id="4" name="Thank you (animated)" descr="thank-you.gif"/>
          <p:cNvPicPr>
            <a:picLocks noChangeAspect="1"/>
          </p:cNvPicPr>
          <p:nvPr/>
        </p:nvPicPr>
        <p:blipFill>
          <a:blip r:embed="rId2"/>
          <a:stretch>
            <a:fillRect/>
          </a:stretch>
        </p:blipFill>
        <p:spPr>
          <a:xfrm>
            <a:off x="822960" y="731520"/>
            <a:ext cx="5394960" cy="5394960"/>
          </a:xfrm>
          <a:prstGeom prst="rect">
            <a:avLst/>
          </a:prstGeom>
        </p:spPr>
      </p:pic>
      <p:sp>
        <p:nvSpPr>
          <p:cNvPr id="5" name="Slide Number Placeholder 5"/>
          <p:cNvSpPr>
            <a:spLocks noGrp="1"/>
          </p:cNvSpPr>
          <p:nvPr>
            <p:ph type="sldNum" sz="quarter" idx="12"/>
          </p:nvPr>
        </p:nvSpPr>
        <p:spPr/>
        <p:txBody>
          <a:bodyPr/>
          <a:lstStyle/>
          <a:p>
            <a:fld id="{9BFB2853-4965-4727-91C4-384EB30D99A4}" type="slidenum">
              <a:rPr lang="en-CA"/>
              <a:t>63</a:t>
            </a:fld>
            <a:endParaRPr lang="en-CA"/>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regression quartet</a:t>
            </a:r>
          </a:p>
        </p:txBody>
      </p:sp>
      <p:sp>
        <p:nvSpPr>
          <p:cNvPr id="3" name="Content Placeholder 2"/>
          <p:cNvSpPr>
            <a:spLocks noGrp="1"/>
          </p:cNvSpPr>
          <p:nvPr>
            <p:ph sz="half" idx="1"/>
          </p:nvPr>
        </p:nvSpPr>
        <p:spPr/>
        <p:txBody>
          <a:bodyPr/>
          <a:lstStyle/>
          <a:p>
            <a:r>
              <a:rPr dirty="0"/>
              <a:t>Residuals vs. fitted: nonlinearity</a:t>
            </a:r>
          </a:p>
          <a:p>
            <a:r>
              <a:rPr dirty="0"/>
              <a:t>Normal QQ: distribution of residuals</a:t>
            </a:r>
          </a:p>
          <a:p>
            <a:r>
              <a:rPr dirty="0"/>
              <a:t>Scale-location: non-constant variance</a:t>
            </a:r>
          </a:p>
          <a:p>
            <a:r>
              <a:rPr dirty="0"/>
              <a:t>Residuals vs. leverage: influential cases</a:t>
            </a:r>
          </a:p>
        </p:txBody>
      </p:sp>
      <p:pic>
        <p:nvPicPr>
          <p:cNvPr id="4" name="Picture 3" descr="fig-duncan-plot-model-1.png"/>
          <p:cNvPicPr>
            <a:picLocks noChangeAspect="1"/>
          </p:cNvPicPr>
          <p:nvPr/>
        </p:nvPicPr>
        <p:blipFill>
          <a:blip r:embed="rId3"/>
          <a:stretch>
            <a:fillRect/>
          </a:stretch>
        </p:blipFill>
        <p:spPr>
          <a:xfrm>
            <a:off x="6172200" y="1903780"/>
            <a:ext cx="5184648" cy="4147718"/>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7.2</a:t>
            </a:r>
          </a:p>
        </p:txBody>
      </p:sp>
      <p:sp>
        <p:nvSpPr>
          <p:cNvPr id="6" name="Slide Number Placeholder 6"/>
          <p:cNvSpPr>
            <a:spLocks noGrp="1"/>
          </p:cNvSpPr>
          <p:nvPr>
            <p:ph type="sldNum" sz="quarter" idx="12"/>
          </p:nvPr>
        </p:nvSpPr>
        <p:spPr/>
        <p:txBody>
          <a:bodyPr/>
          <a:lstStyle/>
          <a:p>
            <a:fld id="{9BFB2853-4965-4727-91C4-384EB30D99A4}" type="slidenum">
              <a:rPr lang="en-CA"/>
              <a:t>64</a:t>
            </a:fld>
            <a:endParaRPr lang="en-CA"/>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Coefficient plots: show the estimates, not a table</a:t>
            </a:r>
          </a:p>
        </p:txBody>
      </p:sp>
      <p:sp>
        <p:nvSpPr>
          <p:cNvPr id="3" name="Content Placeholder 2"/>
          <p:cNvSpPr>
            <a:spLocks noGrp="1"/>
          </p:cNvSpPr>
          <p:nvPr>
            <p:ph sz="half" idx="1"/>
          </p:nvPr>
        </p:nvSpPr>
        <p:spPr/>
        <p:txBody>
          <a:bodyPr/>
          <a:lstStyle/>
          <a:p>
            <a:r>
              <a:t>Estimates with confidence intervals</a:t>
            </a:r>
          </a:p>
          <a:p>
            <a:r>
              <a:t>Standardize, or the scales of the predictors dominate the picture</a:t>
            </a:r>
          </a:p>
          <a:p>
            <a:r>
              <a:t>Easy to compare several models</a:t>
            </a:r>
          </a:p>
        </p:txBody>
      </p:sp>
      <p:pic>
        <p:nvPicPr>
          <p:cNvPr id="4" name="Picture 3" descr="fig-modelplot3-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7.7</a:t>
            </a:r>
          </a:p>
        </p:txBody>
      </p:sp>
      <p:sp>
        <p:nvSpPr>
          <p:cNvPr id="6" name="Slide Number Placeholder 6"/>
          <p:cNvSpPr>
            <a:spLocks noGrp="1"/>
          </p:cNvSpPr>
          <p:nvPr>
            <p:ph type="sldNum" sz="quarter" idx="12"/>
          </p:nvPr>
        </p:nvSpPr>
        <p:spPr/>
        <p:txBody>
          <a:bodyPr/>
          <a:lstStyle/>
          <a:p>
            <a:fld id="{9BFB2853-4965-4727-91C4-384EB30D99A4}" type="slidenum">
              <a:rPr lang="en-CA"/>
              <a:t>65</a:t>
            </a:fld>
            <a:endParaRPr lang="en-CA"/>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Effect displays: what the model predicts</a:t>
            </a:r>
          </a:p>
        </p:txBody>
      </p:sp>
      <p:pic>
        <p:nvPicPr>
          <p:cNvPr id="3" name="Picture 2" descr="prestige-allEffects.png"/>
          <p:cNvPicPr>
            <a:picLocks noChangeAspect="1"/>
          </p:cNvPicPr>
          <p:nvPr/>
        </p:nvPicPr>
        <p:blipFill>
          <a:blip r:embed="rId3"/>
          <a:stretch>
            <a:fillRect/>
          </a:stretch>
        </p:blipFill>
        <p:spPr>
          <a:xfrm>
            <a:off x="1058125" y="1691640"/>
            <a:ext cx="10081846"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Fitted values for each predictor, averaging over the others.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7.17</a:t>
            </a:r>
          </a:p>
        </p:txBody>
      </p:sp>
      <p:sp>
        <p:nvSpPr>
          <p:cNvPr id="6" name="Slide Number Placeholder 6"/>
          <p:cNvSpPr>
            <a:spLocks noGrp="1"/>
          </p:cNvSpPr>
          <p:nvPr>
            <p:ph type="sldNum" sz="quarter" idx="12"/>
          </p:nvPr>
        </p:nvSpPr>
        <p:spPr/>
        <p:txBody>
          <a:bodyPr/>
          <a:lstStyle/>
          <a:p>
            <a:fld id="{9BFB2853-4965-4727-91C4-384EB30D99A4}" type="slidenum">
              <a:rPr lang="en-CA"/>
              <a:t>66</a:t>
            </a:fld>
            <a:endParaRPr lang="en-CA"/>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Collinearity and ridge regression</a:t>
            </a:r>
          </a:p>
        </p:txBody>
      </p:sp>
      <p:sp>
        <p:nvSpPr>
          <p:cNvPr id="3" name="Text Placeholder 2"/>
          <p:cNvSpPr>
            <a:spLocks noGrp="1"/>
          </p:cNvSpPr>
          <p:nvPr>
            <p:ph type="body" idx="1"/>
          </p:nvPr>
        </p:nvSpPr>
        <p:spPr/>
        <p:txBody>
          <a:bodyPr/>
          <a:lstStyle/>
          <a:p>
            <a:r>
              <a:t>Seeing the problem, and seeing the remedy</a:t>
            </a:r>
          </a:p>
        </p:txBody>
      </p:sp>
      <p:sp>
        <p:nvSpPr>
          <p:cNvPr id="4" name="Slide Number Placeholder 4"/>
          <p:cNvSpPr>
            <a:spLocks noGrp="1"/>
          </p:cNvSpPr>
          <p:nvPr>
            <p:ph type="sldNum" sz="quarter" idx="12"/>
          </p:nvPr>
        </p:nvSpPr>
        <p:spPr/>
        <p:txBody>
          <a:bodyPr/>
          <a:lstStyle/>
          <a:p>
            <a:fld id="{9BFB2853-4965-4727-91C4-384EB30D99A4}" type="slidenum">
              <a:rPr lang="en-CA"/>
              <a:t>67</a:t>
            </a:fld>
            <a:endParaRPr lang="en-CA"/>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Collinearity: narrow data</a:t>
            </a:r>
            <a:r>
              <a:rPr lang="en-CA" dirty="0"/>
              <a:t> </a:t>
            </a:r>
            <a:r>
              <a:rPr lang="en-CA" dirty="0">
                <a:sym typeface="Symbol" panose="05050102010706020507" pitchFamily="18" charset="2"/>
              </a:rPr>
              <a:t> increased </a:t>
            </a:r>
            <a:r>
              <a:rPr dirty="0"/>
              <a:t>uncertainty</a:t>
            </a:r>
          </a:p>
        </p:txBody>
      </p:sp>
      <p:pic>
        <p:nvPicPr>
          <p:cNvPr id="3" name="Picture 2" descr="fig-collin-data-beta-1.png"/>
          <p:cNvPicPr>
            <a:picLocks noChangeAspect="1"/>
          </p:cNvPicPr>
          <p:nvPr/>
        </p:nvPicPr>
        <p:blipFill>
          <a:blip r:embed="rId3"/>
          <a:stretch>
            <a:fillRect/>
          </a:stretch>
        </p:blipFill>
        <p:spPr>
          <a:xfrm>
            <a:off x="1757548" y="1677900"/>
            <a:ext cx="6229674" cy="4449767"/>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9.4</a:t>
            </a:r>
          </a:p>
        </p:txBody>
      </p:sp>
      <p:sp>
        <p:nvSpPr>
          <p:cNvPr id="6" name="TextBox 5">
            <a:extLst>
              <a:ext uri="{FF2B5EF4-FFF2-40B4-BE49-F238E27FC236}">
                <a16:creationId xmlns:a16="http://schemas.microsoft.com/office/drawing/2014/main" id="{9202E317-6E5D-AE86-6A53-062E16921753}"/>
              </a:ext>
            </a:extLst>
          </p:cNvPr>
          <p:cNvSpPr txBox="1"/>
          <p:nvPr/>
        </p:nvSpPr>
        <p:spPr>
          <a:xfrm>
            <a:off x="8158348" y="1828800"/>
            <a:ext cx="3503221" cy="1200329"/>
          </a:xfrm>
          <a:prstGeom prst="rect">
            <a:avLst/>
          </a:prstGeom>
          <a:noFill/>
        </p:spPr>
        <p:txBody>
          <a:bodyPr wrap="square" rtlCol="0">
            <a:spAutoFit/>
          </a:bodyPr>
          <a:lstStyle/>
          <a:p>
            <a:r>
              <a:rPr lang="en-CA" dirty="0"/>
              <a:t>As the predictors become more correlated, </a:t>
            </a:r>
          </a:p>
          <a:p>
            <a:pPr marL="285750" indent="-285750">
              <a:buFont typeface="Arial" panose="020B0604020202020204" pitchFamily="34" charset="0"/>
              <a:buChar char="•"/>
            </a:pPr>
            <a:r>
              <a:rPr lang="en-CA" dirty="0"/>
              <a:t>data ellipse narrows</a:t>
            </a:r>
          </a:p>
          <a:p>
            <a:pPr marL="285750" indent="-285750">
              <a:buFont typeface="Arial" panose="020B0604020202020204" pitchFamily="34" charset="0"/>
              <a:buChar char="•"/>
            </a:pPr>
            <a:r>
              <a:rPr lang="en-CA" dirty="0"/>
              <a:t>confidence ellipse balloons.</a:t>
            </a:r>
          </a:p>
        </p:txBody>
      </p:sp>
      <p:sp>
        <p:nvSpPr>
          <p:cNvPr id="7" name="TextBox 6">
            <a:extLst>
              <a:ext uri="{FF2B5EF4-FFF2-40B4-BE49-F238E27FC236}">
                <a16:creationId xmlns:a16="http://schemas.microsoft.com/office/drawing/2014/main" id="{E423839C-5377-FA4D-663D-00A64750B8C0}"/>
              </a:ext>
            </a:extLst>
          </p:cNvPr>
          <p:cNvSpPr txBox="1"/>
          <p:nvPr/>
        </p:nvSpPr>
        <p:spPr>
          <a:xfrm rot="16200000">
            <a:off x="168535" y="2452782"/>
            <a:ext cx="1803820" cy="369332"/>
          </a:xfrm>
          <a:prstGeom prst="rect">
            <a:avLst/>
          </a:prstGeom>
          <a:solidFill>
            <a:schemeClr val="accent6">
              <a:alpha val="40000"/>
            </a:schemeClr>
          </a:solidFill>
        </p:spPr>
        <p:txBody>
          <a:bodyPr wrap="square" rtlCol="0">
            <a:spAutoFit/>
          </a:bodyPr>
          <a:lstStyle/>
          <a:p>
            <a:pPr algn="ctr"/>
            <a:r>
              <a:rPr lang="en-CA" dirty="0"/>
              <a:t>Data space</a:t>
            </a:r>
          </a:p>
        </p:txBody>
      </p:sp>
      <p:sp>
        <p:nvSpPr>
          <p:cNvPr id="9" name="TextBox 8">
            <a:extLst>
              <a:ext uri="{FF2B5EF4-FFF2-40B4-BE49-F238E27FC236}">
                <a16:creationId xmlns:a16="http://schemas.microsoft.com/office/drawing/2014/main" id="{1209B9AA-2C34-7F8B-5AFA-AA8DCCD727AD}"/>
              </a:ext>
            </a:extLst>
          </p:cNvPr>
          <p:cNvSpPr txBox="1"/>
          <p:nvPr/>
        </p:nvSpPr>
        <p:spPr>
          <a:xfrm rot="16200000">
            <a:off x="96667" y="4691894"/>
            <a:ext cx="1947554" cy="369332"/>
          </a:xfrm>
          <a:prstGeom prst="rect">
            <a:avLst/>
          </a:prstGeom>
          <a:solidFill>
            <a:srgbClr val="FF0000">
              <a:alpha val="40000"/>
            </a:srgbClr>
          </a:solidFill>
        </p:spPr>
        <p:txBody>
          <a:bodyPr wrap="square" rtlCol="0">
            <a:spAutoFit/>
          </a:bodyPr>
          <a:lstStyle/>
          <a:p>
            <a:pPr algn="ctr"/>
            <a:r>
              <a:rPr lang="el-GR" b="1" dirty="0">
                <a:latin typeface="Cambria Math" panose="02040503050406030204" pitchFamily="18" charset="0"/>
                <a:ea typeface="Cambria Math" panose="02040503050406030204" pitchFamily="18" charset="0"/>
              </a:rPr>
              <a:t>β</a:t>
            </a:r>
            <a:r>
              <a:rPr lang="en-CA" dirty="0"/>
              <a:t> space</a:t>
            </a:r>
          </a:p>
        </p:txBody>
      </p:sp>
      <p:sp>
        <p:nvSpPr>
          <p:cNvPr id="10" name="Slide Number Placeholder 10"/>
          <p:cNvSpPr>
            <a:spLocks noGrp="1"/>
          </p:cNvSpPr>
          <p:nvPr>
            <p:ph type="sldNum" sz="quarter" idx="12"/>
          </p:nvPr>
        </p:nvSpPr>
        <p:spPr/>
        <p:txBody>
          <a:bodyPr/>
          <a:lstStyle/>
          <a:p>
            <a:fld id="{9BFB2853-4965-4727-91C4-384EB30D99A4}" type="slidenum">
              <a:rPr lang="en-CA"/>
              <a:t>68</a:t>
            </a:fld>
            <a:endParaRPr lang="en-CA"/>
          </a:p>
        </p:txBody>
      </p:sp>
    </p:spTree>
    <p:extLst>
      <p:ext uri="{BB962C8B-B14F-4D97-AF65-F5344CB8AC3E}">
        <p14:creationId xmlns:p14="http://schemas.microsoft.com/office/powerpoint/2010/main" val="25517956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Application: </a:t>
            </a:r>
            <a:r>
              <a:rPr lang="en-CA" dirty="0"/>
              <a:t>effect </a:t>
            </a:r>
            <a:r>
              <a:rPr dirty="0"/>
              <a:t>ordering variables in displays</a:t>
            </a:r>
          </a:p>
        </p:txBody>
      </p:sp>
      <p:pic>
        <p:nvPicPr>
          <p:cNvPr id="3" name="Picture 2" descr="fig-mtcars-corrplot-varorder-1.png"/>
          <p:cNvPicPr>
            <a:picLocks noChangeAspect="1"/>
          </p:cNvPicPr>
          <p:nvPr/>
        </p:nvPicPr>
        <p:blipFill>
          <a:blip r:embed="rId3"/>
          <a:stretch>
            <a:fillRect/>
          </a:stretch>
        </p:blipFill>
        <p:spPr>
          <a:xfrm>
            <a:off x="1435607" y="1691640"/>
            <a:ext cx="3931920" cy="3931920"/>
          </a:xfrm>
          <a:prstGeom prst="rect">
            <a:avLst/>
          </a:prstGeom>
        </p:spPr>
      </p:pic>
      <p:pic>
        <p:nvPicPr>
          <p:cNvPr id="4" name="Picture 3" descr="fig-mtcars-corrplot-pcaorder-1.png"/>
          <p:cNvPicPr>
            <a:picLocks noChangeAspect="1"/>
          </p:cNvPicPr>
          <p:nvPr/>
        </p:nvPicPr>
        <p:blipFill>
          <a:blip r:embed="rId4"/>
          <a:stretch>
            <a:fillRect/>
          </a:stretch>
        </p:blipFill>
        <p:spPr>
          <a:xfrm>
            <a:off x="6830568" y="1691640"/>
            <a:ext cx="3931920" cy="393192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The same correlations of the mtcars data: in dataset order (left) and in PCA order (right).</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5.27, 5.29</a:t>
            </a:r>
          </a:p>
        </p:txBody>
      </p:sp>
      <p:sp>
        <p:nvSpPr>
          <p:cNvPr id="7" name="Slide Number Placeholder 7"/>
          <p:cNvSpPr>
            <a:spLocks noGrp="1"/>
          </p:cNvSpPr>
          <p:nvPr>
            <p:ph type="sldNum" sz="quarter" idx="12"/>
          </p:nvPr>
        </p:nvSpPr>
        <p:spPr/>
        <p:txBody>
          <a:bodyPr/>
          <a:lstStyle/>
          <a:p>
            <a:fld id="{9BFB2853-4965-4727-91C4-384EB30D99A4}" type="slidenum">
              <a:rPr lang="en-CA"/>
              <a:t>69</a:t>
            </a:fld>
            <a:endParaRPr lang="en-CA"/>
          </a:p>
        </p:txBody>
      </p:sp>
    </p:spTree>
    <p:extLst>
      <p:ext uri="{BB962C8B-B14F-4D97-AF65-F5344CB8AC3E}">
        <p14:creationId xmlns:p14="http://schemas.microsoft.com/office/powerpoint/2010/main" val="27878202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Measurement error for β</a:t>
            </a:r>
            <a:r>
              <a:rPr lang="en-US" baseline="-25000" dirty="0"/>
              <a:t>1</a:t>
            </a:r>
            <a:r>
              <a:rPr lang="en-US" dirty="0"/>
              <a:t> also biases </a:t>
            </a:r>
            <a:r>
              <a:rPr lang="el-GR" dirty="0"/>
              <a:t>β</a:t>
            </a:r>
            <a:r>
              <a:rPr lang="en-CA" baseline="-25000" dirty="0"/>
              <a:t>2</a:t>
            </a:r>
            <a:endParaRPr lang="en-US" baseline="-25000" dirty="0"/>
          </a:p>
        </p:txBody>
      </p:sp>
      <p:sp>
        <p:nvSpPr>
          <p:cNvPr id="6" name="Content Placeholder 5"/>
          <p:cNvSpPr>
            <a:spLocks noGrp="1"/>
          </p:cNvSpPr>
          <p:nvPr>
            <p:ph sz="half" idx="2"/>
          </p:nvPr>
        </p:nvSpPr>
        <p:spPr>
          <a:xfrm>
            <a:off x="5755754" y="1508125"/>
            <a:ext cx="5889978" cy="4533900"/>
          </a:xfrm>
        </p:spPr>
        <p:txBody>
          <a:bodyPr/>
          <a:lstStyle/>
          <a:p>
            <a:r>
              <a:rPr lang="en-US" dirty="0"/>
              <a:t>As error in Stress increases, </a:t>
            </a:r>
            <a:r>
              <a:rPr lang="el-GR" dirty="0"/>
              <a:t>β</a:t>
            </a:r>
            <a:r>
              <a:rPr lang="en-US" baseline="-25000" dirty="0"/>
              <a:t>Stress</a:t>
            </a:r>
            <a:r>
              <a:rPr lang="en-US" dirty="0"/>
              <a:t> </a:t>
            </a:r>
            <a:r>
              <a:rPr lang="en-US" dirty="0">
                <a:sym typeface="Symbol"/>
              </a:rPr>
              <a:t> 0 . </a:t>
            </a:r>
          </a:p>
          <a:p>
            <a:pPr lvl="1"/>
            <a:r>
              <a:rPr lang="en-US" dirty="0">
                <a:sym typeface="Symbol"/>
              </a:rPr>
              <a:t>OK, understand that now.</a:t>
            </a:r>
          </a:p>
          <a:p>
            <a:r>
              <a:rPr lang="en-US" dirty="0">
                <a:sym typeface="Symbol"/>
              </a:rPr>
              <a:t>But, at the same time, the effect of coffee, </a:t>
            </a:r>
            <a:r>
              <a:rPr lang="el-GR" dirty="0"/>
              <a:t>β</a:t>
            </a:r>
            <a:r>
              <a:rPr lang="en-US" baseline="-25000" dirty="0"/>
              <a:t>Coffee</a:t>
            </a:r>
            <a:r>
              <a:rPr lang="en-US" dirty="0"/>
              <a:t> seems to  become </a:t>
            </a:r>
            <a:r>
              <a:rPr lang="en-US" dirty="0">
                <a:solidFill>
                  <a:srgbClr val="FF0000"/>
                </a:solidFill>
              </a:rPr>
              <a:t>larger</a:t>
            </a:r>
            <a:r>
              <a:rPr lang="en-US" dirty="0"/>
              <a:t>!</a:t>
            </a:r>
          </a:p>
          <a:p>
            <a:r>
              <a:rPr lang="en-US" dirty="0"/>
              <a:t>Elliptical insight:</a:t>
            </a:r>
          </a:p>
          <a:p>
            <a:pPr lvl="1"/>
            <a:r>
              <a:rPr lang="en-US" dirty="0"/>
              <a:t>Increasing error in x</a:t>
            </a:r>
            <a:r>
              <a:rPr lang="en-US" baseline="-25000" dirty="0"/>
              <a:t>2</a:t>
            </a:r>
            <a:r>
              <a:rPr lang="en-US" dirty="0"/>
              <a:t> drives coefficient for x</a:t>
            </a:r>
            <a:r>
              <a:rPr lang="en-US" baseline="-25000" dirty="0"/>
              <a:t>1</a:t>
            </a:r>
            <a:r>
              <a:rPr lang="en-US" dirty="0"/>
              <a:t> toward the marginal model, ignoring x</a:t>
            </a:r>
            <a:r>
              <a:rPr lang="en-US" baseline="-25000" dirty="0"/>
              <a:t>2</a:t>
            </a:r>
            <a:endParaRPr lang="en-US" dirty="0"/>
          </a:p>
          <a:p>
            <a:pPr lvl="1"/>
            <a:r>
              <a:rPr lang="en-US" dirty="0"/>
              <a:t>You can also see that the std. errors of </a:t>
            </a:r>
            <a:r>
              <a:rPr lang="el-GR" dirty="0"/>
              <a:t>β</a:t>
            </a:r>
            <a:r>
              <a:rPr lang="en-US" baseline="-25000" dirty="0"/>
              <a:t>Coffee</a:t>
            </a:r>
            <a:r>
              <a:rPr lang="en-US" dirty="0"/>
              <a:t> </a:t>
            </a:r>
            <a:r>
              <a:rPr lang="en-US" dirty="0">
                <a:solidFill>
                  <a:srgbClr val="FF0000"/>
                </a:solidFill>
              </a:rPr>
              <a:t>decrease</a:t>
            </a:r>
            <a:r>
              <a:rPr lang="en-US" dirty="0"/>
              <a:t> with error in Stress!</a:t>
            </a:r>
          </a:p>
        </p:txBody>
      </p:sp>
      <p:pic>
        <p:nvPicPr>
          <p:cNvPr id="8" name="Content Placeholder 7"/>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546268" y="1426281"/>
            <a:ext cx="4971667" cy="4956870"/>
          </a:xfrm>
        </p:spPr>
      </p:pic>
      <p:sp>
        <p:nvSpPr>
          <p:cNvPr id="9" name="Slide Number Placeholder 9"/>
          <p:cNvSpPr>
            <a:spLocks noGrp="1"/>
          </p:cNvSpPr>
          <p:nvPr>
            <p:ph type="sldNum" sz="quarter" idx="12"/>
          </p:nvPr>
        </p:nvSpPr>
        <p:spPr/>
        <p:txBody>
          <a:bodyPr/>
          <a:lstStyle/>
          <a:p>
            <a:fld id="{9BFB2853-4965-4727-91C4-384EB30D99A4}" type="slidenum">
              <a:rPr lang="en-CA"/>
              <a:t>70</a:t>
            </a:fld>
            <a:endParaRPr lang="en-CA"/>
          </a:p>
        </p:txBody>
      </p:sp>
    </p:spTree>
    <p:extLst>
      <p:ext uri="{BB962C8B-B14F-4D97-AF65-F5344CB8AC3E}">
        <p14:creationId xmlns:p14="http://schemas.microsoft.com/office/powerpoint/2010/main" val="37043365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6510"/>
          </a:xfrm>
        </p:spPr>
        <p:txBody>
          <a:bodyPr/>
          <a:lstStyle/>
          <a:p>
            <a:r>
              <a:rPr dirty="0"/>
              <a:t>Added-variable plots show partial relationships</a:t>
            </a:r>
          </a:p>
        </p:txBody>
      </p:sp>
      <p:pic>
        <p:nvPicPr>
          <p:cNvPr id="3" name="Picture 2" descr="fig-coffee-mcplot-1.png"/>
          <p:cNvPicPr>
            <a:picLocks noChangeAspect="1"/>
          </p:cNvPicPr>
          <p:nvPr/>
        </p:nvPicPr>
        <p:blipFill>
          <a:blip r:embed="rId3"/>
          <a:stretch>
            <a:fillRect/>
          </a:stretch>
        </p:blipFill>
        <p:spPr>
          <a:xfrm>
            <a:off x="835152" y="2080260"/>
            <a:ext cx="6740434" cy="39319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7.12</a:t>
            </a:r>
          </a:p>
        </p:txBody>
      </p:sp>
      <p:sp>
        <p:nvSpPr>
          <p:cNvPr id="6" name="TextBox 5">
            <a:extLst>
              <a:ext uri="{FF2B5EF4-FFF2-40B4-BE49-F238E27FC236}">
                <a16:creationId xmlns:a16="http://schemas.microsoft.com/office/drawing/2014/main" id="{38A66034-0C18-89BA-CA9F-F30478798D03}"/>
              </a:ext>
            </a:extLst>
          </p:cNvPr>
          <p:cNvSpPr txBox="1"/>
          <p:nvPr/>
        </p:nvSpPr>
        <p:spPr>
          <a:xfrm>
            <a:off x="7799294" y="1919683"/>
            <a:ext cx="3778624" cy="4062651"/>
          </a:xfrm>
          <a:prstGeom prst="rect">
            <a:avLst/>
          </a:prstGeom>
          <a:noFill/>
        </p:spPr>
        <p:txBody>
          <a:bodyPr wrap="square" rtlCol="0">
            <a:spAutoFit/>
          </a:bodyPr>
          <a:lstStyle/>
          <a:p>
            <a:r>
              <a:rPr lang="en-CA" sz="2000" dirty="0"/>
              <a:t>Coffee, stress and heart damage:</a:t>
            </a:r>
          </a:p>
          <a:p>
            <a:endParaRPr lang="en-CA" sz="2000" dirty="0"/>
          </a:p>
          <a:p>
            <a:r>
              <a:rPr lang="en-CA" sz="2000" dirty="0"/>
              <a:t>Marginal &amp; partial slopes for coffee have opposite signs.</a:t>
            </a:r>
          </a:p>
          <a:p>
            <a:pPr marL="285750" indent="-285750">
              <a:buFont typeface="Symbol" panose="05050102010706020507" pitchFamily="18" charset="2"/>
              <a:buChar char="®"/>
            </a:pPr>
            <a:r>
              <a:rPr lang="en-CA" sz="2000" dirty="0">
                <a:sym typeface="Symbol" panose="05050102010706020507" pitchFamily="18" charset="2"/>
              </a:rPr>
              <a:t>Coffee is good, controlling for stress</a:t>
            </a:r>
          </a:p>
          <a:p>
            <a:pPr marL="285750" indent="-285750">
              <a:buFont typeface="Symbol" panose="05050102010706020507" pitchFamily="18" charset="2"/>
              <a:buChar char="®"/>
            </a:pPr>
            <a:endParaRPr lang="en-CA" sz="2000" dirty="0">
              <a:sym typeface="Symbol" panose="05050102010706020507" pitchFamily="18" charset="2"/>
            </a:endParaRPr>
          </a:p>
          <a:p>
            <a:r>
              <a:rPr lang="en-CA" sz="2000" dirty="0">
                <a:sym typeface="Symbol" panose="05050102010706020507" pitchFamily="18" charset="2"/>
              </a:rPr>
              <a:t>Slopes are similar for stress, but steeper when controlled for coffee</a:t>
            </a:r>
          </a:p>
          <a:p>
            <a:r>
              <a:rPr lang="en-CA" sz="2000" dirty="0">
                <a:sym typeface="Symbol" panose="05050102010706020507" pitchFamily="18" charset="2"/>
              </a:rPr>
              <a:t> Practice yoga at Starbucks?</a:t>
            </a:r>
            <a:endParaRPr lang="en-CA" sz="2000" dirty="0"/>
          </a:p>
          <a:p>
            <a:endParaRPr lang="en-CA" dirty="0"/>
          </a:p>
        </p:txBody>
      </p:sp>
      <p:sp>
        <p:nvSpPr>
          <p:cNvPr id="8" name="TextBox 7">
            <a:extLst>
              <a:ext uri="{FF2B5EF4-FFF2-40B4-BE49-F238E27FC236}">
                <a16:creationId xmlns:a16="http://schemas.microsoft.com/office/drawing/2014/main" id="{CDCFB3D1-79C1-9DAA-A981-BF792B698752}"/>
              </a:ext>
            </a:extLst>
          </p:cNvPr>
          <p:cNvSpPr txBox="1"/>
          <p:nvPr/>
        </p:nvSpPr>
        <p:spPr>
          <a:xfrm>
            <a:off x="835152" y="1195004"/>
            <a:ext cx="10408024" cy="369332"/>
          </a:xfrm>
          <a:prstGeom prst="rect">
            <a:avLst/>
          </a:prstGeom>
          <a:noFill/>
        </p:spPr>
        <p:txBody>
          <a:bodyPr wrap="square" rtlCol="0">
            <a:spAutoFit/>
          </a:bodyPr>
          <a:lstStyle/>
          <a:p>
            <a:r>
              <a:rPr lang="en-CA" dirty="0"/>
              <a:t>Control/adjust for all others to see the net relationship between Y and X</a:t>
            </a:r>
            <a:r>
              <a:rPr lang="en-CA" baseline="-25000" dirty="0"/>
              <a:t>i</a:t>
            </a:r>
          </a:p>
        </p:txBody>
      </p:sp>
      <p:sp>
        <p:nvSpPr>
          <p:cNvPr id="9" name="Slide Number Placeholder 9"/>
          <p:cNvSpPr>
            <a:spLocks noGrp="1"/>
          </p:cNvSpPr>
          <p:nvPr>
            <p:ph type="sldNum" sz="quarter" idx="12"/>
          </p:nvPr>
        </p:nvSpPr>
        <p:spPr/>
        <p:txBody>
          <a:bodyPr/>
          <a:lstStyle/>
          <a:p>
            <a:fld id="{9BFB2853-4965-4727-91C4-384EB30D99A4}" type="slidenum">
              <a:rPr lang="en-CA"/>
              <a:t>71</a:t>
            </a:fld>
            <a:endParaRPr lang="en-CA"/>
          </a:p>
        </p:txBody>
      </p:sp>
    </p:spTree>
    <p:extLst>
      <p:ext uri="{BB962C8B-B14F-4D97-AF65-F5344CB8AC3E}">
        <p14:creationId xmlns:p14="http://schemas.microsoft.com/office/powerpoint/2010/main" val="21316050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Leverage and influence</a:t>
            </a:r>
            <a:r>
              <a:rPr lang="en-CA" dirty="0"/>
              <a:t>: </a:t>
            </a:r>
            <a:r>
              <a:rPr lang="en-CA" sz="2800" dirty="0">
                <a:latin typeface="Courier New" panose="02070309020205020404" pitchFamily="49" charset="0"/>
                <a:cs typeface="Courier New" panose="02070309020205020404" pitchFamily="49" charset="0"/>
              </a:rPr>
              <a:t>car::</a:t>
            </a:r>
            <a:r>
              <a:rPr lang="en-CA" sz="2800" dirty="0" err="1">
                <a:latin typeface="Courier New" panose="02070309020205020404" pitchFamily="49" charset="0"/>
                <a:cs typeface="Courier New" panose="02070309020205020404" pitchFamily="49" charset="0"/>
              </a:rPr>
              <a:t>influencePlot</a:t>
            </a:r>
            <a:r>
              <a:rPr lang="en-CA" sz="2800" dirty="0">
                <a:latin typeface="Courier New" panose="02070309020205020404" pitchFamily="49" charset="0"/>
                <a:cs typeface="Courier New" panose="02070309020205020404" pitchFamily="49" charset="0"/>
              </a:rPr>
              <a:t>(model)</a:t>
            </a:r>
            <a:endParaRPr sz="2800" dirty="0">
              <a:latin typeface="Courier New" panose="02070309020205020404" pitchFamily="49" charset="0"/>
              <a:cs typeface="Courier New" panose="02070309020205020404" pitchFamily="49" charset="0"/>
            </a:endParaRPr>
          </a:p>
        </p:txBody>
      </p:sp>
      <p:sp>
        <p:nvSpPr>
          <p:cNvPr id="3" name="Content Placeholder 2"/>
          <p:cNvSpPr>
            <a:spLocks noGrp="1"/>
          </p:cNvSpPr>
          <p:nvPr>
            <p:ph sz="half" idx="1"/>
          </p:nvPr>
        </p:nvSpPr>
        <p:spPr>
          <a:xfrm>
            <a:off x="838200" y="1643063"/>
            <a:ext cx="4553197" cy="4533900"/>
          </a:xfrm>
        </p:spPr>
        <p:txBody>
          <a:bodyPr/>
          <a:lstStyle/>
          <a:p>
            <a:pPr marL="0" indent="0">
              <a:buNone/>
            </a:pPr>
            <a:r>
              <a:rPr lang="en-CA" dirty="0" err="1"/>
              <a:t>carData</a:t>
            </a:r>
            <a:r>
              <a:rPr lang="en-CA" dirty="0"/>
              <a:t>::Duncan</a:t>
            </a:r>
          </a:p>
          <a:p>
            <a:r>
              <a:rPr dirty="0"/>
              <a:t>Leverage: unusual in the predictors</a:t>
            </a:r>
            <a:r>
              <a:rPr lang="en-CA" dirty="0"/>
              <a:t> (hat values)</a:t>
            </a:r>
            <a:endParaRPr dirty="0"/>
          </a:p>
          <a:p>
            <a:r>
              <a:rPr dirty="0"/>
              <a:t>Outlier: a large residual</a:t>
            </a:r>
          </a:p>
          <a:p>
            <a:r>
              <a:rPr dirty="0">
                <a:solidFill>
                  <a:srgbClr val="FF0000"/>
                </a:solidFill>
              </a:rPr>
              <a:t>Influence</a:t>
            </a:r>
            <a:r>
              <a:rPr dirty="0"/>
              <a:t> = leverage x residual</a:t>
            </a:r>
          </a:p>
          <a:p>
            <a:r>
              <a:rPr lang="en-CA" dirty="0">
                <a:sym typeface="Symbol" panose="05050102010706020507" pitchFamily="18" charset="2"/>
              </a:rPr>
              <a:t> </a:t>
            </a:r>
            <a:r>
              <a:rPr dirty="0"/>
              <a:t>Bubble size: Cook's distance</a:t>
            </a:r>
            <a:r>
              <a:rPr lang="en-CA" dirty="0"/>
              <a:t> (</a:t>
            </a:r>
            <a:r>
              <a:rPr lang="en-CA" dirty="0">
                <a:sym typeface="Symbol" panose="05050102010706020507" pitchFamily="18" charset="2"/>
              </a:rPr>
              <a:t></a:t>
            </a:r>
            <a:r>
              <a:rPr lang="el-GR" b="1" dirty="0">
                <a:latin typeface="Cambria Math" panose="02040503050406030204" pitchFamily="18" charset="0"/>
                <a:ea typeface="Cambria Math" panose="02040503050406030204" pitchFamily="18" charset="0"/>
                <a:sym typeface="Symbol" panose="05050102010706020507" pitchFamily="18" charset="2"/>
              </a:rPr>
              <a:t>β</a:t>
            </a:r>
            <a:r>
              <a:rPr lang="en-CA" baseline="-25000" dirty="0">
                <a:latin typeface="Cambria Math" panose="02040503050406030204" pitchFamily="18" charset="0"/>
                <a:ea typeface="Cambria Math" panose="02040503050406030204" pitchFamily="18" charset="0"/>
                <a:sym typeface="Symbol" panose="05050102010706020507" pitchFamily="18" charset="2"/>
              </a:rPr>
              <a:t>(-i)</a:t>
            </a:r>
            <a:r>
              <a:rPr lang="en-CA" dirty="0">
                <a:latin typeface="Cambria Math" panose="02040503050406030204" pitchFamily="18" charset="0"/>
                <a:ea typeface="Cambria Math" panose="02040503050406030204" pitchFamily="18" charset="0"/>
                <a:sym typeface="Symbol" panose="05050102010706020507" pitchFamily="18" charset="2"/>
              </a:rPr>
              <a:t>)</a:t>
            </a:r>
          </a:p>
          <a:p>
            <a:r>
              <a:rPr lang="en-CA" dirty="0">
                <a:ea typeface="Cambria Math" panose="02040503050406030204" pitchFamily="18" charset="0"/>
                <a:sym typeface="Symbol" panose="05050102010706020507" pitchFamily="18" charset="2"/>
              </a:rPr>
              <a:t>But this doesn’t tell us why or how</a:t>
            </a:r>
            <a:endParaRPr dirty="0"/>
          </a:p>
        </p:txBody>
      </p:sp>
      <p:pic>
        <p:nvPicPr>
          <p:cNvPr id="4" name="Picture 3" descr="fig-duncan-infl-1.png"/>
          <p:cNvPicPr>
            <a:picLocks noChangeAspect="1"/>
          </p:cNvPicPr>
          <p:nvPr/>
        </p:nvPicPr>
        <p:blipFill>
          <a:blip r:embed="rId3"/>
          <a:stretch>
            <a:fillRect/>
          </a:stretch>
        </p:blipFill>
        <p:spPr>
          <a:xfrm>
            <a:off x="5307203" y="1508125"/>
            <a:ext cx="6389992" cy="456428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7.26</a:t>
            </a:r>
          </a:p>
        </p:txBody>
      </p:sp>
      <p:sp>
        <p:nvSpPr>
          <p:cNvPr id="6" name="Slide Number Placeholder 6"/>
          <p:cNvSpPr>
            <a:spLocks noGrp="1"/>
          </p:cNvSpPr>
          <p:nvPr>
            <p:ph type="sldNum" sz="quarter" idx="12"/>
          </p:nvPr>
        </p:nvSpPr>
        <p:spPr/>
        <p:txBody>
          <a:bodyPr/>
          <a:lstStyle/>
          <a:p>
            <a:fld id="{9BFB2853-4965-4727-91C4-384EB30D99A4}" type="slidenum">
              <a:rPr lang="en-CA"/>
              <a:t>72</a:t>
            </a:fld>
            <a:endParaRPr lang="en-CA"/>
          </a:p>
        </p:txBody>
      </p:sp>
    </p:spTree>
    <p:extLst>
      <p:ext uri="{BB962C8B-B14F-4D97-AF65-F5344CB8AC3E}">
        <p14:creationId xmlns:p14="http://schemas.microsoft.com/office/powerpoint/2010/main" val="17197533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1779"/>
          </a:xfrm>
        </p:spPr>
        <p:txBody>
          <a:bodyPr/>
          <a:lstStyle/>
          <a:p>
            <a:r>
              <a:rPr dirty="0"/>
              <a:t>Which observations drive the fit?</a:t>
            </a:r>
          </a:p>
        </p:txBody>
      </p:sp>
      <p:pic>
        <p:nvPicPr>
          <p:cNvPr id="3" name="Picture 2" descr="duncan-av-influence.png"/>
          <p:cNvPicPr>
            <a:picLocks noChangeAspect="1"/>
          </p:cNvPicPr>
          <p:nvPr/>
        </p:nvPicPr>
        <p:blipFill>
          <a:blip r:embed="rId3"/>
          <a:stretch>
            <a:fillRect/>
          </a:stretch>
        </p:blipFill>
        <p:spPr>
          <a:xfrm>
            <a:off x="813336" y="1691640"/>
            <a:ext cx="7863840" cy="3931920"/>
          </a:xfrm>
          <a:prstGeom prst="rect">
            <a:avLst/>
          </a:prstGeom>
        </p:spPr>
      </p:pic>
      <p:sp>
        <p:nvSpPr>
          <p:cNvPr id="4" name="TextBox 3"/>
          <p:cNvSpPr txBox="1"/>
          <p:nvPr/>
        </p:nvSpPr>
        <p:spPr>
          <a:xfrm>
            <a:off x="841248" y="5788030"/>
            <a:ext cx="10515600" cy="369332"/>
          </a:xfrm>
          <a:prstGeom prst="rect">
            <a:avLst/>
          </a:prstGeom>
          <a:noFill/>
        </p:spPr>
        <p:txBody>
          <a:bodyPr wrap="square">
            <a:spAutoFit/>
          </a:bodyPr>
          <a:lstStyle/>
          <a:p>
            <a:r>
              <a:rPr sz="1800" dirty="0"/>
              <a:t>.</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7.27</a:t>
            </a:r>
          </a:p>
        </p:txBody>
      </p:sp>
      <p:sp>
        <p:nvSpPr>
          <p:cNvPr id="6" name="TextBox 5">
            <a:extLst>
              <a:ext uri="{FF2B5EF4-FFF2-40B4-BE49-F238E27FC236}">
                <a16:creationId xmlns:a16="http://schemas.microsoft.com/office/drawing/2014/main" id="{B95E2660-92D6-9B3B-613E-29A2FA281EB3}"/>
              </a:ext>
            </a:extLst>
          </p:cNvPr>
          <p:cNvSpPr txBox="1"/>
          <p:nvPr/>
        </p:nvSpPr>
        <p:spPr>
          <a:xfrm>
            <a:off x="841248" y="1128161"/>
            <a:ext cx="10515600" cy="369332"/>
          </a:xfrm>
          <a:prstGeom prst="rect">
            <a:avLst/>
          </a:prstGeom>
          <a:noFill/>
        </p:spPr>
        <p:txBody>
          <a:bodyPr wrap="square" rtlCol="0">
            <a:spAutoFit/>
          </a:bodyPr>
          <a:lstStyle/>
          <a:p>
            <a:r>
              <a:rPr lang="en-CA" dirty="0"/>
              <a:t>Added-variable plots can show precisely the impact on regression slopes</a:t>
            </a:r>
          </a:p>
        </p:txBody>
      </p:sp>
      <p:sp>
        <p:nvSpPr>
          <p:cNvPr id="7" name="TextBox 6">
            <a:extLst>
              <a:ext uri="{FF2B5EF4-FFF2-40B4-BE49-F238E27FC236}">
                <a16:creationId xmlns:a16="http://schemas.microsoft.com/office/drawing/2014/main" id="{09BF7BAE-8390-AD5C-8EC7-1129184F71A4}"/>
              </a:ext>
            </a:extLst>
          </p:cNvPr>
          <p:cNvSpPr txBox="1"/>
          <p:nvPr/>
        </p:nvSpPr>
        <p:spPr>
          <a:xfrm>
            <a:off x="8847117" y="2315688"/>
            <a:ext cx="2719449" cy="923330"/>
          </a:xfrm>
          <a:prstGeom prst="rect">
            <a:avLst/>
          </a:prstGeom>
          <a:noFill/>
        </p:spPr>
        <p:txBody>
          <a:bodyPr wrap="square" rtlCol="0">
            <a:spAutoFit/>
          </a:bodyPr>
          <a:lstStyle/>
          <a:p>
            <a:r>
              <a:rPr lang="en-CA" dirty="0">
                <a:solidFill>
                  <a:srgbClr val="0070C0"/>
                </a:solidFill>
              </a:rPr>
              <a:t>Fitted line with all cases</a:t>
            </a:r>
          </a:p>
          <a:p>
            <a:r>
              <a:rPr lang="en-CA" dirty="0">
                <a:solidFill>
                  <a:srgbClr val="FF0000"/>
                </a:solidFill>
              </a:rPr>
              <a:t>Fitted line w/out 2 cases</a:t>
            </a:r>
          </a:p>
          <a:p>
            <a:r>
              <a:rPr lang="en-CA" dirty="0">
                <a:solidFill>
                  <a:srgbClr val="00B050"/>
                </a:solidFill>
              </a:rPr>
              <a:t>Residuals for those cases</a:t>
            </a:r>
          </a:p>
        </p:txBody>
      </p:sp>
      <p:sp>
        <p:nvSpPr>
          <p:cNvPr id="8" name="Slide Number Placeholder 8"/>
          <p:cNvSpPr>
            <a:spLocks noGrp="1"/>
          </p:cNvSpPr>
          <p:nvPr>
            <p:ph type="sldNum" sz="quarter" idx="12"/>
          </p:nvPr>
        </p:nvSpPr>
        <p:spPr/>
        <p:txBody>
          <a:bodyPr/>
          <a:lstStyle/>
          <a:p>
            <a:fld id="{9BFB2853-4965-4727-91C4-384EB30D99A4}" type="slidenum">
              <a:rPr lang="en-CA"/>
              <a:t>73</a:t>
            </a:fld>
            <a:endParaRPr lang="en-CA"/>
          </a:p>
        </p:txBody>
      </p:sp>
    </p:spTree>
    <p:extLst>
      <p:ext uri="{BB962C8B-B14F-4D97-AF65-F5344CB8AC3E}">
        <p14:creationId xmlns:p14="http://schemas.microsoft.com/office/powerpoint/2010/main" val="16370766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Bias </a:t>
            </a:r>
            <a:r>
              <a:rPr lang="en-US" i="1" dirty="0"/>
              <a:t>vs. </a:t>
            </a:r>
            <a:r>
              <a:rPr lang="en-US" dirty="0"/>
              <a:t>Precision tradeoff</a:t>
            </a:r>
          </a:p>
        </p:txBody>
      </p:sp>
      <p:sp>
        <p:nvSpPr>
          <p:cNvPr id="3" name="Content Placeholder 2"/>
          <p:cNvSpPr>
            <a:spLocks noGrp="1"/>
          </p:cNvSpPr>
          <p:nvPr>
            <p:ph idx="1"/>
          </p:nvPr>
        </p:nvSpPr>
        <p:spPr>
          <a:xfrm>
            <a:off x="3505200" y="1143000"/>
            <a:ext cx="8229600" cy="1981200"/>
          </a:xfrm>
        </p:spPr>
        <p:txBody>
          <a:bodyPr>
            <a:normAutofit/>
          </a:bodyPr>
          <a:lstStyle/>
          <a:p>
            <a:r>
              <a:rPr lang="en-US" dirty="0"/>
              <a:t>Particularly important when the goal is </a:t>
            </a:r>
            <a:r>
              <a:rPr lang="en-US" dirty="0">
                <a:solidFill>
                  <a:srgbClr val="FF0000"/>
                </a:solidFill>
              </a:rPr>
              <a:t>predictive accuracy</a:t>
            </a:r>
          </a:p>
          <a:p>
            <a:pPr lvl="1"/>
            <a:r>
              <a:rPr lang="en-US" dirty="0"/>
              <a:t>Complex models, many predictors, e.g., demand for medical care</a:t>
            </a:r>
          </a:p>
          <a:p>
            <a:pPr lvl="1"/>
            <a:r>
              <a:rPr lang="en-US" dirty="0"/>
              <a:t>In-sample prediction error decreases with model complexity</a:t>
            </a:r>
          </a:p>
          <a:p>
            <a:r>
              <a:rPr lang="en-US" dirty="0"/>
              <a:t>But, in </a:t>
            </a:r>
            <a:r>
              <a:rPr lang="en-US" dirty="0">
                <a:solidFill>
                  <a:srgbClr val="FF0000"/>
                </a:solidFill>
              </a:rPr>
              <a:t>new samples </a:t>
            </a:r>
            <a:r>
              <a:rPr lang="en-US" dirty="0"/>
              <a:t>prediction error suffers from high variance of complex models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3276600"/>
            <a:ext cx="4403810" cy="3055238"/>
          </a:xfrm>
          <a:prstGeom prst="rect">
            <a:avLst/>
          </a:prstGeom>
        </p:spPr>
      </p:pic>
      <p:sp>
        <p:nvSpPr>
          <p:cNvPr id="6" name="TextBox 5"/>
          <p:cNvSpPr txBox="1"/>
          <p:nvPr/>
        </p:nvSpPr>
        <p:spPr>
          <a:xfrm>
            <a:off x="3505200" y="3505201"/>
            <a:ext cx="3124200" cy="830997"/>
          </a:xfrm>
          <a:prstGeom prst="rect">
            <a:avLst/>
          </a:prstGeom>
          <a:noFill/>
        </p:spPr>
        <p:txBody>
          <a:bodyPr wrap="square" rtlCol="0">
            <a:spAutoFit/>
          </a:bodyPr>
          <a:lstStyle/>
          <a:p>
            <a:r>
              <a:rPr lang="en-US" sz="2400" dirty="0"/>
              <a:t>How to visualize the tradeoff in </a:t>
            </a:r>
            <a:r>
              <a:rPr lang="en-US" sz="2400" dirty="0">
                <a:solidFill>
                  <a:srgbClr val="FF0000"/>
                </a:solidFill>
              </a:rPr>
              <a:t>data</a:t>
            </a:r>
            <a:r>
              <a:rPr lang="en-US" sz="2400" dirty="0"/>
              <a:t>?</a:t>
            </a:r>
          </a:p>
        </p:txBody>
      </p:sp>
      <p:sp>
        <p:nvSpPr>
          <p:cNvPr id="7" name="TextBox 6"/>
          <p:cNvSpPr txBox="1"/>
          <p:nvPr/>
        </p:nvSpPr>
        <p:spPr>
          <a:xfrm>
            <a:off x="3581400" y="4572001"/>
            <a:ext cx="2971800" cy="830997"/>
          </a:xfrm>
          <a:prstGeom prst="rect">
            <a:avLst/>
          </a:prstGeom>
          <a:noFill/>
        </p:spPr>
        <p:txBody>
          <a:bodyPr wrap="square" rtlCol="0">
            <a:spAutoFit/>
          </a:bodyPr>
          <a:lstStyle/>
          <a:p>
            <a:r>
              <a:rPr lang="en-US" sz="2400" dirty="0"/>
              <a:t>+1 if you guessed an ellipse !</a:t>
            </a:r>
          </a:p>
        </p:txBody>
      </p:sp>
      <p:sp>
        <p:nvSpPr>
          <p:cNvPr id="8" name="Slide Number Placeholder 8"/>
          <p:cNvSpPr>
            <a:spLocks noGrp="1"/>
          </p:cNvSpPr>
          <p:nvPr>
            <p:ph type="sldNum" sz="quarter" idx="12"/>
          </p:nvPr>
        </p:nvSpPr>
        <p:spPr/>
        <p:txBody>
          <a:bodyPr/>
          <a:lstStyle/>
          <a:p>
            <a:fld id="{9BFB2853-4965-4727-91C4-384EB30D99A4}" type="slidenum">
              <a:rPr lang="en-CA"/>
              <a:t>74</a:t>
            </a:fld>
            <a:endParaRPr lang="en-CA"/>
          </a:p>
        </p:txBody>
      </p:sp>
    </p:spTree>
    <p:extLst>
      <p:ext uri="{BB962C8B-B14F-4D97-AF65-F5344CB8AC3E}">
        <p14:creationId xmlns:p14="http://schemas.microsoft.com/office/powerpoint/2010/main" val="35026891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From the </a:t>
            </a:r>
            <a:r>
              <a:rPr i="1" dirty="0"/>
              <a:t>t</a:t>
            </a:r>
            <a:r>
              <a:rPr dirty="0"/>
              <a:t>-test to Hotelling's </a:t>
            </a:r>
            <a:r>
              <a:rPr b="1" dirty="0"/>
              <a:t>T</a:t>
            </a:r>
            <a:r>
              <a:rPr dirty="0"/>
              <a:t>²</a:t>
            </a:r>
          </a:p>
        </p:txBody>
      </p:sp>
      <p:sp>
        <p:nvSpPr>
          <p:cNvPr id="3" name="Content Placeholder 2"/>
          <p:cNvSpPr>
            <a:spLocks noGrp="1"/>
          </p:cNvSpPr>
          <p:nvPr>
            <p:ph sz="half" idx="1"/>
          </p:nvPr>
        </p:nvSpPr>
        <p:spPr/>
        <p:txBody>
          <a:bodyPr/>
          <a:lstStyle/>
          <a:p>
            <a:r>
              <a:t>Two groups, several responses</a:t>
            </a:r>
          </a:p>
          <a:p>
            <a:r>
              <a:t>T² is the largest squared t over all linear combinations of the responses</a:t>
            </a:r>
          </a:p>
          <a:p>
            <a:r>
              <a:t>That best combination is the discriminant axis</a:t>
            </a:r>
          </a:p>
        </p:txBody>
      </p:sp>
      <p:pic>
        <p:nvPicPr>
          <p:cNvPr id="4" name="Picture 3" descr="T2-diagram.png"/>
          <p:cNvPicPr>
            <a:picLocks noChangeAspect="1"/>
          </p:cNvPicPr>
          <p:nvPr/>
        </p:nvPicPr>
        <p:blipFill>
          <a:blip r:embed="rId3"/>
          <a:stretch>
            <a:fillRect/>
          </a:stretch>
        </p:blipFill>
        <p:spPr>
          <a:xfrm>
            <a:off x="6350508" y="1783080"/>
            <a:ext cx="4828032"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10.1</a:t>
            </a:r>
          </a:p>
        </p:txBody>
      </p:sp>
      <p:sp>
        <p:nvSpPr>
          <p:cNvPr id="6" name="Slide Number Placeholder 6"/>
          <p:cNvSpPr>
            <a:spLocks noGrp="1"/>
          </p:cNvSpPr>
          <p:nvPr>
            <p:ph type="sldNum" sz="quarter" idx="12"/>
          </p:nvPr>
        </p:nvSpPr>
        <p:spPr/>
        <p:txBody>
          <a:bodyPr/>
          <a:lstStyle/>
          <a:p>
            <a:fld id="{9BFB2853-4965-4727-91C4-384EB30D99A4}" type="slidenum">
              <a:rPr lang="en-CA"/>
              <a:t>75</a:t>
            </a:fld>
            <a:endParaRPr lang="en-CA"/>
          </a:p>
        </p:txBody>
      </p:sp>
    </p:spTree>
    <p:extLst>
      <p:ext uri="{BB962C8B-B14F-4D97-AF65-F5344CB8AC3E}">
        <p14:creationId xmlns:p14="http://schemas.microsoft.com/office/powerpoint/2010/main" val="30095622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Hypothesis-Error plot framework</a:t>
            </a:r>
          </a:p>
        </p:txBody>
      </p:sp>
      <p:pic>
        <p:nvPicPr>
          <p:cNvPr id="3" name="Picture 2" descr="HE-framework.png"/>
          <p:cNvPicPr>
            <a:picLocks noChangeAspect="1"/>
          </p:cNvPicPr>
          <p:nvPr/>
        </p:nvPicPr>
        <p:blipFill>
          <a:blip r:embed="rId3"/>
          <a:stretch>
            <a:fillRect/>
          </a:stretch>
        </p:blipFill>
        <p:spPr>
          <a:xfrm>
            <a:off x="841248" y="1417320"/>
            <a:ext cx="7229900" cy="5212080"/>
          </a:xfrm>
          <a:prstGeom prst="rect">
            <a:avLst/>
          </a:prstGeom>
        </p:spPr>
      </p:pic>
      <p:sp>
        <p:nvSpPr>
          <p:cNvPr id="4" name="TextBox 3"/>
          <p:cNvSpPr txBox="1"/>
          <p:nvPr/>
        </p:nvSpPr>
        <p:spPr>
          <a:xfrm>
            <a:off x="8436908" y="1417320"/>
            <a:ext cx="3192108" cy="5212080"/>
          </a:xfrm>
          <a:prstGeom prst="rect">
            <a:avLst/>
          </a:prstGeom>
          <a:noFill/>
        </p:spPr>
        <p:txBody>
          <a:bodyPr wrap="square" anchor="ctr">
            <a:noAutofit/>
          </a:bodyPr>
          <a:lstStyle/>
          <a:p>
            <a:r>
              <a:rPr sz="2400" dirty="0"/>
              <a:t>Data ellipses </a:t>
            </a:r>
            <a:r>
              <a:rPr lang="en-CA" sz="2400" dirty="0">
                <a:sym typeface="Symbol" panose="05050102010706020507" pitchFamily="18" charset="2"/>
              </a:rPr>
              <a:t></a:t>
            </a:r>
            <a:r>
              <a:rPr sz="2400" dirty="0"/>
              <a:t> </a:t>
            </a:r>
            <a:r>
              <a:rPr sz="2400" b="1" dirty="0"/>
              <a:t>E</a:t>
            </a:r>
            <a:r>
              <a:rPr sz="2400" dirty="0"/>
              <a:t> ellipse </a:t>
            </a:r>
            <a:endParaRPr lang="en-CA" sz="2400" dirty="0"/>
          </a:p>
          <a:p>
            <a:endParaRPr lang="en-CA" sz="2400" dirty="0"/>
          </a:p>
          <a:p>
            <a:r>
              <a:rPr lang="en-CA" sz="2400" dirty="0"/>
              <a:t>G</a:t>
            </a:r>
            <a:r>
              <a:rPr sz="2400" dirty="0" err="1"/>
              <a:t>roup</a:t>
            </a:r>
            <a:r>
              <a:rPr sz="2400" dirty="0"/>
              <a:t> means </a:t>
            </a:r>
            <a:r>
              <a:rPr lang="en-CA" sz="2400" dirty="0">
                <a:sym typeface="Symbol" panose="05050102010706020507" pitchFamily="18" charset="2"/>
              </a:rPr>
              <a:t></a:t>
            </a:r>
            <a:r>
              <a:rPr sz="2400" dirty="0"/>
              <a:t> </a:t>
            </a:r>
            <a:r>
              <a:rPr sz="2400" b="1" dirty="0"/>
              <a:t>H</a:t>
            </a:r>
            <a:endParaRPr lang="en-CA" sz="2400" b="1" dirty="0"/>
          </a:p>
          <a:p>
            <a:r>
              <a:rPr sz="2400" dirty="0"/>
              <a:t> </a:t>
            </a:r>
            <a:endParaRPr lang="en-CA" sz="2400" dirty="0"/>
          </a:p>
          <a:p>
            <a:r>
              <a:rPr lang="en-CA" sz="2400" dirty="0"/>
              <a:t>P</a:t>
            </a:r>
            <a:r>
              <a:rPr sz="2400" dirty="0" err="1"/>
              <a:t>rojection</a:t>
            </a:r>
            <a:r>
              <a:rPr sz="2400" dirty="0"/>
              <a:t> </a:t>
            </a:r>
            <a:r>
              <a:rPr lang="en-CA" sz="2400" dirty="0">
                <a:sym typeface="Symbol" panose="05050102010706020507" pitchFamily="18" charset="2"/>
              </a:rPr>
              <a:t> </a:t>
            </a:r>
            <a:r>
              <a:rPr sz="2400" dirty="0"/>
              <a:t>discriminant view.</a:t>
            </a:r>
          </a:p>
        </p:txBody>
      </p:sp>
      <p:sp>
        <p:nvSpPr>
          <p:cNvPr id="5" name="Slide Number Placeholder 5"/>
          <p:cNvSpPr>
            <a:spLocks noGrp="1"/>
          </p:cNvSpPr>
          <p:nvPr>
            <p:ph type="sldNum" sz="quarter" idx="12"/>
          </p:nvPr>
        </p:nvSpPr>
        <p:spPr/>
        <p:txBody>
          <a:bodyPr/>
          <a:lstStyle/>
          <a:p>
            <a:fld id="{9BFB2853-4965-4727-91C4-384EB30D99A4}" type="slidenum">
              <a:rPr lang="en-CA"/>
              <a:t>76</a:t>
            </a:fld>
            <a:endParaRPr lang="en-CA"/>
          </a:p>
        </p:txBody>
      </p:sp>
    </p:spTree>
    <p:extLst>
      <p:ext uri="{BB962C8B-B14F-4D97-AF65-F5344CB8AC3E}">
        <p14:creationId xmlns:p14="http://schemas.microsoft.com/office/powerpoint/2010/main" val="29171991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MANOVA: the same sums of squares, now as matrices</a:t>
            </a:r>
          </a:p>
        </p:txBody>
      </p:sp>
      <p:pic>
        <p:nvPicPr>
          <p:cNvPr id="3" name="Picture 2" descr="VisualizingSSP.png"/>
          <p:cNvPicPr>
            <a:picLocks noChangeAspect="1"/>
          </p:cNvPicPr>
          <p:nvPr/>
        </p:nvPicPr>
        <p:blipFill>
          <a:blip r:embed="rId3"/>
          <a:stretch>
            <a:fillRect/>
          </a:stretch>
        </p:blipFill>
        <p:spPr>
          <a:xfrm>
            <a:off x="852273" y="1691640"/>
            <a:ext cx="10493548"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Total = Hypothesis + Error. Each is a matrix, so each can be drawn as an ellipse.</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11.2</a:t>
            </a:r>
          </a:p>
        </p:txBody>
      </p:sp>
      <p:sp>
        <p:nvSpPr>
          <p:cNvPr id="6" name="Slide Number Placeholder 6"/>
          <p:cNvSpPr>
            <a:spLocks noGrp="1"/>
          </p:cNvSpPr>
          <p:nvPr>
            <p:ph type="sldNum" sz="quarter" idx="12"/>
          </p:nvPr>
        </p:nvSpPr>
        <p:spPr/>
        <p:txBody>
          <a:bodyPr/>
          <a:lstStyle/>
          <a:p>
            <a:fld id="{9BFB2853-4965-4727-91C4-384EB30D99A4}" type="slidenum">
              <a:rPr lang="en-CA"/>
              <a:t>77</a:t>
            </a:fld>
            <a:endParaRPr lang="en-CA"/>
          </a:p>
        </p:txBody>
      </p:sp>
    </p:spTree>
    <p:extLst>
      <p:ext uri="{BB962C8B-B14F-4D97-AF65-F5344CB8AC3E}">
        <p14:creationId xmlns:p14="http://schemas.microsoft.com/office/powerpoint/2010/main" val="2608173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Canonical correlation in an HE plot</a:t>
            </a:r>
          </a:p>
        </p:txBody>
      </p:sp>
      <p:sp>
        <p:nvSpPr>
          <p:cNvPr id="3" name="Content Placeholder 2"/>
          <p:cNvSpPr>
            <a:spLocks noGrp="1"/>
          </p:cNvSpPr>
          <p:nvPr>
            <p:ph sz="half" idx="1"/>
          </p:nvPr>
        </p:nvSpPr>
        <p:spPr/>
        <p:txBody>
          <a:bodyPr/>
          <a:lstStyle/>
          <a:p>
            <a:r>
              <a:rPr dirty="0"/>
              <a:t>Canonical correlation: the weighted sums of the </a:t>
            </a:r>
            <a:r>
              <a:rPr lang="en-CA" dirty="0"/>
              <a:t>Y</a:t>
            </a:r>
            <a:r>
              <a:rPr dirty="0"/>
              <a:t> and </a:t>
            </a:r>
            <a:r>
              <a:rPr lang="en-CA" dirty="0"/>
              <a:t>X</a:t>
            </a:r>
            <a:r>
              <a:rPr dirty="0"/>
              <a:t> variables that correlate most highly</a:t>
            </a:r>
          </a:p>
          <a:p>
            <a:r>
              <a:rPr dirty="0"/>
              <a:t>Shown as an HE plot in the canonical space</a:t>
            </a:r>
            <a:r>
              <a:rPr lang="en-CA" dirty="0"/>
              <a:t>, with vectors for X &amp; Y variables</a:t>
            </a:r>
            <a:endParaRPr dirty="0"/>
          </a:p>
        </p:txBody>
      </p:sp>
      <p:pic>
        <p:nvPicPr>
          <p:cNvPr id="4" name="Picture 3" descr="fig-school-hecan-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12.22</a:t>
            </a:r>
          </a:p>
        </p:txBody>
      </p:sp>
      <p:sp>
        <p:nvSpPr>
          <p:cNvPr id="6" name="Slide Number Placeholder 6"/>
          <p:cNvSpPr>
            <a:spLocks noGrp="1"/>
          </p:cNvSpPr>
          <p:nvPr>
            <p:ph type="sldNum" sz="quarter" idx="12"/>
          </p:nvPr>
        </p:nvSpPr>
        <p:spPr/>
        <p:txBody>
          <a:bodyPr/>
          <a:lstStyle/>
          <a:p>
            <a:fld id="{9BFB2853-4965-4727-91C4-384EB30D99A4}" type="slidenum">
              <a:rPr lang="en-CA"/>
              <a:t>78</a:t>
            </a:fld>
            <a:endParaRPr lang="en-CA"/>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Factorial designs: main effects and interactions</a:t>
            </a:r>
          </a:p>
        </p:txBody>
      </p:sp>
      <p:sp>
        <p:nvSpPr>
          <p:cNvPr id="3" name="Content Placeholder 2"/>
          <p:cNvSpPr>
            <a:spLocks noGrp="1"/>
          </p:cNvSpPr>
          <p:nvPr>
            <p:ph sz="half" idx="1"/>
          </p:nvPr>
        </p:nvSpPr>
        <p:spPr/>
        <p:txBody>
          <a:bodyPr/>
          <a:lstStyle/>
          <a:p>
            <a:r>
              <a:t>Plastic film data: tear and gloss by rate of extrusion and amount of additive</a:t>
            </a:r>
          </a:p>
          <a:p>
            <a:r>
              <a:t>One H ellipse for each term in the model</a:t>
            </a:r>
          </a:p>
        </p:txBody>
      </p:sp>
      <p:pic>
        <p:nvPicPr>
          <p:cNvPr id="4" name="Picture 3" descr="fig-plastic-HE1-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12.11</a:t>
            </a:r>
          </a:p>
        </p:txBody>
      </p:sp>
      <p:sp>
        <p:nvSpPr>
          <p:cNvPr id="6" name="Slide Number Placeholder 6"/>
          <p:cNvSpPr>
            <a:spLocks noGrp="1"/>
          </p:cNvSpPr>
          <p:nvPr>
            <p:ph type="sldNum" sz="quarter" idx="12"/>
          </p:nvPr>
        </p:nvSpPr>
        <p:spPr/>
        <p:txBody>
          <a:bodyPr/>
          <a:lstStyle/>
          <a:p>
            <a:fld id="{9BFB2853-4965-4727-91C4-384EB30D99A4}" type="slidenum">
              <a:rPr lang="en-CA"/>
              <a:t>79</a:t>
            </a:fld>
            <a:endParaRPr lang="en-CA"/>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MANCOVA: are the regressions the same across groups?</a:t>
            </a:r>
          </a:p>
        </p:txBody>
      </p:sp>
      <p:sp>
        <p:nvSpPr>
          <p:cNvPr id="3" name="Content Placeholder 2"/>
          <p:cNvSpPr>
            <a:spLocks noGrp="1"/>
          </p:cNvSpPr>
          <p:nvPr>
            <p:ph sz="half" idx="1"/>
          </p:nvPr>
        </p:nvSpPr>
        <p:spPr/>
        <p:txBody>
          <a:bodyPr/>
          <a:lstStyle/>
          <a:p>
            <a:r>
              <a:t>Rohwer data: aptitude and achievement predicted from paired-associate tasks</a:t>
            </a:r>
          </a:p>
          <a:p>
            <a:r>
              <a:t>Overlaid HE plots for the low and high SES groups</a:t>
            </a:r>
          </a:p>
        </p:txBody>
      </p:sp>
      <p:pic>
        <p:nvPicPr>
          <p:cNvPr id="4" name="Picture 3" descr="fig-rohwer-HE-lohi-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12.25</a:t>
            </a:r>
          </a:p>
        </p:txBody>
      </p:sp>
      <p:sp>
        <p:nvSpPr>
          <p:cNvPr id="6" name="Slide Number Placeholder 6"/>
          <p:cNvSpPr>
            <a:spLocks noGrp="1"/>
          </p:cNvSpPr>
          <p:nvPr>
            <p:ph type="sldNum" sz="quarter" idx="12"/>
          </p:nvPr>
        </p:nvSpPr>
        <p:spPr/>
        <p:txBody>
          <a:bodyPr/>
          <a:lstStyle/>
          <a:p>
            <a:fld id="{9BFB2853-4965-4727-91C4-384EB30D99A4}" type="slidenum">
              <a:rPr lang="en-CA"/>
              <a:t>80</a:t>
            </a:fld>
            <a:endParaRPr lang="en-CA"/>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Are the covariance matrices equal?</a:t>
            </a:r>
          </a:p>
        </p:txBody>
      </p:sp>
      <p:sp>
        <p:nvSpPr>
          <p:cNvPr id="3" name="Content Placeholder 2"/>
          <p:cNvSpPr>
            <a:spLocks noGrp="1"/>
          </p:cNvSpPr>
          <p:nvPr>
            <p:ph sz="half" idx="1"/>
          </p:nvPr>
        </p:nvSpPr>
        <p:spPr/>
        <p:txBody>
          <a:bodyPr/>
          <a:lstStyle/>
          <a:p>
            <a:r>
              <a:t>MANOVA assumes equal within-group covariance matrices</a:t>
            </a:r>
          </a:p>
          <a:p>
            <a:r>
              <a:t>Compare the data ellipse of each group with the pooled one</a:t>
            </a:r>
          </a:p>
          <a:p>
            <a:r>
              <a:t>Look for differences in size and shape</a:t>
            </a:r>
          </a:p>
        </p:txBody>
      </p:sp>
      <p:pic>
        <p:nvPicPr>
          <p:cNvPr id="4" name="Picture 3" descr="fig-peng-covEllipse-pairs-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13.4</a:t>
            </a:r>
          </a:p>
        </p:txBody>
      </p:sp>
      <p:sp>
        <p:nvSpPr>
          <p:cNvPr id="6" name="Slide Number Placeholder 6"/>
          <p:cNvSpPr>
            <a:spLocks noGrp="1"/>
          </p:cNvSpPr>
          <p:nvPr>
            <p:ph type="sldNum" sz="quarter" idx="12"/>
          </p:nvPr>
        </p:nvSpPr>
        <p:spPr/>
        <p:txBody>
          <a:bodyPr/>
          <a:lstStyle/>
          <a:p>
            <a:fld id="{9BFB2853-4965-4727-91C4-384EB30D99A4}" type="slidenum">
              <a:rPr lang="en-CA"/>
              <a:t>81</a:t>
            </a:fld>
            <a:endParaRPr lang="en-CA"/>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Visualizing Box's M test</a:t>
            </a:r>
          </a:p>
        </p:txBody>
      </p:sp>
      <p:pic>
        <p:nvPicPr>
          <p:cNvPr id="3" name="Picture 2" descr="fig-peng-iris-boxm-plots-1.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Box's M compares the log determinants of the group covariance matrices with that of the pooled matrix.</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13.6</a:t>
            </a:r>
          </a:p>
        </p:txBody>
      </p:sp>
      <p:sp>
        <p:nvSpPr>
          <p:cNvPr id="6" name="Slide Number Placeholder 6"/>
          <p:cNvSpPr>
            <a:spLocks noGrp="1"/>
          </p:cNvSpPr>
          <p:nvPr>
            <p:ph type="sldNum" sz="quarter" idx="12"/>
          </p:nvPr>
        </p:nvSpPr>
        <p:spPr/>
        <p:txBody>
          <a:bodyPr/>
          <a:lstStyle/>
          <a:p>
            <a:fld id="{9BFB2853-4965-4727-91C4-384EB30D99A4}" type="slidenum">
              <a:rPr lang="en-CA"/>
              <a:t>82</a:t>
            </a:fld>
            <a:endParaRPr lang="en-CA"/>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Discriminant analysis</a:t>
            </a:r>
          </a:p>
        </p:txBody>
      </p:sp>
      <p:sp>
        <p:nvSpPr>
          <p:cNvPr id="3" name="Text Placeholder 2"/>
          <p:cNvSpPr>
            <a:spLocks noGrp="1"/>
          </p:cNvSpPr>
          <p:nvPr>
            <p:ph type="body" idx="1"/>
          </p:nvPr>
        </p:nvSpPr>
        <p:spPr/>
        <p:txBody>
          <a:bodyPr/>
          <a:lstStyle/>
          <a:p>
            <a:r>
              <a:t>MANOVA turned around: predicting the group</a:t>
            </a:r>
          </a:p>
        </p:txBody>
      </p:sp>
      <p:sp>
        <p:nvSpPr>
          <p:cNvPr id="4" name="Slide Number Placeholder 4"/>
          <p:cNvSpPr>
            <a:spLocks noGrp="1"/>
          </p:cNvSpPr>
          <p:nvPr>
            <p:ph type="sldNum" sz="quarter" idx="12"/>
          </p:nvPr>
        </p:nvSpPr>
        <p:spPr/>
        <p:txBody>
          <a:bodyPr/>
          <a:lstStyle/>
          <a:p>
            <a:fld id="{9BFB2853-4965-4727-91C4-384EB30D99A4}" type="slidenum">
              <a:rPr lang="en-CA"/>
              <a:t>83</a:t>
            </a:fld>
            <a:endParaRPr lang="en-CA"/>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Quadratic discriminant analysis</a:t>
            </a:r>
          </a:p>
        </p:txBody>
      </p:sp>
      <p:pic>
        <p:nvPicPr>
          <p:cNvPr id="3" name="Picture 2" descr="fig-peng-qda-regions-1.png"/>
          <p:cNvPicPr>
            <a:picLocks noChangeAspect="1"/>
          </p:cNvPicPr>
          <p:nvPr/>
        </p:nvPicPr>
        <p:blipFill>
          <a:blip r:embed="rId3"/>
          <a:stretch>
            <a:fillRect/>
          </a:stretch>
        </p:blipFill>
        <p:spPr>
          <a:xfrm>
            <a:off x="1380744" y="1417320"/>
            <a:ext cx="9436608" cy="4718304"/>
          </a:xfrm>
          <a:prstGeom prst="rect">
            <a:avLst/>
          </a:prstGeom>
        </p:spPr>
      </p:pic>
      <p:sp>
        <p:nvSpPr>
          <p:cNvPr id="4" name="TextBox 3"/>
          <p:cNvSpPr txBox="1"/>
          <p:nvPr/>
        </p:nvSpPr>
        <p:spPr>
          <a:xfrm>
            <a:off x="841248" y="6181344"/>
            <a:ext cx="10515600" cy="548640"/>
          </a:xfrm>
          <a:prstGeom prst="rect">
            <a:avLst/>
          </a:prstGeom>
          <a:noFill/>
        </p:spPr>
        <p:txBody>
          <a:bodyPr wrap="square">
            <a:spAutoFit/>
          </a:bodyPr>
          <a:lstStyle/>
          <a:p>
            <a:r>
              <a:rPr sz="1800"/>
              <a:t>With a separate covariance matrix for each group, the boundaries become curved.</a:t>
            </a:r>
          </a:p>
        </p:txBody>
      </p:sp>
      <p:sp>
        <p:nvSpPr>
          <p:cNvPr id="5" name="Slide Number Placeholder 5"/>
          <p:cNvSpPr>
            <a:spLocks noGrp="1"/>
          </p:cNvSpPr>
          <p:nvPr>
            <p:ph type="sldNum" sz="quarter" idx="12"/>
          </p:nvPr>
        </p:nvSpPr>
        <p:spPr/>
        <p:txBody>
          <a:bodyPr/>
          <a:lstStyle/>
          <a:p>
            <a:fld id="{9BFB2853-4965-4727-91C4-384EB30D99A4}" type="slidenum">
              <a:rPr lang="en-CA"/>
              <a:t>84</a:t>
            </a:fld>
            <a:endParaRPr lang="en-CA"/>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6505</TotalTime>
  <Words>6634</Words>
  <Application>Microsoft Office PowerPoint</Application>
  <PresentationFormat>Widescreen</PresentationFormat>
  <Paragraphs>698</Paragraphs>
  <Slides>84</Slides>
  <Notes>78</Notes>
  <HiddenSlides>21</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84</vt:i4>
      </vt:variant>
    </vt:vector>
  </HeadingPairs>
  <TitlesOfParts>
    <vt:vector size="95" baseType="lpstr">
      <vt:lpstr>Aptos</vt:lpstr>
      <vt:lpstr>Aptos Display</vt:lpstr>
      <vt:lpstr>Arial</vt:lpstr>
      <vt:lpstr>Cambria Math</vt:lpstr>
      <vt:lpstr>Consolas</vt:lpstr>
      <vt:lpstr>Courier New</vt:lpstr>
      <vt:lpstr>Lucida Console</vt:lpstr>
      <vt:lpstr>Symbol</vt:lpstr>
      <vt:lpstr>Wingdings</vt:lpstr>
      <vt:lpstr>Office Theme</vt:lpstr>
      <vt:lpstr>Equation</vt:lpstr>
      <vt:lpstr>Visualizing Multivariate Data and Models in R</vt:lpstr>
      <vt:lpstr>The book</vt:lpstr>
      <vt:lpstr>R packages</vt:lpstr>
      <vt:lpstr>Ideas I’ll talk about today (thematic)</vt:lpstr>
      <vt:lpstr>Why a romance in many dimensions?</vt:lpstr>
      <vt:lpstr>Planeland: we only ever see 2D projections</vt:lpstr>
      <vt:lpstr>EUREKA! Structure can hide in many dimensions</vt:lpstr>
      <vt:lpstr>Multivariate discovery: kinds of diabetes</vt:lpstr>
      <vt:lpstr>MLM problem: easy to fit, hard to see</vt:lpstr>
      <vt:lpstr>Seeing multivariate data</vt:lpstr>
      <vt:lpstr>Galton’s visual discovery:  Bivariate normal correlation surface (1886)</vt:lpstr>
      <vt:lpstr>Visual smoothing  Insight</vt:lpstr>
      <vt:lpstr>Visual insight  Theory (the OMG! moment)</vt:lpstr>
      <vt:lpstr>The data ellipse summarizes means, spread &amp; correlation – a sufficient visual summary for N(µ, Σ)</vt:lpstr>
      <vt:lpstr>Meet the penguins</vt:lpstr>
      <vt:lpstr>Data ellipses: Sufficient visual summary</vt:lpstr>
      <vt:lpstr>What if I'm not Normal?</vt:lpstr>
      <vt:lpstr>Simpson's paradox: marginal &amp; conditional relations</vt:lpstr>
      <vt:lpstr>How to visualize p &gt; 2 variables in Planeland? Scatterplot matrices: all pairs at once</vt:lpstr>
      <vt:lpstr>Visual thinning: show less to see more Effect order: order variables to see what you want to show </vt:lpstr>
      <vt:lpstr>Parallel coordinates: one line per penguin</vt:lpstr>
      <vt:lpstr>Animated tours: flying through projections (tourr pkg)</vt:lpstr>
      <vt:lpstr>Flatland and Spaceland: dimension reduction</vt:lpstr>
      <vt:lpstr>PowerPoint Presentation</vt:lpstr>
      <vt:lpstr>PCA: rotate to the views that show the most variance</vt:lpstr>
      <vt:lpstr>PCA fitted by springs: Physical analog</vt:lpstr>
      <vt:lpstr>Biplots: observations and variables in one view</vt:lpstr>
      <vt:lpstr>Biplot: The data juicer</vt:lpstr>
      <vt:lpstr>When a linear view is not enough: PCA vs t-SNE</vt:lpstr>
      <vt:lpstr>From PCA to t-SNE, animated</vt:lpstr>
      <vt:lpstr>Elliptical Insights</vt:lpstr>
      <vt:lpstr>Outlier detection: Waar is Wally?</vt:lpstr>
      <vt:lpstr>Multivariate outliers: which penguins are unusual?</vt:lpstr>
      <vt:lpstr>Outliers hide in the smallest dimensions</vt:lpstr>
      <vt:lpstr>Elliptical insights: Measurement error</vt:lpstr>
      <vt:lpstr>Coffee, stress and heart disease</vt:lpstr>
      <vt:lpstr>Data space and beta space are dual</vt:lpstr>
      <vt:lpstr>Adding measurement error</vt:lpstr>
      <vt:lpstr>Understanding collinearity</vt:lpstr>
      <vt:lpstr>Ridge regression: shrink to gain precision</vt:lpstr>
      <vt:lpstr>The usual ridge trace shows only the estimates</vt:lpstr>
      <vt:lpstr>Generalized ridge trace plots</vt:lpstr>
      <vt:lpstr>A low-rank view of ridge regression</vt:lpstr>
      <vt:lpstr>The HE plot framework</vt:lpstr>
      <vt:lpstr>HE plots: Visual overview</vt:lpstr>
      <vt:lpstr>Data  Data ellipses  HE plot</vt:lpstr>
      <vt:lpstr>The H ellipse</vt:lpstr>
      <vt:lpstr>The E ellipse</vt:lpstr>
      <vt:lpstr>HE plots: Effect scaling vs. Significance scaling</vt:lpstr>
      <vt:lpstr>Contrasts &amp; linear hypotheses: What diffces make H big?</vt:lpstr>
      <vt:lpstr>HE pairs() plots</vt:lpstr>
      <vt:lpstr>Quantitative predictors: each effect is a line</vt:lpstr>
      <vt:lpstr>Canonical discriminant plots: The MANOVA juicer</vt:lpstr>
      <vt:lpstr>Linear discriminant analysis: main ideas</vt:lpstr>
      <vt:lpstr>Prediction regions in data space</vt:lpstr>
      <vt:lpstr>Prediction regions in discriminant space</vt:lpstr>
      <vt:lpstr>Checking multivariate models</vt:lpstr>
      <vt:lpstr>Unusual is not the same as influential</vt:lpstr>
      <vt:lpstr>Who are the influential penguins?</vt:lpstr>
      <vt:lpstr>Robust MLMs: down-weight what does not fit</vt:lpstr>
      <vt:lpstr>Summary: A few ideas go a long way</vt:lpstr>
      <vt:lpstr>Book, code and packages</vt:lpstr>
      <vt:lpstr>Questions? Discussion?</vt:lpstr>
      <vt:lpstr>The regression quartet</vt:lpstr>
      <vt:lpstr>Coefficient plots: show the estimates, not a table</vt:lpstr>
      <vt:lpstr>Effect displays: what the model predicts</vt:lpstr>
      <vt:lpstr>Collinearity and ridge regression</vt:lpstr>
      <vt:lpstr>Collinearity: narrow data  increased uncertainty</vt:lpstr>
      <vt:lpstr>Application: effect ordering variables in displays</vt:lpstr>
      <vt:lpstr>Measurement error for β1 also biases β2</vt:lpstr>
      <vt:lpstr>Added-variable plots show partial relationships</vt:lpstr>
      <vt:lpstr>Leverage and influence: car::influencePlot(model)</vt:lpstr>
      <vt:lpstr>Which observations drive the fit?</vt:lpstr>
      <vt:lpstr>Bias vs. Precision tradeoff</vt:lpstr>
      <vt:lpstr>From the t-test to Hotelling's T²</vt:lpstr>
      <vt:lpstr>The Hypothesis-Error plot framework</vt:lpstr>
      <vt:lpstr>MANOVA: the same sums of squares, now as matrices</vt:lpstr>
      <vt:lpstr>Canonical correlation in an HE plot</vt:lpstr>
      <vt:lpstr>Factorial designs: main effects and interactions</vt:lpstr>
      <vt:lpstr>MANCOVA: are the regressions the same across groups?</vt:lpstr>
      <vt:lpstr>Are the covariance matrices equal?</vt:lpstr>
      <vt:lpstr>Visualizing Box's M test</vt:lpstr>
      <vt:lpstr>Discriminant analysis</vt:lpstr>
      <vt:lpstr>Quadratic discriminant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L Friendly</dc:creator>
  <cp:lastModifiedBy>Michael L Friendly</cp:lastModifiedBy>
  <cp:revision>59</cp:revision>
  <dcterms:created xsi:type="dcterms:W3CDTF">2026-10-06T18:00:03Z</dcterms:created>
  <dcterms:modified xsi:type="dcterms:W3CDTF">2026-10-20T15:53:06Z</dcterms:modified>
</cp:coreProperties>
</file>