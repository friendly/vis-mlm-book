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2"/>
  </p:notesMasterIdLst>
  <p:sldIdLst>
    <p:sldId id="256" r:id="rId2"/>
    <p:sldId id="257" r:id="rId3"/>
    <p:sldId id="325" r:id="rId4"/>
    <p:sldId id="258" r:id="rId5"/>
    <p:sldId id="259" r:id="rId6"/>
    <p:sldId id="260" r:id="rId7"/>
    <p:sldId id="261" r:id="rId8"/>
    <p:sldId id="262" r:id="rId9"/>
    <p:sldId id="263" r:id="rId10"/>
    <p:sldId id="264" r:id="rId11"/>
    <p:sldId id="456" r:id="rId12"/>
    <p:sldId id="457" r:id="rId13"/>
    <p:sldId id="458" r:id="rId14"/>
    <p:sldId id="326" r:id="rId15"/>
    <p:sldId id="266" r:id="rId16"/>
    <p:sldId id="470" r:id="rId17"/>
    <p:sldId id="473" r:id="rId18"/>
    <p:sldId id="267" r:id="rId19"/>
    <p:sldId id="268" r:id="rId20"/>
    <p:sldId id="269" r:id="rId21"/>
    <p:sldId id="270" r:id="rId22"/>
    <p:sldId id="271" r:id="rId23"/>
    <p:sldId id="273" r:id="rId24"/>
    <p:sldId id="467" r:id="rId25"/>
    <p:sldId id="274" r:id="rId26"/>
    <p:sldId id="275" r:id="rId27"/>
    <p:sldId id="276" r:id="rId28"/>
    <p:sldId id="468" r:id="rId29"/>
    <p:sldId id="277" r:id="rId30"/>
    <p:sldId id="278" r:id="rId31"/>
    <p:sldId id="282" r:id="rId32"/>
    <p:sldId id="471" r:id="rId33"/>
    <p:sldId id="272" r:id="rId34"/>
    <p:sldId id="281" r:id="rId35"/>
    <p:sldId id="472" r:id="rId36"/>
    <p:sldId id="460" r:id="rId37"/>
    <p:sldId id="289" r:id="rId38"/>
    <p:sldId id="461" r:id="rId39"/>
    <p:sldId id="293" r:id="rId40"/>
    <p:sldId id="294" r:id="rId41"/>
    <p:sldId id="295" r:id="rId42"/>
    <p:sldId id="465" r:id="rId43"/>
    <p:sldId id="297" r:id="rId44"/>
    <p:sldId id="298" r:id="rId45"/>
    <p:sldId id="466" r:id="rId46"/>
    <p:sldId id="327" r:id="rId47"/>
    <p:sldId id="328" r:id="rId48"/>
    <p:sldId id="329" r:id="rId49"/>
    <p:sldId id="302" r:id="rId50"/>
    <p:sldId id="303" r:id="rId51"/>
    <p:sldId id="449" r:id="rId52"/>
    <p:sldId id="306" r:id="rId53"/>
    <p:sldId id="469" r:id="rId54"/>
    <p:sldId id="318" r:id="rId55"/>
    <p:sldId id="319" r:id="rId56"/>
    <p:sldId id="320" r:id="rId57"/>
    <p:sldId id="310" r:id="rId58"/>
    <p:sldId id="311" r:id="rId59"/>
    <p:sldId id="313" r:id="rId60"/>
    <p:sldId id="314" r:id="rId61"/>
    <p:sldId id="322" r:id="rId62"/>
    <p:sldId id="323" r:id="rId63"/>
    <p:sldId id="324" r:id="rId64"/>
    <p:sldId id="283" r:id="rId65"/>
    <p:sldId id="284" r:id="rId66"/>
    <p:sldId id="286" r:id="rId67"/>
    <p:sldId id="291" r:id="rId68"/>
    <p:sldId id="292" r:id="rId69"/>
    <p:sldId id="279" r:id="rId70"/>
    <p:sldId id="462" r:id="rId71"/>
    <p:sldId id="285" r:id="rId72"/>
    <p:sldId id="287" r:id="rId73"/>
    <p:sldId id="288" r:id="rId74"/>
    <p:sldId id="301" r:id="rId75"/>
    <p:sldId id="307" r:id="rId76"/>
    <p:sldId id="308" r:id="rId77"/>
    <p:sldId id="309" r:id="rId78"/>
    <p:sldId id="315" r:id="rId79"/>
    <p:sldId id="316" r:id="rId80"/>
    <p:sldId id="321" r:id="rId8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264"/>
            <p14:sldId id="456"/>
            <p14:sldId id="457"/>
            <p14:sldId id="458"/>
            <p14:sldId id="326"/>
            <p14:sldId id="266"/>
            <p14:sldId id="470"/>
            <p14:sldId id="473"/>
            <p14:sldId id="267"/>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292"/>
            <p14:sldId id="279"/>
            <p14:sldId id="462"/>
            <p14:sldId id="285"/>
            <p14:sldId id="287"/>
            <p14:sldId id="288"/>
            <p14:sldId id="301"/>
            <p14:sldId id="307"/>
            <p14:sldId id="308"/>
            <p14:sldId id="309"/>
            <p14:sldId id="315"/>
            <p14:sldId id="316"/>
            <p14:sldId id="32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267" autoAdjust="0"/>
  </p:normalViewPr>
  <p:slideViewPr>
    <p:cSldViewPr snapToGrid="0">
      <p:cViewPr varScale="1">
        <p:scale>
          <a:sx n="74" d="100"/>
          <a:sy n="74" d="100"/>
        </p:scale>
        <p:origin x="1344" y="72"/>
      </p:cViewPr>
      <p:guideLst/>
    </p:cSldViewPr>
  </p:slideViewPr>
  <p:notesTextViewPr>
    <p:cViewPr>
      <p:scale>
        <a:sx n="1" d="1"/>
        <a:sy n="1" d="1"/>
      </p:scale>
      <p:origin x="0" y="0"/>
    </p:cViewPr>
  </p:notesTextViewPr>
  <p:sorterViewPr>
    <p:cViewPr varScale="1">
      <p:scale>
        <a:sx n="100" d="100"/>
        <a:sy n="100" d="100"/>
      </p:scale>
      <p:origin x="0" y="-30498"/>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Theory to practice: the methods in the book are only useful if people can apply them. These four packages implement most of what follows: heplots (HE plots and related methods), candisc (canonical views), mvinfluence (multivariate influence), genridge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be to help 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Panels: (a) ignoring species, (b) by species, (c) pooled within species. The data ellipses make the reversal 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 more than a few variables, you can gain greater understanding with a multivariate juicer.</a:t>
            </a:r>
          </a:p>
          <a:p>
            <a:r>
              <a:rPr lang="en-CA" dirty="0"/>
              <a:t>I know this is SO cheesy! But I find this a nice analogy to explain what we do with low-D methods</a:t>
            </a:r>
          </a:p>
        </p:txBody>
      </p:sp>
      <p:sp>
        <p:nvSpPr>
          <p:cNvPr id="4" name="Slide Number Placeholder 3"/>
          <p:cNvSpPr>
            <a:spLocks noGrp="1"/>
          </p:cNvSpPr>
          <p:nvPr>
            <p:ph type="sldNum" sz="quarter" idx="5"/>
          </p:nvPr>
        </p:nvSpPr>
        <p:spPr/>
        <p:txBody>
          <a:bodyPr/>
          <a:lstStyle/>
          <a:p>
            <a:fld id="{33E20828-1A1A-4225-BE3A-F8540A5E6146}" type="slidenum">
              <a:rPr lang="en-US" smtClean="0"/>
              <a:t>24</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blue points are connected to their projections on the red line by springs perpendicular to that line. A physical intuition for least squares.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28</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32</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dirty="0"/>
              <a:t>Hook Nose</a:t>
            </a:r>
            <a:r>
              <a:rPr lang="en-CA" dirty="0"/>
              <a:t> – largest curvature</a:t>
            </a:r>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35</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Data space and beta space for the coffee data. Where the predictors have a wide spread, the coefficients are estimated precisely, and vice versa. 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38</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42</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45</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Mathscore data: two groups, basic math (BM) and word problems (WP). From the data to data ellipses to the HE plot. From the short course, lecture 2.</a:t>
            </a:r>
          </a:p>
        </p:txBody>
      </p:sp>
    </p:spTree>
    <p:extLst>
      <p:ext uri="{BB962C8B-B14F-4D97-AF65-F5344CB8AC3E}">
        <p14:creationId xmlns:p14="http://schemas.microsoft.com/office/powerpoint/2010/main" val="12706028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[OPTIONAL for a 45-minute talk] </a:t>
            </a:r>
            <a:endParaRPr lang="en-CA" dirty="0"/>
          </a:p>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51</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HE plot for the multivariate regression model for the school data. Each predictor has 1 df,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distance plot is one of the figures the organizer singled out. 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93973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810693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70</a:t>
            </a:fld>
            <a:endParaRPr lang="en-US"/>
          </a:p>
        </p:txBody>
      </p:sp>
    </p:spTree>
    <p:extLst>
      <p:ext uri="{BB962C8B-B14F-4D97-AF65-F5344CB8AC3E}">
        <p14:creationId xmlns:p14="http://schemas.microsoft.com/office/powerpoint/2010/main" val="385902772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Marginal + conditional (added-variable) plots for the coffee data. Each added-variable plot shows the relation of y to one predictor with the others </a:t>
            </a:r>
            <a:r>
              <a:rPr dirty="0" err="1"/>
              <a:t>partialled</a:t>
            </a:r>
            <a:r>
              <a:rPr dirty="0"/>
              <a:t> out; the slope is the coefficient in the full model.</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88792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669289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651810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36767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15101161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Two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11475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8" r:id="rId29"/>
    <p:sldLayoutId id="2147483677" r:id="rId30"/>
    <p:sldLayoutId id="2147483679" r:id="rId3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0.png"/><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1.png"/><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5.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17.xml"/><Relationship Id="rId4" Type="http://schemas.openxmlformats.org/officeDocument/2006/relationships/image" Target="../media/image38.png"/></Relationships>
</file>

<file path=ppt/slides/_rels/slide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3" Type="http://schemas.openxmlformats.org/officeDocument/2006/relationships/image" Target="../media/image40.gif"/><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3.xml"/><Relationship Id="rId4" Type="http://schemas.openxmlformats.org/officeDocument/2006/relationships/image" Target="../media/image43.png"/></Relationships>
</file>

<file path=ppt/slides/_rels/slide24.xml.rels><?xml version="1.0" encoding="UTF-8" standalone="yes"?>
<Relationships xmlns="http://schemas.openxmlformats.org/package/2006/relationships"><Relationship Id="rId3" Type="http://schemas.openxmlformats.org/officeDocument/2006/relationships/image" Target="../media/image44.png"/><Relationship Id="rId7" Type="http://schemas.openxmlformats.org/officeDocument/2006/relationships/image" Target="../media/image47.jp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46.png"/><Relationship Id="rId5" Type="http://schemas.microsoft.com/office/2007/relationships/hdphoto" Target="../media/hdphoto1.wdp"/><Relationship Id="rId4" Type="http://schemas.openxmlformats.org/officeDocument/2006/relationships/image" Target="../media/image45.png"/></Relationships>
</file>

<file path=ppt/slides/_rels/slide25.xml.rels><?xml version="1.0" encoding="UTF-8" standalone="yes"?>
<Relationships xmlns="http://schemas.openxmlformats.org/package/2006/relationships"><Relationship Id="rId3" Type="http://schemas.openxmlformats.org/officeDocument/2006/relationships/image" Target="../media/image48.gif"/><Relationship Id="rId2" Type="http://schemas.openxmlformats.org/officeDocument/2006/relationships/notesSlide" Target="../notesSlides/notesSlide24.xml"/><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3" Type="http://schemas.openxmlformats.org/officeDocument/2006/relationships/image" Target="../media/image49.gif"/><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6.xml"/><Relationship Id="rId1" Type="http://schemas.openxmlformats.org/officeDocument/2006/relationships/slideLayout" Target="../slideLayouts/slideLayout20.xml"/><Relationship Id="rId4" Type="http://schemas.openxmlformats.org/officeDocument/2006/relationships/image" Target="../media/image51.png"/></Relationships>
</file>

<file path=ppt/slides/_rels/slide28.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7.xml"/><Relationship Id="rId1" Type="http://schemas.openxmlformats.org/officeDocument/2006/relationships/slideLayout" Target="../slideLayouts/slideLayout18.xml"/><Relationship Id="rId5" Type="http://schemas.openxmlformats.org/officeDocument/2006/relationships/image" Target="../media/image42.png"/><Relationship Id="rId4" Type="http://schemas.openxmlformats.org/officeDocument/2006/relationships/image" Target="../media/image52.png"/></Relationships>
</file>

<file path=ppt/slides/_rels/slide2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8.xml"/><Relationship Id="rId1" Type="http://schemas.openxmlformats.org/officeDocument/2006/relationships/slideLayout" Target="../slideLayouts/slideLayout18.xml"/></Relationships>
</file>

<file path=ppt/slides/_rels/slide30.xml.rels><?xml version="1.0" encoding="UTF-8" standalone="yes"?>
<Relationships xmlns="http://schemas.openxmlformats.org/package/2006/relationships"><Relationship Id="rId3" Type="http://schemas.openxmlformats.org/officeDocument/2006/relationships/image" Target="../media/image53.gif"/><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 Id="rId5" Type="http://schemas.openxmlformats.org/officeDocument/2006/relationships/image" Target="../media/image57.wmf"/><Relationship Id="rId4" Type="http://schemas.openxmlformats.org/officeDocument/2006/relationships/image" Target="../media/image56.png"/></Relationships>
</file>

<file path=ppt/slides/_rels/slide3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0.xml"/><Relationship Id="rId1" Type="http://schemas.openxmlformats.org/officeDocument/2006/relationships/slideLayout" Target="../slideLayouts/slideLayout22.xml"/><Relationship Id="rId6" Type="http://schemas.openxmlformats.org/officeDocument/2006/relationships/image" Target="../media/image57.wmf"/><Relationship Id="rId5" Type="http://schemas.openxmlformats.org/officeDocument/2006/relationships/image" Target="../media/image59.png"/><Relationship Id="rId4" Type="http://schemas.openxmlformats.org/officeDocument/2006/relationships/hyperlink" Target="http://www.datavis.ca/gallery/animation/outlier-demo/" TargetMode="External"/></Relationships>
</file>

<file path=ppt/slides/_rels/slide3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1.xml"/><Relationship Id="rId1" Type="http://schemas.openxmlformats.org/officeDocument/2006/relationships/slideLayout" Target="../slideLayouts/slideLayout21.xml"/><Relationship Id="rId4" Type="http://schemas.openxmlformats.org/officeDocument/2006/relationships/image" Target="../media/image61.png"/></Relationships>
</file>

<file path=ppt/slides/_rels/slide3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2.xml"/><Relationship Id="rId1" Type="http://schemas.openxmlformats.org/officeDocument/2006/relationships/slideLayout" Target="../slideLayouts/slideLayout23.xml"/><Relationship Id="rId4" Type="http://schemas.openxmlformats.org/officeDocument/2006/relationships/image" Target="../media/image57.wmf"/></Relationships>
</file>

<file path=ppt/slides/_rels/slide35.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3.xml"/><Relationship Id="rId1" Type="http://schemas.openxmlformats.org/officeDocument/2006/relationships/slideLayout" Target="../slideLayouts/slideLayout22.xml"/></Relationships>
</file>

<file path=ppt/slides/_rels/slide36.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4.xml"/><Relationship Id="rId1" Type="http://schemas.openxmlformats.org/officeDocument/2006/relationships/slideLayout" Target="../slideLayouts/slideLayout21.xml"/><Relationship Id="rId4" Type="http://schemas.openxmlformats.org/officeDocument/2006/relationships/image" Target="../media/image63.png"/></Relationships>
</file>

<file path=ppt/slides/_rels/slide37.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5.xml"/><Relationship Id="rId1" Type="http://schemas.openxmlformats.org/officeDocument/2006/relationships/slideLayout" Target="../slideLayouts/slideLayout21.xml"/></Relationships>
</file>

<file path=ppt/slides/_rels/slide38.xml.rels><?xml version="1.0" encoding="UTF-8" standalone="yes"?>
<Relationships xmlns="http://schemas.openxmlformats.org/package/2006/relationships"><Relationship Id="rId3" Type="http://schemas.openxmlformats.org/officeDocument/2006/relationships/image" Target="../media/image64.gif"/><Relationship Id="rId2" Type="http://schemas.openxmlformats.org/officeDocument/2006/relationships/notesSlide" Target="../notesSlides/notesSlide36.xml"/><Relationship Id="rId1" Type="http://schemas.openxmlformats.org/officeDocument/2006/relationships/slideLayout" Target="../slideLayouts/slideLayout22.xml"/><Relationship Id="rId5" Type="http://schemas.openxmlformats.org/officeDocument/2006/relationships/image" Target="../media/image66.gif"/><Relationship Id="rId4" Type="http://schemas.openxmlformats.org/officeDocument/2006/relationships/image" Target="../media/image65.gif"/></Relationships>
</file>

<file path=ppt/slides/_rels/slide3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7.xml"/><Relationship Id="rId1" Type="http://schemas.openxmlformats.org/officeDocument/2006/relationships/slideLayout" Target="../slideLayouts/slideLayout21.xml"/><Relationship Id="rId6" Type="http://schemas.openxmlformats.org/officeDocument/2006/relationships/image" Target="../media/image68.png"/><Relationship Id="rId5" Type="http://schemas.openxmlformats.org/officeDocument/2006/relationships/image" Target="../media/image10.png"/><Relationship Id="rId4" Type="http://schemas.openxmlformats.org/officeDocument/2006/relationships/image" Target="../media/image57.wmf"/></Relationships>
</file>

<file path=ppt/slides/_rels/slide4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38.xml"/><Relationship Id="rId1" Type="http://schemas.openxmlformats.org/officeDocument/2006/relationships/slideLayout" Target="../slideLayouts/slideLayout23.xml"/><Relationship Id="rId4" Type="http://schemas.openxmlformats.org/officeDocument/2006/relationships/image" Target="../media/image9.png"/></Relationships>
</file>

<file path=ppt/slides/_rels/slide4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0.xml"/><Relationship Id="rId1" Type="http://schemas.openxmlformats.org/officeDocument/2006/relationships/slideLayout" Target="../slideLayouts/slideLayout21.xml"/><Relationship Id="rId5" Type="http://schemas.openxmlformats.org/officeDocument/2006/relationships/image" Target="../media/image72.png"/><Relationship Id="rId4" Type="http://schemas.openxmlformats.org/officeDocument/2006/relationships/image" Target="../media/image10.png"/></Relationships>
</file>

<file path=ppt/slides/_rels/slide4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3.xml"/><Relationship Id="rId4" Type="http://schemas.openxmlformats.org/officeDocument/2006/relationships/image" Target="../media/image76.png"/></Relationships>
</file>

<file path=ppt/slides/_rels/slide45.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4.png"/><Relationship Id="rId7" Type="http://schemas.openxmlformats.org/officeDocument/2006/relationships/image" Target="../media/image80.png"/><Relationship Id="rId2" Type="http://schemas.openxmlformats.org/officeDocument/2006/relationships/notesSlide" Target="../notesSlides/notesSlide42.xml"/><Relationship Id="rId1" Type="http://schemas.openxmlformats.org/officeDocument/2006/relationships/slideLayout" Target="../slideLayouts/slideLayout24.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s>
</file>

<file path=ppt/slides/_rels/slide46.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43.xml"/><Relationship Id="rId1" Type="http://schemas.openxmlformats.org/officeDocument/2006/relationships/slideLayout" Target="../slideLayouts/slideLayout25.xml"/><Relationship Id="rId5" Type="http://schemas.openxmlformats.org/officeDocument/2006/relationships/image" Target="../media/image84.png"/><Relationship Id="rId4" Type="http://schemas.openxmlformats.org/officeDocument/2006/relationships/image" Target="../media/image83.png"/></Relationships>
</file>

<file path=ppt/slides/_rels/slide4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44.xml"/><Relationship Id="rId1" Type="http://schemas.openxmlformats.org/officeDocument/2006/relationships/slideLayout" Target="../slideLayouts/slideLayout25.xml"/><Relationship Id="rId6" Type="http://schemas.openxmlformats.org/officeDocument/2006/relationships/image" Target="../media/image86.wmf"/><Relationship Id="rId5" Type="http://schemas.openxmlformats.org/officeDocument/2006/relationships/oleObject" Target="../embeddings/oleObject1.bin"/><Relationship Id="rId4" Type="http://schemas.openxmlformats.org/officeDocument/2006/relationships/image" Target="../media/image85.png"/></Relationships>
</file>

<file path=ppt/slides/_rels/slide48.xml.rels><?xml version="1.0" encoding="UTF-8" standalone="yes"?>
<Relationships xmlns="http://schemas.openxmlformats.org/package/2006/relationships"><Relationship Id="rId3" Type="http://schemas.openxmlformats.org/officeDocument/2006/relationships/image" Target="../media/image83.png"/><Relationship Id="rId7" Type="http://schemas.openxmlformats.org/officeDocument/2006/relationships/image" Target="../media/image89.wmf"/><Relationship Id="rId2" Type="http://schemas.openxmlformats.org/officeDocument/2006/relationships/notesSlide" Target="../notesSlides/notesSlide45.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88.png"/><Relationship Id="rId4" Type="http://schemas.openxmlformats.org/officeDocument/2006/relationships/image" Target="../media/image87.png"/></Relationships>
</file>

<file path=ppt/slides/_rels/slide49.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46.xml"/><Relationship Id="rId1" Type="http://schemas.openxmlformats.org/officeDocument/2006/relationships/slideLayout" Target="../slideLayouts/slideLayout24.xml"/></Relationships>
</file>

<file path=ppt/slides/_rels/slide50.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47.xml"/><Relationship Id="rId1" Type="http://schemas.openxmlformats.org/officeDocument/2006/relationships/slideLayout" Target="../slideLayouts/slideLayout26.xml"/></Relationships>
</file>

<file path=ppt/slides/_rels/slide51.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48.xml"/><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6.xml"/></Relationships>
</file>

<file path=ppt/slides/_rels/slide53.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0.xml"/><Relationship Id="rId1" Type="http://schemas.openxmlformats.org/officeDocument/2006/relationships/slideLayout" Target="../slideLayouts/slideLayout25.xml"/><Relationship Id="rId5" Type="http://schemas.openxmlformats.org/officeDocument/2006/relationships/image" Target="../media/image76.png"/><Relationship Id="rId4" Type="http://schemas.openxmlformats.org/officeDocument/2006/relationships/image" Target="../media/image93.png"/></Relationships>
</file>

<file path=ppt/slides/_rels/slide54.xml.rels><?xml version="1.0" encoding="UTF-8" standalone="yes"?>
<Relationships xmlns="http://schemas.openxmlformats.org/package/2006/relationships"><Relationship Id="rId3" Type="http://schemas.openxmlformats.org/officeDocument/2006/relationships/image" Target="../media/image94.jpg"/><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55.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52.xml"/><Relationship Id="rId1" Type="http://schemas.openxmlformats.org/officeDocument/2006/relationships/slideLayout" Target="../slideLayouts/slideLayout24.xml"/></Relationships>
</file>

<file path=ppt/slides/_rels/slide5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53.xml"/><Relationship Id="rId1" Type="http://schemas.openxmlformats.org/officeDocument/2006/relationships/slideLayout" Target="../slideLayouts/slideLayout26.xml"/></Relationships>
</file>

<file path=ppt/slides/_rels/slide57.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7.png"/><Relationship Id="rId1" Type="http://schemas.openxmlformats.org/officeDocument/2006/relationships/slideLayout" Target="../slideLayouts/slideLayout3.xml"/><Relationship Id="rId4" Type="http://schemas.openxmlformats.org/officeDocument/2006/relationships/image" Target="../media/image99.png"/></Relationships>
</file>

<file path=ppt/slides/_rels/slide58.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4.xml"/><Relationship Id="rId1" Type="http://schemas.openxmlformats.org/officeDocument/2006/relationships/slideLayout" Target="../slideLayouts/slideLayout30.xml"/><Relationship Id="rId4" Type="http://schemas.openxmlformats.org/officeDocument/2006/relationships/image" Target="../media/image98.png"/></Relationships>
</file>

<file path=ppt/slides/_rels/slide59.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55.xml"/><Relationship Id="rId1" Type="http://schemas.openxmlformats.org/officeDocument/2006/relationships/slideLayout" Target="../slideLayouts/slideLayout30.xml"/><Relationship Id="rId4" Type="http://schemas.openxmlformats.org/officeDocument/2006/relationships/image" Target="../media/image8.png"/></Relationships>
</file>

<file path=ppt/slides/_rels/slide60.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56.xml"/><Relationship Id="rId1" Type="http://schemas.openxmlformats.org/officeDocument/2006/relationships/slideLayout" Target="../slideLayouts/slideLayout30.xml"/><Relationship Id="rId4" Type="http://schemas.openxmlformats.org/officeDocument/2006/relationships/image" Target="../media/image6.png"/></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9.xml"/></Relationships>
</file>

<file path=ppt/slides/_rels/slide6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58.xml"/><Relationship Id="rId1" Type="http://schemas.openxmlformats.org/officeDocument/2006/relationships/slideLayout" Target="../slideLayouts/slideLayout31.xml"/><Relationship Id="rId4" Type="http://schemas.openxmlformats.org/officeDocument/2006/relationships/image" Target="../media/image5.jpg"/></Relationships>
</file>

<file path=ppt/slides/_rels/slide63.xml.rels><?xml version="1.0" encoding="UTF-8" standalone="yes"?>
<Relationships xmlns="http://schemas.openxmlformats.org/package/2006/relationships"><Relationship Id="rId2" Type="http://schemas.openxmlformats.org/officeDocument/2006/relationships/image" Target="../media/image101.gif"/><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64.xml"/><Relationship Id="rId1" Type="http://schemas.openxmlformats.org/officeDocument/2006/relationships/slideLayout" Target="../slideLayouts/slideLayout6.xml"/><Relationship Id="rId4" Type="http://schemas.openxmlformats.org/officeDocument/2006/relationships/image" Target="../media/image38.png"/></Relationships>
</file>

<file path=ppt/slides/_rels/slide70.xml.rels><?xml version="1.0" encoding="UTF-8" standalone="yes"?>
<Relationships xmlns="http://schemas.openxmlformats.org/package/2006/relationships"><Relationship Id="rId3" Type="http://schemas.openxmlformats.org/officeDocument/2006/relationships/image" Target="../media/image66.gif"/><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13000">
              <a:schemeClr val="accent1">
                <a:lumMod val="40000"/>
                <a:lumOff val="60000"/>
              </a:schemeClr>
            </a:gs>
            <a:gs pos="41000">
              <a:schemeClr val="accent1">
                <a:lumMod val="45000"/>
                <a:lumOff val="55000"/>
              </a:schemeClr>
            </a:gs>
            <a:gs pos="83000">
              <a:schemeClr val="accent1">
                <a:lumMod val="45000"/>
                <a:lumOff val="55000"/>
              </a:schemeClr>
            </a:gs>
            <a:gs pos="100000">
              <a:schemeClr val="accent1">
                <a:lumMod val="30000"/>
                <a:lumOff val="7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98490" y="320039"/>
            <a:ext cx="2652353" cy="2652353"/>
          </a:xfrm>
          <a:prstGeom prst="rect">
            <a:avLst/>
          </a:prstGeom>
        </p:spPr>
      </p:pic>
      <p:pic>
        <p:nvPicPr>
          <p:cNvPr id="5" name="Thumbnail: biplot" descr="fig-diabetes-ggbiplot-1.png"/>
          <p:cNvPicPr>
            <a:picLocks noChangeAspect="1"/>
          </p:cNvPicPr>
          <p:nvPr/>
        </p:nvPicPr>
        <p:blipFill>
          <a:blip r:embed="rId6"/>
          <a:stretch>
            <a:fillRect/>
          </a:stretch>
        </p:blipFill>
        <p:spPr>
          <a:xfrm>
            <a:off x="3962245" y="320039"/>
            <a:ext cx="3713292" cy="2652351"/>
          </a:xfrm>
          <a:prstGeom prst="rect">
            <a:avLst/>
          </a:prstGeom>
        </p:spPr>
      </p:pic>
      <p:pic>
        <p:nvPicPr>
          <p:cNvPr id="6" name="Thumbnail: HE plot" descr="image.png"/>
          <p:cNvPicPr>
            <a:picLocks noChangeAspect="1"/>
          </p:cNvPicPr>
          <p:nvPr/>
        </p:nvPicPr>
        <p:blipFill>
          <a:blip r:embed="rId7"/>
          <a:stretch>
            <a:fillRect/>
          </a:stretch>
        </p:blipFill>
        <p:spPr>
          <a:xfrm>
            <a:off x="7813452" y="344842"/>
            <a:ext cx="3713293" cy="2652352"/>
          </a:xfrm>
          <a:prstGeom prst="rect">
            <a:avLst/>
          </a:prstGeom>
        </p:spPr>
      </p:pic>
      <p:pic>
        <p:nvPicPr>
          <p:cNvPr id="8" name="Picture 7">
            <a:extLst>
              <a:ext uri="{FF2B5EF4-FFF2-40B4-BE49-F238E27FC236}">
                <a16:creationId xmlns:a16="http://schemas.microsoft.com/office/drawing/2014/main" id="{E4802ABD-082F-BC7F-2791-4E06016AE1D7}"/>
              </a:ext>
            </a:extLst>
          </p:cNvPr>
          <p:cNvPicPr>
            <a:picLocks noChangeAspect="1"/>
          </p:cNvPicPr>
          <p:nvPr/>
        </p:nvPicPr>
        <p:blipFill>
          <a:blip r:embed="rId8"/>
          <a:stretch>
            <a:fillRect/>
          </a:stretch>
        </p:blipFill>
        <p:spPr>
          <a:xfrm>
            <a:off x="6229529" y="5901328"/>
            <a:ext cx="365760"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181600" cy="1143000"/>
          </a:xfrm>
        </p:spPr>
        <p:txBody>
          <a:bodyPr/>
          <a:lstStyle/>
          <a:p>
            <a:r>
              <a:rPr dirty="0"/>
              <a:t>The book</a:t>
            </a:r>
          </a:p>
        </p:txBody>
      </p:sp>
      <p:sp>
        <p:nvSpPr>
          <p:cNvPr id="3" name="Content Placeholder 2"/>
          <p:cNvSpPr>
            <a:spLocks noGrp="1"/>
          </p:cNvSpPr>
          <p:nvPr>
            <p:ph sz="half" idx="1"/>
          </p:nvPr>
        </p:nvSpPr>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6331974" y="6300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Three penguins walking, with data ellipses">
            <a:extLst>
              <a:ext uri="{FF2B5EF4-FFF2-40B4-BE49-F238E27FC236}">
                <a16:creationId xmlns:a16="http://schemas.microsoft.com/office/drawing/2014/main" id="{3139B4EB-ECB5-A62E-A0B0-F5445F7851A8}"/>
              </a:ext>
            </a:extLst>
          </p:cNvPr>
          <p:cNvPicPr>
            <a:picLocks noChangeAspect="1"/>
          </p:cNvPicPr>
          <p:nvPr/>
        </p:nvPicPr>
        <p:blipFill>
          <a:blip r:embed="rId3"/>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666482"/>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097280" y="6007100"/>
            <a:ext cx="10058400" cy="645355"/>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chemeClr val="tx1"/>
                </a:solidFill>
              </a:rPr>
              <a:t>Data ellipses, penguins, and looking at many variables at once</a:t>
            </a:r>
          </a:p>
        </p:txBody>
      </p:sp>
      <p:pic>
        <p:nvPicPr>
          <p:cNvPr id="5" name="Picture 4" descr="fig-peng-ggplot1-1.png">
            <a:extLst>
              <a:ext uri="{FF2B5EF4-FFF2-40B4-BE49-F238E27FC236}">
                <a16:creationId xmlns:a16="http://schemas.microsoft.com/office/drawing/2014/main" id="{6E39EAD4-0504-7D4A-931A-1C933D3D21A2}"/>
              </a:ext>
            </a:extLst>
          </p:cNvPr>
          <p:cNvPicPr>
            <a:picLocks noChangeAspect="1"/>
          </p:cNvPicPr>
          <p:nvPr/>
        </p:nvPicPr>
        <p:blipFill>
          <a:blip r:embed="rId4"/>
          <a:stretch>
            <a:fillRect/>
          </a:stretch>
        </p:blipFill>
        <p:spPr>
          <a:xfrm>
            <a:off x="348488" y="424820"/>
            <a:ext cx="2178932" cy="1556380"/>
          </a:xfrm>
          <a:prstGeom prst="rect">
            <a:avLst/>
          </a:prstGeom>
        </p:spPr>
      </p:pic>
      <p:pic>
        <p:nvPicPr>
          <p:cNvPr id="7" name="Picture 6">
            <a:extLst>
              <a:ext uri="{FF2B5EF4-FFF2-40B4-BE49-F238E27FC236}">
                <a16:creationId xmlns:a16="http://schemas.microsoft.com/office/drawing/2014/main" id="{C93F1C11-5B63-1B14-ECC3-A5F3A8898BDD}"/>
              </a:ext>
            </a:extLst>
          </p:cNvPr>
          <p:cNvPicPr>
            <a:picLocks noChangeAspect="1"/>
          </p:cNvPicPr>
          <p:nvPr/>
        </p:nvPicPr>
        <p:blipFill>
          <a:blip r:embed="rId5"/>
          <a:stretch>
            <a:fillRect/>
          </a:stretch>
        </p:blipFill>
        <p:spPr>
          <a:xfrm>
            <a:off x="10209005" y="4083276"/>
            <a:ext cx="1771429" cy="1809524"/>
          </a:xfrm>
          <a:prstGeom prst="rect">
            <a:avLst/>
          </a:prstGeom>
        </p:spPr>
      </p:pic>
      <p:sp>
        <p:nvSpPr>
          <p:cNvPr id="14" name="Slide Number Placeholder 14"/>
          <p:cNvSpPr>
            <a:spLocks noGrp="1"/>
          </p:cNvSpPr>
          <p:nvPr>
            <p:ph type="sldNum" sz="quarter" idx="12"/>
          </p:nvPr>
        </p:nvSpPr>
        <p:spPr/>
        <p:txBody>
          <a:bodyPr/>
          <a:lstStyle/>
          <a:p>
            <a:fld id="{9BFB2853-4965-4727-91C4-384EB30D99A4}" type="slidenum">
              <a:rPr lang="en-CA"/>
              <a:t>10</a:t>
            </a:fld>
            <a:endParaRPr lang="en-CA"/>
          </a:p>
        </p:txBody>
      </p:sp>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39684" y="936307"/>
            <a:ext cx="2342959" cy="1508125"/>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6634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p:nvPr/>
        </p:nvGrpSpPr>
        <p:grpSpPr>
          <a:xfrm>
            <a:off x="1788460" y="3127935"/>
            <a:ext cx="2599710" cy="324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772134" y="3127935"/>
            <a:ext cx="2599713" cy="324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3127935"/>
            <a:ext cx="2599713" cy="324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19</a:t>
            </a:fld>
            <a:endParaRPr lang="en-CA"/>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2862322"/>
          </a:xfrm>
          <a:prstGeom prst="rect">
            <a:avLst/>
          </a:prstGeom>
          <a:noFill/>
        </p:spPr>
        <p:txBody>
          <a:bodyPr wrap="square" rtlCol="0">
            <a:spAutoFit/>
          </a:bodyPr>
          <a:lstStyle/>
          <a:p>
            <a:r>
              <a:rPr lang="en-CA" sz="2000" dirty="0"/>
              <a:t>Each observation is a line across the variable axes</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endParaRPr lang="en-CA" sz="2000" dirty="0"/>
          </a:p>
          <a:p>
            <a:r>
              <a:rPr lang="en-CA" sz="2000" dirty="0"/>
              <a:t>Using this interactively could make a tool for understanding</a:t>
            </a:r>
          </a:p>
        </p:txBody>
      </p:sp>
      <p:sp>
        <p:nvSpPr>
          <p:cNvPr id="7" name="Slide Number Placeholder 7"/>
          <p:cNvSpPr>
            <a:spLocks noGrp="1"/>
          </p:cNvSpPr>
          <p:nvPr>
            <p:ph type="sldNum" sz="quarter" idx="12"/>
          </p:nvPr>
        </p:nvSpPr>
        <p:spPr/>
        <p:txBody>
          <a:bodyPr/>
          <a:lstStyle/>
          <a:p>
            <a:fld id="{9BFB2853-4965-4727-91C4-384EB30D99A4}" type="slidenum">
              <a:rPr lang="en-CA"/>
              <a:t>21</a:t>
            </a:fld>
            <a:endParaRPr lang="en-CA"/>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6F6"/>
            </a:gs>
            <a:gs pos="100000">
              <a:srgbClr val="8EC0C0"/>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23</a:t>
            </a:fld>
            <a:endParaRPr lang="en-CA"/>
          </a:p>
        </p:txBody>
      </p:sp>
      <p:pic>
        <p:nvPicPr>
          <p:cNvPr id="6" name="Section 2 PCA illustration">
            <a:extLst>
              <a:ext uri="{FF2B5EF4-FFF2-40B4-BE49-F238E27FC236}">
                <a16:creationId xmlns:a16="http://schemas.microsoft.com/office/drawing/2014/main" id="{0E381DE4-FBD8-26D3-77BF-02D3A0BA129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00100" y="177800"/>
            <a:ext cx="2413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2 biplot illustration">
            <a:extLst>
              <a:ext uri="{FF2B5EF4-FFF2-40B4-BE49-F238E27FC236}">
                <a16:creationId xmlns:a16="http://schemas.microsoft.com/office/drawing/2014/main" id="{A381116F-44E9-5493-529B-32E88384128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3492500" y="177800"/>
            <a:ext cx="2794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2 t-SNE illustration">
            <a:extLst>
              <a:ext uri="{FF2B5EF4-FFF2-40B4-BE49-F238E27FC236}">
                <a16:creationId xmlns:a16="http://schemas.microsoft.com/office/drawing/2014/main" id="{00821F38-1AD3-163D-3E8A-5D3240EEC09E}"/>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565900" y="177800"/>
            <a:ext cx="4826000" cy="2413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p:nvPr/>
        </p:nvGrpSpPr>
        <p:grpSpPr>
          <a:xfrm>
            <a:off x="1288897" y="1486129"/>
            <a:ext cx="1942871" cy="1942871"/>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p:nvPr/>
        </p:nvGrpSpPr>
        <p:grpSpPr>
          <a:xfrm>
            <a:off x="3907129" y="2157412"/>
            <a:ext cx="3390900" cy="2543175"/>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rgbClr val="008080">
              <a:alpha val="22000"/>
            </a:srgbClr>
          </a:solidFill>
          <a:ln w="19050">
            <a:solidFill>
              <a:srgbClr val="008080"/>
            </a:solidFill>
          </a:ln>
        </p:spPr>
        <p:txBody>
          <a:bodyPr wrap="square" rtlCol="0">
            <a:spAutoFit/>
          </a:bodyPr>
          <a:lstStyle/>
          <a:p>
            <a:r>
              <a:rPr lang="en-US" sz="4800" dirty="0">
                <a:solidFill>
                  <a:srgbClr val="000000"/>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p:nvPr/>
        </p:nvGrpSpPr>
        <p:grpSpPr>
          <a:xfrm>
            <a:off x="8083903" y="3541758"/>
            <a:ext cx="1607344" cy="16002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24</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25</a:t>
            </a:fld>
            <a:endParaRPr lang="en-CA"/>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615705"/>
            <a:ext cx="4875713" cy="3139321"/>
          </a:xfrm>
          <a:prstGeom prst="rect">
            <a:avLst/>
          </a:prstGeom>
          <a:noFill/>
        </p:spPr>
        <p:txBody>
          <a:bodyPr wrap="square" rtlCol="0">
            <a:spAutoFit/>
          </a:bodyPr>
          <a:lstStyle/>
          <a:p>
            <a:r>
              <a:rPr lang="en-CA" dirty="0"/>
              <a:t>Least squares </a:t>
            </a:r>
            <a:r>
              <a:rPr lang="en-CA" dirty="0">
                <a:sym typeface="Symbol" panose="05050102010706020507" pitchFamily="18" charset="2"/>
              </a:rPr>
              <a:t> observations connected by springs </a:t>
            </a:r>
          </a:p>
          <a:p>
            <a:endParaRPr lang="en-CA" dirty="0">
              <a:sym typeface="Symbol" panose="05050102010706020507" pitchFamily="18" charset="2"/>
            </a:endParaRPr>
          </a:p>
          <a:p>
            <a:r>
              <a:rPr lang="en-CA" dirty="0">
                <a:sym typeface="Symbol" panose="05050102010706020507" pitchFamily="18" charset="2"/>
              </a:rPr>
              <a:t>For PCA, connect a rigid line to the points by springs</a:t>
            </a:r>
          </a:p>
          <a:p>
            <a:endParaRPr lang="en-CA" dirty="0">
              <a:sym typeface="Symbol" panose="05050102010706020507" pitchFamily="18" charset="2"/>
            </a:endParaRPr>
          </a:p>
          <a:p>
            <a:r>
              <a:rPr lang="en-CA" dirty="0"/>
              <a:t>Springs pull the line in proportion to squared distance</a:t>
            </a:r>
          </a:p>
          <a:p>
            <a:endParaRPr lang="en-CA" dirty="0"/>
          </a:p>
          <a:p>
            <a:r>
              <a:rPr lang="en-CA" dirty="0"/>
              <a:t>It settles on the first principal component</a:t>
            </a:r>
            <a:endParaRPr lang="en-CA" dirty="0">
              <a:sym typeface="Symbol" panose="05050102010706020507" pitchFamily="18" charset="2"/>
            </a:endParaRP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280293"/>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27</a:t>
            </a:fld>
            <a:endParaRPr lang="en-CA"/>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1200329"/>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a:t>library(</a:t>
            </a:r>
            <a:r>
              <a:rPr lang="en-US" dirty="0" err="1"/>
              <a:t>ggbiplot</a:t>
            </a:r>
            <a:r>
              <a:rPr lang="en-US" dirty="0"/>
              <a:t>)</a:t>
            </a:r>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3537438" y="6281429"/>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292777"/>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28</a:t>
            </a:fld>
            <a:endParaRPr lang="en-CA"/>
          </a:p>
        </p:txBody>
      </p:sp>
    </p:spTree>
    <p:extLst>
      <p:ext uri="{BB962C8B-B14F-4D97-AF65-F5344CB8AC3E}">
        <p14:creationId xmlns:p14="http://schemas.microsoft.com/office/powerpoint/2010/main" val="18081444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29</a:t>
            </a:fld>
            <a:endParaRPr lang="en-CA"/>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3F6F4"/>
            </a:gs>
            <a:gs pos="100000">
              <a:srgbClr val="9DC0AA"/>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31</a:t>
            </a:fld>
            <a:endParaRPr lang="en-CA"/>
          </a:p>
        </p:txBody>
      </p:sp>
      <p:pic>
        <p:nvPicPr>
          <p:cNvPr id="6" name="Section 3 outlier illustration">
            <a:extLst>
              <a:ext uri="{FF2B5EF4-FFF2-40B4-BE49-F238E27FC236}">
                <a16:creationId xmlns:a16="http://schemas.microsoft.com/office/drawing/2014/main" id="{D9874DB1-9794-A74C-8677-BF4D8C7677EF}"/>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469900" y="177800"/>
            <a:ext cx="20574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3 measurement error illustration">
            <a:extLst>
              <a:ext uri="{FF2B5EF4-FFF2-40B4-BE49-F238E27FC236}">
                <a16:creationId xmlns:a16="http://schemas.microsoft.com/office/drawing/2014/main" id="{6436CD5E-74D1-4A25-DD57-A748B2B1C2A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2806700" y="177800"/>
            <a:ext cx="4000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3 ridge illustration">
            <a:extLst>
              <a:ext uri="{FF2B5EF4-FFF2-40B4-BE49-F238E27FC236}">
                <a16:creationId xmlns:a16="http://schemas.microsoft.com/office/drawing/2014/main" id="{7FE5C6B1-2945-D860-D3B7-C44ECD2BABAB}"/>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086600" y="177800"/>
            <a:ext cx="4635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2" name="Section 3 Wally">
            <a:extLst>
              <a:ext uri="{FF2B5EF4-FFF2-40B4-BE49-F238E27FC236}">
                <a16:creationId xmlns:a16="http://schemas.microsoft.com/office/drawing/2014/main" id="{AEDF897F-DFC6-ED44-2B58-B03DA455DDA4}"/>
              </a:ext>
            </a:extLst>
          </p:cNvPr>
          <p:cNvPicPr>
            <a:picLocks/>
          </p:cNvPicPr>
          <p:nvPr/>
        </p:nvPicPr>
        <p:blipFill>
          <a:blip r:embed="rId5">
            <a:clrChange>
              <a:clrFrom>
                <a:srgbClr val="FFFFFF"/>
              </a:clrFrom>
              <a:clrTo>
                <a:srgbClr val="FFFFFF">
                  <a:alpha val="0"/>
                </a:srgbClr>
              </a:clrTo>
            </a:clrChange>
          </a:blip>
          <a:srcRect l="2228" t="2228" r="1114" b="1114"/>
          <a:stretch>
            <a:fillRect/>
          </a:stretch>
        </p:blipFill>
        <p:spPr>
          <a:xfrm>
            <a:off x="6364714" y="2503914"/>
            <a:ext cx="638329" cy="638329"/>
          </a:xfrm>
          <a:prstGeom prst="rect">
            <a:avLst/>
          </a:prstGeom>
          <a:solidFill>
            <a:schemeClr val="accent1">
              <a:alpha val="0"/>
            </a:schemeClr>
          </a:solidFill>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32</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dirty="0"/>
              <a:t>Hook Nose</a:t>
            </a:r>
          </a:p>
        </p:txBody>
      </p:sp>
      <p:sp>
        <p:nvSpPr>
          <p:cNvPr id="15" name="Slide Number Placeholder 15"/>
          <p:cNvSpPr>
            <a:spLocks noGrp="1"/>
          </p:cNvSpPr>
          <p:nvPr>
            <p:ph type="sldNum" sz="quarter" idx="12"/>
          </p:nvPr>
        </p:nvSpPr>
        <p:spPr/>
        <p:txBody>
          <a:bodyPr/>
          <a:lstStyle/>
          <a:p>
            <a:fld id="{9BFB2853-4965-4727-91C4-384EB30D99A4}" type="slidenum">
              <a:rPr lang="en-CA"/>
              <a:t>33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does not fit </a:t>
            </a:r>
            <a:r>
              <a:rPr dirty="0" err="1"/>
              <a:t>th</a:t>
            </a:r>
            <a:r>
              <a:rPr lang="en-CA" dirty="0"/>
              <a:t>at</a:t>
            </a:r>
            <a:r>
              <a:rPr dirty="0"/>
              <a:t>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Hook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34</a:t>
            </a:fld>
            <a:endParaRPr lang="en-CA"/>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479427"/>
            <a:ext cx="8229600" cy="715962"/>
          </a:xfrm>
        </p:spPr>
        <p:txBody>
          <a:bodyPr>
            <a:normAutofit/>
          </a:bodyPr>
          <a:lstStyle/>
          <a:p>
            <a:r>
              <a:rPr lang="en-US" dirty="0"/>
              <a:t>Elliptical insights: Measurement error</a:t>
            </a:r>
          </a:p>
        </p:txBody>
      </p:sp>
      <p:sp>
        <p:nvSpPr>
          <p:cNvPr id="3" name="Content Placeholder 2"/>
          <p:cNvSpPr>
            <a:spLocks noGrp="1"/>
          </p:cNvSpPr>
          <p:nvPr>
            <p:ph idx="1"/>
          </p:nvPr>
        </p:nvSpPr>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35</a:t>
            </a:fld>
            <a:endParaRPr lang="en-CA"/>
          </a:p>
        </p:txBody>
      </p:sp>
    </p:spTree>
    <p:extLst>
      <p:ext uri="{BB962C8B-B14F-4D97-AF65-F5344CB8AC3E}">
        <p14:creationId xmlns:p14="http://schemas.microsoft.com/office/powerpoint/2010/main" val="21404008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19636508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37</a:t>
            </a:fld>
            <a:endParaRPr lang="en-CA"/>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38</a:t>
            </a:fld>
            <a:endParaRPr lang="en-CA"/>
          </a:p>
        </p:txBody>
      </p:sp>
    </p:spTree>
    <p:extLst>
      <p:ext uri="{BB962C8B-B14F-4D97-AF65-F5344CB8AC3E}">
        <p14:creationId xmlns:p14="http://schemas.microsoft.com/office/powerpoint/2010/main" val="26152795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39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40</a:t>
            </a:fld>
            <a:endParaRPr lang="en-CA"/>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259893" cy="4533900"/>
          </a:xfrm>
        </p:spPr>
        <p:txBody>
          <a:bodyPr/>
          <a:lstStyle/>
          <a:p>
            <a:r>
              <a:rPr dirty="0"/>
              <a:t>Longley data: six highly collinear economic predictors</a:t>
            </a:r>
          </a:p>
          <a:p>
            <a:r>
              <a:rPr dirty="0"/>
              <a:t>Coefficients plotted against the shrinkage constant</a:t>
            </a:r>
          </a:p>
          <a:p>
            <a:r>
              <a:rPr dirty="0"/>
              <a:t>Shows the bias, but nothing about precision</a:t>
            </a:r>
          </a:p>
        </p:txBody>
      </p:sp>
      <p:pic>
        <p:nvPicPr>
          <p:cNvPr id="4" name="Picture 3" descr="fig-longley-traceplot1-1.png"/>
          <p:cNvPicPr>
            <a:picLocks noChangeAspect="1"/>
          </p:cNvPicPr>
          <p:nvPr/>
        </p:nvPicPr>
        <p:blipFill>
          <a:blip r:embed="rId3"/>
          <a:stretch>
            <a:fillRect/>
          </a:stretch>
        </p:blipFill>
        <p:spPr>
          <a:xfrm>
            <a:off x="52734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41</a:t>
            </a:fld>
            <a:endParaRPr lang="en-CA"/>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46278" y="230940"/>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42</a:t>
            </a:fld>
            <a:endParaRPr lang="en-CA"/>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p:txBody>
          <a:bodyPr/>
          <a:lstStyle/>
          <a:p>
            <a:r>
              <a:t>Transform to the principal component space of the predictors</a:t>
            </a:r>
          </a:p>
          <a:p>
            <a:r>
              <a:t>Shrinkage happens mostly in the smallest dimensions</a:t>
            </a:r>
          </a:p>
          <a:p>
            <a:r>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43</a:t>
            </a:fld>
            <a:endParaRPr lang="en-CA"/>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4F1"/>
            </a:gs>
            <a:gs pos="100000">
              <a:srgbClr val="E4C09E"/>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1193801"/>
            <a:ext cx="10515600" cy="2852737"/>
          </a:xfrm>
        </p:spPr>
        <p:txBody>
          <a:bodyPr/>
          <a:lstStyle/>
          <a:p>
            <a:r>
              <a:rPr dirty="0"/>
              <a:t>The HE plot framework</a:t>
            </a:r>
          </a:p>
        </p:txBody>
      </p:sp>
      <p:sp>
        <p:nvSpPr>
          <p:cNvPr id="3" name="Text Placeholder 2"/>
          <p:cNvSpPr>
            <a:spLocks noGrp="1"/>
          </p:cNvSpPr>
          <p:nvPr>
            <p:ph type="body" idx="1"/>
          </p:nvPr>
        </p:nvSpPr>
        <p:spPr>
          <a:xfrm>
            <a:off x="831850" y="4203093"/>
            <a:ext cx="10515600" cy="1978762"/>
          </a:xfrm>
        </p:spPr>
        <p:txBody>
          <a:bodyPr/>
          <a:lstStyle/>
          <a:p>
            <a:r>
              <a:rPr dirty="0"/>
              <a:t>Seeing multivariate tests as ellipses</a:t>
            </a:r>
            <a:r>
              <a:rPr lang="en-CA" dirty="0"/>
              <a:t> for </a:t>
            </a:r>
            <a:r>
              <a:rPr lang="en-CA" b="1" dirty="0"/>
              <a:t>H</a:t>
            </a:r>
            <a:r>
              <a:rPr lang="en-CA" dirty="0"/>
              <a:t> and </a:t>
            </a:r>
            <a:r>
              <a:rPr lang="en-CA" b="1" dirty="0"/>
              <a:t>E</a:t>
            </a:r>
          </a:p>
          <a:p>
            <a:r>
              <a:rPr lang="en-CA" dirty="0"/>
              <a:t>Significance scaling, seeing contrasts</a:t>
            </a:r>
          </a:p>
          <a:p>
            <a:r>
              <a:rPr lang="en-CA" dirty="0"/>
              <a:t>Canonical space low-D views</a:t>
            </a:r>
          </a:p>
          <a:p>
            <a:r>
              <a:rPr lang="en-CA" dirty="0"/>
              <a:t>Discriminant analysis views</a:t>
            </a:r>
          </a:p>
          <a:p>
            <a:endParaRPr dirty="0"/>
          </a:p>
        </p:txBody>
      </p:sp>
      <p:sp>
        <p:nvSpPr>
          <p:cNvPr id="4" name="Slide Number Placeholder 4"/>
          <p:cNvSpPr>
            <a:spLocks noGrp="1"/>
          </p:cNvSpPr>
          <p:nvPr>
            <p:ph type="sldNum" sz="quarter" idx="12"/>
          </p:nvPr>
        </p:nvSpPr>
        <p:spPr/>
        <p:txBody>
          <a:bodyPr/>
          <a:lstStyle/>
          <a:p>
            <a:fld id="{9BFB2853-4965-4727-91C4-384EB30D99A4}" type="slidenum">
              <a:rPr lang="en-CA"/>
              <a:t>44</a:t>
            </a:fld>
            <a:endParaRPr lang="en-CA"/>
          </a:p>
        </p:txBody>
      </p:sp>
      <p:pic>
        <p:nvPicPr>
          <p:cNvPr id="6" name="Section 4 data ellipses illustration">
            <a:extLst>
              <a:ext uri="{FF2B5EF4-FFF2-40B4-BE49-F238E27FC236}">
                <a16:creationId xmlns:a16="http://schemas.microsoft.com/office/drawing/2014/main" id="{7B380FCD-7154-0B7D-A6E0-255C8DE0AB7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03350" y="177800"/>
            <a:ext cx="2400300" cy="2540000"/>
          </a:xfrm>
          <a:prstGeom prst="rect">
            <a:avLst/>
          </a:prstGeom>
          <a:ln w="9525">
            <a:solidFill>
              <a:srgbClr val="3A3A3A"/>
            </a:solidFill>
          </a:ln>
          <a:effectLst>
            <a:outerShdw blurRad="101600" dist="45790" dir="3378598" rotWithShape="0">
              <a:srgbClr val="000000">
                <a:alpha val="40000"/>
              </a:srgbClr>
            </a:outerShdw>
          </a:effectLst>
        </p:spPr>
      </p:pic>
      <p:sp>
        <p:nvSpPr>
          <p:cNvPr id="7" name="Section 4 arrow 1">
            <a:extLst>
              <a:ext uri="{FF2B5EF4-FFF2-40B4-BE49-F238E27FC236}">
                <a16:creationId xmlns:a16="http://schemas.microsoft.com/office/drawing/2014/main" id="{1CCD92B6-26FB-013D-DC88-6FE826830CC4}"/>
              </a:ext>
            </a:extLst>
          </p:cNvPr>
          <p:cNvSpPr/>
          <p:nvPr/>
        </p:nvSpPr>
        <p:spPr>
          <a:xfrm>
            <a:off x="3930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9" name="Section 4 HE plot illustration">
            <a:extLst>
              <a:ext uri="{FF2B5EF4-FFF2-40B4-BE49-F238E27FC236}">
                <a16:creationId xmlns:a16="http://schemas.microsoft.com/office/drawing/2014/main" id="{B7F787AC-23AB-6B54-1E07-BCF3F6C72AC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43865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10" name="Section 4 arrow 2">
            <a:extLst>
              <a:ext uri="{FF2B5EF4-FFF2-40B4-BE49-F238E27FC236}">
                <a16:creationId xmlns:a16="http://schemas.microsoft.com/office/drawing/2014/main" id="{5A1E5CEC-78ED-FB46-6D55-461E5DBBACD9}"/>
              </a:ext>
            </a:extLst>
          </p:cNvPr>
          <p:cNvSpPr/>
          <p:nvPr/>
        </p:nvSpPr>
        <p:spPr>
          <a:xfrm>
            <a:off x="7105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2" name="Section 4 canonical HE illustration">
            <a:extLst>
              <a:ext uri="{FF2B5EF4-FFF2-40B4-BE49-F238E27FC236}">
                <a16:creationId xmlns:a16="http://schemas.microsoft.com/office/drawing/2014/main" id="{D3EA4D17-E757-DEA3-A2FA-7C6C9450EA21}"/>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613650" y="177800"/>
            <a:ext cx="3175000" cy="2540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45</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838200" y="4190999"/>
            <a:ext cx="10515600" cy="2285999"/>
          </a:xfrm>
        </p:spPr>
        <p:txBody>
          <a:bodyPr>
            <a:normAutofit/>
          </a:bodyPr>
          <a:lstStyle/>
          <a:p>
            <a:r>
              <a:rPr lang="en-US" sz="2000" dirty="0"/>
              <a:t>Differences </a:t>
            </a:r>
            <a:r>
              <a:rPr lang="en-US" sz="2000" b="1" dirty="0"/>
              <a:t>between group </a:t>
            </a:r>
            <a:r>
              <a:rPr lang="en-US" sz="2000" dirty="0"/>
              <a:t>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600" dirty="0"/>
              <a:t>Direction shows relation of groups to response variables</a:t>
            </a:r>
          </a:p>
          <a:p>
            <a:pPr lvl="1"/>
            <a:r>
              <a:rPr lang="en-US" sz="1600" dirty="0"/>
              <a:t>Size shows “how big is H relative to E”</a:t>
            </a:r>
          </a:p>
          <a:p>
            <a:r>
              <a:rPr lang="en-US" sz="2000" dirty="0"/>
              <a:t>Variation </a:t>
            </a:r>
            <a:r>
              <a:rPr lang="en-US" sz="2000" b="1" dirty="0"/>
              <a:t>within groups </a:t>
            </a:r>
            <a:r>
              <a:rPr lang="en-US" sz="2000" dirty="0"/>
              <a:t>is reflected in the </a:t>
            </a:r>
            <a:r>
              <a:rPr lang="en-US" sz="2000" b="1" dirty="0"/>
              <a:t>E</a:t>
            </a:r>
            <a:r>
              <a:rPr lang="en-US" sz="2000" dirty="0"/>
              <a:t> ellipsoid-- data ellipsoid of the </a:t>
            </a:r>
            <a:r>
              <a:rPr lang="en-US" sz="2000" dirty="0">
                <a:solidFill>
                  <a:srgbClr val="FF0000"/>
                </a:solidFill>
              </a:rPr>
              <a:t>residuals</a:t>
            </a:r>
          </a:p>
          <a:p>
            <a:pPr lvl="1"/>
            <a:r>
              <a:rPr lang="en-US" sz="1600" dirty="0"/>
              <a:t>Direction: residual (partial) correlation between BM &amp; WP</a:t>
            </a:r>
          </a:p>
          <a:p>
            <a:pPr lvl="1"/>
            <a:r>
              <a:rPr lang="en-US" sz="16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3716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500" y="13716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91600" y="1143000"/>
            <a:ext cx="2743200" cy="2743200"/>
          </a:xfrm>
          <a:prstGeom prst="rect">
            <a:avLst/>
          </a:prstGeom>
        </p:spPr>
      </p:pic>
      <p:cxnSp>
        <p:nvCxnSpPr>
          <p:cNvPr id="9" name="Straight Arrow Connector 8"/>
          <p:cNvCxnSpPr/>
          <p:nvPr/>
        </p:nvCxnSpPr>
        <p:spPr>
          <a:xfrm>
            <a:off x="5638800" y="17526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8305800" y="18991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46</a:t>
            </a:fld>
            <a:endParaRPr lang="en-CA"/>
          </a:p>
        </p:txBody>
      </p:sp>
    </p:spTree>
    <p:extLst>
      <p:ext uri="{BB962C8B-B14F-4D97-AF65-F5344CB8AC3E}">
        <p14:creationId xmlns:p14="http://schemas.microsoft.com/office/powerpoint/2010/main" val="114728400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1430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2400" y="1143000"/>
            <a:ext cx="3200400" cy="3200400"/>
          </a:xfrm>
          <a:prstGeom prst="rect">
            <a:avLst/>
          </a:prstGeom>
        </p:spPr>
      </p:pic>
      <p:cxnSp>
        <p:nvCxnSpPr>
          <p:cNvPr id="7" name="Straight Arrow Connector 6"/>
          <p:cNvCxnSpPr/>
          <p:nvPr/>
        </p:nvCxnSpPr>
        <p:spPr>
          <a:xfrm>
            <a:off x="6629400" y="19812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0896600" y="14478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2451739529"/>
              </p:ext>
            </p:extLst>
          </p:nvPr>
        </p:nvGraphicFramePr>
        <p:xfrm>
          <a:off x="6267450" y="6096000"/>
          <a:ext cx="1657350" cy="457200"/>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6267450" y="6096000"/>
                        <a:ext cx="1657350" cy="457200"/>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8934374" y="1646000"/>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9601200" y="2982200"/>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298801793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called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6200" y="10990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53200" y="1113692"/>
            <a:ext cx="2286000" cy="2286000"/>
          </a:xfrm>
          <a:prstGeom prst="rect">
            <a:avLst/>
          </a:prstGeom>
        </p:spPr>
      </p:pic>
      <p:cxnSp>
        <p:nvCxnSpPr>
          <p:cNvPr id="8" name="Straight Arrow Connector 7"/>
          <p:cNvCxnSpPr/>
          <p:nvPr/>
        </p:nvCxnSpPr>
        <p:spPr>
          <a:xfrm>
            <a:off x="5867400" y="16676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20200" y="1099038"/>
            <a:ext cx="2286000" cy="2286000"/>
          </a:xfrm>
          <a:prstGeom prst="rect">
            <a:avLst/>
          </a:prstGeom>
        </p:spPr>
      </p:pic>
      <p:cxnSp>
        <p:nvCxnSpPr>
          <p:cNvPr id="11" name="Straight Arrow Connector 10"/>
          <p:cNvCxnSpPr/>
          <p:nvPr/>
        </p:nvCxnSpPr>
        <p:spPr>
          <a:xfrm>
            <a:off x="8610600" y="16764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2074366849"/>
              </p:ext>
            </p:extLst>
          </p:nvPr>
        </p:nvGraphicFramePr>
        <p:xfrm>
          <a:off x="5867400" y="5562600"/>
          <a:ext cx="2514600" cy="457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5867400" y="5562600"/>
                        <a:ext cx="2514600" cy="457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37967494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a:t>
            </a:r>
          </a:p>
          <a:p>
            <a:endParaRPr lang="en-CA" dirty="0"/>
          </a:p>
          <a:p>
            <a:r>
              <a:rPr lang="en-CA" b="1" dirty="0"/>
              <a:t>Significance scaling</a:t>
            </a:r>
            <a:r>
              <a:rPr lang="en-CA" dirty="0"/>
              <a:t>: Scale H so an H ellipse that projects outside E signals a significant effect (Roy's test).</a:t>
            </a:r>
          </a:p>
          <a:p>
            <a:endParaRPr lang="en-CA" dirty="0"/>
          </a:p>
          <a:p>
            <a:r>
              <a:rPr lang="en-CA" b="1" dirty="0"/>
              <a:t>Direction of H vs. E </a:t>
            </a:r>
            <a:r>
              <a:rPr lang="en-CA" dirty="0"/>
              <a:t>shows how groups differ in a data-space view</a:t>
            </a:r>
          </a:p>
        </p:txBody>
      </p:sp>
      <p:sp>
        <p:nvSpPr>
          <p:cNvPr id="7" name="Slide Number Placeholder 7"/>
          <p:cNvSpPr>
            <a:spLocks noGrp="1"/>
          </p:cNvSpPr>
          <p:nvPr>
            <p:ph type="sldNum" sz="quarter" idx="12"/>
          </p:nvPr>
        </p:nvSpPr>
        <p:spPr/>
        <p:txBody>
          <a:bodyPr/>
          <a:lstStyle/>
          <a:p>
            <a:fld id="{9BFB2853-4965-4727-91C4-384EB30D99A4}" type="slidenum">
              <a:rPr lang="en-CA"/>
              <a:t>49</a:t>
            </a:fld>
            <a:endParaRPr lang="en-CA"/>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50</a:t>
            </a:fld>
            <a:endParaRPr lang="en-CA"/>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51</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rPr dirty="0"/>
              <a:t>School data: 70 US schools in a program for disadvantaged students</a:t>
            </a:r>
          </a:p>
          <a:p>
            <a:pPr lvl="1"/>
            <a:r>
              <a:rPr dirty="0"/>
              <a:t>Outcomes: reading, mathematics, self-esteem</a:t>
            </a:r>
          </a:p>
          <a:p>
            <a:pPr lvl="1"/>
            <a:r>
              <a:rPr dirty="0"/>
              <a:t>Predictors: parents’ education &amp; occupation, school visits, counseling, number of teachers</a:t>
            </a:r>
          </a:p>
          <a:p>
            <a:r>
              <a:rPr b="1" dirty="0"/>
              <a:t>Length</a:t>
            </a:r>
            <a:r>
              <a:rPr dirty="0"/>
              <a:t>: the strength of the relationship</a:t>
            </a:r>
          </a:p>
          <a:p>
            <a:r>
              <a:rPr b="1" dirty="0"/>
              <a:t>Direction</a:t>
            </a:r>
            <a:r>
              <a:rPr dirty="0"/>
              <a:t>: how the predictor relates to the two responses</a:t>
            </a:r>
          </a:p>
          <a:p>
            <a:r>
              <a:rPr dirty="0"/>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52</a:t>
            </a:fld>
            <a:endParaRPr lang="en-CA"/>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53</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5212080"/>
          </a:xfrm>
          <a:prstGeom prst="rect">
            <a:avLst/>
          </a:prstGeom>
          <a:noFill/>
        </p:spPr>
        <p:txBody>
          <a:bodyPr wrap="square" anchor="ctr">
            <a:noAutofit/>
          </a:bodyPr>
          <a:lstStyle/>
          <a:p>
            <a:r>
              <a:rPr sz="240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54</a:t>
            </a:fld>
            <a:endParaRPr lang="en-CA"/>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55</a:t>
            </a:fld>
            <a:endParaRPr lang="en-CA"/>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p:txBody>
          <a:bodyPr/>
          <a:lstStyle/>
          <a:p>
            <a:r>
              <a:t>With three species, two discriminant dimensions show everything</a:t>
            </a:r>
          </a:p>
          <a:p>
            <a:r>
              <a:t>Variable vectors show which measures separate the species</a:t>
            </a:r>
          </a:p>
        </p:txBody>
      </p:sp>
      <p:pic>
        <p:nvPicPr>
          <p:cNvPr id="4" name="Picture 3" descr="fig-peng-LD-biplot-1.png"/>
          <p:cNvPicPr>
            <a:picLocks noChangeAspect="1"/>
          </p:cNvPicPr>
          <p:nvPr/>
        </p:nvPicPr>
        <p:blipFill>
          <a:blip r:embed="rId3"/>
          <a:stretch>
            <a:fillRect/>
          </a:stretch>
        </p:blipFill>
        <p:spPr>
          <a:xfrm>
            <a:off x="6144768" y="1417320"/>
            <a:ext cx="5212080" cy="521208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3F2"/>
            </a:gs>
            <a:gs pos="100000">
              <a:srgbClr val="D5A79F"/>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57</a:t>
            </a:fld>
            <a:endParaRPr lang="en-CA"/>
          </a:p>
        </p:txBody>
      </p:sp>
      <p:pic>
        <p:nvPicPr>
          <p:cNvPr id="6" name="Section 5 distance plot illustration">
            <a:extLst>
              <a:ext uri="{FF2B5EF4-FFF2-40B4-BE49-F238E27FC236}">
                <a16:creationId xmlns:a16="http://schemas.microsoft.com/office/drawing/2014/main" id="{0777FA3B-8D44-90EA-D59D-839F74A26C3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986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5 influence plot illustration">
            <a:extLst>
              <a:ext uri="{FF2B5EF4-FFF2-40B4-BE49-F238E27FC236}">
                <a16:creationId xmlns:a16="http://schemas.microsoft.com/office/drawing/2014/main" id="{03253DAC-5419-8E24-983A-467810AD806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180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5 robust weights illustration">
            <a:extLst>
              <a:ext uri="{FF2B5EF4-FFF2-40B4-BE49-F238E27FC236}">
                <a16:creationId xmlns:a16="http://schemas.microsoft.com/office/drawing/2014/main" id="{7E28064A-8C94-8376-8B79-57AA4D3E0F2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137400" y="177800"/>
            <a:ext cx="3556000" cy="2540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dirty="0"/>
              <a:t>Distance plot: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103120"/>
          </a:xfrm>
          <a:prstGeom prst="rect">
            <a:avLst/>
          </a:prstGeom>
          <a:noFill/>
        </p:spPr>
        <p:txBody>
          <a:bodyPr wrap="square">
            <a:spAutoFit/>
          </a:bodyPr>
          <a:lstStyle/>
          <a:p>
            <a:pPr marL="228600" indent="-228600">
              <a:spcAft>
                <a:spcPts val="400"/>
              </a:spcAft>
              <a:buFont typeface="Arial"/>
              <a:buChar char="•"/>
            </a:pPr>
            <a:r>
              <a:rPr sz="1800"/>
              <a:t>Influence plot: bubble size ~ multivariate Cook’s D</a:t>
            </a:r>
          </a:p>
          <a:p>
            <a:pPr marL="228600" indent="-228600">
              <a:spcAft>
                <a:spcPts val="400"/>
              </a:spcAft>
              <a:buFont typeface="Arial"/>
              <a:buChar char="•"/>
            </a:pPr>
            <a:r>
              <a:rPr sz="1800" b="1">
                <a:solidFill>
                  <a:srgbClr val="FF0000"/>
                </a:solidFill>
              </a:rPr>
              <a:t>44, 59</a:t>
            </a:r>
            <a:r>
              <a:rPr sz="1800"/>
              <a:t>: high leverage and influential</a:t>
            </a:r>
          </a:p>
          <a:p>
            <a:pPr marL="228600" indent="-228600">
              <a:spcAft>
                <a:spcPts val="400"/>
              </a:spcAft>
              <a:buFont typeface="Arial"/>
              <a:buChar char="•"/>
            </a:pPr>
            <a:r>
              <a:rPr sz="1800" b="1">
                <a:solidFill>
                  <a:srgbClr val="0000FF"/>
                </a:solidFill>
              </a:rPr>
              <a:t>35</a:t>
            </a:r>
            <a:r>
              <a:rPr sz="1800"/>
              <a:t>: an outlier, but little influence</a:t>
            </a:r>
          </a:p>
          <a:p>
            <a:pPr marL="228600" indent="-228600">
              <a:spcAft>
                <a:spcPts val="400"/>
              </a:spcAft>
              <a:buFont typeface="Arial"/>
              <a:buChar char="•"/>
            </a:pPr>
            <a:r>
              <a:rPr sz="1800" b="1">
                <a:solidFill>
                  <a:srgbClr val="006400"/>
                </a:solidFill>
              </a:rPr>
              <a:t>66</a:t>
            </a:r>
            <a:r>
              <a:rPr sz="180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58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rPr dirty="0"/>
              <a:t>'Hook Nose', 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59</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60</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b="1" dirty="0"/>
              <a:t>Visual thinning</a:t>
            </a:r>
            <a:r>
              <a:rPr dirty="0"/>
              <a:t>: summarize, so the message can be seen</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61</a:t>
            </a:fld>
            <a:endParaRPr lang="en-CA"/>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sp>
        <p:nvSpPr>
          <p:cNvPr id="6" name="Content Placeholder 5">
            <a:extLst>
              <a:ext uri="{FF2B5EF4-FFF2-40B4-BE49-F238E27FC236}">
                <a16:creationId xmlns:a16="http://schemas.microsoft.com/office/drawing/2014/main" id="{1D1ABA4E-B35C-0406-0F38-53979F83CA37}"/>
              </a:ext>
            </a:extLst>
          </p:cNvPr>
          <p:cNvSpPr>
            <a:spLocks noGrp="1"/>
          </p:cNvSpPr>
          <p:nvPr>
            <p:ph sz="half" idx="2"/>
          </p:nvPr>
        </p:nvSpPr>
        <p:spPr/>
        <p:txBody>
          <a:bodyPr/>
          <a:lstStyle/>
          <a:p>
            <a:endParaRPr lang="en-CA"/>
          </a:p>
        </p:txBody>
      </p:sp>
      <p:sp>
        <p:nvSpPr>
          <p:cNvPr id="5" name="Slide Number Placeholder 5"/>
          <p:cNvSpPr>
            <a:spLocks noGrp="1"/>
          </p:cNvSpPr>
          <p:nvPr>
            <p:ph type="sldNum" sz="quarter" idx="12"/>
          </p:nvPr>
        </p:nvSpPr>
        <p:spPr/>
        <p:txBody>
          <a:bodyPr/>
          <a:lstStyle/>
          <a:p>
            <a:fld id="{9BFB2853-4965-4727-91C4-384EB30D99A4}" type="slidenum">
              <a:rPr lang="en-CA"/>
              <a:t>62</a:t>
            </a:fld>
            <a:endParaRPr lang="en-CA"/>
          </a:p>
        </p:txBody>
      </p:sp>
      <p:pic>
        <p:nvPicPr>
          <p:cNvPr id="4" name="Picture 3" descr="cover-peng.jpg"/>
          <p:cNvPicPr>
            <a:picLocks noChangeAspect="1"/>
          </p:cNvPicPr>
          <p:nvPr/>
        </p:nvPicPr>
        <p:blipFill>
          <a:blip r:embed="rId4"/>
          <a:stretch>
            <a:fillRect/>
          </a:stretch>
        </p:blipFill>
        <p:spPr>
          <a:xfrm>
            <a:off x="8051923" y="1197734"/>
            <a:ext cx="3530477" cy="4858555"/>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63</a:t>
            </a:fld>
            <a:endParaRPr lang="en-CA"/>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
        <p:nvSpPr>
          <p:cNvPr id="6" name="Slide Number Placeholder 6"/>
          <p:cNvSpPr>
            <a:spLocks noGrp="1"/>
          </p:cNvSpPr>
          <p:nvPr>
            <p:ph type="sldNum" sz="quarter" idx="12"/>
          </p:nvPr>
        </p:nvSpPr>
        <p:spPr/>
        <p:txBody>
          <a:bodyPr/>
          <a:lstStyle/>
          <a:p>
            <a:fld id="{9BFB2853-4965-4727-91C4-384EB30D99A4}" type="slidenum">
              <a:rPr lang="en-CA"/>
              <a:t>64</a:t>
            </a:fld>
            <a:endParaRPr lang="en-CA"/>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
        <p:nvSpPr>
          <p:cNvPr id="6" name="Slide Number Placeholder 6"/>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
        <p:nvSpPr>
          <p:cNvPr id="6" name="Slide Number Placeholder 6"/>
          <p:cNvSpPr>
            <a:spLocks noGrp="1"/>
          </p:cNvSpPr>
          <p:nvPr>
            <p:ph type="sldNum" sz="quarter" idx="12"/>
          </p:nvPr>
        </p:nvSpPr>
        <p:spPr/>
        <p:txBody>
          <a:bodyPr/>
          <a:lstStyle/>
          <a:p>
            <a:fld id="{9BFB2853-4965-4727-91C4-384EB30D99A4}" type="slidenum">
              <a:rPr lang="en-CA"/>
              <a:t>66</a:t>
            </a:fld>
            <a:endParaRPr lang="en-CA"/>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
        <p:nvSpPr>
          <p:cNvPr id="4" name="Slide Number Placeholder 4"/>
          <p:cNvSpPr>
            <a:spLocks noGrp="1"/>
          </p:cNvSpPr>
          <p:nvPr>
            <p:ph type="sldNum" sz="quarter" idx="12"/>
          </p:nvPr>
        </p:nvSpPr>
        <p:spPr/>
        <p:txBody>
          <a:bodyPr/>
          <a:lstStyle/>
          <a:p>
            <a:fld id="{9BFB2853-4965-4727-91C4-384EB30D99A4}" type="slidenum">
              <a:rPr lang="en-CA"/>
              <a:t>67</a:t>
            </a:fld>
            <a:endParaRPr lang="en-CA"/>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Collinearity: narrow data</a:t>
            </a:r>
            <a:r>
              <a:rPr lang="en-CA" dirty="0"/>
              <a:t> </a:t>
            </a:r>
            <a:r>
              <a:rPr lang="en-CA" dirty="0">
                <a:sym typeface="Symbol" panose="05050102010706020507" pitchFamily="18" charset="2"/>
              </a:rPr>
              <a:t> increased </a:t>
            </a:r>
            <a:r>
              <a:rPr dirty="0"/>
              <a:t>uncertainty</a:t>
            </a:r>
          </a:p>
        </p:txBody>
      </p:sp>
      <p:pic>
        <p:nvPicPr>
          <p:cNvPr id="3" name="Picture 2" descr="fig-collin-data-beta-1.png"/>
          <p:cNvPicPr>
            <a:picLocks noChangeAspect="1"/>
          </p:cNvPicPr>
          <p:nvPr/>
        </p:nvPicPr>
        <p:blipFill>
          <a:blip r:embed="rId3"/>
          <a:stretch>
            <a:fillRect/>
          </a:stretch>
        </p:blipFill>
        <p:spPr>
          <a:xfrm>
            <a:off x="1757548" y="1677900"/>
            <a:ext cx="6229674" cy="444976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
        <p:nvSpPr>
          <p:cNvPr id="6" name="TextBox 5">
            <a:extLst>
              <a:ext uri="{FF2B5EF4-FFF2-40B4-BE49-F238E27FC236}">
                <a16:creationId xmlns:a16="http://schemas.microsoft.com/office/drawing/2014/main" id="{9202E317-6E5D-AE86-6A53-062E16921753}"/>
              </a:ext>
            </a:extLst>
          </p:cNvPr>
          <p:cNvSpPr txBox="1"/>
          <p:nvPr/>
        </p:nvSpPr>
        <p:spPr>
          <a:xfrm>
            <a:off x="8158348" y="1828800"/>
            <a:ext cx="3503221" cy="1200329"/>
          </a:xfrm>
          <a:prstGeom prst="rect">
            <a:avLst/>
          </a:prstGeom>
          <a:noFill/>
        </p:spPr>
        <p:txBody>
          <a:bodyPr wrap="square" rtlCol="0">
            <a:spAutoFit/>
          </a:bodyPr>
          <a:lstStyle/>
          <a:p>
            <a:r>
              <a:rPr lang="en-CA" dirty="0"/>
              <a:t>As the predictors become more correlated, </a:t>
            </a:r>
          </a:p>
          <a:p>
            <a:pPr marL="285750" indent="-285750">
              <a:buFont typeface="Arial" panose="020B0604020202020204" pitchFamily="34" charset="0"/>
              <a:buChar char="•"/>
            </a:pPr>
            <a:r>
              <a:rPr lang="en-CA" dirty="0"/>
              <a:t>data ellipse narrows</a:t>
            </a:r>
          </a:p>
          <a:p>
            <a:pPr marL="285750" indent="-285750">
              <a:buFont typeface="Arial" panose="020B0604020202020204" pitchFamily="34" charset="0"/>
              <a:buChar char="•"/>
            </a:pPr>
            <a:r>
              <a:rPr lang="en-CA" dirty="0"/>
              <a:t>confidence ellipse balloons.</a:t>
            </a:r>
          </a:p>
        </p:txBody>
      </p:sp>
      <p:sp>
        <p:nvSpPr>
          <p:cNvPr id="7" name="TextBox 6">
            <a:extLst>
              <a:ext uri="{FF2B5EF4-FFF2-40B4-BE49-F238E27FC236}">
                <a16:creationId xmlns:a16="http://schemas.microsoft.com/office/drawing/2014/main" id="{E423839C-5377-FA4D-663D-00A64750B8C0}"/>
              </a:ext>
            </a:extLst>
          </p:cNvPr>
          <p:cNvSpPr txBox="1"/>
          <p:nvPr/>
        </p:nvSpPr>
        <p:spPr>
          <a:xfrm rot="16200000">
            <a:off x="168535" y="2452782"/>
            <a:ext cx="1803820" cy="369332"/>
          </a:xfrm>
          <a:prstGeom prst="rect">
            <a:avLst/>
          </a:prstGeom>
          <a:solidFill>
            <a:schemeClr val="accent6">
              <a:alpha val="40000"/>
            </a:schemeClr>
          </a:solidFill>
        </p:spPr>
        <p:txBody>
          <a:bodyPr wrap="square" rtlCol="0">
            <a:spAutoFit/>
          </a:bodyPr>
          <a:lstStyle/>
          <a:p>
            <a:pPr algn="ctr"/>
            <a:r>
              <a:rPr lang="en-CA" dirty="0"/>
              <a:t>Data space</a:t>
            </a:r>
          </a:p>
        </p:txBody>
      </p:sp>
      <p:sp>
        <p:nvSpPr>
          <p:cNvPr id="9" name="TextBox 8">
            <a:extLst>
              <a:ext uri="{FF2B5EF4-FFF2-40B4-BE49-F238E27FC236}">
                <a16:creationId xmlns:a16="http://schemas.microsoft.com/office/drawing/2014/main" id="{1209B9AA-2C34-7F8B-5AFA-AA8DCCD727AD}"/>
              </a:ext>
            </a:extLst>
          </p:cNvPr>
          <p:cNvSpPr txBox="1"/>
          <p:nvPr/>
        </p:nvSpPr>
        <p:spPr>
          <a:xfrm rot="16200000">
            <a:off x="96667" y="4691894"/>
            <a:ext cx="1947554" cy="369332"/>
          </a:xfrm>
          <a:prstGeom prst="rect">
            <a:avLst/>
          </a:prstGeom>
          <a:solidFill>
            <a:srgbClr val="FF0000">
              <a:alpha val="40000"/>
            </a:srgbClr>
          </a:solidFill>
        </p:spPr>
        <p:txBody>
          <a:bodyPr wrap="square" rtlCol="0">
            <a:spAutoFit/>
          </a:bodyPr>
          <a:lstStyle/>
          <a:p>
            <a:pPr algn="ctr"/>
            <a:r>
              <a:rPr lang="el-GR" b="1" dirty="0">
                <a:latin typeface="Cambria Math" panose="02040503050406030204" pitchFamily="18" charset="0"/>
                <a:ea typeface="Cambria Math" panose="02040503050406030204" pitchFamily="18" charset="0"/>
              </a:rPr>
              <a:t>β</a:t>
            </a:r>
            <a:r>
              <a:rPr lang="en-CA" dirty="0"/>
              <a:t> space</a:t>
            </a:r>
          </a:p>
        </p:txBody>
      </p:sp>
      <p:sp>
        <p:nvSpPr>
          <p:cNvPr id="10" name="Slide Number Placeholder 10"/>
          <p:cNvSpPr>
            <a:spLocks noGrp="1"/>
          </p:cNvSpPr>
          <p:nvPr>
            <p:ph type="sldNum" sz="quarter" idx="12"/>
          </p:nvPr>
        </p:nvSpPr>
        <p:spPr/>
        <p:txBody>
          <a:bodyPr/>
          <a:lstStyle/>
          <a:p>
            <a:fld id="{9BFB2853-4965-4727-91C4-384EB30D99A4}" type="slidenum">
              <a:rPr lang="en-CA"/>
              <a:t>68</a:t>
            </a:fld>
            <a:endParaRPr lang="en-CA"/>
          </a:p>
        </p:txBody>
      </p:sp>
    </p:spTree>
    <p:extLst>
      <p:ext uri="{BB962C8B-B14F-4D97-AF65-F5344CB8AC3E}">
        <p14:creationId xmlns:p14="http://schemas.microsoft.com/office/powerpoint/2010/main" val="255179568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
        <p:nvSpPr>
          <p:cNvPr id="7" name="Slide Number Placeholder 7"/>
          <p:cNvSpPr>
            <a:spLocks noGrp="1"/>
          </p:cNvSpPr>
          <p:nvPr>
            <p:ph type="sldNum" sz="quarter" idx="12"/>
          </p:nvPr>
        </p:nvSpPr>
        <p:spPr/>
        <p:txBody>
          <a:bodyPr/>
          <a:lstStyle/>
          <a:p>
            <a:fld id="{9BFB2853-4965-4727-91C4-384EB30D99A4}" type="slidenum">
              <a:rPr lang="en-CA"/>
              <a:t>69</a:t>
            </a:fld>
            <a:endParaRPr lang="en-CA"/>
          </a:p>
        </p:txBody>
      </p:sp>
    </p:spTree>
    <p:extLst>
      <p:ext uri="{BB962C8B-B14F-4D97-AF65-F5344CB8AC3E}">
        <p14:creationId xmlns:p14="http://schemas.microsoft.com/office/powerpoint/2010/main" val="278782021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755754" y="1508125"/>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546268" y="1426281"/>
            <a:ext cx="4971667" cy="4956870"/>
          </a:xfrm>
        </p:spPr>
      </p:pic>
      <p:sp>
        <p:nvSpPr>
          <p:cNvPr id="9" name="Slide Number Placeholder 9"/>
          <p:cNvSpPr>
            <a:spLocks noGrp="1"/>
          </p:cNvSpPr>
          <p:nvPr>
            <p:ph type="sldNum" sz="quarter" idx="12"/>
          </p:nvPr>
        </p:nvSpPr>
        <p:spPr/>
        <p:txBody>
          <a:bodyPr/>
          <a:lstStyle/>
          <a:p>
            <a:fld id="{9BFB2853-4965-4727-91C4-384EB30D99A4}" type="slidenum">
              <a:rPr lang="en-CA"/>
              <a:t>70</a:t>
            </a:fld>
            <a:endParaRPr lang="en-CA"/>
          </a:p>
        </p:txBody>
      </p:sp>
    </p:spTree>
    <p:extLst>
      <p:ext uri="{BB962C8B-B14F-4D97-AF65-F5344CB8AC3E}">
        <p14:creationId xmlns:p14="http://schemas.microsoft.com/office/powerpoint/2010/main" val="370433655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1919683"/>
            <a:ext cx="3778624" cy="4062651"/>
          </a:xfrm>
          <a:prstGeom prst="rect">
            <a:avLst/>
          </a:prstGeom>
          <a:noFill/>
        </p:spPr>
        <p:txBody>
          <a:bodyPr wrap="square" rtlCol="0">
            <a:spAutoFit/>
          </a:bodyPr>
          <a:lstStyle/>
          <a:p>
            <a:r>
              <a:rPr lang="en-CA" sz="2000" dirty="0"/>
              <a:t>Coffee, stress and heart damage:</a:t>
            </a:r>
          </a:p>
          <a:p>
            <a:endParaRPr lang="en-CA" sz="2000" dirty="0"/>
          </a:p>
          <a:p>
            <a:r>
              <a:rPr lang="en-CA" sz="2000" dirty="0"/>
              <a:t>Marginal &amp; partial slopes for coffee have opposite signs.</a:t>
            </a:r>
          </a:p>
          <a:p>
            <a:pPr marL="285750" indent="-285750">
              <a:buFont typeface="Symbol" panose="05050102010706020507" pitchFamily="18" charset="2"/>
              <a:buChar char="®"/>
            </a:pPr>
            <a:r>
              <a:rPr lang="en-CA" sz="2000" dirty="0">
                <a:sym typeface="Symbol" panose="05050102010706020507" pitchFamily="18" charset="2"/>
              </a:rPr>
              <a:t>Coffee is good, controlling for stress</a:t>
            </a:r>
          </a:p>
          <a:p>
            <a:pPr marL="285750" indent="-285750">
              <a:buFont typeface="Symbol" panose="05050102010706020507" pitchFamily="18" charset="2"/>
              <a:buChar char="®"/>
            </a:pPr>
            <a:endParaRPr lang="en-CA" sz="2000" dirty="0">
              <a:sym typeface="Symbol" panose="05050102010706020507" pitchFamily="18" charset="2"/>
            </a:endParaRPr>
          </a:p>
          <a:p>
            <a:r>
              <a:rPr lang="en-CA" sz="2000" dirty="0">
                <a:sym typeface="Symbol" panose="05050102010706020507" pitchFamily="18" charset="2"/>
              </a:rPr>
              <a:t>Slopes are similar for stress, but steeper when controlled for coffee</a:t>
            </a:r>
          </a:p>
          <a:p>
            <a:r>
              <a:rPr lang="en-CA" sz="2000" dirty="0">
                <a:sym typeface="Symbol" panose="05050102010706020507" pitchFamily="18" charset="2"/>
              </a:rPr>
              <a:t> Practice yoga at Starbucks?</a:t>
            </a:r>
            <a:endParaRPr lang="en-CA" sz="2000"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
        <p:nvSpPr>
          <p:cNvPr id="9" name="Slide Number Placeholder 9"/>
          <p:cNvSpPr>
            <a:spLocks noGrp="1"/>
          </p:cNvSpPr>
          <p:nvPr>
            <p:ph type="sldNum" sz="quarter" idx="12"/>
          </p:nvPr>
        </p:nvSpPr>
        <p:spPr/>
        <p:txBody>
          <a:bodyPr/>
          <a:lstStyle/>
          <a:p>
            <a:fld id="{9BFB2853-4965-4727-91C4-384EB30D99A4}" type="slidenum">
              <a:rPr lang="en-CA"/>
              <a:t>71</a:t>
            </a:fld>
            <a:endParaRPr lang="en-CA"/>
          </a:p>
        </p:txBody>
      </p:sp>
    </p:spTree>
    <p:extLst>
      <p:ext uri="{BB962C8B-B14F-4D97-AF65-F5344CB8AC3E}">
        <p14:creationId xmlns:p14="http://schemas.microsoft.com/office/powerpoint/2010/main" val="213160507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Leverage and influence</a:t>
            </a:r>
            <a:r>
              <a:rPr lang="en-CA" dirty="0"/>
              <a:t>: </a:t>
            </a:r>
            <a:r>
              <a:rPr lang="en-CA" sz="2800" dirty="0">
                <a:latin typeface="Courier New" panose="02070309020205020404" pitchFamily="49" charset="0"/>
                <a:cs typeface="Courier New" panose="02070309020205020404" pitchFamily="49" charset="0"/>
              </a:rPr>
              <a:t>car::</a:t>
            </a:r>
            <a:r>
              <a:rPr lang="en-CA" sz="2800" dirty="0" err="1">
                <a:latin typeface="Courier New" panose="02070309020205020404" pitchFamily="49" charset="0"/>
                <a:cs typeface="Courier New" panose="02070309020205020404" pitchFamily="49" charset="0"/>
              </a:rPr>
              <a:t>influencePlot</a:t>
            </a:r>
            <a:r>
              <a:rPr lang="en-CA" sz="2800" dirty="0">
                <a:latin typeface="Courier New" panose="02070309020205020404" pitchFamily="49" charset="0"/>
                <a:cs typeface="Courier New" panose="02070309020205020404" pitchFamily="49" charset="0"/>
              </a:rPr>
              <a:t>(model)</a:t>
            </a:r>
            <a:endParaRPr sz="2800" dirty="0">
              <a:latin typeface="Courier New" panose="02070309020205020404" pitchFamily="49" charset="0"/>
              <a:cs typeface="Courier New" panose="02070309020205020404" pitchFamily="49" charset="0"/>
            </a:endParaRPr>
          </a:p>
        </p:txBody>
      </p:sp>
      <p:sp>
        <p:nvSpPr>
          <p:cNvPr id="3" name="Content Placeholder 2"/>
          <p:cNvSpPr>
            <a:spLocks noGrp="1"/>
          </p:cNvSpPr>
          <p:nvPr>
            <p:ph sz="half" idx="1"/>
          </p:nvPr>
        </p:nvSpPr>
        <p:spPr>
          <a:xfrm>
            <a:off x="838200" y="1643063"/>
            <a:ext cx="4553197" cy="4533900"/>
          </a:xfrm>
        </p:spPr>
        <p:txBody>
          <a:bodyPr/>
          <a:lstStyle/>
          <a:p>
            <a:pPr marL="0" indent="0">
              <a:buNone/>
            </a:pPr>
            <a:r>
              <a:rPr lang="en-CA" dirty="0" err="1"/>
              <a:t>carData</a:t>
            </a:r>
            <a:r>
              <a:rPr lang="en-CA" dirty="0"/>
              <a:t>::Duncan</a:t>
            </a:r>
          </a:p>
          <a:p>
            <a:r>
              <a:rPr dirty="0"/>
              <a:t>Leverage: unusual in the predictors</a:t>
            </a:r>
            <a:r>
              <a:rPr lang="en-CA" dirty="0"/>
              <a:t> (hat values)</a:t>
            </a:r>
            <a:endParaRPr dirty="0"/>
          </a:p>
          <a:p>
            <a:r>
              <a:rPr dirty="0"/>
              <a:t>Outlier: a large residual</a:t>
            </a:r>
          </a:p>
          <a:p>
            <a:r>
              <a:rPr dirty="0">
                <a:solidFill>
                  <a:srgbClr val="FF0000"/>
                </a:solidFill>
              </a:rPr>
              <a:t>Influence</a:t>
            </a:r>
            <a:r>
              <a:rPr dirty="0"/>
              <a:t> = leverage x residual</a:t>
            </a:r>
          </a:p>
          <a:p>
            <a:r>
              <a:rPr lang="en-CA" dirty="0">
                <a:sym typeface="Symbol" panose="05050102010706020507" pitchFamily="18" charset="2"/>
              </a:rPr>
              <a:t> </a:t>
            </a:r>
            <a:r>
              <a:rPr dirty="0"/>
              <a:t>Bubble size: Cook's distance</a:t>
            </a:r>
            <a:r>
              <a:rPr lang="en-CA" dirty="0"/>
              <a:t> (</a:t>
            </a:r>
            <a:r>
              <a:rPr lang="en-CA" dirty="0">
                <a:sym typeface="Symbol" panose="05050102010706020507" pitchFamily="18" charset="2"/>
              </a:rPr>
              <a:t></a:t>
            </a:r>
            <a:r>
              <a:rPr lang="el-GR" b="1" dirty="0">
                <a:latin typeface="Cambria Math" panose="02040503050406030204" pitchFamily="18" charset="0"/>
                <a:ea typeface="Cambria Math" panose="02040503050406030204" pitchFamily="18" charset="0"/>
                <a:sym typeface="Symbol" panose="05050102010706020507" pitchFamily="18" charset="2"/>
              </a:rPr>
              <a:t>β</a:t>
            </a:r>
            <a:r>
              <a:rPr lang="en-CA" baseline="-25000" dirty="0">
                <a:latin typeface="Cambria Math" panose="02040503050406030204" pitchFamily="18" charset="0"/>
                <a:ea typeface="Cambria Math" panose="02040503050406030204" pitchFamily="18" charset="0"/>
                <a:sym typeface="Symbol" panose="05050102010706020507" pitchFamily="18" charset="2"/>
              </a:rPr>
              <a:t>(-i)</a:t>
            </a:r>
            <a:r>
              <a:rPr lang="en-CA" dirty="0">
                <a:latin typeface="Cambria Math" panose="02040503050406030204" pitchFamily="18" charset="0"/>
                <a:ea typeface="Cambria Math" panose="02040503050406030204" pitchFamily="18" charset="0"/>
                <a:sym typeface="Symbol" panose="05050102010706020507" pitchFamily="18" charset="2"/>
              </a:rPr>
              <a:t>)</a:t>
            </a:r>
          </a:p>
          <a:p>
            <a:r>
              <a:rPr lang="en-CA" dirty="0">
                <a:ea typeface="Cambria Math" panose="02040503050406030204" pitchFamily="18" charset="0"/>
                <a:sym typeface="Symbol" panose="05050102010706020507" pitchFamily="18" charset="2"/>
              </a:rPr>
              <a:t>But this doesn’t tell us why or how</a:t>
            </a:r>
            <a:endParaRPr dirty="0"/>
          </a:p>
        </p:txBody>
      </p:sp>
      <p:pic>
        <p:nvPicPr>
          <p:cNvPr id="4" name="Picture 3" descr="fig-duncan-infl-1.png"/>
          <p:cNvPicPr>
            <a:picLocks noChangeAspect="1"/>
          </p:cNvPicPr>
          <p:nvPr/>
        </p:nvPicPr>
        <p:blipFill>
          <a:blip r:embed="rId3"/>
          <a:stretch>
            <a:fillRect/>
          </a:stretch>
        </p:blipFill>
        <p:spPr>
          <a:xfrm>
            <a:off x="5307203" y="1508125"/>
            <a:ext cx="6389992" cy="45642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
        <p:nvSpPr>
          <p:cNvPr id="6" name="Slide Number Placeholder 6"/>
          <p:cNvSpPr>
            <a:spLocks noGrp="1"/>
          </p:cNvSpPr>
          <p:nvPr>
            <p:ph type="sldNum" sz="quarter" idx="12"/>
          </p:nvPr>
        </p:nvSpPr>
        <p:spPr/>
        <p:txBody>
          <a:bodyPr/>
          <a:lstStyle/>
          <a:p>
            <a:fld id="{9BFB2853-4965-4727-91C4-384EB30D99A4}" type="slidenum">
              <a:rPr lang="en-CA"/>
              <a:t>72</a:t>
            </a:fld>
            <a:endParaRPr lang="en-CA"/>
          </a:p>
        </p:txBody>
      </p:sp>
    </p:spTree>
    <p:extLst>
      <p:ext uri="{BB962C8B-B14F-4D97-AF65-F5344CB8AC3E}">
        <p14:creationId xmlns:p14="http://schemas.microsoft.com/office/powerpoint/2010/main" val="171975335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91779"/>
          </a:xfrm>
        </p:spPr>
        <p:txBody>
          <a:bodyPr/>
          <a:lstStyle/>
          <a:p>
            <a:r>
              <a:rPr dirty="0"/>
              <a:t>Which observations drive the fit?</a:t>
            </a:r>
          </a:p>
        </p:txBody>
      </p:sp>
      <p:pic>
        <p:nvPicPr>
          <p:cNvPr id="3" name="Picture 2" descr="duncan-av-influence.png"/>
          <p:cNvPicPr>
            <a:picLocks noChangeAspect="1"/>
          </p:cNvPicPr>
          <p:nvPr/>
        </p:nvPicPr>
        <p:blipFill>
          <a:blip r:embed="rId3"/>
          <a:stretch>
            <a:fillRect/>
          </a:stretch>
        </p:blipFill>
        <p:spPr>
          <a:xfrm>
            <a:off x="813336" y="1691640"/>
            <a:ext cx="7863840" cy="3931920"/>
          </a:xfrm>
          <a:prstGeom prst="rect">
            <a:avLst/>
          </a:prstGeom>
        </p:spPr>
      </p:pic>
      <p:sp>
        <p:nvSpPr>
          <p:cNvPr id="4" name="TextBox 3"/>
          <p:cNvSpPr txBox="1"/>
          <p:nvPr/>
        </p:nvSpPr>
        <p:spPr>
          <a:xfrm>
            <a:off x="841248" y="5788030"/>
            <a:ext cx="10515600" cy="369332"/>
          </a:xfrm>
          <a:prstGeom prst="rect">
            <a:avLst/>
          </a:prstGeom>
          <a:noFill/>
        </p:spPr>
        <p:txBody>
          <a:bodyPr wrap="square">
            <a:spAutoFit/>
          </a:bodyPr>
          <a:lstStyle/>
          <a:p>
            <a:r>
              <a:rPr sz="1800" dirty="0"/>
              <a: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
        <p:nvSpPr>
          <p:cNvPr id="6" name="TextBox 5">
            <a:extLst>
              <a:ext uri="{FF2B5EF4-FFF2-40B4-BE49-F238E27FC236}">
                <a16:creationId xmlns:a16="http://schemas.microsoft.com/office/drawing/2014/main" id="{B95E2660-92D6-9B3B-613E-29A2FA281EB3}"/>
              </a:ext>
            </a:extLst>
          </p:cNvPr>
          <p:cNvSpPr txBox="1"/>
          <p:nvPr/>
        </p:nvSpPr>
        <p:spPr>
          <a:xfrm>
            <a:off x="841248" y="1128161"/>
            <a:ext cx="10515600" cy="369332"/>
          </a:xfrm>
          <a:prstGeom prst="rect">
            <a:avLst/>
          </a:prstGeom>
          <a:noFill/>
        </p:spPr>
        <p:txBody>
          <a:bodyPr wrap="square" rtlCol="0">
            <a:spAutoFit/>
          </a:bodyPr>
          <a:lstStyle/>
          <a:p>
            <a:r>
              <a:rPr lang="en-CA" dirty="0"/>
              <a:t>Added-variable plots can show precisely the impact on regression slopes</a:t>
            </a:r>
          </a:p>
        </p:txBody>
      </p:sp>
      <p:sp>
        <p:nvSpPr>
          <p:cNvPr id="7" name="TextBox 6">
            <a:extLst>
              <a:ext uri="{FF2B5EF4-FFF2-40B4-BE49-F238E27FC236}">
                <a16:creationId xmlns:a16="http://schemas.microsoft.com/office/drawing/2014/main" id="{09BF7BAE-8390-AD5C-8EC7-1129184F71A4}"/>
              </a:ext>
            </a:extLst>
          </p:cNvPr>
          <p:cNvSpPr txBox="1"/>
          <p:nvPr/>
        </p:nvSpPr>
        <p:spPr>
          <a:xfrm>
            <a:off x="8847117" y="2315688"/>
            <a:ext cx="2719449" cy="923330"/>
          </a:xfrm>
          <a:prstGeom prst="rect">
            <a:avLst/>
          </a:prstGeom>
          <a:noFill/>
        </p:spPr>
        <p:txBody>
          <a:bodyPr wrap="square" rtlCol="0">
            <a:spAutoFit/>
          </a:bodyPr>
          <a:lstStyle/>
          <a:p>
            <a:r>
              <a:rPr lang="en-CA" dirty="0">
                <a:solidFill>
                  <a:srgbClr val="0070C0"/>
                </a:solidFill>
              </a:rPr>
              <a:t>Fitted line with all cases</a:t>
            </a:r>
          </a:p>
          <a:p>
            <a:r>
              <a:rPr lang="en-CA" dirty="0">
                <a:solidFill>
                  <a:srgbClr val="FF0000"/>
                </a:solidFill>
              </a:rPr>
              <a:t>Fitted line w/out 2 cases</a:t>
            </a:r>
          </a:p>
          <a:p>
            <a:r>
              <a:rPr lang="en-CA" dirty="0">
                <a:solidFill>
                  <a:srgbClr val="00B050"/>
                </a:solidFill>
              </a:rPr>
              <a:t>Residuals for those cases</a:t>
            </a:r>
          </a:p>
        </p:txBody>
      </p:sp>
      <p:sp>
        <p:nvSpPr>
          <p:cNvPr id="8" name="Slide Number Placeholder 8"/>
          <p:cNvSpPr>
            <a:spLocks noGrp="1"/>
          </p:cNvSpPr>
          <p:nvPr>
            <p:ph type="sldNum" sz="quarter" idx="12"/>
          </p:nvPr>
        </p:nvSpPr>
        <p:spPr/>
        <p:txBody>
          <a:bodyPr/>
          <a:lstStyle/>
          <a:p>
            <a:fld id="{9BFB2853-4965-4727-91C4-384EB30D99A4}" type="slidenum">
              <a:rPr lang="en-CA"/>
              <a:t>73</a:t>
            </a:fld>
            <a:endParaRPr lang="en-CA"/>
          </a:p>
        </p:txBody>
      </p:sp>
    </p:spTree>
    <p:extLst>
      <p:ext uri="{BB962C8B-B14F-4D97-AF65-F5344CB8AC3E}">
        <p14:creationId xmlns:p14="http://schemas.microsoft.com/office/powerpoint/2010/main" val="163707666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
        <p:nvSpPr>
          <p:cNvPr id="6" name="Slide Number Placeholder 6"/>
          <p:cNvSpPr>
            <a:spLocks noGrp="1"/>
          </p:cNvSpPr>
          <p:nvPr>
            <p:ph type="sldNum" sz="quarter" idx="12"/>
          </p:nvPr>
        </p:nvSpPr>
        <p:spPr/>
        <p:txBody>
          <a:bodyPr/>
          <a:lstStyle/>
          <a:p>
            <a:fld id="{9BFB2853-4965-4727-91C4-384EB30D99A4}" type="slidenum">
              <a:rPr lang="en-CA"/>
              <a:t>74</a:t>
            </a:fld>
            <a:endParaRPr lang="en-CA"/>
          </a:p>
        </p:txBody>
      </p:sp>
    </p:spTree>
    <p:extLst>
      <p:ext uri="{BB962C8B-B14F-4D97-AF65-F5344CB8AC3E}">
        <p14:creationId xmlns:p14="http://schemas.microsoft.com/office/powerpoint/2010/main" val="2608173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
        <p:nvSpPr>
          <p:cNvPr id="6" name="Slide Number Placeholder 6"/>
          <p:cNvSpPr>
            <a:spLocks noGrp="1"/>
          </p:cNvSpPr>
          <p:nvPr>
            <p:ph type="sldNum" sz="quarter" idx="12"/>
          </p:nvPr>
        </p:nvSpPr>
        <p:spPr/>
        <p:txBody>
          <a:bodyPr/>
          <a:lstStyle/>
          <a:p>
            <a:fld id="{9BFB2853-4965-4727-91C4-384EB30D99A4}" type="slidenum">
              <a:rPr lang="en-CA"/>
              <a:t>75</a:t>
            </a:fld>
            <a:endParaRPr lang="en-CA"/>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
        <p:nvSpPr>
          <p:cNvPr id="6" name="Slide Number Placeholder 6"/>
          <p:cNvSpPr>
            <a:spLocks noGrp="1"/>
          </p:cNvSpPr>
          <p:nvPr>
            <p:ph type="sldNum" sz="quarter" idx="12"/>
          </p:nvPr>
        </p:nvSpPr>
        <p:spPr/>
        <p:txBody>
          <a:bodyPr/>
          <a:lstStyle/>
          <a:p>
            <a:fld id="{9BFB2853-4965-4727-91C4-384EB30D99A4}" type="slidenum">
              <a:rPr lang="en-CA"/>
              <a:t>76</a:t>
            </a:fld>
            <a:endParaRPr lang="en-CA"/>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
        <p:nvSpPr>
          <p:cNvPr id="6" name="Slide Number Placeholder 6"/>
          <p:cNvSpPr>
            <a:spLocks noGrp="1"/>
          </p:cNvSpPr>
          <p:nvPr>
            <p:ph type="sldNum" sz="quarter" idx="12"/>
          </p:nvPr>
        </p:nvSpPr>
        <p:spPr/>
        <p:txBody>
          <a:bodyPr/>
          <a:lstStyle/>
          <a:p>
            <a:fld id="{9BFB2853-4965-4727-91C4-384EB30D99A4}" type="slidenum">
              <a:rPr lang="en-CA"/>
              <a:t>77</a:t>
            </a:fld>
            <a:endParaRPr lang="en-CA"/>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
        <p:nvSpPr>
          <p:cNvPr id="6" name="Slide Number Placeholder 6"/>
          <p:cNvSpPr>
            <a:spLocks noGrp="1"/>
          </p:cNvSpPr>
          <p:nvPr>
            <p:ph type="sldNum" sz="quarter" idx="12"/>
          </p:nvPr>
        </p:nvSpPr>
        <p:spPr/>
        <p:txBody>
          <a:bodyPr/>
          <a:lstStyle/>
          <a:p>
            <a:fld id="{9BFB2853-4965-4727-91C4-384EB30D99A4}" type="slidenum">
              <a:rPr lang="en-CA"/>
              <a:t>78</a:t>
            </a:fld>
            <a:endParaRPr lang="en-CA"/>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
        <p:nvSpPr>
          <p:cNvPr id="6" name="Slide Number Placeholder 6"/>
          <p:cNvSpPr>
            <a:spLocks noGrp="1"/>
          </p:cNvSpPr>
          <p:nvPr>
            <p:ph type="sldNum" sz="quarter" idx="12"/>
          </p:nvPr>
        </p:nvSpPr>
        <p:spPr/>
        <p:txBody>
          <a:bodyPr/>
          <a:lstStyle/>
          <a:p>
            <a:fld id="{9BFB2853-4965-4727-91C4-384EB30D99A4}" type="slidenum">
              <a:rPr lang="en-CA"/>
              <a:t>79</a:t>
            </a:fld>
            <a:endParaRPr lang="en-CA"/>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
        <p:nvSpPr>
          <p:cNvPr id="5" name="Slide Number Placeholder 5"/>
          <p:cNvSpPr>
            <a:spLocks noGrp="1"/>
          </p:cNvSpPr>
          <p:nvPr>
            <p:ph type="sldNum" sz="quarter" idx="12"/>
          </p:nvPr>
        </p:nvSpPr>
        <p:spPr/>
        <p:txBody>
          <a:bodyPr/>
          <a:lstStyle/>
          <a:p>
            <a:fld id="{9BFB2853-4965-4727-91C4-384EB30D99A4}" type="slidenum">
              <a:rPr lang="en-CA"/>
              <a:t>80</a:t>
            </a:fld>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6527</TotalTime>
  <Words>6463</Words>
  <Application>Microsoft Office PowerPoint</Application>
  <PresentationFormat>Widescreen</PresentationFormat>
  <Paragraphs>674</Paragraphs>
  <Slides>80</Slides>
  <Notes>75</Notes>
  <HiddenSlides>17</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80</vt:i4>
      </vt:variant>
    </vt:vector>
  </HeadingPairs>
  <TitlesOfParts>
    <vt:vector size="91" baseType="lpstr">
      <vt:lpstr>Aptos</vt:lpstr>
      <vt:lpstr>Aptos Display</vt:lpstr>
      <vt:lpstr>Arial</vt:lpstr>
      <vt:lpstr>Cambria Math</vt:lpstr>
      <vt:lpstr>Consolas</vt:lpstr>
      <vt:lpstr>Courier New</vt:lpstr>
      <vt:lpstr>Lucida Console</vt:lpstr>
      <vt:lpstr>Symbol</vt:lpstr>
      <vt:lpstr>Wingdings</vt:lpstr>
      <vt:lpstr>Office Theme</vt:lpstr>
      <vt:lpstr>Equation</vt:lpstr>
      <vt:lpstr>Visualizing Multivariate Data and Models in R</vt:lpstr>
      <vt:lpstr>The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Collinearity: narrow data  increased uncertainty</vt:lpstr>
      <vt:lpstr>Application: effect ordering variables in displays</vt:lpstr>
      <vt:lpstr>Measurement error for β1 also biases β2</vt:lpstr>
      <vt:lpstr>Added-variable plots show partial relationships</vt:lpstr>
      <vt:lpstr>Leverage and influence: car::influencePlot(model)</vt:lpstr>
      <vt:lpstr>Which observations drive the fit?</vt:lpstr>
      <vt:lpstr>MANOVA: the same sums of squares, now as matrices</vt:lpstr>
      <vt:lpstr>Canonical correlation in an HE plot</vt:lpstr>
      <vt:lpstr>Factorial designs: main effects and interactions</vt:lpstr>
      <vt:lpstr>MANCOVA: are the regressions the same across groups?</vt:lpstr>
      <vt:lpstr>Are the covariance matrices equal?</vt:lpstr>
      <vt:lpstr>Visualizing Box's M test</vt:lpstr>
      <vt:lpstr>Quadratic discriminant analysis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69</cp:revision>
  <dcterms:created xsi:type="dcterms:W3CDTF">2026-10-06T18:00:03Z</dcterms:created>
  <dcterms:modified xsi:type="dcterms:W3CDTF">2026-10-20T17:32:58Z</dcterms:modified>
</cp:coreProperties>
</file>