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268" r:id="rId20"/>
    <p:sldId id="269" r:id="rId21"/>
    <p:sldId id="270" r:id="rId22"/>
    <p:sldId id="271" r:id="rId23"/>
    <p:sldId id="273" r:id="rId24"/>
    <p:sldId id="467" r:id="rId25"/>
    <p:sldId id="274" r:id="rId26"/>
    <p:sldId id="275" r:id="rId27"/>
    <p:sldId id="276" r:id="rId28"/>
    <p:sldId id="468" r:id="rId29"/>
    <p:sldId id="277" r:id="rId30"/>
    <p:sldId id="278" r:id="rId31"/>
    <p:sldId id="282" r:id="rId32"/>
    <p:sldId id="471" r:id="rId33"/>
    <p:sldId id="272" r:id="rId34"/>
    <p:sldId id="281" r:id="rId35"/>
    <p:sldId id="472" r:id="rId36"/>
    <p:sldId id="460" r:id="rId37"/>
    <p:sldId id="289" r:id="rId38"/>
    <p:sldId id="461" r:id="rId39"/>
    <p:sldId id="293" r:id="rId40"/>
    <p:sldId id="294" r:id="rId41"/>
    <p:sldId id="295" r:id="rId42"/>
    <p:sldId id="465" r:id="rId43"/>
    <p:sldId id="297" r:id="rId44"/>
    <p:sldId id="298" r:id="rId45"/>
    <p:sldId id="466" r:id="rId46"/>
    <p:sldId id="327" r:id="rId47"/>
    <p:sldId id="328" r:id="rId48"/>
    <p:sldId id="329" r:id="rId49"/>
    <p:sldId id="302" r:id="rId50"/>
    <p:sldId id="303" r:id="rId51"/>
    <p:sldId id="449" r:id="rId52"/>
    <p:sldId id="306" r:id="rId53"/>
    <p:sldId id="469" r:id="rId54"/>
    <p:sldId id="318" r:id="rId55"/>
    <p:sldId id="319" r:id="rId56"/>
    <p:sldId id="320" r:id="rId57"/>
    <p:sldId id="310" r:id="rId58"/>
    <p:sldId id="311" r:id="rId59"/>
    <p:sldId id="313" r:id="rId60"/>
    <p:sldId id="314" r:id="rId61"/>
    <p:sldId id="322" r:id="rId62"/>
    <p:sldId id="323" r:id="rId63"/>
    <p:sldId id="324" r:id="rId64"/>
    <p:sldId id="283" r:id="rId65"/>
    <p:sldId id="284" r:id="rId66"/>
    <p:sldId id="286" r:id="rId67"/>
    <p:sldId id="291" r:id="rId68"/>
    <p:sldId id="292" r:id="rId69"/>
    <p:sldId id="279" r:id="rId70"/>
    <p:sldId id="462" r:id="rId71"/>
    <p:sldId id="285" r:id="rId72"/>
    <p:sldId id="287" r:id="rId73"/>
    <p:sldId id="288" r:id="rId74"/>
    <p:sldId id="463" r:id="rId75"/>
    <p:sldId id="299" r:id="rId76"/>
    <p:sldId id="300" r:id="rId77"/>
    <p:sldId id="301" r:id="rId78"/>
    <p:sldId id="307" r:id="rId79"/>
    <p:sldId id="308" r:id="rId80"/>
    <p:sldId id="309" r:id="rId81"/>
    <p:sldId id="315" r:id="rId82"/>
    <p:sldId id="316" r:id="rId83"/>
    <p:sldId id="317" r:id="rId84"/>
    <p:sldId id="321"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463"/>
            <p14:sldId id="299"/>
            <p14:sldId id="300"/>
            <p14:sldId id="301"/>
            <p14:sldId id="307"/>
            <p14:sldId id="308"/>
            <p14:sldId id="309"/>
            <p14:sldId id="315"/>
            <p14:sldId id="316"/>
            <p14:sldId id="317"/>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267" autoAdjust="0"/>
  </p:normalViewPr>
  <p:slideViewPr>
    <p:cSldViewPr snapToGrid="0">
      <p:cViewPr varScale="1">
        <p:scale>
          <a:sx n="74" d="100"/>
          <a:sy n="74" d="100"/>
        </p:scale>
        <p:origin x="618" y="72"/>
      </p:cViewPr>
      <p:guideLst/>
    </p:cSldViewPr>
  </p:slideViewPr>
  <p:notesTextViewPr>
    <p:cViewPr>
      <p:scale>
        <a:sx n="1" d="1"/>
        <a:sy n="1" d="1"/>
      </p:scale>
      <p:origin x="0" y="0"/>
    </p:cViewPr>
  </p:notesTextViewPr>
  <p:sorterViewPr>
    <p:cViewPr varScale="1">
      <p:scale>
        <a:sx n="100" d="100"/>
        <a:sy n="100" d="100"/>
      </p:scale>
      <p:origin x="0" y="-139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24</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32</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35</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38</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42</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45</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51</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distance plot is one of the figures the organizer singled out. 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70</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74</a:t>
            </a:fld>
            <a:endParaRPr lang="en-US"/>
          </a:p>
        </p:txBody>
      </p:sp>
    </p:spTree>
    <p:extLst>
      <p:ext uri="{BB962C8B-B14F-4D97-AF65-F5344CB8AC3E}">
        <p14:creationId xmlns:p14="http://schemas.microsoft.com/office/powerpoint/2010/main" val="29335694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Hotelling's T-squared as a generalized t-test.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4433200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Above: data ellipses summarized in an HE plot showing the pooled within-group error ellipse (E) and the H 'ellipse' for the group means. Below: observations projected on the line joining the means.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528608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0.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38.png"/></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40.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4.jp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3.png"/><Relationship Id="rId5" Type="http://schemas.microsoft.com/office/2007/relationships/hdphoto" Target="../media/hdphoto1.wdp"/><Relationship Id="rId4" Type="http://schemas.openxmlformats.org/officeDocument/2006/relationships/image" Target="../media/image42.png"/></Relationships>
</file>

<file path=ppt/slides/_rels/slide25.xml.rels><?xml version="1.0" encoding="UTF-8" standalone="yes"?>
<Relationships xmlns="http://schemas.openxmlformats.org/package/2006/relationships"><Relationship Id="rId3" Type="http://schemas.openxmlformats.org/officeDocument/2006/relationships/image" Target="../media/image45.gif"/><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3" Type="http://schemas.openxmlformats.org/officeDocument/2006/relationships/image" Target="../media/image46.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6.xml"/><Relationship Id="rId1" Type="http://schemas.openxmlformats.org/officeDocument/2006/relationships/slideLayout" Target="../slideLayouts/slideLayout20.xml"/><Relationship Id="rId4" Type="http://schemas.openxmlformats.org/officeDocument/2006/relationships/image" Target="../media/image48.png"/></Relationships>
</file>

<file path=ppt/slides/_rels/slide28.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7.xml"/><Relationship Id="rId1" Type="http://schemas.openxmlformats.org/officeDocument/2006/relationships/slideLayout" Target="../slideLayouts/slideLayout18.xml"/><Relationship Id="rId5" Type="http://schemas.openxmlformats.org/officeDocument/2006/relationships/image" Target="../media/image50.png"/><Relationship Id="rId4" Type="http://schemas.openxmlformats.org/officeDocument/2006/relationships/image" Target="../media/image49.png"/></Relationships>
</file>

<file path=ppt/slides/_rels/slide2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3" Type="http://schemas.openxmlformats.org/officeDocument/2006/relationships/image" Target="../media/image52.gif"/><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0.xml"/><Relationship Id="rId1" Type="http://schemas.openxmlformats.org/officeDocument/2006/relationships/slideLayout" Target="../slideLayouts/slideLayout22.xml"/><Relationship Id="rId6" Type="http://schemas.openxmlformats.org/officeDocument/2006/relationships/image" Target="../media/image55.emf"/><Relationship Id="rId5" Type="http://schemas.openxmlformats.org/officeDocument/2006/relationships/image" Target="../media/image54.png"/><Relationship Id="rId4" Type="http://schemas.openxmlformats.org/officeDocument/2006/relationships/hyperlink" Target="http://www.datavis.ca/gallery/animation/outlier-demo/"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1.xml"/><Relationship Id="rId1" Type="http://schemas.openxmlformats.org/officeDocument/2006/relationships/slideLayout" Target="../slideLayouts/slideLayout21.xml"/><Relationship Id="rId4" Type="http://schemas.openxmlformats.org/officeDocument/2006/relationships/image" Target="../media/image57.png"/></Relationships>
</file>

<file path=ppt/slides/_rels/slide3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2.xml"/><Relationship Id="rId1" Type="http://schemas.openxmlformats.org/officeDocument/2006/relationships/slideLayout" Target="../slideLayouts/slideLayout23.xml"/><Relationship Id="rId4" Type="http://schemas.openxmlformats.org/officeDocument/2006/relationships/image" Target="../media/image55.emf"/></Relationships>
</file>

<file path=ppt/slides/_rels/slide35.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3.xml"/><Relationship Id="rId1" Type="http://schemas.openxmlformats.org/officeDocument/2006/relationships/slideLayout" Target="../slideLayouts/slideLayout22.xml"/></Relationships>
</file>

<file path=ppt/slides/_rels/slide3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4.xml"/><Relationship Id="rId1" Type="http://schemas.openxmlformats.org/officeDocument/2006/relationships/slideLayout" Target="../slideLayouts/slideLayout21.xml"/><Relationship Id="rId4" Type="http://schemas.openxmlformats.org/officeDocument/2006/relationships/image" Target="../media/image60.png"/></Relationships>
</file>

<file path=ppt/slides/_rels/slide3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5.xml"/><Relationship Id="rId1" Type="http://schemas.openxmlformats.org/officeDocument/2006/relationships/slideLayout" Target="../slideLayouts/slideLayout21.xml"/></Relationships>
</file>

<file path=ppt/slides/_rels/slide38.xml.rels><?xml version="1.0" encoding="UTF-8" standalone="yes"?>
<Relationships xmlns="http://schemas.openxmlformats.org/package/2006/relationships"><Relationship Id="rId3" Type="http://schemas.openxmlformats.org/officeDocument/2006/relationships/image" Target="../media/image62.gif"/><Relationship Id="rId2" Type="http://schemas.openxmlformats.org/officeDocument/2006/relationships/notesSlide" Target="../notesSlides/notesSlide36.xml"/><Relationship Id="rId1" Type="http://schemas.openxmlformats.org/officeDocument/2006/relationships/slideLayout" Target="../slideLayouts/slideLayout22.xml"/><Relationship Id="rId5" Type="http://schemas.openxmlformats.org/officeDocument/2006/relationships/image" Target="../media/image64.gif"/><Relationship Id="rId4" Type="http://schemas.openxmlformats.org/officeDocument/2006/relationships/image" Target="../media/image63.gif"/></Relationships>
</file>

<file path=ppt/slides/_rels/slide3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7.xml"/><Relationship Id="rId1" Type="http://schemas.openxmlformats.org/officeDocument/2006/relationships/slideLayout" Target="../slideLayouts/slideLayout21.xml"/><Relationship Id="rId6" Type="http://schemas.openxmlformats.org/officeDocument/2006/relationships/image" Target="../media/image66.png"/><Relationship Id="rId5" Type="http://schemas.openxmlformats.org/officeDocument/2006/relationships/image" Target="../media/image10.png"/><Relationship Id="rId4" Type="http://schemas.openxmlformats.org/officeDocument/2006/relationships/image" Target="../media/image55.emf"/></Relationships>
</file>

<file path=ppt/slides/_rels/slide4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8.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1.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0.xml"/><Relationship Id="rId1" Type="http://schemas.openxmlformats.org/officeDocument/2006/relationships/slideLayout" Target="../slideLayouts/slideLayout21.xml"/><Relationship Id="rId5" Type="http://schemas.openxmlformats.org/officeDocument/2006/relationships/image" Target="../media/image70.png"/><Relationship Id="rId4" Type="http://schemas.openxmlformats.org/officeDocument/2006/relationships/image" Target="../media/image10.png"/></Relationships>
</file>

<file path=ppt/slides/_rels/slide43.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image" Target="../media/image72.png"/><Relationship Id="rId7" Type="http://schemas.openxmlformats.org/officeDocument/2006/relationships/image" Target="../media/image76.png"/><Relationship Id="rId2" Type="http://schemas.openxmlformats.org/officeDocument/2006/relationships/notesSlide" Target="../notesSlides/notesSlide42.xml"/><Relationship Id="rId1" Type="http://schemas.openxmlformats.org/officeDocument/2006/relationships/slideLayout" Target="../slideLayouts/slideLayout24.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4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3.xml"/><Relationship Id="rId1" Type="http://schemas.openxmlformats.org/officeDocument/2006/relationships/slideLayout" Target="../slideLayouts/slideLayout25.xml"/><Relationship Id="rId5" Type="http://schemas.openxmlformats.org/officeDocument/2006/relationships/image" Target="../media/image80.png"/><Relationship Id="rId4" Type="http://schemas.openxmlformats.org/officeDocument/2006/relationships/image" Target="../media/image79.png"/></Relationships>
</file>

<file path=ppt/slides/_rels/slide4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4.xml"/><Relationship Id="rId1" Type="http://schemas.openxmlformats.org/officeDocument/2006/relationships/slideLayout" Target="../slideLayouts/slideLayout25.xml"/><Relationship Id="rId6" Type="http://schemas.openxmlformats.org/officeDocument/2006/relationships/image" Target="../media/image82.wmf"/><Relationship Id="rId5" Type="http://schemas.openxmlformats.org/officeDocument/2006/relationships/oleObject" Target="../embeddings/oleObject1.bin"/><Relationship Id="rId4" Type="http://schemas.openxmlformats.org/officeDocument/2006/relationships/image" Target="../media/image81.png"/></Relationships>
</file>

<file path=ppt/slides/_rels/slide48.xml.rels><?xml version="1.0" encoding="UTF-8" standalone="yes"?>
<Relationships xmlns="http://schemas.openxmlformats.org/package/2006/relationships"><Relationship Id="rId3" Type="http://schemas.openxmlformats.org/officeDocument/2006/relationships/image" Target="../media/image79.png"/><Relationship Id="rId7" Type="http://schemas.openxmlformats.org/officeDocument/2006/relationships/image" Target="../media/image85.wmf"/><Relationship Id="rId2" Type="http://schemas.openxmlformats.org/officeDocument/2006/relationships/notesSlide" Target="../notesSlides/notesSlide45.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84.png"/><Relationship Id="rId4" Type="http://schemas.openxmlformats.org/officeDocument/2006/relationships/image" Target="../media/image83.png"/></Relationships>
</file>

<file path=ppt/slides/_rels/slide49.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6.xml"/><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7.xml"/><Relationship Id="rId1" Type="http://schemas.openxmlformats.org/officeDocument/2006/relationships/slideLayout" Target="../slideLayouts/slideLayout26.xml"/></Relationships>
</file>

<file path=ppt/slides/_rels/slide5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48.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50.xml"/><Relationship Id="rId1" Type="http://schemas.openxmlformats.org/officeDocument/2006/relationships/slideLayout" Target="../slideLayouts/slideLayout25.xml"/><Relationship Id="rId5" Type="http://schemas.openxmlformats.org/officeDocument/2006/relationships/image" Target="../media/image91.png"/><Relationship Id="rId4" Type="http://schemas.openxmlformats.org/officeDocument/2006/relationships/image" Target="../media/image90.png"/></Relationships>
</file>

<file path=ppt/slides/_rels/slide54.xml.rels><?xml version="1.0" encoding="UTF-8" standalone="yes"?>
<Relationships xmlns="http://schemas.openxmlformats.org/package/2006/relationships"><Relationship Id="rId3" Type="http://schemas.openxmlformats.org/officeDocument/2006/relationships/image" Target="../media/image92.jp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5.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53.xml"/><Relationship Id="rId1" Type="http://schemas.openxmlformats.org/officeDocument/2006/relationships/slideLayout" Target="../slideLayouts/slideLayout2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4.xml"/><Relationship Id="rId1" Type="http://schemas.openxmlformats.org/officeDocument/2006/relationships/slideLayout" Target="../slideLayouts/slideLayout29.xml"/><Relationship Id="rId4" Type="http://schemas.openxmlformats.org/officeDocument/2006/relationships/image" Target="../media/image96.png"/></Relationships>
</file>

<file path=ppt/slides/_rels/slide59.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5.xml"/><Relationship Id="rId1" Type="http://schemas.openxmlformats.org/officeDocument/2006/relationships/slideLayout" Target="../slideLayouts/slideLayout29.xml"/><Relationship Id="rId4" Type="http://schemas.openxmlformats.org/officeDocument/2006/relationships/image" Target="../media/image8.png"/></Relationships>
</file>

<file path=ppt/slides/_rels/slide60.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6.xml"/><Relationship Id="rId1" Type="http://schemas.openxmlformats.org/officeDocument/2006/relationships/slideLayout" Target="../slideLayouts/slideLayout29.xml"/><Relationship Id="rId4" Type="http://schemas.openxmlformats.org/officeDocument/2006/relationships/image" Target="../media/image6.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8.xml"/></Relationships>
</file>

<file path=ppt/slides/_rels/slide6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58.xml"/><Relationship Id="rId1" Type="http://schemas.openxmlformats.org/officeDocument/2006/relationships/slideLayout" Target="../slideLayouts/slideLayout29.xml"/><Relationship Id="rId4" Type="http://schemas.openxmlformats.org/officeDocument/2006/relationships/image" Target="../media/image5.jpg"/></Relationships>
</file>

<file path=ppt/slides/_rels/slide63.xml.rels><?xml version="1.0" encoding="UTF-8" standalone="yes"?>
<Relationships xmlns="http://schemas.openxmlformats.org/package/2006/relationships"><Relationship Id="rId2" Type="http://schemas.openxmlformats.org/officeDocument/2006/relationships/image" Target="../media/image99.gif"/><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4.xml"/><Relationship Id="rId1" Type="http://schemas.openxmlformats.org/officeDocument/2006/relationships/slideLayout" Target="../slideLayouts/slideLayout6.xml"/><Relationship Id="rId4" Type="http://schemas.openxmlformats.org/officeDocument/2006/relationships/image" Target="../media/image38.png"/></Relationships>
</file>

<file path=ppt/slides/_rels/slide70.xml.rels><?xml version="1.0" encoding="UTF-8" standalone="yes"?>
<Relationships xmlns="http://schemas.openxmlformats.org/package/2006/relationships"><Relationship Id="rId3" Type="http://schemas.openxmlformats.org/officeDocument/2006/relationships/image" Target="../media/image64.gif"/><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12000">
              <a:schemeClr val="accent1">
                <a:lumMod val="40000"/>
                <a:lumOff val="60000"/>
              </a:schemeClr>
            </a:gs>
            <a:gs pos="41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279443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626538"/>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1484330" y="320039"/>
            <a:ext cx="2340000" cy="2340000"/>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40"/>
            <a:ext cx="3276000" cy="2340000"/>
          </a:xfrm>
          <a:prstGeom prst="rect">
            <a:avLst/>
          </a:prstGeom>
        </p:spPr>
      </p:pic>
      <p:pic>
        <p:nvPicPr>
          <p:cNvPr id="6" name="Thumbnail: HE plot" descr="image.png"/>
          <p:cNvPicPr>
            <a:picLocks noChangeAspect="1"/>
          </p:cNvPicPr>
          <p:nvPr/>
        </p:nvPicPr>
        <p:blipFill>
          <a:blip r:embed="rId7"/>
          <a:stretch>
            <a:fillRect/>
          </a:stretch>
        </p:blipFill>
        <p:spPr>
          <a:xfrm>
            <a:off x="7376160" y="320040"/>
            <a:ext cx="3276000" cy="2340000"/>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10</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39684" y="936307"/>
            <a:ext cx="2342959" cy="1508125"/>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6634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19</a:t>
            </a:fld>
            <a:endParaRPr lang="en-CA"/>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
        <p:nvSpPr>
          <p:cNvPr id="7" name="Slide Number Placeholder 7"/>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chemeClr val="accent1">
              <a:lumMod val="50000"/>
            </a:schemeClr>
          </a:solidFill>
        </p:spPr>
        <p:txBody>
          <a:bodyPr wrap="square" rtlCol="0">
            <a:spAutoFit/>
          </a:bodyPr>
          <a:lstStyle/>
          <a:p>
            <a:r>
              <a:rPr lang="en-US" sz="4800" dirty="0">
                <a:solidFill>
                  <a:schemeClr val="bg1"/>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24</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25</a:t>
            </a:fld>
            <a:endParaRPr lang="en-CA"/>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460599"/>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27</a:t>
            </a:fld>
            <a:endParaRPr lang="en-CA"/>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524599"/>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28</a:t>
            </a:fld>
            <a:endParaRPr lang="en-CA"/>
          </a:p>
        </p:txBody>
      </p:sp>
    </p:spTree>
    <p:extLst>
      <p:ext uri="{BB962C8B-B14F-4D97-AF65-F5344CB8AC3E}">
        <p14:creationId xmlns:p14="http://schemas.microsoft.com/office/powerpoint/2010/main" val="18081444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29</a:t>
            </a:fld>
            <a:endParaRPr lang="en-CA"/>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32</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35</a:t>
            </a:fld>
            <a:endParaRPr lang="en-CA"/>
          </a:p>
        </p:txBody>
      </p:sp>
    </p:spTree>
    <p:extLst>
      <p:ext uri="{BB962C8B-B14F-4D97-AF65-F5344CB8AC3E}">
        <p14:creationId xmlns:p14="http://schemas.microsoft.com/office/powerpoint/2010/main" val="21404008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19636508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37</a:t>
            </a:fld>
            <a:endParaRPr lang="en-CA"/>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38</a:t>
            </a:fld>
            <a:endParaRPr lang="en-CA"/>
          </a:p>
        </p:txBody>
      </p:sp>
    </p:spTree>
    <p:extLst>
      <p:ext uri="{BB962C8B-B14F-4D97-AF65-F5344CB8AC3E}">
        <p14:creationId xmlns:p14="http://schemas.microsoft.com/office/powerpoint/2010/main" val="26152795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39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42</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43</a:t>
            </a:fld>
            <a:endParaRPr lang="en-CA"/>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HE plot framework</a:t>
            </a:r>
          </a:p>
        </p:txBody>
      </p:sp>
      <p:sp>
        <p:nvSpPr>
          <p:cNvPr id="3" name="Text Placeholder 2"/>
          <p:cNvSpPr>
            <a:spLocks noGrp="1"/>
          </p:cNvSpPr>
          <p:nvPr>
            <p:ph type="body" idx="1"/>
          </p:nvPr>
        </p:nvSpPr>
        <p:spPr/>
        <p:txBody>
          <a:bodyPr/>
          <a:lstStyle/>
          <a:p>
            <a:r>
              <a:t>Seeing multivariate tests as ellipses</a:t>
            </a:r>
          </a:p>
        </p:txBody>
      </p:sp>
      <p:sp>
        <p:nvSpPr>
          <p:cNvPr id="4" name="Slide Number Placeholder 4"/>
          <p:cNvSpPr>
            <a:spLocks noGrp="1"/>
          </p:cNvSpPr>
          <p:nvPr>
            <p:ph type="sldNum" sz="quarter" idx="12"/>
          </p:nvPr>
        </p:nvSpPr>
        <p:spPr/>
        <p:txBody>
          <a:bodyPr/>
          <a:lstStyle/>
          <a:p>
            <a:fld id="{9BFB2853-4965-4727-91C4-384EB30D99A4}" type="slidenum">
              <a:rPr lang="en-CA"/>
              <a:t>44</a:t>
            </a:fld>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between group 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within groups 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46</a:t>
            </a:fld>
            <a:endParaRPr lang="en-CA"/>
          </a:p>
        </p:txBody>
      </p:sp>
    </p:spTree>
    <p:extLst>
      <p:ext uri="{BB962C8B-B14F-4D97-AF65-F5344CB8AC3E}">
        <p14:creationId xmlns:p14="http://schemas.microsoft.com/office/powerpoint/2010/main" val="11472840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29880179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37967494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
        <p:nvSpPr>
          <p:cNvPr id="7" name="Slide Number Placeholder 7"/>
          <p:cNvSpPr>
            <a:spLocks noGrp="1"/>
          </p:cNvSpPr>
          <p:nvPr>
            <p:ph type="sldNum" sz="quarter" idx="12"/>
          </p:nvPr>
        </p:nvSpPr>
        <p:spPr/>
        <p:txBody>
          <a:bodyPr/>
          <a:lstStyle/>
          <a:p>
            <a:fld id="{9BFB2853-4965-4727-91C4-384EB30D99A4}" type="slidenum">
              <a:rPr lang="en-CA"/>
              <a:t>49</a:t>
            </a:fld>
            <a:endParaRPr lang="en-CA"/>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50</a:t>
            </a:fld>
            <a:endParaRPr lang="en-CA"/>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51</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55</a:t>
            </a:fld>
            <a:endParaRPr lang="en-CA"/>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59</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60</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b="1" dirty="0"/>
              <a:t>Visual thinning</a:t>
            </a:r>
            <a:r>
              <a:rPr dirty="0"/>
              <a:t>: summarize, so the message can be seen</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61</a:t>
            </a:fld>
            <a:endParaRPr lang="en-CA"/>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62</a:t>
            </a:fld>
            <a:endParaRPr lang="en-CA"/>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64</a:t>
            </a:fld>
            <a:endParaRPr lang="en-CA"/>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68</a:t>
            </a:fld>
            <a:endParaRPr lang="en-CA"/>
          </a:p>
        </p:txBody>
      </p:sp>
    </p:spTree>
    <p:extLst>
      <p:ext uri="{BB962C8B-B14F-4D97-AF65-F5344CB8AC3E}">
        <p14:creationId xmlns:p14="http://schemas.microsoft.com/office/powerpoint/2010/main" val="255179568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69</a:t>
            </a:fld>
            <a:endParaRPr lang="en-CA"/>
          </a:p>
        </p:txBody>
      </p:sp>
    </p:spTree>
    <p:extLst>
      <p:ext uri="{BB962C8B-B14F-4D97-AF65-F5344CB8AC3E}">
        <p14:creationId xmlns:p14="http://schemas.microsoft.com/office/powerpoint/2010/main" val="27878202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370433655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213160507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171975335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16370766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Bias </a:t>
            </a:r>
            <a:r>
              <a:rPr lang="en-US" i="1" dirty="0"/>
              <a:t>vs. </a:t>
            </a:r>
            <a:r>
              <a:rPr lang="en-US" dirty="0"/>
              <a:t>Precision tradeoff</a:t>
            </a:r>
          </a:p>
        </p:txBody>
      </p:sp>
      <p:sp>
        <p:nvSpPr>
          <p:cNvPr id="3" name="Content Placeholder 2"/>
          <p:cNvSpPr>
            <a:spLocks noGrp="1"/>
          </p:cNvSpPr>
          <p:nvPr>
            <p:ph idx="1"/>
          </p:nvPr>
        </p:nvSpPr>
        <p:spPr>
          <a:xfrm>
            <a:off x="3505200" y="1143000"/>
            <a:ext cx="8229600" cy="1981200"/>
          </a:xfrm>
        </p:spPr>
        <p:txBody>
          <a:bodyPr>
            <a:normAutofit/>
          </a:bodyPr>
          <a:lstStyle/>
          <a:p>
            <a:r>
              <a:rPr lang="en-US" dirty="0"/>
              <a:t>Particularly important when the goal is </a:t>
            </a:r>
            <a:r>
              <a:rPr lang="en-US" dirty="0">
                <a:solidFill>
                  <a:srgbClr val="FF0000"/>
                </a:solidFill>
              </a:rPr>
              <a:t>predictive accuracy</a:t>
            </a:r>
          </a:p>
          <a:p>
            <a:pPr lvl="1"/>
            <a:r>
              <a:rPr lang="en-US" dirty="0"/>
              <a:t>Complex models, many predictors, e.g., demand for medical care</a:t>
            </a:r>
          </a:p>
          <a:p>
            <a:pPr lvl="1"/>
            <a:r>
              <a:rPr lang="en-US" dirty="0"/>
              <a:t>In-sample prediction error decreases with model complexity</a:t>
            </a:r>
          </a:p>
          <a:p>
            <a:r>
              <a:rPr lang="en-US" dirty="0"/>
              <a:t>But, in </a:t>
            </a:r>
            <a:r>
              <a:rPr lang="en-US" dirty="0">
                <a:solidFill>
                  <a:srgbClr val="FF0000"/>
                </a:solidFill>
              </a:rPr>
              <a:t>new samples </a:t>
            </a:r>
            <a:r>
              <a:rPr lang="en-US" dirty="0"/>
              <a:t>prediction error suffers from high variance of complex models </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3276600"/>
            <a:ext cx="4403810" cy="3055238"/>
          </a:xfrm>
          <a:prstGeom prst="rect">
            <a:avLst/>
          </a:prstGeom>
        </p:spPr>
      </p:pic>
      <p:sp>
        <p:nvSpPr>
          <p:cNvPr id="6" name="TextBox 5"/>
          <p:cNvSpPr txBox="1"/>
          <p:nvPr/>
        </p:nvSpPr>
        <p:spPr>
          <a:xfrm>
            <a:off x="3505200" y="3505201"/>
            <a:ext cx="3124200" cy="830997"/>
          </a:xfrm>
          <a:prstGeom prst="rect">
            <a:avLst/>
          </a:prstGeom>
          <a:noFill/>
        </p:spPr>
        <p:txBody>
          <a:bodyPr wrap="square" rtlCol="0">
            <a:spAutoFit/>
          </a:bodyPr>
          <a:lstStyle/>
          <a:p>
            <a:r>
              <a:rPr lang="en-US" sz="2400" dirty="0"/>
              <a:t>How to visualize the tradeoff in </a:t>
            </a:r>
            <a:r>
              <a:rPr lang="en-US" sz="2400" dirty="0">
                <a:solidFill>
                  <a:srgbClr val="FF0000"/>
                </a:solidFill>
              </a:rPr>
              <a:t>data</a:t>
            </a:r>
            <a:r>
              <a:rPr lang="en-US" sz="2400" dirty="0"/>
              <a:t>?</a:t>
            </a:r>
          </a:p>
        </p:txBody>
      </p:sp>
      <p:sp>
        <p:nvSpPr>
          <p:cNvPr id="7" name="TextBox 6"/>
          <p:cNvSpPr txBox="1"/>
          <p:nvPr/>
        </p:nvSpPr>
        <p:spPr>
          <a:xfrm>
            <a:off x="3581400" y="4572001"/>
            <a:ext cx="2971800" cy="830997"/>
          </a:xfrm>
          <a:prstGeom prst="rect">
            <a:avLst/>
          </a:prstGeom>
          <a:noFill/>
        </p:spPr>
        <p:txBody>
          <a:bodyPr wrap="square" rtlCol="0">
            <a:spAutoFit/>
          </a:bodyPr>
          <a:lstStyle/>
          <a:p>
            <a:r>
              <a:rPr lang="en-US" sz="2400" dirty="0"/>
              <a:t>+1 if you guessed an ellipse !</a:t>
            </a:r>
          </a:p>
        </p:txBody>
      </p:sp>
      <p:sp>
        <p:nvSpPr>
          <p:cNvPr id="8" name="Slide Number Placeholder 8"/>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35026891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the </a:t>
            </a:r>
            <a:r>
              <a:rPr i="1" dirty="0"/>
              <a:t>t</a:t>
            </a:r>
            <a:r>
              <a:rPr dirty="0"/>
              <a:t>-test to Hotelling's </a:t>
            </a:r>
            <a:r>
              <a:rPr b="1" dirty="0"/>
              <a:t>T</a:t>
            </a:r>
            <a:r>
              <a:rPr dirty="0"/>
              <a:t>²</a:t>
            </a:r>
          </a:p>
        </p:txBody>
      </p:sp>
      <p:sp>
        <p:nvSpPr>
          <p:cNvPr id="3" name="Content Placeholder 2"/>
          <p:cNvSpPr>
            <a:spLocks noGrp="1"/>
          </p:cNvSpPr>
          <p:nvPr>
            <p:ph sz="half" idx="1"/>
          </p:nvPr>
        </p:nvSpPr>
        <p:spPr/>
        <p:txBody>
          <a:bodyPr/>
          <a:lstStyle/>
          <a:p>
            <a:r>
              <a:t>Two groups, several responses</a:t>
            </a:r>
          </a:p>
          <a:p>
            <a:r>
              <a:t>T² is the largest squared t over all linear combinations of the responses</a:t>
            </a:r>
          </a:p>
          <a:p>
            <a:r>
              <a:t>That best combination is the discriminant axis</a:t>
            </a:r>
          </a:p>
        </p:txBody>
      </p:sp>
      <p:pic>
        <p:nvPicPr>
          <p:cNvPr id="4" name="Picture 3" descr="T2-diagram.png"/>
          <p:cNvPicPr>
            <a:picLocks noChangeAspect="1"/>
          </p:cNvPicPr>
          <p:nvPr/>
        </p:nvPicPr>
        <p:blipFill>
          <a:blip r:embed="rId3"/>
          <a:stretch>
            <a:fillRect/>
          </a:stretch>
        </p:blipFill>
        <p:spPr>
          <a:xfrm>
            <a:off x="6350508" y="1783080"/>
            <a:ext cx="4828032"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10.1</a:t>
            </a:r>
          </a:p>
        </p:txBody>
      </p:sp>
      <p:sp>
        <p:nvSpPr>
          <p:cNvPr id="6" name="Slide Number Placeholder 6"/>
          <p:cNvSpPr>
            <a:spLocks noGrp="1"/>
          </p:cNvSpPr>
          <p:nvPr>
            <p:ph type="sldNum" sz="quarter" idx="12"/>
          </p:nvPr>
        </p:nvSpPr>
        <p:spPr/>
        <p:txBody>
          <a:bodyPr/>
          <a:lstStyle/>
          <a:p>
            <a:fld id="{9BFB2853-4965-4727-91C4-384EB30D99A4}" type="slidenum">
              <a:rPr lang="en-CA"/>
              <a:t>75</a:t>
            </a:fld>
            <a:endParaRPr lang="en-CA"/>
          </a:p>
        </p:txBody>
      </p:sp>
    </p:spTree>
    <p:extLst>
      <p:ext uri="{BB962C8B-B14F-4D97-AF65-F5344CB8AC3E}">
        <p14:creationId xmlns:p14="http://schemas.microsoft.com/office/powerpoint/2010/main" val="300956220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Hypothesis-Error plot framework</a:t>
            </a:r>
          </a:p>
        </p:txBody>
      </p:sp>
      <p:pic>
        <p:nvPicPr>
          <p:cNvPr id="3" name="Picture 2" descr="HE-framework.png"/>
          <p:cNvPicPr>
            <a:picLocks noChangeAspect="1"/>
          </p:cNvPicPr>
          <p:nvPr/>
        </p:nvPicPr>
        <p:blipFill>
          <a:blip r:embed="rId3"/>
          <a:stretch>
            <a:fillRect/>
          </a:stretch>
        </p:blipFill>
        <p:spPr>
          <a:xfrm>
            <a:off x="841248" y="1417320"/>
            <a:ext cx="7229900" cy="5212080"/>
          </a:xfrm>
          <a:prstGeom prst="rect">
            <a:avLst/>
          </a:prstGeom>
        </p:spPr>
      </p:pic>
      <p:sp>
        <p:nvSpPr>
          <p:cNvPr id="4" name="TextBox 3"/>
          <p:cNvSpPr txBox="1"/>
          <p:nvPr/>
        </p:nvSpPr>
        <p:spPr>
          <a:xfrm>
            <a:off x="8436908" y="1417320"/>
            <a:ext cx="3192108" cy="5212080"/>
          </a:xfrm>
          <a:prstGeom prst="rect">
            <a:avLst/>
          </a:prstGeom>
          <a:noFill/>
        </p:spPr>
        <p:txBody>
          <a:bodyPr wrap="square" anchor="ctr">
            <a:noAutofit/>
          </a:bodyPr>
          <a:lstStyle/>
          <a:p>
            <a:r>
              <a:rPr sz="2400" dirty="0"/>
              <a:t>Data ellipses </a:t>
            </a:r>
            <a:r>
              <a:rPr lang="en-CA" sz="2400" dirty="0">
                <a:sym typeface="Symbol" panose="05050102010706020507" pitchFamily="18" charset="2"/>
              </a:rPr>
              <a:t></a:t>
            </a:r>
            <a:r>
              <a:rPr sz="2400" dirty="0"/>
              <a:t> </a:t>
            </a:r>
            <a:r>
              <a:rPr sz="2400" b="1" dirty="0"/>
              <a:t>E</a:t>
            </a:r>
            <a:r>
              <a:rPr sz="2400" dirty="0"/>
              <a:t> ellipse </a:t>
            </a:r>
            <a:endParaRPr lang="en-CA" sz="2400" dirty="0"/>
          </a:p>
          <a:p>
            <a:endParaRPr lang="en-CA" sz="2400" dirty="0"/>
          </a:p>
          <a:p>
            <a:r>
              <a:rPr lang="en-CA" sz="2400" dirty="0"/>
              <a:t>G</a:t>
            </a:r>
            <a:r>
              <a:rPr sz="2400" dirty="0" err="1"/>
              <a:t>roup</a:t>
            </a:r>
            <a:r>
              <a:rPr sz="2400" dirty="0"/>
              <a:t> means </a:t>
            </a:r>
            <a:r>
              <a:rPr lang="en-CA" sz="2400" dirty="0">
                <a:sym typeface="Symbol" panose="05050102010706020507" pitchFamily="18" charset="2"/>
              </a:rPr>
              <a:t></a:t>
            </a:r>
            <a:r>
              <a:rPr sz="2400" dirty="0"/>
              <a:t> </a:t>
            </a:r>
            <a:r>
              <a:rPr sz="2400" b="1" dirty="0"/>
              <a:t>H</a:t>
            </a:r>
            <a:endParaRPr lang="en-CA" sz="2400" b="1" dirty="0"/>
          </a:p>
          <a:p>
            <a:r>
              <a:rPr sz="2400" dirty="0"/>
              <a:t> </a:t>
            </a:r>
            <a:endParaRPr lang="en-CA" sz="2400" dirty="0"/>
          </a:p>
          <a:p>
            <a:r>
              <a:rPr lang="en-CA" sz="2400" dirty="0"/>
              <a:t>P</a:t>
            </a:r>
            <a:r>
              <a:rPr sz="2400" dirty="0" err="1"/>
              <a:t>rojection</a:t>
            </a:r>
            <a:r>
              <a:rPr sz="2400" dirty="0"/>
              <a:t> </a:t>
            </a:r>
            <a:r>
              <a:rPr lang="en-CA" sz="2400" dirty="0">
                <a:sym typeface="Symbol" panose="05050102010706020507" pitchFamily="18" charset="2"/>
              </a:rPr>
              <a:t> </a:t>
            </a:r>
            <a:r>
              <a:rPr sz="2400" dirty="0"/>
              <a:t>discriminant view.</a:t>
            </a:r>
          </a:p>
        </p:txBody>
      </p:sp>
      <p:sp>
        <p:nvSpPr>
          <p:cNvPr id="5" name="Slide Number Placeholder 5"/>
          <p:cNvSpPr>
            <a:spLocks noGrp="1"/>
          </p:cNvSpPr>
          <p:nvPr>
            <p:ph type="sldNum" sz="quarter" idx="12"/>
          </p:nvPr>
        </p:nvSpPr>
        <p:spPr/>
        <p:txBody>
          <a:bodyPr/>
          <a:lstStyle/>
          <a:p>
            <a:fld id="{9BFB2853-4965-4727-91C4-384EB30D99A4}" type="slidenum">
              <a:rPr lang="en-CA"/>
              <a:t>76</a:t>
            </a:fld>
            <a:endParaRPr lang="en-CA"/>
          </a:p>
        </p:txBody>
      </p:sp>
    </p:spTree>
    <p:extLst>
      <p:ext uri="{BB962C8B-B14F-4D97-AF65-F5344CB8AC3E}">
        <p14:creationId xmlns:p14="http://schemas.microsoft.com/office/powerpoint/2010/main" val="29171991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extLst>
      <p:ext uri="{BB962C8B-B14F-4D97-AF65-F5344CB8AC3E}">
        <p14:creationId xmlns:p14="http://schemas.microsoft.com/office/powerpoint/2010/main" val="2608173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81</a:t>
            </a:fld>
            <a:endParaRPr lang="en-CA"/>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82</a:t>
            </a:fld>
            <a:endParaRPr lang="en-CA"/>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Discriminant analysis</a:t>
            </a:r>
          </a:p>
        </p:txBody>
      </p:sp>
      <p:sp>
        <p:nvSpPr>
          <p:cNvPr id="3" name="Text Placeholder 2"/>
          <p:cNvSpPr>
            <a:spLocks noGrp="1"/>
          </p:cNvSpPr>
          <p:nvPr>
            <p:ph type="body" idx="1"/>
          </p:nvPr>
        </p:nvSpPr>
        <p:spPr/>
        <p:txBody>
          <a:bodyPr/>
          <a:lstStyle/>
          <a:p>
            <a:r>
              <a:t>MANOVA turned around: predicting the group</a:t>
            </a:r>
          </a:p>
        </p:txBody>
      </p:sp>
      <p:sp>
        <p:nvSpPr>
          <p:cNvPr id="4" name="Slide Number Placeholder 4"/>
          <p:cNvSpPr>
            <a:spLocks noGrp="1"/>
          </p:cNvSpPr>
          <p:nvPr>
            <p:ph type="sldNum" sz="quarter" idx="12"/>
          </p:nvPr>
        </p:nvSpPr>
        <p:spPr/>
        <p:txBody>
          <a:bodyPr/>
          <a:lstStyle/>
          <a:p>
            <a:fld id="{9BFB2853-4965-4727-91C4-384EB30D99A4}" type="slidenum">
              <a:rPr lang="en-CA"/>
              <a:t>83</a:t>
            </a:fld>
            <a:endParaRPr lang="en-CA"/>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84</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6505</TotalTime>
  <Words>6634</Words>
  <Application>Microsoft Office PowerPoint</Application>
  <PresentationFormat>Widescreen</PresentationFormat>
  <Paragraphs>698</Paragraphs>
  <Slides>84</Slides>
  <Notes>78</Notes>
  <HiddenSlides>21</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84</vt:i4>
      </vt:variant>
    </vt:vector>
  </HeadingPairs>
  <TitlesOfParts>
    <vt:vector size="95"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Bias vs. Precision tradeoff</vt:lpstr>
      <vt:lpstr>From the t-test to Hotelling's T²</vt:lpstr>
      <vt:lpstr>The Hypothesis-Error plot framework</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Discriminant analysis</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60</cp:revision>
  <dcterms:created xsi:type="dcterms:W3CDTF">2026-10-06T18:00:03Z</dcterms:created>
  <dcterms:modified xsi:type="dcterms:W3CDTF">2026-10-20T16:09:05Z</dcterms:modified>
</cp:coreProperties>
</file>