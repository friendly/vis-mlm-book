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83" r:id="rId67"/>
    <p:sldId id="284" r:id="rId68"/>
    <p:sldId id="286" r:id="rId69"/>
    <p:sldId id="291" r:id="rId70"/>
    <p:sldId id="292" r:id="rId71"/>
    <p:sldId id="279" r:id="rId72"/>
    <p:sldId id="462" r:id="rId73"/>
    <p:sldId id="285" r:id="rId74"/>
    <p:sldId id="287" r:id="rId75"/>
    <p:sldId id="288" r:id="rId76"/>
    <p:sldId id="301" r:id="rId77"/>
    <p:sldId id="307" r:id="rId78"/>
    <p:sldId id="308" r:id="rId79"/>
    <p:sldId id="309" r:id="rId80"/>
    <p:sldId id="315" r:id="rId81"/>
    <p:sldId id="316" r:id="rId82"/>
    <p:sldId id="321" r:id="rId83"/>
    <p:sldId id="264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up" id="{7A8258A9-8C35-45CC-AE73-779A558EF0F6}">
          <p14:sldIdLst>
            <p14:sldId id="283"/>
            <p14:sldId id="284"/>
            <p14:sldId id="286"/>
            <p14:sldId id="291"/>
            <p14:sldId id="292"/>
            <p14:sldId id="279"/>
            <p14:sldId id="462"/>
            <p14:sldId id="285"/>
            <p14:sldId id="287"/>
            <p14:sldId id="288"/>
            <p14:sldId id="301"/>
            <p14:sldId id="307"/>
            <p14:sldId id="308"/>
            <p14:sldId id="309"/>
            <p14:sldId id="315"/>
            <p14:sldId id="316"/>
            <p14:sldId id="321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E3E3"/>
    <a:srgbClr val="FFFFFF"/>
    <a:srgbClr val="E9E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95" autoAdjust="0"/>
  </p:normalViewPr>
  <p:slideViewPr>
    <p:cSldViewPr snapToGrid="0">
      <p:cViewPr varScale="1">
        <p:scale>
          <a:sx n="75" d="100"/>
          <a:sy n="75" d="100"/>
        </p:scale>
        <p:origin x="8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2582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67" Type="http://schemas.openxmlformats.org/officeDocument/2006/relationships/slide" Target="slides/slide66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76" Type="http://schemas.openxmlformats.org/officeDocument/2006/relationships/slide" Target="slides/slide75.xml"/><Relationship Id="rId71" Type="http://schemas.openxmlformats.org/officeDocument/2006/relationships/slide" Target="slides/slide70.xml"/><Relationship Id="rId87" Type="http://schemas.openxmlformats.org/officeDocument/2006/relationships/viewProps" Target="viewProps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20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four standard diagnostic plots, here for Duncan's data on the prestige of occupations predicted from income and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Plot of standardized coefficients and their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Predictor effect plots for all terms in the model for the Prestige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Other problems in fitting &amp; understanding linear models are also made simpler with visual, geometric and dimension reduction ideas</a:t>
            </a:r>
          </a:p>
        </p:txBody>
      </p:sp>
    </p:spTree>
    <p:extLst>
      <p:ext uri="{BB962C8B-B14F-4D97-AF65-F5344CB8AC3E}">
        <p14:creationId xmlns:p14="http://schemas.microsoft.com/office/powerpoint/2010/main" val="286396955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95% data ellipses for x1, x2 and the corresponding confidence ellipses for their coefficients, for increasing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93973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Ordering variables by their angles in the biplot puts similar variables together and makes the pattern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0693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277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Marginal + conditional (added-variable) plots for the coffee data. Each added-variable plot shows the relation of y to one predictor with the others </a:t>
            </a:r>
            <a:r>
              <a:rPr dirty="0" err="1"/>
              <a:t>partialled</a:t>
            </a:r>
            <a:r>
              <a:rPr dirty="0"/>
              <a:t> out; the slope is the coefficient in the full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8879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Influence plot for the Duncan model. Minister and conductor stand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66928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of the figures the organizer singled out. The two occupations pull the income and education slopes in opposite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65181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Breakdown of the total SSP matrix into H and E. The Wilks, Pillai, Hotelling-Lawley and Roy tests are all functions of the eigenvalues of H relative to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236767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HE plot for the canonical correlation analysis of the school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HE plot for the two-way MANOVA of the plastic film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Overlaid HE plots for SAT and PPVT for the two SES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All pairwise covariance ellipses for the penguin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Plots of the contributions to Box's M for the penguin and iris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[OPTIONAL for a 45-minute talk] Quadratic discriminant prediction regions for the penguin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The first act in understanding multivariate data is to be able to “see” it</a:t>
            </a:r>
          </a:p>
        </p:txBody>
      </p:sp>
    </p:spTree>
    <p:extLst>
      <p:ext uri="{BB962C8B-B14F-4D97-AF65-F5344CB8AC3E}">
        <p14:creationId xmlns:p14="http://schemas.microsoft.com/office/powerpoint/2010/main" val="115228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86A3-DB18-D473-3C2C-21A9E94FF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5EA81-E434-D1B7-C80B-62E4ADD5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80C3-BA4B-8E4A-D7F3-32B19F0B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4193-AC1D-9679-4A87-E42BDF4F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E5A0-F9CF-689C-8D61-E098A3F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67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552C-0BFD-199A-C290-82E0E7DD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55B4E-7FFE-4BCA-4057-8E5B63D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F3B5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0ECAC-6645-C1FA-580D-1382315A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408E-18C9-AE29-9B14-B3056D00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CE17-62C5-B7EA-54A9-AA954533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4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1116-2C7D-3653-A739-58A48640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F436-57B9-4904-9302-3AE3EF35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7906C-0394-6DDE-10C3-9764E8C3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1D87C-73DF-EE7D-BA63-DA561306E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BC3BF-5FEF-C7F5-A648-7AD79E883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A4B92-FB68-E7CC-DE9B-0329CFE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62FE2-5BA9-8351-CBA5-3F87C81D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DAA6C-1E0B-34E0-7DFF-FF2D380B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6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9229C-D7D2-65B0-65BD-6AFF2B6E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92CD-C6D8-0C0D-C9C0-68452DB5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F02E-8D0A-A2EB-DB42-8F87B8D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95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5CE4-71A6-692F-C003-94BADEA4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8F44-D0EC-1988-26FA-8B8E2FC3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5C2EF-17DE-9B90-ED6D-D6E91086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E512C-223F-E79F-15ED-0ECA2BE2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AB3E7-2C8E-F043-C0C1-1F8DA545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348E1-3AEA-6F6F-23FD-BD544AF1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8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0F1B-959C-540A-AD2E-7D6FEC5E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45BF4-A48B-E174-8718-5B3569313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434C3-A68D-43AB-B28F-F34494BC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8CEE8-2C4C-8620-737C-AE8F04CF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675F7-9A4B-E2CB-776C-2A336043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8741-0324-E12F-C095-4E7CC976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2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D17A-4D48-28EE-A810-A3D24288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7A73-0C15-3706-044A-408FF364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1EA6-4923-146A-49B3-D75AFA2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D5968-094E-28D6-8177-E63130DF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AFB7-FDF1-A809-AA81-D948CE9A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2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B1715-C993-D91F-4787-F8D7CA3A5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B27B-63DC-598F-B6E2-B748A733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4A46-36D5-9B0F-3EB6-9306071F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ADB4-0946-1EFA-F8DB-66A4A7E3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1D21-57D3-5D15-389F-E7ADDDD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9032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E5EAA">
              <a:alpha val="22000"/>
            </a:srgbClr>
          </a:solidFill>
          <a:ln w="19050">
            <a:solidFill>
              <a:srgbClr val="2E5EAA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008080">
              <a:alpha val="22000"/>
            </a:srgbClr>
          </a:solidFill>
          <a:ln w="19050">
            <a:solidFill>
              <a:srgbClr val="00808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267342">
              <a:alpha val="22000"/>
            </a:srgbClr>
          </a:solidFill>
          <a:ln w="19050">
            <a:solidFill>
              <a:srgbClr val="267342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CC6600">
              <a:alpha val="22000"/>
            </a:srgbClr>
          </a:solidFill>
          <a:ln w="19050">
            <a:solidFill>
              <a:srgbClr val="CC6600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· sec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· sec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D4AF37">
              <a:alpha val="22000"/>
            </a:srgbClr>
          </a:solidFill>
          <a:ln w="19050">
            <a:solidFill>
              <a:srgbClr val="D4AF37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011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A33B2B">
              <a:alpha val="22000"/>
            </a:srgbClr>
          </a:solidFill>
          <a:ln w="19050">
            <a:solidFill>
              <a:srgbClr val="A33B2B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· sec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777240"/>
          </a:xfrm>
          <a:prstGeom prst="roundRect">
            <a:avLst>
              <a:gd name="adj" fmla="val 18000"/>
            </a:avLst>
          </a:prstGeom>
          <a:solidFill>
            <a:srgbClr val="D4AF37">
              <a:alpha val="22000"/>
            </a:srgbClr>
          </a:solidFill>
          <a:ln w="19050">
            <a:solidFill>
              <a:srgbClr val="D4AF37">
                <a:alpha val="6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3063"/>
            <a:ext cx="5181600" cy="453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147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12B1-0D45-5083-3C07-79A68792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9808-3D32-7A37-D584-26815CFB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3063"/>
            <a:ext cx="10515600" cy="453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19E6-998B-212B-C4AA-B9496436B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0891-3358-4CD0-A583-DA65327EA413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078D-866B-F3B4-630F-FE1A8ED65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77B5-A28A-9D03-B379-6A7984C14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9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8" r:id="rId29"/>
    <p:sldLayoutId id="2147483677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0.png"/><Relationship Id="rId4" Type="http://schemas.openxmlformats.org/officeDocument/2006/relationships/image" Target="../media/image27.png"/></Relationships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regression quartet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Residuals vs. fitted: nonlinearity</a:t>
            </a:r>
          </a:p>
          <a:p>
            <a:r>
              <a:rPr dirty="0"/>
              <a:t>Normal QQ: distribution of residuals</a:t>
            </a:r>
          </a:p>
          <a:p>
            <a:r>
              <a:rPr dirty="0"/>
              <a:t>Scale-location: non-constant variance</a:t>
            </a:r>
          </a:p>
          <a:p>
            <a:r>
              <a:rPr dirty="0"/>
              <a:t>Residuals vs. leverage: influential cases</a:t>
            </a:r>
          </a:p>
        </p:txBody>
      </p:sp>
      <p:pic>
        <p:nvPicPr>
          <p:cNvPr id="4" name="Picture 3" descr="fig-duncan-plot-mode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03780"/>
            <a:ext cx="5184648" cy="41477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7.2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66</a:t>
            </a:fld>
            <a:endParaRPr lang="en-CA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Coefficient plots: show the estimates, not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Estimates with confidence intervals</a:t>
            </a:r>
          </a:p>
          <a:p>
            <a:r>
              <a:t>Standardize, or the scales of the predictors dominate the picture</a:t>
            </a:r>
          </a:p>
          <a:p>
            <a:r>
              <a:t>Easy to compare several models</a:t>
            </a:r>
          </a:p>
        </p:txBody>
      </p:sp>
      <p:pic>
        <p:nvPicPr>
          <p:cNvPr id="4" name="Picture 3" descr="fig-modelplot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25980"/>
            <a:ext cx="5184648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7.7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67</a:t>
            </a:fld>
            <a:endParaRPr lang="en-CA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displays: what the model predicts</a:t>
            </a:r>
          </a:p>
        </p:txBody>
      </p:sp>
      <p:pic>
        <p:nvPicPr>
          <p:cNvPr id="3" name="Picture 2" descr="prestige-all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25" y="1691640"/>
            <a:ext cx="10081846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Fitted values for each predictor, averaging over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7.17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68</a:t>
            </a:fld>
            <a:endParaRPr lang="en-CA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Collinearity and ridge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Seeing the problem, and seeing the remedy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69</a:t>
            </a:fld>
            <a:endParaRPr lang="en-CA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Collinearity: narrow data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increased </a:t>
            </a:r>
            <a:r>
              <a:rPr dirty="0"/>
              <a:t>uncertainty</a:t>
            </a:r>
          </a:p>
        </p:txBody>
      </p:sp>
      <p:pic>
        <p:nvPicPr>
          <p:cNvPr id="3" name="Picture 2" descr="fig-collin-data-bet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548" y="1677900"/>
            <a:ext cx="6229674" cy="4449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9.4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2E317-6E5D-AE86-6A53-062E16921753}"/>
              </a:ext>
            </a:extLst>
          </p:cNvPr>
          <p:cNvSpPr txBox="1"/>
          <p:nvPr/>
        </p:nvSpPr>
        <p:spPr>
          <a:xfrm>
            <a:off x="8158348" y="1828800"/>
            <a:ext cx="3503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the predictors become more correlated,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data ellipse narrows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confidence ellipse balloons.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3839C-5377-FA4D-663D-00A64750B8C0}"/>
              </a:ext>
            </a:extLst>
          </p:cNvPr>
          <p:cNvSpPr txBox="1"/>
          <p:nvPr/>
        </p:nvSpPr>
        <p:spPr>
          <a:xfrm rot="16200000">
            <a:off x="168535" y="2452782"/>
            <a:ext cx="1803820" cy="369332"/>
          </a:xfrm>
          <a:prstGeom prst="rect">
            <a:avLst/>
          </a:prstGeom>
          <a:solidFill>
            <a:schemeClr val="accent6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9B9AA-2C34-7F8B-5AFA-AA8DCCD727AD}"/>
              </a:ext>
            </a:extLst>
          </p:cNvPr>
          <p:cNvSpPr txBox="1"/>
          <p:nvPr/>
        </p:nvSpPr>
        <p:spPr>
          <a:xfrm rot="16200000">
            <a:off x="96667" y="4691894"/>
            <a:ext cx="1947554" cy="369332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</a:rPr>
              <a:t>β</a:t>
            </a:r>
            <a:r>
              <a:rPr lang="en-CA" dirty="0"/>
              <a:t> space</a:t>
            </a:r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17956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Application: </a:t>
            </a:r>
            <a:r>
              <a:rPr lang="en-CA" dirty="0"/>
              <a:t>effect </a:t>
            </a:r>
            <a:r>
              <a:rPr dirty="0"/>
              <a:t>ordering variables in displays</a:t>
            </a:r>
          </a:p>
        </p:txBody>
      </p:sp>
      <p:pic>
        <p:nvPicPr>
          <p:cNvPr id="3" name="Picture 2" descr="fig-mtcars-corrplot-varord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7" y="1691640"/>
            <a:ext cx="3931920" cy="3931920"/>
          </a:xfrm>
          <a:prstGeom prst="rect">
            <a:avLst/>
          </a:prstGeom>
        </p:spPr>
      </p:pic>
      <p:pic>
        <p:nvPicPr>
          <p:cNvPr id="4" name="Picture 3" descr="fig-mtcars-corrplot-pcaord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69164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The same correlations of the mtcars data: in dataset order (left) and in PCA order (right).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5.27, 5.29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78202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Measurement error for β</a:t>
            </a:r>
            <a:r>
              <a:rPr lang="en-US" baseline="-25000" dirty="0"/>
              <a:t>1</a:t>
            </a:r>
            <a:r>
              <a:rPr lang="en-US" dirty="0"/>
              <a:t> also biases </a:t>
            </a:r>
            <a:r>
              <a:rPr lang="el-GR" dirty="0"/>
              <a:t>β</a:t>
            </a:r>
            <a:r>
              <a:rPr lang="en-CA" baseline="-25000" dirty="0"/>
              <a:t>2</a:t>
            </a:r>
            <a:endParaRPr lang="en-US" baseline="-25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755754" y="1508125"/>
            <a:ext cx="5889978" cy="4533900"/>
          </a:xfrm>
        </p:spPr>
        <p:txBody>
          <a:bodyPr/>
          <a:lstStyle/>
          <a:p>
            <a:r>
              <a:rPr lang="en-US" dirty="0"/>
              <a:t>As error in Stress increases, </a:t>
            </a:r>
            <a:r>
              <a:rPr lang="el-GR" dirty="0"/>
              <a:t>β</a:t>
            </a:r>
            <a:r>
              <a:rPr lang="en-US" baseline="-25000" dirty="0"/>
              <a:t>Stress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 0 . </a:t>
            </a:r>
          </a:p>
          <a:p>
            <a:pPr lvl="1"/>
            <a:r>
              <a:rPr lang="en-US" dirty="0">
                <a:sym typeface="Symbol"/>
              </a:rPr>
              <a:t>OK, understand that now.</a:t>
            </a:r>
          </a:p>
          <a:p>
            <a:r>
              <a:rPr lang="en-US" dirty="0">
                <a:sym typeface="Symbol"/>
              </a:rPr>
              <a:t>But, at the same time, the effect of coffee, </a:t>
            </a:r>
            <a:r>
              <a:rPr lang="el-GR" dirty="0"/>
              <a:t>β</a:t>
            </a:r>
            <a:r>
              <a:rPr lang="en-US" baseline="-25000" dirty="0"/>
              <a:t>Coffee</a:t>
            </a:r>
            <a:r>
              <a:rPr lang="en-US" dirty="0"/>
              <a:t> seems to  become </a:t>
            </a:r>
            <a:r>
              <a:rPr lang="en-US" dirty="0">
                <a:solidFill>
                  <a:srgbClr val="FF0000"/>
                </a:solidFill>
              </a:rPr>
              <a:t>larger</a:t>
            </a:r>
            <a:r>
              <a:rPr lang="en-US" dirty="0"/>
              <a:t>!</a:t>
            </a:r>
          </a:p>
          <a:p>
            <a:r>
              <a:rPr lang="en-US" dirty="0"/>
              <a:t>Elliptical insight:</a:t>
            </a:r>
          </a:p>
          <a:p>
            <a:pPr lvl="1"/>
            <a:r>
              <a:rPr lang="en-US" dirty="0"/>
              <a:t>Increasing error in x</a:t>
            </a:r>
            <a:r>
              <a:rPr lang="en-US" baseline="-25000" dirty="0"/>
              <a:t>2</a:t>
            </a:r>
            <a:r>
              <a:rPr lang="en-US" dirty="0"/>
              <a:t> drives coefficient for x</a:t>
            </a:r>
            <a:r>
              <a:rPr lang="en-US" baseline="-25000" dirty="0"/>
              <a:t>1</a:t>
            </a:r>
            <a:r>
              <a:rPr lang="en-US" dirty="0"/>
              <a:t> toward the marginal model, ignoring x</a:t>
            </a:r>
            <a:r>
              <a:rPr lang="en-US" baseline="-25000" dirty="0"/>
              <a:t>2</a:t>
            </a:r>
            <a:endParaRPr lang="en-US" dirty="0"/>
          </a:p>
          <a:p>
            <a:pPr lvl="1"/>
            <a:r>
              <a:rPr lang="en-US" dirty="0"/>
              <a:t>You can also see that the std. errors of </a:t>
            </a:r>
            <a:r>
              <a:rPr lang="el-GR" dirty="0"/>
              <a:t>β</a:t>
            </a:r>
            <a:r>
              <a:rPr lang="en-US" baseline="-25000" dirty="0"/>
              <a:t>Coffee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decrease</a:t>
            </a:r>
            <a:r>
              <a:rPr lang="en-US" dirty="0"/>
              <a:t> with error in Stress!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68" y="1426281"/>
            <a:ext cx="4971667" cy="4956870"/>
          </a:xfrm>
        </p:spPr>
      </p:pic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43365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510"/>
          </a:xfrm>
        </p:spPr>
        <p:txBody>
          <a:bodyPr/>
          <a:lstStyle/>
          <a:p>
            <a:r>
              <a:rPr dirty="0"/>
              <a:t>Added-variable plots show partial relationships</a:t>
            </a:r>
          </a:p>
        </p:txBody>
      </p:sp>
      <p:pic>
        <p:nvPicPr>
          <p:cNvPr id="3" name="Picture 2" descr="fig-coffee-mcplo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2080260"/>
            <a:ext cx="6740434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66034-0C18-89BA-CA9F-F30478798D03}"/>
              </a:ext>
            </a:extLst>
          </p:cNvPr>
          <p:cNvSpPr txBox="1"/>
          <p:nvPr/>
        </p:nvSpPr>
        <p:spPr>
          <a:xfrm>
            <a:off x="7799294" y="1919683"/>
            <a:ext cx="37786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Coffee, stress and heart damage:</a:t>
            </a:r>
          </a:p>
          <a:p>
            <a:endParaRPr lang="en-CA" sz="2000" dirty="0"/>
          </a:p>
          <a:p>
            <a:r>
              <a:rPr lang="en-CA" sz="2000" dirty="0"/>
              <a:t>Marginal &amp; partial slopes for coffee have opposite signs.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CA" sz="2000" dirty="0">
                <a:sym typeface="Symbol" panose="05050102010706020507" pitchFamily="18" charset="2"/>
              </a:rPr>
              <a:t>Coffee is good, controlling for stress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endParaRPr lang="en-CA" sz="2000" dirty="0">
              <a:sym typeface="Symbol" panose="05050102010706020507" pitchFamily="18" charset="2"/>
            </a:endParaRPr>
          </a:p>
          <a:p>
            <a:r>
              <a:rPr lang="en-CA" sz="2000" dirty="0">
                <a:sym typeface="Symbol" panose="05050102010706020507" pitchFamily="18" charset="2"/>
              </a:rPr>
              <a:t>Slopes are similar for stress, but steeper when controlled for coffee</a:t>
            </a:r>
          </a:p>
          <a:p>
            <a:r>
              <a:rPr lang="en-CA" sz="2000" dirty="0">
                <a:sym typeface="Symbol" panose="05050102010706020507" pitchFamily="18" charset="2"/>
              </a:rPr>
              <a:t> Practice yoga at Starbucks?</a:t>
            </a:r>
            <a:endParaRPr lang="en-CA" sz="2000" dirty="0"/>
          </a:p>
          <a:p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FB3D1-79C1-9DAA-A981-BF792B698752}"/>
              </a:ext>
            </a:extLst>
          </p:cNvPr>
          <p:cNvSpPr txBox="1"/>
          <p:nvPr/>
        </p:nvSpPr>
        <p:spPr>
          <a:xfrm>
            <a:off x="835152" y="1195004"/>
            <a:ext cx="1040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Control/adjust for all others to see the net relationship between Y and X</a:t>
            </a:r>
            <a:r>
              <a:rPr lang="en-CA" baseline="-25000" dirty="0"/>
              <a:t>i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6050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Leverage and influence</a:t>
            </a:r>
            <a:r>
              <a:rPr lang="en-CA" dirty="0"/>
              <a:t>: 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car::</a:t>
            </a:r>
            <a:r>
              <a:rPr lang="en-CA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influencePlot</a:t>
            </a: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(model)</a:t>
            </a:r>
            <a:endParaRPr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43063"/>
            <a:ext cx="4553197" cy="4533900"/>
          </a:xfrm>
        </p:spPr>
        <p:txBody>
          <a:bodyPr/>
          <a:lstStyle/>
          <a:p>
            <a:pPr marL="0" indent="0">
              <a:buNone/>
            </a:pPr>
            <a:r>
              <a:rPr lang="en-CA" dirty="0" err="1"/>
              <a:t>carData</a:t>
            </a:r>
            <a:r>
              <a:rPr lang="en-CA" dirty="0"/>
              <a:t>::Duncan</a:t>
            </a:r>
          </a:p>
          <a:p>
            <a:r>
              <a:rPr dirty="0"/>
              <a:t>Leverage: unusual in the predictors</a:t>
            </a:r>
            <a:r>
              <a:rPr lang="en-CA" dirty="0"/>
              <a:t> (hat values)</a:t>
            </a:r>
            <a:endParaRPr dirty="0"/>
          </a:p>
          <a:p>
            <a:r>
              <a:rPr dirty="0"/>
              <a:t>Outlier: a large residual</a:t>
            </a:r>
          </a:p>
          <a:p>
            <a:r>
              <a:rPr dirty="0">
                <a:solidFill>
                  <a:srgbClr val="FF0000"/>
                </a:solidFill>
              </a:rPr>
              <a:t>Influence</a:t>
            </a:r>
            <a:r>
              <a:rPr dirty="0"/>
              <a:t> = leverage x residual</a:t>
            </a:r>
          </a:p>
          <a:p>
            <a:r>
              <a:rPr lang="en-CA" dirty="0">
                <a:sym typeface="Symbol" panose="05050102010706020507" pitchFamily="18" charset="2"/>
              </a:rPr>
              <a:t> </a:t>
            </a:r>
            <a:r>
              <a:rPr dirty="0"/>
              <a:t>Bubble size: Cook's distance</a:t>
            </a:r>
            <a:r>
              <a:rPr lang="en-CA" dirty="0"/>
              <a:t> (</a:t>
            </a:r>
            <a:r>
              <a:rPr lang="en-CA" dirty="0">
                <a:sym typeface="Symbol" panose="05050102010706020507" pitchFamily="18" charset="2"/>
              </a:rPr>
              <a:t></a:t>
            </a:r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β</a:t>
            </a:r>
            <a:r>
              <a:rPr lang="en-CA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(-i)</a:t>
            </a:r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CA" dirty="0">
                <a:ea typeface="Cambria Math" panose="02040503050406030204" pitchFamily="18" charset="0"/>
                <a:sym typeface="Symbol" panose="05050102010706020507" pitchFamily="18" charset="2"/>
              </a:rPr>
              <a:t>But this doesn’t tell us why or how</a:t>
            </a:r>
            <a:endParaRPr dirty="0"/>
          </a:p>
        </p:txBody>
      </p:sp>
      <p:pic>
        <p:nvPicPr>
          <p:cNvPr id="4" name="Picture 3" descr="fig-duncan-inf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03" y="1508125"/>
            <a:ext cx="6389992" cy="4564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7.26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7533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1779"/>
          </a:xfrm>
        </p:spPr>
        <p:txBody>
          <a:bodyPr/>
          <a:lstStyle/>
          <a:p>
            <a:r>
              <a:rPr dirty="0"/>
              <a:t>Which observations drive the fit?</a:t>
            </a:r>
          </a:p>
        </p:txBody>
      </p:sp>
      <p:pic>
        <p:nvPicPr>
          <p:cNvPr id="3" name="Picture 2" descr="duncan-av-infl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36" y="169164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78803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7.27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E2660-92D6-9B3B-613E-29A2FA281EB3}"/>
              </a:ext>
            </a:extLst>
          </p:cNvPr>
          <p:cNvSpPr txBox="1"/>
          <p:nvPr/>
        </p:nvSpPr>
        <p:spPr>
          <a:xfrm>
            <a:off x="841248" y="1128161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Added-variable plots can show precisely the impact on regression slopes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BF7BAE-8390-AD5C-8EC7-1129184F71A4}"/>
              </a:ext>
            </a:extLst>
          </p:cNvPr>
          <p:cNvSpPr txBox="1"/>
          <p:nvPr/>
        </p:nvSpPr>
        <p:spPr>
          <a:xfrm>
            <a:off x="8847117" y="2315688"/>
            <a:ext cx="2719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Fitted line with all cases</a:t>
            </a:r>
          </a:p>
          <a:p>
            <a:r>
              <a:rPr lang="en-CA" dirty="0">
                <a:solidFill>
                  <a:srgbClr val="FF0000"/>
                </a:solidFill>
              </a:rPr>
              <a:t>Fitted line w/out 2 cases</a:t>
            </a:r>
          </a:p>
          <a:p>
            <a:r>
              <a:rPr lang="en-CA" dirty="0">
                <a:solidFill>
                  <a:srgbClr val="00B050"/>
                </a:solidFill>
              </a:rPr>
              <a:t>Residuals for those cases</a:t>
            </a:r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0766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MANOVA: the same sums of squares, now as matrices</a:t>
            </a:r>
          </a:p>
        </p:txBody>
      </p:sp>
      <p:pic>
        <p:nvPicPr>
          <p:cNvPr id="3" name="Picture 2" descr="VisualizingS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73" y="1691640"/>
            <a:ext cx="10493548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Total = Hypothesis + Error. Each is a matrix, so each can be drawn as an ellipse.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11.2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8173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Canonical correlation in an HE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Canonical correlation: the weighted sums of the </a:t>
            </a:r>
            <a:r>
              <a:rPr lang="en-CA" dirty="0"/>
              <a:t>Y</a:t>
            </a:r>
            <a:r>
              <a:rPr dirty="0"/>
              <a:t> and </a:t>
            </a:r>
            <a:r>
              <a:rPr lang="en-CA" dirty="0"/>
              <a:t>X</a:t>
            </a:r>
            <a:r>
              <a:rPr dirty="0"/>
              <a:t> variables that correlate most highly</a:t>
            </a:r>
          </a:p>
          <a:p>
            <a:r>
              <a:rPr dirty="0"/>
              <a:t>Shown as an HE plot in the canonical space</a:t>
            </a:r>
            <a:r>
              <a:rPr lang="en-CA" dirty="0"/>
              <a:t>, with vectors for X &amp; Y variables</a:t>
            </a:r>
            <a:endParaRPr dirty="0"/>
          </a:p>
        </p:txBody>
      </p:sp>
      <p:pic>
        <p:nvPicPr>
          <p:cNvPr id="4" name="Picture 3" descr="fig-school-heca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83080"/>
            <a:ext cx="4389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12.22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77</a:t>
            </a:fld>
            <a:endParaRPr lang="en-CA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Factorial designs: main effects and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Plastic film data: tear and gloss by rate of extrusion and amount of additive</a:t>
            </a:r>
          </a:p>
          <a:p>
            <a:r>
              <a:t>One H ellipse for each term in the model</a:t>
            </a:r>
          </a:p>
        </p:txBody>
      </p:sp>
      <p:pic>
        <p:nvPicPr>
          <p:cNvPr id="4" name="Picture 3" descr="fig-plastic-HE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83080"/>
            <a:ext cx="4389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12.11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78</a:t>
            </a:fld>
            <a:endParaRPr lang="en-CA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MANCOVA: are the regressions the same across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Rohwer data: aptitude and achievement predicted from paired-associate tasks</a:t>
            </a:r>
          </a:p>
          <a:p>
            <a:r>
              <a:t>Overlaid HE plots for the low and high SES groups</a:t>
            </a:r>
          </a:p>
        </p:txBody>
      </p:sp>
      <p:pic>
        <p:nvPicPr>
          <p:cNvPr id="4" name="Picture 3" descr="fig-rohwer-HE-lohi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83080"/>
            <a:ext cx="4389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12.25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79</a:t>
            </a:fld>
            <a:endParaRPr lang="en-CA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Are the covariance matrices equal?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MANOVA assumes equal within-group covariance matrices</a:t>
            </a:r>
          </a:p>
          <a:p>
            <a:r>
              <a:t>Compare the data ellipse of each group with the pooled one</a:t>
            </a:r>
          </a:p>
          <a:p>
            <a:r>
              <a:t>Look for differences in size and shape</a:t>
            </a:r>
          </a:p>
        </p:txBody>
      </p:sp>
      <p:pic>
        <p:nvPicPr>
          <p:cNvPr id="4" name="Picture 3" descr="fig-peng-covEllipse-pair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83080"/>
            <a:ext cx="4389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13.4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80</a:t>
            </a:fld>
            <a:endParaRPr lang="en-CA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Box's M test</a:t>
            </a:r>
          </a:p>
        </p:txBody>
      </p:sp>
      <p:pic>
        <p:nvPicPr>
          <p:cNvPr id="3" name="Picture 2" descr="fig-peng-iris-boxm-plo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169164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Box's M compares the log determinants of the group covariance matrices with that of the pooled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355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Figure 13.6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81</a:t>
            </a:fld>
            <a:endParaRPr lang="en-CA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Quadratic discriminant analysis</a:t>
            </a:r>
          </a:p>
        </p:txBody>
      </p:sp>
      <p:pic>
        <p:nvPicPr>
          <p:cNvPr id="3" name="Picture 2" descr="fig-peng-qda-region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1417320"/>
            <a:ext cx="9436608" cy="4718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61813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With a separate covariance matrix for each group, the boundaries become curved.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82</a:t>
            </a:fld>
            <a:endParaRPr lang="en-CA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Three penguins walking, with data ellipses">
            <a:extLst>
              <a:ext uri="{FF2B5EF4-FFF2-40B4-BE49-F238E27FC236}">
                <a16:creationId xmlns:a16="http://schemas.microsoft.com/office/drawing/2014/main" id="{3139B4EB-ECB5-A62E-A0B0-F5445F785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6664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dirty="0">
                <a:solidFill>
                  <a:srgbClr val="FFFFFF"/>
                </a:solidFill>
              </a:rPr>
              <a:t>Seeing multivariate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6007100"/>
            <a:ext cx="10058400" cy="6453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Data ellipses, penguins, and looking at many variables at once</a:t>
            </a:r>
          </a:p>
        </p:txBody>
      </p:sp>
      <p:pic>
        <p:nvPicPr>
          <p:cNvPr id="5" name="Picture 4" descr="fig-peng-ggplot1-1.png">
            <a:extLst>
              <a:ext uri="{FF2B5EF4-FFF2-40B4-BE49-F238E27FC236}">
                <a16:creationId xmlns:a16="http://schemas.microsoft.com/office/drawing/2014/main" id="{6E39EAD4-0504-7D4A-931A-1C933D3D2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8" y="424820"/>
            <a:ext cx="2178932" cy="1556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F1C11-5B63-1B14-ECC3-A5F3A8898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005" y="4083276"/>
            <a:ext cx="1771429" cy="1809524"/>
          </a:xfrm>
          <a:prstGeom prst="rect">
            <a:avLst/>
          </a:prstGeom>
        </p:spPr>
      </p:pic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/>
              <a:t>83</a:t>
            </a:fld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6789</TotalTime>
  <Words>6823</Words>
  <Application>Microsoft Office PowerPoint</Application>
  <PresentationFormat>Widescreen</PresentationFormat>
  <Paragraphs>716</Paragraphs>
  <Slides>83</Slides>
  <Notes>79</Notes>
  <HiddenSlides>18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5" baseType="lpstr">
      <vt:lpstr>Aptos</vt:lpstr>
      <vt:lpstr>Aptos Display</vt:lpstr>
      <vt:lpstr>Arial</vt:lpstr>
      <vt:lpstr>Cambria Math</vt:lpstr>
      <vt:lpstr>Consolas</vt:lpstr>
      <vt:lpstr>Courier New</vt:lpstr>
      <vt:lpstr>Lucida Console</vt:lpstr>
      <vt:lpstr>Matura MT Script Capitals</vt:lpstr>
      <vt:lpstr>Symbol</vt:lpstr>
      <vt:lpstr>Wingdings</vt:lpstr>
      <vt:lpstr>Office Theme</vt:lpstr>
      <vt:lpstr>Equation</vt:lpstr>
      <vt:lpstr>Visualizing Multivariate Data and Models in R</vt:lpstr>
      <vt:lpstr>My book</vt:lpstr>
      <vt:lpstr>R packages</vt:lpstr>
      <vt:lpstr>Ideas I’ll talk about today (thematic)</vt:lpstr>
      <vt:lpstr>Why a romance in many dimensions?</vt:lpstr>
      <vt:lpstr>Planeland: we only ever see 2D projections</vt:lpstr>
      <vt:lpstr>EUREKA! Structure can hide in many dimensions</vt:lpstr>
      <vt:lpstr>Multivariate discovery: kinds of diabetes</vt:lpstr>
      <vt:lpstr>MLM problem: easy to fit, hard to see</vt:lpstr>
      <vt:lpstr>Seeing multivariate data</vt:lpstr>
      <vt:lpstr>Galton’s visual discovery:  Bivariate normal correlation surface (1886)</vt:lpstr>
      <vt:lpstr>Visual smoothing  Insight</vt:lpstr>
      <vt:lpstr>Visual insight  Theory (the OMG! moment)</vt:lpstr>
      <vt:lpstr>The data ellipse summarizes means, spread &amp; correlation – a sufficient visual summary for N(µ, Σ)</vt:lpstr>
      <vt:lpstr>Meet the penguins</vt:lpstr>
      <vt:lpstr>Data ellipses: Sufficient visual summary</vt:lpstr>
      <vt:lpstr>What if I'm not Normal?</vt:lpstr>
      <vt:lpstr>Simpson's paradox: marginal &amp; conditional relations</vt:lpstr>
      <vt:lpstr>Thinking about Penguin variables</vt:lpstr>
      <vt:lpstr>How to visualize p &gt; 2 variables in Planeland? Scatterplot matrices: all pairs at once</vt:lpstr>
      <vt:lpstr>Visual thinning: show less to see more Effect order: order variables to see what you want to show </vt:lpstr>
      <vt:lpstr>Parallel coordinates: one line per penguin</vt:lpstr>
      <vt:lpstr>Animated tours: flying through projections (tourr pkg)</vt:lpstr>
      <vt:lpstr>Flatland and Spaceland: dimension reduction</vt:lpstr>
      <vt:lpstr>PowerPoint Presentation</vt:lpstr>
      <vt:lpstr>PCA: rotate to the views that show the most variance</vt:lpstr>
      <vt:lpstr>PCA fitted by springs: Physical analog</vt:lpstr>
      <vt:lpstr>Biplots: observations and variables in one view</vt:lpstr>
      <vt:lpstr>Biplot: The data juicer</vt:lpstr>
      <vt:lpstr>When a linear view is not enough: PCA vs t-SNE</vt:lpstr>
      <vt:lpstr>From PCA to t-SNE, animated</vt:lpstr>
      <vt:lpstr>Elliptical Insights</vt:lpstr>
      <vt:lpstr>Outlier detection: Waar is Wally?</vt:lpstr>
      <vt:lpstr>Multivariate outliers: which penguins are unusual?</vt:lpstr>
      <vt:lpstr>Outliers hide in the smallest dimensions</vt:lpstr>
      <vt:lpstr>Elliptical insights: Measurement error</vt:lpstr>
      <vt:lpstr>Coffee, stress and heart disease</vt:lpstr>
      <vt:lpstr>Data space and beta space are dual</vt:lpstr>
      <vt:lpstr>Adding measurement error</vt:lpstr>
      <vt:lpstr>Understanding collinearity</vt:lpstr>
      <vt:lpstr>Ridge regression: shrink to gain precision</vt:lpstr>
      <vt:lpstr>The usual ridge trace shows only the estimates</vt:lpstr>
      <vt:lpstr>Generalized ridge trace plots</vt:lpstr>
      <vt:lpstr>A low-rank view of ridge regression</vt:lpstr>
      <vt:lpstr>A low-rank view of ridge regression</vt:lpstr>
      <vt:lpstr>The HE plot framework</vt:lpstr>
      <vt:lpstr>HE plots: Visual overview</vt:lpstr>
      <vt:lpstr>Data  Data ellipses  HE plot</vt:lpstr>
      <vt:lpstr>The H ellipse</vt:lpstr>
      <vt:lpstr>The E ellipse</vt:lpstr>
      <vt:lpstr>HE plots: Effect scaling vs. Significance scaling</vt:lpstr>
      <vt:lpstr>Contrasts &amp; linear hypotheses: What diffces make H big?</vt:lpstr>
      <vt:lpstr>HE pairs() plots</vt:lpstr>
      <vt:lpstr>Quantitative predictors: each effect is a line</vt:lpstr>
      <vt:lpstr>Canonical discriminant plots: The MANOVA juicer</vt:lpstr>
      <vt:lpstr>Linear discriminant analysis: main ideas</vt:lpstr>
      <vt:lpstr>Prediction regions in data space</vt:lpstr>
      <vt:lpstr>Prediction regions in discriminant space</vt:lpstr>
      <vt:lpstr>Checking multivariate models</vt:lpstr>
      <vt:lpstr>Unusual is not the same as influential</vt:lpstr>
      <vt:lpstr>Who are the influential penguins?</vt:lpstr>
      <vt:lpstr>Robust MLMs: down-weight what does not fit</vt:lpstr>
      <vt:lpstr>Summary: A few visual ideas go a long way</vt:lpstr>
      <vt:lpstr>Book, code and packages</vt:lpstr>
      <vt:lpstr>Questions? Discussion?</vt:lpstr>
      <vt:lpstr>The regression quartet</vt:lpstr>
      <vt:lpstr>Coefficient plots: show the estimates, not a table</vt:lpstr>
      <vt:lpstr>Effect displays: what the model predicts</vt:lpstr>
      <vt:lpstr>Collinearity and ridge regression</vt:lpstr>
      <vt:lpstr>Collinearity: narrow data  increased uncertainty</vt:lpstr>
      <vt:lpstr>Application: effect ordering variables in displays</vt:lpstr>
      <vt:lpstr>Measurement error for β1 also biases β2</vt:lpstr>
      <vt:lpstr>Added-variable plots show partial relationships</vt:lpstr>
      <vt:lpstr>Leverage and influence: car::influencePlot(model)</vt:lpstr>
      <vt:lpstr>Which observations drive the fit?</vt:lpstr>
      <vt:lpstr>MANOVA: the same sums of squares, now as matrices</vt:lpstr>
      <vt:lpstr>Canonical correlation in an HE plot</vt:lpstr>
      <vt:lpstr>Factorial designs: main effects and interactions</vt:lpstr>
      <vt:lpstr>MANCOVA: are the regressions the same across groups?</vt:lpstr>
      <vt:lpstr>Are the covariance matrices equal?</vt:lpstr>
      <vt:lpstr>Visualizing Box's M test</vt:lpstr>
      <vt:lpstr>Quadratic discriminant analysis</vt:lpstr>
      <vt:lpstr>Seeing multivariate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83</cp:revision>
  <dcterms:created xsi:type="dcterms:W3CDTF">2026-10-06T18:00:03Z</dcterms:created>
  <dcterms:modified xsi:type="dcterms:W3CDTF">2026-10-22T18:21:36Z</dcterms:modified>
</cp:coreProperties>
</file>